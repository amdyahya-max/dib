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slides/charts/chart1.xml" ContentType="application/vnd.openxmlformats-officedocument.drawingml.chart+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2.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3.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4.xml" ContentType="application/vnd.openxmlformats-officedocument.drawingml.chart+xml"/>
  <Override PartName="/ppt/slides/charts/chart5.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6.xml" ContentType="application/vnd.openxmlformats-officedocument.drawingml.chart+xml"/>
  <Override PartName="/ppt/slides/charts/chart7.xml" ContentType="application/vnd.openxmlformats-officedocument.drawingml.chart+xml"/>
  <Override PartName="/ppt/slides/charts/chart8.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9.xml" ContentType="application/vnd.openxmlformats-officedocument.drawingml.chart+xml"/>
  <Override PartName="/ppt/slides/charts/chart10.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slides/charts/chart11.xml" ContentType="application/vnd.openxmlformats-officedocument.drawingml.chart+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slides/charts/chart12.xml" ContentType="application/vnd.openxmlformats-officedocument.drawingml.chart+xml"/>
  <Override PartName="/ppt/notesSlides/notesSlide24.xml" ContentType="application/vnd.openxmlformats-officedocument.presentationml.notesSlide+xml"/>
  <Override PartName="/ppt/slides/slide25.xml" ContentType="application/vnd.openxmlformats-officedocument.presentationml.slide+xml"/>
  <Override PartName="/ppt/slides/charts/chart13.xml" ContentType="application/vnd.openxmlformats-officedocument.drawingml.chart+xml"/>
  <Override PartName="/ppt/notesSlides/notesSlide25.xml" ContentType="application/vnd.openxmlformats-officedocument.presentationml.notesSlide+xml"/>
  <Override PartName="/ppt/slides/slide26.xml" ContentType="application/vnd.openxmlformats-officedocument.presentationml.slide+xml"/>
  <Override PartName="/ppt/slides/charts/chart14.xml" ContentType="application/vnd.openxmlformats-officedocument.drawingml.chart+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slides/charts/chart15.xml" ContentType="application/vnd.openxmlformats-officedocument.drawingml.chart+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58ecd9775314bc3" /><Relationship Type="http://schemas.openxmlformats.org/officeDocument/2006/relationships/extended-properties" Target="/docProps/app.xml" Id="Rfade99807f5a4077" /><Relationship Type="http://schemas.openxmlformats.org/officeDocument/2006/relationships/officeDocument" Target="/ppt/presentation.xml" Id="R78ea16d7a92040cb" /></Relationships>
</file>

<file path=ppt/presentation.xml><?xml version="1.0" encoding="utf-8"?>
<p:presentation xmlns:p="http://schemas.openxmlformats.org/presentationml/2006/main">
  <p:sldMasterIdLst>
    <p:sldMasterId xmlns:r="http://schemas.openxmlformats.org/officeDocument/2006/relationships" id="2147483648" r:id="R01bc60d5706a436d"/>
  </p:sldMasterIdLst>
  <p:notesMasterIdLst>
    <p:notesMasterId xmlns:r="http://schemas.openxmlformats.org/officeDocument/2006/relationships" r:id="R95b37f3567af4c4e"/>
  </p:notesMasterIdLst>
  <p:sldIdLst>
    <p:sldId xmlns:r="http://schemas.openxmlformats.org/officeDocument/2006/relationships" id="256" r:id="R85b2e550cd564e4f"/>
    <p:sldId xmlns:r="http://schemas.openxmlformats.org/officeDocument/2006/relationships" id="257" r:id="Rdc8c171f78014b85"/>
    <p:sldId xmlns:r="http://schemas.openxmlformats.org/officeDocument/2006/relationships" id="258" r:id="R2bed8243366a4c2f"/>
    <p:sldId xmlns:r="http://schemas.openxmlformats.org/officeDocument/2006/relationships" id="259" r:id="R8548676125584487"/>
    <p:sldId xmlns:r="http://schemas.openxmlformats.org/officeDocument/2006/relationships" id="260" r:id="Rfa75aeee27314b9e"/>
    <p:sldId xmlns:r="http://schemas.openxmlformats.org/officeDocument/2006/relationships" id="261" r:id="Rcf531977119e4ba4"/>
    <p:sldId xmlns:r="http://schemas.openxmlformats.org/officeDocument/2006/relationships" id="262" r:id="R1495a1f1ca064149"/>
    <p:sldId xmlns:r="http://schemas.openxmlformats.org/officeDocument/2006/relationships" id="263" r:id="Rb28ae40e0df14b36"/>
    <p:sldId xmlns:r="http://schemas.openxmlformats.org/officeDocument/2006/relationships" id="264" r:id="Rd27f7fcb174843d8"/>
    <p:sldId xmlns:r="http://schemas.openxmlformats.org/officeDocument/2006/relationships" id="265" r:id="Ra19619983ec94da6"/>
    <p:sldId xmlns:r="http://schemas.openxmlformats.org/officeDocument/2006/relationships" id="266" r:id="R92efc2d7144141b1"/>
    <p:sldId xmlns:r="http://schemas.openxmlformats.org/officeDocument/2006/relationships" id="267" r:id="Reeb683c3d3c9445b"/>
    <p:sldId xmlns:r="http://schemas.openxmlformats.org/officeDocument/2006/relationships" id="268" r:id="R9cf4c4d2e910405b"/>
    <p:sldId xmlns:r="http://schemas.openxmlformats.org/officeDocument/2006/relationships" id="269" r:id="R6f9ab1b836034916"/>
    <p:sldId xmlns:r="http://schemas.openxmlformats.org/officeDocument/2006/relationships" id="270" r:id="R2f8f67f9e84b4a17"/>
    <p:sldId xmlns:r="http://schemas.openxmlformats.org/officeDocument/2006/relationships" id="271" r:id="R96a3ca2e5e324591"/>
    <p:sldId xmlns:r="http://schemas.openxmlformats.org/officeDocument/2006/relationships" id="272" r:id="R55599eb7b55440ee"/>
    <p:sldId xmlns:r="http://schemas.openxmlformats.org/officeDocument/2006/relationships" id="273" r:id="Rc0ca6fca2f914e1a"/>
    <p:sldId xmlns:r="http://schemas.openxmlformats.org/officeDocument/2006/relationships" id="274" r:id="R54b1610496914173"/>
    <p:sldId xmlns:r="http://schemas.openxmlformats.org/officeDocument/2006/relationships" id="275" r:id="Rc3f6d6b9fe2f4f7b"/>
    <p:sldId xmlns:r="http://schemas.openxmlformats.org/officeDocument/2006/relationships" id="276" r:id="Re259ad75a16a45a1"/>
    <p:sldId xmlns:r="http://schemas.openxmlformats.org/officeDocument/2006/relationships" id="277" r:id="R98be863388fe4708"/>
    <p:sldId xmlns:r="http://schemas.openxmlformats.org/officeDocument/2006/relationships" id="278" r:id="Rb58dcdfbc7b44627"/>
    <p:sldId xmlns:r="http://schemas.openxmlformats.org/officeDocument/2006/relationships" id="279" r:id="R4f9f8085adf24e25"/>
    <p:sldId xmlns:r="http://schemas.openxmlformats.org/officeDocument/2006/relationships" id="280" r:id="Rb2c650a71ddc4ac2"/>
    <p:sldId xmlns:r="http://schemas.openxmlformats.org/officeDocument/2006/relationships" id="281" r:id="R7bbfc01016384161"/>
    <p:sldId xmlns:r="http://schemas.openxmlformats.org/officeDocument/2006/relationships" id="282" r:id="Rc6e0821d0eee4ef4"/>
    <p:sldId xmlns:r="http://schemas.openxmlformats.org/officeDocument/2006/relationships" id="283" r:id="R8c7b8c28ad6048de"/>
    <p:sldId xmlns:r="http://schemas.openxmlformats.org/officeDocument/2006/relationships" id="284" r:id="R91e2d8b6e8964e25"/>
    <p:sldId xmlns:r="http://schemas.openxmlformats.org/officeDocument/2006/relationships" id="285" r:id="R49a9f4afa93647c4"/>
    <p:sldId xmlns:r="http://schemas.openxmlformats.org/officeDocument/2006/relationships" id="286" r:id="R43cbfad266504301"/>
    <p:sldId xmlns:r="http://schemas.openxmlformats.org/officeDocument/2006/relationships" id="287" r:id="R03262729f4b547b4"/>
    <p:sldId xmlns:r="http://schemas.openxmlformats.org/officeDocument/2006/relationships" id="288" r:id="Ra58679e7386b4160"/>
    <p:sldId xmlns:r="http://schemas.openxmlformats.org/officeDocument/2006/relationships" id="289" r:id="R870c3b974016416b"/>
    <p:sldId xmlns:r="http://schemas.openxmlformats.org/officeDocument/2006/relationships" id="290" r:id="R75f55d812ddc4270"/>
    <p:sldId xmlns:r="http://schemas.openxmlformats.org/officeDocument/2006/relationships" id="291" r:id="R6bf0c6c806d94d9c"/>
    <p:sldId xmlns:r="http://schemas.openxmlformats.org/officeDocument/2006/relationships" id="292" r:id="R118604831dc14ee9"/>
    <p:sldId xmlns:r="http://schemas.openxmlformats.org/officeDocument/2006/relationships" id="293" r:id="Rf493073f63e5426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4c1e94d88e348ea" /><Relationship Type="http://schemas.openxmlformats.org/officeDocument/2006/relationships/slideMaster" Target="/ppt/slideMasters/slideMaster1.xml" Id="R01bc60d5706a436d" /><Relationship Type="http://schemas.openxmlformats.org/officeDocument/2006/relationships/notesMaster" Target="/ppt/notesMasters/notesMaster1.xml" Id="R95b37f3567af4c4e" /><Relationship Type="http://schemas.openxmlformats.org/officeDocument/2006/relationships/presProps" Target="/ppt/presProps.xml" Id="Rf23bde9fa3304efd" /><Relationship Type="http://schemas.openxmlformats.org/officeDocument/2006/relationships/tableStyles" Target="/ppt/tableStyles.xml" Id="R6dbcdd9f68784d80" /><Relationship Type="http://schemas.openxmlformats.org/officeDocument/2006/relationships/slide" Target="/ppt/slides/slide1.xml" Id="R85b2e550cd564e4f" /><Relationship Type="http://schemas.openxmlformats.org/officeDocument/2006/relationships/slide" Target="/ppt/slides/slide2.xml" Id="Rdc8c171f78014b85" /><Relationship Type="http://schemas.openxmlformats.org/officeDocument/2006/relationships/slide" Target="/ppt/slides/slide3.xml" Id="R2bed8243366a4c2f" /><Relationship Type="http://schemas.openxmlformats.org/officeDocument/2006/relationships/slide" Target="/ppt/slides/slide4.xml" Id="R8548676125584487" /><Relationship Type="http://schemas.openxmlformats.org/officeDocument/2006/relationships/slide" Target="/ppt/slides/slide5.xml" Id="Rfa75aeee27314b9e" /><Relationship Type="http://schemas.openxmlformats.org/officeDocument/2006/relationships/slide" Target="/ppt/slides/slide6.xml" Id="Rcf531977119e4ba4" /><Relationship Type="http://schemas.openxmlformats.org/officeDocument/2006/relationships/slide" Target="/ppt/slides/slide7.xml" Id="R1495a1f1ca064149" /><Relationship Type="http://schemas.openxmlformats.org/officeDocument/2006/relationships/slide" Target="/ppt/slides/slide8.xml" Id="Rb28ae40e0df14b36" /><Relationship Type="http://schemas.openxmlformats.org/officeDocument/2006/relationships/slide" Target="/ppt/slides/slide9.xml" Id="Rd27f7fcb174843d8" /><Relationship Type="http://schemas.openxmlformats.org/officeDocument/2006/relationships/slide" Target="/ppt/slides/slide10.xml" Id="Ra19619983ec94da6" /><Relationship Type="http://schemas.openxmlformats.org/officeDocument/2006/relationships/slide" Target="/ppt/slides/slide11.xml" Id="R92efc2d7144141b1" /><Relationship Type="http://schemas.openxmlformats.org/officeDocument/2006/relationships/slide" Target="/ppt/slides/slide12.xml" Id="Reeb683c3d3c9445b" /><Relationship Type="http://schemas.openxmlformats.org/officeDocument/2006/relationships/slide" Target="/ppt/slides/slide13.xml" Id="R9cf4c4d2e910405b" /><Relationship Type="http://schemas.openxmlformats.org/officeDocument/2006/relationships/slide" Target="/ppt/slides/slide14.xml" Id="R6f9ab1b836034916" /><Relationship Type="http://schemas.openxmlformats.org/officeDocument/2006/relationships/slide" Target="/ppt/slides/slide15.xml" Id="R2f8f67f9e84b4a17" /><Relationship Type="http://schemas.openxmlformats.org/officeDocument/2006/relationships/slide" Target="/ppt/slides/slide16.xml" Id="R96a3ca2e5e324591" /><Relationship Type="http://schemas.openxmlformats.org/officeDocument/2006/relationships/slide" Target="/ppt/slides/slide17.xml" Id="R55599eb7b55440ee" /><Relationship Type="http://schemas.openxmlformats.org/officeDocument/2006/relationships/slide" Target="/ppt/slides/slide18.xml" Id="Rc0ca6fca2f914e1a" /><Relationship Type="http://schemas.openxmlformats.org/officeDocument/2006/relationships/slide" Target="/ppt/slides/slide19.xml" Id="R54b1610496914173" /><Relationship Type="http://schemas.openxmlformats.org/officeDocument/2006/relationships/slide" Target="/ppt/slides/slide20.xml" Id="Rc3f6d6b9fe2f4f7b" /><Relationship Type="http://schemas.openxmlformats.org/officeDocument/2006/relationships/slide" Target="/ppt/slides/slide21.xml" Id="Re259ad75a16a45a1" /><Relationship Type="http://schemas.openxmlformats.org/officeDocument/2006/relationships/slide" Target="/ppt/slides/slide22.xml" Id="R98be863388fe4708" /><Relationship Type="http://schemas.openxmlformats.org/officeDocument/2006/relationships/slide" Target="/ppt/slides/slide23.xml" Id="Rb58dcdfbc7b44627" /><Relationship Type="http://schemas.openxmlformats.org/officeDocument/2006/relationships/slide" Target="/ppt/slides/slide24.xml" Id="R4f9f8085adf24e25" /><Relationship Type="http://schemas.openxmlformats.org/officeDocument/2006/relationships/slide" Target="/ppt/slides/slide25.xml" Id="Rb2c650a71ddc4ac2" /><Relationship Type="http://schemas.openxmlformats.org/officeDocument/2006/relationships/slide" Target="/ppt/slides/slide26.xml" Id="R7bbfc01016384161" /><Relationship Type="http://schemas.openxmlformats.org/officeDocument/2006/relationships/slide" Target="/ppt/slides/slide27.xml" Id="Rc6e0821d0eee4ef4" /><Relationship Type="http://schemas.openxmlformats.org/officeDocument/2006/relationships/slide" Target="/ppt/slides/slide28.xml" Id="R8c7b8c28ad6048de" /><Relationship Type="http://schemas.openxmlformats.org/officeDocument/2006/relationships/slide" Target="/ppt/slides/slide29.xml" Id="R91e2d8b6e8964e25" /><Relationship Type="http://schemas.openxmlformats.org/officeDocument/2006/relationships/slide" Target="/ppt/slides/slide30.xml" Id="R49a9f4afa93647c4" /><Relationship Type="http://schemas.openxmlformats.org/officeDocument/2006/relationships/slide" Target="/ppt/slides/slide31.xml" Id="R43cbfad266504301" /><Relationship Type="http://schemas.openxmlformats.org/officeDocument/2006/relationships/slide" Target="/ppt/slides/slide32.xml" Id="R03262729f4b547b4" /><Relationship Type="http://schemas.openxmlformats.org/officeDocument/2006/relationships/slide" Target="/ppt/slides/slide33.xml" Id="Ra58679e7386b4160" /><Relationship Type="http://schemas.openxmlformats.org/officeDocument/2006/relationships/slide" Target="/ppt/slides/slide34.xml" Id="R870c3b974016416b" /><Relationship Type="http://schemas.openxmlformats.org/officeDocument/2006/relationships/slide" Target="/ppt/slides/slide35.xml" Id="R75f55d812ddc4270" /><Relationship Type="http://schemas.openxmlformats.org/officeDocument/2006/relationships/slide" Target="/ppt/slides/slide36.xml" Id="R6bf0c6c806d94d9c" /><Relationship Type="http://schemas.openxmlformats.org/officeDocument/2006/relationships/slide" Target="/ppt/slides/slide37.xml" Id="R118604831dc14ee9" /><Relationship Type="http://schemas.openxmlformats.org/officeDocument/2006/relationships/slide" Target="/ppt/slides/slide38.xml" Id="Rf493073f63e5426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0c17c32215644c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9b919971d9c447b" /><Relationship Type="http://schemas.openxmlformats.org/officeDocument/2006/relationships/notesMaster" Target="/ppt/notesMasters/notesMaster1.xml" Id="Rd14567e326c14f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98aff5ac11f54be8" /><Relationship Type="http://schemas.openxmlformats.org/officeDocument/2006/relationships/notesMaster" Target="/ppt/notesMasters/notesMaster1.xml" Id="R9efc3660eb9d4a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cea4a7cabed44926" /><Relationship Type="http://schemas.openxmlformats.org/officeDocument/2006/relationships/notesMaster" Target="/ppt/notesMasters/notesMaster1.xml" Id="R2c1a050d5f024f0b" /></Relationships>
</file>

<file path=ppt/notesSlides/_rels/notesSlide4.xml.rels>&#65279;<?xml version="1.0" encoding="utf-8"?><Relationships xmlns="http://schemas.openxmlformats.org/package/2006/relationships"><Relationship Type="http://schemas.openxmlformats.org/officeDocument/2006/relationships/slide" Target="/ppt/slides/slide4.xml" Id="R7209a552eb80499a" /><Relationship Type="http://schemas.openxmlformats.org/officeDocument/2006/relationships/notesMaster" Target="/ppt/notesMasters/notesMaster1.xml" Id="R683abcbcdf584262" /></Relationships>
</file>

<file path=ppt/notesSlides/_rels/notesSlide5.xml.rels>&#65279;<?xml version="1.0" encoding="utf-8"?><Relationships xmlns="http://schemas.openxmlformats.org/package/2006/relationships"><Relationship Type="http://schemas.openxmlformats.org/officeDocument/2006/relationships/slide" Target="/ppt/slides/slide5.xml" Id="R140602fb76b04306" /><Relationship Type="http://schemas.openxmlformats.org/officeDocument/2006/relationships/notesMaster" Target="/ppt/notesMasters/notesMaster1.xml" Id="Rca57d9220b554757" /></Relationships>
</file>

<file path=ppt/notesSlides/_rels/notesSlide6.xml.rels>&#65279;<?xml version="1.0" encoding="utf-8"?><Relationships xmlns="http://schemas.openxmlformats.org/package/2006/relationships"><Relationship Type="http://schemas.openxmlformats.org/officeDocument/2006/relationships/slide" Target="/ppt/slides/slide6.xml" Id="R34f0fa9f692843b8" /><Relationship Type="http://schemas.openxmlformats.org/officeDocument/2006/relationships/notesMaster" Target="/ppt/notesMasters/notesMaster1.xml" Id="Raefa5f600fc843b2" /></Relationships>
</file>

<file path=ppt/notesSlides/_rels/notesSlide7.xml.rels>&#65279;<?xml version="1.0" encoding="utf-8"?><Relationships xmlns="http://schemas.openxmlformats.org/package/2006/relationships"><Relationship Type="http://schemas.openxmlformats.org/officeDocument/2006/relationships/slide" Target="/ppt/slides/slide7.xml" Id="Rd02bf9327afc4866" /><Relationship Type="http://schemas.openxmlformats.org/officeDocument/2006/relationships/notesMaster" Target="/ppt/notesMasters/notesMaster1.xml" Id="R12f82abc58624af2" /></Relationships>
</file>

<file path=ppt/notesSlides/_rels/notesSlide8.xml.rels>&#65279;<?xml version="1.0" encoding="utf-8"?><Relationships xmlns="http://schemas.openxmlformats.org/package/2006/relationships"><Relationship Type="http://schemas.openxmlformats.org/officeDocument/2006/relationships/slide" Target="/ppt/slides/slide8.xml" Id="R5543b9b3c1db453f" /><Relationship Type="http://schemas.openxmlformats.org/officeDocument/2006/relationships/notesMaster" Target="/ppt/notesMasters/notesMaster1.xml" Id="Rd7c19f7d5f764add" /></Relationships>
</file>

<file path=ppt/notesSlides/_rels/notesSlide9.xml.rels>&#65279;<?xml version="1.0" encoding="utf-8"?><Relationships xmlns="http://schemas.openxmlformats.org/package/2006/relationships"><Relationship Type="http://schemas.openxmlformats.org/officeDocument/2006/relationships/slide" Target="/ppt/slides/slide9.xml" Id="Ra4a4dc7b1d1a43fa" /><Relationship Type="http://schemas.openxmlformats.org/officeDocument/2006/relationships/notesMaster" Target="/ppt/notesMasters/notesMaster1.xml" Id="Raf7d3d5a87b343c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ae2ba2bd93349c7" /><Relationship Type="http://schemas.openxmlformats.org/officeDocument/2006/relationships/notesMaster" Target="/ppt/notesMasters/notesMaster1.xml" Id="Rdf51a6e9a6a6435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341cce71fb4447a" /><Relationship Type="http://schemas.openxmlformats.org/officeDocument/2006/relationships/notesMaster" Target="/ppt/notesMasters/notesMaster1.xml" Id="R7579b9ddeb32487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93c7ac6f5cab47b9" /><Relationship Type="http://schemas.openxmlformats.org/officeDocument/2006/relationships/notesMaster" Target="/ppt/notesMasters/notesMaster1.xml" Id="Rd3767abdbe84414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108abd8abdd4eba" /><Relationship Type="http://schemas.openxmlformats.org/officeDocument/2006/relationships/notesMaster" Target="/ppt/notesMasters/notesMaster1.xml" Id="Rb9548e64675d4bb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3b77b12b89a412e" /><Relationship Type="http://schemas.openxmlformats.org/officeDocument/2006/relationships/notesMaster" Target="/ppt/notesMasters/notesMaster1.xml" Id="R7f353a65739d4de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3afa435d48642cd" /><Relationship Type="http://schemas.openxmlformats.org/officeDocument/2006/relationships/notesMaster" Target="/ppt/notesMasters/notesMaster1.xml" Id="Raee9585a5a0f458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0638465b8474978" /><Relationship Type="http://schemas.openxmlformats.org/officeDocument/2006/relationships/notesMaster" Target="/ppt/notesMasters/notesMaster1.xml" Id="R3665a0e1bd1a427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0670d8bf0fc408c" /><Relationship Type="http://schemas.openxmlformats.org/officeDocument/2006/relationships/notesMaster" Target="/ppt/notesMasters/notesMaster1.xml" Id="Rc6c2e77c19254d1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b42caa3113754b43" /><Relationship Type="http://schemas.openxmlformats.org/officeDocument/2006/relationships/notesMaster" Target="/ppt/notesMasters/notesMaster1.xml" Id="Rbb9649634dda47f7"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219f9e7ee12420f" /><Relationship Type="http://schemas.openxmlformats.org/officeDocument/2006/relationships/notesMaster" Target="/ppt/notesMasters/notesMaster1.xml" Id="Rddfb10b585d546f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9730bde19184d85" /><Relationship Type="http://schemas.openxmlformats.org/officeDocument/2006/relationships/notesMaster" Target="/ppt/notesMasters/notesMaster1.xml" Id="R18e6f6a3b7a4464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60a1825a9974cfb" /><Relationship Type="http://schemas.openxmlformats.org/officeDocument/2006/relationships/notesMaster" Target="/ppt/notesMasters/notesMaster1.xml" Id="Ree3723c62b1048c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0393adb6e2c4524" /><Relationship Type="http://schemas.openxmlformats.org/officeDocument/2006/relationships/notesMaster" Target="/ppt/notesMasters/notesMaster1.xml" Id="Rab32a4e797574c4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3c07e960e494a28" /><Relationship Type="http://schemas.openxmlformats.org/officeDocument/2006/relationships/notesMaster" Target="/ppt/notesMasters/notesMaster1.xml" Id="R35e3a8c00da5403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8f1a1c0cbf8d466e" /><Relationship Type="http://schemas.openxmlformats.org/officeDocument/2006/relationships/notesMaster" Target="/ppt/notesMasters/notesMaster1.xml" Id="R81791c43bb634fa4"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b891d70ed916447a" /><Relationship Type="http://schemas.openxmlformats.org/officeDocument/2006/relationships/notesMaster" Target="/ppt/notesMasters/notesMaster1.xml" Id="R5377dfe1e26a4cc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4dc4153064154f41" /><Relationship Type="http://schemas.openxmlformats.org/officeDocument/2006/relationships/notesMaster" Target="/ppt/notesMasters/notesMaster1.xml" Id="R1d772dc607564c7b"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60212b27cae49c6" /><Relationship Type="http://schemas.openxmlformats.org/officeDocument/2006/relationships/notesMaster" Target="/ppt/notesMasters/notesMaster1.xml" Id="R3e46ef0a632b4072"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400884b42a704e01" /><Relationship Type="http://schemas.openxmlformats.org/officeDocument/2006/relationships/notesMaster" Target="/ppt/notesMasters/notesMaster1.xml" Id="R532f00bd66bb49ef"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1737f7e145224c0e" /><Relationship Type="http://schemas.openxmlformats.org/officeDocument/2006/relationships/notesMaster" Target="/ppt/notesMasters/notesMaster1.xml" Id="R7609adb22a7e4adb"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bfd1af4cab4541f1" /><Relationship Type="http://schemas.openxmlformats.org/officeDocument/2006/relationships/notesMaster" Target="/ppt/notesMasters/notesMaster1.xml" Id="R72bd996507a943b6"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39fca3443fca42e0" /><Relationship Type="http://schemas.openxmlformats.org/officeDocument/2006/relationships/notesMaster" Target="/ppt/notesMasters/notesMaster1.xml" Id="R5e1d1f7d3b1d4c7c"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228767c4bd345e4" /><Relationship Type="http://schemas.openxmlformats.org/officeDocument/2006/relationships/notesMaster" Target="/ppt/notesMasters/notesMaster1.xml" Id="R85a26e67bd4840d3"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e3be004252504076" /><Relationship Type="http://schemas.openxmlformats.org/officeDocument/2006/relationships/notesMaster" Target="/ppt/notesMasters/notesMaster1.xml" Id="Ra02c33a89816446c"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c2acb6a91644058" /><Relationship Type="http://schemas.openxmlformats.org/officeDocument/2006/relationships/notesMaster" Target="/ppt/notesMasters/notesMaster1.xml" Id="R8d7243271ed34260"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e2e27021615a4785" /><Relationship Type="http://schemas.openxmlformats.org/officeDocument/2006/relationships/notesMaster" Target="/ppt/notesMasters/notesMaster1.xml" Id="R56dea17a2daf444b"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2e980499faec4e77" /><Relationship Type="http://schemas.openxmlformats.org/officeDocument/2006/relationships/notesMaster" Target="/ppt/notesMasters/notesMaster1.xml" Id="Rd568bb9b1fd6423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2f4783c0c7d74c92" /><Relationship Type="http://schemas.openxmlformats.org/officeDocument/2006/relationships/notesMaster" Target="/ppt/notesMasters/notesMaster1.xml" Id="Rf8d8792cdeaf45e0"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581c095f973a4c16" /><Relationship Type="http://schemas.openxmlformats.org/officeDocument/2006/relationships/notesMaster" Target="/ppt/notesMasters/notesMaster1.xml" Id="R348308b5c8e34fd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September 2026 IB/MB, FinnOne and HFLMS portfolio overview images. ¹Completed / total demand is a portfolio snapshot share, not a monthly delivery rate. Totals are arithmetic sums of reported platform portfolios, without demand-ID deduplication. 98/285=34.4%. Other states: 24 new demand, 4 baseline 0, 24 dropped. Volumes remain separate because currency and cross-platform overlap are unspecified. Source health labels are Green for all platforms. Management priorities are analytical recommendations.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September 2026 IB/MB, FinnOne and HFLMS portfolio overview images. Planned outages/deployments: IB 5, MB 10. Planned downtime: IB 2h50m, MB 3h15m. Unplanned outages: MB 1. The source reports ~48 hours of intermittent degradation and successful mitigation, not 48 hours of total downtime. Infrastructure: MB CPU 7.97%, memory 35.64%, storage 66.10%. IB CPU 5.01%, memory 52.87%, storage 50.17%. DR available yes, tested, environment readiness validated and recovery procedures confirmed. Source reports healthy infrastructure and monitored reliability. SME share 9.16/16.99=53.9%.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September 2026 IB/MB, FinnOne and HFLMS portfolio overview images. Total demands 122. Exact September volume 3,242,716,155.49. Rounded component volumes sum to 3.24B. PF share 2.33/3.24=71.9%. Planned outages 0, unplanned outages 0, planned downtime 0 hours, unplanned downtime 0. Reliability unchanged and stable operational posture. CPU &lt;10%, memory &lt;60%, capacity healthy within operating thresholds. No DR available, upgrade planned 2027. Source target is sustain monthly processing above 3.0 billion, not a forecast. Product abbreviations preserved from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September 2026 IB/MB, FinnOne and HFLMS portfolio overview images. Exact September volume 1,244,030,273. Source monthly values are rounded to two decimal billions. August-to-September change (1.24/1.39-1)=-10.8%, calculated from rounded figures. July peak 1.57B, March low 0.84B. 0 planned outages, 1 unplanned outage, 0 planned downtime, 12 minutes unplanned downtime. Application server dxb01-vwp-lmsa2 stopped responding and returned Server Too Busy. Secondary server took load and prevented total environment outage. No critical incidents, one major incident, reliability monitored. CPU &lt;40%, memory &lt;25%, storage &lt;70%. Source availability 100% needs reconciliation with 12 minutes downtime.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September 2026 IB/MB, FinnOne and HFLMS portfolio overview images. These are selected named initiatives, not a complete list of the 98 delivered/completed items or 67 in progress. The source spells Emirati Card. LL/LG and CIF expansion not assumed. IB/MB source: Removal of Skywards Cards from Mobile Banking; 3x3 Drop 4 – Release 1 &amp; Release 2; TAB-52 – Tablet AOF Audit Requirement. FinnOne source: Field Amendment for LL and LG flags; Multiple Rate Changes service request; Supplementary Card Mobile No. Email ID Capture.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user-provided September 2026 IB/MB, FinnOne and HFLMS portfolio overview images. Next-review evidence: incident closure, customer impact and effectiveness of MB controls; approved pickup plan for IB/MB 27, FinnOne 29 and HFLMS 12; recovery ownership, test evidence and 2027 milestones; release dates, blockers and acceptance decisions. Demand dots each represent one reported item. Data interpretation: source labels all platforms Green. HFLMS reports 100% availability alongside 12 minutes unplanned downtime. IB/MB reports 99.9% alongside ~48 hours intermittent MB degradation. These metrics may use different denominators or service scopes. Reconcile definitions without substituting an invented availability rate. No prior-month demand snapshot, demand aging, capacity allocation, costs, benefits or dates supplied. Delivery share is a portfolio composition measure and cannot establish throughput growth, ROI or delivery efficiency. Volumes are business transaction volumes, not revenue. Summing portfolios assumes no cross-platform duplicate demand IDs and needs validation before an enterprise unique-demand total. Recommendations do not imply approved owners or commitments.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AF executive summary attachment IMG_212267D2-D987-4FA7-B317-11571926A8EA.jpeg. Four solution-finalization items reported but only three named. Adding Guarantor has DMGT without number in source. Source reports 18 stage-counted initiatives (4+4+2+2+2+4), not independently deduplicated. DMGT-2583 is listed under development and planned 30 September 2026. DMGT-2480 and DMGT-2384 planned 4 October 2026. Dates are plans, not confirmed releases.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AF roadmap screenshots, September 2025–February 2026 and March–August 2026. These are historical milestones, not September 2026 delivery counts. Names retained from the previously reviewed AF roadmap.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PF executive summary IMG_607B2DBC-EFD7-4E54-BD48-3BCC7F4B5C7E.jpeg. Six solution-design demand IDs DMGT-83,49,1336,2557,1708,1021; one development DMGT-91, one UAT DMGT-106, one business sign-off DMGT-56, three backlog and eight open-point tracking entries. Do not add all counts to platform demand totals. DMGT-91 appears in both AF and PF source descriptions, requiring cross-squad scope confirmation before unique-demand reporting. DMGT-56 planned 4 October. PF milestone source also lists it under Oct 2026 achievements, but actual delivery is not confirmed by the September executive summary.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supplied PF milestone and September executive summary attachments. Historical milestone names and IDs are retained. Only supplied months appear. DMGT-56 is shown under October 2026 in the milestone source, but the September summary gives a planned 4 October go-live. Delivery remains unconfirmed. Roadmap lanes group milestones by period and are not scaled to elapsed time.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CRM overview IMG_29BCD58C-7D3B-40A6-96C0-6264C3E77CD5.jpeg and CRM demand-list screenshots IMG_FB9C6BDA-7B1E-4979-9011-8122DC64DB60.jpeg and IMG_EFAC1DEB-A9A4-485C-A801-7EEC6B6B5692.jpeg. Overview 35=15+16+4. Demand list agrees on entry counts: 15 Live,16 In Progress,4 Under discussion. Do not add CRM total to existing platform totals without cross-platform ID deduplication. Source reports team adequacy but supplies no utilization or allocation evidence. Counts are September reporting snapshots, not validated monthly completions. No availability percentage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CRM overview. Weekly minor incidents 28+31+34+34=127. Week4 versus Week1 is +6 incidents or +21.4%, a within-month comparison only. CIF sum 1016+11+1+214=1242. Retail share81.8%. Workflow categories may overlap and must not be summed as unique customers or transactions. Lead and opportunity counts do not establish a conversion rate or revenue benefit.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CRM demand list, Live entries. Titles condensed for readability. DMGT-1262 here explicitly denotes electronic-signature re-push in the supplied list, not cloud migration. DMGT-22 source: Millionaire ESG Saving Account, digital channel IB/MB/CRM. Supporting deliveries may also appear in other platform portfolios and must not be added without deduplication.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CRM demand-list screenshots. 9 CRM-owned in-progress entries and7 supporting. DMGT-1272 (also written DMGT 1272) appears twice with distinct titles: Input Validations - Channels/platforms (Individuals) - Five Fields, and Engagement Platform Drop2 (unica). Keep35 row-based pipeline entries until duplication is resolved. Source DMGT-1980 title CRM Staging Environment Control &amp; RTB Readiness. Source DMGT-1406 CPR Personal Data Consent Management analyzing and fixing implementation gaps/issues.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latest CRM overview cloud migration target Q3 2027, planning status. Demand list DMGT-710 under discussion. Preparation tasks and acceptance evidence are management recommendations, not source-approved milestones. All four under-discussion entries preserved. Source also assigns DMGT-1262 to a live electronic-signature item; this deck uses current attachment identifiers and does not reuse earlier memory associations.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September IVR completion increased by0.46 percentage points versus August, while call abandonment increased4.31pp. Jan–Sep overall rates69%completion31%agent transfer92%answered8%abandoned are separate source summary measures. Source September dashboard rounds to68%containment32%transfer88%answered12%abandoned. Navigation is implemented with slide hyperlinks and no entrance effects.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September call count446482 comes from September dashboard because the monthly trend label is obscured. Monthly values sum3916195 and average435132.8; supplied summary average435117 differs slightly. Retain reported avg and flag reconciliation rather than overwrite it. Jan–Sep source3.92M rounded. Percent charts use percentage numbers70.03 not0.7003. No causal attribution supplied for abandonment changes.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Source81withinSLA0exceed does not state treatment of3openincidents. Avoid inferring all open incidents resolved.78/81=96.3%closed3/81=3.7%open, dashboard rounds96/4. No P1 or P2, P3 73,P4 8. IVR agent transfer and agent-call totals need not share scope, so do not force reconciliation or sum call counts.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All17activity counts transcribed from September dashboard. No unique-customer denominator supplied. Source spelling Card Last5Trans retained as Last5cardtransactions. Do not label transaction totals as revenue or uniquecalls.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All30dailyvalues transcribed. Weekendlows exist but no staffing schedule is supplied, so causes are not asserted. Peak492min72end432. 100%overallusage is source-reported and undefined, cannot infer saturation, concurrent licensingcapacity or shortage. Management recommendation: confirm denominator and peak capacity buffer.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Own demand AE Lead CT.250 platformenrichment suspended Apr26 date is reported not proof of delivered status;2171 platformenrichment closure Sep26;443 resiliency closure Jul26;1837 resiliency reviewQ42027;2147 enrichment reviewTBD. Sourceclosure statuses are not re-labelled as new September completions.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September Call Center Projects Dashboard IMG_047BD122-E741-4EF7-B317-D2B79DE72B1A.jpeg; Jan–Sep Performance Review IMG_B0166ECF-764F-4E01-A8DC-B0B5CD7B8B73.jpeg; September Platform Dashboard IMG_5353CD62-9824-4F23-84B9-330C231D8C5D.jpeg. AllnumericIDs useDMGTprefix. No closuredate supplied for43. Demand types from source:1692improvedcontrols,22serviceenhancements,1707improvedcontrols,993platformenrichment,43improvedcontrols,1368serviceenhancements,1326improvedcontrols,714serviceenhancements,1680serviceenhancements,1305platformenrichment,1802serviceenhancements,1785serviceenhancements,1248serviceenhancements. Supporting IDs may duplicate other platform sections. Do not sum as enterpriseunique demands.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CCM/SMS delivered30=18platform+12support, total48. ATM delivered6=4platform+2support, total13. Do not add as enterprise unique demands because supporting IDs may overlap. CCM email30732241+SMS40366362=71098603 events, not unique customers. XFS515/530=97.17%. Amount currency unspecified. Executive recommendations, not approved decisions.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Snapshot share30/48=62.5%,16/48=33.3%,2/48=4.2%. No monthly throughput inference. Source calls discussion B0. Strategic initiative CCM Upgrade Rel17, website latestSitefinity,e&amp;servicesconsolidation,resiliencyremediations,SMSCorporatebankingupgrade. No individual demandIDs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Capacity screenshot CCMCPU6.45/4.14 memory34.3/44.7. SMSCPU2.98/2.33/.608/.640 memory35.4/31.7/21.8/20.5. CCMstorage11.1TB/14TB with60.5%, arithmetic79.3%. SMS2.1TB/14TB withlabel7.9TB%, arithmetic15%. Inconsistent percentages retained only in notes, no invented corrected source utilization. Availability~100%, both planned/unplannedoutages0downtime0. SMS DRtestedyes fromreliabilityslide and nextdrillQ12027 fromcapacityslide. Source subtitle generictestedDR doesnotapplyCCM.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ATMtotal13 delivered4/2,progress1/3,backlog0,B0discussion3. Snapshotdelivery46.15%,progress30.77%,discussion23.08%. XFS515/530 source completed,97.17% derived. NBVsourceBoardvantage. TLSsource completed withrolloutplaninprogress, donotassertallterminalsrolledout.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Source dailyaveragesATM76628CDM11709 do not reconcile with rounded totals over30days, appear29daybasis. Display totals and preserve daily averages in notes without inventing denominator. Currency unspecified. Nextactivity tile saysPlannedQ12027 withoutactivitylabel. DRtestAugust22source. Incidents neednotproduceoutage. Near100availability doesnotprove zero customer impact. Recommendationsidentifiedasmanagementreview.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Hosts abbreviated for readability. All dib.ae: dxb01-vwp-kala1,kala2,kalw1,kalw2,kald2,kald3 and dxb02-vwp-kald1. CPU3.90,2.01,3.69,1.79,10.5,2.60,1.36%. Memory37.5,30.4,29,28.4,90.2,87.2,86.3%. Storage46.2,59.3,34.3,51.2,76.4,75.3,44.9%. No approved utilization threshold supplied, so do not label actual breach or capacity exhaustion.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TOCsource rows1–10, rare8 frequent2. Probabilitynotriskseverity. October4and24remainplannedsource dates, noactualreleaseconfirmation supplied even though currentdateafterOct4. Eightotheritems in nexttwo slides. DatesQ22007 in source flagged, no silentcorrection.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Councilrows1SMSduplicate,2OTPunmasked,4website,6callcentre. Recommendationsclosureevidence notsource commitment. Websitefixonlyexchangeinterface, notallfindings. OTPdemandIDs/datesnotprovided.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Councilrows5,7,9,10. Row7and10 targetsprintedQ22007 invalidrelative2026report. Preserveflag, donotsilentlyturn2027. OMNIIBscopeproposesQ22027forcapacity. HFLMSscopeQ426 differscounciltarget. JourneytrackingstatusclaimsimplementedPFCC butRtBnoteonlyrawdatawhichdoesnothelpbusiness. Slide paraphrase mustshow conflictnotclaimcomplete visibility.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Owners exactlyfromscope RamziRizvan,NaveedRashid,Ebrahim. Eightplatforms fourBSR fourOD. Scopeisplannedprogramme, notcompletionevidence. Budgets,migrationchecklistandreleaseworkflowmentionedincoverbutnotprovided. No inventedcostRTO/RPOorcompletion.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Scope allfirst4Q426 next4Q127. FootnotesaysInternetBankingOmniproposedQ22027becausecapacityincriticalQ1projectsCBUAEnotice3057. ThisisaquarterlaneroadmapnotdurationGantt. HFLMSQ426scopeconflictsTOCQ22007and earlierportfolio2027DRupgrade, needsbaselineconfirmation.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Exactsource scope retained. Activeactivedesignisproposed, nottestedstatus. HFLMSpassiveDRscope. KALandIB3+2AlwaysOnsource. ICCandMatrixnotspecificallyactiveactiveinscope. Recommendedgatesnextslide notnewsourcefacts.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Environmentmatrixsource exact8rows. UATproduction8confirmed. Staging6denied2NA. SIT3denied5NA. DR3greenconfirmedOmniWebsiteSMS,5passiveIBHFLMSMatrixICCKAL. ProvisioningisnotdeployedtestedDR. No contradictionresolve withcurrentHFLMSnodr. Requirementtoexplaindifference visible.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Infrastructure source footer totals. DucontSMSfooter13,550. Storageunitsnotlabelled,notassumedGB/TB. TotalsincludingdeniedSTGarenotapprovedprovisionedcapacity. DIBWebsiteapp1,3,3,3 db1,3,3,2 web1,2,2,2. SMSapp1,2,dash,dashdb1,3,3,2. HFLMSapp2,2,dash,5db2,3,3,2. ICCdb1,dash,1,1. Source detailedstorage numbers shouldbereconciledwithfooterbeforeaggregation.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Source infrastructurefooterIB42storage34958,KAL23storage12808,Matrix6storage10530,Omni11storage2498. Unitsunspecified. All8source servertotals sum142 includesrequesteddeniedSTG and maynotmeanphysicaluniqueservers. Noapprovedcostorbudget. NPsourceheadingnotautomaticallySIT. Servercountseditable. Storagecomponent arithmetic notvalidated against totals.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supplied CCM/SMS, ATM, Technology Oversight Council and CET Resiliency Strategy screenshots, September 2026. Allfourcardsareanalyticalrecommendations, notapprovedplan. Noexternalbenchmarkintroduced. Remainingcover-onlytopicsmigrationchecklistbudgetandproduction/nonproductionworkflowswerenotsuppliedandarenotinvented. Infrastructurequantitiessourcefooterneedreconciliation. CurrentversusplannedDRdistinguished.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33ca44cfcf845ec"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164da0f5d724fb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42f55997371417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5f1b00624424b2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159a08924d34ea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6614f9bedd9421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5DC8217F-8F0F-4A4C-9B87-FCE1178DE3D2}"/>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634013A-0AAA-4312-B533-C66E63E753B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101DBB8A-8B26-41F3-B123-69E75E304CC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B6F3D27B-047D-43ED-8EAC-FD494A77CAEA}"/>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F33D2DA7-32E2-4DE7-BA19-55E27C2941D0}"/>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64ACAF68-5130-4FCA-8E15-4E47D8C809F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2B65FBA-866C-49B6-BA99-1F39D489CA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D6E262B5-6589-459D-8588-1A62AE6FA4B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3BF333D3-5554-4457-B9BA-85E09D01AAD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54CA9913-9B34-4B5F-A4A2-97302A70EB6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78B8F335-D8E6-4615-A621-5843E670B1B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563DB65A-CF1C-46BA-9D45-56A774E3057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82DD3943-451E-4D39-84B6-21B4C94153F7}"/>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86DC76F-DBF4-4FD4-B6E1-54F4015FD0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94CC3BE3-5E69-47AA-9702-609866E8EC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d832fe599094971" /><Relationship Type="http://schemas.openxmlformats.org/officeDocument/2006/relationships/slideLayout" Target="/ppt/slideLayouts/slideLayout1.xml" Id="R7d0897aed75343a4" /><Relationship Type="http://schemas.openxmlformats.org/officeDocument/2006/relationships/slideLayout" Target="/ppt/slideLayouts/slideLayout2.xml" Id="R136d518e6ae14bef" /><Relationship Type="http://schemas.openxmlformats.org/officeDocument/2006/relationships/slideLayout" Target="/ppt/slideLayouts/slideLayout3.xml" Id="R8a00a1aedf664ae0" /><Relationship Type="http://schemas.openxmlformats.org/officeDocument/2006/relationships/slideLayout" Target="/ppt/slideLayouts/slideLayout4.xml" Id="R1c8a864804fa408a" /><Relationship Type="http://schemas.openxmlformats.org/officeDocument/2006/relationships/slideLayout" Target="/ppt/slideLayouts/slideLayout5.xml" Id="R7c39a730d4c3411f" /><Relationship Type="http://schemas.openxmlformats.org/officeDocument/2006/relationships/slideLayout" Target="/ppt/slideLayouts/slideLayout6.xml" Id="R212ea96a1d0142a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0897aed75343a4"/>
    <p:sldLayoutId xmlns:r="http://schemas.openxmlformats.org/officeDocument/2006/relationships" id="2147483650" r:id="R136d518e6ae14bef"/>
    <p:sldLayoutId xmlns:r="http://schemas.openxmlformats.org/officeDocument/2006/relationships" id="2147483651" r:id="R8a00a1aedf664ae0"/>
    <p:sldLayoutId xmlns:r="http://schemas.openxmlformats.org/officeDocument/2006/relationships" id="2147483652" r:id="R1c8a864804fa408a"/>
    <p:sldLayoutId xmlns:r="http://schemas.openxmlformats.org/officeDocument/2006/relationships" id="2147483653" r:id="R7c39a730d4c3411f"/>
    <p:sldLayoutId xmlns:r="http://schemas.openxmlformats.org/officeDocument/2006/relationships" id="2147483654" r:id="R212ea96a1d0142a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2f34afd47fd4546" /><Relationship Type="http://schemas.openxmlformats.org/officeDocument/2006/relationships/notesSlide" Target="/ppt/notesSlides/notesSlide1.xml" Id="Re393bded374c4ac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05fcfb018cd4ceb" /><Relationship Type="http://schemas.openxmlformats.org/officeDocument/2006/relationships/chart" Target="/ppt/slides/charts/chart1.xml" Id="R1674904fb96445e9" /><Relationship Type="http://schemas.openxmlformats.org/officeDocument/2006/relationships/notesSlide" Target="/ppt/notesSlides/notesSlide2.xml" Id="Ree2e5d1763a5407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9644362f4854ef1" /><Relationship Type="http://schemas.openxmlformats.org/officeDocument/2006/relationships/chart" Target="/ppt/slides/charts/chart2.xml" Id="R3d53a0f7da1341f0" /><Relationship Type="http://schemas.openxmlformats.org/officeDocument/2006/relationships/notesSlide" Target="/ppt/notesSlides/notesSlide3.xml" Id="Rced1b0930cfc4be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fec76730fa24808" /><Relationship Type="http://schemas.openxmlformats.org/officeDocument/2006/relationships/chart" Target="/ppt/slides/charts/chart3.xml" Id="Rd7cff283fb8b4e4d" /><Relationship Type="http://schemas.openxmlformats.org/officeDocument/2006/relationships/notesSlide" Target="/ppt/notesSlides/notesSlide4.xml" Id="R0d449618928340f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4f54130b57b47d2" /><Relationship Type="http://schemas.openxmlformats.org/officeDocument/2006/relationships/notesSlide" Target="/ppt/notesSlides/notesSlide5.xml" Id="R2f298a417740489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6afa112f8f745ec" /><Relationship Type="http://schemas.openxmlformats.org/officeDocument/2006/relationships/notesSlide" Target="/ppt/notesSlides/notesSlide6.xml" Id="R9d7fd7bb60244a5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8556d70e9874433" /><Relationship Type="http://schemas.openxmlformats.org/officeDocument/2006/relationships/notesSlide" Target="/ppt/notesSlides/notesSlide7.xml" Id="R8e8c86636e694af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d4675ef307742e5" /><Relationship Type="http://schemas.openxmlformats.org/officeDocument/2006/relationships/notesSlide" Target="/ppt/notesSlides/notesSlide8.xml" Id="R7379619fabb440f4"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48816fe81274fd5" /><Relationship Type="http://schemas.openxmlformats.org/officeDocument/2006/relationships/notesSlide" Target="/ppt/notesSlides/notesSlide9.xml" Id="R5f5d489c3d384ece"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9d946970ffb48a6" /><Relationship Type="http://schemas.openxmlformats.org/officeDocument/2006/relationships/notesSlide" Target="/ppt/notesSlides/notesSlide10.xml" Id="R50a71ea7fee44b5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34f32a7d2d544079" /><Relationship Type="http://schemas.openxmlformats.org/officeDocument/2006/relationships/notesSlide" Target="/ppt/notesSlides/notesSlide11.xml" Id="R3a354e63e378400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0b0a935cc91e4418" /><Relationship Type="http://schemas.openxmlformats.org/officeDocument/2006/relationships/chart" Target="/ppt/slides/charts/chart4.xml" Id="R71886919e4f14750" /><Relationship Type="http://schemas.openxmlformats.org/officeDocument/2006/relationships/chart" Target="/ppt/slides/charts/chart5.xml" Id="R1caade5421e84d95" /><Relationship Type="http://schemas.openxmlformats.org/officeDocument/2006/relationships/notesSlide" Target="/ppt/notesSlides/notesSlide12.xml" Id="Rb25af434a8534e4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3ba7d32ec8e94e06" /><Relationship Type="http://schemas.openxmlformats.org/officeDocument/2006/relationships/notesSlide" Target="/ppt/notesSlides/notesSlide13.xml" Id="R79aa2515a01c469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6ca7ceac552490b" /><Relationship Type="http://schemas.openxmlformats.org/officeDocument/2006/relationships/notesSlide" Target="/ppt/notesSlides/notesSlide14.xml" Id="R0d96cd7262484f0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77a423165f59497f" /><Relationship Type="http://schemas.openxmlformats.org/officeDocument/2006/relationships/notesSlide" Target="/ppt/notesSlides/notesSlide15.xml" Id="R05c2b23e39ff4698" /></Relationships>
</file>

<file path=ppt/slides/_rels/slide16.xml.rels><?xml version='1.0' encoding='UTF-8' standalone='yes'?>
<Relationships xmlns="http://schemas.openxmlformats.org/package/2006/relationships"><Relationship Type="http://schemas.openxmlformats.org/officeDocument/2006/relationships/slideLayout" Target="/ppt/slideLayouts/slideLayout6.xml" Id="R87f4820b50ad43e7"/><Relationship Type="http://schemas.openxmlformats.org/officeDocument/2006/relationships/notesSlide" Target="/ppt/notesSlides/notesSlide16.xml" Id="Rfbd631604dc04d15"/><Relationship Id="rIdCC17" Type="http://schemas.openxmlformats.org/officeDocument/2006/relationships/slide" Target="slide17.xml"/><Relationship Id="rIdCC18" Type="http://schemas.openxmlformats.org/officeDocument/2006/relationships/slide" Target="slide18.xml"/><Relationship Id="rIdCC19" Type="http://schemas.openxmlformats.org/officeDocument/2006/relationships/slide" Target="slide19.xml"/><Relationship Id="rIdCC20" Type="http://schemas.openxmlformats.org/officeDocument/2006/relationships/slide" Target="slide20.xml"/><Relationship Id="rIdCC21" Type="http://schemas.openxmlformats.org/officeDocument/2006/relationships/slide" Target="slide21.xml"/><Relationship Id="rIdCC22" Type="http://schemas.openxmlformats.org/officeDocument/2006/relationships/slide" Target="slide22.xml"/></Relationships>
</file>

<file path=ppt/slides/_rels/slide17.xml.rels><?xml version='1.0' encoding='UTF-8' standalone='yes'?>
<Relationships xmlns="http://schemas.openxmlformats.org/package/2006/relationships"><Relationship Type="http://schemas.openxmlformats.org/officeDocument/2006/relationships/slideLayout" Target="/ppt/slideLayouts/slideLayout6.xml" Id="Rbd4b796cda84439c"/><Relationship Type="http://schemas.openxmlformats.org/officeDocument/2006/relationships/chart" Target="/ppt/slides/charts/chart6.xml" Id="Rbeec734053d64943"/><Relationship Type="http://schemas.openxmlformats.org/officeDocument/2006/relationships/chart" Target="/ppt/slides/charts/chart7.xml" Id="Re132776131d74d40"/><Relationship Type="http://schemas.openxmlformats.org/officeDocument/2006/relationships/chart" Target="/ppt/slides/charts/chart8.xml" Id="R65f2749a20934e2c"/><Relationship Type="http://schemas.openxmlformats.org/officeDocument/2006/relationships/notesSlide" Target="/ppt/notesSlides/notesSlide17.xml" Id="R8e4c436f09b848dd"/><Relationship Id="rIdCC16" Type="http://schemas.openxmlformats.org/officeDocument/2006/relationships/slide" Target="slide16.xml"/></Relationships>
</file>

<file path=ppt/slides/_rels/slide18.xml.rels><?xml version='1.0' encoding='UTF-8' standalone='yes'?>
<Relationships xmlns="http://schemas.openxmlformats.org/package/2006/relationships"><Relationship Type="http://schemas.openxmlformats.org/officeDocument/2006/relationships/slideLayout" Target="/ppt/slideLayouts/slideLayout6.xml" Id="R0d517a560d7c42d2"/><Relationship Type="http://schemas.openxmlformats.org/officeDocument/2006/relationships/notesSlide" Target="/ppt/notesSlides/notesSlide18.xml" Id="R20f88cdd2b8a4391"/><Relationship Id="rIdCC16" Type="http://schemas.openxmlformats.org/officeDocument/2006/relationships/slide" Target="slide16.xml"/></Relationships>
</file>

<file path=ppt/slides/_rels/slide19.xml.rels><?xml version='1.0' encoding='UTF-8' standalone='yes'?>
<Relationships xmlns="http://schemas.openxmlformats.org/package/2006/relationships"><Relationship Type="http://schemas.openxmlformats.org/officeDocument/2006/relationships/slideLayout" Target="/ppt/slideLayouts/slideLayout6.xml" Id="R107f2cd0e5114f68"/><Relationship Type="http://schemas.openxmlformats.org/officeDocument/2006/relationships/chart" Target="/ppt/slides/charts/chart9.xml" Id="R7f48036bc154443d"/><Relationship Type="http://schemas.openxmlformats.org/officeDocument/2006/relationships/chart" Target="/ppt/slides/charts/chart10.xml" Id="R742e4b7c17884dbb"/><Relationship Type="http://schemas.openxmlformats.org/officeDocument/2006/relationships/notesSlide" Target="/ppt/notesSlides/notesSlide19.xml" Id="R5e1225309f4f403a"/><Relationship Id="rIdCC16" Type="http://schemas.openxmlformats.org/officeDocument/2006/relationships/slide" Target="slide16.xml"/></Relationships>
</file>

<file path=ppt/slides/_rels/slide20.xml.rels><?xml version='1.0' encoding='UTF-8' standalone='yes'?>
<Relationships xmlns="http://schemas.openxmlformats.org/package/2006/relationships"><Relationship Type="http://schemas.openxmlformats.org/officeDocument/2006/relationships/slideLayout" Target="/ppt/slideLayouts/slideLayout6.xml" Id="R5d0ba2dfe2e74666"/><Relationship Type="http://schemas.openxmlformats.org/officeDocument/2006/relationships/chart" Target="/ppt/slides/charts/chart11.xml" Id="R5480d1de5bfd4502"/><Relationship Type="http://schemas.openxmlformats.org/officeDocument/2006/relationships/notesSlide" Target="/ppt/notesSlides/notesSlide20.xml" Id="Ra6287b961f6d41cc"/><Relationship Id="rIdCC16" Type="http://schemas.openxmlformats.org/officeDocument/2006/relationships/slide" Target="slide16.xml"/></Relationships>
</file>

<file path=ppt/slides/_rels/slide21.xml.rels><?xml version='1.0' encoding='UTF-8' standalone='yes'?>
<Relationships xmlns="http://schemas.openxmlformats.org/package/2006/relationships"><Relationship Type="http://schemas.openxmlformats.org/officeDocument/2006/relationships/slideLayout" Target="/ppt/slideLayouts/slideLayout6.xml" Id="R73828fea24a14247"/><Relationship Type="http://schemas.openxmlformats.org/officeDocument/2006/relationships/notesSlide" Target="/ppt/notesSlides/notesSlide21.xml" Id="R522647eb15fc47fd"/><Relationship Id="rIdCC16" Type="http://schemas.openxmlformats.org/officeDocument/2006/relationships/slide" Target="slide16.xml"/></Relationships>
</file>

<file path=ppt/slides/_rels/slide22.xml.rels><?xml version='1.0' encoding='UTF-8' standalone='yes'?>
<Relationships xmlns="http://schemas.openxmlformats.org/package/2006/relationships"><Relationship Type="http://schemas.openxmlformats.org/officeDocument/2006/relationships/slideLayout" Target="/ppt/slideLayouts/slideLayout6.xml" Id="R3b602da71d3c459b"/><Relationship Type="http://schemas.openxmlformats.org/officeDocument/2006/relationships/notesSlide" Target="/ppt/notesSlides/notesSlide22.xml" Id="R4af72c9860bd457c"/><Relationship Id="rIdCC16" Type="http://schemas.openxmlformats.org/officeDocument/2006/relationships/slide" Target="slide16.xml"/></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d000a9487c474790" /><Relationship Type="http://schemas.openxmlformats.org/officeDocument/2006/relationships/notesSlide" Target="/ppt/notesSlides/notesSlide23.xml" Id="Rba8c1484a3454f3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ad0c66e6ebf4a00" /><Relationship Type="http://schemas.openxmlformats.org/officeDocument/2006/relationships/chart" Target="/ppt/slides/charts/chart12.xml" Id="R4e64cae8938d4508" /><Relationship Type="http://schemas.openxmlformats.org/officeDocument/2006/relationships/notesSlide" Target="/ppt/notesSlides/notesSlide24.xml" Id="Rfc5d90bc679040de"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38a185c548134828" /><Relationship Type="http://schemas.openxmlformats.org/officeDocument/2006/relationships/chart" Target="/ppt/slides/charts/chart13.xml" Id="R094d46bc817640f7" /><Relationship Type="http://schemas.openxmlformats.org/officeDocument/2006/relationships/notesSlide" Target="/ppt/notesSlides/notesSlide25.xml" Id="Rc0f3a597bf7f4a64"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e97af411cc545ca" /><Relationship Type="http://schemas.openxmlformats.org/officeDocument/2006/relationships/chart" Target="/ppt/slides/charts/chart14.xml" Id="Rcf558f20c1ab439d" /><Relationship Type="http://schemas.openxmlformats.org/officeDocument/2006/relationships/notesSlide" Target="/ppt/notesSlides/notesSlide26.xml" Id="R6611d93775784e2b"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8dfd45631ddb4a5d" /><Relationship Type="http://schemas.openxmlformats.org/officeDocument/2006/relationships/notesSlide" Target="/ppt/notesSlides/notesSlide27.xml" Id="R4c42c8e787e24a7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1f20985336524ff3" /><Relationship Type="http://schemas.openxmlformats.org/officeDocument/2006/relationships/chart" Target="/ppt/slides/charts/chart15.xml" Id="Rbd8281484502494b" /><Relationship Type="http://schemas.openxmlformats.org/officeDocument/2006/relationships/notesSlide" Target="/ppt/notesSlides/notesSlide28.xml" Id="Rd27e2fdae4714b5e"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81b345054f35476f" /><Relationship Type="http://schemas.openxmlformats.org/officeDocument/2006/relationships/notesSlide" Target="/ppt/notesSlides/notesSlide29.xml" Id="R8c28d9507cf349b9"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1a06a7a6a718446f" /><Relationship Type="http://schemas.openxmlformats.org/officeDocument/2006/relationships/notesSlide" Target="/ppt/notesSlides/notesSlide30.xml" Id="R97beab38133c4dd4"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cbf2fa90c2304a09" /><Relationship Type="http://schemas.openxmlformats.org/officeDocument/2006/relationships/notesSlide" Target="/ppt/notesSlides/notesSlide31.xml" Id="R400077e016654e38"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b36a49a00a6747e3" /><Relationship Type="http://schemas.openxmlformats.org/officeDocument/2006/relationships/notesSlide" Target="/ppt/notesSlides/notesSlide32.xml" Id="Rde7369329c3d49b5"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59ddaa53ff664dae" /><Relationship Type="http://schemas.openxmlformats.org/officeDocument/2006/relationships/notesSlide" Target="/ppt/notesSlides/notesSlide33.xml" Id="Rddc4b4791a884242"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6ba0ee2eb8da430f" /><Relationship Type="http://schemas.openxmlformats.org/officeDocument/2006/relationships/notesSlide" Target="/ppt/notesSlides/notesSlide34.xml" Id="R257452602512429e"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fd7cb7aec8364e68" /><Relationship Type="http://schemas.openxmlformats.org/officeDocument/2006/relationships/notesSlide" Target="/ppt/notesSlides/notesSlide35.xml" Id="R84f58b51845d47f0"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4b15e5b1b35492b" /><Relationship Type="http://schemas.openxmlformats.org/officeDocument/2006/relationships/notesSlide" Target="/ppt/notesSlides/notesSlide36.xml" Id="Re7fdda724552436f"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1ce584aea62b4d87" /><Relationship Type="http://schemas.openxmlformats.org/officeDocument/2006/relationships/notesSlide" Target="/ppt/notesSlides/notesSlide37.xml" Id="Rc752bfa100ee436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61fc9a0c5af84e96" /><Relationship Type="http://schemas.openxmlformats.org/officeDocument/2006/relationships/notesSlide" Target="/ppt/notesSlides/notesSlide38.xml" Id="Rc6fdcda587a64108" /></Relationships>
</file>

<file path=ppt/slides/charts/chart1.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cat>
            <c:strLit>
              <c:ptCount val="2"/>
              <c:pt idx="0">
                <c:v>Retail</c:v>
              </c:pt>
              <c:pt idx="1">
                <c:v>SME</c:v>
              </c:pt>
            </c:strLit>
          </c:cat>
          <c:val>
            <c:numLit>
              <c:formatCode>0.00"B"</c:formatCode>
              <c:ptCount val="2"/>
              <c:pt idx="0">
                <c:v>7.83</c:v>
              </c:pt>
              <c:pt idx="1">
                <c:v>9.16</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00&quot;B&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2.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E57495"/>
              </a:solidFill>
            </c:spPr>
          </c:dPt>
          <c:cat>
            <c:strLit>
              <c:ptCount val="5"/>
              <c:pt idx="0">
                <c:v>AF</c:v>
              </c:pt>
              <c:pt idx="1">
                <c:v>AF-EV</c:v>
              </c:pt>
              <c:pt idx="2">
                <c:v>CC</c:v>
              </c:pt>
              <c:pt idx="3">
                <c:v>PF</c:v>
              </c:pt>
              <c:pt idx="4">
                <c:v>SBF</c:v>
              </c:pt>
            </c:strLit>
          </c:cat>
          <c:val>
            <c:numLit>
              <c:formatCode>0.00"B"</c:formatCode>
              <c:ptCount val="5"/>
              <c:pt idx="0">
                <c:v>0.63</c:v>
              </c:pt>
              <c:pt idx="1">
                <c:v>0.02</c:v>
              </c:pt>
              <c:pt idx="2">
                <c:v>0.19</c:v>
              </c:pt>
              <c:pt idx="3">
                <c:v>2.33</c:v>
              </c:pt>
              <c:pt idx="4">
                <c:v>0.07</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00&quot;B&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3.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E57495"/>
              </a:solidFill>
            </c:spPr>
          </c:dPt>
          <c:dPt>
            <c:idx val="5"/>
            <c:invertIfNegative val="0"/>
            <c:spPr>
              <a:solidFill xmlns:a="http://schemas.openxmlformats.org/drawingml/2006/main">
                <a:srgbClr val="16A878"/>
              </a:solidFill>
            </c:spPr>
          </c:dPt>
          <c:dPt>
            <c:idx val="6"/>
            <c:invertIfNegative val="0"/>
            <c:spPr>
              <a:solidFill xmlns:a="http://schemas.openxmlformats.org/drawingml/2006/main">
                <a:srgbClr val="258FC7"/>
              </a:solidFill>
            </c:spPr>
          </c:dPt>
          <c:dPt>
            <c:idx val="7"/>
            <c:invertIfNegative val="0"/>
            <c:spPr>
              <a:solidFill xmlns:a="http://schemas.openxmlformats.org/drawingml/2006/main">
                <a:srgbClr val="9167D3"/>
              </a:solidFill>
            </c:spPr>
          </c:dPt>
          <c:dPt>
            <c:idx val="8"/>
            <c:invertIfNegative val="0"/>
            <c:spPr>
              <a:solidFill xmlns:a="http://schemas.openxmlformats.org/drawingml/2006/main">
                <a:srgbClr val="EDA82D"/>
              </a:solidFill>
            </c:spPr>
          </c:dPt>
          <c:cat>
            <c:strLit>
              <c:ptCount val="9"/>
              <c:pt idx="0">
                <c:v>Jan</c:v>
              </c:pt>
              <c:pt idx="1">
                <c:v>Feb</c:v>
              </c:pt>
              <c:pt idx="2">
                <c:v>Mar</c:v>
              </c:pt>
              <c:pt idx="3">
                <c:v>Apr</c:v>
              </c:pt>
              <c:pt idx="4">
                <c:v>May</c:v>
              </c:pt>
              <c:pt idx="5">
                <c:v>Jun</c:v>
              </c:pt>
              <c:pt idx="6">
                <c:v>Jul</c:v>
              </c:pt>
              <c:pt idx="7">
                <c:v>Aug</c:v>
              </c:pt>
              <c:pt idx="8">
                <c:v>Sep</c:v>
              </c:pt>
            </c:strLit>
          </c:cat>
          <c:val>
            <c:numLit>
              <c:formatCode>0.00"B"</c:formatCode>
              <c:ptCount val="9"/>
              <c:pt idx="0">
                <c:v>1.08</c:v>
              </c:pt>
              <c:pt idx="1">
                <c:v>1.2</c:v>
              </c:pt>
              <c:pt idx="2">
                <c:v>0.84</c:v>
              </c:pt>
              <c:pt idx="3">
                <c:v>1.1</c:v>
              </c:pt>
              <c:pt idx="4">
                <c:v>0.97</c:v>
              </c:pt>
              <c:pt idx="5">
                <c:v>1.01</c:v>
              </c:pt>
              <c:pt idx="6">
                <c:v>1.57</c:v>
              </c:pt>
              <c:pt idx="7">
                <c:v>1.39</c:v>
              </c:pt>
              <c:pt idx="8">
                <c:v>1.24</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00&quot;B&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4.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cat>
            <c:strLit>
              <c:ptCount val="4"/>
              <c:pt idx="0">
                <c:v>Week 1</c:v>
              </c:pt>
              <c:pt idx="1">
                <c:v>Week 2</c:v>
              </c:pt>
              <c:pt idx="2">
                <c:v>Week 3</c:v>
              </c:pt>
              <c:pt idx="3">
                <c:v>Week 4</c:v>
              </c:pt>
            </c:strLit>
          </c:cat>
          <c:val>
            <c:numLit>
              <c:formatCode>0</c:formatCode>
              <c:ptCount val="4"/>
              <c:pt idx="0">
                <c:v>28</c:v>
              </c:pt>
              <c:pt idx="1">
                <c:v>31</c:v>
              </c:pt>
              <c:pt idx="2">
                <c:v>34</c:v>
              </c:pt>
              <c:pt idx="3">
                <c:v>34</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5.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E57495"/>
              </a:solidFill>
            </c:spPr>
          </c:dPt>
          <c:cat>
            <c:strLit>
              <c:ptCount val="5"/>
              <c:pt idx="0">
                <c:v>Cases done</c:v>
              </c:pt>
              <c:pt idx="1">
                <c:v>CRAT</c:v>
              </c:pt>
              <c:pt idx="2">
                <c:v>GBO</c:v>
              </c:pt>
              <c:pt idx="3">
                <c:v>Leads</c:v>
              </c:pt>
              <c:pt idx="4">
                <c:v>Opportunities</c:v>
              </c:pt>
            </c:strLit>
          </c:cat>
          <c:val>
            <c:numLit>
              <c:formatCode>#,##0</c:formatCode>
              <c:ptCount val="5"/>
              <c:pt idx="0">
                <c:v>5544</c:v>
              </c:pt>
              <c:pt idx="1">
                <c:v>8382</c:v>
              </c:pt>
              <c:pt idx="2">
                <c:v>10028</c:v>
              </c:pt>
              <c:pt idx="3">
                <c:v>51525</c:v>
              </c:pt>
              <c:pt idx="4">
                <c:v>45465</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6.xml><?xml version="1.0" encoding="utf-8"?>
<c:chartSpace xmlns:c="http://schemas.openxmlformats.org/drawingml/2006/chart">
  <c:lang val="en-US"/>
  <c:chart>
    <c:plotArea>
      <c:lineChart>
        <c:grouping val="standard"/>
        <c:ser>
          <c:idx val="0"/>
          <c:order val="0"/>
          <c:tx>
            <c:v>Completion</c:v>
          </c:tx>
          <c:spPr>
            <a:ln xmlns:a="http://schemas.openxmlformats.org/drawingml/2006/main" w="28575">
              <a:solidFill>
                <a:srgbClr val="087F68"/>
              </a:solidFill>
            </a:ln>
          </c:spPr>
          <c:marker>
            <c:symbol val="circle"/>
            <c:size val="5"/>
          </c:marker>
          <c:cat>
            <c:strLit>
              <c:ptCount val="9"/>
              <c:pt idx="0">
                <c:v>Jan</c:v>
              </c:pt>
              <c:pt idx="1">
                <c:v>Feb</c:v>
              </c:pt>
              <c:pt idx="2">
                <c:v>Mar</c:v>
              </c:pt>
              <c:pt idx="3">
                <c:v>Apr</c:v>
              </c:pt>
              <c:pt idx="4">
                <c:v>May</c:v>
              </c:pt>
              <c:pt idx="5">
                <c:v>Jun</c:v>
              </c:pt>
              <c:pt idx="6">
                <c:v>Jul</c:v>
              </c:pt>
              <c:pt idx="7">
                <c:v>Aug</c:v>
              </c:pt>
              <c:pt idx="8">
                <c:v>Sep</c:v>
              </c:pt>
            </c:strLit>
          </c:cat>
          <c:val>
            <c:numLit>
              <c:formatCode>0.00"%"</c:formatCode>
              <c:ptCount val="9"/>
              <c:pt idx="0">
                <c:v>70.03</c:v>
              </c:pt>
              <c:pt idx="1">
                <c:v>70.39</c:v>
              </c:pt>
              <c:pt idx="2">
                <c:v>69.7</c:v>
              </c:pt>
              <c:pt idx="3">
                <c:v>70.64</c:v>
              </c:pt>
              <c:pt idx="4">
                <c:v>70.08</c:v>
              </c:pt>
              <c:pt idx="5">
                <c:v>68.95</c:v>
              </c:pt>
              <c:pt idx="6">
                <c:v>67.83</c:v>
              </c:pt>
              <c:pt idx="7">
                <c:v>67.99</c:v>
              </c:pt>
              <c:pt idx="8">
                <c:v>68.45</c:v>
              </c:pt>
            </c:numLit>
          </c:val>
        </c:ser>
        <c:dLbls>
          <c:txPr>
            <a:bodyPr xmlns:a="http://schemas.openxmlformats.org/drawingml/2006/main" anchorCtr="1"/>
            <a:lstStyle xmlns:a="http://schemas.openxmlformats.org/drawingml/2006/main"/>
            <a:p xmlns:a="http://schemas.openxmlformats.org/drawingml/2006/main">
              <a:pPr>
                <a:defRPr sz="975">
                  <a:solidFill>
                    <a:srgbClr val="173A4B"/>
                  </a:solidFill>
                  <a:latin typeface="DejaVu Sans"/>
                  <a:ea typeface="DejaVu Sans"/>
                  <a:cs typeface="DejaVu Sans"/>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72768"/>
      </c:catAx>
      <c:valAx>
        <c:axId val="48672768"/>
        <c:scaling>
          <c:orientation val="minMax"/>
          <c:max val="72"/>
          <c:min val="65"/>
        </c:scaling>
        <c:delete val="0"/>
        <c:axPos val="l"/>
        <c:majorGridlines>
          <c:spPr>
            <a:ln xmlns:a="http://schemas.openxmlformats.org/drawingml/2006/main" w="9525">
              <a:solidFill>
                <a:srgbClr val="E3EBEF"/>
              </a:solidFill>
            </a:ln>
          </c:spPr>
        </c:majorGridlines>
        <c:numFmt formatCode="0.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B89"/>
                </a:solidFill>
                <a:latin typeface="DejaVu Sans"/>
                <a:ea typeface="DejaVu Sans"/>
                <a:cs typeface="DejaVu Sans"/>
              </a:defRPr>
            </a:pPr>
          </a:p>
        </c:txPr>
        <c:crossAx val="48650112"/>
        <c:crossBetween val="between"/>
      </c:valAx>
    </c:plotArea>
    <c:plotVisOnly val="1"/>
  </c:chart>
</c:chartSpace>
</file>

<file path=ppt/slides/charts/chart7.xml><?xml version="1.0" encoding="utf-8"?>
<c:chartSpace xmlns:c="http://schemas.openxmlformats.org/drawingml/2006/chart">
  <c:lang val="en-US"/>
  <c:chart>
    <c:plotArea>
      <c:lineChart>
        <c:grouping val="standard"/>
        <c:ser>
          <c:idx val="0"/>
          <c:order val="0"/>
          <c:tx>
            <c:v>Abandonment</c:v>
          </c:tx>
          <c:spPr>
            <a:ln xmlns:a="http://schemas.openxmlformats.org/drawingml/2006/main" w="28575">
              <a:solidFill>
                <a:srgbClr val="D35373"/>
              </a:solidFill>
            </a:ln>
          </c:spPr>
          <c:marker>
            <c:symbol val="circle"/>
            <c:size val="5"/>
          </c:marker>
          <c:cat>
            <c:strLit>
              <c:ptCount val="9"/>
              <c:pt idx="0">
                <c:v>Jan</c:v>
              </c:pt>
              <c:pt idx="1">
                <c:v>Feb</c:v>
              </c:pt>
              <c:pt idx="2">
                <c:v>Mar</c:v>
              </c:pt>
              <c:pt idx="3">
                <c:v>Apr</c:v>
              </c:pt>
              <c:pt idx="4">
                <c:v>May</c:v>
              </c:pt>
              <c:pt idx="5">
                <c:v>Jun</c:v>
              </c:pt>
              <c:pt idx="6">
                <c:v>Jul</c:v>
              </c:pt>
              <c:pt idx="7">
                <c:v>Aug</c:v>
              </c:pt>
              <c:pt idx="8">
                <c:v>Sep</c:v>
              </c:pt>
            </c:strLit>
          </c:cat>
          <c:val>
            <c:numLit>
              <c:formatCode>0.00"%"</c:formatCode>
              <c:ptCount val="9"/>
              <c:pt idx="0">
                <c:v>9.83</c:v>
              </c:pt>
              <c:pt idx="1">
                <c:v>8.75</c:v>
              </c:pt>
              <c:pt idx="2">
                <c:v>15.33</c:v>
              </c:pt>
              <c:pt idx="3">
                <c:v>5.31</c:v>
              </c:pt>
              <c:pt idx="4">
                <c:v>4.32</c:v>
              </c:pt>
              <c:pt idx="5">
                <c:v>5.03</c:v>
              </c:pt>
              <c:pt idx="6">
                <c:v>7.03</c:v>
              </c:pt>
              <c:pt idx="7">
                <c:v>7.46</c:v>
              </c:pt>
              <c:pt idx="8">
                <c:v>11.77</c:v>
              </c:pt>
            </c:numLit>
          </c:val>
        </c:ser>
        <c:dLbls>
          <c:txPr>
            <a:bodyPr xmlns:a="http://schemas.openxmlformats.org/drawingml/2006/main" anchorCtr="1"/>
            <a:lstStyle xmlns:a="http://schemas.openxmlformats.org/drawingml/2006/main"/>
            <a:p xmlns:a="http://schemas.openxmlformats.org/drawingml/2006/main">
              <a:pPr>
                <a:defRPr sz="975">
                  <a:solidFill>
                    <a:srgbClr val="173A4B"/>
                  </a:solidFill>
                  <a:latin typeface="DejaVu Sans"/>
                  <a:ea typeface="DejaVu Sans"/>
                  <a:cs typeface="DejaVu Sans"/>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72768"/>
      </c:catAx>
      <c:valAx>
        <c:axId val="48672768"/>
        <c:scaling>
          <c:orientation val="minMax"/>
          <c:max val="20"/>
          <c:min val="0"/>
        </c:scaling>
        <c:delete val="0"/>
        <c:axPos val="l"/>
        <c:majorGridlines>
          <c:spPr>
            <a:ln xmlns:a="http://schemas.openxmlformats.org/drawingml/2006/main" w="9525">
              <a:solidFill>
                <a:srgbClr val="E3EBEF"/>
              </a:solidFill>
            </a:ln>
          </c:spPr>
        </c:majorGridlines>
        <c:numFmt formatCode="0.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B89"/>
                </a:solidFill>
                <a:latin typeface="DejaVu Sans"/>
                <a:ea typeface="DejaVu Sans"/>
                <a:cs typeface="DejaVu Sans"/>
              </a:defRPr>
            </a:pPr>
          </a:p>
        </c:txPr>
        <c:crossAx val="48650112"/>
        <c:crossBetween val="between"/>
      </c:valAx>
    </c:plotArea>
    <c:plotVisOnly val="1"/>
  </c:chart>
</c:chartSpace>
</file>

<file path=ppt/slides/charts/chart8.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E57495"/>
              </a:solidFill>
            </c:spPr>
          </c:dPt>
          <c:dPt>
            <c:idx val="5"/>
            <c:invertIfNegative val="0"/>
            <c:spPr>
              <a:solidFill xmlns:a="http://schemas.openxmlformats.org/drawingml/2006/main">
                <a:srgbClr val="16A878"/>
              </a:solidFill>
            </c:spPr>
          </c:dPt>
          <c:dPt>
            <c:idx val="6"/>
            <c:invertIfNegative val="0"/>
            <c:spPr>
              <a:solidFill xmlns:a="http://schemas.openxmlformats.org/drawingml/2006/main">
                <a:srgbClr val="258FC7"/>
              </a:solidFill>
            </c:spPr>
          </c:dPt>
          <c:dPt>
            <c:idx val="7"/>
            <c:invertIfNegative val="0"/>
            <c:spPr>
              <a:solidFill xmlns:a="http://schemas.openxmlformats.org/drawingml/2006/main">
                <a:srgbClr val="9167D3"/>
              </a:solidFill>
            </c:spPr>
          </c:dPt>
          <c:dPt>
            <c:idx val="8"/>
            <c:invertIfNegative val="0"/>
            <c:spPr>
              <a:solidFill xmlns:a="http://schemas.openxmlformats.org/drawingml/2006/main">
                <a:srgbClr val="EDA82D"/>
              </a:solidFill>
            </c:spPr>
          </c:dPt>
          <c:cat>
            <c:strLit>
              <c:ptCount val="9"/>
              <c:pt idx="0">
                <c:v>Jan</c:v>
              </c:pt>
              <c:pt idx="1">
                <c:v>Feb</c:v>
              </c:pt>
              <c:pt idx="2">
                <c:v>Mar</c:v>
              </c:pt>
              <c:pt idx="3">
                <c:v>Apr</c:v>
              </c:pt>
              <c:pt idx="4">
                <c:v>May</c:v>
              </c:pt>
              <c:pt idx="5">
                <c:v>Jun</c:v>
              </c:pt>
              <c:pt idx="6">
                <c:v>Jul</c:v>
              </c:pt>
              <c:pt idx="7">
                <c:v>Aug</c:v>
              </c:pt>
              <c:pt idx="8">
                <c:v>Sep</c:v>
              </c:pt>
            </c:strLit>
          </c:cat>
          <c:val>
            <c:numLit>
              <c:formatCode>#,##0</c:formatCode>
              <c:ptCount val="9"/>
              <c:pt idx="0">
                <c:v>451254</c:v>
              </c:pt>
              <c:pt idx="1">
                <c:v>394343</c:v>
              </c:pt>
              <c:pt idx="2">
                <c:v>416078</c:v>
              </c:pt>
              <c:pt idx="3">
                <c:v>454112</c:v>
              </c:pt>
              <c:pt idx="4">
                <c:v>441931</c:v>
              </c:pt>
              <c:pt idx="5">
                <c:v>438815</c:v>
              </c:pt>
              <c:pt idx="6">
                <c:v>454393</c:v>
              </c:pt>
              <c:pt idx="7">
                <c:v>423787</c:v>
              </c:pt>
              <c:pt idx="8">
                <c:v>446482</c:v>
              </c:pt>
            </c:numLit>
          </c:val>
        </c:ser>
        <c:dLbls>
          <c:txPr>
            <a:bodyPr xmlns:a="http://schemas.openxmlformats.org/drawingml/2006/main" anchorCtr="1"/>
            <a:lstStyle xmlns:a="http://schemas.openxmlformats.org/drawingml/2006/main"/>
            <a:p xmlns:a="http://schemas.openxmlformats.org/drawingml/2006/main">
              <a:pPr>
                <a:defRPr sz="90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ax val="500000"/>
          <c:min val="0"/>
        </c:scaling>
        <c:delete val="0"/>
        <c:axPos val="l"/>
        <c:majorGridlines>
          <c:spPr>
            <a:ln xmlns:a="http://schemas.openxmlformats.org/drawingml/2006/main" w="9525">
              <a:solidFill>
                <a:srgbClr val="E3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825">
                <a:solidFill>
                  <a:srgbClr val="647B89"/>
                </a:solidFill>
                <a:latin typeface="DejaVu Sans"/>
                <a:ea typeface="DejaVu Sans"/>
                <a:cs typeface="DejaVu Sans"/>
              </a:defRPr>
            </a:pPr>
          </a:p>
        </c:txPr>
        <c:crossAx val="48650112"/>
        <c:crossBetween val="between"/>
        <c:majorUnit val="250000"/>
      </c:valAx>
    </c:plotArea>
    <c:plotVisOnly val="1"/>
  </c:chart>
</c:chartSpace>
</file>

<file path=ppt/slides/charts/chart9.xml><?xml version="1.0" encoding="utf-8"?>
<c:chartSpace xmlns:c="http://schemas.openxmlformats.org/drawingml/2006/chart">
  <c:lang val="en-US"/>
  <c:chart>
    <c:plotArea>
      <c:barChart>
        <c:barDir val="bar"/>
        <c:grouping val="clustered"/>
        <c:varyColors val="0"/>
        <c:ser>
          <c:idx val="0"/>
          <c:order val="0"/>
          <c:tx>
            <c:v>IVR transactions</c:v>
          </c:tx>
          <c:spPr>
            <a:solidFill xmlns:a="http://schemas.openxmlformats.org/drawingml/2006/main">
              <a:srgbClr val="1688C2"/>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16A878"/>
              </a:solidFill>
            </c:spPr>
          </c:dPt>
          <c:dPt>
            <c:idx val="5"/>
            <c:invertIfNegative val="0"/>
            <c:spPr>
              <a:solidFill xmlns:a="http://schemas.openxmlformats.org/drawingml/2006/main">
                <a:srgbClr val="258FC7"/>
              </a:solidFill>
            </c:spPr>
          </c:dPt>
          <c:dPt>
            <c:idx val="6"/>
            <c:invertIfNegative val="0"/>
            <c:spPr>
              <a:solidFill xmlns:a="http://schemas.openxmlformats.org/drawingml/2006/main">
                <a:srgbClr val="9167D3"/>
              </a:solidFill>
            </c:spPr>
          </c:dPt>
          <c:dPt>
            <c:idx val="7"/>
            <c:invertIfNegative val="0"/>
            <c:spPr>
              <a:solidFill xmlns:a="http://schemas.openxmlformats.org/drawingml/2006/main">
                <a:srgbClr val="EDA82D"/>
              </a:solidFill>
            </c:spPr>
          </c:dPt>
          <c:dPt>
            <c:idx val="8"/>
            <c:invertIfNegative val="0"/>
            <c:spPr>
              <a:solidFill xmlns:a="http://schemas.openxmlformats.org/drawingml/2006/main">
                <a:srgbClr val="16A878"/>
              </a:solidFill>
            </c:spPr>
          </c:dPt>
          <c:cat>
            <c:strLit>
              <c:ptCount val="9"/>
              <c:pt idx="0">
                <c:v>Utility payments</c:v>
              </c:pt>
              <c:pt idx="1">
                <c:v>Etisalat payments</c:v>
              </c:pt>
              <c:pt idx="2">
                <c:v>DU payments</c:v>
              </c:pt>
              <c:pt idx="3">
                <c:v>Salik payment</c:v>
              </c:pt>
              <c:pt idx="4">
                <c:v>Funds transfer</c:v>
              </c:pt>
              <c:pt idx="5">
                <c:v>Cheque-book request</c:v>
              </c:pt>
              <c:pt idx="6">
                <c:v>Cash on card</c:v>
              </c:pt>
              <c:pt idx="7">
                <c:v>Card payment</c:v>
              </c:pt>
              <c:pt idx="8">
                <c:v>Change card PIN</c:v>
              </c:pt>
            </c:strLit>
          </c:cat>
          <c:val>
            <c:numLit>
              <c:formatCode>General</c:formatCode>
              <c:ptCount val="9"/>
              <c:pt idx="0">
                <c:v>388</c:v>
              </c:pt>
              <c:pt idx="1">
                <c:v>1371</c:v>
              </c:pt>
              <c:pt idx="2">
                <c:v>238</c:v>
              </c:pt>
              <c:pt idx="3">
                <c:v>115</c:v>
              </c:pt>
              <c:pt idx="4">
                <c:v>1863</c:v>
              </c:pt>
              <c:pt idx="5">
                <c:v>495</c:v>
              </c:pt>
              <c:pt idx="6">
                <c:v>3</c:v>
              </c:pt>
              <c:pt idx="7">
                <c:v>114</c:v>
              </c:pt>
              <c:pt idx="8">
                <c:v>181</c:v>
              </c:pt>
            </c:numLit>
          </c:val>
        </c:ser>
        <c:dLbls>
          <c:txPr>
            <a:bodyPr xmlns:a="http://schemas.openxmlformats.org/drawingml/2006/main" anchorCtr="1"/>
            <a:lstStyle xmlns:a="http://schemas.openxmlformats.org/drawingml/2006/main"/>
            <a:p xmlns:a="http://schemas.openxmlformats.org/drawingml/2006/main">
              <a:pPr>
                <a:defRPr sz="1050">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4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10.xml><?xml version="1.0" encoding="utf-8"?>
<c:chartSpace xmlns:c="http://schemas.openxmlformats.org/drawingml/2006/chart">
  <c:lang val="en-US"/>
  <c:chart>
    <c:plotArea>
      <c:barChart>
        <c:barDir val="bar"/>
        <c:grouping val="clustered"/>
        <c:varyColors val="0"/>
        <c:ser>
          <c:idx val="0"/>
          <c:order val="0"/>
          <c:tx>
            <c:v>IVR transactions</c:v>
          </c:tx>
          <c:spPr>
            <a:solidFill xmlns:a="http://schemas.openxmlformats.org/drawingml/2006/main">
              <a:srgbClr val="1688C2"/>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16A878"/>
              </a:solidFill>
            </c:spPr>
          </c:dPt>
          <c:dPt>
            <c:idx val="5"/>
            <c:invertIfNegative val="0"/>
            <c:spPr>
              <a:solidFill xmlns:a="http://schemas.openxmlformats.org/drawingml/2006/main">
                <a:srgbClr val="258FC7"/>
              </a:solidFill>
            </c:spPr>
          </c:dPt>
          <c:dPt>
            <c:idx val="6"/>
            <c:invertIfNegative val="0"/>
            <c:spPr>
              <a:solidFill xmlns:a="http://schemas.openxmlformats.org/drawingml/2006/main">
                <a:srgbClr val="9167D3"/>
              </a:solidFill>
            </c:spPr>
          </c:dPt>
          <c:dPt>
            <c:idx val="7"/>
            <c:invertIfNegative val="0"/>
            <c:spPr>
              <a:solidFill xmlns:a="http://schemas.openxmlformats.org/drawingml/2006/main">
                <a:srgbClr val="EDA82D"/>
              </a:solidFill>
            </c:spPr>
          </c:dPt>
          <c:cat>
            <c:strLit>
              <c:ptCount val="8"/>
              <c:pt idx="0">
                <c:v>Last 5 card transactions</c:v>
              </c:pt>
              <c:pt idx="1">
                <c:v>Activate card</c:v>
              </c:pt>
              <c:pt idx="2">
                <c:v>Reset card PIN</c:v>
              </c:pt>
              <c:pt idx="3">
                <c:v>Lost / stolen card</c:v>
              </c:pt>
              <c:pt idx="4">
                <c:v>Reset TPIN</c:v>
              </c:pt>
              <c:pt idx="5">
                <c:v>Block TPIN</c:v>
              </c:pt>
              <c:pt idx="6">
                <c:v>Generate TPIN</c:v>
              </c:pt>
              <c:pt idx="7">
                <c:v>Change TPIN</c:v>
              </c:pt>
            </c:strLit>
          </c:cat>
          <c:val>
            <c:numLit>
              <c:formatCode>General</c:formatCode>
              <c:ptCount val="8"/>
              <c:pt idx="0">
                <c:v>1030</c:v>
              </c:pt>
              <c:pt idx="1">
                <c:v>13337</c:v>
              </c:pt>
              <c:pt idx="2">
                <c:v>4752</c:v>
              </c:pt>
              <c:pt idx="3">
                <c:v>294</c:v>
              </c:pt>
              <c:pt idx="4">
                <c:v>18146</c:v>
              </c:pt>
              <c:pt idx="5">
                <c:v>12004</c:v>
              </c:pt>
              <c:pt idx="6">
                <c:v>5871</c:v>
              </c:pt>
              <c:pt idx="7">
                <c:v>456</c:v>
              </c:pt>
            </c:numLit>
          </c:val>
        </c:ser>
        <c:dLbls>
          <c:txPr>
            <a:bodyPr xmlns:a="http://schemas.openxmlformats.org/drawingml/2006/main" anchorCtr="1"/>
            <a:lstStyle xmlns:a="http://schemas.openxmlformats.org/drawingml/2006/main"/>
            <a:p xmlns:a="http://schemas.openxmlformats.org/drawingml/2006/main">
              <a:pPr>
                <a:defRPr sz="1050">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40"/>
        <c:axId val="48650112"/>
        <c:axId val="48672768"/>
      </c:barChart>
      <c:catAx>
        <c:axId val="48650112"/>
        <c:scaling>
          <c:orientation val="minMax"/>
        </c:scaling>
        <c:delete val="1"/>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latin typeface="DejaVu Sans"/>
                <a:ea typeface="DejaVu Sans"/>
                <a:cs typeface="DejaVu Sans"/>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11.xml><?xml version="1.0" encoding="utf-8"?>
<c:chartSpace xmlns:c="http://schemas.openxmlformats.org/drawingml/2006/chart">
  <c:lang val="en-US"/>
  <c:chart>
    <c:plotArea>
      <c:lineChart>
        <c:grouping val="standard"/>
        <c:ser>
          <c:idx val="0"/>
          <c:order val="0"/>
          <c:tx>
            <c:v>Agent licences</c:v>
          </c:tx>
          <c:spPr>
            <a:ln xmlns:a="http://schemas.openxmlformats.org/drawingml/2006/main" w="28575">
              <a:solidFill>
                <a:srgbClr val="1688C2"/>
              </a:solidFill>
            </a:ln>
          </c:spPr>
          <c:marker>
            <c:symbol val="circle"/>
            <c:size val="5"/>
          </c:marker>
          <c:cat>
            <c:numLit>
              <c:formatCode>General</c:formatCode>
              <c:ptCount val="30"/>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numLit>
          </c:cat>
          <c:val>
            <c:numLit>
              <c:formatCode>0</c:formatCode>
              <c:ptCount val="30"/>
              <c:pt idx="0">
                <c:v>427</c:v>
              </c:pt>
              <c:pt idx="1">
                <c:v>391</c:v>
              </c:pt>
              <c:pt idx="2">
                <c:v>418</c:v>
              </c:pt>
              <c:pt idx="3">
                <c:v>430</c:v>
              </c:pt>
              <c:pt idx="4">
                <c:v>328</c:v>
              </c:pt>
              <c:pt idx="5">
                <c:v>72</c:v>
              </c:pt>
              <c:pt idx="6">
                <c:v>427</c:v>
              </c:pt>
              <c:pt idx="7">
                <c:v>432</c:v>
              </c:pt>
              <c:pt idx="8">
                <c:v>433</c:v>
              </c:pt>
              <c:pt idx="9">
                <c:v>427</c:v>
              </c:pt>
              <c:pt idx="10">
                <c:v>427</c:v>
              </c:pt>
              <c:pt idx="11">
                <c:v>336</c:v>
              </c:pt>
              <c:pt idx="12">
                <c:v>106</c:v>
              </c:pt>
              <c:pt idx="13">
                <c:v>477</c:v>
              </c:pt>
              <c:pt idx="14">
                <c:v>426</c:v>
              </c:pt>
              <c:pt idx="15">
                <c:v>457</c:v>
              </c:pt>
              <c:pt idx="16">
                <c:v>457</c:v>
              </c:pt>
              <c:pt idx="17">
                <c:v>440</c:v>
              </c:pt>
              <c:pt idx="18">
                <c:v>303</c:v>
              </c:pt>
              <c:pt idx="19">
                <c:v>93</c:v>
              </c:pt>
              <c:pt idx="20">
                <c:v>441</c:v>
              </c:pt>
              <c:pt idx="21">
                <c:v>433</c:v>
              </c:pt>
              <c:pt idx="22">
                <c:v>486</c:v>
              </c:pt>
              <c:pt idx="23">
                <c:v>492</c:v>
              </c:pt>
              <c:pt idx="24">
                <c:v>468</c:v>
              </c:pt>
              <c:pt idx="25">
                <c:v>341</c:v>
              </c:pt>
              <c:pt idx="26">
                <c:v>74</c:v>
              </c:pt>
              <c:pt idx="27">
                <c:v>442</c:v>
              </c:pt>
              <c:pt idx="28">
                <c:v>447</c:v>
              </c:pt>
              <c:pt idx="29">
                <c:v>432</c:v>
              </c:pt>
            </c:numLit>
          </c:val>
        </c:ser>
        <c:dLbls>
          <c:txPr>
            <a:bodyPr xmlns:a="http://schemas.openxmlformats.org/drawingml/2006/main" anchorCtr="1"/>
            <a:lstStyle xmlns:a="http://schemas.openxmlformats.org/drawingml/2006/main"/>
            <a:p xmlns:a="http://schemas.openxmlformats.org/drawingml/2006/main">
              <a:pPr>
                <a:defRPr sz="975">
                  <a:solidFill>
                    <a:srgbClr val="173A4B"/>
                  </a:solidFill>
                  <a:latin typeface="DejaVu Sans"/>
                  <a:ea typeface="DejaVu Sans"/>
                  <a:cs typeface="DejaVu Sans"/>
                </a:defRPr>
              </a:pPr>
            </a:p>
          </c:txPr>
          <c:showLegendKey val="0"/>
          <c:showVal val="1"/>
          <c:showCatName val="0"/>
          <c:showSerName val="0"/>
          <c:showPercent val="0"/>
          <c:showBubbleSize val="0"/>
          <c:showLeaderLines val="0"/>
        </c:dLbls>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72768"/>
      </c:catAx>
      <c:valAx>
        <c:axId val="48672768"/>
        <c:scaling>
          <c:orientation val="minMax"/>
          <c:max val="550"/>
          <c:min val="0"/>
        </c:scaling>
        <c:delete val="0"/>
        <c:axPos val="l"/>
        <c:majorGridlines>
          <c:spPr>
            <a:ln xmlns:a="http://schemas.openxmlformats.org/drawingml/2006/main" w="9525">
              <a:solidFill>
                <a:srgbClr val="E3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647B89"/>
                </a:solidFill>
                <a:latin typeface="DejaVu Sans"/>
                <a:ea typeface="DejaVu Sans"/>
                <a:cs typeface="DejaVu Sans"/>
              </a:defRPr>
            </a:pPr>
          </a:p>
        </c:txPr>
        <c:crossAx val="48650112"/>
        <c:crossBetween val="between"/>
      </c:valAx>
    </c:plotArea>
    <c:plotVisOnly val="1"/>
  </c:chart>
</c:chartSpace>
</file>

<file path=ppt/slides/charts/chart12.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cat>
            <c:strLit>
              <c:ptCount val="4"/>
              <c:pt idx="0">
                <c:v>Delivered</c:v>
              </c:pt>
              <c:pt idx="1">
                <c:v>In progress</c:v>
              </c:pt>
              <c:pt idx="2">
                <c:v>B0 discussion</c:v>
              </c:pt>
              <c:pt idx="3">
                <c:v>Backlog</c:v>
              </c:pt>
            </c:strLit>
          </c:cat>
          <c:val>
            <c:numLit>
              <c:formatCode>0</c:formatCode>
              <c:ptCount val="4"/>
              <c:pt idx="0">
                <c:v>30</c:v>
              </c:pt>
              <c:pt idx="1">
                <c:v>16</c:v>
              </c:pt>
              <c:pt idx="2">
                <c:v>2</c:v>
              </c:pt>
              <c:pt idx="3">
                <c:v>0</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13.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cat>
            <c:strLit>
              <c:ptCount val="2"/>
              <c:pt idx="0">
                <c:v>CCM email</c:v>
              </c:pt>
              <c:pt idx="1">
                <c:v>SMS transactions</c:v>
              </c:pt>
            </c:strLit>
          </c:cat>
          <c:val>
            <c:numLit>
              <c:formatCode>0.00"M"</c:formatCode>
              <c:ptCount val="2"/>
              <c:pt idx="0">
                <c:v>30.732241</c:v>
              </c:pt>
              <c:pt idx="1">
                <c:v>40.366362</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00&quot;M&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14.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cat>
            <c:strLit>
              <c:ptCount val="3"/>
              <c:pt idx="0">
                <c:v>Delivered</c:v>
              </c:pt>
              <c:pt idx="1">
                <c:v>In progress</c:v>
              </c:pt>
              <c:pt idx="2">
                <c:v>B0 discussion</c:v>
              </c:pt>
            </c:strLit>
          </c:cat>
          <c:val>
            <c:numLit>
              <c:formatCode>0</c:formatCode>
              <c:ptCount val="3"/>
              <c:pt idx="0">
                <c:v>6</c:v>
              </c:pt>
              <c:pt idx="1">
                <c:v>4</c:v>
              </c:pt>
              <c:pt idx="2">
                <c:v>3</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charts/chart15.xml><?xml version="1.0" encoding="utf-8"?>
<c:chartSpace xmlns:c="http://schemas.openxmlformats.org/drawingml/2006/chart">
  <c:lang val="en-US"/>
  <c:chart>
    <c:plotArea>
      <c:barChart>
        <c:barDir val="col"/>
        <c:grouping val="clustered"/>
        <c:varyColors val="0"/>
        <c:ser>
          <c:idx val="0"/>
          <c:order val="0"/>
          <c:tx>
            <c:v>Reported volume</c:v>
          </c:tx>
          <c:spPr>
            <a:solidFill xmlns:a="http://schemas.openxmlformats.org/drawingml/2006/main">
              <a:srgbClr val="087F68"/>
            </a:solidFill>
          </c:spPr>
          <c:dPt>
            <c:idx val="0"/>
            <c:invertIfNegative val="0"/>
            <c:spPr>
              <a:solidFill xmlns:a="http://schemas.openxmlformats.org/drawingml/2006/main">
                <a:srgbClr val="16A878"/>
              </a:solidFill>
            </c:spPr>
          </c:dPt>
          <c:dPt>
            <c:idx val="1"/>
            <c:invertIfNegative val="0"/>
            <c:spPr>
              <a:solidFill xmlns:a="http://schemas.openxmlformats.org/drawingml/2006/main">
                <a:srgbClr val="258FC7"/>
              </a:solidFill>
            </c:spPr>
          </c:dPt>
          <c:dPt>
            <c:idx val="2"/>
            <c:invertIfNegative val="0"/>
            <c:spPr>
              <a:solidFill xmlns:a="http://schemas.openxmlformats.org/drawingml/2006/main">
                <a:srgbClr val="9167D3"/>
              </a:solidFill>
            </c:spPr>
          </c:dPt>
          <c:dPt>
            <c:idx val="3"/>
            <c:invertIfNegative val="0"/>
            <c:spPr>
              <a:solidFill xmlns:a="http://schemas.openxmlformats.org/drawingml/2006/main">
                <a:srgbClr val="EDA82D"/>
              </a:solidFill>
            </c:spPr>
          </c:dPt>
          <c:dPt>
            <c:idx val="4"/>
            <c:invertIfNegative val="0"/>
            <c:spPr>
              <a:solidFill xmlns:a="http://schemas.openxmlformats.org/drawingml/2006/main">
                <a:srgbClr val="E57495"/>
              </a:solidFill>
            </c:spPr>
          </c:dPt>
          <c:dPt>
            <c:idx val="5"/>
            <c:invertIfNegative val="0"/>
            <c:spPr>
              <a:solidFill xmlns:a="http://schemas.openxmlformats.org/drawingml/2006/main">
                <a:srgbClr val="16A878"/>
              </a:solidFill>
            </c:spPr>
          </c:dPt>
          <c:dPt>
            <c:idx val="6"/>
            <c:invertIfNegative val="0"/>
            <c:spPr>
              <a:solidFill xmlns:a="http://schemas.openxmlformats.org/drawingml/2006/main">
                <a:srgbClr val="258FC7"/>
              </a:solidFill>
            </c:spPr>
          </c:dPt>
          <c:cat>
            <c:strLit>
              <c:ptCount val="7"/>
              <c:pt idx="0">
                <c:v>kala1</c:v>
              </c:pt>
              <c:pt idx="1">
                <c:v>kala2</c:v>
              </c:pt>
              <c:pt idx="2">
                <c:v>kalw1</c:v>
              </c:pt>
              <c:pt idx="3">
                <c:v>kalw2</c:v>
              </c:pt>
              <c:pt idx="4">
                <c:v>kald2</c:v>
              </c:pt>
              <c:pt idx="5">
                <c:v>kald3</c:v>
              </c:pt>
              <c:pt idx="6">
                <c:v>dxb02 kald1</c:v>
              </c:pt>
            </c:strLit>
          </c:cat>
          <c:val>
            <c:numLit>
              <c:formatCode>0.0"%"</c:formatCode>
              <c:ptCount val="7"/>
              <c:pt idx="0">
                <c:v>37.5</c:v>
              </c:pt>
              <c:pt idx="1">
                <c:v>30.4</c:v>
              </c:pt>
              <c:pt idx="2">
                <c:v>29</c:v>
              </c:pt>
              <c:pt idx="3">
                <c:v>28.4</c:v>
              </c:pt>
              <c:pt idx="4">
                <c:v>90.2</c:v>
              </c:pt>
              <c:pt idx="5">
                <c:v>87.2</c:v>
              </c:pt>
              <c:pt idx="6">
                <c:v>86.3</c:v>
              </c:pt>
            </c:numLit>
          </c:val>
        </c:ser>
        <c:dLbls>
          <c:txPr>
            <a:bodyPr xmlns:a="http://schemas.openxmlformats.org/drawingml/2006/main" anchorCtr="1"/>
            <a:lstStyle xmlns:a="http://schemas.openxmlformats.org/drawingml/2006/main"/>
            <a:p xmlns:a="http://schemas.openxmlformats.org/drawingml/2006/main">
              <a:pPr>
                <a:defRPr sz="1350" b="1">
                  <a:solidFill>
                    <a:srgbClr val="173A4B"/>
                  </a:solidFill>
                  <a:latin typeface="DejaVu Sans"/>
                  <a:ea typeface="DejaVu Sans"/>
                  <a:cs typeface="DejaVu Sans"/>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B9C9D1"/>
            </a:solidFill>
          </a:ln>
        </c:spPr>
        <c:txPr>
          <a:bodyPr xmlns:a="http://schemas.openxmlformats.org/drawingml/2006/main" anchorCtr="1"/>
          <a:lstStyle xmlns:a="http://schemas.openxmlformats.org/drawingml/2006/main"/>
          <a:p xmlns:a="http://schemas.openxmlformats.org/drawingml/2006/main">
            <a:pPr>
              <a:defRPr sz="1200">
                <a:solidFill>
                  <a:srgbClr val="647B89"/>
                </a:solidFill>
                <a:latin typeface="DejaVu Sans"/>
                <a:ea typeface="DejaVu Sans"/>
                <a:cs typeface="DejaVu Sans"/>
              </a:defRPr>
            </a:pPr>
          </a:p>
        </c:txPr>
        <c:crossAx val="48672768"/>
      </c:catAx>
      <c:valAx>
        <c:axId val="48672768"/>
        <c:scaling>
          <c:orientation val="minMax"/>
          <c:min val="0"/>
        </c:scaling>
        <c:delete val="0"/>
        <c:axPos val="l"/>
        <c:majorGridlines>
          <c:spPr>
            <a:ln xmlns:a="http://schemas.openxmlformats.org/drawingml/2006/main" w="9525">
              <a:solidFill>
                <a:srgbClr val="E3EBEF"/>
              </a:solidFill>
            </a:ln>
          </c:spPr>
        </c:majorGridlines>
        <c:numFmt formatCode="0.0&quot;%&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647B89"/>
                </a:solidFill>
                <a:latin typeface="DejaVu Sans"/>
                <a:ea typeface="DejaVu Sans"/>
                <a:cs typeface="DejaVu Sans"/>
              </a:defRPr>
            </a:pPr>
          </a:p>
        </c:txPr>
        <c:crossAx val="48650112"/>
        <c:crossBetween val="between"/>
      </c:valAx>
    </c:plotArea>
    <c:plotVisOnly val="1"/>
  </c:chart>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BB993D33-35F2-4AC2-9793-56342F392804}"/>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06DF01E5-025E-4996-A340-DD6CC607448F}"/>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Delivery progressed, with resilience gaps requiring attention</a:t>
            </a:r>
          </a:p>
        </p:txBody>
      </p:sp>
      <p:sp>
        <p:nvSpPr>
          <p:cNvPr id="3" name="">
            <a:extLst xmlns:a="http://schemas.openxmlformats.org/drawingml/2006/main">
              <a:ext uri="{FF2B5EF4-FFF2-40B4-BE49-F238E27FC236}">
                <a16:creationId xmlns:a16="http://schemas.microsoft.com/office/drawing/2014/main" id="{CA23CB93-8A0A-4CCF-9168-56599F0F0E1B}"/>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Executive outcome across IB / MB, FinnOne and HFLMS</a:t>
            </a:r>
          </a:p>
        </p:txBody>
      </p:sp>
      <p:sp>
        <p:nvSpPr>
          <p:cNvPr id="4" name="">
            <a:extLst xmlns:a="http://schemas.openxmlformats.org/drawingml/2006/main">
              <a:ext uri="{FF2B5EF4-FFF2-40B4-BE49-F238E27FC236}">
                <a16:creationId xmlns:a16="http://schemas.microsoft.com/office/drawing/2014/main" id="{C559AE68-9604-4D2F-8F7F-060B810FF24A}"/>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47D9294D-6D35-4583-A572-869FA2BB83C0}"/>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a:t>
            </a:r>
          </a:p>
        </p:txBody>
      </p:sp>
      <p:sp>
        <p:nvSpPr>
          <p:cNvPr id="6" name="">
            <a:extLst xmlns:a="http://schemas.openxmlformats.org/drawingml/2006/main">
              <a:ext uri="{FF2B5EF4-FFF2-40B4-BE49-F238E27FC236}">
                <a16:creationId xmlns:a16="http://schemas.microsoft.com/office/drawing/2014/main" id="{1C2478E8-D282-477A-A80D-47D3D6CBCDCF}"/>
              </a:ext>
            </a:extLst>
          </p:cNvPr>
          <p:cNvSpPr>
            <a:spLocks xmlns:a="http://schemas.openxmlformats.org/drawingml/2006/main" noGrp="1"/>
          </p:cNvSpPr>
          <p:nvPr/>
        </p:nvSpPr>
        <p:spPr>
          <a:xfrm xmlns:a="http://schemas.openxmlformats.org/drawingml/2006/main">
            <a:off x="457200" y="2095500"/>
            <a:ext cx="2667000" cy="1200150"/>
          </a:xfrm>
          <a:prstGeom xmlns:a="http://schemas.openxmlformats.org/drawingml/2006/main" prst="roundRect">
            <a:avLst>
              <a:gd name="adj" fmla="val 9524"/>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86809A12-0A94-43D3-AD9A-F8B2C46B1E5F}"/>
              </a:ext>
            </a:extLst>
          </p:cNvPr>
          <p:cNvSpPr>
            <a:spLocks xmlns:a="http://schemas.openxmlformats.org/drawingml/2006/main" noGrp="1"/>
          </p:cNvSpPr>
          <p:nvPr/>
        </p:nvSpPr>
        <p:spPr>
          <a:xfrm xmlns:a="http://schemas.openxmlformats.org/drawingml/2006/main">
            <a:off x="590550" y="2286000"/>
            <a:ext cx="504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087F68"/>
                </a:solidFill>
                <a:latin typeface="DejaVu Sans"/>
                <a:ea typeface="DejaVu Sans"/>
                <a:cs typeface="DejaVu Sans"/>
              </a:defRPr>
            </a:pPr>
            <a:r>
              <a:rPr sz="2850" b="1">
                <a:solidFill>
                  <a:srgbClr val="087F68"/>
                </a:solidFill>
                <a:latin typeface="DejaVu Sans"/>
                <a:ea typeface="DejaVu Sans"/>
                <a:cs typeface="DejaVu Sans"/>
              </a:rPr>
              <a:t>✓</a:t>
            </a:r>
          </a:p>
        </p:txBody>
      </p:sp>
      <p:sp>
        <p:nvSpPr>
          <p:cNvPr id="8" name="">
            <a:extLst xmlns:a="http://schemas.openxmlformats.org/drawingml/2006/main">
              <a:ext uri="{FF2B5EF4-FFF2-40B4-BE49-F238E27FC236}">
                <a16:creationId xmlns:a16="http://schemas.microsoft.com/office/drawing/2014/main" id="{C134EAF2-793A-4C23-BAA1-0603A1BC8EBC}"/>
              </a:ext>
            </a:extLst>
          </p:cNvPr>
          <p:cNvSpPr>
            <a:spLocks xmlns:a="http://schemas.openxmlformats.org/drawingml/2006/main" noGrp="1"/>
          </p:cNvSpPr>
          <p:nvPr/>
        </p:nvSpPr>
        <p:spPr>
          <a:xfrm xmlns:a="http://schemas.openxmlformats.org/drawingml/2006/main">
            <a:off x="1143000" y="2181225"/>
            <a:ext cx="1857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087F68"/>
                </a:solidFill>
                <a:latin typeface="DejaVu Sans"/>
                <a:ea typeface="DejaVu Sans"/>
                <a:cs typeface="DejaVu Sans"/>
              </a:defRPr>
            </a:pPr>
            <a:r>
              <a:rPr sz="4050" b="1">
                <a:solidFill>
                  <a:srgbClr val="087F68"/>
                </a:solidFill>
                <a:latin typeface="DejaVu Sans"/>
                <a:ea typeface="DejaVu Sans"/>
                <a:cs typeface="DejaVu Sans"/>
              </a:rPr>
              <a:t>98</a:t>
            </a:r>
          </a:p>
        </p:txBody>
      </p:sp>
      <p:sp>
        <p:nvSpPr>
          <p:cNvPr id="9" name="">
            <a:extLst xmlns:a="http://schemas.openxmlformats.org/drawingml/2006/main">
              <a:ext uri="{FF2B5EF4-FFF2-40B4-BE49-F238E27FC236}">
                <a16:creationId xmlns:a16="http://schemas.microsoft.com/office/drawing/2014/main" id="{CDC3CA2A-74A7-4567-A8B3-057057D2C6BC}"/>
              </a:ext>
            </a:extLst>
          </p:cNvPr>
          <p:cNvSpPr>
            <a:spLocks xmlns:a="http://schemas.openxmlformats.org/drawingml/2006/main" noGrp="1"/>
          </p:cNvSpPr>
          <p:nvPr/>
        </p:nvSpPr>
        <p:spPr>
          <a:xfrm xmlns:a="http://schemas.openxmlformats.org/drawingml/2006/main">
            <a:off x="609600" y="28575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delivered / completed</a:t>
            </a:r>
          </a:p>
        </p:txBody>
      </p:sp>
      <p:sp>
        <p:nvSpPr>
          <p:cNvPr id="10" name="">
            <a:extLst xmlns:a="http://schemas.openxmlformats.org/drawingml/2006/main">
              <a:ext uri="{FF2B5EF4-FFF2-40B4-BE49-F238E27FC236}">
                <a16:creationId xmlns:a16="http://schemas.microsoft.com/office/drawing/2014/main" id="{6E39848D-3D6D-4799-B369-3C9477764205}"/>
              </a:ext>
            </a:extLst>
          </p:cNvPr>
          <p:cNvSpPr>
            <a:spLocks xmlns:a="http://schemas.openxmlformats.org/drawingml/2006/main" noGrp="1"/>
          </p:cNvSpPr>
          <p:nvPr/>
        </p:nvSpPr>
        <p:spPr>
          <a:xfrm xmlns:a="http://schemas.openxmlformats.org/drawingml/2006/main">
            <a:off x="3314700" y="2095500"/>
            <a:ext cx="2667000" cy="1200150"/>
          </a:xfrm>
          <a:prstGeom xmlns:a="http://schemas.openxmlformats.org/drawingml/2006/main" prst="roundRect">
            <a:avLst>
              <a:gd name="adj" fmla="val 9524"/>
            </a:avLst>
          </a:prstGeom>
          <a:solidFill xmlns:a="http://schemas.openxmlformats.org/drawingml/2006/main">
            <a:srgbClr val="E8F3F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23AAD2B0-7BF5-4A02-A52A-A5C927E658E4}"/>
              </a:ext>
            </a:extLst>
          </p:cNvPr>
          <p:cNvSpPr>
            <a:spLocks xmlns:a="http://schemas.openxmlformats.org/drawingml/2006/main" noGrp="1"/>
          </p:cNvSpPr>
          <p:nvPr/>
        </p:nvSpPr>
        <p:spPr>
          <a:xfrm xmlns:a="http://schemas.openxmlformats.org/drawingml/2006/main">
            <a:off x="3448050" y="2286000"/>
            <a:ext cx="504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1688C2"/>
                </a:solidFill>
                <a:latin typeface="DejaVu Sans"/>
                <a:ea typeface="DejaVu Sans"/>
                <a:cs typeface="DejaVu Sans"/>
              </a:defRPr>
            </a:pPr>
            <a:r>
              <a:rPr sz="2850" b="1">
                <a:solidFill>
                  <a:srgbClr val="1688C2"/>
                </a:solidFill>
                <a:latin typeface="DejaVu Sans"/>
                <a:ea typeface="DejaVu Sans"/>
                <a:cs typeface="DejaVu Sans"/>
              </a:rPr>
              <a:t>◉</a:t>
            </a:r>
          </a:p>
        </p:txBody>
      </p:sp>
      <p:sp>
        <p:nvSpPr>
          <p:cNvPr id="12" name="">
            <a:extLst xmlns:a="http://schemas.openxmlformats.org/drawingml/2006/main">
              <a:ext uri="{FF2B5EF4-FFF2-40B4-BE49-F238E27FC236}">
                <a16:creationId xmlns:a16="http://schemas.microsoft.com/office/drawing/2014/main" id="{DDBE34A5-CDA7-4D9C-8A77-E6ABC762A79E}"/>
              </a:ext>
            </a:extLst>
          </p:cNvPr>
          <p:cNvSpPr>
            <a:spLocks xmlns:a="http://schemas.openxmlformats.org/drawingml/2006/main" noGrp="1"/>
          </p:cNvSpPr>
          <p:nvPr/>
        </p:nvSpPr>
        <p:spPr>
          <a:xfrm xmlns:a="http://schemas.openxmlformats.org/drawingml/2006/main">
            <a:off x="4000500" y="2181225"/>
            <a:ext cx="1857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688C2"/>
                </a:solidFill>
                <a:latin typeface="DejaVu Sans"/>
                <a:ea typeface="DejaVu Sans"/>
                <a:cs typeface="DejaVu Sans"/>
              </a:defRPr>
            </a:pPr>
            <a:r>
              <a:rPr sz="4050" b="1">
                <a:solidFill>
                  <a:srgbClr val="1688C2"/>
                </a:solidFill>
                <a:latin typeface="DejaVu Sans"/>
                <a:ea typeface="DejaVu Sans"/>
                <a:cs typeface="DejaVu Sans"/>
              </a:rPr>
              <a:t>285</a:t>
            </a:r>
          </a:p>
        </p:txBody>
      </p:sp>
      <p:sp>
        <p:nvSpPr>
          <p:cNvPr id="13" name="">
            <a:extLst xmlns:a="http://schemas.openxmlformats.org/drawingml/2006/main">
              <a:ext uri="{FF2B5EF4-FFF2-40B4-BE49-F238E27FC236}">
                <a16:creationId xmlns:a16="http://schemas.microsoft.com/office/drawing/2014/main" id="{0DC4B8F6-37B0-4085-B7D9-0085CBE9F7B6}"/>
              </a:ext>
            </a:extLst>
          </p:cNvPr>
          <p:cNvSpPr>
            <a:spLocks xmlns:a="http://schemas.openxmlformats.org/drawingml/2006/main" noGrp="1"/>
          </p:cNvSpPr>
          <p:nvPr/>
        </p:nvSpPr>
        <p:spPr>
          <a:xfrm xmlns:a="http://schemas.openxmlformats.org/drawingml/2006/main">
            <a:off x="3467100" y="28575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reported demands</a:t>
            </a:r>
          </a:p>
        </p:txBody>
      </p:sp>
      <p:sp>
        <p:nvSpPr>
          <p:cNvPr id="14" name="">
            <a:extLst xmlns:a="http://schemas.openxmlformats.org/drawingml/2006/main">
              <a:ext uri="{FF2B5EF4-FFF2-40B4-BE49-F238E27FC236}">
                <a16:creationId xmlns:a16="http://schemas.microsoft.com/office/drawing/2014/main" id="{D056A128-792D-4082-9BE8-1F43653B8922}"/>
              </a:ext>
            </a:extLst>
          </p:cNvPr>
          <p:cNvSpPr>
            <a:spLocks xmlns:a="http://schemas.openxmlformats.org/drawingml/2006/main" noGrp="1"/>
          </p:cNvSpPr>
          <p:nvPr/>
        </p:nvSpPr>
        <p:spPr>
          <a:xfrm xmlns:a="http://schemas.openxmlformats.org/drawingml/2006/main">
            <a:off x="6172200" y="2095500"/>
            <a:ext cx="2667000" cy="1200150"/>
          </a:xfrm>
          <a:prstGeom xmlns:a="http://schemas.openxmlformats.org/drawingml/2006/main" prst="roundRect">
            <a:avLst>
              <a:gd name="adj" fmla="val 9524"/>
            </a:avLst>
          </a:prstGeom>
          <a:solidFill xmlns:a="http://schemas.openxmlformats.org/drawingml/2006/main">
            <a:srgbClr val="FFF4D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1D13742-0BE1-48D6-8CF1-C13652B93004}"/>
              </a:ext>
            </a:extLst>
          </p:cNvPr>
          <p:cNvSpPr>
            <a:spLocks xmlns:a="http://schemas.openxmlformats.org/drawingml/2006/main" noGrp="1"/>
          </p:cNvSpPr>
          <p:nvPr/>
        </p:nvSpPr>
        <p:spPr>
          <a:xfrm xmlns:a="http://schemas.openxmlformats.org/drawingml/2006/main">
            <a:off x="6305550" y="2286000"/>
            <a:ext cx="504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875BC5"/>
                </a:solidFill>
                <a:latin typeface="DejaVu Sans"/>
                <a:ea typeface="DejaVu Sans"/>
                <a:cs typeface="DejaVu Sans"/>
              </a:defRPr>
            </a:pPr>
            <a:r>
              <a:rPr sz="2850" b="1">
                <a:solidFill>
                  <a:srgbClr val="875BC5"/>
                </a:solidFill>
                <a:latin typeface="DejaVu Sans"/>
                <a:ea typeface="DejaVu Sans"/>
                <a:cs typeface="DejaVu Sans"/>
              </a:rPr>
              <a:t>▦</a:t>
            </a:r>
          </a:p>
        </p:txBody>
      </p:sp>
      <p:sp>
        <p:nvSpPr>
          <p:cNvPr id="16" name="">
            <a:extLst xmlns:a="http://schemas.openxmlformats.org/drawingml/2006/main">
              <a:ext uri="{FF2B5EF4-FFF2-40B4-BE49-F238E27FC236}">
                <a16:creationId xmlns:a16="http://schemas.microsoft.com/office/drawing/2014/main" id="{26FA1117-8CDE-4433-B448-E215498A3890}"/>
              </a:ext>
            </a:extLst>
          </p:cNvPr>
          <p:cNvSpPr>
            <a:spLocks xmlns:a="http://schemas.openxmlformats.org/drawingml/2006/main" noGrp="1"/>
          </p:cNvSpPr>
          <p:nvPr/>
        </p:nvSpPr>
        <p:spPr>
          <a:xfrm xmlns:a="http://schemas.openxmlformats.org/drawingml/2006/main">
            <a:off x="6858000" y="2181225"/>
            <a:ext cx="1857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875BC5"/>
                </a:solidFill>
                <a:latin typeface="DejaVu Sans"/>
                <a:ea typeface="DejaVu Sans"/>
                <a:cs typeface="DejaVu Sans"/>
              </a:defRPr>
            </a:pPr>
            <a:r>
              <a:rPr sz="4050" b="1">
                <a:solidFill>
                  <a:srgbClr val="875BC5"/>
                </a:solidFill>
                <a:latin typeface="DejaVu Sans"/>
                <a:ea typeface="DejaVu Sans"/>
                <a:cs typeface="DejaVu Sans"/>
              </a:rPr>
              <a:t>68</a:t>
            </a:r>
          </a:p>
        </p:txBody>
      </p:sp>
      <p:sp>
        <p:nvSpPr>
          <p:cNvPr id="17" name="">
            <a:extLst xmlns:a="http://schemas.openxmlformats.org/drawingml/2006/main">
              <a:ext uri="{FF2B5EF4-FFF2-40B4-BE49-F238E27FC236}">
                <a16:creationId xmlns:a16="http://schemas.microsoft.com/office/drawing/2014/main" id="{BD8EB70D-55E9-4913-82D8-417AAA1EB571}"/>
              </a:ext>
            </a:extLst>
          </p:cNvPr>
          <p:cNvSpPr>
            <a:spLocks xmlns:a="http://schemas.openxmlformats.org/drawingml/2006/main" noGrp="1"/>
          </p:cNvSpPr>
          <p:nvPr/>
        </p:nvSpPr>
        <p:spPr>
          <a:xfrm xmlns:a="http://schemas.openxmlformats.org/drawingml/2006/main">
            <a:off x="6324600" y="28575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backlog items</a:t>
            </a:r>
          </a:p>
        </p:txBody>
      </p:sp>
      <p:sp>
        <p:nvSpPr>
          <p:cNvPr id="18" name="">
            <a:extLst xmlns:a="http://schemas.openxmlformats.org/drawingml/2006/main">
              <a:ext uri="{FF2B5EF4-FFF2-40B4-BE49-F238E27FC236}">
                <a16:creationId xmlns:a16="http://schemas.microsoft.com/office/drawing/2014/main" id="{92F056EA-C06D-4CB6-86ED-69E4BD658751}"/>
              </a:ext>
            </a:extLst>
          </p:cNvPr>
          <p:cNvSpPr>
            <a:spLocks xmlns:a="http://schemas.openxmlformats.org/drawingml/2006/main" noGrp="1"/>
          </p:cNvSpPr>
          <p:nvPr/>
        </p:nvSpPr>
        <p:spPr>
          <a:xfrm xmlns:a="http://schemas.openxmlformats.org/drawingml/2006/main">
            <a:off x="9029700" y="2095500"/>
            <a:ext cx="2667000" cy="1200150"/>
          </a:xfrm>
          <a:prstGeom xmlns:a="http://schemas.openxmlformats.org/drawingml/2006/main" prst="roundRect">
            <a:avLst>
              <a:gd name="adj" fmla="val 9524"/>
            </a:avLst>
          </a:prstGeom>
          <a:solidFill xmlns:a="http://schemas.openxmlformats.org/drawingml/2006/main">
            <a:srgbClr val="F0EAF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BA36334-DB07-4EFD-AD3A-7345B124EFE6}"/>
              </a:ext>
            </a:extLst>
          </p:cNvPr>
          <p:cNvSpPr>
            <a:spLocks xmlns:a="http://schemas.openxmlformats.org/drawingml/2006/main" noGrp="1"/>
          </p:cNvSpPr>
          <p:nvPr/>
        </p:nvSpPr>
        <p:spPr>
          <a:xfrm xmlns:a="http://schemas.openxmlformats.org/drawingml/2006/main">
            <a:off x="9163050" y="2286000"/>
            <a:ext cx="5048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CC7D16"/>
                </a:solidFill>
                <a:latin typeface="DejaVu Sans"/>
                <a:ea typeface="DejaVu Sans"/>
                <a:cs typeface="DejaVu Sans"/>
              </a:defRPr>
            </a:pPr>
            <a:r>
              <a:rPr sz="2850" b="1">
                <a:solidFill>
                  <a:srgbClr val="CC7D16"/>
                </a:solidFill>
                <a:latin typeface="DejaVu Sans"/>
                <a:ea typeface="DejaVu Sans"/>
                <a:cs typeface="DejaVu Sans"/>
              </a:rPr>
              <a:t>↗</a:t>
            </a:r>
          </a:p>
        </p:txBody>
      </p:sp>
      <p:sp>
        <p:nvSpPr>
          <p:cNvPr id="20" name="">
            <a:extLst xmlns:a="http://schemas.openxmlformats.org/drawingml/2006/main">
              <a:ext uri="{FF2B5EF4-FFF2-40B4-BE49-F238E27FC236}">
                <a16:creationId xmlns:a16="http://schemas.microsoft.com/office/drawing/2014/main" id="{390F08A4-850F-422B-9F8F-69008800F9FB}"/>
              </a:ext>
            </a:extLst>
          </p:cNvPr>
          <p:cNvSpPr>
            <a:spLocks xmlns:a="http://schemas.openxmlformats.org/drawingml/2006/main" noGrp="1"/>
          </p:cNvSpPr>
          <p:nvPr/>
        </p:nvSpPr>
        <p:spPr>
          <a:xfrm xmlns:a="http://schemas.openxmlformats.org/drawingml/2006/main">
            <a:off x="9715500" y="2181225"/>
            <a:ext cx="1857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CC7D16"/>
                </a:solidFill>
                <a:latin typeface="DejaVu Sans"/>
                <a:ea typeface="DejaVu Sans"/>
                <a:cs typeface="DejaVu Sans"/>
              </a:defRPr>
            </a:pPr>
            <a:r>
              <a:rPr sz="4050" b="1">
                <a:solidFill>
                  <a:srgbClr val="CC7D16"/>
                </a:solidFill>
                <a:latin typeface="DejaVu Sans"/>
                <a:ea typeface="DejaVu Sans"/>
                <a:cs typeface="DejaVu Sans"/>
              </a:rPr>
              <a:t>67</a:t>
            </a:r>
          </a:p>
        </p:txBody>
      </p:sp>
      <p:sp>
        <p:nvSpPr>
          <p:cNvPr id="21" name="">
            <a:extLst xmlns:a="http://schemas.openxmlformats.org/drawingml/2006/main">
              <a:ext uri="{FF2B5EF4-FFF2-40B4-BE49-F238E27FC236}">
                <a16:creationId xmlns:a16="http://schemas.microsoft.com/office/drawing/2014/main" id="{1CF4D65D-9FB6-4211-9A65-4AD169F4A042}"/>
              </a:ext>
            </a:extLst>
          </p:cNvPr>
          <p:cNvSpPr>
            <a:spLocks xmlns:a="http://schemas.openxmlformats.org/drawingml/2006/main" noGrp="1"/>
          </p:cNvSpPr>
          <p:nvPr/>
        </p:nvSpPr>
        <p:spPr>
          <a:xfrm xmlns:a="http://schemas.openxmlformats.org/drawingml/2006/main">
            <a:off x="9182100" y="2857500"/>
            <a:ext cx="238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in progress</a:t>
            </a:r>
          </a:p>
        </p:txBody>
      </p:sp>
      <p:sp>
        <p:nvSpPr>
          <p:cNvPr id="22" name="">
            <a:extLst xmlns:a="http://schemas.openxmlformats.org/drawingml/2006/main">
              <a:ext uri="{FF2B5EF4-FFF2-40B4-BE49-F238E27FC236}">
                <a16:creationId xmlns:a16="http://schemas.microsoft.com/office/drawing/2014/main" id="{A872A63C-C8B9-404C-9B9B-A5FB1B11AF23}"/>
              </a:ext>
            </a:extLst>
          </p:cNvPr>
          <p:cNvSpPr>
            <a:spLocks xmlns:a="http://schemas.openxmlformats.org/drawingml/2006/main" noGrp="1"/>
          </p:cNvSpPr>
          <p:nvPr/>
        </p:nvSpPr>
        <p:spPr>
          <a:xfrm xmlns:a="http://schemas.openxmlformats.org/drawingml/2006/main">
            <a:off x="457200" y="3476625"/>
            <a:ext cx="3657600" cy="1952625"/>
          </a:xfrm>
          <a:prstGeom xmlns:a="http://schemas.openxmlformats.org/drawingml/2006/main" prst="roundRect">
            <a:avLst>
              <a:gd name="adj" fmla="val 5854"/>
            </a:avLst>
          </a:prstGeom>
          <a:solidFill xmlns:a="http://schemas.openxmlformats.org/drawingml/2006/main">
            <a:srgbClr val="E6F6F0"/>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77290819-3EA5-4E9E-82DE-5BBD0E791BFB}"/>
              </a:ext>
            </a:extLst>
          </p:cNvPr>
          <p:cNvSpPr>
            <a:spLocks xmlns:a="http://schemas.openxmlformats.org/drawingml/2006/main" noGrp="1"/>
          </p:cNvSpPr>
          <p:nvPr/>
        </p:nvSpPr>
        <p:spPr>
          <a:xfrm xmlns:a="http://schemas.openxmlformats.org/drawingml/2006/main">
            <a:off x="628650" y="361950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  IB / MB</a:t>
            </a:r>
          </a:p>
        </p:txBody>
      </p:sp>
      <p:sp>
        <p:nvSpPr>
          <p:cNvPr id="24" name="">
            <a:extLst xmlns:a="http://schemas.openxmlformats.org/drawingml/2006/main">
              <a:ext uri="{FF2B5EF4-FFF2-40B4-BE49-F238E27FC236}">
                <a16:creationId xmlns:a16="http://schemas.microsoft.com/office/drawing/2014/main" id="{6FD83419-0560-42A4-A051-70B12054F40C}"/>
              </a:ext>
            </a:extLst>
          </p:cNvPr>
          <p:cNvSpPr>
            <a:spLocks xmlns:a="http://schemas.openxmlformats.org/drawingml/2006/main" noGrp="1"/>
          </p:cNvSpPr>
          <p:nvPr/>
        </p:nvSpPr>
        <p:spPr>
          <a:xfrm xmlns:a="http://schemas.openxmlformats.org/drawingml/2006/main">
            <a:off x="628650" y="4029075"/>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68"/>
                </a:solidFill>
                <a:latin typeface="DejaVu Sans"/>
                <a:ea typeface="DejaVu Sans"/>
                <a:cs typeface="DejaVu Sans"/>
              </a:defRPr>
            </a:pPr>
            <a:r>
              <a:rPr sz="2025" b="1">
                <a:solidFill>
                  <a:srgbClr val="087F68"/>
                </a:solidFill>
                <a:latin typeface="DejaVu Sans"/>
                <a:ea typeface="DejaVu Sans"/>
                <a:cs typeface="DejaVu Sans"/>
              </a:rPr>
              <a:t>25 / 113  (22.1%)</a:t>
            </a:r>
          </a:p>
        </p:txBody>
      </p:sp>
      <p:sp>
        <p:nvSpPr>
          <p:cNvPr id="25" name="">
            <a:extLst xmlns:a="http://schemas.openxmlformats.org/drawingml/2006/main">
              <a:ext uri="{FF2B5EF4-FFF2-40B4-BE49-F238E27FC236}">
                <a16:creationId xmlns:a16="http://schemas.microsoft.com/office/drawing/2014/main" id="{85D31DEB-3FCC-4E96-A08C-D08CF010A6E3}"/>
              </a:ext>
            </a:extLst>
          </p:cNvPr>
          <p:cNvSpPr>
            <a:spLocks xmlns:a="http://schemas.openxmlformats.org/drawingml/2006/main" noGrp="1"/>
          </p:cNvSpPr>
          <p:nvPr/>
        </p:nvSpPr>
        <p:spPr>
          <a:xfrm xmlns:a="http://schemas.openxmlformats.org/drawingml/2006/main">
            <a:off x="628650" y="43910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B89"/>
                </a:solidFill>
                <a:latin typeface="DejaVu Sans"/>
                <a:ea typeface="DejaVu Sans"/>
                <a:cs typeface="DejaVu Sans"/>
              </a:defRPr>
            </a:pPr>
            <a:r>
              <a:rPr sz="1200" b="0">
                <a:solidFill>
                  <a:srgbClr val="647B89"/>
                </a:solidFill>
                <a:latin typeface="DejaVu Sans"/>
                <a:ea typeface="DejaVu Sans"/>
                <a:cs typeface="DejaVu Sans"/>
              </a:rPr>
              <a:t>delivered / completed</a:t>
            </a:r>
          </a:p>
        </p:txBody>
      </p:sp>
      <p:sp>
        <p:nvSpPr>
          <p:cNvPr id="26" name="">
            <a:extLst xmlns:a="http://schemas.openxmlformats.org/drawingml/2006/main">
              <a:ext uri="{FF2B5EF4-FFF2-40B4-BE49-F238E27FC236}">
                <a16:creationId xmlns:a16="http://schemas.microsoft.com/office/drawing/2014/main" id="{73F18C82-47F0-4994-93F8-8183B3E8AFC6}"/>
              </a:ext>
            </a:extLst>
          </p:cNvPr>
          <p:cNvSpPr>
            <a:spLocks xmlns:a="http://schemas.openxmlformats.org/drawingml/2006/main" noGrp="1"/>
          </p:cNvSpPr>
          <p:nvPr/>
        </p:nvSpPr>
        <p:spPr>
          <a:xfrm xmlns:a="http://schemas.openxmlformats.org/drawingml/2006/main">
            <a:off x="628650" y="4695825"/>
            <a:ext cx="331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4B"/>
                </a:solidFill>
                <a:latin typeface="DejaVu Sans"/>
                <a:ea typeface="DejaVu Sans"/>
                <a:cs typeface="DejaVu Sans"/>
              </a:defRPr>
            </a:pPr>
            <a:r>
              <a:rPr sz="1650" b="1">
                <a:solidFill>
                  <a:srgbClr val="173A4B"/>
                </a:solidFill>
                <a:latin typeface="DejaVu Sans"/>
                <a:ea typeface="DejaVu Sans"/>
                <a:cs typeface="DejaVu Sans"/>
              </a:rPr>
              <a:t>16.99B volume</a:t>
            </a:r>
          </a:p>
        </p:txBody>
      </p:sp>
      <p:sp>
        <p:nvSpPr>
          <p:cNvPr id="27" name="">
            <a:extLst xmlns:a="http://schemas.openxmlformats.org/drawingml/2006/main">
              <a:ext uri="{FF2B5EF4-FFF2-40B4-BE49-F238E27FC236}">
                <a16:creationId xmlns:a16="http://schemas.microsoft.com/office/drawing/2014/main" id="{EA3027BF-1A5B-41A2-A042-7EC02527E154}"/>
              </a:ext>
            </a:extLst>
          </p:cNvPr>
          <p:cNvSpPr>
            <a:spLocks xmlns:a="http://schemas.openxmlformats.org/drawingml/2006/main" noGrp="1"/>
          </p:cNvSpPr>
          <p:nvPr/>
        </p:nvSpPr>
        <p:spPr>
          <a:xfrm xmlns:a="http://schemas.openxmlformats.org/drawingml/2006/main">
            <a:off x="628650" y="5076825"/>
            <a:ext cx="331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B89"/>
                </a:solidFill>
                <a:latin typeface="DejaVu Sans"/>
                <a:ea typeface="DejaVu Sans"/>
                <a:cs typeface="DejaVu Sans"/>
              </a:defRPr>
            </a:pPr>
            <a:r>
              <a:rPr sz="1125" b="0">
                <a:solidFill>
                  <a:srgbClr val="647B89"/>
                </a:solidFill>
                <a:latin typeface="DejaVu Sans"/>
                <a:ea typeface="DejaVu Sans"/>
                <a:cs typeface="DejaVu Sans"/>
              </a:rPr>
              <a:t>99.9% availability   •   DR Tested</a:t>
            </a:r>
          </a:p>
        </p:txBody>
      </p:sp>
      <p:sp>
        <p:nvSpPr>
          <p:cNvPr id="28" name="">
            <a:extLst xmlns:a="http://schemas.openxmlformats.org/drawingml/2006/main">
              <a:ext uri="{FF2B5EF4-FFF2-40B4-BE49-F238E27FC236}">
                <a16:creationId xmlns:a16="http://schemas.microsoft.com/office/drawing/2014/main" id="{24172F21-E218-42FB-BACA-F43521B2D7BE}"/>
              </a:ext>
            </a:extLst>
          </p:cNvPr>
          <p:cNvSpPr>
            <a:spLocks xmlns:a="http://schemas.openxmlformats.org/drawingml/2006/main" noGrp="1"/>
          </p:cNvSpPr>
          <p:nvPr/>
        </p:nvSpPr>
        <p:spPr>
          <a:xfrm xmlns:a="http://schemas.openxmlformats.org/drawingml/2006/main">
            <a:off x="4267200" y="3476625"/>
            <a:ext cx="3657600" cy="1952625"/>
          </a:xfrm>
          <a:prstGeom xmlns:a="http://schemas.openxmlformats.org/drawingml/2006/main" prst="roundRect">
            <a:avLst>
              <a:gd name="adj" fmla="val 5854"/>
            </a:avLst>
          </a:prstGeom>
          <a:solidFill xmlns:a="http://schemas.openxmlformats.org/drawingml/2006/main">
            <a:srgbClr val="E8F3FB"/>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7940EE1-5F0E-43C3-A0B4-28F5A0B4BB3C}"/>
              </a:ext>
            </a:extLst>
          </p:cNvPr>
          <p:cNvSpPr>
            <a:spLocks xmlns:a="http://schemas.openxmlformats.org/drawingml/2006/main" noGrp="1"/>
          </p:cNvSpPr>
          <p:nvPr/>
        </p:nvSpPr>
        <p:spPr>
          <a:xfrm xmlns:a="http://schemas.openxmlformats.org/drawingml/2006/main">
            <a:off x="4438650" y="361950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88C2"/>
                </a:solidFill>
                <a:latin typeface="DejaVu Sans"/>
                <a:ea typeface="DejaVu Sans"/>
                <a:cs typeface="DejaVu Sans"/>
              </a:defRPr>
            </a:pPr>
            <a:r>
              <a:rPr sz="1800" b="1">
                <a:solidFill>
                  <a:srgbClr val="1688C2"/>
                </a:solidFill>
                <a:latin typeface="DejaVu Sans"/>
                <a:ea typeface="DejaVu Sans"/>
                <a:cs typeface="DejaVu Sans"/>
              </a:rPr>
              <a:t>◆  FinnOne</a:t>
            </a:r>
          </a:p>
        </p:txBody>
      </p:sp>
      <p:sp>
        <p:nvSpPr>
          <p:cNvPr id="30" name="">
            <a:extLst xmlns:a="http://schemas.openxmlformats.org/drawingml/2006/main">
              <a:ext uri="{FF2B5EF4-FFF2-40B4-BE49-F238E27FC236}">
                <a16:creationId xmlns:a16="http://schemas.microsoft.com/office/drawing/2014/main" id="{DA617A05-1CDD-48BB-A0B9-006468A1B89C}"/>
              </a:ext>
            </a:extLst>
          </p:cNvPr>
          <p:cNvSpPr>
            <a:spLocks xmlns:a="http://schemas.openxmlformats.org/drawingml/2006/main" noGrp="1"/>
          </p:cNvSpPr>
          <p:nvPr/>
        </p:nvSpPr>
        <p:spPr>
          <a:xfrm xmlns:a="http://schemas.openxmlformats.org/drawingml/2006/main">
            <a:off x="4438650" y="4029075"/>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88C2"/>
                </a:solidFill>
                <a:latin typeface="DejaVu Sans"/>
                <a:ea typeface="DejaVu Sans"/>
                <a:cs typeface="DejaVu Sans"/>
              </a:defRPr>
            </a:pPr>
            <a:r>
              <a:rPr sz="2025" b="1">
                <a:solidFill>
                  <a:srgbClr val="1688C2"/>
                </a:solidFill>
                <a:latin typeface="DejaVu Sans"/>
                <a:ea typeface="DejaVu Sans"/>
                <a:cs typeface="DejaVu Sans"/>
              </a:rPr>
              <a:t>50 / 122  (41.0%)</a:t>
            </a:r>
          </a:p>
        </p:txBody>
      </p:sp>
      <p:sp>
        <p:nvSpPr>
          <p:cNvPr id="31" name="">
            <a:extLst xmlns:a="http://schemas.openxmlformats.org/drawingml/2006/main">
              <a:ext uri="{FF2B5EF4-FFF2-40B4-BE49-F238E27FC236}">
                <a16:creationId xmlns:a16="http://schemas.microsoft.com/office/drawing/2014/main" id="{1B07BD95-C3DA-46CB-B140-B2202EE6AE8F}"/>
              </a:ext>
            </a:extLst>
          </p:cNvPr>
          <p:cNvSpPr>
            <a:spLocks xmlns:a="http://schemas.openxmlformats.org/drawingml/2006/main" noGrp="1"/>
          </p:cNvSpPr>
          <p:nvPr/>
        </p:nvSpPr>
        <p:spPr>
          <a:xfrm xmlns:a="http://schemas.openxmlformats.org/drawingml/2006/main">
            <a:off x="4438650" y="43910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B89"/>
                </a:solidFill>
                <a:latin typeface="DejaVu Sans"/>
                <a:ea typeface="DejaVu Sans"/>
                <a:cs typeface="DejaVu Sans"/>
              </a:defRPr>
            </a:pPr>
            <a:r>
              <a:rPr sz="1200" b="0">
                <a:solidFill>
                  <a:srgbClr val="647B89"/>
                </a:solidFill>
                <a:latin typeface="DejaVu Sans"/>
                <a:ea typeface="DejaVu Sans"/>
                <a:cs typeface="DejaVu Sans"/>
              </a:rPr>
              <a:t>delivered / completed</a:t>
            </a:r>
          </a:p>
        </p:txBody>
      </p:sp>
      <p:sp>
        <p:nvSpPr>
          <p:cNvPr id="32" name="">
            <a:extLst xmlns:a="http://schemas.openxmlformats.org/drawingml/2006/main">
              <a:ext uri="{FF2B5EF4-FFF2-40B4-BE49-F238E27FC236}">
                <a16:creationId xmlns:a16="http://schemas.microsoft.com/office/drawing/2014/main" id="{B8C416D8-9D7C-4162-9BFA-C4537B9110A5}"/>
              </a:ext>
            </a:extLst>
          </p:cNvPr>
          <p:cNvSpPr>
            <a:spLocks xmlns:a="http://schemas.openxmlformats.org/drawingml/2006/main" noGrp="1"/>
          </p:cNvSpPr>
          <p:nvPr/>
        </p:nvSpPr>
        <p:spPr>
          <a:xfrm xmlns:a="http://schemas.openxmlformats.org/drawingml/2006/main">
            <a:off x="4438650" y="4695825"/>
            <a:ext cx="331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4B"/>
                </a:solidFill>
                <a:latin typeface="DejaVu Sans"/>
                <a:ea typeface="DejaVu Sans"/>
                <a:cs typeface="DejaVu Sans"/>
              </a:defRPr>
            </a:pPr>
            <a:r>
              <a:rPr sz="1650" b="1">
                <a:solidFill>
                  <a:srgbClr val="173A4B"/>
                </a:solidFill>
                <a:latin typeface="DejaVu Sans"/>
                <a:ea typeface="DejaVu Sans"/>
                <a:cs typeface="DejaVu Sans"/>
              </a:rPr>
              <a:t>3.24B volume</a:t>
            </a:r>
          </a:p>
        </p:txBody>
      </p:sp>
      <p:sp>
        <p:nvSpPr>
          <p:cNvPr id="33" name="">
            <a:extLst xmlns:a="http://schemas.openxmlformats.org/drawingml/2006/main">
              <a:ext uri="{FF2B5EF4-FFF2-40B4-BE49-F238E27FC236}">
                <a16:creationId xmlns:a16="http://schemas.microsoft.com/office/drawing/2014/main" id="{F67AB693-C23D-41A8-AABC-D6EB5DEBF32E}"/>
              </a:ext>
            </a:extLst>
          </p:cNvPr>
          <p:cNvSpPr>
            <a:spLocks xmlns:a="http://schemas.openxmlformats.org/drawingml/2006/main" noGrp="1"/>
          </p:cNvSpPr>
          <p:nvPr/>
        </p:nvSpPr>
        <p:spPr>
          <a:xfrm xmlns:a="http://schemas.openxmlformats.org/drawingml/2006/main">
            <a:off x="4438650" y="5076825"/>
            <a:ext cx="331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B89"/>
                </a:solidFill>
                <a:latin typeface="DejaVu Sans"/>
                <a:ea typeface="DejaVu Sans"/>
                <a:cs typeface="DejaVu Sans"/>
              </a:defRPr>
            </a:pPr>
            <a:r>
              <a:rPr sz="1125" b="0">
                <a:solidFill>
                  <a:srgbClr val="647B89"/>
                </a:solidFill>
                <a:latin typeface="DejaVu Sans"/>
                <a:ea typeface="DejaVu Sans"/>
                <a:cs typeface="DejaVu Sans"/>
              </a:rPr>
              <a:t>100% availability   •   DR Unavailable</a:t>
            </a:r>
          </a:p>
        </p:txBody>
      </p:sp>
      <p:sp>
        <p:nvSpPr>
          <p:cNvPr id="34" name="">
            <a:extLst xmlns:a="http://schemas.openxmlformats.org/drawingml/2006/main">
              <a:ext uri="{FF2B5EF4-FFF2-40B4-BE49-F238E27FC236}">
                <a16:creationId xmlns:a16="http://schemas.microsoft.com/office/drawing/2014/main" id="{71150CD2-0D33-4D4D-94C2-EBC87508EA03}"/>
              </a:ext>
            </a:extLst>
          </p:cNvPr>
          <p:cNvSpPr>
            <a:spLocks xmlns:a="http://schemas.openxmlformats.org/drawingml/2006/main" noGrp="1"/>
          </p:cNvSpPr>
          <p:nvPr/>
        </p:nvSpPr>
        <p:spPr>
          <a:xfrm xmlns:a="http://schemas.openxmlformats.org/drawingml/2006/main">
            <a:off x="8077200" y="3476625"/>
            <a:ext cx="3657600" cy="1952625"/>
          </a:xfrm>
          <a:prstGeom xmlns:a="http://schemas.openxmlformats.org/drawingml/2006/main" prst="roundRect">
            <a:avLst>
              <a:gd name="adj" fmla="val 5854"/>
            </a:avLst>
          </a:prstGeom>
          <a:solidFill xmlns:a="http://schemas.openxmlformats.org/drawingml/2006/main">
            <a:srgbClr val="F0EAF9"/>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AC452D84-C690-4E47-8073-424FBC9960C7}"/>
              </a:ext>
            </a:extLst>
          </p:cNvPr>
          <p:cNvSpPr>
            <a:spLocks xmlns:a="http://schemas.openxmlformats.org/drawingml/2006/main" noGrp="1"/>
          </p:cNvSpPr>
          <p:nvPr/>
        </p:nvSpPr>
        <p:spPr>
          <a:xfrm xmlns:a="http://schemas.openxmlformats.org/drawingml/2006/main">
            <a:off x="8248650" y="3619500"/>
            <a:ext cx="33147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75BC5"/>
                </a:solidFill>
                <a:latin typeface="DejaVu Sans"/>
                <a:ea typeface="DejaVu Sans"/>
                <a:cs typeface="DejaVu Sans"/>
              </a:defRPr>
            </a:pPr>
            <a:r>
              <a:rPr sz="1800" b="1">
                <a:solidFill>
                  <a:srgbClr val="875BC5"/>
                </a:solidFill>
                <a:latin typeface="DejaVu Sans"/>
                <a:ea typeface="DejaVu Sans"/>
                <a:cs typeface="DejaVu Sans"/>
              </a:rPr>
              <a:t>⌂  HFLMS</a:t>
            </a:r>
          </a:p>
        </p:txBody>
      </p:sp>
      <p:sp>
        <p:nvSpPr>
          <p:cNvPr id="36" name="">
            <a:extLst xmlns:a="http://schemas.openxmlformats.org/drawingml/2006/main">
              <a:ext uri="{FF2B5EF4-FFF2-40B4-BE49-F238E27FC236}">
                <a16:creationId xmlns:a16="http://schemas.microsoft.com/office/drawing/2014/main" id="{917AD7EC-4D05-4C0C-B934-C554ABA3610B}"/>
              </a:ext>
            </a:extLst>
          </p:cNvPr>
          <p:cNvSpPr>
            <a:spLocks xmlns:a="http://schemas.openxmlformats.org/drawingml/2006/main" noGrp="1"/>
          </p:cNvSpPr>
          <p:nvPr/>
        </p:nvSpPr>
        <p:spPr>
          <a:xfrm xmlns:a="http://schemas.openxmlformats.org/drawingml/2006/main">
            <a:off x="8248650" y="4029075"/>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75BC5"/>
                </a:solidFill>
                <a:latin typeface="DejaVu Sans"/>
                <a:ea typeface="DejaVu Sans"/>
                <a:cs typeface="DejaVu Sans"/>
              </a:defRPr>
            </a:pPr>
            <a:r>
              <a:rPr sz="2025" b="1">
                <a:solidFill>
                  <a:srgbClr val="875BC5"/>
                </a:solidFill>
                <a:latin typeface="DejaVu Sans"/>
                <a:ea typeface="DejaVu Sans"/>
                <a:cs typeface="DejaVu Sans"/>
              </a:rPr>
              <a:t>23 / 50  (46.0%)</a:t>
            </a:r>
          </a:p>
        </p:txBody>
      </p:sp>
      <p:sp>
        <p:nvSpPr>
          <p:cNvPr id="37" name="">
            <a:extLst xmlns:a="http://schemas.openxmlformats.org/drawingml/2006/main">
              <a:ext uri="{FF2B5EF4-FFF2-40B4-BE49-F238E27FC236}">
                <a16:creationId xmlns:a16="http://schemas.microsoft.com/office/drawing/2014/main" id="{8323B64A-9E05-4F3E-8F13-7CA0B5802F6A}"/>
              </a:ext>
            </a:extLst>
          </p:cNvPr>
          <p:cNvSpPr>
            <a:spLocks xmlns:a="http://schemas.openxmlformats.org/drawingml/2006/main" noGrp="1"/>
          </p:cNvSpPr>
          <p:nvPr/>
        </p:nvSpPr>
        <p:spPr>
          <a:xfrm xmlns:a="http://schemas.openxmlformats.org/drawingml/2006/main">
            <a:off x="8248650" y="4391025"/>
            <a:ext cx="33147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B89"/>
                </a:solidFill>
                <a:latin typeface="DejaVu Sans"/>
                <a:ea typeface="DejaVu Sans"/>
                <a:cs typeface="DejaVu Sans"/>
              </a:defRPr>
            </a:pPr>
            <a:r>
              <a:rPr sz="1200" b="0">
                <a:solidFill>
                  <a:srgbClr val="647B89"/>
                </a:solidFill>
                <a:latin typeface="DejaVu Sans"/>
                <a:ea typeface="DejaVu Sans"/>
                <a:cs typeface="DejaVu Sans"/>
              </a:rPr>
              <a:t>delivered / completed</a:t>
            </a:r>
          </a:p>
        </p:txBody>
      </p:sp>
      <p:sp>
        <p:nvSpPr>
          <p:cNvPr id="38" name="">
            <a:extLst xmlns:a="http://schemas.openxmlformats.org/drawingml/2006/main">
              <a:ext uri="{FF2B5EF4-FFF2-40B4-BE49-F238E27FC236}">
                <a16:creationId xmlns:a16="http://schemas.microsoft.com/office/drawing/2014/main" id="{E79761FC-0B87-4269-A8F3-7F676C5E927D}"/>
              </a:ext>
            </a:extLst>
          </p:cNvPr>
          <p:cNvSpPr>
            <a:spLocks xmlns:a="http://schemas.openxmlformats.org/drawingml/2006/main" noGrp="1"/>
          </p:cNvSpPr>
          <p:nvPr/>
        </p:nvSpPr>
        <p:spPr>
          <a:xfrm xmlns:a="http://schemas.openxmlformats.org/drawingml/2006/main">
            <a:off x="8248650" y="4695825"/>
            <a:ext cx="33147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73A4B"/>
                </a:solidFill>
                <a:latin typeface="DejaVu Sans"/>
                <a:ea typeface="DejaVu Sans"/>
                <a:cs typeface="DejaVu Sans"/>
              </a:defRPr>
            </a:pPr>
            <a:r>
              <a:rPr sz="1650" b="1">
                <a:solidFill>
                  <a:srgbClr val="173A4B"/>
                </a:solidFill>
                <a:latin typeface="DejaVu Sans"/>
                <a:ea typeface="DejaVu Sans"/>
                <a:cs typeface="DejaVu Sans"/>
              </a:rPr>
              <a:t>1.24B volume</a:t>
            </a:r>
          </a:p>
        </p:txBody>
      </p:sp>
      <p:sp>
        <p:nvSpPr>
          <p:cNvPr id="39" name="">
            <a:extLst xmlns:a="http://schemas.openxmlformats.org/drawingml/2006/main">
              <a:ext uri="{FF2B5EF4-FFF2-40B4-BE49-F238E27FC236}">
                <a16:creationId xmlns:a16="http://schemas.microsoft.com/office/drawing/2014/main" id="{31B3535D-FB7F-455F-9B21-448F89E8F514}"/>
              </a:ext>
            </a:extLst>
          </p:cNvPr>
          <p:cNvSpPr>
            <a:spLocks xmlns:a="http://schemas.openxmlformats.org/drawingml/2006/main" noGrp="1"/>
          </p:cNvSpPr>
          <p:nvPr/>
        </p:nvSpPr>
        <p:spPr>
          <a:xfrm xmlns:a="http://schemas.openxmlformats.org/drawingml/2006/main">
            <a:off x="8248650" y="5076825"/>
            <a:ext cx="33147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0">
                <a:solidFill>
                  <a:srgbClr val="647B89"/>
                </a:solidFill>
                <a:latin typeface="DejaVu Sans"/>
                <a:ea typeface="DejaVu Sans"/>
                <a:cs typeface="DejaVu Sans"/>
              </a:defRPr>
            </a:pPr>
            <a:r>
              <a:rPr sz="1125" b="0">
                <a:solidFill>
                  <a:srgbClr val="647B89"/>
                </a:solidFill>
                <a:latin typeface="DejaVu Sans"/>
                <a:ea typeface="DejaVu Sans"/>
                <a:cs typeface="DejaVu Sans"/>
              </a:rPr>
              <a:t>100% availability   •   DR Unavailable</a:t>
            </a:r>
          </a:p>
        </p:txBody>
      </p:sp>
      <p:sp>
        <p:nvSpPr>
          <p:cNvPr id="40" name="">
            <a:extLst xmlns:a="http://schemas.openxmlformats.org/drawingml/2006/main">
              <a:ext uri="{FF2B5EF4-FFF2-40B4-BE49-F238E27FC236}">
                <a16:creationId xmlns:a16="http://schemas.microsoft.com/office/drawing/2014/main" id="{9DA53C0F-DD13-404E-B93C-61D70B339962}"/>
              </a:ext>
            </a:extLst>
          </p:cNvPr>
          <p:cNvSpPr>
            <a:spLocks xmlns:a="http://schemas.openxmlformats.org/drawingml/2006/main" noGrp="1"/>
          </p:cNvSpPr>
          <p:nvPr/>
        </p:nvSpPr>
        <p:spPr>
          <a:xfrm xmlns:a="http://schemas.openxmlformats.org/drawingml/2006/main">
            <a:off x="457200" y="5648325"/>
            <a:ext cx="2333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Management focus</a:t>
            </a:r>
          </a:p>
        </p:txBody>
      </p:sp>
      <p:sp>
        <p:nvSpPr>
          <p:cNvPr id="41" name="">
            <a:extLst xmlns:a="http://schemas.openxmlformats.org/drawingml/2006/main">
              <a:ext uri="{FF2B5EF4-FFF2-40B4-BE49-F238E27FC236}">
                <a16:creationId xmlns:a16="http://schemas.microsoft.com/office/drawing/2014/main" id="{7ED2098B-BFC8-478A-BF2A-741E3D9337D9}"/>
              </a:ext>
            </a:extLst>
          </p:cNvPr>
          <p:cNvSpPr>
            <a:spLocks xmlns:a="http://schemas.openxmlformats.org/drawingml/2006/main" noGrp="1"/>
          </p:cNvSpPr>
          <p:nvPr/>
        </p:nvSpPr>
        <p:spPr>
          <a:xfrm xmlns:a="http://schemas.openxmlformats.org/drawingml/2006/main">
            <a:off x="2857500" y="5619750"/>
            <a:ext cx="88582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MB incident controls and backlog capacity need attention. FinnOne and HFLMS require interim recovery controls before the 2027 DR upgrades.</a:t>
            </a:r>
          </a:p>
        </p:txBody>
      </p:sp>
    </p:spTree>
    <p:extLst>
      <p:ext uri="{BB962C8B-B14F-4D97-AF65-F5344CB8AC3E}">
        <p14:creationId xmlns:p14="http://schemas.microsoft.com/office/powerpoint/2010/main" val="111775848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1" name="">
            <a:extLst xmlns:a="http://schemas.openxmlformats.org/drawingml/2006/main">
              <a:ext uri="{FF2B5EF4-FFF2-40B4-BE49-F238E27FC236}">
                <a16:creationId xmlns:a16="http://schemas.microsoft.com/office/drawing/2014/main" id="{627A67AC-7675-4CE4-AB58-F393100F96DA}"/>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4686E7DD-F2B9-464B-81C9-B27672A4B3BD}"/>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IB / MB supports 16.99B in business volume</a:t>
            </a:r>
          </a:p>
        </p:txBody>
      </p:sp>
      <p:sp>
        <p:nvSpPr>
          <p:cNvPr id="3" name="">
            <a:extLst xmlns:a="http://schemas.openxmlformats.org/drawingml/2006/main">
              <a:ext uri="{FF2B5EF4-FFF2-40B4-BE49-F238E27FC236}">
                <a16:creationId xmlns:a16="http://schemas.microsoft.com/office/drawing/2014/main" id="{EF82CD1D-AA44-4358-A09E-2E75DACDBA89}"/>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Delivery continues while Mobile Banking reliability needs closer oversight</a:t>
            </a:r>
          </a:p>
        </p:txBody>
      </p:sp>
      <p:sp>
        <p:nvSpPr>
          <p:cNvPr id="4" name="">
            <a:extLst xmlns:a="http://schemas.openxmlformats.org/drawingml/2006/main">
              <a:ext uri="{FF2B5EF4-FFF2-40B4-BE49-F238E27FC236}">
                <a16:creationId xmlns:a16="http://schemas.microsoft.com/office/drawing/2014/main" id="{608ED8BC-B689-48AC-8AC0-939CCB002DE9}"/>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9E488012-5CE4-4F72-BFD6-B1AF8EB9BE46}"/>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a:t>
            </a:r>
          </a:p>
        </p:txBody>
      </p:sp>
      <p:graphicFrame>
        <p:nvGraphicFramePr>
          <p:cNvPr id="146" name="Chart"/>
          <p:cNvGraphicFramePr/>
          <p:nvPr/>
        </p:nvGraphicFramePr>
        <p:xfrm>
          <a:off xmlns:a="http://schemas.openxmlformats.org/drawingml/2006/main" x="457200" y="2266950"/>
          <a:ext xmlns:a="http://schemas.openxmlformats.org/drawingml/2006/main" cx="5143500" cy="2762250"/>
        </p:xfrm>
        <a:graphic xmlns:a="http://schemas.openxmlformats.org/drawingml/2006/main">
          <a:graphicData uri="http://schemas.openxmlformats.org/drawingml/2006/chart">
            <c:chart xmlns:r="http://schemas.openxmlformats.org/officeDocument/2006/relationships" xmlns:c="http://schemas.openxmlformats.org/drawingml/2006/chart" r:id="R1674904fb96445e9"/>
          </a:graphicData>
        </a:graphic>
      </p:graphicFrame>
      <p:sp>
        <p:nvSpPr>
          <p:cNvPr id="7" name="">
            <a:extLst xmlns:a="http://schemas.openxmlformats.org/drawingml/2006/main">
              <a:ext uri="{FF2B5EF4-FFF2-40B4-BE49-F238E27FC236}">
                <a16:creationId xmlns:a16="http://schemas.microsoft.com/office/drawing/2014/main" id="{4331FD71-6C3B-4709-9F0A-135E1AF5E35E}"/>
              </a:ext>
            </a:extLst>
          </p:cNvPr>
          <p:cNvSpPr>
            <a:spLocks xmlns:a="http://schemas.openxmlformats.org/drawingml/2006/main" noGrp="1"/>
          </p:cNvSpPr>
          <p:nvPr/>
        </p:nvSpPr>
        <p:spPr>
          <a:xfrm xmlns:a="http://schemas.openxmlformats.org/drawingml/2006/main">
            <a:off x="457200" y="5200650"/>
            <a:ext cx="5143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54% of reported volume comes from SME</a:t>
            </a:r>
          </a:p>
        </p:txBody>
      </p:sp>
      <p:sp>
        <p:nvSpPr>
          <p:cNvPr id="8" name="">
            <a:extLst xmlns:a="http://schemas.openxmlformats.org/drawingml/2006/main">
              <a:ext uri="{FF2B5EF4-FFF2-40B4-BE49-F238E27FC236}">
                <a16:creationId xmlns:a16="http://schemas.microsoft.com/office/drawing/2014/main" id="{FBE3963A-21FC-476C-AAD6-FF5CF9CCD97E}"/>
              </a:ext>
            </a:extLst>
          </p:cNvPr>
          <p:cNvSpPr>
            <a:spLocks xmlns:a="http://schemas.openxmlformats.org/drawingml/2006/main" noGrp="1"/>
          </p:cNvSpPr>
          <p:nvPr/>
        </p:nvSpPr>
        <p:spPr>
          <a:xfrm xmlns:a="http://schemas.openxmlformats.org/drawingml/2006/main">
            <a:off x="6048375" y="2238375"/>
            <a:ext cx="2857500" cy="457200"/>
          </a:xfrm>
          <a:prstGeom xmlns:a="http://schemas.openxmlformats.org/drawingml/2006/main" prst="roundRect">
            <a:avLst>
              <a:gd name="adj" fmla="val 25000"/>
            </a:avLst>
          </a:prstGeom>
          <a:solidFill xmlns:a="http://schemas.openxmlformats.org/drawingml/2006/main">
            <a:srgbClr val="E6F6F0"/>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EC5E2816-0248-438D-8E81-6F05A1E9C7D3}"/>
              </a:ext>
            </a:extLst>
          </p:cNvPr>
          <p:cNvSpPr>
            <a:spLocks xmlns:a="http://schemas.openxmlformats.org/drawingml/2006/main" noGrp="1"/>
          </p:cNvSpPr>
          <p:nvPr/>
        </p:nvSpPr>
        <p:spPr>
          <a:xfrm xmlns:a="http://schemas.openxmlformats.org/drawingml/2006/main">
            <a:off x="6191250" y="2266950"/>
            <a:ext cx="207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Delivered</a:t>
            </a:r>
          </a:p>
        </p:txBody>
      </p:sp>
      <p:sp>
        <p:nvSpPr>
          <p:cNvPr id="10" name="">
            <a:extLst xmlns:a="http://schemas.openxmlformats.org/drawingml/2006/main">
              <a:ext uri="{FF2B5EF4-FFF2-40B4-BE49-F238E27FC236}">
                <a16:creationId xmlns:a16="http://schemas.microsoft.com/office/drawing/2014/main" id="{D37F314E-1E13-402A-83B0-5DBC3C702691}"/>
              </a:ext>
            </a:extLst>
          </p:cNvPr>
          <p:cNvSpPr>
            <a:spLocks xmlns:a="http://schemas.openxmlformats.org/drawingml/2006/main" noGrp="1"/>
          </p:cNvSpPr>
          <p:nvPr/>
        </p:nvSpPr>
        <p:spPr>
          <a:xfrm xmlns:a="http://schemas.openxmlformats.org/drawingml/2006/main">
            <a:off x="8296275" y="226695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25</a:t>
            </a:r>
          </a:p>
        </p:txBody>
      </p:sp>
      <p:sp>
        <p:nvSpPr>
          <p:cNvPr id="11" name="">
            <a:extLst xmlns:a="http://schemas.openxmlformats.org/drawingml/2006/main">
              <a:ext uri="{FF2B5EF4-FFF2-40B4-BE49-F238E27FC236}">
                <a16:creationId xmlns:a16="http://schemas.microsoft.com/office/drawing/2014/main" id="{B8261C3E-EAF0-4725-AD5B-894F2DB38864}"/>
              </a:ext>
            </a:extLst>
          </p:cNvPr>
          <p:cNvSpPr>
            <a:spLocks xmlns:a="http://schemas.openxmlformats.org/drawingml/2006/main" noGrp="1"/>
          </p:cNvSpPr>
          <p:nvPr/>
        </p:nvSpPr>
        <p:spPr>
          <a:xfrm xmlns:a="http://schemas.openxmlformats.org/drawingml/2006/main">
            <a:off x="61912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7EE64B47-4493-4B1F-BE61-646AB4F70878}"/>
              </a:ext>
            </a:extLst>
          </p:cNvPr>
          <p:cNvSpPr>
            <a:spLocks xmlns:a="http://schemas.openxmlformats.org/drawingml/2006/main" noGrp="1"/>
          </p:cNvSpPr>
          <p:nvPr/>
        </p:nvSpPr>
        <p:spPr>
          <a:xfrm xmlns:a="http://schemas.openxmlformats.org/drawingml/2006/main">
            <a:off x="623887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E411815-C87C-4B2C-9251-A238C0D38760}"/>
              </a:ext>
            </a:extLst>
          </p:cNvPr>
          <p:cNvSpPr>
            <a:spLocks xmlns:a="http://schemas.openxmlformats.org/drawingml/2006/main" noGrp="1"/>
          </p:cNvSpPr>
          <p:nvPr/>
        </p:nvSpPr>
        <p:spPr>
          <a:xfrm xmlns:a="http://schemas.openxmlformats.org/drawingml/2006/main">
            <a:off x="628650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8F08CFC3-04FA-4713-811E-89AF2D112355}"/>
              </a:ext>
            </a:extLst>
          </p:cNvPr>
          <p:cNvSpPr>
            <a:spLocks xmlns:a="http://schemas.openxmlformats.org/drawingml/2006/main" noGrp="1"/>
          </p:cNvSpPr>
          <p:nvPr/>
        </p:nvSpPr>
        <p:spPr>
          <a:xfrm xmlns:a="http://schemas.openxmlformats.org/drawingml/2006/main">
            <a:off x="633412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630E32BF-BCDE-4832-A069-CE97E80926B3}"/>
              </a:ext>
            </a:extLst>
          </p:cNvPr>
          <p:cNvSpPr>
            <a:spLocks xmlns:a="http://schemas.openxmlformats.org/drawingml/2006/main" noGrp="1"/>
          </p:cNvSpPr>
          <p:nvPr/>
        </p:nvSpPr>
        <p:spPr>
          <a:xfrm xmlns:a="http://schemas.openxmlformats.org/drawingml/2006/main">
            <a:off x="63817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36AA00F-5C26-44B7-B553-2D46D3A48F2A}"/>
              </a:ext>
            </a:extLst>
          </p:cNvPr>
          <p:cNvSpPr>
            <a:spLocks xmlns:a="http://schemas.openxmlformats.org/drawingml/2006/main" noGrp="1"/>
          </p:cNvSpPr>
          <p:nvPr/>
        </p:nvSpPr>
        <p:spPr>
          <a:xfrm xmlns:a="http://schemas.openxmlformats.org/drawingml/2006/main">
            <a:off x="642937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9FBF64A3-5928-4744-9CF2-BC3C18D9760F}"/>
              </a:ext>
            </a:extLst>
          </p:cNvPr>
          <p:cNvSpPr>
            <a:spLocks xmlns:a="http://schemas.openxmlformats.org/drawingml/2006/main" noGrp="1"/>
          </p:cNvSpPr>
          <p:nvPr/>
        </p:nvSpPr>
        <p:spPr>
          <a:xfrm xmlns:a="http://schemas.openxmlformats.org/drawingml/2006/main">
            <a:off x="647700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4890440C-38DF-45BB-AE78-E6FAA5CDF69F}"/>
              </a:ext>
            </a:extLst>
          </p:cNvPr>
          <p:cNvSpPr>
            <a:spLocks xmlns:a="http://schemas.openxmlformats.org/drawingml/2006/main" noGrp="1"/>
          </p:cNvSpPr>
          <p:nvPr/>
        </p:nvSpPr>
        <p:spPr>
          <a:xfrm xmlns:a="http://schemas.openxmlformats.org/drawingml/2006/main">
            <a:off x="652462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BCACAEC-A5C0-4F3E-86C7-7AB90FD5B091}"/>
              </a:ext>
            </a:extLst>
          </p:cNvPr>
          <p:cNvSpPr>
            <a:spLocks xmlns:a="http://schemas.openxmlformats.org/drawingml/2006/main" noGrp="1"/>
          </p:cNvSpPr>
          <p:nvPr/>
        </p:nvSpPr>
        <p:spPr>
          <a:xfrm xmlns:a="http://schemas.openxmlformats.org/drawingml/2006/main">
            <a:off x="65722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0F17E5E-8710-4143-A151-1F8C8AA88DB0}"/>
              </a:ext>
            </a:extLst>
          </p:cNvPr>
          <p:cNvSpPr>
            <a:spLocks xmlns:a="http://schemas.openxmlformats.org/drawingml/2006/main" noGrp="1"/>
          </p:cNvSpPr>
          <p:nvPr/>
        </p:nvSpPr>
        <p:spPr>
          <a:xfrm xmlns:a="http://schemas.openxmlformats.org/drawingml/2006/main">
            <a:off x="661987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4E956CA4-B2C5-419E-8B57-A60C1F4A5B4A}"/>
              </a:ext>
            </a:extLst>
          </p:cNvPr>
          <p:cNvSpPr>
            <a:spLocks xmlns:a="http://schemas.openxmlformats.org/drawingml/2006/main" noGrp="1"/>
          </p:cNvSpPr>
          <p:nvPr/>
        </p:nvSpPr>
        <p:spPr>
          <a:xfrm xmlns:a="http://schemas.openxmlformats.org/drawingml/2006/main">
            <a:off x="666750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BEC613E-AFDB-41C8-8F08-FD107B22AACD}"/>
              </a:ext>
            </a:extLst>
          </p:cNvPr>
          <p:cNvSpPr>
            <a:spLocks xmlns:a="http://schemas.openxmlformats.org/drawingml/2006/main" noGrp="1"/>
          </p:cNvSpPr>
          <p:nvPr/>
        </p:nvSpPr>
        <p:spPr>
          <a:xfrm xmlns:a="http://schemas.openxmlformats.org/drawingml/2006/main">
            <a:off x="671512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68DFB581-54B4-45C9-AD99-46F7A560B4BC}"/>
              </a:ext>
            </a:extLst>
          </p:cNvPr>
          <p:cNvSpPr>
            <a:spLocks xmlns:a="http://schemas.openxmlformats.org/drawingml/2006/main" noGrp="1"/>
          </p:cNvSpPr>
          <p:nvPr/>
        </p:nvSpPr>
        <p:spPr>
          <a:xfrm xmlns:a="http://schemas.openxmlformats.org/drawingml/2006/main">
            <a:off x="67627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C16D1C11-AE09-46FF-9C71-D9DE403215D9}"/>
              </a:ext>
            </a:extLst>
          </p:cNvPr>
          <p:cNvSpPr>
            <a:spLocks xmlns:a="http://schemas.openxmlformats.org/drawingml/2006/main" noGrp="1"/>
          </p:cNvSpPr>
          <p:nvPr/>
        </p:nvSpPr>
        <p:spPr>
          <a:xfrm xmlns:a="http://schemas.openxmlformats.org/drawingml/2006/main">
            <a:off x="681037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F0982620-3664-4CF8-9007-CAC9590F65D6}"/>
              </a:ext>
            </a:extLst>
          </p:cNvPr>
          <p:cNvSpPr>
            <a:spLocks xmlns:a="http://schemas.openxmlformats.org/drawingml/2006/main" noGrp="1"/>
          </p:cNvSpPr>
          <p:nvPr/>
        </p:nvSpPr>
        <p:spPr>
          <a:xfrm xmlns:a="http://schemas.openxmlformats.org/drawingml/2006/main">
            <a:off x="685800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EDF3A797-0C86-413D-AA66-404A67D3F50D}"/>
              </a:ext>
            </a:extLst>
          </p:cNvPr>
          <p:cNvSpPr>
            <a:spLocks xmlns:a="http://schemas.openxmlformats.org/drawingml/2006/main" noGrp="1"/>
          </p:cNvSpPr>
          <p:nvPr/>
        </p:nvSpPr>
        <p:spPr>
          <a:xfrm xmlns:a="http://schemas.openxmlformats.org/drawingml/2006/main">
            <a:off x="690562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BCAD4A4A-23F1-444F-8C74-AC00B5FDC4DD}"/>
              </a:ext>
            </a:extLst>
          </p:cNvPr>
          <p:cNvSpPr>
            <a:spLocks xmlns:a="http://schemas.openxmlformats.org/drawingml/2006/main" noGrp="1"/>
          </p:cNvSpPr>
          <p:nvPr/>
        </p:nvSpPr>
        <p:spPr>
          <a:xfrm xmlns:a="http://schemas.openxmlformats.org/drawingml/2006/main">
            <a:off x="69532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9345EB96-D0A4-4825-B5D3-9E10AE5A9748}"/>
              </a:ext>
            </a:extLst>
          </p:cNvPr>
          <p:cNvSpPr>
            <a:spLocks xmlns:a="http://schemas.openxmlformats.org/drawingml/2006/main" noGrp="1"/>
          </p:cNvSpPr>
          <p:nvPr/>
        </p:nvSpPr>
        <p:spPr>
          <a:xfrm xmlns:a="http://schemas.openxmlformats.org/drawingml/2006/main">
            <a:off x="700087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1397E8C0-C195-475F-92F5-8EE0814707F5}"/>
              </a:ext>
            </a:extLst>
          </p:cNvPr>
          <p:cNvSpPr>
            <a:spLocks xmlns:a="http://schemas.openxmlformats.org/drawingml/2006/main" noGrp="1"/>
          </p:cNvSpPr>
          <p:nvPr/>
        </p:nvSpPr>
        <p:spPr>
          <a:xfrm xmlns:a="http://schemas.openxmlformats.org/drawingml/2006/main">
            <a:off x="704850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81F2BEFB-4790-4FF0-9216-7A1E318EF288}"/>
              </a:ext>
            </a:extLst>
          </p:cNvPr>
          <p:cNvSpPr>
            <a:spLocks xmlns:a="http://schemas.openxmlformats.org/drawingml/2006/main" noGrp="1"/>
          </p:cNvSpPr>
          <p:nvPr/>
        </p:nvSpPr>
        <p:spPr>
          <a:xfrm xmlns:a="http://schemas.openxmlformats.org/drawingml/2006/main">
            <a:off x="709612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7EAA3486-1022-4A8D-82EB-7AFE2B95E0F2}"/>
              </a:ext>
            </a:extLst>
          </p:cNvPr>
          <p:cNvSpPr>
            <a:spLocks xmlns:a="http://schemas.openxmlformats.org/drawingml/2006/main" noGrp="1"/>
          </p:cNvSpPr>
          <p:nvPr/>
        </p:nvSpPr>
        <p:spPr>
          <a:xfrm xmlns:a="http://schemas.openxmlformats.org/drawingml/2006/main">
            <a:off x="71437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E2056A4-4AFD-4A37-AC8D-64065E5562D7}"/>
              </a:ext>
            </a:extLst>
          </p:cNvPr>
          <p:cNvSpPr>
            <a:spLocks xmlns:a="http://schemas.openxmlformats.org/drawingml/2006/main" noGrp="1"/>
          </p:cNvSpPr>
          <p:nvPr/>
        </p:nvSpPr>
        <p:spPr>
          <a:xfrm xmlns:a="http://schemas.openxmlformats.org/drawingml/2006/main">
            <a:off x="719137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0AEDDA84-651F-4F50-AFC4-268D27999C06}"/>
              </a:ext>
            </a:extLst>
          </p:cNvPr>
          <p:cNvSpPr>
            <a:spLocks xmlns:a="http://schemas.openxmlformats.org/drawingml/2006/main" noGrp="1"/>
          </p:cNvSpPr>
          <p:nvPr/>
        </p:nvSpPr>
        <p:spPr>
          <a:xfrm xmlns:a="http://schemas.openxmlformats.org/drawingml/2006/main">
            <a:off x="723900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20B77256-8C9C-47A2-982E-71524FE51489}"/>
              </a:ext>
            </a:extLst>
          </p:cNvPr>
          <p:cNvSpPr>
            <a:spLocks xmlns:a="http://schemas.openxmlformats.org/drawingml/2006/main" noGrp="1"/>
          </p:cNvSpPr>
          <p:nvPr/>
        </p:nvSpPr>
        <p:spPr>
          <a:xfrm xmlns:a="http://schemas.openxmlformats.org/drawingml/2006/main">
            <a:off x="7286625"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FF9974C9-4911-409A-870A-66B1D47C2A4C}"/>
              </a:ext>
            </a:extLst>
          </p:cNvPr>
          <p:cNvSpPr>
            <a:spLocks xmlns:a="http://schemas.openxmlformats.org/drawingml/2006/main" noGrp="1"/>
          </p:cNvSpPr>
          <p:nvPr/>
        </p:nvSpPr>
        <p:spPr>
          <a:xfrm xmlns:a="http://schemas.openxmlformats.org/drawingml/2006/main">
            <a:off x="7334250" y="2562225"/>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09D1C94D-E554-4AA0-9475-6F60826EDDDA}"/>
              </a:ext>
            </a:extLst>
          </p:cNvPr>
          <p:cNvSpPr>
            <a:spLocks xmlns:a="http://schemas.openxmlformats.org/drawingml/2006/main" noGrp="1"/>
          </p:cNvSpPr>
          <p:nvPr/>
        </p:nvSpPr>
        <p:spPr>
          <a:xfrm xmlns:a="http://schemas.openxmlformats.org/drawingml/2006/main">
            <a:off x="6048375" y="2762250"/>
            <a:ext cx="2857500" cy="457200"/>
          </a:xfrm>
          <a:prstGeom xmlns:a="http://schemas.openxmlformats.org/drawingml/2006/main" prst="roundRect">
            <a:avLst>
              <a:gd name="adj" fmla="val 25000"/>
            </a:avLst>
          </a:prstGeom>
          <a:solidFill xmlns:a="http://schemas.openxmlformats.org/drawingml/2006/main">
            <a:srgbClr val="E8F3FB"/>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F564F059-B9B5-4271-A0F3-3D6D15579D87}"/>
              </a:ext>
            </a:extLst>
          </p:cNvPr>
          <p:cNvSpPr>
            <a:spLocks xmlns:a="http://schemas.openxmlformats.org/drawingml/2006/main" noGrp="1"/>
          </p:cNvSpPr>
          <p:nvPr/>
        </p:nvSpPr>
        <p:spPr>
          <a:xfrm xmlns:a="http://schemas.openxmlformats.org/drawingml/2006/main">
            <a:off x="6191250" y="2790825"/>
            <a:ext cx="207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In progress</a:t>
            </a:r>
          </a:p>
        </p:txBody>
      </p:sp>
      <p:sp>
        <p:nvSpPr>
          <p:cNvPr id="38" name="">
            <a:extLst xmlns:a="http://schemas.openxmlformats.org/drawingml/2006/main">
              <a:ext uri="{FF2B5EF4-FFF2-40B4-BE49-F238E27FC236}">
                <a16:creationId xmlns:a16="http://schemas.microsoft.com/office/drawing/2014/main" id="{99DEF9D3-44D0-4AB3-85E9-3A4DE356F4FE}"/>
              </a:ext>
            </a:extLst>
          </p:cNvPr>
          <p:cNvSpPr>
            <a:spLocks xmlns:a="http://schemas.openxmlformats.org/drawingml/2006/main" noGrp="1"/>
          </p:cNvSpPr>
          <p:nvPr/>
        </p:nvSpPr>
        <p:spPr>
          <a:xfrm xmlns:a="http://schemas.openxmlformats.org/drawingml/2006/main">
            <a:off x="8296275" y="27908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23</a:t>
            </a:r>
          </a:p>
        </p:txBody>
      </p:sp>
      <p:sp>
        <p:nvSpPr>
          <p:cNvPr id="39" name="">
            <a:extLst xmlns:a="http://schemas.openxmlformats.org/drawingml/2006/main">
              <a:ext uri="{FF2B5EF4-FFF2-40B4-BE49-F238E27FC236}">
                <a16:creationId xmlns:a16="http://schemas.microsoft.com/office/drawing/2014/main" id="{EC9436E7-8A76-4904-84F5-BE86711011D0}"/>
              </a:ext>
            </a:extLst>
          </p:cNvPr>
          <p:cNvSpPr>
            <a:spLocks xmlns:a="http://schemas.openxmlformats.org/drawingml/2006/main" noGrp="1"/>
          </p:cNvSpPr>
          <p:nvPr/>
        </p:nvSpPr>
        <p:spPr>
          <a:xfrm xmlns:a="http://schemas.openxmlformats.org/drawingml/2006/main">
            <a:off x="619125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28D7C818-F9ED-4A20-A19B-30A92F6F4023}"/>
              </a:ext>
            </a:extLst>
          </p:cNvPr>
          <p:cNvSpPr>
            <a:spLocks xmlns:a="http://schemas.openxmlformats.org/drawingml/2006/main" noGrp="1"/>
          </p:cNvSpPr>
          <p:nvPr/>
        </p:nvSpPr>
        <p:spPr>
          <a:xfrm xmlns:a="http://schemas.openxmlformats.org/drawingml/2006/main">
            <a:off x="623887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24DC777B-270F-463D-B5FE-FA4E82FAD26F}"/>
              </a:ext>
            </a:extLst>
          </p:cNvPr>
          <p:cNvSpPr>
            <a:spLocks xmlns:a="http://schemas.openxmlformats.org/drawingml/2006/main" noGrp="1"/>
          </p:cNvSpPr>
          <p:nvPr/>
        </p:nvSpPr>
        <p:spPr>
          <a:xfrm xmlns:a="http://schemas.openxmlformats.org/drawingml/2006/main">
            <a:off x="628650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D0A5CAD-049F-4AD1-8524-84E6DEB4DC6E}"/>
              </a:ext>
            </a:extLst>
          </p:cNvPr>
          <p:cNvSpPr>
            <a:spLocks xmlns:a="http://schemas.openxmlformats.org/drawingml/2006/main" noGrp="1"/>
          </p:cNvSpPr>
          <p:nvPr/>
        </p:nvSpPr>
        <p:spPr>
          <a:xfrm xmlns:a="http://schemas.openxmlformats.org/drawingml/2006/main">
            <a:off x="633412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CBF6E007-E96A-4565-8B4D-2D07E1D54BE7}"/>
              </a:ext>
            </a:extLst>
          </p:cNvPr>
          <p:cNvSpPr>
            <a:spLocks xmlns:a="http://schemas.openxmlformats.org/drawingml/2006/main" noGrp="1"/>
          </p:cNvSpPr>
          <p:nvPr/>
        </p:nvSpPr>
        <p:spPr>
          <a:xfrm xmlns:a="http://schemas.openxmlformats.org/drawingml/2006/main">
            <a:off x="638175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D5711329-5EBB-4ACA-A754-D60FE7D5DA03}"/>
              </a:ext>
            </a:extLst>
          </p:cNvPr>
          <p:cNvSpPr>
            <a:spLocks xmlns:a="http://schemas.openxmlformats.org/drawingml/2006/main" noGrp="1"/>
          </p:cNvSpPr>
          <p:nvPr/>
        </p:nvSpPr>
        <p:spPr>
          <a:xfrm xmlns:a="http://schemas.openxmlformats.org/drawingml/2006/main">
            <a:off x="642937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5113A888-5CAB-408D-A1D5-B3F5781F26CD}"/>
              </a:ext>
            </a:extLst>
          </p:cNvPr>
          <p:cNvSpPr>
            <a:spLocks xmlns:a="http://schemas.openxmlformats.org/drawingml/2006/main" noGrp="1"/>
          </p:cNvSpPr>
          <p:nvPr/>
        </p:nvSpPr>
        <p:spPr>
          <a:xfrm xmlns:a="http://schemas.openxmlformats.org/drawingml/2006/main">
            <a:off x="647700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E9F7BAD6-9415-4F1D-965F-879920C00247}"/>
              </a:ext>
            </a:extLst>
          </p:cNvPr>
          <p:cNvSpPr>
            <a:spLocks xmlns:a="http://schemas.openxmlformats.org/drawingml/2006/main" noGrp="1"/>
          </p:cNvSpPr>
          <p:nvPr/>
        </p:nvSpPr>
        <p:spPr>
          <a:xfrm xmlns:a="http://schemas.openxmlformats.org/drawingml/2006/main">
            <a:off x="652462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864A5734-BDF7-4F9D-BE4A-B94478AC5470}"/>
              </a:ext>
            </a:extLst>
          </p:cNvPr>
          <p:cNvSpPr>
            <a:spLocks xmlns:a="http://schemas.openxmlformats.org/drawingml/2006/main" noGrp="1"/>
          </p:cNvSpPr>
          <p:nvPr/>
        </p:nvSpPr>
        <p:spPr>
          <a:xfrm xmlns:a="http://schemas.openxmlformats.org/drawingml/2006/main">
            <a:off x="657225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F5822AF7-F6EF-4C72-B344-D6930D21CD76}"/>
              </a:ext>
            </a:extLst>
          </p:cNvPr>
          <p:cNvSpPr>
            <a:spLocks xmlns:a="http://schemas.openxmlformats.org/drawingml/2006/main" noGrp="1"/>
          </p:cNvSpPr>
          <p:nvPr/>
        </p:nvSpPr>
        <p:spPr>
          <a:xfrm xmlns:a="http://schemas.openxmlformats.org/drawingml/2006/main">
            <a:off x="661987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C336F7D3-8179-48D8-8CC8-858C6B1571C7}"/>
              </a:ext>
            </a:extLst>
          </p:cNvPr>
          <p:cNvSpPr>
            <a:spLocks xmlns:a="http://schemas.openxmlformats.org/drawingml/2006/main" noGrp="1"/>
          </p:cNvSpPr>
          <p:nvPr/>
        </p:nvSpPr>
        <p:spPr>
          <a:xfrm xmlns:a="http://schemas.openxmlformats.org/drawingml/2006/main">
            <a:off x="666750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341825DF-D0DB-4175-BC3F-BA2FFCA6B986}"/>
              </a:ext>
            </a:extLst>
          </p:cNvPr>
          <p:cNvSpPr>
            <a:spLocks xmlns:a="http://schemas.openxmlformats.org/drawingml/2006/main" noGrp="1"/>
          </p:cNvSpPr>
          <p:nvPr/>
        </p:nvSpPr>
        <p:spPr>
          <a:xfrm xmlns:a="http://schemas.openxmlformats.org/drawingml/2006/main">
            <a:off x="671512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96E1D1B4-B5AA-41BC-931B-62423B90FD5C}"/>
              </a:ext>
            </a:extLst>
          </p:cNvPr>
          <p:cNvSpPr>
            <a:spLocks xmlns:a="http://schemas.openxmlformats.org/drawingml/2006/main" noGrp="1"/>
          </p:cNvSpPr>
          <p:nvPr/>
        </p:nvSpPr>
        <p:spPr>
          <a:xfrm xmlns:a="http://schemas.openxmlformats.org/drawingml/2006/main">
            <a:off x="676275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BE629C1B-7977-4765-9E5F-1B4517BE0C1B}"/>
              </a:ext>
            </a:extLst>
          </p:cNvPr>
          <p:cNvSpPr>
            <a:spLocks xmlns:a="http://schemas.openxmlformats.org/drawingml/2006/main" noGrp="1"/>
          </p:cNvSpPr>
          <p:nvPr/>
        </p:nvSpPr>
        <p:spPr>
          <a:xfrm xmlns:a="http://schemas.openxmlformats.org/drawingml/2006/main">
            <a:off x="681037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AE5A45B6-9A7B-44CC-8C8B-061C96AADC71}"/>
              </a:ext>
            </a:extLst>
          </p:cNvPr>
          <p:cNvSpPr>
            <a:spLocks xmlns:a="http://schemas.openxmlformats.org/drawingml/2006/main" noGrp="1"/>
          </p:cNvSpPr>
          <p:nvPr/>
        </p:nvSpPr>
        <p:spPr>
          <a:xfrm xmlns:a="http://schemas.openxmlformats.org/drawingml/2006/main">
            <a:off x="685800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8DC9652D-2C13-426A-9F1C-31C6F144C063}"/>
              </a:ext>
            </a:extLst>
          </p:cNvPr>
          <p:cNvSpPr>
            <a:spLocks xmlns:a="http://schemas.openxmlformats.org/drawingml/2006/main" noGrp="1"/>
          </p:cNvSpPr>
          <p:nvPr/>
        </p:nvSpPr>
        <p:spPr>
          <a:xfrm xmlns:a="http://schemas.openxmlformats.org/drawingml/2006/main">
            <a:off x="690562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1D394AC8-DBF8-44C3-9C1C-51E2D489B84A}"/>
              </a:ext>
            </a:extLst>
          </p:cNvPr>
          <p:cNvSpPr>
            <a:spLocks xmlns:a="http://schemas.openxmlformats.org/drawingml/2006/main" noGrp="1"/>
          </p:cNvSpPr>
          <p:nvPr/>
        </p:nvSpPr>
        <p:spPr>
          <a:xfrm xmlns:a="http://schemas.openxmlformats.org/drawingml/2006/main">
            <a:off x="695325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A5A91179-4A57-4F28-9EFB-1BE6A94AE943}"/>
              </a:ext>
            </a:extLst>
          </p:cNvPr>
          <p:cNvSpPr>
            <a:spLocks xmlns:a="http://schemas.openxmlformats.org/drawingml/2006/main" noGrp="1"/>
          </p:cNvSpPr>
          <p:nvPr/>
        </p:nvSpPr>
        <p:spPr>
          <a:xfrm xmlns:a="http://schemas.openxmlformats.org/drawingml/2006/main">
            <a:off x="700087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30F13229-9B21-4FD2-A5DB-17A8BD74AF21}"/>
              </a:ext>
            </a:extLst>
          </p:cNvPr>
          <p:cNvSpPr>
            <a:spLocks xmlns:a="http://schemas.openxmlformats.org/drawingml/2006/main" noGrp="1"/>
          </p:cNvSpPr>
          <p:nvPr/>
        </p:nvSpPr>
        <p:spPr>
          <a:xfrm xmlns:a="http://schemas.openxmlformats.org/drawingml/2006/main">
            <a:off x="704850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19215628-4CE3-4007-ACB2-13CC973704C1}"/>
              </a:ext>
            </a:extLst>
          </p:cNvPr>
          <p:cNvSpPr>
            <a:spLocks xmlns:a="http://schemas.openxmlformats.org/drawingml/2006/main" noGrp="1"/>
          </p:cNvSpPr>
          <p:nvPr/>
        </p:nvSpPr>
        <p:spPr>
          <a:xfrm xmlns:a="http://schemas.openxmlformats.org/drawingml/2006/main">
            <a:off x="709612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F5A9DE84-A449-4CEE-95A9-FE85443B1BAB}"/>
              </a:ext>
            </a:extLst>
          </p:cNvPr>
          <p:cNvSpPr>
            <a:spLocks xmlns:a="http://schemas.openxmlformats.org/drawingml/2006/main" noGrp="1"/>
          </p:cNvSpPr>
          <p:nvPr/>
        </p:nvSpPr>
        <p:spPr>
          <a:xfrm xmlns:a="http://schemas.openxmlformats.org/drawingml/2006/main">
            <a:off x="714375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288EA710-A492-4071-B10A-91B712829DC3}"/>
              </a:ext>
            </a:extLst>
          </p:cNvPr>
          <p:cNvSpPr>
            <a:spLocks xmlns:a="http://schemas.openxmlformats.org/drawingml/2006/main" noGrp="1"/>
          </p:cNvSpPr>
          <p:nvPr/>
        </p:nvSpPr>
        <p:spPr>
          <a:xfrm xmlns:a="http://schemas.openxmlformats.org/drawingml/2006/main">
            <a:off x="7191375"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D3BF49A9-A4D3-4756-A3B6-EEB073B1DFC7}"/>
              </a:ext>
            </a:extLst>
          </p:cNvPr>
          <p:cNvSpPr>
            <a:spLocks xmlns:a="http://schemas.openxmlformats.org/drawingml/2006/main" noGrp="1"/>
          </p:cNvSpPr>
          <p:nvPr/>
        </p:nvSpPr>
        <p:spPr>
          <a:xfrm xmlns:a="http://schemas.openxmlformats.org/drawingml/2006/main">
            <a:off x="7239000" y="3086100"/>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4BED8A14-075A-429C-8716-33E31B432DFF}"/>
              </a:ext>
            </a:extLst>
          </p:cNvPr>
          <p:cNvSpPr>
            <a:spLocks xmlns:a="http://schemas.openxmlformats.org/drawingml/2006/main" noGrp="1"/>
          </p:cNvSpPr>
          <p:nvPr/>
        </p:nvSpPr>
        <p:spPr>
          <a:xfrm xmlns:a="http://schemas.openxmlformats.org/drawingml/2006/main">
            <a:off x="6048375" y="3286125"/>
            <a:ext cx="2857500" cy="457200"/>
          </a:xfrm>
          <a:prstGeom xmlns:a="http://schemas.openxmlformats.org/drawingml/2006/main" prst="roundRect">
            <a:avLst>
              <a:gd name="adj" fmla="val 25000"/>
            </a:avLst>
          </a:prstGeom>
          <a:solidFill xmlns:a="http://schemas.openxmlformats.org/drawingml/2006/main">
            <a:srgbClr val="FFF4DE"/>
          </a:solidFill>
          <a:ln xmlns:a="http://schemas.openxmlformats.org/drawingml/2006/main" w="0">
            <a:noFill/>
          </a:ln>
        </p:spPr>
      </p:sp>
      <p:sp>
        <p:nvSpPr>
          <p:cNvPr id="63" name="">
            <a:extLst xmlns:a="http://schemas.openxmlformats.org/drawingml/2006/main">
              <a:ext uri="{FF2B5EF4-FFF2-40B4-BE49-F238E27FC236}">
                <a16:creationId xmlns:a16="http://schemas.microsoft.com/office/drawing/2014/main" id="{7A08A966-DEFB-43DE-82CB-CB94A49C052B}"/>
              </a:ext>
            </a:extLst>
          </p:cNvPr>
          <p:cNvSpPr>
            <a:spLocks xmlns:a="http://schemas.openxmlformats.org/drawingml/2006/main" noGrp="1"/>
          </p:cNvSpPr>
          <p:nvPr/>
        </p:nvSpPr>
        <p:spPr>
          <a:xfrm xmlns:a="http://schemas.openxmlformats.org/drawingml/2006/main">
            <a:off x="6191250" y="3314700"/>
            <a:ext cx="207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Backlog</a:t>
            </a:r>
          </a:p>
        </p:txBody>
      </p:sp>
      <p:sp>
        <p:nvSpPr>
          <p:cNvPr id="64" name="">
            <a:extLst xmlns:a="http://schemas.openxmlformats.org/drawingml/2006/main">
              <a:ext uri="{FF2B5EF4-FFF2-40B4-BE49-F238E27FC236}">
                <a16:creationId xmlns:a16="http://schemas.microsoft.com/office/drawing/2014/main" id="{5D6B3E36-C5EB-4609-B8FF-AE7683588969}"/>
              </a:ext>
            </a:extLst>
          </p:cNvPr>
          <p:cNvSpPr>
            <a:spLocks xmlns:a="http://schemas.openxmlformats.org/drawingml/2006/main" noGrp="1"/>
          </p:cNvSpPr>
          <p:nvPr/>
        </p:nvSpPr>
        <p:spPr>
          <a:xfrm xmlns:a="http://schemas.openxmlformats.org/drawingml/2006/main">
            <a:off x="8296275" y="33147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27</a:t>
            </a:r>
          </a:p>
        </p:txBody>
      </p:sp>
      <p:sp>
        <p:nvSpPr>
          <p:cNvPr id="65" name="">
            <a:extLst xmlns:a="http://schemas.openxmlformats.org/drawingml/2006/main">
              <a:ext uri="{FF2B5EF4-FFF2-40B4-BE49-F238E27FC236}">
                <a16:creationId xmlns:a16="http://schemas.microsoft.com/office/drawing/2014/main" id="{4B369478-CDCF-47CF-9AFF-95886EF06CE7}"/>
              </a:ext>
            </a:extLst>
          </p:cNvPr>
          <p:cNvSpPr>
            <a:spLocks xmlns:a="http://schemas.openxmlformats.org/drawingml/2006/main" noGrp="1"/>
          </p:cNvSpPr>
          <p:nvPr/>
        </p:nvSpPr>
        <p:spPr>
          <a:xfrm xmlns:a="http://schemas.openxmlformats.org/drawingml/2006/main">
            <a:off x="61912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E9156C20-8109-49B4-BCAE-1C56D1C99F35}"/>
              </a:ext>
            </a:extLst>
          </p:cNvPr>
          <p:cNvSpPr>
            <a:spLocks xmlns:a="http://schemas.openxmlformats.org/drawingml/2006/main" noGrp="1"/>
          </p:cNvSpPr>
          <p:nvPr/>
        </p:nvSpPr>
        <p:spPr>
          <a:xfrm xmlns:a="http://schemas.openxmlformats.org/drawingml/2006/main">
            <a:off x="62388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3D7D436C-D4C9-49A3-8D41-9FAE29A56C4E}"/>
              </a:ext>
            </a:extLst>
          </p:cNvPr>
          <p:cNvSpPr>
            <a:spLocks xmlns:a="http://schemas.openxmlformats.org/drawingml/2006/main" noGrp="1"/>
          </p:cNvSpPr>
          <p:nvPr/>
        </p:nvSpPr>
        <p:spPr>
          <a:xfrm xmlns:a="http://schemas.openxmlformats.org/drawingml/2006/main">
            <a:off x="62865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96B8E8A6-0981-4739-89C4-5E9667380311}"/>
              </a:ext>
            </a:extLst>
          </p:cNvPr>
          <p:cNvSpPr>
            <a:spLocks xmlns:a="http://schemas.openxmlformats.org/drawingml/2006/main" noGrp="1"/>
          </p:cNvSpPr>
          <p:nvPr/>
        </p:nvSpPr>
        <p:spPr>
          <a:xfrm xmlns:a="http://schemas.openxmlformats.org/drawingml/2006/main">
            <a:off x="633412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01C934BD-1492-429E-80B0-D2DD8795A211}"/>
              </a:ext>
            </a:extLst>
          </p:cNvPr>
          <p:cNvSpPr>
            <a:spLocks xmlns:a="http://schemas.openxmlformats.org/drawingml/2006/main" noGrp="1"/>
          </p:cNvSpPr>
          <p:nvPr/>
        </p:nvSpPr>
        <p:spPr>
          <a:xfrm xmlns:a="http://schemas.openxmlformats.org/drawingml/2006/main">
            <a:off x="63817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4077206B-313B-454A-A9FA-0697CCF364B9}"/>
              </a:ext>
            </a:extLst>
          </p:cNvPr>
          <p:cNvSpPr>
            <a:spLocks xmlns:a="http://schemas.openxmlformats.org/drawingml/2006/main" noGrp="1"/>
          </p:cNvSpPr>
          <p:nvPr/>
        </p:nvSpPr>
        <p:spPr>
          <a:xfrm xmlns:a="http://schemas.openxmlformats.org/drawingml/2006/main">
            <a:off x="64293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63B7A619-FACD-4286-99CB-8590EB06F289}"/>
              </a:ext>
            </a:extLst>
          </p:cNvPr>
          <p:cNvSpPr>
            <a:spLocks xmlns:a="http://schemas.openxmlformats.org/drawingml/2006/main" noGrp="1"/>
          </p:cNvSpPr>
          <p:nvPr/>
        </p:nvSpPr>
        <p:spPr>
          <a:xfrm xmlns:a="http://schemas.openxmlformats.org/drawingml/2006/main">
            <a:off x="64770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DF062753-763F-49D3-8E8F-8C4BBD3F6C26}"/>
              </a:ext>
            </a:extLst>
          </p:cNvPr>
          <p:cNvSpPr>
            <a:spLocks xmlns:a="http://schemas.openxmlformats.org/drawingml/2006/main" noGrp="1"/>
          </p:cNvSpPr>
          <p:nvPr/>
        </p:nvSpPr>
        <p:spPr>
          <a:xfrm xmlns:a="http://schemas.openxmlformats.org/drawingml/2006/main">
            <a:off x="652462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CE365162-E635-43EF-9472-32C371E576CA}"/>
              </a:ext>
            </a:extLst>
          </p:cNvPr>
          <p:cNvSpPr>
            <a:spLocks xmlns:a="http://schemas.openxmlformats.org/drawingml/2006/main" noGrp="1"/>
          </p:cNvSpPr>
          <p:nvPr/>
        </p:nvSpPr>
        <p:spPr>
          <a:xfrm xmlns:a="http://schemas.openxmlformats.org/drawingml/2006/main">
            <a:off x="65722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CBBCEA7B-633E-47CF-9CF6-531BE1F8F7CA}"/>
              </a:ext>
            </a:extLst>
          </p:cNvPr>
          <p:cNvSpPr>
            <a:spLocks xmlns:a="http://schemas.openxmlformats.org/drawingml/2006/main" noGrp="1"/>
          </p:cNvSpPr>
          <p:nvPr/>
        </p:nvSpPr>
        <p:spPr>
          <a:xfrm xmlns:a="http://schemas.openxmlformats.org/drawingml/2006/main">
            <a:off x="66198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B12B781D-7F15-4BAB-938B-6C4BD53C7433}"/>
              </a:ext>
            </a:extLst>
          </p:cNvPr>
          <p:cNvSpPr>
            <a:spLocks xmlns:a="http://schemas.openxmlformats.org/drawingml/2006/main" noGrp="1"/>
          </p:cNvSpPr>
          <p:nvPr/>
        </p:nvSpPr>
        <p:spPr>
          <a:xfrm xmlns:a="http://schemas.openxmlformats.org/drawingml/2006/main">
            <a:off x="66675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CFF12A8F-8B9E-4596-9629-D765049FA6F1}"/>
              </a:ext>
            </a:extLst>
          </p:cNvPr>
          <p:cNvSpPr>
            <a:spLocks xmlns:a="http://schemas.openxmlformats.org/drawingml/2006/main" noGrp="1"/>
          </p:cNvSpPr>
          <p:nvPr/>
        </p:nvSpPr>
        <p:spPr>
          <a:xfrm xmlns:a="http://schemas.openxmlformats.org/drawingml/2006/main">
            <a:off x="671512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ABEB5463-6F3B-453B-8F23-B8DB640051EA}"/>
              </a:ext>
            </a:extLst>
          </p:cNvPr>
          <p:cNvSpPr>
            <a:spLocks xmlns:a="http://schemas.openxmlformats.org/drawingml/2006/main" noGrp="1"/>
          </p:cNvSpPr>
          <p:nvPr/>
        </p:nvSpPr>
        <p:spPr>
          <a:xfrm xmlns:a="http://schemas.openxmlformats.org/drawingml/2006/main">
            <a:off x="67627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D4E9E62B-37A8-4189-AB31-08403D37D9DE}"/>
              </a:ext>
            </a:extLst>
          </p:cNvPr>
          <p:cNvSpPr>
            <a:spLocks xmlns:a="http://schemas.openxmlformats.org/drawingml/2006/main" noGrp="1"/>
          </p:cNvSpPr>
          <p:nvPr/>
        </p:nvSpPr>
        <p:spPr>
          <a:xfrm xmlns:a="http://schemas.openxmlformats.org/drawingml/2006/main">
            <a:off x="68103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85566A56-72A2-4B46-8E16-9BDE908469B2}"/>
              </a:ext>
            </a:extLst>
          </p:cNvPr>
          <p:cNvSpPr>
            <a:spLocks xmlns:a="http://schemas.openxmlformats.org/drawingml/2006/main" noGrp="1"/>
          </p:cNvSpPr>
          <p:nvPr/>
        </p:nvSpPr>
        <p:spPr>
          <a:xfrm xmlns:a="http://schemas.openxmlformats.org/drawingml/2006/main">
            <a:off x="68580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270F9878-E30A-4CD8-BA70-C830B7220FB0}"/>
              </a:ext>
            </a:extLst>
          </p:cNvPr>
          <p:cNvSpPr>
            <a:spLocks xmlns:a="http://schemas.openxmlformats.org/drawingml/2006/main" noGrp="1"/>
          </p:cNvSpPr>
          <p:nvPr/>
        </p:nvSpPr>
        <p:spPr>
          <a:xfrm xmlns:a="http://schemas.openxmlformats.org/drawingml/2006/main">
            <a:off x="690562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CB080E14-D1E3-476C-8107-A1FB1B0F803F}"/>
              </a:ext>
            </a:extLst>
          </p:cNvPr>
          <p:cNvSpPr>
            <a:spLocks xmlns:a="http://schemas.openxmlformats.org/drawingml/2006/main" noGrp="1"/>
          </p:cNvSpPr>
          <p:nvPr/>
        </p:nvSpPr>
        <p:spPr>
          <a:xfrm xmlns:a="http://schemas.openxmlformats.org/drawingml/2006/main">
            <a:off x="69532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145BD2DF-96B3-4532-9EB2-AC7A8A60C232}"/>
              </a:ext>
            </a:extLst>
          </p:cNvPr>
          <p:cNvSpPr>
            <a:spLocks xmlns:a="http://schemas.openxmlformats.org/drawingml/2006/main" noGrp="1"/>
          </p:cNvSpPr>
          <p:nvPr/>
        </p:nvSpPr>
        <p:spPr>
          <a:xfrm xmlns:a="http://schemas.openxmlformats.org/drawingml/2006/main">
            <a:off x="70008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224C88D0-33A1-4D65-AD4F-91CDAC482076}"/>
              </a:ext>
            </a:extLst>
          </p:cNvPr>
          <p:cNvSpPr>
            <a:spLocks xmlns:a="http://schemas.openxmlformats.org/drawingml/2006/main" noGrp="1"/>
          </p:cNvSpPr>
          <p:nvPr/>
        </p:nvSpPr>
        <p:spPr>
          <a:xfrm xmlns:a="http://schemas.openxmlformats.org/drawingml/2006/main">
            <a:off x="70485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0FACB7D1-977C-4796-84F1-B6F78A9AA513}"/>
              </a:ext>
            </a:extLst>
          </p:cNvPr>
          <p:cNvSpPr>
            <a:spLocks xmlns:a="http://schemas.openxmlformats.org/drawingml/2006/main" noGrp="1"/>
          </p:cNvSpPr>
          <p:nvPr/>
        </p:nvSpPr>
        <p:spPr>
          <a:xfrm xmlns:a="http://schemas.openxmlformats.org/drawingml/2006/main">
            <a:off x="709612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8D4D74DA-09A8-463A-8247-5A44F8A304A7}"/>
              </a:ext>
            </a:extLst>
          </p:cNvPr>
          <p:cNvSpPr>
            <a:spLocks xmlns:a="http://schemas.openxmlformats.org/drawingml/2006/main" noGrp="1"/>
          </p:cNvSpPr>
          <p:nvPr/>
        </p:nvSpPr>
        <p:spPr>
          <a:xfrm xmlns:a="http://schemas.openxmlformats.org/drawingml/2006/main">
            <a:off x="71437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6791466C-738C-4643-9FDD-6134E064E01A}"/>
              </a:ext>
            </a:extLst>
          </p:cNvPr>
          <p:cNvSpPr>
            <a:spLocks xmlns:a="http://schemas.openxmlformats.org/drawingml/2006/main" noGrp="1"/>
          </p:cNvSpPr>
          <p:nvPr/>
        </p:nvSpPr>
        <p:spPr>
          <a:xfrm xmlns:a="http://schemas.openxmlformats.org/drawingml/2006/main">
            <a:off x="71913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219E90BB-A12F-4D4B-8B27-97ABA6BACB89}"/>
              </a:ext>
            </a:extLst>
          </p:cNvPr>
          <p:cNvSpPr>
            <a:spLocks xmlns:a="http://schemas.openxmlformats.org/drawingml/2006/main" noGrp="1"/>
          </p:cNvSpPr>
          <p:nvPr/>
        </p:nvSpPr>
        <p:spPr>
          <a:xfrm xmlns:a="http://schemas.openxmlformats.org/drawingml/2006/main">
            <a:off x="72390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42E4FC74-ADF3-4B1C-98A0-BF585F4FFB0D}"/>
              </a:ext>
            </a:extLst>
          </p:cNvPr>
          <p:cNvSpPr>
            <a:spLocks xmlns:a="http://schemas.openxmlformats.org/drawingml/2006/main" noGrp="1"/>
          </p:cNvSpPr>
          <p:nvPr/>
        </p:nvSpPr>
        <p:spPr>
          <a:xfrm xmlns:a="http://schemas.openxmlformats.org/drawingml/2006/main">
            <a:off x="728662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9D826E37-1A3D-4B63-B295-909A4B069304}"/>
              </a:ext>
            </a:extLst>
          </p:cNvPr>
          <p:cNvSpPr>
            <a:spLocks xmlns:a="http://schemas.openxmlformats.org/drawingml/2006/main" noGrp="1"/>
          </p:cNvSpPr>
          <p:nvPr/>
        </p:nvSpPr>
        <p:spPr>
          <a:xfrm xmlns:a="http://schemas.openxmlformats.org/drawingml/2006/main">
            <a:off x="733425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ACFB7C90-393E-4B58-844C-44F4926B8EF5}"/>
              </a:ext>
            </a:extLst>
          </p:cNvPr>
          <p:cNvSpPr>
            <a:spLocks xmlns:a="http://schemas.openxmlformats.org/drawingml/2006/main" noGrp="1"/>
          </p:cNvSpPr>
          <p:nvPr/>
        </p:nvSpPr>
        <p:spPr>
          <a:xfrm xmlns:a="http://schemas.openxmlformats.org/drawingml/2006/main">
            <a:off x="7381875"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5017A2C3-FF4F-4E21-949E-799C6BECA232}"/>
              </a:ext>
            </a:extLst>
          </p:cNvPr>
          <p:cNvSpPr>
            <a:spLocks xmlns:a="http://schemas.openxmlformats.org/drawingml/2006/main" noGrp="1"/>
          </p:cNvSpPr>
          <p:nvPr/>
        </p:nvSpPr>
        <p:spPr>
          <a:xfrm xmlns:a="http://schemas.openxmlformats.org/drawingml/2006/main">
            <a:off x="7429500" y="3609975"/>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710722A4-D02B-483C-8E7C-93AC890AAF7A}"/>
              </a:ext>
            </a:extLst>
          </p:cNvPr>
          <p:cNvSpPr>
            <a:spLocks xmlns:a="http://schemas.openxmlformats.org/drawingml/2006/main" noGrp="1"/>
          </p:cNvSpPr>
          <p:nvPr/>
        </p:nvSpPr>
        <p:spPr>
          <a:xfrm xmlns:a="http://schemas.openxmlformats.org/drawingml/2006/main">
            <a:off x="6048375" y="3810000"/>
            <a:ext cx="2857500" cy="457200"/>
          </a:xfrm>
          <a:prstGeom xmlns:a="http://schemas.openxmlformats.org/drawingml/2006/main" prst="roundRect">
            <a:avLst>
              <a:gd name="adj" fmla="val 25000"/>
            </a:avLst>
          </a:prstGeom>
          <a:solidFill xmlns:a="http://schemas.openxmlformats.org/drawingml/2006/main">
            <a:srgbClr val="F0EAF9"/>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1369D521-2B8B-4C6A-A984-C70409FC0023}"/>
              </a:ext>
            </a:extLst>
          </p:cNvPr>
          <p:cNvSpPr>
            <a:spLocks xmlns:a="http://schemas.openxmlformats.org/drawingml/2006/main" noGrp="1"/>
          </p:cNvSpPr>
          <p:nvPr/>
        </p:nvSpPr>
        <p:spPr>
          <a:xfrm xmlns:a="http://schemas.openxmlformats.org/drawingml/2006/main">
            <a:off x="6191250" y="3838575"/>
            <a:ext cx="207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New demand</a:t>
            </a:r>
          </a:p>
        </p:txBody>
      </p:sp>
      <p:sp>
        <p:nvSpPr>
          <p:cNvPr id="94" name="">
            <a:extLst xmlns:a="http://schemas.openxmlformats.org/drawingml/2006/main">
              <a:ext uri="{FF2B5EF4-FFF2-40B4-BE49-F238E27FC236}">
                <a16:creationId xmlns:a16="http://schemas.microsoft.com/office/drawing/2014/main" id="{22A2A13B-0981-439F-AACA-6EAAD7D89AE7}"/>
              </a:ext>
            </a:extLst>
          </p:cNvPr>
          <p:cNvSpPr>
            <a:spLocks xmlns:a="http://schemas.openxmlformats.org/drawingml/2006/main" noGrp="1"/>
          </p:cNvSpPr>
          <p:nvPr/>
        </p:nvSpPr>
        <p:spPr>
          <a:xfrm xmlns:a="http://schemas.openxmlformats.org/drawingml/2006/main">
            <a:off x="8296275" y="38385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C7D16"/>
                </a:solidFill>
                <a:latin typeface="DejaVu Sans"/>
                <a:ea typeface="DejaVu Sans"/>
                <a:cs typeface="DejaVu Sans"/>
              </a:defRPr>
            </a:pPr>
            <a:r>
              <a:rPr sz="1875" b="1">
                <a:solidFill>
                  <a:srgbClr val="CC7D16"/>
                </a:solidFill>
                <a:latin typeface="DejaVu Sans"/>
                <a:ea typeface="DejaVu Sans"/>
                <a:cs typeface="DejaVu Sans"/>
              </a:rPr>
              <a:t>24</a:t>
            </a:r>
          </a:p>
        </p:txBody>
      </p:sp>
      <p:sp>
        <p:nvSpPr>
          <p:cNvPr id="95" name="">
            <a:extLst xmlns:a="http://schemas.openxmlformats.org/drawingml/2006/main">
              <a:ext uri="{FF2B5EF4-FFF2-40B4-BE49-F238E27FC236}">
                <a16:creationId xmlns:a16="http://schemas.microsoft.com/office/drawing/2014/main" id="{7811862C-3BE0-43D4-8218-B2B57A41D980}"/>
              </a:ext>
            </a:extLst>
          </p:cNvPr>
          <p:cNvSpPr>
            <a:spLocks xmlns:a="http://schemas.openxmlformats.org/drawingml/2006/main" noGrp="1"/>
          </p:cNvSpPr>
          <p:nvPr/>
        </p:nvSpPr>
        <p:spPr>
          <a:xfrm xmlns:a="http://schemas.openxmlformats.org/drawingml/2006/main">
            <a:off x="619125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8B575542-D023-45FB-9C7B-DBE339613B83}"/>
              </a:ext>
            </a:extLst>
          </p:cNvPr>
          <p:cNvSpPr>
            <a:spLocks xmlns:a="http://schemas.openxmlformats.org/drawingml/2006/main" noGrp="1"/>
          </p:cNvSpPr>
          <p:nvPr/>
        </p:nvSpPr>
        <p:spPr>
          <a:xfrm xmlns:a="http://schemas.openxmlformats.org/drawingml/2006/main">
            <a:off x="623887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0AFEFD67-ACFB-475F-A12B-703E9AD9CB79}"/>
              </a:ext>
            </a:extLst>
          </p:cNvPr>
          <p:cNvSpPr>
            <a:spLocks xmlns:a="http://schemas.openxmlformats.org/drawingml/2006/main" noGrp="1"/>
          </p:cNvSpPr>
          <p:nvPr/>
        </p:nvSpPr>
        <p:spPr>
          <a:xfrm xmlns:a="http://schemas.openxmlformats.org/drawingml/2006/main">
            <a:off x="628650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98" name="">
            <a:extLst xmlns:a="http://schemas.openxmlformats.org/drawingml/2006/main">
              <a:ext uri="{FF2B5EF4-FFF2-40B4-BE49-F238E27FC236}">
                <a16:creationId xmlns:a16="http://schemas.microsoft.com/office/drawing/2014/main" id="{1C721804-5854-4DC7-9321-3AA132602D0C}"/>
              </a:ext>
            </a:extLst>
          </p:cNvPr>
          <p:cNvSpPr>
            <a:spLocks xmlns:a="http://schemas.openxmlformats.org/drawingml/2006/main" noGrp="1"/>
          </p:cNvSpPr>
          <p:nvPr/>
        </p:nvSpPr>
        <p:spPr>
          <a:xfrm xmlns:a="http://schemas.openxmlformats.org/drawingml/2006/main">
            <a:off x="633412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C836111A-C501-4908-B741-C1800F90A8B4}"/>
              </a:ext>
            </a:extLst>
          </p:cNvPr>
          <p:cNvSpPr>
            <a:spLocks xmlns:a="http://schemas.openxmlformats.org/drawingml/2006/main" noGrp="1"/>
          </p:cNvSpPr>
          <p:nvPr/>
        </p:nvSpPr>
        <p:spPr>
          <a:xfrm xmlns:a="http://schemas.openxmlformats.org/drawingml/2006/main">
            <a:off x="638175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0" name="">
            <a:extLst xmlns:a="http://schemas.openxmlformats.org/drawingml/2006/main">
              <a:ext uri="{FF2B5EF4-FFF2-40B4-BE49-F238E27FC236}">
                <a16:creationId xmlns:a16="http://schemas.microsoft.com/office/drawing/2014/main" id="{54ECF909-A077-454C-A32B-251BCC5848BA}"/>
              </a:ext>
            </a:extLst>
          </p:cNvPr>
          <p:cNvSpPr>
            <a:spLocks xmlns:a="http://schemas.openxmlformats.org/drawingml/2006/main" noGrp="1"/>
          </p:cNvSpPr>
          <p:nvPr/>
        </p:nvSpPr>
        <p:spPr>
          <a:xfrm xmlns:a="http://schemas.openxmlformats.org/drawingml/2006/main">
            <a:off x="642937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EA3A802F-7D94-4136-85ED-9634CFF928AA}"/>
              </a:ext>
            </a:extLst>
          </p:cNvPr>
          <p:cNvSpPr>
            <a:spLocks xmlns:a="http://schemas.openxmlformats.org/drawingml/2006/main" noGrp="1"/>
          </p:cNvSpPr>
          <p:nvPr/>
        </p:nvSpPr>
        <p:spPr>
          <a:xfrm xmlns:a="http://schemas.openxmlformats.org/drawingml/2006/main">
            <a:off x="647700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2" name="">
            <a:extLst xmlns:a="http://schemas.openxmlformats.org/drawingml/2006/main">
              <a:ext uri="{FF2B5EF4-FFF2-40B4-BE49-F238E27FC236}">
                <a16:creationId xmlns:a16="http://schemas.microsoft.com/office/drawing/2014/main" id="{451E6F2C-2F09-40C8-B359-1CB4FBDA9EFE}"/>
              </a:ext>
            </a:extLst>
          </p:cNvPr>
          <p:cNvSpPr>
            <a:spLocks xmlns:a="http://schemas.openxmlformats.org/drawingml/2006/main" noGrp="1"/>
          </p:cNvSpPr>
          <p:nvPr/>
        </p:nvSpPr>
        <p:spPr>
          <a:xfrm xmlns:a="http://schemas.openxmlformats.org/drawingml/2006/main">
            <a:off x="652462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3" name="">
            <a:extLst xmlns:a="http://schemas.openxmlformats.org/drawingml/2006/main">
              <a:ext uri="{FF2B5EF4-FFF2-40B4-BE49-F238E27FC236}">
                <a16:creationId xmlns:a16="http://schemas.microsoft.com/office/drawing/2014/main" id="{F1B6EB2E-C60F-42D1-B226-CBE3A7E70611}"/>
              </a:ext>
            </a:extLst>
          </p:cNvPr>
          <p:cNvSpPr>
            <a:spLocks xmlns:a="http://schemas.openxmlformats.org/drawingml/2006/main" noGrp="1"/>
          </p:cNvSpPr>
          <p:nvPr/>
        </p:nvSpPr>
        <p:spPr>
          <a:xfrm xmlns:a="http://schemas.openxmlformats.org/drawingml/2006/main">
            <a:off x="657225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D1843006-9F15-40DA-B75C-CA9019D48380}"/>
              </a:ext>
            </a:extLst>
          </p:cNvPr>
          <p:cNvSpPr>
            <a:spLocks xmlns:a="http://schemas.openxmlformats.org/drawingml/2006/main" noGrp="1"/>
          </p:cNvSpPr>
          <p:nvPr/>
        </p:nvSpPr>
        <p:spPr>
          <a:xfrm xmlns:a="http://schemas.openxmlformats.org/drawingml/2006/main">
            <a:off x="661987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C7BF0B62-C649-43E6-8D9F-E381520B15A4}"/>
              </a:ext>
            </a:extLst>
          </p:cNvPr>
          <p:cNvSpPr>
            <a:spLocks xmlns:a="http://schemas.openxmlformats.org/drawingml/2006/main" noGrp="1"/>
          </p:cNvSpPr>
          <p:nvPr/>
        </p:nvSpPr>
        <p:spPr>
          <a:xfrm xmlns:a="http://schemas.openxmlformats.org/drawingml/2006/main">
            <a:off x="666750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6" name="">
            <a:extLst xmlns:a="http://schemas.openxmlformats.org/drawingml/2006/main">
              <a:ext uri="{FF2B5EF4-FFF2-40B4-BE49-F238E27FC236}">
                <a16:creationId xmlns:a16="http://schemas.microsoft.com/office/drawing/2014/main" id="{E962D3AC-4AE3-4463-B0EC-8DA1C7179F65}"/>
              </a:ext>
            </a:extLst>
          </p:cNvPr>
          <p:cNvSpPr>
            <a:spLocks xmlns:a="http://schemas.openxmlformats.org/drawingml/2006/main" noGrp="1"/>
          </p:cNvSpPr>
          <p:nvPr/>
        </p:nvSpPr>
        <p:spPr>
          <a:xfrm xmlns:a="http://schemas.openxmlformats.org/drawingml/2006/main">
            <a:off x="671512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7" name="">
            <a:extLst xmlns:a="http://schemas.openxmlformats.org/drawingml/2006/main">
              <a:ext uri="{FF2B5EF4-FFF2-40B4-BE49-F238E27FC236}">
                <a16:creationId xmlns:a16="http://schemas.microsoft.com/office/drawing/2014/main" id="{E27246C5-6DA6-46E4-9923-AEB2952CD492}"/>
              </a:ext>
            </a:extLst>
          </p:cNvPr>
          <p:cNvSpPr>
            <a:spLocks xmlns:a="http://schemas.openxmlformats.org/drawingml/2006/main" noGrp="1"/>
          </p:cNvSpPr>
          <p:nvPr/>
        </p:nvSpPr>
        <p:spPr>
          <a:xfrm xmlns:a="http://schemas.openxmlformats.org/drawingml/2006/main">
            <a:off x="676275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8" name="">
            <a:extLst xmlns:a="http://schemas.openxmlformats.org/drawingml/2006/main">
              <a:ext uri="{FF2B5EF4-FFF2-40B4-BE49-F238E27FC236}">
                <a16:creationId xmlns:a16="http://schemas.microsoft.com/office/drawing/2014/main" id="{DCDA9E24-D23A-4919-B032-86BB99529E2D}"/>
              </a:ext>
            </a:extLst>
          </p:cNvPr>
          <p:cNvSpPr>
            <a:spLocks xmlns:a="http://schemas.openxmlformats.org/drawingml/2006/main" noGrp="1"/>
          </p:cNvSpPr>
          <p:nvPr/>
        </p:nvSpPr>
        <p:spPr>
          <a:xfrm xmlns:a="http://schemas.openxmlformats.org/drawingml/2006/main">
            <a:off x="681037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09" name="">
            <a:extLst xmlns:a="http://schemas.openxmlformats.org/drawingml/2006/main">
              <a:ext uri="{FF2B5EF4-FFF2-40B4-BE49-F238E27FC236}">
                <a16:creationId xmlns:a16="http://schemas.microsoft.com/office/drawing/2014/main" id="{34958C57-92C0-4A6B-A47E-BF91C742DAF8}"/>
              </a:ext>
            </a:extLst>
          </p:cNvPr>
          <p:cNvSpPr>
            <a:spLocks xmlns:a="http://schemas.openxmlformats.org/drawingml/2006/main" noGrp="1"/>
          </p:cNvSpPr>
          <p:nvPr/>
        </p:nvSpPr>
        <p:spPr>
          <a:xfrm xmlns:a="http://schemas.openxmlformats.org/drawingml/2006/main">
            <a:off x="685800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0" name="">
            <a:extLst xmlns:a="http://schemas.openxmlformats.org/drawingml/2006/main">
              <a:ext uri="{FF2B5EF4-FFF2-40B4-BE49-F238E27FC236}">
                <a16:creationId xmlns:a16="http://schemas.microsoft.com/office/drawing/2014/main" id="{D6488804-1EAC-47F5-9FB4-8336FB75354F}"/>
              </a:ext>
            </a:extLst>
          </p:cNvPr>
          <p:cNvSpPr>
            <a:spLocks xmlns:a="http://schemas.openxmlformats.org/drawingml/2006/main" noGrp="1"/>
          </p:cNvSpPr>
          <p:nvPr/>
        </p:nvSpPr>
        <p:spPr>
          <a:xfrm xmlns:a="http://schemas.openxmlformats.org/drawingml/2006/main">
            <a:off x="690562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1" name="">
            <a:extLst xmlns:a="http://schemas.openxmlformats.org/drawingml/2006/main">
              <a:ext uri="{FF2B5EF4-FFF2-40B4-BE49-F238E27FC236}">
                <a16:creationId xmlns:a16="http://schemas.microsoft.com/office/drawing/2014/main" id="{A7070E51-BC48-4C23-931D-5BD4DD2A7720}"/>
              </a:ext>
            </a:extLst>
          </p:cNvPr>
          <p:cNvSpPr>
            <a:spLocks xmlns:a="http://schemas.openxmlformats.org/drawingml/2006/main" noGrp="1"/>
          </p:cNvSpPr>
          <p:nvPr/>
        </p:nvSpPr>
        <p:spPr>
          <a:xfrm xmlns:a="http://schemas.openxmlformats.org/drawingml/2006/main">
            <a:off x="695325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2" name="">
            <a:extLst xmlns:a="http://schemas.openxmlformats.org/drawingml/2006/main">
              <a:ext uri="{FF2B5EF4-FFF2-40B4-BE49-F238E27FC236}">
                <a16:creationId xmlns:a16="http://schemas.microsoft.com/office/drawing/2014/main" id="{DB6702E2-D139-46A9-8D14-9997870D65FA}"/>
              </a:ext>
            </a:extLst>
          </p:cNvPr>
          <p:cNvSpPr>
            <a:spLocks xmlns:a="http://schemas.openxmlformats.org/drawingml/2006/main" noGrp="1"/>
          </p:cNvSpPr>
          <p:nvPr/>
        </p:nvSpPr>
        <p:spPr>
          <a:xfrm xmlns:a="http://schemas.openxmlformats.org/drawingml/2006/main">
            <a:off x="700087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3" name="">
            <a:extLst xmlns:a="http://schemas.openxmlformats.org/drawingml/2006/main">
              <a:ext uri="{FF2B5EF4-FFF2-40B4-BE49-F238E27FC236}">
                <a16:creationId xmlns:a16="http://schemas.microsoft.com/office/drawing/2014/main" id="{15CAE0F2-E92E-4C8A-BAE0-7081E81A9A7E}"/>
              </a:ext>
            </a:extLst>
          </p:cNvPr>
          <p:cNvSpPr>
            <a:spLocks xmlns:a="http://schemas.openxmlformats.org/drawingml/2006/main" noGrp="1"/>
          </p:cNvSpPr>
          <p:nvPr/>
        </p:nvSpPr>
        <p:spPr>
          <a:xfrm xmlns:a="http://schemas.openxmlformats.org/drawingml/2006/main">
            <a:off x="704850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4" name="">
            <a:extLst xmlns:a="http://schemas.openxmlformats.org/drawingml/2006/main">
              <a:ext uri="{FF2B5EF4-FFF2-40B4-BE49-F238E27FC236}">
                <a16:creationId xmlns:a16="http://schemas.microsoft.com/office/drawing/2014/main" id="{E45AFA9A-E327-4C34-9197-2BD6E81BCE5B}"/>
              </a:ext>
            </a:extLst>
          </p:cNvPr>
          <p:cNvSpPr>
            <a:spLocks xmlns:a="http://schemas.openxmlformats.org/drawingml/2006/main" noGrp="1"/>
          </p:cNvSpPr>
          <p:nvPr/>
        </p:nvSpPr>
        <p:spPr>
          <a:xfrm xmlns:a="http://schemas.openxmlformats.org/drawingml/2006/main">
            <a:off x="709612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5" name="">
            <a:extLst xmlns:a="http://schemas.openxmlformats.org/drawingml/2006/main">
              <a:ext uri="{FF2B5EF4-FFF2-40B4-BE49-F238E27FC236}">
                <a16:creationId xmlns:a16="http://schemas.microsoft.com/office/drawing/2014/main" id="{8014A8E0-2C0B-40F0-BF98-C3F422BCE8B4}"/>
              </a:ext>
            </a:extLst>
          </p:cNvPr>
          <p:cNvSpPr>
            <a:spLocks xmlns:a="http://schemas.openxmlformats.org/drawingml/2006/main" noGrp="1"/>
          </p:cNvSpPr>
          <p:nvPr/>
        </p:nvSpPr>
        <p:spPr>
          <a:xfrm xmlns:a="http://schemas.openxmlformats.org/drawingml/2006/main">
            <a:off x="714375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6" name="">
            <a:extLst xmlns:a="http://schemas.openxmlformats.org/drawingml/2006/main">
              <a:ext uri="{FF2B5EF4-FFF2-40B4-BE49-F238E27FC236}">
                <a16:creationId xmlns:a16="http://schemas.microsoft.com/office/drawing/2014/main" id="{16477991-1B61-40A9-8CA3-FA9533194D35}"/>
              </a:ext>
            </a:extLst>
          </p:cNvPr>
          <p:cNvSpPr>
            <a:spLocks xmlns:a="http://schemas.openxmlformats.org/drawingml/2006/main" noGrp="1"/>
          </p:cNvSpPr>
          <p:nvPr/>
        </p:nvSpPr>
        <p:spPr>
          <a:xfrm xmlns:a="http://schemas.openxmlformats.org/drawingml/2006/main">
            <a:off x="719137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7" name="">
            <a:extLst xmlns:a="http://schemas.openxmlformats.org/drawingml/2006/main">
              <a:ext uri="{FF2B5EF4-FFF2-40B4-BE49-F238E27FC236}">
                <a16:creationId xmlns:a16="http://schemas.microsoft.com/office/drawing/2014/main" id="{37174ADE-DD74-442B-AB6F-2FD2D56A7E9C}"/>
              </a:ext>
            </a:extLst>
          </p:cNvPr>
          <p:cNvSpPr>
            <a:spLocks xmlns:a="http://schemas.openxmlformats.org/drawingml/2006/main" noGrp="1"/>
          </p:cNvSpPr>
          <p:nvPr/>
        </p:nvSpPr>
        <p:spPr>
          <a:xfrm xmlns:a="http://schemas.openxmlformats.org/drawingml/2006/main">
            <a:off x="7239000"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8" name="">
            <a:extLst xmlns:a="http://schemas.openxmlformats.org/drawingml/2006/main">
              <a:ext uri="{FF2B5EF4-FFF2-40B4-BE49-F238E27FC236}">
                <a16:creationId xmlns:a16="http://schemas.microsoft.com/office/drawing/2014/main" id="{CE6BC06D-9083-4F5A-8527-B12CD73B6E65}"/>
              </a:ext>
            </a:extLst>
          </p:cNvPr>
          <p:cNvSpPr>
            <a:spLocks xmlns:a="http://schemas.openxmlformats.org/drawingml/2006/main" noGrp="1"/>
          </p:cNvSpPr>
          <p:nvPr/>
        </p:nvSpPr>
        <p:spPr>
          <a:xfrm xmlns:a="http://schemas.openxmlformats.org/drawingml/2006/main">
            <a:off x="7286625" y="4133850"/>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19" name="">
            <a:extLst xmlns:a="http://schemas.openxmlformats.org/drawingml/2006/main">
              <a:ext uri="{FF2B5EF4-FFF2-40B4-BE49-F238E27FC236}">
                <a16:creationId xmlns:a16="http://schemas.microsoft.com/office/drawing/2014/main" id="{2E31C3ED-B52F-4571-9F23-3865EF362E3E}"/>
              </a:ext>
            </a:extLst>
          </p:cNvPr>
          <p:cNvSpPr>
            <a:spLocks xmlns:a="http://schemas.openxmlformats.org/drawingml/2006/main" noGrp="1"/>
          </p:cNvSpPr>
          <p:nvPr/>
        </p:nvSpPr>
        <p:spPr>
          <a:xfrm xmlns:a="http://schemas.openxmlformats.org/drawingml/2006/main">
            <a:off x="6048375" y="4333875"/>
            <a:ext cx="2857500" cy="457200"/>
          </a:xfrm>
          <a:prstGeom xmlns:a="http://schemas.openxmlformats.org/drawingml/2006/main" prst="roundRect">
            <a:avLst>
              <a:gd name="adj" fmla="val 25000"/>
            </a:avLst>
          </a:prstGeom>
          <a:solidFill xmlns:a="http://schemas.openxmlformats.org/drawingml/2006/main">
            <a:srgbClr val="FCEAF0"/>
          </a:solidFill>
          <a:ln xmlns:a="http://schemas.openxmlformats.org/drawingml/2006/main" w="0">
            <a:noFill/>
          </a:ln>
        </p:spPr>
      </p:sp>
      <p:sp>
        <p:nvSpPr>
          <p:cNvPr id="120" name="">
            <a:extLst xmlns:a="http://schemas.openxmlformats.org/drawingml/2006/main">
              <a:ext uri="{FF2B5EF4-FFF2-40B4-BE49-F238E27FC236}">
                <a16:creationId xmlns:a16="http://schemas.microsoft.com/office/drawing/2014/main" id="{01CB4640-1C52-4D8A-AE02-55DD7EEE3B52}"/>
              </a:ext>
            </a:extLst>
          </p:cNvPr>
          <p:cNvSpPr>
            <a:spLocks xmlns:a="http://schemas.openxmlformats.org/drawingml/2006/main" noGrp="1"/>
          </p:cNvSpPr>
          <p:nvPr/>
        </p:nvSpPr>
        <p:spPr>
          <a:xfrm xmlns:a="http://schemas.openxmlformats.org/drawingml/2006/main">
            <a:off x="6191250" y="4362450"/>
            <a:ext cx="20764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Dropped</a:t>
            </a:r>
          </a:p>
        </p:txBody>
      </p:sp>
      <p:sp>
        <p:nvSpPr>
          <p:cNvPr id="121" name="">
            <a:extLst xmlns:a="http://schemas.openxmlformats.org/drawingml/2006/main">
              <a:ext uri="{FF2B5EF4-FFF2-40B4-BE49-F238E27FC236}">
                <a16:creationId xmlns:a16="http://schemas.microsoft.com/office/drawing/2014/main" id="{319445AE-6D78-42F7-BB53-C626DA0535B2}"/>
              </a:ext>
            </a:extLst>
          </p:cNvPr>
          <p:cNvSpPr>
            <a:spLocks xmlns:a="http://schemas.openxmlformats.org/drawingml/2006/main" noGrp="1"/>
          </p:cNvSpPr>
          <p:nvPr/>
        </p:nvSpPr>
        <p:spPr>
          <a:xfrm xmlns:a="http://schemas.openxmlformats.org/drawingml/2006/main">
            <a:off x="8296275" y="436245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D35373"/>
                </a:solidFill>
                <a:latin typeface="DejaVu Sans"/>
                <a:ea typeface="DejaVu Sans"/>
                <a:cs typeface="DejaVu Sans"/>
              </a:defRPr>
            </a:pPr>
            <a:r>
              <a:rPr sz="1875" b="1">
                <a:solidFill>
                  <a:srgbClr val="D35373"/>
                </a:solidFill>
                <a:latin typeface="DejaVu Sans"/>
                <a:ea typeface="DejaVu Sans"/>
                <a:cs typeface="DejaVu Sans"/>
              </a:rPr>
              <a:t>14</a:t>
            </a:r>
          </a:p>
        </p:txBody>
      </p:sp>
      <p:sp>
        <p:nvSpPr>
          <p:cNvPr id="122" name="">
            <a:extLst xmlns:a="http://schemas.openxmlformats.org/drawingml/2006/main">
              <a:ext uri="{FF2B5EF4-FFF2-40B4-BE49-F238E27FC236}">
                <a16:creationId xmlns:a16="http://schemas.microsoft.com/office/drawing/2014/main" id="{983E08FA-C938-4B9F-AD12-138564F5C82C}"/>
              </a:ext>
            </a:extLst>
          </p:cNvPr>
          <p:cNvSpPr>
            <a:spLocks xmlns:a="http://schemas.openxmlformats.org/drawingml/2006/main" noGrp="1"/>
          </p:cNvSpPr>
          <p:nvPr/>
        </p:nvSpPr>
        <p:spPr>
          <a:xfrm xmlns:a="http://schemas.openxmlformats.org/drawingml/2006/main">
            <a:off x="619125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3" name="">
            <a:extLst xmlns:a="http://schemas.openxmlformats.org/drawingml/2006/main">
              <a:ext uri="{FF2B5EF4-FFF2-40B4-BE49-F238E27FC236}">
                <a16:creationId xmlns:a16="http://schemas.microsoft.com/office/drawing/2014/main" id="{5F94B702-030E-458F-9A1A-63F24AF93D49}"/>
              </a:ext>
            </a:extLst>
          </p:cNvPr>
          <p:cNvSpPr>
            <a:spLocks xmlns:a="http://schemas.openxmlformats.org/drawingml/2006/main" noGrp="1"/>
          </p:cNvSpPr>
          <p:nvPr/>
        </p:nvSpPr>
        <p:spPr>
          <a:xfrm xmlns:a="http://schemas.openxmlformats.org/drawingml/2006/main">
            <a:off x="623887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4" name="">
            <a:extLst xmlns:a="http://schemas.openxmlformats.org/drawingml/2006/main">
              <a:ext uri="{FF2B5EF4-FFF2-40B4-BE49-F238E27FC236}">
                <a16:creationId xmlns:a16="http://schemas.microsoft.com/office/drawing/2014/main" id="{8B37BEA0-FF44-4F02-B2B7-A716DAEFE7D8}"/>
              </a:ext>
            </a:extLst>
          </p:cNvPr>
          <p:cNvSpPr>
            <a:spLocks xmlns:a="http://schemas.openxmlformats.org/drawingml/2006/main" noGrp="1"/>
          </p:cNvSpPr>
          <p:nvPr/>
        </p:nvSpPr>
        <p:spPr>
          <a:xfrm xmlns:a="http://schemas.openxmlformats.org/drawingml/2006/main">
            <a:off x="628650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5" name="">
            <a:extLst xmlns:a="http://schemas.openxmlformats.org/drawingml/2006/main">
              <a:ext uri="{FF2B5EF4-FFF2-40B4-BE49-F238E27FC236}">
                <a16:creationId xmlns:a16="http://schemas.microsoft.com/office/drawing/2014/main" id="{E5FB3D97-F08B-4469-88AA-1C70DDA60442}"/>
              </a:ext>
            </a:extLst>
          </p:cNvPr>
          <p:cNvSpPr>
            <a:spLocks xmlns:a="http://schemas.openxmlformats.org/drawingml/2006/main" noGrp="1"/>
          </p:cNvSpPr>
          <p:nvPr/>
        </p:nvSpPr>
        <p:spPr>
          <a:xfrm xmlns:a="http://schemas.openxmlformats.org/drawingml/2006/main">
            <a:off x="633412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6" name="">
            <a:extLst xmlns:a="http://schemas.openxmlformats.org/drawingml/2006/main">
              <a:ext uri="{FF2B5EF4-FFF2-40B4-BE49-F238E27FC236}">
                <a16:creationId xmlns:a16="http://schemas.microsoft.com/office/drawing/2014/main" id="{E13CA5D3-0F8C-422E-9030-572CF2A31830}"/>
              </a:ext>
            </a:extLst>
          </p:cNvPr>
          <p:cNvSpPr>
            <a:spLocks xmlns:a="http://schemas.openxmlformats.org/drawingml/2006/main" noGrp="1"/>
          </p:cNvSpPr>
          <p:nvPr/>
        </p:nvSpPr>
        <p:spPr>
          <a:xfrm xmlns:a="http://schemas.openxmlformats.org/drawingml/2006/main">
            <a:off x="638175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7" name="">
            <a:extLst xmlns:a="http://schemas.openxmlformats.org/drawingml/2006/main">
              <a:ext uri="{FF2B5EF4-FFF2-40B4-BE49-F238E27FC236}">
                <a16:creationId xmlns:a16="http://schemas.microsoft.com/office/drawing/2014/main" id="{843397A8-0EA2-42D4-BBD1-66E42E06D506}"/>
              </a:ext>
            </a:extLst>
          </p:cNvPr>
          <p:cNvSpPr>
            <a:spLocks xmlns:a="http://schemas.openxmlformats.org/drawingml/2006/main" noGrp="1"/>
          </p:cNvSpPr>
          <p:nvPr/>
        </p:nvSpPr>
        <p:spPr>
          <a:xfrm xmlns:a="http://schemas.openxmlformats.org/drawingml/2006/main">
            <a:off x="642937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8" name="">
            <a:extLst xmlns:a="http://schemas.openxmlformats.org/drawingml/2006/main">
              <a:ext uri="{FF2B5EF4-FFF2-40B4-BE49-F238E27FC236}">
                <a16:creationId xmlns:a16="http://schemas.microsoft.com/office/drawing/2014/main" id="{220171F8-AFAA-4044-8725-492C69B3A646}"/>
              </a:ext>
            </a:extLst>
          </p:cNvPr>
          <p:cNvSpPr>
            <a:spLocks xmlns:a="http://schemas.openxmlformats.org/drawingml/2006/main" noGrp="1"/>
          </p:cNvSpPr>
          <p:nvPr/>
        </p:nvSpPr>
        <p:spPr>
          <a:xfrm xmlns:a="http://schemas.openxmlformats.org/drawingml/2006/main">
            <a:off x="647700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29" name="">
            <a:extLst xmlns:a="http://schemas.openxmlformats.org/drawingml/2006/main">
              <a:ext uri="{FF2B5EF4-FFF2-40B4-BE49-F238E27FC236}">
                <a16:creationId xmlns:a16="http://schemas.microsoft.com/office/drawing/2014/main" id="{84002A75-EF8C-4637-BBBE-2F9FA2EEA28F}"/>
              </a:ext>
            </a:extLst>
          </p:cNvPr>
          <p:cNvSpPr>
            <a:spLocks xmlns:a="http://schemas.openxmlformats.org/drawingml/2006/main" noGrp="1"/>
          </p:cNvSpPr>
          <p:nvPr/>
        </p:nvSpPr>
        <p:spPr>
          <a:xfrm xmlns:a="http://schemas.openxmlformats.org/drawingml/2006/main">
            <a:off x="652462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0" name="">
            <a:extLst xmlns:a="http://schemas.openxmlformats.org/drawingml/2006/main">
              <a:ext uri="{FF2B5EF4-FFF2-40B4-BE49-F238E27FC236}">
                <a16:creationId xmlns:a16="http://schemas.microsoft.com/office/drawing/2014/main" id="{07876CD0-C386-4D4E-AC60-1B583A7C8EF4}"/>
              </a:ext>
            </a:extLst>
          </p:cNvPr>
          <p:cNvSpPr>
            <a:spLocks xmlns:a="http://schemas.openxmlformats.org/drawingml/2006/main" noGrp="1"/>
          </p:cNvSpPr>
          <p:nvPr/>
        </p:nvSpPr>
        <p:spPr>
          <a:xfrm xmlns:a="http://schemas.openxmlformats.org/drawingml/2006/main">
            <a:off x="657225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1" name="">
            <a:extLst xmlns:a="http://schemas.openxmlformats.org/drawingml/2006/main">
              <a:ext uri="{FF2B5EF4-FFF2-40B4-BE49-F238E27FC236}">
                <a16:creationId xmlns:a16="http://schemas.microsoft.com/office/drawing/2014/main" id="{0E372AB8-6F32-4443-97F5-5049A6530591}"/>
              </a:ext>
            </a:extLst>
          </p:cNvPr>
          <p:cNvSpPr>
            <a:spLocks xmlns:a="http://schemas.openxmlformats.org/drawingml/2006/main" noGrp="1"/>
          </p:cNvSpPr>
          <p:nvPr/>
        </p:nvSpPr>
        <p:spPr>
          <a:xfrm xmlns:a="http://schemas.openxmlformats.org/drawingml/2006/main">
            <a:off x="661987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2" name="">
            <a:extLst xmlns:a="http://schemas.openxmlformats.org/drawingml/2006/main">
              <a:ext uri="{FF2B5EF4-FFF2-40B4-BE49-F238E27FC236}">
                <a16:creationId xmlns:a16="http://schemas.microsoft.com/office/drawing/2014/main" id="{12638401-4E05-48B2-A20C-3FAAEFA74691}"/>
              </a:ext>
            </a:extLst>
          </p:cNvPr>
          <p:cNvSpPr>
            <a:spLocks xmlns:a="http://schemas.openxmlformats.org/drawingml/2006/main" noGrp="1"/>
          </p:cNvSpPr>
          <p:nvPr/>
        </p:nvSpPr>
        <p:spPr>
          <a:xfrm xmlns:a="http://schemas.openxmlformats.org/drawingml/2006/main">
            <a:off x="666750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3" name="">
            <a:extLst xmlns:a="http://schemas.openxmlformats.org/drawingml/2006/main">
              <a:ext uri="{FF2B5EF4-FFF2-40B4-BE49-F238E27FC236}">
                <a16:creationId xmlns:a16="http://schemas.microsoft.com/office/drawing/2014/main" id="{410AA7EB-3124-4513-8421-CA83DF9103CC}"/>
              </a:ext>
            </a:extLst>
          </p:cNvPr>
          <p:cNvSpPr>
            <a:spLocks xmlns:a="http://schemas.openxmlformats.org/drawingml/2006/main" noGrp="1"/>
          </p:cNvSpPr>
          <p:nvPr/>
        </p:nvSpPr>
        <p:spPr>
          <a:xfrm xmlns:a="http://schemas.openxmlformats.org/drawingml/2006/main">
            <a:off x="671512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4" name="">
            <a:extLst xmlns:a="http://schemas.openxmlformats.org/drawingml/2006/main">
              <a:ext uri="{FF2B5EF4-FFF2-40B4-BE49-F238E27FC236}">
                <a16:creationId xmlns:a16="http://schemas.microsoft.com/office/drawing/2014/main" id="{844B1085-18B5-4C7F-9433-35F7F677CFB7}"/>
              </a:ext>
            </a:extLst>
          </p:cNvPr>
          <p:cNvSpPr>
            <a:spLocks xmlns:a="http://schemas.openxmlformats.org/drawingml/2006/main" noGrp="1"/>
          </p:cNvSpPr>
          <p:nvPr/>
        </p:nvSpPr>
        <p:spPr>
          <a:xfrm xmlns:a="http://schemas.openxmlformats.org/drawingml/2006/main">
            <a:off x="6762750"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5" name="">
            <a:extLst xmlns:a="http://schemas.openxmlformats.org/drawingml/2006/main">
              <a:ext uri="{FF2B5EF4-FFF2-40B4-BE49-F238E27FC236}">
                <a16:creationId xmlns:a16="http://schemas.microsoft.com/office/drawing/2014/main" id="{81191296-81B4-4302-A851-9184D0CE3418}"/>
              </a:ext>
            </a:extLst>
          </p:cNvPr>
          <p:cNvSpPr>
            <a:spLocks xmlns:a="http://schemas.openxmlformats.org/drawingml/2006/main" noGrp="1"/>
          </p:cNvSpPr>
          <p:nvPr/>
        </p:nvSpPr>
        <p:spPr>
          <a:xfrm xmlns:a="http://schemas.openxmlformats.org/drawingml/2006/main">
            <a:off x="6810375" y="4657725"/>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6" name="">
            <a:extLst xmlns:a="http://schemas.openxmlformats.org/drawingml/2006/main">
              <a:ext uri="{FF2B5EF4-FFF2-40B4-BE49-F238E27FC236}">
                <a16:creationId xmlns:a16="http://schemas.microsoft.com/office/drawing/2014/main" id="{AF9F5FDD-4402-43F2-8D39-52FC53EA4AEE}"/>
              </a:ext>
            </a:extLst>
          </p:cNvPr>
          <p:cNvSpPr>
            <a:spLocks xmlns:a="http://schemas.openxmlformats.org/drawingml/2006/main" noGrp="1"/>
          </p:cNvSpPr>
          <p:nvPr/>
        </p:nvSpPr>
        <p:spPr>
          <a:xfrm xmlns:a="http://schemas.openxmlformats.org/drawingml/2006/main">
            <a:off x="9286875" y="2266950"/>
            <a:ext cx="2428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087F68"/>
                </a:solidFill>
                <a:latin typeface="DejaVu Sans"/>
                <a:ea typeface="DejaVu Sans"/>
                <a:cs typeface="DejaVu Sans"/>
              </a:defRPr>
            </a:pPr>
            <a:r>
              <a:rPr sz="2175" b="1">
                <a:solidFill>
                  <a:srgbClr val="087F68"/>
                </a:solidFill>
                <a:latin typeface="DejaVu Sans"/>
                <a:ea typeface="DejaVu Sans"/>
                <a:cs typeface="DejaVu Sans"/>
              </a:rPr>
              <a:t>113 demands</a:t>
            </a:r>
          </a:p>
        </p:txBody>
      </p:sp>
      <p:sp>
        <p:nvSpPr>
          <p:cNvPr id="137" name="">
            <a:extLst xmlns:a="http://schemas.openxmlformats.org/drawingml/2006/main">
              <a:ext uri="{FF2B5EF4-FFF2-40B4-BE49-F238E27FC236}">
                <a16:creationId xmlns:a16="http://schemas.microsoft.com/office/drawing/2014/main" id="{1314D8A6-5A59-4544-8E6D-D81346CBF61C}"/>
              </a:ext>
            </a:extLst>
          </p:cNvPr>
          <p:cNvSpPr>
            <a:spLocks xmlns:a="http://schemas.openxmlformats.org/drawingml/2006/main" noGrp="1"/>
          </p:cNvSpPr>
          <p:nvPr/>
        </p:nvSpPr>
        <p:spPr>
          <a:xfrm xmlns:a="http://schemas.openxmlformats.org/drawingml/2006/main">
            <a:off x="9286875" y="2781300"/>
            <a:ext cx="23812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99.9% availability</a:t>
            </a:r>
          </a:p>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DR tested</a:t>
            </a:r>
          </a:p>
        </p:txBody>
      </p:sp>
      <p:sp>
        <p:nvSpPr>
          <p:cNvPr id="138" name="">
            <a:extLst xmlns:a="http://schemas.openxmlformats.org/drawingml/2006/main">
              <a:ext uri="{FF2B5EF4-FFF2-40B4-BE49-F238E27FC236}">
                <a16:creationId xmlns:a16="http://schemas.microsoft.com/office/drawing/2014/main" id="{6C7539CC-A1B7-4DF9-8BC3-BE328E754238}"/>
              </a:ext>
            </a:extLst>
          </p:cNvPr>
          <p:cNvSpPr>
            <a:spLocks xmlns:a="http://schemas.openxmlformats.org/drawingml/2006/main" noGrp="1"/>
          </p:cNvSpPr>
          <p:nvPr/>
        </p:nvSpPr>
        <p:spPr>
          <a:xfrm xmlns:a="http://schemas.openxmlformats.org/drawingml/2006/main">
            <a:off x="9286875" y="3743325"/>
            <a:ext cx="2381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BF6D12"/>
                </a:solidFill>
                <a:latin typeface="DejaVu Sans"/>
                <a:ea typeface="DejaVu Sans"/>
                <a:cs typeface="DejaVu Sans"/>
              </a:defRPr>
            </a:pPr>
            <a:r>
              <a:rPr sz="1575" b="1">
                <a:solidFill>
                  <a:srgbClr val="BF6D12"/>
                </a:solidFill>
                <a:latin typeface="DejaVu Sans"/>
                <a:ea typeface="DejaVu Sans"/>
                <a:cs typeface="DejaVu Sans"/>
              </a:rPr>
              <a:t>MB: 6 major + 1 minor incidents</a:t>
            </a:r>
          </a:p>
          <a:p xmlns:a="http://schemas.openxmlformats.org/drawingml/2006/main">
            <a:pPr>
              <a:defRPr sz="1575" b="1">
                <a:solidFill>
                  <a:srgbClr val="BF6D12"/>
                </a:solidFill>
                <a:latin typeface="DejaVu Sans"/>
                <a:ea typeface="DejaVu Sans"/>
                <a:cs typeface="DejaVu Sans"/>
              </a:defRPr>
            </a:pPr>
            <a:r>
              <a:rPr sz="1575" b="1">
                <a:solidFill>
                  <a:srgbClr val="BF6D12"/>
                </a:solidFill>
                <a:latin typeface="DejaVu Sans"/>
                <a:ea typeface="DejaVu Sans"/>
                <a:cs typeface="DejaVu Sans"/>
              </a:rPr>
              <a:t>IB: 2 minor incidents</a:t>
            </a:r>
          </a:p>
        </p:txBody>
      </p:sp>
      <p:sp>
        <p:nvSpPr>
          <p:cNvPr id="139" name="">
            <a:extLst xmlns:a="http://schemas.openxmlformats.org/drawingml/2006/main">
              <a:ext uri="{FF2B5EF4-FFF2-40B4-BE49-F238E27FC236}">
                <a16:creationId xmlns:a16="http://schemas.microsoft.com/office/drawing/2014/main" id="{AE8B9F7E-2862-42F8-B067-DC62713894D0}"/>
              </a:ext>
            </a:extLst>
          </p:cNvPr>
          <p:cNvSpPr>
            <a:spLocks xmlns:a="http://schemas.openxmlformats.org/drawingml/2006/main" noGrp="1"/>
          </p:cNvSpPr>
          <p:nvPr/>
        </p:nvSpPr>
        <p:spPr>
          <a:xfrm xmlns:a="http://schemas.openxmlformats.org/drawingml/2006/main">
            <a:off x="457200" y="5848350"/>
            <a:ext cx="23812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Operational outcome</a:t>
            </a:r>
          </a:p>
        </p:txBody>
      </p:sp>
      <p:sp>
        <p:nvSpPr>
          <p:cNvPr id="140" name="">
            <a:extLst xmlns:a="http://schemas.openxmlformats.org/drawingml/2006/main">
              <a:ext uri="{FF2B5EF4-FFF2-40B4-BE49-F238E27FC236}">
                <a16:creationId xmlns:a16="http://schemas.microsoft.com/office/drawing/2014/main" id="{FC71D68B-ECB5-4944-AA60-9F9C2150E405}"/>
              </a:ext>
            </a:extLst>
          </p:cNvPr>
          <p:cNvSpPr>
            <a:spLocks xmlns:a="http://schemas.openxmlformats.org/drawingml/2006/main" noGrp="1"/>
          </p:cNvSpPr>
          <p:nvPr/>
        </p:nvSpPr>
        <p:spPr>
          <a:xfrm xmlns:a="http://schemas.openxmlformats.org/drawingml/2006/main">
            <a:off x="2905125" y="5800725"/>
            <a:ext cx="881062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173A4B"/>
                </a:solidFill>
                <a:latin typeface="DejaVu Sans"/>
                <a:ea typeface="DejaVu Sans"/>
                <a:cs typeface="DejaVu Sans"/>
              </a:defRPr>
            </a:pPr>
            <a:r>
              <a:rPr sz="1575" b="0">
                <a:solidFill>
                  <a:srgbClr val="173A4B"/>
                </a:solidFill>
                <a:latin typeface="DejaVu Sans"/>
                <a:ea typeface="DejaVu Sans"/>
                <a:cs typeface="DejaVu Sans"/>
              </a:rPr>
              <a:t>15 planned deployments. Service continuity maintained during ~48 hours of intermittent MB degradation attributed to DDoS threshold exceedance.</a:t>
            </a:r>
          </a:p>
        </p:txBody>
      </p:sp>
    </p:spTree>
    <p:extLst>
      <p:ext uri="{BB962C8B-B14F-4D97-AF65-F5344CB8AC3E}">
        <p14:creationId xmlns:p14="http://schemas.microsoft.com/office/powerpoint/2010/main" val="983575716"/>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8" name="">
            <a:extLst xmlns:a="http://schemas.openxmlformats.org/drawingml/2006/main">
              <a:ext uri="{FF2B5EF4-FFF2-40B4-BE49-F238E27FC236}">
                <a16:creationId xmlns:a16="http://schemas.microsoft.com/office/drawing/2014/main" id="{C84F3301-7F21-4EAD-A38E-940FDF6F8B4D}"/>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A6EFCC38-9C81-40AD-A6DD-0DABE8A88EC1}"/>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FinnOne combines 50 completed demands with zero outages</a:t>
            </a:r>
          </a:p>
        </p:txBody>
      </p:sp>
      <p:sp>
        <p:nvSpPr>
          <p:cNvPr id="3" name="">
            <a:extLst xmlns:a="http://schemas.openxmlformats.org/drawingml/2006/main">
              <a:ext uri="{FF2B5EF4-FFF2-40B4-BE49-F238E27FC236}">
                <a16:creationId xmlns:a16="http://schemas.microsoft.com/office/drawing/2014/main" id="{EB26A8DC-305B-4816-8957-E4BB12F02BE0}"/>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3.24B reported September volume, with PF contributing approximately 72%</a:t>
            </a:r>
          </a:p>
        </p:txBody>
      </p:sp>
      <p:sp>
        <p:nvSpPr>
          <p:cNvPr id="4" name="">
            <a:extLst xmlns:a="http://schemas.openxmlformats.org/drawingml/2006/main">
              <a:ext uri="{FF2B5EF4-FFF2-40B4-BE49-F238E27FC236}">
                <a16:creationId xmlns:a16="http://schemas.microsoft.com/office/drawing/2014/main" id="{0FFF96E5-0098-41AB-86BF-85422FF2394A}"/>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61A9FAFE-25DD-4071-A056-D345C10F85ED}"/>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a:t>
            </a:r>
          </a:p>
        </p:txBody>
      </p:sp>
      <p:graphicFrame>
        <p:nvGraphicFramePr>
          <p:cNvPr id="153" name="Chart"/>
          <p:cNvGraphicFramePr/>
          <p:nvPr/>
        </p:nvGraphicFramePr>
        <p:xfrm>
          <a:off xmlns:a="http://schemas.openxmlformats.org/drawingml/2006/main" x="457200" y="2209800"/>
          <a:ext xmlns:a="http://schemas.openxmlformats.org/drawingml/2006/main" cx="6667500" cy="3143250"/>
        </p:xfrm>
        <a:graphic xmlns:a="http://schemas.openxmlformats.org/drawingml/2006/main">
          <a:graphicData uri="http://schemas.openxmlformats.org/drawingml/2006/chart">
            <c:chart xmlns:r="http://schemas.openxmlformats.org/officeDocument/2006/relationships" xmlns:c="http://schemas.openxmlformats.org/drawingml/2006/chart" r:id="R3d53a0f7da1341f0"/>
          </a:graphicData>
        </a:graphic>
      </p:graphicFrame>
      <p:sp>
        <p:nvSpPr>
          <p:cNvPr id="7" name="">
            <a:extLst xmlns:a="http://schemas.openxmlformats.org/drawingml/2006/main">
              <a:ext uri="{FF2B5EF4-FFF2-40B4-BE49-F238E27FC236}">
                <a16:creationId xmlns:a16="http://schemas.microsoft.com/office/drawing/2014/main" id="{83D4D755-7EEE-47D0-980C-F12DC497D0B3}"/>
              </a:ext>
            </a:extLst>
          </p:cNvPr>
          <p:cNvSpPr>
            <a:spLocks xmlns:a="http://schemas.openxmlformats.org/drawingml/2006/main" noGrp="1"/>
          </p:cNvSpPr>
          <p:nvPr/>
        </p:nvSpPr>
        <p:spPr>
          <a:xfrm xmlns:a="http://schemas.openxmlformats.org/drawingml/2006/main">
            <a:off x="7905750" y="2228850"/>
            <a:ext cx="3810000" cy="457200"/>
          </a:xfrm>
          <a:prstGeom xmlns:a="http://schemas.openxmlformats.org/drawingml/2006/main" prst="roundRect">
            <a:avLst>
              <a:gd name="adj" fmla="val 25000"/>
            </a:avLst>
          </a:prstGeom>
          <a:solidFill xmlns:a="http://schemas.openxmlformats.org/drawingml/2006/main">
            <a:srgbClr val="E6F6F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B8F748E-60AA-4CAD-A493-D766A8DAD57A}"/>
              </a:ext>
            </a:extLst>
          </p:cNvPr>
          <p:cNvSpPr>
            <a:spLocks xmlns:a="http://schemas.openxmlformats.org/drawingml/2006/main" noGrp="1"/>
          </p:cNvSpPr>
          <p:nvPr/>
        </p:nvSpPr>
        <p:spPr>
          <a:xfrm xmlns:a="http://schemas.openxmlformats.org/drawingml/2006/main">
            <a:off x="8048625" y="2257425"/>
            <a:ext cx="3028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Completed</a:t>
            </a:r>
          </a:p>
        </p:txBody>
      </p:sp>
      <p:sp>
        <p:nvSpPr>
          <p:cNvPr id="9" name="">
            <a:extLst xmlns:a="http://schemas.openxmlformats.org/drawingml/2006/main">
              <a:ext uri="{FF2B5EF4-FFF2-40B4-BE49-F238E27FC236}">
                <a16:creationId xmlns:a16="http://schemas.microsoft.com/office/drawing/2014/main" id="{C5023BD8-4568-4BD8-B170-2DB2B050E55B}"/>
              </a:ext>
            </a:extLst>
          </p:cNvPr>
          <p:cNvSpPr>
            <a:spLocks xmlns:a="http://schemas.openxmlformats.org/drawingml/2006/main" noGrp="1"/>
          </p:cNvSpPr>
          <p:nvPr/>
        </p:nvSpPr>
        <p:spPr>
          <a:xfrm xmlns:a="http://schemas.openxmlformats.org/drawingml/2006/main">
            <a:off x="11106150" y="22574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50</a:t>
            </a:r>
          </a:p>
        </p:txBody>
      </p:sp>
      <p:sp>
        <p:nvSpPr>
          <p:cNvPr id="10" name="">
            <a:extLst xmlns:a="http://schemas.openxmlformats.org/drawingml/2006/main">
              <a:ext uri="{FF2B5EF4-FFF2-40B4-BE49-F238E27FC236}">
                <a16:creationId xmlns:a16="http://schemas.microsoft.com/office/drawing/2014/main" id="{5F985E81-CABD-4625-88A3-ED99819F1A30}"/>
              </a:ext>
            </a:extLst>
          </p:cNvPr>
          <p:cNvSpPr>
            <a:spLocks xmlns:a="http://schemas.openxmlformats.org/drawingml/2006/main" noGrp="1"/>
          </p:cNvSpPr>
          <p:nvPr/>
        </p:nvSpPr>
        <p:spPr>
          <a:xfrm xmlns:a="http://schemas.openxmlformats.org/drawingml/2006/main">
            <a:off x="8048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58FC66F-1EC8-4582-8FE5-38C86F9962E2}"/>
              </a:ext>
            </a:extLst>
          </p:cNvPr>
          <p:cNvSpPr>
            <a:spLocks xmlns:a="http://schemas.openxmlformats.org/drawingml/2006/main" noGrp="1"/>
          </p:cNvSpPr>
          <p:nvPr/>
        </p:nvSpPr>
        <p:spPr>
          <a:xfrm xmlns:a="http://schemas.openxmlformats.org/drawingml/2006/main">
            <a:off x="8096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FE89869-3E12-4064-8963-263C8015AA8E}"/>
              </a:ext>
            </a:extLst>
          </p:cNvPr>
          <p:cNvSpPr>
            <a:spLocks xmlns:a="http://schemas.openxmlformats.org/drawingml/2006/main" noGrp="1"/>
          </p:cNvSpPr>
          <p:nvPr/>
        </p:nvSpPr>
        <p:spPr>
          <a:xfrm xmlns:a="http://schemas.openxmlformats.org/drawingml/2006/main">
            <a:off x="81438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B8D7D5B-EBE7-4C31-8D09-1281E37916F9}"/>
              </a:ext>
            </a:extLst>
          </p:cNvPr>
          <p:cNvSpPr>
            <a:spLocks xmlns:a="http://schemas.openxmlformats.org/drawingml/2006/main" noGrp="1"/>
          </p:cNvSpPr>
          <p:nvPr/>
        </p:nvSpPr>
        <p:spPr>
          <a:xfrm xmlns:a="http://schemas.openxmlformats.org/drawingml/2006/main">
            <a:off x="81915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A9125251-FEDA-4FD2-937F-4696A192678E}"/>
              </a:ext>
            </a:extLst>
          </p:cNvPr>
          <p:cNvSpPr>
            <a:spLocks xmlns:a="http://schemas.openxmlformats.org/drawingml/2006/main" noGrp="1"/>
          </p:cNvSpPr>
          <p:nvPr/>
        </p:nvSpPr>
        <p:spPr>
          <a:xfrm xmlns:a="http://schemas.openxmlformats.org/drawingml/2006/main">
            <a:off x="82391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EC316DAD-C6AA-4654-A1F4-E996553DE864}"/>
              </a:ext>
            </a:extLst>
          </p:cNvPr>
          <p:cNvSpPr>
            <a:spLocks xmlns:a="http://schemas.openxmlformats.org/drawingml/2006/main" noGrp="1"/>
          </p:cNvSpPr>
          <p:nvPr/>
        </p:nvSpPr>
        <p:spPr>
          <a:xfrm xmlns:a="http://schemas.openxmlformats.org/drawingml/2006/main">
            <a:off x="82867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F4B1F16-4A77-45CA-8F85-2F6C7474B928}"/>
              </a:ext>
            </a:extLst>
          </p:cNvPr>
          <p:cNvSpPr>
            <a:spLocks xmlns:a="http://schemas.openxmlformats.org/drawingml/2006/main" noGrp="1"/>
          </p:cNvSpPr>
          <p:nvPr/>
        </p:nvSpPr>
        <p:spPr>
          <a:xfrm xmlns:a="http://schemas.openxmlformats.org/drawingml/2006/main">
            <a:off x="83343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CF6A0F15-04A6-4A1F-9B35-EE9AAB735E2E}"/>
              </a:ext>
            </a:extLst>
          </p:cNvPr>
          <p:cNvSpPr>
            <a:spLocks xmlns:a="http://schemas.openxmlformats.org/drawingml/2006/main" noGrp="1"/>
          </p:cNvSpPr>
          <p:nvPr/>
        </p:nvSpPr>
        <p:spPr>
          <a:xfrm xmlns:a="http://schemas.openxmlformats.org/drawingml/2006/main">
            <a:off x="83820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957877EF-2265-437B-A44C-A13539A91949}"/>
              </a:ext>
            </a:extLst>
          </p:cNvPr>
          <p:cNvSpPr>
            <a:spLocks xmlns:a="http://schemas.openxmlformats.org/drawingml/2006/main" noGrp="1"/>
          </p:cNvSpPr>
          <p:nvPr/>
        </p:nvSpPr>
        <p:spPr>
          <a:xfrm xmlns:a="http://schemas.openxmlformats.org/drawingml/2006/main">
            <a:off x="8429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0314D8B-31A1-47ED-8146-784DA978DA88}"/>
              </a:ext>
            </a:extLst>
          </p:cNvPr>
          <p:cNvSpPr>
            <a:spLocks xmlns:a="http://schemas.openxmlformats.org/drawingml/2006/main" noGrp="1"/>
          </p:cNvSpPr>
          <p:nvPr/>
        </p:nvSpPr>
        <p:spPr>
          <a:xfrm xmlns:a="http://schemas.openxmlformats.org/drawingml/2006/main">
            <a:off x="8477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3E0EAC0F-DCD5-4CEA-8092-D6D219AA1527}"/>
              </a:ext>
            </a:extLst>
          </p:cNvPr>
          <p:cNvSpPr>
            <a:spLocks xmlns:a="http://schemas.openxmlformats.org/drawingml/2006/main" noGrp="1"/>
          </p:cNvSpPr>
          <p:nvPr/>
        </p:nvSpPr>
        <p:spPr>
          <a:xfrm xmlns:a="http://schemas.openxmlformats.org/drawingml/2006/main">
            <a:off x="85248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A1B4B9D-741F-44D5-B5D9-962E59396B2A}"/>
              </a:ext>
            </a:extLst>
          </p:cNvPr>
          <p:cNvSpPr>
            <a:spLocks xmlns:a="http://schemas.openxmlformats.org/drawingml/2006/main" noGrp="1"/>
          </p:cNvSpPr>
          <p:nvPr/>
        </p:nvSpPr>
        <p:spPr>
          <a:xfrm xmlns:a="http://schemas.openxmlformats.org/drawingml/2006/main">
            <a:off x="85725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1D642F1F-27C8-4F31-A10C-97691BC4A718}"/>
              </a:ext>
            </a:extLst>
          </p:cNvPr>
          <p:cNvSpPr>
            <a:spLocks xmlns:a="http://schemas.openxmlformats.org/drawingml/2006/main" noGrp="1"/>
          </p:cNvSpPr>
          <p:nvPr/>
        </p:nvSpPr>
        <p:spPr>
          <a:xfrm xmlns:a="http://schemas.openxmlformats.org/drawingml/2006/main">
            <a:off x="86201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5221B389-F951-4D29-BA38-AE5A857FD7CF}"/>
              </a:ext>
            </a:extLst>
          </p:cNvPr>
          <p:cNvSpPr>
            <a:spLocks xmlns:a="http://schemas.openxmlformats.org/drawingml/2006/main" noGrp="1"/>
          </p:cNvSpPr>
          <p:nvPr/>
        </p:nvSpPr>
        <p:spPr>
          <a:xfrm xmlns:a="http://schemas.openxmlformats.org/drawingml/2006/main">
            <a:off x="86677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1AD32739-DA90-437B-9A84-00BAE9222DEE}"/>
              </a:ext>
            </a:extLst>
          </p:cNvPr>
          <p:cNvSpPr>
            <a:spLocks xmlns:a="http://schemas.openxmlformats.org/drawingml/2006/main" noGrp="1"/>
          </p:cNvSpPr>
          <p:nvPr/>
        </p:nvSpPr>
        <p:spPr>
          <a:xfrm xmlns:a="http://schemas.openxmlformats.org/drawingml/2006/main">
            <a:off x="87153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CE844B71-3933-42B1-AEE1-2C8E7D10A105}"/>
              </a:ext>
            </a:extLst>
          </p:cNvPr>
          <p:cNvSpPr>
            <a:spLocks xmlns:a="http://schemas.openxmlformats.org/drawingml/2006/main" noGrp="1"/>
          </p:cNvSpPr>
          <p:nvPr/>
        </p:nvSpPr>
        <p:spPr>
          <a:xfrm xmlns:a="http://schemas.openxmlformats.org/drawingml/2006/main">
            <a:off x="87630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060E3B9D-39A0-4B67-93B3-4BCE73892B01}"/>
              </a:ext>
            </a:extLst>
          </p:cNvPr>
          <p:cNvSpPr>
            <a:spLocks xmlns:a="http://schemas.openxmlformats.org/drawingml/2006/main" noGrp="1"/>
          </p:cNvSpPr>
          <p:nvPr/>
        </p:nvSpPr>
        <p:spPr>
          <a:xfrm xmlns:a="http://schemas.openxmlformats.org/drawingml/2006/main">
            <a:off x="8810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CF44BA56-8F5B-4D87-88FE-3E969740194E}"/>
              </a:ext>
            </a:extLst>
          </p:cNvPr>
          <p:cNvSpPr>
            <a:spLocks xmlns:a="http://schemas.openxmlformats.org/drawingml/2006/main" noGrp="1"/>
          </p:cNvSpPr>
          <p:nvPr/>
        </p:nvSpPr>
        <p:spPr>
          <a:xfrm xmlns:a="http://schemas.openxmlformats.org/drawingml/2006/main">
            <a:off x="8858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84CA20BA-7149-4805-9C07-7ECBFFA6FEF8}"/>
              </a:ext>
            </a:extLst>
          </p:cNvPr>
          <p:cNvSpPr>
            <a:spLocks xmlns:a="http://schemas.openxmlformats.org/drawingml/2006/main" noGrp="1"/>
          </p:cNvSpPr>
          <p:nvPr/>
        </p:nvSpPr>
        <p:spPr>
          <a:xfrm xmlns:a="http://schemas.openxmlformats.org/drawingml/2006/main">
            <a:off x="89058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6D77BB02-BB4A-4DDF-A680-C1922C06DC13}"/>
              </a:ext>
            </a:extLst>
          </p:cNvPr>
          <p:cNvSpPr>
            <a:spLocks xmlns:a="http://schemas.openxmlformats.org/drawingml/2006/main" noGrp="1"/>
          </p:cNvSpPr>
          <p:nvPr/>
        </p:nvSpPr>
        <p:spPr>
          <a:xfrm xmlns:a="http://schemas.openxmlformats.org/drawingml/2006/main">
            <a:off x="89535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9C16171C-62DF-4634-A635-003423B9066D}"/>
              </a:ext>
            </a:extLst>
          </p:cNvPr>
          <p:cNvSpPr>
            <a:spLocks xmlns:a="http://schemas.openxmlformats.org/drawingml/2006/main" noGrp="1"/>
          </p:cNvSpPr>
          <p:nvPr/>
        </p:nvSpPr>
        <p:spPr>
          <a:xfrm xmlns:a="http://schemas.openxmlformats.org/drawingml/2006/main">
            <a:off x="90011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9B4A16F4-3E37-44FE-9C87-D2F2DAAA51A5}"/>
              </a:ext>
            </a:extLst>
          </p:cNvPr>
          <p:cNvSpPr>
            <a:spLocks xmlns:a="http://schemas.openxmlformats.org/drawingml/2006/main" noGrp="1"/>
          </p:cNvSpPr>
          <p:nvPr/>
        </p:nvSpPr>
        <p:spPr>
          <a:xfrm xmlns:a="http://schemas.openxmlformats.org/drawingml/2006/main">
            <a:off x="90487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8E1D2D9-9C66-4165-BA8B-FEED91259580}"/>
              </a:ext>
            </a:extLst>
          </p:cNvPr>
          <p:cNvSpPr>
            <a:spLocks xmlns:a="http://schemas.openxmlformats.org/drawingml/2006/main" noGrp="1"/>
          </p:cNvSpPr>
          <p:nvPr/>
        </p:nvSpPr>
        <p:spPr>
          <a:xfrm xmlns:a="http://schemas.openxmlformats.org/drawingml/2006/main">
            <a:off x="90963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3" name="">
            <a:extLst xmlns:a="http://schemas.openxmlformats.org/drawingml/2006/main">
              <a:ext uri="{FF2B5EF4-FFF2-40B4-BE49-F238E27FC236}">
                <a16:creationId xmlns:a16="http://schemas.microsoft.com/office/drawing/2014/main" id="{EACD4DD3-6AA0-4CDA-9FC6-32D4D958D90D}"/>
              </a:ext>
            </a:extLst>
          </p:cNvPr>
          <p:cNvSpPr>
            <a:spLocks xmlns:a="http://schemas.openxmlformats.org/drawingml/2006/main" noGrp="1"/>
          </p:cNvSpPr>
          <p:nvPr/>
        </p:nvSpPr>
        <p:spPr>
          <a:xfrm xmlns:a="http://schemas.openxmlformats.org/drawingml/2006/main">
            <a:off x="91440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BF7977BB-AFCB-45EF-BB19-63DD3FC26537}"/>
              </a:ext>
            </a:extLst>
          </p:cNvPr>
          <p:cNvSpPr>
            <a:spLocks xmlns:a="http://schemas.openxmlformats.org/drawingml/2006/main" noGrp="1"/>
          </p:cNvSpPr>
          <p:nvPr/>
        </p:nvSpPr>
        <p:spPr>
          <a:xfrm xmlns:a="http://schemas.openxmlformats.org/drawingml/2006/main">
            <a:off x="9191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547E5ED8-DF3C-4240-8648-3CFA23E82F8E}"/>
              </a:ext>
            </a:extLst>
          </p:cNvPr>
          <p:cNvSpPr>
            <a:spLocks xmlns:a="http://schemas.openxmlformats.org/drawingml/2006/main" noGrp="1"/>
          </p:cNvSpPr>
          <p:nvPr/>
        </p:nvSpPr>
        <p:spPr>
          <a:xfrm xmlns:a="http://schemas.openxmlformats.org/drawingml/2006/main">
            <a:off x="9239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6" name="">
            <a:extLst xmlns:a="http://schemas.openxmlformats.org/drawingml/2006/main">
              <a:ext uri="{FF2B5EF4-FFF2-40B4-BE49-F238E27FC236}">
                <a16:creationId xmlns:a16="http://schemas.microsoft.com/office/drawing/2014/main" id="{09A37DC4-6F38-46C2-99EE-501C77D59A62}"/>
              </a:ext>
            </a:extLst>
          </p:cNvPr>
          <p:cNvSpPr>
            <a:spLocks xmlns:a="http://schemas.openxmlformats.org/drawingml/2006/main" noGrp="1"/>
          </p:cNvSpPr>
          <p:nvPr/>
        </p:nvSpPr>
        <p:spPr>
          <a:xfrm xmlns:a="http://schemas.openxmlformats.org/drawingml/2006/main">
            <a:off x="92868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425F6DD4-2CB5-4161-89DF-B3D7DE3CBF51}"/>
              </a:ext>
            </a:extLst>
          </p:cNvPr>
          <p:cNvSpPr>
            <a:spLocks xmlns:a="http://schemas.openxmlformats.org/drawingml/2006/main" noGrp="1"/>
          </p:cNvSpPr>
          <p:nvPr/>
        </p:nvSpPr>
        <p:spPr>
          <a:xfrm xmlns:a="http://schemas.openxmlformats.org/drawingml/2006/main">
            <a:off x="93345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475E716-E8DC-4743-957A-7F1FCAB07071}"/>
              </a:ext>
            </a:extLst>
          </p:cNvPr>
          <p:cNvSpPr>
            <a:spLocks xmlns:a="http://schemas.openxmlformats.org/drawingml/2006/main" noGrp="1"/>
          </p:cNvSpPr>
          <p:nvPr/>
        </p:nvSpPr>
        <p:spPr>
          <a:xfrm xmlns:a="http://schemas.openxmlformats.org/drawingml/2006/main">
            <a:off x="93821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39" name="">
            <a:extLst xmlns:a="http://schemas.openxmlformats.org/drawingml/2006/main">
              <a:ext uri="{FF2B5EF4-FFF2-40B4-BE49-F238E27FC236}">
                <a16:creationId xmlns:a16="http://schemas.microsoft.com/office/drawing/2014/main" id="{7E93DB48-1D02-4420-87AF-C015C720604D}"/>
              </a:ext>
            </a:extLst>
          </p:cNvPr>
          <p:cNvSpPr>
            <a:spLocks xmlns:a="http://schemas.openxmlformats.org/drawingml/2006/main" noGrp="1"/>
          </p:cNvSpPr>
          <p:nvPr/>
        </p:nvSpPr>
        <p:spPr>
          <a:xfrm xmlns:a="http://schemas.openxmlformats.org/drawingml/2006/main">
            <a:off x="94297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0" name="">
            <a:extLst xmlns:a="http://schemas.openxmlformats.org/drawingml/2006/main">
              <a:ext uri="{FF2B5EF4-FFF2-40B4-BE49-F238E27FC236}">
                <a16:creationId xmlns:a16="http://schemas.microsoft.com/office/drawing/2014/main" id="{FAB48741-9C75-42EC-B301-D03697A4282B}"/>
              </a:ext>
            </a:extLst>
          </p:cNvPr>
          <p:cNvSpPr>
            <a:spLocks xmlns:a="http://schemas.openxmlformats.org/drawingml/2006/main" noGrp="1"/>
          </p:cNvSpPr>
          <p:nvPr/>
        </p:nvSpPr>
        <p:spPr>
          <a:xfrm xmlns:a="http://schemas.openxmlformats.org/drawingml/2006/main">
            <a:off x="94773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9D74175D-AD59-4F25-8EFD-102AAA6BFFF7}"/>
              </a:ext>
            </a:extLst>
          </p:cNvPr>
          <p:cNvSpPr>
            <a:spLocks xmlns:a="http://schemas.openxmlformats.org/drawingml/2006/main" noGrp="1"/>
          </p:cNvSpPr>
          <p:nvPr/>
        </p:nvSpPr>
        <p:spPr>
          <a:xfrm xmlns:a="http://schemas.openxmlformats.org/drawingml/2006/main">
            <a:off x="95250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05322A3C-DCBA-4C9F-A136-54B9CE045BF7}"/>
              </a:ext>
            </a:extLst>
          </p:cNvPr>
          <p:cNvSpPr>
            <a:spLocks xmlns:a="http://schemas.openxmlformats.org/drawingml/2006/main" noGrp="1"/>
          </p:cNvSpPr>
          <p:nvPr/>
        </p:nvSpPr>
        <p:spPr>
          <a:xfrm xmlns:a="http://schemas.openxmlformats.org/drawingml/2006/main">
            <a:off x="9572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59281314-33B3-4FC0-A795-84591B20D094}"/>
              </a:ext>
            </a:extLst>
          </p:cNvPr>
          <p:cNvSpPr>
            <a:spLocks xmlns:a="http://schemas.openxmlformats.org/drawingml/2006/main" noGrp="1"/>
          </p:cNvSpPr>
          <p:nvPr/>
        </p:nvSpPr>
        <p:spPr>
          <a:xfrm xmlns:a="http://schemas.openxmlformats.org/drawingml/2006/main">
            <a:off x="9620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4" name="">
            <a:extLst xmlns:a="http://schemas.openxmlformats.org/drawingml/2006/main">
              <a:ext uri="{FF2B5EF4-FFF2-40B4-BE49-F238E27FC236}">
                <a16:creationId xmlns:a16="http://schemas.microsoft.com/office/drawing/2014/main" id="{8424529A-8ED5-4BE5-9C42-D0A943D61C52}"/>
              </a:ext>
            </a:extLst>
          </p:cNvPr>
          <p:cNvSpPr>
            <a:spLocks xmlns:a="http://schemas.openxmlformats.org/drawingml/2006/main" noGrp="1"/>
          </p:cNvSpPr>
          <p:nvPr/>
        </p:nvSpPr>
        <p:spPr>
          <a:xfrm xmlns:a="http://schemas.openxmlformats.org/drawingml/2006/main">
            <a:off x="96678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3733C57D-4157-46C8-816A-452E3BF28D9D}"/>
              </a:ext>
            </a:extLst>
          </p:cNvPr>
          <p:cNvSpPr>
            <a:spLocks xmlns:a="http://schemas.openxmlformats.org/drawingml/2006/main" noGrp="1"/>
          </p:cNvSpPr>
          <p:nvPr/>
        </p:nvSpPr>
        <p:spPr>
          <a:xfrm xmlns:a="http://schemas.openxmlformats.org/drawingml/2006/main">
            <a:off x="97155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564EF6C1-B080-4899-A2B3-FD5A1F9C8794}"/>
              </a:ext>
            </a:extLst>
          </p:cNvPr>
          <p:cNvSpPr>
            <a:spLocks xmlns:a="http://schemas.openxmlformats.org/drawingml/2006/main" noGrp="1"/>
          </p:cNvSpPr>
          <p:nvPr/>
        </p:nvSpPr>
        <p:spPr>
          <a:xfrm xmlns:a="http://schemas.openxmlformats.org/drawingml/2006/main">
            <a:off x="97631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8C5E5687-0AE6-4FC3-A14A-E2725C94D4A7}"/>
              </a:ext>
            </a:extLst>
          </p:cNvPr>
          <p:cNvSpPr>
            <a:spLocks xmlns:a="http://schemas.openxmlformats.org/drawingml/2006/main" noGrp="1"/>
          </p:cNvSpPr>
          <p:nvPr/>
        </p:nvSpPr>
        <p:spPr>
          <a:xfrm xmlns:a="http://schemas.openxmlformats.org/drawingml/2006/main">
            <a:off x="98107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2F5C1696-BFE9-4335-9173-538ABF01CCC0}"/>
              </a:ext>
            </a:extLst>
          </p:cNvPr>
          <p:cNvSpPr>
            <a:spLocks xmlns:a="http://schemas.openxmlformats.org/drawingml/2006/main" noGrp="1"/>
          </p:cNvSpPr>
          <p:nvPr/>
        </p:nvSpPr>
        <p:spPr>
          <a:xfrm xmlns:a="http://schemas.openxmlformats.org/drawingml/2006/main">
            <a:off x="98583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934D97CC-FE3C-4F36-A764-1022BA1BDC5E}"/>
              </a:ext>
            </a:extLst>
          </p:cNvPr>
          <p:cNvSpPr>
            <a:spLocks xmlns:a="http://schemas.openxmlformats.org/drawingml/2006/main" noGrp="1"/>
          </p:cNvSpPr>
          <p:nvPr/>
        </p:nvSpPr>
        <p:spPr>
          <a:xfrm xmlns:a="http://schemas.openxmlformats.org/drawingml/2006/main">
            <a:off x="99060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DFE2A59D-B5D5-4FE9-9DE2-0A95A5608BE8}"/>
              </a:ext>
            </a:extLst>
          </p:cNvPr>
          <p:cNvSpPr>
            <a:spLocks xmlns:a="http://schemas.openxmlformats.org/drawingml/2006/main" noGrp="1"/>
          </p:cNvSpPr>
          <p:nvPr/>
        </p:nvSpPr>
        <p:spPr>
          <a:xfrm xmlns:a="http://schemas.openxmlformats.org/drawingml/2006/main">
            <a:off x="9953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1" name="">
            <a:extLst xmlns:a="http://schemas.openxmlformats.org/drawingml/2006/main">
              <a:ext uri="{FF2B5EF4-FFF2-40B4-BE49-F238E27FC236}">
                <a16:creationId xmlns:a16="http://schemas.microsoft.com/office/drawing/2014/main" id="{CADA1038-E3DC-4925-8666-4C037A76DDC3}"/>
              </a:ext>
            </a:extLst>
          </p:cNvPr>
          <p:cNvSpPr>
            <a:spLocks xmlns:a="http://schemas.openxmlformats.org/drawingml/2006/main" noGrp="1"/>
          </p:cNvSpPr>
          <p:nvPr/>
        </p:nvSpPr>
        <p:spPr>
          <a:xfrm xmlns:a="http://schemas.openxmlformats.org/drawingml/2006/main">
            <a:off x="10001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2" name="">
            <a:extLst xmlns:a="http://schemas.openxmlformats.org/drawingml/2006/main">
              <a:ext uri="{FF2B5EF4-FFF2-40B4-BE49-F238E27FC236}">
                <a16:creationId xmlns:a16="http://schemas.microsoft.com/office/drawing/2014/main" id="{C4D9E714-4B3D-4568-94F4-826DFCA00F17}"/>
              </a:ext>
            </a:extLst>
          </p:cNvPr>
          <p:cNvSpPr>
            <a:spLocks xmlns:a="http://schemas.openxmlformats.org/drawingml/2006/main" noGrp="1"/>
          </p:cNvSpPr>
          <p:nvPr/>
        </p:nvSpPr>
        <p:spPr>
          <a:xfrm xmlns:a="http://schemas.openxmlformats.org/drawingml/2006/main">
            <a:off x="100488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3" name="">
            <a:extLst xmlns:a="http://schemas.openxmlformats.org/drawingml/2006/main">
              <a:ext uri="{FF2B5EF4-FFF2-40B4-BE49-F238E27FC236}">
                <a16:creationId xmlns:a16="http://schemas.microsoft.com/office/drawing/2014/main" id="{E58B7D69-8D51-4680-9201-5A9ED3F77A52}"/>
              </a:ext>
            </a:extLst>
          </p:cNvPr>
          <p:cNvSpPr>
            <a:spLocks xmlns:a="http://schemas.openxmlformats.org/drawingml/2006/main" noGrp="1"/>
          </p:cNvSpPr>
          <p:nvPr/>
        </p:nvSpPr>
        <p:spPr>
          <a:xfrm xmlns:a="http://schemas.openxmlformats.org/drawingml/2006/main">
            <a:off x="100965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4" name="">
            <a:extLst xmlns:a="http://schemas.openxmlformats.org/drawingml/2006/main">
              <a:ext uri="{FF2B5EF4-FFF2-40B4-BE49-F238E27FC236}">
                <a16:creationId xmlns:a16="http://schemas.microsoft.com/office/drawing/2014/main" id="{8A91A0D8-2489-46BA-BB08-B12F612E1398}"/>
              </a:ext>
            </a:extLst>
          </p:cNvPr>
          <p:cNvSpPr>
            <a:spLocks xmlns:a="http://schemas.openxmlformats.org/drawingml/2006/main" noGrp="1"/>
          </p:cNvSpPr>
          <p:nvPr/>
        </p:nvSpPr>
        <p:spPr>
          <a:xfrm xmlns:a="http://schemas.openxmlformats.org/drawingml/2006/main">
            <a:off x="101441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BB205E08-6C3D-4398-828F-C16A2DF51179}"/>
              </a:ext>
            </a:extLst>
          </p:cNvPr>
          <p:cNvSpPr>
            <a:spLocks xmlns:a="http://schemas.openxmlformats.org/drawingml/2006/main" noGrp="1"/>
          </p:cNvSpPr>
          <p:nvPr/>
        </p:nvSpPr>
        <p:spPr>
          <a:xfrm xmlns:a="http://schemas.openxmlformats.org/drawingml/2006/main">
            <a:off x="101917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6" name="">
            <a:extLst xmlns:a="http://schemas.openxmlformats.org/drawingml/2006/main">
              <a:ext uri="{FF2B5EF4-FFF2-40B4-BE49-F238E27FC236}">
                <a16:creationId xmlns:a16="http://schemas.microsoft.com/office/drawing/2014/main" id="{13B4DBEF-6806-4AE2-AAE9-7B0D5A9E9D33}"/>
              </a:ext>
            </a:extLst>
          </p:cNvPr>
          <p:cNvSpPr>
            <a:spLocks xmlns:a="http://schemas.openxmlformats.org/drawingml/2006/main" noGrp="1"/>
          </p:cNvSpPr>
          <p:nvPr/>
        </p:nvSpPr>
        <p:spPr>
          <a:xfrm xmlns:a="http://schemas.openxmlformats.org/drawingml/2006/main">
            <a:off x="1023937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7" name="">
            <a:extLst xmlns:a="http://schemas.openxmlformats.org/drawingml/2006/main">
              <a:ext uri="{FF2B5EF4-FFF2-40B4-BE49-F238E27FC236}">
                <a16:creationId xmlns:a16="http://schemas.microsoft.com/office/drawing/2014/main" id="{2795F8D9-3695-4F56-A91E-5E13AA9D193A}"/>
              </a:ext>
            </a:extLst>
          </p:cNvPr>
          <p:cNvSpPr>
            <a:spLocks xmlns:a="http://schemas.openxmlformats.org/drawingml/2006/main" noGrp="1"/>
          </p:cNvSpPr>
          <p:nvPr/>
        </p:nvSpPr>
        <p:spPr>
          <a:xfrm xmlns:a="http://schemas.openxmlformats.org/drawingml/2006/main">
            <a:off x="1028700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8" name="">
            <a:extLst xmlns:a="http://schemas.openxmlformats.org/drawingml/2006/main">
              <a:ext uri="{FF2B5EF4-FFF2-40B4-BE49-F238E27FC236}">
                <a16:creationId xmlns:a16="http://schemas.microsoft.com/office/drawing/2014/main" id="{558792A5-F4B5-4D59-B753-0D800B7757D3}"/>
              </a:ext>
            </a:extLst>
          </p:cNvPr>
          <p:cNvSpPr>
            <a:spLocks xmlns:a="http://schemas.openxmlformats.org/drawingml/2006/main" noGrp="1"/>
          </p:cNvSpPr>
          <p:nvPr/>
        </p:nvSpPr>
        <p:spPr>
          <a:xfrm xmlns:a="http://schemas.openxmlformats.org/drawingml/2006/main">
            <a:off x="10334625"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59" name="">
            <a:extLst xmlns:a="http://schemas.openxmlformats.org/drawingml/2006/main">
              <a:ext uri="{FF2B5EF4-FFF2-40B4-BE49-F238E27FC236}">
                <a16:creationId xmlns:a16="http://schemas.microsoft.com/office/drawing/2014/main" id="{DD6CD6E6-B3F0-46A0-9222-CCC88DA08D02}"/>
              </a:ext>
            </a:extLst>
          </p:cNvPr>
          <p:cNvSpPr>
            <a:spLocks xmlns:a="http://schemas.openxmlformats.org/drawingml/2006/main" noGrp="1"/>
          </p:cNvSpPr>
          <p:nvPr/>
        </p:nvSpPr>
        <p:spPr>
          <a:xfrm xmlns:a="http://schemas.openxmlformats.org/drawingml/2006/main">
            <a:off x="10382250" y="2552700"/>
            <a:ext cx="33338" cy="33338"/>
          </a:xfrm>
          <a:prstGeom xmlns:a="http://schemas.openxmlformats.org/drawingml/2006/main" prst="ellipse">
            <a:avLst/>
          </a:prstGeom>
          <a:solidFill xmlns:a="http://schemas.openxmlformats.org/drawingml/2006/main">
            <a:srgbClr val="087F68"/>
          </a:solidFill>
          <a:ln xmlns:a="http://schemas.openxmlformats.org/drawingml/2006/main" w="0">
            <a:noFill/>
          </a:ln>
        </p:spPr>
      </p:sp>
      <p:sp>
        <p:nvSpPr>
          <p:cNvPr id="60" name="">
            <a:extLst xmlns:a="http://schemas.openxmlformats.org/drawingml/2006/main">
              <a:ext uri="{FF2B5EF4-FFF2-40B4-BE49-F238E27FC236}">
                <a16:creationId xmlns:a16="http://schemas.microsoft.com/office/drawing/2014/main" id="{5437B21E-4266-4E6C-A535-278D6A433078}"/>
              </a:ext>
            </a:extLst>
          </p:cNvPr>
          <p:cNvSpPr>
            <a:spLocks xmlns:a="http://schemas.openxmlformats.org/drawingml/2006/main" noGrp="1"/>
          </p:cNvSpPr>
          <p:nvPr/>
        </p:nvSpPr>
        <p:spPr>
          <a:xfrm xmlns:a="http://schemas.openxmlformats.org/drawingml/2006/main">
            <a:off x="7905750" y="2752725"/>
            <a:ext cx="3810000" cy="457200"/>
          </a:xfrm>
          <a:prstGeom xmlns:a="http://schemas.openxmlformats.org/drawingml/2006/main" prst="roundRect">
            <a:avLst>
              <a:gd name="adj" fmla="val 25000"/>
            </a:avLst>
          </a:prstGeom>
          <a:solidFill xmlns:a="http://schemas.openxmlformats.org/drawingml/2006/main">
            <a:srgbClr val="E8F3FB"/>
          </a:solidFill>
          <a:ln xmlns:a="http://schemas.openxmlformats.org/drawingml/2006/main" w="0">
            <a:noFill/>
          </a:ln>
        </p:spPr>
      </p:sp>
      <p:sp>
        <p:nvSpPr>
          <p:cNvPr id="61" name="">
            <a:extLst xmlns:a="http://schemas.openxmlformats.org/drawingml/2006/main">
              <a:ext uri="{FF2B5EF4-FFF2-40B4-BE49-F238E27FC236}">
                <a16:creationId xmlns:a16="http://schemas.microsoft.com/office/drawing/2014/main" id="{8DCF2891-F753-41B4-B2E1-1AEB9FB113C6}"/>
              </a:ext>
            </a:extLst>
          </p:cNvPr>
          <p:cNvSpPr>
            <a:spLocks xmlns:a="http://schemas.openxmlformats.org/drawingml/2006/main" noGrp="1"/>
          </p:cNvSpPr>
          <p:nvPr/>
        </p:nvSpPr>
        <p:spPr>
          <a:xfrm xmlns:a="http://schemas.openxmlformats.org/drawingml/2006/main">
            <a:off x="8048625" y="2781300"/>
            <a:ext cx="3028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In progress</a:t>
            </a:r>
          </a:p>
        </p:txBody>
      </p:sp>
      <p:sp>
        <p:nvSpPr>
          <p:cNvPr id="62" name="">
            <a:extLst xmlns:a="http://schemas.openxmlformats.org/drawingml/2006/main">
              <a:ext uri="{FF2B5EF4-FFF2-40B4-BE49-F238E27FC236}">
                <a16:creationId xmlns:a16="http://schemas.microsoft.com/office/drawing/2014/main" id="{1AA21634-EB97-4149-987B-28CA0269DFF2}"/>
              </a:ext>
            </a:extLst>
          </p:cNvPr>
          <p:cNvSpPr>
            <a:spLocks xmlns:a="http://schemas.openxmlformats.org/drawingml/2006/main" noGrp="1"/>
          </p:cNvSpPr>
          <p:nvPr/>
        </p:nvSpPr>
        <p:spPr>
          <a:xfrm xmlns:a="http://schemas.openxmlformats.org/drawingml/2006/main">
            <a:off x="11106150" y="278130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29</a:t>
            </a:r>
          </a:p>
        </p:txBody>
      </p:sp>
      <p:sp>
        <p:nvSpPr>
          <p:cNvPr id="63" name="">
            <a:extLst xmlns:a="http://schemas.openxmlformats.org/drawingml/2006/main">
              <a:ext uri="{FF2B5EF4-FFF2-40B4-BE49-F238E27FC236}">
                <a16:creationId xmlns:a16="http://schemas.microsoft.com/office/drawing/2014/main" id="{C91E0BAA-1796-4B50-9D37-D7835AE3EBBD}"/>
              </a:ext>
            </a:extLst>
          </p:cNvPr>
          <p:cNvSpPr>
            <a:spLocks xmlns:a="http://schemas.openxmlformats.org/drawingml/2006/main" noGrp="1"/>
          </p:cNvSpPr>
          <p:nvPr/>
        </p:nvSpPr>
        <p:spPr>
          <a:xfrm xmlns:a="http://schemas.openxmlformats.org/drawingml/2006/main">
            <a:off x="80486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4" name="">
            <a:extLst xmlns:a="http://schemas.openxmlformats.org/drawingml/2006/main">
              <a:ext uri="{FF2B5EF4-FFF2-40B4-BE49-F238E27FC236}">
                <a16:creationId xmlns:a16="http://schemas.microsoft.com/office/drawing/2014/main" id="{FCA5CA7F-3316-46DC-8392-2AC1CD928252}"/>
              </a:ext>
            </a:extLst>
          </p:cNvPr>
          <p:cNvSpPr>
            <a:spLocks xmlns:a="http://schemas.openxmlformats.org/drawingml/2006/main" noGrp="1"/>
          </p:cNvSpPr>
          <p:nvPr/>
        </p:nvSpPr>
        <p:spPr>
          <a:xfrm xmlns:a="http://schemas.openxmlformats.org/drawingml/2006/main">
            <a:off x="80962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5" name="">
            <a:extLst xmlns:a="http://schemas.openxmlformats.org/drawingml/2006/main">
              <a:ext uri="{FF2B5EF4-FFF2-40B4-BE49-F238E27FC236}">
                <a16:creationId xmlns:a16="http://schemas.microsoft.com/office/drawing/2014/main" id="{A6180374-1244-491D-8769-58667C0765F6}"/>
              </a:ext>
            </a:extLst>
          </p:cNvPr>
          <p:cNvSpPr>
            <a:spLocks xmlns:a="http://schemas.openxmlformats.org/drawingml/2006/main" noGrp="1"/>
          </p:cNvSpPr>
          <p:nvPr/>
        </p:nvSpPr>
        <p:spPr>
          <a:xfrm xmlns:a="http://schemas.openxmlformats.org/drawingml/2006/main">
            <a:off x="81438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6" name="">
            <a:extLst xmlns:a="http://schemas.openxmlformats.org/drawingml/2006/main">
              <a:ext uri="{FF2B5EF4-FFF2-40B4-BE49-F238E27FC236}">
                <a16:creationId xmlns:a16="http://schemas.microsoft.com/office/drawing/2014/main" id="{7CA0CCDF-4DA5-445C-8C31-577140C69B31}"/>
              </a:ext>
            </a:extLst>
          </p:cNvPr>
          <p:cNvSpPr>
            <a:spLocks xmlns:a="http://schemas.openxmlformats.org/drawingml/2006/main" noGrp="1"/>
          </p:cNvSpPr>
          <p:nvPr/>
        </p:nvSpPr>
        <p:spPr>
          <a:xfrm xmlns:a="http://schemas.openxmlformats.org/drawingml/2006/main">
            <a:off x="81915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7" name="">
            <a:extLst xmlns:a="http://schemas.openxmlformats.org/drawingml/2006/main">
              <a:ext uri="{FF2B5EF4-FFF2-40B4-BE49-F238E27FC236}">
                <a16:creationId xmlns:a16="http://schemas.microsoft.com/office/drawing/2014/main" id="{E100A63D-4D38-431C-8C0A-B90241C05241}"/>
              </a:ext>
            </a:extLst>
          </p:cNvPr>
          <p:cNvSpPr>
            <a:spLocks xmlns:a="http://schemas.openxmlformats.org/drawingml/2006/main" noGrp="1"/>
          </p:cNvSpPr>
          <p:nvPr/>
        </p:nvSpPr>
        <p:spPr>
          <a:xfrm xmlns:a="http://schemas.openxmlformats.org/drawingml/2006/main">
            <a:off x="82391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8" name="">
            <a:extLst xmlns:a="http://schemas.openxmlformats.org/drawingml/2006/main">
              <a:ext uri="{FF2B5EF4-FFF2-40B4-BE49-F238E27FC236}">
                <a16:creationId xmlns:a16="http://schemas.microsoft.com/office/drawing/2014/main" id="{018BFDB6-697C-4045-8FE6-CF700C3F83B6}"/>
              </a:ext>
            </a:extLst>
          </p:cNvPr>
          <p:cNvSpPr>
            <a:spLocks xmlns:a="http://schemas.openxmlformats.org/drawingml/2006/main" noGrp="1"/>
          </p:cNvSpPr>
          <p:nvPr/>
        </p:nvSpPr>
        <p:spPr>
          <a:xfrm xmlns:a="http://schemas.openxmlformats.org/drawingml/2006/main">
            <a:off x="82867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69" name="">
            <a:extLst xmlns:a="http://schemas.openxmlformats.org/drawingml/2006/main">
              <a:ext uri="{FF2B5EF4-FFF2-40B4-BE49-F238E27FC236}">
                <a16:creationId xmlns:a16="http://schemas.microsoft.com/office/drawing/2014/main" id="{6B5F3BA2-42BE-4439-B1FA-8B61B440AF89}"/>
              </a:ext>
            </a:extLst>
          </p:cNvPr>
          <p:cNvSpPr>
            <a:spLocks xmlns:a="http://schemas.openxmlformats.org/drawingml/2006/main" noGrp="1"/>
          </p:cNvSpPr>
          <p:nvPr/>
        </p:nvSpPr>
        <p:spPr>
          <a:xfrm xmlns:a="http://schemas.openxmlformats.org/drawingml/2006/main">
            <a:off x="83343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0" name="">
            <a:extLst xmlns:a="http://schemas.openxmlformats.org/drawingml/2006/main">
              <a:ext uri="{FF2B5EF4-FFF2-40B4-BE49-F238E27FC236}">
                <a16:creationId xmlns:a16="http://schemas.microsoft.com/office/drawing/2014/main" id="{FFCB5C24-C6A1-4707-AC1F-25D2EE5A3AAC}"/>
              </a:ext>
            </a:extLst>
          </p:cNvPr>
          <p:cNvSpPr>
            <a:spLocks xmlns:a="http://schemas.openxmlformats.org/drawingml/2006/main" noGrp="1"/>
          </p:cNvSpPr>
          <p:nvPr/>
        </p:nvSpPr>
        <p:spPr>
          <a:xfrm xmlns:a="http://schemas.openxmlformats.org/drawingml/2006/main">
            <a:off x="83820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1" name="">
            <a:extLst xmlns:a="http://schemas.openxmlformats.org/drawingml/2006/main">
              <a:ext uri="{FF2B5EF4-FFF2-40B4-BE49-F238E27FC236}">
                <a16:creationId xmlns:a16="http://schemas.microsoft.com/office/drawing/2014/main" id="{35B7FD00-8D4E-459B-8B1E-39FE13BD39F4}"/>
              </a:ext>
            </a:extLst>
          </p:cNvPr>
          <p:cNvSpPr>
            <a:spLocks xmlns:a="http://schemas.openxmlformats.org/drawingml/2006/main" noGrp="1"/>
          </p:cNvSpPr>
          <p:nvPr/>
        </p:nvSpPr>
        <p:spPr>
          <a:xfrm xmlns:a="http://schemas.openxmlformats.org/drawingml/2006/main">
            <a:off x="84296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2" name="">
            <a:extLst xmlns:a="http://schemas.openxmlformats.org/drawingml/2006/main">
              <a:ext uri="{FF2B5EF4-FFF2-40B4-BE49-F238E27FC236}">
                <a16:creationId xmlns:a16="http://schemas.microsoft.com/office/drawing/2014/main" id="{6D71F3E4-0E95-45C6-AB74-667F25DE44CD}"/>
              </a:ext>
            </a:extLst>
          </p:cNvPr>
          <p:cNvSpPr>
            <a:spLocks xmlns:a="http://schemas.openxmlformats.org/drawingml/2006/main" noGrp="1"/>
          </p:cNvSpPr>
          <p:nvPr/>
        </p:nvSpPr>
        <p:spPr>
          <a:xfrm xmlns:a="http://schemas.openxmlformats.org/drawingml/2006/main">
            <a:off x="84772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3" name="">
            <a:extLst xmlns:a="http://schemas.openxmlformats.org/drawingml/2006/main">
              <a:ext uri="{FF2B5EF4-FFF2-40B4-BE49-F238E27FC236}">
                <a16:creationId xmlns:a16="http://schemas.microsoft.com/office/drawing/2014/main" id="{02A7DE10-E95F-49C8-B65C-3BE3A78AFEC1}"/>
              </a:ext>
            </a:extLst>
          </p:cNvPr>
          <p:cNvSpPr>
            <a:spLocks xmlns:a="http://schemas.openxmlformats.org/drawingml/2006/main" noGrp="1"/>
          </p:cNvSpPr>
          <p:nvPr/>
        </p:nvSpPr>
        <p:spPr>
          <a:xfrm xmlns:a="http://schemas.openxmlformats.org/drawingml/2006/main">
            <a:off x="85248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4" name="">
            <a:extLst xmlns:a="http://schemas.openxmlformats.org/drawingml/2006/main">
              <a:ext uri="{FF2B5EF4-FFF2-40B4-BE49-F238E27FC236}">
                <a16:creationId xmlns:a16="http://schemas.microsoft.com/office/drawing/2014/main" id="{ABCE2461-60D0-4356-BBD9-641CEC1B3D05}"/>
              </a:ext>
            </a:extLst>
          </p:cNvPr>
          <p:cNvSpPr>
            <a:spLocks xmlns:a="http://schemas.openxmlformats.org/drawingml/2006/main" noGrp="1"/>
          </p:cNvSpPr>
          <p:nvPr/>
        </p:nvSpPr>
        <p:spPr>
          <a:xfrm xmlns:a="http://schemas.openxmlformats.org/drawingml/2006/main">
            <a:off x="85725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5" name="">
            <a:extLst xmlns:a="http://schemas.openxmlformats.org/drawingml/2006/main">
              <a:ext uri="{FF2B5EF4-FFF2-40B4-BE49-F238E27FC236}">
                <a16:creationId xmlns:a16="http://schemas.microsoft.com/office/drawing/2014/main" id="{493531C0-B1C4-4A77-B523-3A7AAC6C08D9}"/>
              </a:ext>
            </a:extLst>
          </p:cNvPr>
          <p:cNvSpPr>
            <a:spLocks xmlns:a="http://schemas.openxmlformats.org/drawingml/2006/main" noGrp="1"/>
          </p:cNvSpPr>
          <p:nvPr/>
        </p:nvSpPr>
        <p:spPr>
          <a:xfrm xmlns:a="http://schemas.openxmlformats.org/drawingml/2006/main">
            <a:off x="86201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6" name="">
            <a:extLst xmlns:a="http://schemas.openxmlformats.org/drawingml/2006/main">
              <a:ext uri="{FF2B5EF4-FFF2-40B4-BE49-F238E27FC236}">
                <a16:creationId xmlns:a16="http://schemas.microsoft.com/office/drawing/2014/main" id="{6A04C21C-CFCD-4471-9B08-E362A072A4C6}"/>
              </a:ext>
            </a:extLst>
          </p:cNvPr>
          <p:cNvSpPr>
            <a:spLocks xmlns:a="http://schemas.openxmlformats.org/drawingml/2006/main" noGrp="1"/>
          </p:cNvSpPr>
          <p:nvPr/>
        </p:nvSpPr>
        <p:spPr>
          <a:xfrm xmlns:a="http://schemas.openxmlformats.org/drawingml/2006/main">
            <a:off x="86677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7" name="">
            <a:extLst xmlns:a="http://schemas.openxmlformats.org/drawingml/2006/main">
              <a:ext uri="{FF2B5EF4-FFF2-40B4-BE49-F238E27FC236}">
                <a16:creationId xmlns:a16="http://schemas.microsoft.com/office/drawing/2014/main" id="{AF49A984-56A6-4480-B104-EC4699C80248}"/>
              </a:ext>
            </a:extLst>
          </p:cNvPr>
          <p:cNvSpPr>
            <a:spLocks xmlns:a="http://schemas.openxmlformats.org/drawingml/2006/main" noGrp="1"/>
          </p:cNvSpPr>
          <p:nvPr/>
        </p:nvSpPr>
        <p:spPr>
          <a:xfrm xmlns:a="http://schemas.openxmlformats.org/drawingml/2006/main">
            <a:off x="87153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8" name="">
            <a:extLst xmlns:a="http://schemas.openxmlformats.org/drawingml/2006/main">
              <a:ext uri="{FF2B5EF4-FFF2-40B4-BE49-F238E27FC236}">
                <a16:creationId xmlns:a16="http://schemas.microsoft.com/office/drawing/2014/main" id="{541E2FA1-C366-4507-BE30-811BD68C4AF1}"/>
              </a:ext>
            </a:extLst>
          </p:cNvPr>
          <p:cNvSpPr>
            <a:spLocks xmlns:a="http://schemas.openxmlformats.org/drawingml/2006/main" noGrp="1"/>
          </p:cNvSpPr>
          <p:nvPr/>
        </p:nvSpPr>
        <p:spPr>
          <a:xfrm xmlns:a="http://schemas.openxmlformats.org/drawingml/2006/main">
            <a:off x="87630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79" name="">
            <a:extLst xmlns:a="http://schemas.openxmlformats.org/drawingml/2006/main">
              <a:ext uri="{FF2B5EF4-FFF2-40B4-BE49-F238E27FC236}">
                <a16:creationId xmlns:a16="http://schemas.microsoft.com/office/drawing/2014/main" id="{44F5C7AC-D516-4ABF-9E93-6BCF3CF6FBDE}"/>
              </a:ext>
            </a:extLst>
          </p:cNvPr>
          <p:cNvSpPr>
            <a:spLocks xmlns:a="http://schemas.openxmlformats.org/drawingml/2006/main" noGrp="1"/>
          </p:cNvSpPr>
          <p:nvPr/>
        </p:nvSpPr>
        <p:spPr>
          <a:xfrm xmlns:a="http://schemas.openxmlformats.org/drawingml/2006/main">
            <a:off x="88106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0" name="">
            <a:extLst xmlns:a="http://schemas.openxmlformats.org/drawingml/2006/main">
              <a:ext uri="{FF2B5EF4-FFF2-40B4-BE49-F238E27FC236}">
                <a16:creationId xmlns:a16="http://schemas.microsoft.com/office/drawing/2014/main" id="{853EA5D3-69F0-4FC7-86F5-2AA6D635B05A}"/>
              </a:ext>
            </a:extLst>
          </p:cNvPr>
          <p:cNvSpPr>
            <a:spLocks xmlns:a="http://schemas.openxmlformats.org/drawingml/2006/main" noGrp="1"/>
          </p:cNvSpPr>
          <p:nvPr/>
        </p:nvSpPr>
        <p:spPr>
          <a:xfrm xmlns:a="http://schemas.openxmlformats.org/drawingml/2006/main">
            <a:off x="88582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1" name="">
            <a:extLst xmlns:a="http://schemas.openxmlformats.org/drawingml/2006/main">
              <a:ext uri="{FF2B5EF4-FFF2-40B4-BE49-F238E27FC236}">
                <a16:creationId xmlns:a16="http://schemas.microsoft.com/office/drawing/2014/main" id="{7BA355ED-4CBC-4443-837C-E903107323A6}"/>
              </a:ext>
            </a:extLst>
          </p:cNvPr>
          <p:cNvSpPr>
            <a:spLocks xmlns:a="http://schemas.openxmlformats.org/drawingml/2006/main" noGrp="1"/>
          </p:cNvSpPr>
          <p:nvPr/>
        </p:nvSpPr>
        <p:spPr>
          <a:xfrm xmlns:a="http://schemas.openxmlformats.org/drawingml/2006/main">
            <a:off x="89058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2" name="">
            <a:extLst xmlns:a="http://schemas.openxmlformats.org/drawingml/2006/main">
              <a:ext uri="{FF2B5EF4-FFF2-40B4-BE49-F238E27FC236}">
                <a16:creationId xmlns:a16="http://schemas.microsoft.com/office/drawing/2014/main" id="{4B4197B4-C693-4800-B5BE-7E4F05F1A408}"/>
              </a:ext>
            </a:extLst>
          </p:cNvPr>
          <p:cNvSpPr>
            <a:spLocks xmlns:a="http://schemas.openxmlformats.org/drawingml/2006/main" noGrp="1"/>
          </p:cNvSpPr>
          <p:nvPr/>
        </p:nvSpPr>
        <p:spPr>
          <a:xfrm xmlns:a="http://schemas.openxmlformats.org/drawingml/2006/main">
            <a:off x="89535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3" name="">
            <a:extLst xmlns:a="http://schemas.openxmlformats.org/drawingml/2006/main">
              <a:ext uri="{FF2B5EF4-FFF2-40B4-BE49-F238E27FC236}">
                <a16:creationId xmlns:a16="http://schemas.microsoft.com/office/drawing/2014/main" id="{438B90AF-FD36-4916-A523-3F131B69BCBE}"/>
              </a:ext>
            </a:extLst>
          </p:cNvPr>
          <p:cNvSpPr>
            <a:spLocks xmlns:a="http://schemas.openxmlformats.org/drawingml/2006/main" noGrp="1"/>
          </p:cNvSpPr>
          <p:nvPr/>
        </p:nvSpPr>
        <p:spPr>
          <a:xfrm xmlns:a="http://schemas.openxmlformats.org/drawingml/2006/main">
            <a:off x="90011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4" name="">
            <a:extLst xmlns:a="http://schemas.openxmlformats.org/drawingml/2006/main">
              <a:ext uri="{FF2B5EF4-FFF2-40B4-BE49-F238E27FC236}">
                <a16:creationId xmlns:a16="http://schemas.microsoft.com/office/drawing/2014/main" id="{F6AF983F-9835-46E2-B4B5-C685529C6D15}"/>
              </a:ext>
            </a:extLst>
          </p:cNvPr>
          <p:cNvSpPr>
            <a:spLocks xmlns:a="http://schemas.openxmlformats.org/drawingml/2006/main" noGrp="1"/>
          </p:cNvSpPr>
          <p:nvPr/>
        </p:nvSpPr>
        <p:spPr>
          <a:xfrm xmlns:a="http://schemas.openxmlformats.org/drawingml/2006/main">
            <a:off x="90487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5" name="">
            <a:extLst xmlns:a="http://schemas.openxmlformats.org/drawingml/2006/main">
              <a:ext uri="{FF2B5EF4-FFF2-40B4-BE49-F238E27FC236}">
                <a16:creationId xmlns:a16="http://schemas.microsoft.com/office/drawing/2014/main" id="{C1AF9091-375D-48DB-8D53-C7008D7CE311}"/>
              </a:ext>
            </a:extLst>
          </p:cNvPr>
          <p:cNvSpPr>
            <a:spLocks xmlns:a="http://schemas.openxmlformats.org/drawingml/2006/main" noGrp="1"/>
          </p:cNvSpPr>
          <p:nvPr/>
        </p:nvSpPr>
        <p:spPr>
          <a:xfrm xmlns:a="http://schemas.openxmlformats.org/drawingml/2006/main">
            <a:off x="90963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6" name="">
            <a:extLst xmlns:a="http://schemas.openxmlformats.org/drawingml/2006/main">
              <a:ext uri="{FF2B5EF4-FFF2-40B4-BE49-F238E27FC236}">
                <a16:creationId xmlns:a16="http://schemas.microsoft.com/office/drawing/2014/main" id="{ED9AF19E-57F1-4C89-9B6C-ADB7A78A6A1E}"/>
              </a:ext>
            </a:extLst>
          </p:cNvPr>
          <p:cNvSpPr>
            <a:spLocks xmlns:a="http://schemas.openxmlformats.org/drawingml/2006/main" noGrp="1"/>
          </p:cNvSpPr>
          <p:nvPr/>
        </p:nvSpPr>
        <p:spPr>
          <a:xfrm xmlns:a="http://schemas.openxmlformats.org/drawingml/2006/main">
            <a:off x="91440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7" name="">
            <a:extLst xmlns:a="http://schemas.openxmlformats.org/drawingml/2006/main">
              <a:ext uri="{FF2B5EF4-FFF2-40B4-BE49-F238E27FC236}">
                <a16:creationId xmlns:a16="http://schemas.microsoft.com/office/drawing/2014/main" id="{212C09B7-93A8-4D20-A2BC-9A56BA2B1F0E}"/>
              </a:ext>
            </a:extLst>
          </p:cNvPr>
          <p:cNvSpPr>
            <a:spLocks xmlns:a="http://schemas.openxmlformats.org/drawingml/2006/main" noGrp="1"/>
          </p:cNvSpPr>
          <p:nvPr/>
        </p:nvSpPr>
        <p:spPr>
          <a:xfrm xmlns:a="http://schemas.openxmlformats.org/drawingml/2006/main">
            <a:off x="91916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8" name="">
            <a:extLst xmlns:a="http://schemas.openxmlformats.org/drawingml/2006/main">
              <a:ext uri="{FF2B5EF4-FFF2-40B4-BE49-F238E27FC236}">
                <a16:creationId xmlns:a16="http://schemas.microsoft.com/office/drawing/2014/main" id="{645A5D53-58D9-4058-B32F-79A94AD1AE3F}"/>
              </a:ext>
            </a:extLst>
          </p:cNvPr>
          <p:cNvSpPr>
            <a:spLocks xmlns:a="http://schemas.openxmlformats.org/drawingml/2006/main" noGrp="1"/>
          </p:cNvSpPr>
          <p:nvPr/>
        </p:nvSpPr>
        <p:spPr>
          <a:xfrm xmlns:a="http://schemas.openxmlformats.org/drawingml/2006/main">
            <a:off x="923925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35C4374B-F10A-45D7-AB71-C941878B5E82}"/>
              </a:ext>
            </a:extLst>
          </p:cNvPr>
          <p:cNvSpPr>
            <a:spLocks xmlns:a="http://schemas.openxmlformats.org/drawingml/2006/main" noGrp="1"/>
          </p:cNvSpPr>
          <p:nvPr/>
        </p:nvSpPr>
        <p:spPr>
          <a:xfrm xmlns:a="http://schemas.openxmlformats.org/drawingml/2006/main">
            <a:off x="928687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90" name="">
            <a:extLst xmlns:a="http://schemas.openxmlformats.org/drawingml/2006/main">
              <a:ext uri="{FF2B5EF4-FFF2-40B4-BE49-F238E27FC236}">
                <a16:creationId xmlns:a16="http://schemas.microsoft.com/office/drawing/2014/main" id="{D6E6022F-D5D2-40DE-B153-0EE9194EE309}"/>
              </a:ext>
            </a:extLst>
          </p:cNvPr>
          <p:cNvSpPr>
            <a:spLocks xmlns:a="http://schemas.openxmlformats.org/drawingml/2006/main" noGrp="1"/>
          </p:cNvSpPr>
          <p:nvPr/>
        </p:nvSpPr>
        <p:spPr>
          <a:xfrm xmlns:a="http://schemas.openxmlformats.org/drawingml/2006/main">
            <a:off x="9334500"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BD9D7FFF-73AE-489D-A6CE-8DB73CA81F51}"/>
              </a:ext>
            </a:extLst>
          </p:cNvPr>
          <p:cNvSpPr>
            <a:spLocks xmlns:a="http://schemas.openxmlformats.org/drawingml/2006/main" noGrp="1"/>
          </p:cNvSpPr>
          <p:nvPr/>
        </p:nvSpPr>
        <p:spPr>
          <a:xfrm xmlns:a="http://schemas.openxmlformats.org/drawingml/2006/main">
            <a:off x="9382125" y="3076575"/>
            <a:ext cx="33338" cy="33338"/>
          </a:xfrm>
          <a:prstGeom xmlns:a="http://schemas.openxmlformats.org/drawingml/2006/main" prst="ellipse">
            <a:avLst/>
          </a:prstGeom>
          <a:solidFill xmlns:a="http://schemas.openxmlformats.org/drawingml/2006/main">
            <a:srgbClr val="1688C2"/>
          </a:solidFill>
          <a:ln xmlns:a="http://schemas.openxmlformats.org/drawingml/2006/main" w="0">
            <a:noFill/>
          </a:ln>
        </p:spPr>
      </p:sp>
      <p:sp>
        <p:nvSpPr>
          <p:cNvPr id="92" name="">
            <a:extLst xmlns:a="http://schemas.openxmlformats.org/drawingml/2006/main">
              <a:ext uri="{FF2B5EF4-FFF2-40B4-BE49-F238E27FC236}">
                <a16:creationId xmlns:a16="http://schemas.microsoft.com/office/drawing/2014/main" id="{ECE0BDE6-88C6-4A88-A189-8E9B0B136C3D}"/>
              </a:ext>
            </a:extLst>
          </p:cNvPr>
          <p:cNvSpPr>
            <a:spLocks xmlns:a="http://schemas.openxmlformats.org/drawingml/2006/main" noGrp="1"/>
          </p:cNvSpPr>
          <p:nvPr/>
        </p:nvSpPr>
        <p:spPr>
          <a:xfrm xmlns:a="http://schemas.openxmlformats.org/drawingml/2006/main">
            <a:off x="7905750" y="3276600"/>
            <a:ext cx="3810000" cy="457200"/>
          </a:xfrm>
          <a:prstGeom xmlns:a="http://schemas.openxmlformats.org/drawingml/2006/main" prst="roundRect">
            <a:avLst>
              <a:gd name="adj" fmla="val 25000"/>
            </a:avLst>
          </a:prstGeom>
          <a:solidFill xmlns:a="http://schemas.openxmlformats.org/drawingml/2006/main">
            <a:srgbClr val="FFF4DE"/>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2635C4D3-FE62-4B29-8D03-618F3C155667}"/>
              </a:ext>
            </a:extLst>
          </p:cNvPr>
          <p:cNvSpPr>
            <a:spLocks xmlns:a="http://schemas.openxmlformats.org/drawingml/2006/main" noGrp="1"/>
          </p:cNvSpPr>
          <p:nvPr/>
        </p:nvSpPr>
        <p:spPr>
          <a:xfrm xmlns:a="http://schemas.openxmlformats.org/drawingml/2006/main">
            <a:off x="8048625" y="3305175"/>
            <a:ext cx="3028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Backlog</a:t>
            </a:r>
          </a:p>
        </p:txBody>
      </p:sp>
      <p:sp>
        <p:nvSpPr>
          <p:cNvPr id="94" name="">
            <a:extLst xmlns:a="http://schemas.openxmlformats.org/drawingml/2006/main">
              <a:ext uri="{FF2B5EF4-FFF2-40B4-BE49-F238E27FC236}">
                <a16:creationId xmlns:a16="http://schemas.microsoft.com/office/drawing/2014/main" id="{B55FB2BB-F44A-466A-AD25-B85DAFB1B743}"/>
              </a:ext>
            </a:extLst>
          </p:cNvPr>
          <p:cNvSpPr>
            <a:spLocks xmlns:a="http://schemas.openxmlformats.org/drawingml/2006/main" noGrp="1"/>
          </p:cNvSpPr>
          <p:nvPr/>
        </p:nvSpPr>
        <p:spPr>
          <a:xfrm xmlns:a="http://schemas.openxmlformats.org/drawingml/2006/main">
            <a:off x="11106150" y="330517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29</a:t>
            </a:r>
          </a:p>
        </p:txBody>
      </p:sp>
      <p:sp>
        <p:nvSpPr>
          <p:cNvPr id="95" name="">
            <a:extLst xmlns:a="http://schemas.openxmlformats.org/drawingml/2006/main">
              <a:ext uri="{FF2B5EF4-FFF2-40B4-BE49-F238E27FC236}">
                <a16:creationId xmlns:a16="http://schemas.microsoft.com/office/drawing/2014/main" id="{E1E22775-9AA3-4C80-8A1F-BBCE87FD3885}"/>
              </a:ext>
            </a:extLst>
          </p:cNvPr>
          <p:cNvSpPr>
            <a:spLocks xmlns:a="http://schemas.openxmlformats.org/drawingml/2006/main" noGrp="1"/>
          </p:cNvSpPr>
          <p:nvPr/>
        </p:nvSpPr>
        <p:spPr>
          <a:xfrm xmlns:a="http://schemas.openxmlformats.org/drawingml/2006/main">
            <a:off x="80486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6" name="">
            <a:extLst xmlns:a="http://schemas.openxmlformats.org/drawingml/2006/main">
              <a:ext uri="{FF2B5EF4-FFF2-40B4-BE49-F238E27FC236}">
                <a16:creationId xmlns:a16="http://schemas.microsoft.com/office/drawing/2014/main" id="{3EAE26E9-BD6A-47C3-BABB-652ED222CB59}"/>
              </a:ext>
            </a:extLst>
          </p:cNvPr>
          <p:cNvSpPr>
            <a:spLocks xmlns:a="http://schemas.openxmlformats.org/drawingml/2006/main" noGrp="1"/>
          </p:cNvSpPr>
          <p:nvPr/>
        </p:nvSpPr>
        <p:spPr>
          <a:xfrm xmlns:a="http://schemas.openxmlformats.org/drawingml/2006/main">
            <a:off x="80962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CBB01227-E9E6-47F0-9D51-3031B26D6A07}"/>
              </a:ext>
            </a:extLst>
          </p:cNvPr>
          <p:cNvSpPr>
            <a:spLocks xmlns:a="http://schemas.openxmlformats.org/drawingml/2006/main" noGrp="1"/>
          </p:cNvSpPr>
          <p:nvPr/>
        </p:nvSpPr>
        <p:spPr>
          <a:xfrm xmlns:a="http://schemas.openxmlformats.org/drawingml/2006/main">
            <a:off x="81438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8" name="">
            <a:extLst xmlns:a="http://schemas.openxmlformats.org/drawingml/2006/main">
              <a:ext uri="{FF2B5EF4-FFF2-40B4-BE49-F238E27FC236}">
                <a16:creationId xmlns:a16="http://schemas.microsoft.com/office/drawing/2014/main" id="{71F94224-023C-4E46-9270-EB70C4A9F1B8}"/>
              </a:ext>
            </a:extLst>
          </p:cNvPr>
          <p:cNvSpPr>
            <a:spLocks xmlns:a="http://schemas.openxmlformats.org/drawingml/2006/main" noGrp="1"/>
          </p:cNvSpPr>
          <p:nvPr/>
        </p:nvSpPr>
        <p:spPr>
          <a:xfrm xmlns:a="http://schemas.openxmlformats.org/drawingml/2006/main">
            <a:off x="81915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61D4E8FA-FA4B-45F4-8F37-571C544142E7}"/>
              </a:ext>
            </a:extLst>
          </p:cNvPr>
          <p:cNvSpPr>
            <a:spLocks xmlns:a="http://schemas.openxmlformats.org/drawingml/2006/main" noGrp="1"/>
          </p:cNvSpPr>
          <p:nvPr/>
        </p:nvSpPr>
        <p:spPr>
          <a:xfrm xmlns:a="http://schemas.openxmlformats.org/drawingml/2006/main">
            <a:off x="82391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0" name="">
            <a:extLst xmlns:a="http://schemas.openxmlformats.org/drawingml/2006/main">
              <a:ext uri="{FF2B5EF4-FFF2-40B4-BE49-F238E27FC236}">
                <a16:creationId xmlns:a16="http://schemas.microsoft.com/office/drawing/2014/main" id="{A992EB8A-9E08-41A0-9DE5-D0C61FE02293}"/>
              </a:ext>
            </a:extLst>
          </p:cNvPr>
          <p:cNvSpPr>
            <a:spLocks xmlns:a="http://schemas.openxmlformats.org/drawingml/2006/main" noGrp="1"/>
          </p:cNvSpPr>
          <p:nvPr/>
        </p:nvSpPr>
        <p:spPr>
          <a:xfrm xmlns:a="http://schemas.openxmlformats.org/drawingml/2006/main">
            <a:off x="82867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1" name="">
            <a:extLst xmlns:a="http://schemas.openxmlformats.org/drawingml/2006/main">
              <a:ext uri="{FF2B5EF4-FFF2-40B4-BE49-F238E27FC236}">
                <a16:creationId xmlns:a16="http://schemas.microsoft.com/office/drawing/2014/main" id="{636B321B-7124-4DF7-99DA-F5D672148890}"/>
              </a:ext>
            </a:extLst>
          </p:cNvPr>
          <p:cNvSpPr>
            <a:spLocks xmlns:a="http://schemas.openxmlformats.org/drawingml/2006/main" noGrp="1"/>
          </p:cNvSpPr>
          <p:nvPr/>
        </p:nvSpPr>
        <p:spPr>
          <a:xfrm xmlns:a="http://schemas.openxmlformats.org/drawingml/2006/main">
            <a:off x="83343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2" name="">
            <a:extLst xmlns:a="http://schemas.openxmlformats.org/drawingml/2006/main">
              <a:ext uri="{FF2B5EF4-FFF2-40B4-BE49-F238E27FC236}">
                <a16:creationId xmlns:a16="http://schemas.microsoft.com/office/drawing/2014/main" id="{2D41749F-E36B-4369-B312-5CA74E38F3E2}"/>
              </a:ext>
            </a:extLst>
          </p:cNvPr>
          <p:cNvSpPr>
            <a:spLocks xmlns:a="http://schemas.openxmlformats.org/drawingml/2006/main" noGrp="1"/>
          </p:cNvSpPr>
          <p:nvPr/>
        </p:nvSpPr>
        <p:spPr>
          <a:xfrm xmlns:a="http://schemas.openxmlformats.org/drawingml/2006/main">
            <a:off x="83820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3" name="">
            <a:extLst xmlns:a="http://schemas.openxmlformats.org/drawingml/2006/main">
              <a:ext uri="{FF2B5EF4-FFF2-40B4-BE49-F238E27FC236}">
                <a16:creationId xmlns:a16="http://schemas.microsoft.com/office/drawing/2014/main" id="{2E26B6BC-74D1-40E3-8E91-5BDECB556FAC}"/>
              </a:ext>
            </a:extLst>
          </p:cNvPr>
          <p:cNvSpPr>
            <a:spLocks xmlns:a="http://schemas.openxmlformats.org/drawingml/2006/main" noGrp="1"/>
          </p:cNvSpPr>
          <p:nvPr/>
        </p:nvSpPr>
        <p:spPr>
          <a:xfrm xmlns:a="http://schemas.openxmlformats.org/drawingml/2006/main">
            <a:off x="84296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4" name="">
            <a:extLst xmlns:a="http://schemas.openxmlformats.org/drawingml/2006/main">
              <a:ext uri="{FF2B5EF4-FFF2-40B4-BE49-F238E27FC236}">
                <a16:creationId xmlns:a16="http://schemas.microsoft.com/office/drawing/2014/main" id="{34150121-6CD6-40C4-86B7-BC87F4AFE989}"/>
              </a:ext>
            </a:extLst>
          </p:cNvPr>
          <p:cNvSpPr>
            <a:spLocks xmlns:a="http://schemas.openxmlformats.org/drawingml/2006/main" noGrp="1"/>
          </p:cNvSpPr>
          <p:nvPr/>
        </p:nvSpPr>
        <p:spPr>
          <a:xfrm xmlns:a="http://schemas.openxmlformats.org/drawingml/2006/main">
            <a:off x="84772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5" name="">
            <a:extLst xmlns:a="http://schemas.openxmlformats.org/drawingml/2006/main">
              <a:ext uri="{FF2B5EF4-FFF2-40B4-BE49-F238E27FC236}">
                <a16:creationId xmlns:a16="http://schemas.microsoft.com/office/drawing/2014/main" id="{D81237E6-5DA2-49D4-BD93-0F605767AD2C}"/>
              </a:ext>
            </a:extLst>
          </p:cNvPr>
          <p:cNvSpPr>
            <a:spLocks xmlns:a="http://schemas.openxmlformats.org/drawingml/2006/main" noGrp="1"/>
          </p:cNvSpPr>
          <p:nvPr/>
        </p:nvSpPr>
        <p:spPr>
          <a:xfrm xmlns:a="http://schemas.openxmlformats.org/drawingml/2006/main">
            <a:off x="85248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6" name="">
            <a:extLst xmlns:a="http://schemas.openxmlformats.org/drawingml/2006/main">
              <a:ext uri="{FF2B5EF4-FFF2-40B4-BE49-F238E27FC236}">
                <a16:creationId xmlns:a16="http://schemas.microsoft.com/office/drawing/2014/main" id="{F0FA24F8-0201-4AC0-9415-A59CB30C20C1}"/>
              </a:ext>
            </a:extLst>
          </p:cNvPr>
          <p:cNvSpPr>
            <a:spLocks xmlns:a="http://schemas.openxmlformats.org/drawingml/2006/main" noGrp="1"/>
          </p:cNvSpPr>
          <p:nvPr/>
        </p:nvSpPr>
        <p:spPr>
          <a:xfrm xmlns:a="http://schemas.openxmlformats.org/drawingml/2006/main">
            <a:off x="85725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7" name="">
            <a:extLst xmlns:a="http://schemas.openxmlformats.org/drawingml/2006/main">
              <a:ext uri="{FF2B5EF4-FFF2-40B4-BE49-F238E27FC236}">
                <a16:creationId xmlns:a16="http://schemas.microsoft.com/office/drawing/2014/main" id="{A5300B9A-B0EE-4077-AB0B-90E3D67BDAA1}"/>
              </a:ext>
            </a:extLst>
          </p:cNvPr>
          <p:cNvSpPr>
            <a:spLocks xmlns:a="http://schemas.openxmlformats.org/drawingml/2006/main" noGrp="1"/>
          </p:cNvSpPr>
          <p:nvPr/>
        </p:nvSpPr>
        <p:spPr>
          <a:xfrm xmlns:a="http://schemas.openxmlformats.org/drawingml/2006/main">
            <a:off x="86201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8" name="">
            <a:extLst xmlns:a="http://schemas.openxmlformats.org/drawingml/2006/main">
              <a:ext uri="{FF2B5EF4-FFF2-40B4-BE49-F238E27FC236}">
                <a16:creationId xmlns:a16="http://schemas.microsoft.com/office/drawing/2014/main" id="{8861D5CC-1567-4326-9D32-25684EFFC862}"/>
              </a:ext>
            </a:extLst>
          </p:cNvPr>
          <p:cNvSpPr>
            <a:spLocks xmlns:a="http://schemas.openxmlformats.org/drawingml/2006/main" noGrp="1"/>
          </p:cNvSpPr>
          <p:nvPr/>
        </p:nvSpPr>
        <p:spPr>
          <a:xfrm xmlns:a="http://schemas.openxmlformats.org/drawingml/2006/main">
            <a:off x="86677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09" name="">
            <a:extLst xmlns:a="http://schemas.openxmlformats.org/drawingml/2006/main">
              <a:ext uri="{FF2B5EF4-FFF2-40B4-BE49-F238E27FC236}">
                <a16:creationId xmlns:a16="http://schemas.microsoft.com/office/drawing/2014/main" id="{F5A6C29D-5995-4621-AD84-FC757D8B7D25}"/>
              </a:ext>
            </a:extLst>
          </p:cNvPr>
          <p:cNvSpPr>
            <a:spLocks xmlns:a="http://schemas.openxmlformats.org/drawingml/2006/main" noGrp="1"/>
          </p:cNvSpPr>
          <p:nvPr/>
        </p:nvSpPr>
        <p:spPr>
          <a:xfrm xmlns:a="http://schemas.openxmlformats.org/drawingml/2006/main">
            <a:off x="87153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0" name="">
            <a:extLst xmlns:a="http://schemas.openxmlformats.org/drawingml/2006/main">
              <a:ext uri="{FF2B5EF4-FFF2-40B4-BE49-F238E27FC236}">
                <a16:creationId xmlns:a16="http://schemas.microsoft.com/office/drawing/2014/main" id="{CD9E5228-F07E-420E-B7F7-50DC434EA2CE}"/>
              </a:ext>
            </a:extLst>
          </p:cNvPr>
          <p:cNvSpPr>
            <a:spLocks xmlns:a="http://schemas.openxmlformats.org/drawingml/2006/main" noGrp="1"/>
          </p:cNvSpPr>
          <p:nvPr/>
        </p:nvSpPr>
        <p:spPr>
          <a:xfrm xmlns:a="http://schemas.openxmlformats.org/drawingml/2006/main">
            <a:off x="87630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1" name="">
            <a:extLst xmlns:a="http://schemas.openxmlformats.org/drawingml/2006/main">
              <a:ext uri="{FF2B5EF4-FFF2-40B4-BE49-F238E27FC236}">
                <a16:creationId xmlns:a16="http://schemas.microsoft.com/office/drawing/2014/main" id="{C0C00912-98CA-4276-BFDA-235D3735C21E}"/>
              </a:ext>
            </a:extLst>
          </p:cNvPr>
          <p:cNvSpPr>
            <a:spLocks xmlns:a="http://schemas.openxmlformats.org/drawingml/2006/main" noGrp="1"/>
          </p:cNvSpPr>
          <p:nvPr/>
        </p:nvSpPr>
        <p:spPr>
          <a:xfrm xmlns:a="http://schemas.openxmlformats.org/drawingml/2006/main">
            <a:off x="88106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2" name="">
            <a:extLst xmlns:a="http://schemas.openxmlformats.org/drawingml/2006/main">
              <a:ext uri="{FF2B5EF4-FFF2-40B4-BE49-F238E27FC236}">
                <a16:creationId xmlns:a16="http://schemas.microsoft.com/office/drawing/2014/main" id="{52C59D0C-B1FA-449C-8C69-07EA953C5690}"/>
              </a:ext>
            </a:extLst>
          </p:cNvPr>
          <p:cNvSpPr>
            <a:spLocks xmlns:a="http://schemas.openxmlformats.org/drawingml/2006/main" noGrp="1"/>
          </p:cNvSpPr>
          <p:nvPr/>
        </p:nvSpPr>
        <p:spPr>
          <a:xfrm xmlns:a="http://schemas.openxmlformats.org/drawingml/2006/main">
            <a:off x="88582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3" name="">
            <a:extLst xmlns:a="http://schemas.openxmlformats.org/drawingml/2006/main">
              <a:ext uri="{FF2B5EF4-FFF2-40B4-BE49-F238E27FC236}">
                <a16:creationId xmlns:a16="http://schemas.microsoft.com/office/drawing/2014/main" id="{50B84AF0-3D9D-49C0-BFDA-6BF6DBE7DDB2}"/>
              </a:ext>
            </a:extLst>
          </p:cNvPr>
          <p:cNvSpPr>
            <a:spLocks xmlns:a="http://schemas.openxmlformats.org/drawingml/2006/main" noGrp="1"/>
          </p:cNvSpPr>
          <p:nvPr/>
        </p:nvSpPr>
        <p:spPr>
          <a:xfrm xmlns:a="http://schemas.openxmlformats.org/drawingml/2006/main">
            <a:off x="89058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4" name="">
            <a:extLst xmlns:a="http://schemas.openxmlformats.org/drawingml/2006/main">
              <a:ext uri="{FF2B5EF4-FFF2-40B4-BE49-F238E27FC236}">
                <a16:creationId xmlns:a16="http://schemas.microsoft.com/office/drawing/2014/main" id="{A8271513-C1B5-4293-A5DC-09CD38E122E2}"/>
              </a:ext>
            </a:extLst>
          </p:cNvPr>
          <p:cNvSpPr>
            <a:spLocks xmlns:a="http://schemas.openxmlformats.org/drawingml/2006/main" noGrp="1"/>
          </p:cNvSpPr>
          <p:nvPr/>
        </p:nvSpPr>
        <p:spPr>
          <a:xfrm xmlns:a="http://schemas.openxmlformats.org/drawingml/2006/main">
            <a:off x="89535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5" name="">
            <a:extLst xmlns:a="http://schemas.openxmlformats.org/drawingml/2006/main">
              <a:ext uri="{FF2B5EF4-FFF2-40B4-BE49-F238E27FC236}">
                <a16:creationId xmlns:a16="http://schemas.microsoft.com/office/drawing/2014/main" id="{F06B6D77-1C0B-4C39-93E4-EF0AAEFA1899}"/>
              </a:ext>
            </a:extLst>
          </p:cNvPr>
          <p:cNvSpPr>
            <a:spLocks xmlns:a="http://schemas.openxmlformats.org/drawingml/2006/main" noGrp="1"/>
          </p:cNvSpPr>
          <p:nvPr/>
        </p:nvSpPr>
        <p:spPr>
          <a:xfrm xmlns:a="http://schemas.openxmlformats.org/drawingml/2006/main">
            <a:off x="90011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6" name="">
            <a:extLst xmlns:a="http://schemas.openxmlformats.org/drawingml/2006/main">
              <a:ext uri="{FF2B5EF4-FFF2-40B4-BE49-F238E27FC236}">
                <a16:creationId xmlns:a16="http://schemas.microsoft.com/office/drawing/2014/main" id="{D0B87A3B-7CD3-442B-B974-7D3CF0D59D64}"/>
              </a:ext>
            </a:extLst>
          </p:cNvPr>
          <p:cNvSpPr>
            <a:spLocks xmlns:a="http://schemas.openxmlformats.org/drawingml/2006/main" noGrp="1"/>
          </p:cNvSpPr>
          <p:nvPr/>
        </p:nvSpPr>
        <p:spPr>
          <a:xfrm xmlns:a="http://schemas.openxmlformats.org/drawingml/2006/main">
            <a:off x="90487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7" name="">
            <a:extLst xmlns:a="http://schemas.openxmlformats.org/drawingml/2006/main">
              <a:ext uri="{FF2B5EF4-FFF2-40B4-BE49-F238E27FC236}">
                <a16:creationId xmlns:a16="http://schemas.microsoft.com/office/drawing/2014/main" id="{7F96BADD-D07C-445E-B80F-C952C42C733E}"/>
              </a:ext>
            </a:extLst>
          </p:cNvPr>
          <p:cNvSpPr>
            <a:spLocks xmlns:a="http://schemas.openxmlformats.org/drawingml/2006/main" noGrp="1"/>
          </p:cNvSpPr>
          <p:nvPr/>
        </p:nvSpPr>
        <p:spPr>
          <a:xfrm xmlns:a="http://schemas.openxmlformats.org/drawingml/2006/main">
            <a:off x="90963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8" name="">
            <a:extLst xmlns:a="http://schemas.openxmlformats.org/drawingml/2006/main">
              <a:ext uri="{FF2B5EF4-FFF2-40B4-BE49-F238E27FC236}">
                <a16:creationId xmlns:a16="http://schemas.microsoft.com/office/drawing/2014/main" id="{6169CD84-FAD1-4B9C-8CF5-2EC0FA3B74D3}"/>
              </a:ext>
            </a:extLst>
          </p:cNvPr>
          <p:cNvSpPr>
            <a:spLocks xmlns:a="http://schemas.openxmlformats.org/drawingml/2006/main" noGrp="1"/>
          </p:cNvSpPr>
          <p:nvPr/>
        </p:nvSpPr>
        <p:spPr>
          <a:xfrm xmlns:a="http://schemas.openxmlformats.org/drawingml/2006/main">
            <a:off x="91440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19" name="">
            <a:extLst xmlns:a="http://schemas.openxmlformats.org/drawingml/2006/main">
              <a:ext uri="{FF2B5EF4-FFF2-40B4-BE49-F238E27FC236}">
                <a16:creationId xmlns:a16="http://schemas.microsoft.com/office/drawing/2014/main" id="{85428349-21B0-47C8-A69A-04C026C6C23D}"/>
              </a:ext>
            </a:extLst>
          </p:cNvPr>
          <p:cNvSpPr>
            <a:spLocks xmlns:a="http://schemas.openxmlformats.org/drawingml/2006/main" noGrp="1"/>
          </p:cNvSpPr>
          <p:nvPr/>
        </p:nvSpPr>
        <p:spPr>
          <a:xfrm xmlns:a="http://schemas.openxmlformats.org/drawingml/2006/main">
            <a:off x="91916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20" name="">
            <a:extLst xmlns:a="http://schemas.openxmlformats.org/drawingml/2006/main">
              <a:ext uri="{FF2B5EF4-FFF2-40B4-BE49-F238E27FC236}">
                <a16:creationId xmlns:a16="http://schemas.microsoft.com/office/drawing/2014/main" id="{6839F43B-B117-4F1D-AE42-7D9A0E8E6CFC}"/>
              </a:ext>
            </a:extLst>
          </p:cNvPr>
          <p:cNvSpPr>
            <a:spLocks xmlns:a="http://schemas.openxmlformats.org/drawingml/2006/main" noGrp="1"/>
          </p:cNvSpPr>
          <p:nvPr/>
        </p:nvSpPr>
        <p:spPr>
          <a:xfrm xmlns:a="http://schemas.openxmlformats.org/drawingml/2006/main">
            <a:off x="923925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21" name="">
            <a:extLst xmlns:a="http://schemas.openxmlformats.org/drawingml/2006/main">
              <a:ext uri="{FF2B5EF4-FFF2-40B4-BE49-F238E27FC236}">
                <a16:creationId xmlns:a16="http://schemas.microsoft.com/office/drawing/2014/main" id="{327128D4-4D8A-463F-B872-99A13FA8DAE2}"/>
              </a:ext>
            </a:extLst>
          </p:cNvPr>
          <p:cNvSpPr>
            <a:spLocks xmlns:a="http://schemas.openxmlformats.org/drawingml/2006/main" noGrp="1"/>
          </p:cNvSpPr>
          <p:nvPr/>
        </p:nvSpPr>
        <p:spPr>
          <a:xfrm xmlns:a="http://schemas.openxmlformats.org/drawingml/2006/main">
            <a:off x="928687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22" name="">
            <a:extLst xmlns:a="http://schemas.openxmlformats.org/drawingml/2006/main">
              <a:ext uri="{FF2B5EF4-FFF2-40B4-BE49-F238E27FC236}">
                <a16:creationId xmlns:a16="http://schemas.microsoft.com/office/drawing/2014/main" id="{8DC6176D-3126-48AB-8721-16520992611E}"/>
              </a:ext>
            </a:extLst>
          </p:cNvPr>
          <p:cNvSpPr>
            <a:spLocks xmlns:a="http://schemas.openxmlformats.org/drawingml/2006/main" noGrp="1"/>
          </p:cNvSpPr>
          <p:nvPr/>
        </p:nvSpPr>
        <p:spPr>
          <a:xfrm xmlns:a="http://schemas.openxmlformats.org/drawingml/2006/main">
            <a:off x="9334500"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23" name="">
            <a:extLst xmlns:a="http://schemas.openxmlformats.org/drawingml/2006/main">
              <a:ext uri="{FF2B5EF4-FFF2-40B4-BE49-F238E27FC236}">
                <a16:creationId xmlns:a16="http://schemas.microsoft.com/office/drawing/2014/main" id="{0FF16C3D-E33A-4811-93E9-775144AC0B13}"/>
              </a:ext>
            </a:extLst>
          </p:cNvPr>
          <p:cNvSpPr>
            <a:spLocks xmlns:a="http://schemas.openxmlformats.org/drawingml/2006/main" noGrp="1"/>
          </p:cNvSpPr>
          <p:nvPr/>
        </p:nvSpPr>
        <p:spPr>
          <a:xfrm xmlns:a="http://schemas.openxmlformats.org/drawingml/2006/main">
            <a:off x="9382125" y="3600450"/>
            <a:ext cx="33338" cy="33338"/>
          </a:xfrm>
          <a:prstGeom xmlns:a="http://schemas.openxmlformats.org/drawingml/2006/main" prst="ellipse">
            <a:avLst/>
          </a:prstGeom>
          <a:solidFill xmlns:a="http://schemas.openxmlformats.org/drawingml/2006/main">
            <a:srgbClr val="875BC5"/>
          </a:solidFill>
          <a:ln xmlns:a="http://schemas.openxmlformats.org/drawingml/2006/main" w="0">
            <a:noFill/>
          </a:ln>
        </p:spPr>
      </p:sp>
      <p:sp>
        <p:nvSpPr>
          <p:cNvPr id="124" name="">
            <a:extLst xmlns:a="http://schemas.openxmlformats.org/drawingml/2006/main">
              <a:ext uri="{FF2B5EF4-FFF2-40B4-BE49-F238E27FC236}">
                <a16:creationId xmlns:a16="http://schemas.microsoft.com/office/drawing/2014/main" id="{4ECD0BF7-4012-4DDE-BBB4-0A13EF2DCD6A}"/>
              </a:ext>
            </a:extLst>
          </p:cNvPr>
          <p:cNvSpPr>
            <a:spLocks xmlns:a="http://schemas.openxmlformats.org/drawingml/2006/main" noGrp="1"/>
          </p:cNvSpPr>
          <p:nvPr/>
        </p:nvSpPr>
        <p:spPr>
          <a:xfrm xmlns:a="http://schemas.openxmlformats.org/drawingml/2006/main">
            <a:off x="7905750" y="3800475"/>
            <a:ext cx="3810000" cy="457200"/>
          </a:xfrm>
          <a:prstGeom xmlns:a="http://schemas.openxmlformats.org/drawingml/2006/main" prst="roundRect">
            <a:avLst>
              <a:gd name="adj" fmla="val 25000"/>
            </a:avLst>
          </a:prstGeom>
          <a:solidFill xmlns:a="http://schemas.openxmlformats.org/drawingml/2006/main">
            <a:srgbClr val="F0EAF9"/>
          </a:solidFill>
          <a:ln xmlns:a="http://schemas.openxmlformats.org/drawingml/2006/main" w="0">
            <a:noFill/>
          </a:ln>
        </p:spPr>
      </p:sp>
      <p:sp>
        <p:nvSpPr>
          <p:cNvPr id="125" name="">
            <a:extLst xmlns:a="http://schemas.openxmlformats.org/drawingml/2006/main">
              <a:ext uri="{FF2B5EF4-FFF2-40B4-BE49-F238E27FC236}">
                <a16:creationId xmlns:a16="http://schemas.microsoft.com/office/drawing/2014/main" id="{5F2A58C8-CEFD-4012-9ADB-97DBAE7EAFAB}"/>
              </a:ext>
            </a:extLst>
          </p:cNvPr>
          <p:cNvSpPr>
            <a:spLocks xmlns:a="http://schemas.openxmlformats.org/drawingml/2006/main" noGrp="1"/>
          </p:cNvSpPr>
          <p:nvPr/>
        </p:nvSpPr>
        <p:spPr>
          <a:xfrm xmlns:a="http://schemas.openxmlformats.org/drawingml/2006/main">
            <a:off x="8048625" y="3829050"/>
            <a:ext cx="3028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Baseline 0</a:t>
            </a:r>
          </a:p>
        </p:txBody>
      </p:sp>
      <p:sp>
        <p:nvSpPr>
          <p:cNvPr id="126" name="">
            <a:extLst xmlns:a="http://schemas.openxmlformats.org/drawingml/2006/main">
              <a:ext uri="{FF2B5EF4-FFF2-40B4-BE49-F238E27FC236}">
                <a16:creationId xmlns:a16="http://schemas.microsoft.com/office/drawing/2014/main" id="{361C319E-8CE8-47E6-BC67-091D6DBBAD18}"/>
              </a:ext>
            </a:extLst>
          </p:cNvPr>
          <p:cNvSpPr>
            <a:spLocks xmlns:a="http://schemas.openxmlformats.org/drawingml/2006/main" noGrp="1"/>
          </p:cNvSpPr>
          <p:nvPr/>
        </p:nvSpPr>
        <p:spPr>
          <a:xfrm xmlns:a="http://schemas.openxmlformats.org/drawingml/2006/main">
            <a:off x="11106150" y="3829050"/>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C7D16"/>
                </a:solidFill>
                <a:latin typeface="DejaVu Sans"/>
                <a:ea typeface="DejaVu Sans"/>
                <a:cs typeface="DejaVu Sans"/>
              </a:defRPr>
            </a:pPr>
            <a:r>
              <a:rPr sz="1875" b="1">
                <a:solidFill>
                  <a:srgbClr val="CC7D16"/>
                </a:solidFill>
                <a:latin typeface="DejaVu Sans"/>
                <a:ea typeface="DejaVu Sans"/>
                <a:cs typeface="DejaVu Sans"/>
              </a:rPr>
              <a:t>4</a:t>
            </a:r>
          </a:p>
        </p:txBody>
      </p:sp>
      <p:sp>
        <p:nvSpPr>
          <p:cNvPr id="127" name="">
            <a:extLst xmlns:a="http://schemas.openxmlformats.org/drawingml/2006/main">
              <a:ext uri="{FF2B5EF4-FFF2-40B4-BE49-F238E27FC236}">
                <a16:creationId xmlns:a16="http://schemas.microsoft.com/office/drawing/2014/main" id="{F9839317-D6E4-42FF-8297-10D4962DD563}"/>
              </a:ext>
            </a:extLst>
          </p:cNvPr>
          <p:cNvSpPr>
            <a:spLocks xmlns:a="http://schemas.openxmlformats.org/drawingml/2006/main" noGrp="1"/>
          </p:cNvSpPr>
          <p:nvPr/>
        </p:nvSpPr>
        <p:spPr>
          <a:xfrm xmlns:a="http://schemas.openxmlformats.org/drawingml/2006/main">
            <a:off x="8048625" y="4124325"/>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28" name="">
            <a:extLst xmlns:a="http://schemas.openxmlformats.org/drawingml/2006/main">
              <a:ext uri="{FF2B5EF4-FFF2-40B4-BE49-F238E27FC236}">
                <a16:creationId xmlns:a16="http://schemas.microsoft.com/office/drawing/2014/main" id="{30637A9D-1A78-46A2-B75D-3C49697D64B7}"/>
              </a:ext>
            </a:extLst>
          </p:cNvPr>
          <p:cNvSpPr>
            <a:spLocks xmlns:a="http://schemas.openxmlformats.org/drawingml/2006/main" noGrp="1"/>
          </p:cNvSpPr>
          <p:nvPr/>
        </p:nvSpPr>
        <p:spPr>
          <a:xfrm xmlns:a="http://schemas.openxmlformats.org/drawingml/2006/main">
            <a:off x="8096250" y="4124325"/>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29" name="">
            <a:extLst xmlns:a="http://schemas.openxmlformats.org/drawingml/2006/main">
              <a:ext uri="{FF2B5EF4-FFF2-40B4-BE49-F238E27FC236}">
                <a16:creationId xmlns:a16="http://schemas.microsoft.com/office/drawing/2014/main" id="{44A86B2C-7F20-4B9B-8FE8-A77C18D0334D}"/>
              </a:ext>
            </a:extLst>
          </p:cNvPr>
          <p:cNvSpPr>
            <a:spLocks xmlns:a="http://schemas.openxmlformats.org/drawingml/2006/main" noGrp="1"/>
          </p:cNvSpPr>
          <p:nvPr/>
        </p:nvSpPr>
        <p:spPr>
          <a:xfrm xmlns:a="http://schemas.openxmlformats.org/drawingml/2006/main">
            <a:off x="8143875" y="4124325"/>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30" name="">
            <a:extLst xmlns:a="http://schemas.openxmlformats.org/drawingml/2006/main">
              <a:ext uri="{FF2B5EF4-FFF2-40B4-BE49-F238E27FC236}">
                <a16:creationId xmlns:a16="http://schemas.microsoft.com/office/drawing/2014/main" id="{262B3171-4D03-44CF-A8DF-48385BE2EBED}"/>
              </a:ext>
            </a:extLst>
          </p:cNvPr>
          <p:cNvSpPr>
            <a:spLocks xmlns:a="http://schemas.openxmlformats.org/drawingml/2006/main" noGrp="1"/>
          </p:cNvSpPr>
          <p:nvPr/>
        </p:nvSpPr>
        <p:spPr>
          <a:xfrm xmlns:a="http://schemas.openxmlformats.org/drawingml/2006/main">
            <a:off x="8191500" y="4124325"/>
            <a:ext cx="33338" cy="33338"/>
          </a:xfrm>
          <a:prstGeom xmlns:a="http://schemas.openxmlformats.org/drawingml/2006/main" prst="ellipse">
            <a:avLst/>
          </a:prstGeom>
          <a:solidFill xmlns:a="http://schemas.openxmlformats.org/drawingml/2006/main">
            <a:srgbClr val="CC7D16"/>
          </a:solidFill>
          <a:ln xmlns:a="http://schemas.openxmlformats.org/drawingml/2006/main" w="0">
            <a:noFill/>
          </a:ln>
        </p:spPr>
      </p:sp>
      <p:sp>
        <p:nvSpPr>
          <p:cNvPr id="131" name="">
            <a:extLst xmlns:a="http://schemas.openxmlformats.org/drawingml/2006/main">
              <a:ext uri="{FF2B5EF4-FFF2-40B4-BE49-F238E27FC236}">
                <a16:creationId xmlns:a16="http://schemas.microsoft.com/office/drawing/2014/main" id="{233424DA-AB7C-4BC7-B2CA-06F1A9619A74}"/>
              </a:ext>
            </a:extLst>
          </p:cNvPr>
          <p:cNvSpPr>
            <a:spLocks xmlns:a="http://schemas.openxmlformats.org/drawingml/2006/main" noGrp="1"/>
          </p:cNvSpPr>
          <p:nvPr/>
        </p:nvSpPr>
        <p:spPr>
          <a:xfrm xmlns:a="http://schemas.openxmlformats.org/drawingml/2006/main">
            <a:off x="7905750" y="4324350"/>
            <a:ext cx="3810000" cy="457200"/>
          </a:xfrm>
          <a:prstGeom xmlns:a="http://schemas.openxmlformats.org/drawingml/2006/main" prst="roundRect">
            <a:avLst>
              <a:gd name="adj" fmla="val 25000"/>
            </a:avLst>
          </a:prstGeom>
          <a:solidFill xmlns:a="http://schemas.openxmlformats.org/drawingml/2006/main">
            <a:srgbClr val="FCEAF0"/>
          </a:solidFill>
          <a:ln xmlns:a="http://schemas.openxmlformats.org/drawingml/2006/main" w="0">
            <a:noFill/>
          </a:ln>
        </p:spPr>
      </p:sp>
      <p:sp>
        <p:nvSpPr>
          <p:cNvPr id="132" name="">
            <a:extLst xmlns:a="http://schemas.openxmlformats.org/drawingml/2006/main">
              <a:ext uri="{FF2B5EF4-FFF2-40B4-BE49-F238E27FC236}">
                <a16:creationId xmlns:a16="http://schemas.microsoft.com/office/drawing/2014/main" id="{CD1FBC04-E89A-4C3D-A007-3760E3E4A1D8}"/>
              </a:ext>
            </a:extLst>
          </p:cNvPr>
          <p:cNvSpPr>
            <a:spLocks xmlns:a="http://schemas.openxmlformats.org/drawingml/2006/main" noGrp="1"/>
          </p:cNvSpPr>
          <p:nvPr/>
        </p:nvSpPr>
        <p:spPr>
          <a:xfrm xmlns:a="http://schemas.openxmlformats.org/drawingml/2006/main">
            <a:off x="8048625" y="4352925"/>
            <a:ext cx="30289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Dropped</a:t>
            </a:r>
          </a:p>
        </p:txBody>
      </p:sp>
      <p:sp>
        <p:nvSpPr>
          <p:cNvPr id="133" name="">
            <a:extLst xmlns:a="http://schemas.openxmlformats.org/drawingml/2006/main">
              <a:ext uri="{FF2B5EF4-FFF2-40B4-BE49-F238E27FC236}">
                <a16:creationId xmlns:a16="http://schemas.microsoft.com/office/drawing/2014/main" id="{C85154DE-AF53-4B29-AA9F-950F4809F9C3}"/>
              </a:ext>
            </a:extLst>
          </p:cNvPr>
          <p:cNvSpPr>
            <a:spLocks xmlns:a="http://schemas.openxmlformats.org/drawingml/2006/main" noGrp="1"/>
          </p:cNvSpPr>
          <p:nvPr/>
        </p:nvSpPr>
        <p:spPr>
          <a:xfrm xmlns:a="http://schemas.openxmlformats.org/drawingml/2006/main">
            <a:off x="11106150" y="4352925"/>
            <a:ext cx="5238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D35373"/>
                </a:solidFill>
                <a:latin typeface="DejaVu Sans"/>
                <a:ea typeface="DejaVu Sans"/>
                <a:cs typeface="DejaVu Sans"/>
              </a:defRPr>
            </a:pPr>
            <a:r>
              <a:rPr sz="1875" b="1">
                <a:solidFill>
                  <a:srgbClr val="D35373"/>
                </a:solidFill>
                <a:latin typeface="DejaVu Sans"/>
                <a:ea typeface="DejaVu Sans"/>
                <a:cs typeface="DejaVu Sans"/>
              </a:rPr>
              <a:t>10</a:t>
            </a:r>
          </a:p>
        </p:txBody>
      </p:sp>
      <p:sp>
        <p:nvSpPr>
          <p:cNvPr id="134" name="">
            <a:extLst xmlns:a="http://schemas.openxmlformats.org/drawingml/2006/main">
              <a:ext uri="{FF2B5EF4-FFF2-40B4-BE49-F238E27FC236}">
                <a16:creationId xmlns:a16="http://schemas.microsoft.com/office/drawing/2014/main" id="{796BD44F-6D0E-4CE9-A443-6841C462E8FC}"/>
              </a:ext>
            </a:extLst>
          </p:cNvPr>
          <p:cNvSpPr>
            <a:spLocks xmlns:a="http://schemas.openxmlformats.org/drawingml/2006/main" noGrp="1"/>
          </p:cNvSpPr>
          <p:nvPr/>
        </p:nvSpPr>
        <p:spPr>
          <a:xfrm xmlns:a="http://schemas.openxmlformats.org/drawingml/2006/main">
            <a:off x="8048625"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5" name="">
            <a:extLst xmlns:a="http://schemas.openxmlformats.org/drawingml/2006/main">
              <a:ext uri="{FF2B5EF4-FFF2-40B4-BE49-F238E27FC236}">
                <a16:creationId xmlns:a16="http://schemas.microsoft.com/office/drawing/2014/main" id="{A464AE05-88BD-41BF-A7E6-D2CEAA850B42}"/>
              </a:ext>
            </a:extLst>
          </p:cNvPr>
          <p:cNvSpPr>
            <a:spLocks xmlns:a="http://schemas.openxmlformats.org/drawingml/2006/main" noGrp="1"/>
          </p:cNvSpPr>
          <p:nvPr/>
        </p:nvSpPr>
        <p:spPr>
          <a:xfrm xmlns:a="http://schemas.openxmlformats.org/drawingml/2006/main">
            <a:off x="8096250"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6" name="">
            <a:extLst xmlns:a="http://schemas.openxmlformats.org/drawingml/2006/main">
              <a:ext uri="{FF2B5EF4-FFF2-40B4-BE49-F238E27FC236}">
                <a16:creationId xmlns:a16="http://schemas.microsoft.com/office/drawing/2014/main" id="{21554E41-02DC-43F4-8656-3C1C466575F9}"/>
              </a:ext>
            </a:extLst>
          </p:cNvPr>
          <p:cNvSpPr>
            <a:spLocks xmlns:a="http://schemas.openxmlformats.org/drawingml/2006/main" noGrp="1"/>
          </p:cNvSpPr>
          <p:nvPr/>
        </p:nvSpPr>
        <p:spPr>
          <a:xfrm xmlns:a="http://schemas.openxmlformats.org/drawingml/2006/main">
            <a:off x="8143875"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7" name="">
            <a:extLst xmlns:a="http://schemas.openxmlformats.org/drawingml/2006/main">
              <a:ext uri="{FF2B5EF4-FFF2-40B4-BE49-F238E27FC236}">
                <a16:creationId xmlns:a16="http://schemas.microsoft.com/office/drawing/2014/main" id="{4EEEE3AC-6718-49F5-B13D-DD4484735806}"/>
              </a:ext>
            </a:extLst>
          </p:cNvPr>
          <p:cNvSpPr>
            <a:spLocks xmlns:a="http://schemas.openxmlformats.org/drawingml/2006/main" noGrp="1"/>
          </p:cNvSpPr>
          <p:nvPr/>
        </p:nvSpPr>
        <p:spPr>
          <a:xfrm xmlns:a="http://schemas.openxmlformats.org/drawingml/2006/main">
            <a:off x="8191500"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8" name="">
            <a:extLst xmlns:a="http://schemas.openxmlformats.org/drawingml/2006/main">
              <a:ext uri="{FF2B5EF4-FFF2-40B4-BE49-F238E27FC236}">
                <a16:creationId xmlns:a16="http://schemas.microsoft.com/office/drawing/2014/main" id="{421A1D41-0E38-4075-993A-F4BD79080540}"/>
              </a:ext>
            </a:extLst>
          </p:cNvPr>
          <p:cNvSpPr>
            <a:spLocks xmlns:a="http://schemas.openxmlformats.org/drawingml/2006/main" noGrp="1"/>
          </p:cNvSpPr>
          <p:nvPr/>
        </p:nvSpPr>
        <p:spPr>
          <a:xfrm xmlns:a="http://schemas.openxmlformats.org/drawingml/2006/main">
            <a:off x="8239125"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39" name="">
            <a:extLst xmlns:a="http://schemas.openxmlformats.org/drawingml/2006/main">
              <a:ext uri="{FF2B5EF4-FFF2-40B4-BE49-F238E27FC236}">
                <a16:creationId xmlns:a16="http://schemas.microsoft.com/office/drawing/2014/main" id="{8A682D05-848D-4797-914C-6165A1E87807}"/>
              </a:ext>
            </a:extLst>
          </p:cNvPr>
          <p:cNvSpPr>
            <a:spLocks xmlns:a="http://schemas.openxmlformats.org/drawingml/2006/main" noGrp="1"/>
          </p:cNvSpPr>
          <p:nvPr/>
        </p:nvSpPr>
        <p:spPr>
          <a:xfrm xmlns:a="http://schemas.openxmlformats.org/drawingml/2006/main">
            <a:off x="8286750"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40" name="">
            <a:extLst xmlns:a="http://schemas.openxmlformats.org/drawingml/2006/main">
              <a:ext uri="{FF2B5EF4-FFF2-40B4-BE49-F238E27FC236}">
                <a16:creationId xmlns:a16="http://schemas.microsoft.com/office/drawing/2014/main" id="{A42391CC-8193-4445-AC9B-0296C31892B2}"/>
              </a:ext>
            </a:extLst>
          </p:cNvPr>
          <p:cNvSpPr>
            <a:spLocks xmlns:a="http://schemas.openxmlformats.org/drawingml/2006/main" noGrp="1"/>
          </p:cNvSpPr>
          <p:nvPr/>
        </p:nvSpPr>
        <p:spPr>
          <a:xfrm xmlns:a="http://schemas.openxmlformats.org/drawingml/2006/main">
            <a:off x="8334375"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41" name="">
            <a:extLst xmlns:a="http://schemas.openxmlformats.org/drawingml/2006/main">
              <a:ext uri="{FF2B5EF4-FFF2-40B4-BE49-F238E27FC236}">
                <a16:creationId xmlns:a16="http://schemas.microsoft.com/office/drawing/2014/main" id="{412680E2-6993-4D98-836C-C72874333C71}"/>
              </a:ext>
            </a:extLst>
          </p:cNvPr>
          <p:cNvSpPr>
            <a:spLocks xmlns:a="http://schemas.openxmlformats.org/drawingml/2006/main" noGrp="1"/>
          </p:cNvSpPr>
          <p:nvPr/>
        </p:nvSpPr>
        <p:spPr>
          <a:xfrm xmlns:a="http://schemas.openxmlformats.org/drawingml/2006/main">
            <a:off x="8382000"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42" name="">
            <a:extLst xmlns:a="http://schemas.openxmlformats.org/drawingml/2006/main">
              <a:ext uri="{FF2B5EF4-FFF2-40B4-BE49-F238E27FC236}">
                <a16:creationId xmlns:a16="http://schemas.microsoft.com/office/drawing/2014/main" id="{492A5DE5-28BC-4171-AC3D-3B5E97D941DE}"/>
              </a:ext>
            </a:extLst>
          </p:cNvPr>
          <p:cNvSpPr>
            <a:spLocks xmlns:a="http://schemas.openxmlformats.org/drawingml/2006/main" noGrp="1"/>
          </p:cNvSpPr>
          <p:nvPr/>
        </p:nvSpPr>
        <p:spPr>
          <a:xfrm xmlns:a="http://schemas.openxmlformats.org/drawingml/2006/main">
            <a:off x="8429625"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43" name="">
            <a:extLst xmlns:a="http://schemas.openxmlformats.org/drawingml/2006/main">
              <a:ext uri="{FF2B5EF4-FFF2-40B4-BE49-F238E27FC236}">
                <a16:creationId xmlns:a16="http://schemas.microsoft.com/office/drawing/2014/main" id="{37CC73D4-3157-45A5-A352-30CE2986E5F7}"/>
              </a:ext>
            </a:extLst>
          </p:cNvPr>
          <p:cNvSpPr>
            <a:spLocks xmlns:a="http://schemas.openxmlformats.org/drawingml/2006/main" noGrp="1"/>
          </p:cNvSpPr>
          <p:nvPr/>
        </p:nvSpPr>
        <p:spPr>
          <a:xfrm xmlns:a="http://schemas.openxmlformats.org/drawingml/2006/main">
            <a:off x="8477250" y="4648200"/>
            <a:ext cx="33338" cy="33338"/>
          </a:xfrm>
          <a:prstGeom xmlns:a="http://schemas.openxmlformats.org/drawingml/2006/main" prst="ellipse">
            <a:avLst/>
          </a:prstGeom>
          <a:solidFill xmlns:a="http://schemas.openxmlformats.org/drawingml/2006/main">
            <a:srgbClr val="D35373"/>
          </a:solidFill>
          <a:ln xmlns:a="http://schemas.openxmlformats.org/drawingml/2006/main" w="0">
            <a:noFill/>
          </a:ln>
        </p:spPr>
      </p:sp>
      <p:sp>
        <p:nvSpPr>
          <p:cNvPr id="144" name="">
            <a:extLst xmlns:a="http://schemas.openxmlformats.org/drawingml/2006/main">
              <a:ext uri="{FF2B5EF4-FFF2-40B4-BE49-F238E27FC236}">
                <a16:creationId xmlns:a16="http://schemas.microsoft.com/office/drawing/2014/main" id="{378320C0-E734-449A-B8BD-F0B201A51AB2}"/>
              </a:ext>
            </a:extLst>
          </p:cNvPr>
          <p:cNvSpPr>
            <a:spLocks xmlns:a="http://schemas.openxmlformats.org/drawingml/2006/main" noGrp="1"/>
          </p:cNvSpPr>
          <p:nvPr/>
        </p:nvSpPr>
        <p:spPr>
          <a:xfrm xmlns:a="http://schemas.openxmlformats.org/drawingml/2006/main">
            <a:off x="457200" y="5467350"/>
            <a:ext cx="2238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24,981</a:t>
            </a:r>
          </a:p>
        </p:txBody>
      </p:sp>
      <p:sp>
        <p:nvSpPr>
          <p:cNvPr id="145" name="">
            <a:extLst xmlns:a="http://schemas.openxmlformats.org/drawingml/2006/main">
              <a:ext uri="{FF2B5EF4-FFF2-40B4-BE49-F238E27FC236}">
                <a16:creationId xmlns:a16="http://schemas.microsoft.com/office/drawing/2014/main" id="{79EB082F-5768-4BD6-BF17-8B60A7EA4D3C}"/>
              </a:ext>
            </a:extLst>
          </p:cNvPr>
          <p:cNvSpPr>
            <a:spLocks xmlns:a="http://schemas.openxmlformats.org/drawingml/2006/main" noGrp="1"/>
          </p:cNvSpPr>
          <p:nvPr/>
        </p:nvSpPr>
        <p:spPr>
          <a:xfrm xmlns:a="http://schemas.openxmlformats.org/drawingml/2006/main">
            <a:off x="457200" y="6048375"/>
            <a:ext cx="2381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transaction count</a:t>
            </a:r>
          </a:p>
        </p:txBody>
      </p:sp>
      <p:sp>
        <p:nvSpPr>
          <p:cNvPr id="146" name="">
            <a:extLst xmlns:a="http://schemas.openxmlformats.org/drawingml/2006/main">
              <a:ext uri="{FF2B5EF4-FFF2-40B4-BE49-F238E27FC236}">
                <a16:creationId xmlns:a16="http://schemas.microsoft.com/office/drawing/2014/main" id="{5E23BCE6-F784-4428-B25F-54CEE9EE407C}"/>
              </a:ext>
            </a:extLst>
          </p:cNvPr>
          <p:cNvSpPr>
            <a:spLocks xmlns:a="http://schemas.openxmlformats.org/drawingml/2006/main" noGrp="1"/>
          </p:cNvSpPr>
          <p:nvPr/>
        </p:nvSpPr>
        <p:spPr>
          <a:xfrm xmlns:a="http://schemas.openxmlformats.org/drawingml/2006/main">
            <a:off x="3286125" y="5534025"/>
            <a:ext cx="4095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100% availability</a:t>
            </a:r>
          </a:p>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No critical or major incidents</a:t>
            </a:r>
          </a:p>
        </p:txBody>
      </p:sp>
      <p:sp>
        <p:nvSpPr>
          <p:cNvPr id="147" name="">
            <a:extLst xmlns:a="http://schemas.openxmlformats.org/drawingml/2006/main">
              <a:ext uri="{FF2B5EF4-FFF2-40B4-BE49-F238E27FC236}">
                <a16:creationId xmlns:a16="http://schemas.microsoft.com/office/drawing/2014/main" id="{70C5288C-517F-41B8-B0D1-245EBBFDC5A2}"/>
              </a:ext>
            </a:extLst>
          </p:cNvPr>
          <p:cNvSpPr>
            <a:spLocks xmlns:a="http://schemas.openxmlformats.org/drawingml/2006/main" noGrp="1"/>
          </p:cNvSpPr>
          <p:nvPr/>
        </p:nvSpPr>
        <p:spPr>
          <a:xfrm xmlns:a="http://schemas.openxmlformats.org/drawingml/2006/main">
            <a:off x="7905750" y="5524500"/>
            <a:ext cx="381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DR unavailable</a:t>
            </a:r>
          </a:p>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Upgrade planned for 2027</a:t>
            </a:r>
          </a:p>
        </p:txBody>
      </p:sp>
    </p:spTree>
    <p:extLst>
      <p:ext uri="{BB962C8B-B14F-4D97-AF65-F5344CB8AC3E}">
        <p14:creationId xmlns:p14="http://schemas.microsoft.com/office/powerpoint/2010/main" val="115765132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0356618-470E-40AD-8626-38F10AE20EFC}"/>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8CD523DF-8E30-409A-B6FC-CA67A34851BD}"/>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HFLMS maintained continuity through secondary-server failover</a:t>
            </a:r>
          </a:p>
        </p:txBody>
      </p:sp>
      <p:sp>
        <p:nvSpPr>
          <p:cNvPr id="3" name="">
            <a:extLst xmlns:a="http://schemas.openxmlformats.org/drawingml/2006/main">
              <a:ext uri="{FF2B5EF4-FFF2-40B4-BE49-F238E27FC236}">
                <a16:creationId xmlns:a16="http://schemas.microsoft.com/office/drawing/2014/main" id="{46B307B7-CFF1-4867-9C4D-FEB462AE5CEB}"/>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23 completed demands. September volume eased 10.8% from August</a:t>
            </a:r>
          </a:p>
        </p:txBody>
      </p:sp>
      <p:sp>
        <p:nvSpPr>
          <p:cNvPr id="4" name="">
            <a:extLst xmlns:a="http://schemas.openxmlformats.org/drawingml/2006/main">
              <a:ext uri="{FF2B5EF4-FFF2-40B4-BE49-F238E27FC236}">
                <a16:creationId xmlns:a16="http://schemas.microsoft.com/office/drawing/2014/main" id="{C8892D64-79B4-40BD-B0AC-1359F1A715FA}"/>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CAB47B72-BE18-48A2-BAEE-E2F3AA5104BA}"/>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4</a:t>
            </a:r>
          </a:p>
        </p:txBody>
      </p:sp>
      <p:graphicFrame>
        <p:nvGraphicFramePr>
          <p:cNvPr id="17" name="Chart"/>
          <p:cNvGraphicFramePr/>
          <p:nvPr/>
        </p:nvGraphicFramePr>
        <p:xfrm>
          <a:off xmlns:a="http://schemas.openxmlformats.org/drawingml/2006/main" x="457200" y="2286000"/>
          <a:ext xmlns:a="http://schemas.openxmlformats.org/drawingml/2006/main" cx="7239000" cy="3048000"/>
        </p:xfrm>
        <a:graphic xmlns:a="http://schemas.openxmlformats.org/drawingml/2006/main">
          <a:graphicData uri="http://schemas.openxmlformats.org/drawingml/2006/chart">
            <c:chart xmlns:r="http://schemas.openxmlformats.org/officeDocument/2006/relationships" xmlns:c="http://schemas.openxmlformats.org/drawingml/2006/chart" r:id="Rd7cff283fb8b4e4d"/>
          </a:graphicData>
        </a:graphic>
      </p:graphicFrame>
      <p:sp>
        <p:nvSpPr>
          <p:cNvPr id="7" name="">
            <a:extLst xmlns:a="http://schemas.openxmlformats.org/drawingml/2006/main">
              <a:ext uri="{FF2B5EF4-FFF2-40B4-BE49-F238E27FC236}">
                <a16:creationId xmlns:a16="http://schemas.microsoft.com/office/drawing/2014/main" id="{55EEF314-A046-44A4-99B5-DA33B420EA43}"/>
              </a:ext>
            </a:extLst>
          </p:cNvPr>
          <p:cNvSpPr>
            <a:spLocks xmlns:a="http://schemas.openxmlformats.org/drawingml/2006/main" noGrp="1"/>
          </p:cNvSpPr>
          <p:nvPr/>
        </p:nvSpPr>
        <p:spPr>
          <a:xfrm xmlns:a="http://schemas.openxmlformats.org/drawingml/2006/main">
            <a:off x="8096250" y="2190750"/>
            <a:ext cx="3429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600" b="1">
                <a:solidFill>
                  <a:srgbClr val="087F68"/>
                </a:solidFill>
                <a:latin typeface="DejaVu Sans"/>
                <a:ea typeface="DejaVu Sans"/>
                <a:cs typeface="DejaVu Sans"/>
              </a:defRPr>
            </a:pPr>
            <a:r>
              <a:rPr sz="3600" b="1">
                <a:solidFill>
                  <a:srgbClr val="087F68"/>
                </a:solidFill>
                <a:latin typeface="DejaVu Sans"/>
                <a:ea typeface="DejaVu Sans"/>
                <a:cs typeface="DejaVu Sans"/>
              </a:rPr>
              <a:t>1.24B</a:t>
            </a:r>
          </a:p>
        </p:txBody>
      </p:sp>
      <p:sp>
        <p:nvSpPr>
          <p:cNvPr id="8" name="">
            <a:extLst xmlns:a="http://schemas.openxmlformats.org/drawingml/2006/main">
              <a:ext uri="{FF2B5EF4-FFF2-40B4-BE49-F238E27FC236}">
                <a16:creationId xmlns:a16="http://schemas.microsoft.com/office/drawing/2014/main" id="{119D777D-BD80-4176-A52B-0B37E6096702}"/>
              </a:ext>
            </a:extLst>
          </p:cNvPr>
          <p:cNvSpPr>
            <a:spLocks xmlns:a="http://schemas.openxmlformats.org/drawingml/2006/main" noGrp="1"/>
          </p:cNvSpPr>
          <p:nvPr/>
        </p:nvSpPr>
        <p:spPr>
          <a:xfrm xmlns:a="http://schemas.openxmlformats.org/drawingml/2006/main">
            <a:off x="8096250" y="2886075"/>
            <a:ext cx="3524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73A4B"/>
                </a:solidFill>
                <a:latin typeface="DejaVu Sans"/>
                <a:ea typeface="DejaVu Sans"/>
                <a:cs typeface="DejaVu Sans"/>
              </a:defRPr>
            </a:pPr>
            <a:r>
              <a:rPr sz="1875" b="0">
                <a:solidFill>
                  <a:srgbClr val="173A4B"/>
                </a:solidFill>
                <a:latin typeface="DejaVu Sans"/>
                <a:ea typeface="DejaVu Sans"/>
                <a:cs typeface="DejaVu Sans"/>
              </a:rPr>
              <a:t>774 transactions</a:t>
            </a:r>
          </a:p>
        </p:txBody>
      </p:sp>
      <p:sp>
        <p:nvSpPr>
          <p:cNvPr id="9" name="">
            <a:extLst xmlns:a="http://schemas.openxmlformats.org/drawingml/2006/main">
              <a:ext uri="{FF2B5EF4-FFF2-40B4-BE49-F238E27FC236}">
                <a16:creationId xmlns:a16="http://schemas.microsoft.com/office/drawing/2014/main" id="{4CE6B131-DF0F-44F3-AC83-373F4BE37130}"/>
              </a:ext>
            </a:extLst>
          </p:cNvPr>
          <p:cNvSpPr>
            <a:spLocks xmlns:a="http://schemas.openxmlformats.org/drawingml/2006/main" noGrp="1"/>
          </p:cNvSpPr>
          <p:nvPr/>
        </p:nvSpPr>
        <p:spPr>
          <a:xfrm xmlns:a="http://schemas.openxmlformats.org/drawingml/2006/main">
            <a:off x="8096250" y="3476625"/>
            <a:ext cx="36195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50 demands</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23 completed   /   15 in progress</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12 backlog   /   0 baseline 0</a:t>
            </a:r>
          </a:p>
        </p:txBody>
      </p:sp>
      <p:sp>
        <p:nvSpPr>
          <p:cNvPr id="10" name="">
            <a:extLst xmlns:a="http://schemas.openxmlformats.org/drawingml/2006/main">
              <a:ext uri="{FF2B5EF4-FFF2-40B4-BE49-F238E27FC236}">
                <a16:creationId xmlns:a16="http://schemas.microsoft.com/office/drawing/2014/main" id="{9F47022C-EB57-41CD-B462-35A2EECE290F}"/>
              </a:ext>
            </a:extLst>
          </p:cNvPr>
          <p:cNvSpPr>
            <a:spLocks xmlns:a="http://schemas.openxmlformats.org/drawingml/2006/main" noGrp="1"/>
          </p:cNvSpPr>
          <p:nvPr/>
        </p:nvSpPr>
        <p:spPr>
          <a:xfrm xmlns:a="http://schemas.openxmlformats.org/drawingml/2006/main">
            <a:off x="457200" y="5581650"/>
            <a:ext cx="5238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1 major incident</a:t>
            </a:r>
          </a:p>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12 minutes unplanned downtime</a:t>
            </a:r>
          </a:p>
        </p:txBody>
      </p:sp>
      <p:sp>
        <p:nvSpPr>
          <p:cNvPr id="11" name="">
            <a:extLst xmlns:a="http://schemas.openxmlformats.org/drawingml/2006/main">
              <a:ext uri="{FF2B5EF4-FFF2-40B4-BE49-F238E27FC236}">
                <a16:creationId xmlns:a16="http://schemas.microsoft.com/office/drawing/2014/main" id="{8FB6980D-7328-4DFD-91A6-45391180E0AF}"/>
              </a:ext>
            </a:extLst>
          </p:cNvPr>
          <p:cNvSpPr>
            <a:spLocks xmlns:a="http://schemas.openxmlformats.org/drawingml/2006/main" noGrp="1"/>
          </p:cNvSpPr>
          <p:nvPr/>
        </p:nvSpPr>
        <p:spPr>
          <a:xfrm xmlns:a="http://schemas.openxmlformats.org/drawingml/2006/main">
            <a:off x="8096250" y="5410200"/>
            <a:ext cx="3619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DR unavailable</a:t>
            </a:r>
          </a:p>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Upgrade planned for 2027</a:t>
            </a:r>
          </a:p>
        </p:txBody>
      </p:sp>
    </p:spTree>
    <p:extLst>
      <p:ext uri="{BB962C8B-B14F-4D97-AF65-F5344CB8AC3E}">
        <p14:creationId xmlns:p14="http://schemas.microsoft.com/office/powerpoint/2010/main" val="192178997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F766265-C576-4A45-9B25-0A6532B043EE}"/>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99F1C4E8-188D-4327-874A-ED9AEEDE8CD4}"/>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The delivery pipeline spans releases, controls and integrations</a:t>
            </a:r>
          </a:p>
        </p:txBody>
      </p:sp>
      <p:sp>
        <p:nvSpPr>
          <p:cNvPr id="3" name="">
            <a:extLst xmlns:a="http://schemas.openxmlformats.org/drawingml/2006/main">
              <a:ext uri="{FF2B5EF4-FFF2-40B4-BE49-F238E27FC236}">
                <a16:creationId xmlns:a16="http://schemas.microsoft.com/office/drawing/2014/main" id="{11A488C4-DC29-432A-9C72-20EE6F5FB3B0}"/>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Selected initiatives reported in September. Pipeline stages guide the next management review</a:t>
            </a:r>
          </a:p>
        </p:txBody>
      </p:sp>
      <p:sp>
        <p:nvSpPr>
          <p:cNvPr id="4" name="">
            <a:extLst xmlns:a="http://schemas.openxmlformats.org/drawingml/2006/main">
              <a:ext uri="{FF2B5EF4-FFF2-40B4-BE49-F238E27FC236}">
                <a16:creationId xmlns:a16="http://schemas.microsoft.com/office/drawing/2014/main" id="{6E596EF3-EDDD-4355-9844-3EC408C40116}"/>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7C2E0255-3A01-465E-AE4A-5C2EDA9385F2}"/>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5</a:t>
            </a:r>
          </a:p>
        </p:txBody>
      </p:sp>
      <p:sp>
        <p:nvSpPr>
          <p:cNvPr id="6" name="">
            <a:extLst xmlns:a="http://schemas.openxmlformats.org/drawingml/2006/main">
              <a:ext uri="{FF2B5EF4-FFF2-40B4-BE49-F238E27FC236}">
                <a16:creationId xmlns:a16="http://schemas.microsoft.com/office/drawing/2014/main" id="{B0CBB8FC-0948-4F76-BACE-8E023CA0C782}"/>
              </a:ext>
            </a:extLst>
          </p:cNvPr>
          <p:cNvSpPr>
            <a:spLocks xmlns:a="http://schemas.openxmlformats.org/drawingml/2006/main" noGrp="1"/>
          </p:cNvSpPr>
          <p:nvPr/>
        </p:nvSpPr>
        <p:spPr>
          <a:xfrm xmlns:a="http://schemas.openxmlformats.org/drawingml/2006/main">
            <a:off x="457200" y="2181225"/>
            <a:ext cx="3657600" cy="3695700"/>
          </a:xfrm>
          <a:prstGeom xmlns:a="http://schemas.openxmlformats.org/drawingml/2006/main" prst="roundRect">
            <a:avLst>
              <a:gd name="adj" fmla="val 3125"/>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C95E97CA-9787-4172-A8F2-2B75A44DD1A2}"/>
              </a:ext>
            </a:extLst>
          </p:cNvPr>
          <p:cNvSpPr>
            <a:spLocks xmlns:a="http://schemas.openxmlformats.org/drawingml/2006/main" noGrp="1"/>
          </p:cNvSpPr>
          <p:nvPr/>
        </p:nvSpPr>
        <p:spPr>
          <a:xfrm xmlns:a="http://schemas.openxmlformats.org/drawingml/2006/main">
            <a:off x="619125" y="23145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  IB / MB</a:t>
            </a:r>
          </a:p>
        </p:txBody>
      </p:sp>
      <p:sp>
        <p:nvSpPr>
          <p:cNvPr id="8" name="">
            <a:extLst xmlns:a="http://schemas.openxmlformats.org/drawingml/2006/main">
              <a:ext uri="{FF2B5EF4-FFF2-40B4-BE49-F238E27FC236}">
                <a16:creationId xmlns:a16="http://schemas.microsoft.com/office/drawing/2014/main" id="{38B5E765-CAB7-4A3F-A926-03EBA301EE38}"/>
              </a:ext>
            </a:extLst>
          </p:cNvPr>
          <p:cNvSpPr>
            <a:spLocks xmlns:a="http://schemas.openxmlformats.org/drawingml/2006/main" noGrp="1"/>
          </p:cNvSpPr>
          <p:nvPr/>
        </p:nvSpPr>
        <p:spPr>
          <a:xfrm xmlns:a="http://schemas.openxmlformats.org/drawingml/2006/main">
            <a:off x="619125" y="27813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LIVE / DELIVERED</a:t>
            </a:r>
          </a:p>
        </p:txBody>
      </p:sp>
      <p:sp>
        <p:nvSpPr>
          <p:cNvPr id="9" name="">
            <a:extLst xmlns:a="http://schemas.openxmlformats.org/drawingml/2006/main">
              <a:ext uri="{FF2B5EF4-FFF2-40B4-BE49-F238E27FC236}">
                <a16:creationId xmlns:a16="http://schemas.microsoft.com/office/drawing/2014/main" id="{5BC184AE-1EFB-4FA9-B44E-F7D21A367F02}"/>
              </a:ext>
            </a:extLst>
          </p:cNvPr>
          <p:cNvSpPr>
            <a:spLocks xmlns:a="http://schemas.openxmlformats.org/drawingml/2006/main" noGrp="1"/>
          </p:cNvSpPr>
          <p:nvPr/>
        </p:nvSpPr>
        <p:spPr>
          <a:xfrm xmlns:a="http://schemas.openxmlformats.org/drawingml/2006/main">
            <a:off x="619125" y="3048000"/>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Skywards cards removal from MB</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3x3 Drop 4 – Releases 1 &amp; 2</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TAB-52 – Tablet AOF audit requirement</a:t>
            </a:r>
          </a:p>
        </p:txBody>
      </p:sp>
      <p:sp>
        <p:nvSpPr>
          <p:cNvPr id="10" name="">
            <a:extLst xmlns:a="http://schemas.openxmlformats.org/drawingml/2006/main">
              <a:ext uri="{FF2B5EF4-FFF2-40B4-BE49-F238E27FC236}">
                <a16:creationId xmlns:a16="http://schemas.microsoft.com/office/drawing/2014/main" id="{3916B136-8E58-48A7-8981-F58DA0E76506}"/>
              </a:ext>
            </a:extLst>
          </p:cNvPr>
          <p:cNvSpPr>
            <a:spLocks xmlns:a="http://schemas.openxmlformats.org/drawingml/2006/main" noGrp="1"/>
          </p:cNvSpPr>
          <p:nvPr/>
        </p:nvSpPr>
        <p:spPr>
          <a:xfrm xmlns:a="http://schemas.openxmlformats.org/drawingml/2006/main">
            <a:off x="619125" y="424815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IN PROGRESS</a:t>
            </a:r>
          </a:p>
        </p:txBody>
      </p:sp>
      <p:sp>
        <p:nvSpPr>
          <p:cNvPr id="11" name="">
            <a:extLst xmlns:a="http://schemas.openxmlformats.org/drawingml/2006/main">
              <a:ext uri="{FF2B5EF4-FFF2-40B4-BE49-F238E27FC236}">
                <a16:creationId xmlns:a16="http://schemas.microsoft.com/office/drawing/2014/main" id="{EA276B2F-CC8A-41AB-9704-E8416DE75D1F}"/>
              </a:ext>
            </a:extLst>
          </p:cNvPr>
          <p:cNvSpPr>
            <a:spLocks xmlns:a="http://schemas.openxmlformats.org/drawingml/2006/main" noGrp="1"/>
          </p:cNvSpPr>
          <p:nvPr/>
        </p:nvSpPr>
        <p:spPr>
          <a:xfrm xmlns:a="http://schemas.openxmlformats.org/drawingml/2006/main">
            <a:off x="619125" y="4514850"/>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EFR cost enhancements – SIT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SWIFT GPI – Regression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Input Validations – Development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EFMS Upgrade – UAT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Emirati Card – SIT / UAT</a:t>
            </a:r>
          </a:p>
        </p:txBody>
      </p:sp>
      <p:sp>
        <p:nvSpPr>
          <p:cNvPr id="12" name="">
            <a:extLst xmlns:a="http://schemas.openxmlformats.org/drawingml/2006/main">
              <a:ext uri="{FF2B5EF4-FFF2-40B4-BE49-F238E27FC236}">
                <a16:creationId xmlns:a16="http://schemas.microsoft.com/office/drawing/2014/main" id="{E774B054-7AE6-44E8-94C5-B5E8F19FF241}"/>
              </a:ext>
            </a:extLst>
          </p:cNvPr>
          <p:cNvSpPr>
            <a:spLocks xmlns:a="http://schemas.openxmlformats.org/drawingml/2006/main" noGrp="1"/>
          </p:cNvSpPr>
          <p:nvPr/>
        </p:nvSpPr>
        <p:spPr>
          <a:xfrm xmlns:a="http://schemas.openxmlformats.org/drawingml/2006/main">
            <a:off x="4267200" y="2181225"/>
            <a:ext cx="3657600" cy="3695700"/>
          </a:xfrm>
          <a:prstGeom xmlns:a="http://schemas.openxmlformats.org/drawingml/2006/main" prst="roundRect">
            <a:avLst>
              <a:gd name="adj" fmla="val 3125"/>
            </a:avLst>
          </a:prstGeom>
          <a:solidFill xmlns:a="http://schemas.openxmlformats.org/drawingml/2006/main">
            <a:srgbClr val="E8F3FB"/>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DDB4CA09-BF4F-4E56-A38F-273921864D0A}"/>
              </a:ext>
            </a:extLst>
          </p:cNvPr>
          <p:cNvSpPr>
            <a:spLocks xmlns:a="http://schemas.openxmlformats.org/drawingml/2006/main" noGrp="1"/>
          </p:cNvSpPr>
          <p:nvPr/>
        </p:nvSpPr>
        <p:spPr>
          <a:xfrm xmlns:a="http://schemas.openxmlformats.org/drawingml/2006/main">
            <a:off x="4429125" y="23145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FinnOne</a:t>
            </a:r>
          </a:p>
        </p:txBody>
      </p:sp>
      <p:sp>
        <p:nvSpPr>
          <p:cNvPr id="14" name="">
            <a:extLst xmlns:a="http://schemas.openxmlformats.org/drawingml/2006/main">
              <a:ext uri="{FF2B5EF4-FFF2-40B4-BE49-F238E27FC236}">
                <a16:creationId xmlns:a16="http://schemas.microsoft.com/office/drawing/2014/main" id="{AD3E6451-8A97-4231-9271-8843F2AE3399}"/>
              </a:ext>
            </a:extLst>
          </p:cNvPr>
          <p:cNvSpPr>
            <a:spLocks xmlns:a="http://schemas.openxmlformats.org/drawingml/2006/main" noGrp="1"/>
          </p:cNvSpPr>
          <p:nvPr/>
        </p:nvSpPr>
        <p:spPr>
          <a:xfrm xmlns:a="http://schemas.openxmlformats.org/drawingml/2006/main">
            <a:off x="4429125" y="27813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8C2"/>
                </a:solidFill>
                <a:latin typeface="DejaVu Sans"/>
                <a:ea typeface="DejaVu Sans"/>
                <a:cs typeface="DejaVu Sans"/>
              </a:defRPr>
            </a:pPr>
            <a:r>
              <a:rPr sz="1125" b="1">
                <a:solidFill>
                  <a:srgbClr val="1688C2"/>
                </a:solidFill>
                <a:latin typeface="DejaVu Sans"/>
                <a:ea typeface="DejaVu Sans"/>
                <a:cs typeface="DejaVu Sans"/>
              </a:rPr>
              <a:t>LIVE / DELIVERED</a:t>
            </a:r>
          </a:p>
        </p:txBody>
      </p:sp>
      <p:sp>
        <p:nvSpPr>
          <p:cNvPr id="15" name="">
            <a:extLst xmlns:a="http://schemas.openxmlformats.org/drawingml/2006/main">
              <a:ext uri="{FF2B5EF4-FFF2-40B4-BE49-F238E27FC236}">
                <a16:creationId xmlns:a16="http://schemas.microsoft.com/office/drawing/2014/main" id="{11EE513D-51BC-4D57-B3AF-94A8A4C01E8B}"/>
              </a:ext>
            </a:extLst>
          </p:cNvPr>
          <p:cNvSpPr>
            <a:spLocks xmlns:a="http://schemas.openxmlformats.org/drawingml/2006/main" noGrp="1"/>
          </p:cNvSpPr>
          <p:nvPr/>
        </p:nvSpPr>
        <p:spPr>
          <a:xfrm xmlns:a="http://schemas.openxmlformats.org/drawingml/2006/main">
            <a:off x="4429125" y="3048000"/>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LL / LG flag field amendment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Multiple Rate Changes service request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Supplementary Card mobile number / email capture</a:t>
            </a:r>
          </a:p>
        </p:txBody>
      </p:sp>
      <p:sp>
        <p:nvSpPr>
          <p:cNvPr id="16" name="">
            <a:extLst xmlns:a="http://schemas.openxmlformats.org/drawingml/2006/main">
              <a:ext uri="{FF2B5EF4-FFF2-40B4-BE49-F238E27FC236}">
                <a16:creationId xmlns:a16="http://schemas.microsoft.com/office/drawing/2014/main" id="{F4651A38-7D02-45EA-B9F8-784ACE92F8EF}"/>
              </a:ext>
            </a:extLst>
          </p:cNvPr>
          <p:cNvSpPr>
            <a:spLocks xmlns:a="http://schemas.openxmlformats.org/drawingml/2006/main" noGrp="1"/>
          </p:cNvSpPr>
          <p:nvPr/>
        </p:nvSpPr>
        <p:spPr>
          <a:xfrm xmlns:a="http://schemas.openxmlformats.org/drawingml/2006/main">
            <a:off x="4429125" y="424815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1688C2"/>
                </a:solidFill>
                <a:latin typeface="DejaVu Sans"/>
                <a:ea typeface="DejaVu Sans"/>
                <a:cs typeface="DejaVu Sans"/>
              </a:defRPr>
            </a:pPr>
            <a:r>
              <a:rPr sz="1125" b="1">
                <a:solidFill>
                  <a:srgbClr val="1688C2"/>
                </a:solidFill>
                <a:latin typeface="DejaVu Sans"/>
                <a:ea typeface="DejaVu Sans"/>
                <a:cs typeface="DejaVu Sans"/>
              </a:rPr>
              <a:t>IN PROGRESS</a:t>
            </a:r>
          </a:p>
        </p:txBody>
      </p:sp>
      <p:sp>
        <p:nvSpPr>
          <p:cNvPr id="17" name="">
            <a:extLst xmlns:a="http://schemas.openxmlformats.org/drawingml/2006/main">
              <a:ext uri="{FF2B5EF4-FFF2-40B4-BE49-F238E27FC236}">
                <a16:creationId xmlns:a16="http://schemas.microsoft.com/office/drawing/2014/main" id="{D3AB1524-03D3-4D81-AA30-F87769F4C2CD}"/>
              </a:ext>
            </a:extLst>
          </p:cNvPr>
          <p:cNvSpPr>
            <a:spLocks xmlns:a="http://schemas.openxmlformats.org/drawingml/2006/main" noGrp="1"/>
          </p:cNvSpPr>
          <p:nvPr/>
        </p:nvSpPr>
        <p:spPr>
          <a:xfrm xmlns:a="http://schemas.openxmlformats.org/drawingml/2006/main">
            <a:off x="4429125" y="4514850"/>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RTA Integration – Design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PDC Remittance – UAT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EFR for PDC – Design</a:t>
            </a:r>
          </a:p>
        </p:txBody>
      </p:sp>
      <p:sp>
        <p:nvSpPr>
          <p:cNvPr id="18" name="">
            <a:extLst xmlns:a="http://schemas.openxmlformats.org/drawingml/2006/main">
              <a:ext uri="{FF2B5EF4-FFF2-40B4-BE49-F238E27FC236}">
                <a16:creationId xmlns:a16="http://schemas.microsoft.com/office/drawing/2014/main" id="{9593B7B7-A89A-4AB3-A4D8-BA1A68386788}"/>
              </a:ext>
            </a:extLst>
          </p:cNvPr>
          <p:cNvSpPr>
            <a:spLocks xmlns:a="http://schemas.openxmlformats.org/drawingml/2006/main" noGrp="1"/>
          </p:cNvSpPr>
          <p:nvPr/>
        </p:nvSpPr>
        <p:spPr>
          <a:xfrm xmlns:a="http://schemas.openxmlformats.org/drawingml/2006/main">
            <a:off x="8077200" y="2181225"/>
            <a:ext cx="3657600" cy="3695700"/>
          </a:xfrm>
          <a:prstGeom xmlns:a="http://schemas.openxmlformats.org/drawingml/2006/main" prst="roundRect">
            <a:avLst>
              <a:gd name="adj" fmla="val 3125"/>
            </a:avLst>
          </a:prstGeom>
          <a:solidFill xmlns:a="http://schemas.openxmlformats.org/drawingml/2006/main">
            <a:srgbClr val="F0EAF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810F42A-328D-413D-8988-C0E8DF09EEA8}"/>
              </a:ext>
            </a:extLst>
          </p:cNvPr>
          <p:cNvSpPr>
            <a:spLocks xmlns:a="http://schemas.openxmlformats.org/drawingml/2006/main" noGrp="1"/>
          </p:cNvSpPr>
          <p:nvPr/>
        </p:nvSpPr>
        <p:spPr>
          <a:xfrm xmlns:a="http://schemas.openxmlformats.org/drawingml/2006/main">
            <a:off x="8239125" y="231457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  HFLMS</a:t>
            </a:r>
          </a:p>
        </p:txBody>
      </p:sp>
      <p:sp>
        <p:nvSpPr>
          <p:cNvPr id="20" name="">
            <a:extLst xmlns:a="http://schemas.openxmlformats.org/drawingml/2006/main">
              <a:ext uri="{FF2B5EF4-FFF2-40B4-BE49-F238E27FC236}">
                <a16:creationId xmlns:a16="http://schemas.microsoft.com/office/drawing/2014/main" id="{3BCACDD8-BD31-433A-8D5D-673AC0284FFA}"/>
              </a:ext>
            </a:extLst>
          </p:cNvPr>
          <p:cNvSpPr>
            <a:spLocks xmlns:a="http://schemas.openxmlformats.org/drawingml/2006/main" noGrp="1"/>
          </p:cNvSpPr>
          <p:nvPr/>
        </p:nvSpPr>
        <p:spPr>
          <a:xfrm xmlns:a="http://schemas.openxmlformats.org/drawingml/2006/main">
            <a:off x="8239125" y="278130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875BC5"/>
                </a:solidFill>
                <a:latin typeface="DejaVu Sans"/>
                <a:ea typeface="DejaVu Sans"/>
                <a:cs typeface="DejaVu Sans"/>
              </a:defRPr>
            </a:pPr>
            <a:r>
              <a:rPr sz="1125" b="1">
                <a:solidFill>
                  <a:srgbClr val="875BC5"/>
                </a:solidFill>
                <a:latin typeface="DejaVu Sans"/>
                <a:ea typeface="DejaVu Sans"/>
                <a:cs typeface="DejaVu Sans"/>
              </a:rPr>
              <a:t>LIVE / DELIVERED</a:t>
            </a:r>
          </a:p>
        </p:txBody>
      </p:sp>
      <p:sp>
        <p:nvSpPr>
          <p:cNvPr id="21" name="">
            <a:extLst xmlns:a="http://schemas.openxmlformats.org/drawingml/2006/main">
              <a:ext uri="{FF2B5EF4-FFF2-40B4-BE49-F238E27FC236}">
                <a16:creationId xmlns:a16="http://schemas.microsoft.com/office/drawing/2014/main" id="{FCA865C8-BC52-4BEB-A239-7652AA1EA8FA}"/>
              </a:ext>
            </a:extLst>
          </p:cNvPr>
          <p:cNvSpPr>
            <a:spLocks xmlns:a="http://schemas.openxmlformats.org/drawingml/2006/main" noGrp="1"/>
          </p:cNvSpPr>
          <p:nvPr/>
        </p:nvSpPr>
        <p:spPr>
          <a:xfrm xmlns:a="http://schemas.openxmlformats.org/drawingml/2006/main">
            <a:off x="8239125" y="3048000"/>
            <a:ext cx="33337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No named live initiatives supplied</a:t>
            </a:r>
          </a:p>
        </p:txBody>
      </p:sp>
      <p:sp>
        <p:nvSpPr>
          <p:cNvPr id="22" name="">
            <a:extLst xmlns:a="http://schemas.openxmlformats.org/drawingml/2006/main">
              <a:ext uri="{FF2B5EF4-FFF2-40B4-BE49-F238E27FC236}">
                <a16:creationId xmlns:a16="http://schemas.microsoft.com/office/drawing/2014/main" id="{68991847-8BE5-4B95-93BC-8E374A260BD6}"/>
              </a:ext>
            </a:extLst>
          </p:cNvPr>
          <p:cNvSpPr>
            <a:spLocks xmlns:a="http://schemas.openxmlformats.org/drawingml/2006/main" noGrp="1"/>
          </p:cNvSpPr>
          <p:nvPr/>
        </p:nvSpPr>
        <p:spPr>
          <a:xfrm xmlns:a="http://schemas.openxmlformats.org/drawingml/2006/main">
            <a:off x="8239125" y="4248150"/>
            <a:ext cx="33337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875BC5"/>
                </a:solidFill>
                <a:latin typeface="DejaVu Sans"/>
                <a:ea typeface="DejaVu Sans"/>
                <a:cs typeface="DejaVu Sans"/>
              </a:defRPr>
            </a:pPr>
            <a:r>
              <a:rPr sz="1125" b="1">
                <a:solidFill>
                  <a:srgbClr val="875BC5"/>
                </a:solidFill>
                <a:latin typeface="DejaVu Sans"/>
                <a:ea typeface="DejaVu Sans"/>
                <a:cs typeface="DejaVu Sans"/>
              </a:rPr>
              <a:t>IN PROGRESS</a:t>
            </a:r>
          </a:p>
        </p:txBody>
      </p:sp>
      <p:sp>
        <p:nvSpPr>
          <p:cNvPr id="23" name="">
            <a:extLst xmlns:a="http://schemas.openxmlformats.org/drawingml/2006/main">
              <a:ext uri="{FF2B5EF4-FFF2-40B4-BE49-F238E27FC236}">
                <a16:creationId xmlns:a16="http://schemas.microsoft.com/office/drawing/2014/main" id="{15149640-7B3A-48FC-AD04-2260CD82FA30}"/>
              </a:ext>
            </a:extLst>
          </p:cNvPr>
          <p:cNvSpPr>
            <a:spLocks xmlns:a="http://schemas.openxmlformats.org/drawingml/2006/main" noGrp="1"/>
          </p:cNvSpPr>
          <p:nvPr/>
        </p:nvSpPr>
        <p:spPr>
          <a:xfrm xmlns:a="http://schemas.openxmlformats.org/drawingml/2006/main">
            <a:off x="8239125" y="4514850"/>
            <a:ext cx="3333750" cy="1295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HF48 Forward Ijara Freehold Phase 2</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Dedup logic controls in customer onboarding*</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Duplicate CIF: linkage of closed customer*</a:t>
            </a:r>
          </a:p>
        </p:txBody>
      </p:sp>
      <p:sp>
        <p:nvSpPr>
          <p:cNvPr id="24" name="">
            <a:extLst xmlns:a="http://schemas.openxmlformats.org/drawingml/2006/main">
              <a:ext uri="{FF2B5EF4-FFF2-40B4-BE49-F238E27FC236}">
                <a16:creationId xmlns:a16="http://schemas.microsoft.com/office/drawing/2014/main" id="{F3215B98-815B-4091-B642-9274B94F6D67}"/>
              </a:ext>
            </a:extLst>
          </p:cNvPr>
          <p:cNvSpPr>
            <a:spLocks xmlns:a="http://schemas.openxmlformats.org/drawingml/2006/main" noGrp="1"/>
          </p:cNvSpPr>
          <p:nvPr/>
        </p:nvSpPr>
        <p:spPr>
          <a:xfrm xmlns:a="http://schemas.openxmlformats.org/drawingml/2006/main">
            <a:off x="457200" y="6105525"/>
            <a:ext cx="112776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B89"/>
                </a:solidFill>
                <a:latin typeface="DejaVu Sans"/>
                <a:ea typeface="DejaVu Sans"/>
                <a:cs typeface="DejaVu Sans"/>
              </a:defRPr>
            </a:pPr>
            <a:r>
              <a:rPr sz="1200" b="0">
                <a:solidFill>
                  <a:srgbClr val="647B89"/>
                </a:solidFill>
                <a:latin typeface="DejaVu Sans"/>
                <a:ea typeface="DejaVu Sans"/>
                <a:cs typeface="DejaVu Sans"/>
              </a:rPr>
              <a:t>* HFLMS + Core Banking. Source gives no stage for these initiatives. Names and abbreviations retain the source terminology.</a:t>
            </a:r>
          </a:p>
        </p:txBody>
      </p:sp>
    </p:spTree>
    <p:extLst>
      <p:ext uri="{BB962C8B-B14F-4D97-AF65-F5344CB8AC3E}">
        <p14:creationId xmlns:p14="http://schemas.microsoft.com/office/powerpoint/2010/main" val="13846896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8FB3F8D-84C7-4EA4-B08C-412C428BB3AA}"/>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970F864E-D7DA-4494-95AE-9C19ED9A5DD4}"/>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Management priorities: capacity and recovery readiness</a:t>
            </a:r>
          </a:p>
        </p:txBody>
      </p:sp>
      <p:sp>
        <p:nvSpPr>
          <p:cNvPr id="3" name="">
            <a:extLst xmlns:a="http://schemas.openxmlformats.org/drawingml/2006/main">
              <a:ext uri="{FF2B5EF4-FFF2-40B4-BE49-F238E27FC236}">
                <a16:creationId xmlns:a16="http://schemas.microsoft.com/office/drawing/2014/main" id="{9F6A50DA-23DE-404D-8546-6F727B82DAC5}"/>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Recommended management actions based on September reporting</a:t>
            </a:r>
          </a:p>
        </p:txBody>
      </p:sp>
      <p:sp>
        <p:nvSpPr>
          <p:cNvPr id="4" name="">
            <a:extLst xmlns:a="http://schemas.openxmlformats.org/drawingml/2006/main">
              <a:ext uri="{FF2B5EF4-FFF2-40B4-BE49-F238E27FC236}">
                <a16:creationId xmlns:a16="http://schemas.microsoft.com/office/drawing/2014/main" id="{473B6D32-F45D-4F30-A6AD-8F00DEC5895E}"/>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C279D631-09AD-4D63-91FE-7A176F0621B0}"/>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6</a:t>
            </a:r>
          </a:p>
        </p:txBody>
      </p:sp>
      <p:sp>
        <p:nvSpPr>
          <p:cNvPr id="6" name="">
            <a:extLst xmlns:a="http://schemas.openxmlformats.org/drawingml/2006/main">
              <a:ext uri="{FF2B5EF4-FFF2-40B4-BE49-F238E27FC236}">
                <a16:creationId xmlns:a16="http://schemas.microsoft.com/office/drawing/2014/main" id="{1D059BB6-94D2-486F-8968-31B1C647A0B7}"/>
              </a:ext>
            </a:extLst>
          </p:cNvPr>
          <p:cNvSpPr>
            <a:spLocks xmlns:a="http://schemas.openxmlformats.org/drawingml/2006/main" noGrp="1"/>
          </p:cNvSpPr>
          <p:nvPr/>
        </p:nvSpPr>
        <p:spPr>
          <a:xfrm xmlns:a="http://schemas.openxmlformats.org/drawingml/2006/main">
            <a:off x="457200" y="2190750"/>
            <a:ext cx="5543550" cy="1219200"/>
          </a:xfrm>
          <a:prstGeom xmlns:a="http://schemas.openxmlformats.org/drawingml/2006/main" prst="roundRect">
            <a:avLst>
              <a:gd name="adj" fmla="val 9375"/>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184647F-6642-41F5-A417-BA60D97DB102}"/>
              </a:ext>
            </a:extLst>
          </p:cNvPr>
          <p:cNvSpPr>
            <a:spLocks xmlns:a="http://schemas.openxmlformats.org/drawingml/2006/main" noGrp="1"/>
          </p:cNvSpPr>
          <p:nvPr/>
        </p:nvSpPr>
        <p:spPr>
          <a:xfrm xmlns:a="http://schemas.openxmlformats.org/drawingml/2006/main">
            <a:off x="600075" y="2305050"/>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68"/>
                </a:solidFill>
                <a:latin typeface="DejaVu Sans"/>
                <a:ea typeface="DejaVu Sans"/>
                <a:cs typeface="DejaVu Sans"/>
              </a:defRPr>
            </a:pPr>
            <a:r>
              <a:rPr sz="1950" b="1">
                <a:solidFill>
                  <a:srgbClr val="087F68"/>
                </a:solidFill>
                <a:latin typeface="DejaVu Sans"/>
                <a:ea typeface="DejaVu Sans"/>
                <a:cs typeface="DejaVu Sans"/>
              </a:rPr>
              <a:t>!</a:t>
            </a:r>
          </a:p>
        </p:txBody>
      </p:sp>
      <p:sp>
        <p:nvSpPr>
          <p:cNvPr id="8" name="">
            <a:extLst xmlns:a="http://schemas.openxmlformats.org/drawingml/2006/main">
              <a:ext uri="{FF2B5EF4-FFF2-40B4-BE49-F238E27FC236}">
                <a16:creationId xmlns:a16="http://schemas.microsoft.com/office/drawing/2014/main" id="{00AE61E4-D682-4C97-B3AB-98517AEDA756}"/>
              </a:ext>
            </a:extLst>
          </p:cNvPr>
          <p:cNvSpPr>
            <a:spLocks xmlns:a="http://schemas.openxmlformats.org/drawingml/2006/main" noGrp="1"/>
          </p:cNvSpPr>
          <p:nvPr/>
        </p:nvSpPr>
        <p:spPr>
          <a:xfrm xmlns:a="http://schemas.openxmlformats.org/drawingml/2006/main">
            <a:off x="1181100" y="2324100"/>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MB reliability</a:t>
            </a:r>
          </a:p>
        </p:txBody>
      </p:sp>
      <p:sp>
        <p:nvSpPr>
          <p:cNvPr id="9" name="">
            <a:extLst xmlns:a="http://schemas.openxmlformats.org/drawingml/2006/main">
              <a:ext uri="{FF2B5EF4-FFF2-40B4-BE49-F238E27FC236}">
                <a16:creationId xmlns:a16="http://schemas.microsoft.com/office/drawing/2014/main" id="{3BFA43AE-040F-4147-9E26-B8B96A69CDC8}"/>
              </a:ext>
            </a:extLst>
          </p:cNvPr>
          <p:cNvSpPr>
            <a:spLocks xmlns:a="http://schemas.openxmlformats.org/drawingml/2006/main" noGrp="1"/>
          </p:cNvSpPr>
          <p:nvPr/>
        </p:nvSpPr>
        <p:spPr>
          <a:xfrm xmlns:a="http://schemas.openxmlformats.org/drawingml/2006/main">
            <a:off x="600075" y="2686050"/>
            <a:ext cx="5257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Review the DDoS threshold event and mitigation controls</a:t>
            </a:r>
          </a:p>
        </p:txBody>
      </p:sp>
      <p:sp>
        <p:nvSpPr>
          <p:cNvPr id="10" name="">
            <a:extLst xmlns:a="http://schemas.openxmlformats.org/drawingml/2006/main">
              <a:ext uri="{FF2B5EF4-FFF2-40B4-BE49-F238E27FC236}">
                <a16:creationId xmlns:a16="http://schemas.microsoft.com/office/drawing/2014/main" id="{D7553ACF-D67B-475C-BD15-7F8877B8746B}"/>
              </a:ext>
            </a:extLst>
          </p:cNvPr>
          <p:cNvSpPr>
            <a:spLocks xmlns:a="http://schemas.openxmlformats.org/drawingml/2006/main" noGrp="1"/>
          </p:cNvSpPr>
          <p:nvPr/>
        </p:nvSpPr>
        <p:spPr>
          <a:xfrm xmlns:a="http://schemas.openxmlformats.org/drawingml/2006/main">
            <a:off x="6191250" y="2190750"/>
            <a:ext cx="5543550" cy="1219200"/>
          </a:xfrm>
          <a:prstGeom xmlns:a="http://schemas.openxmlformats.org/drawingml/2006/main" prst="roundRect">
            <a:avLst>
              <a:gd name="adj" fmla="val 9375"/>
            </a:avLst>
          </a:prstGeom>
          <a:solidFill xmlns:a="http://schemas.openxmlformats.org/drawingml/2006/main">
            <a:srgbClr val="E8F3F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0A3A968-3410-46B5-A3B2-AB452053DCE8}"/>
              </a:ext>
            </a:extLst>
          </p:cNvPr>
          <p:cNvSpPr>
            <a:spLocks xmlns:a="http://schemas.openxmlformats.org/drawingml/2006/main" noGrp="1"/>
          </p:cNvSpPr>
          <p:nvPr/>
        </p:nvSpPr>
        <p:spPr>
          <a:xfrm xmlns:a="http://schemas.openxmlformats.org/drawingml/2006/main">
            <a:off x="6334125" y="2305050"/>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688C2"/>
                </a:solidFill>
                <a:latin typeface="DejaVu Sans"/>
                <a:ea typeface="DejaVu Sans"/>
                <a:cs typeface="DejaVu Sans"/>
              </a:defRPr>
            </a:pPr>
            <a:r>
              <a:rPr sz="1950" b="1">
                <a:solidFill>
                  <a:srgbClr val="1688C2"/>
                </a:solidFill>
                <a:latin typeface="DejaVu Sans"/>
                <a:ea typeface="DejaVu Sans"/>
                <a:cs typeface="DejaVu Sans"/>
              </a:rPr>
              <a:t>▦</a:t>
            </a:r>
          </a:p>
        </p:txBody>
      </p:sp>
      <p:sp>
        <p:nvSpPr>
          <p:cNvPr id="12" name="">
            <a:extLst xmlns:a="http://schemas.openxmlformats.org/drawingml/2006/main">
              <a:ext uri="{FF2B5EF4-FFF2-40B4-BE49-F238E27FC236}">
                <a16:creationId xmlns:a16="http://schemas.microsoft.com/office/drawing/2014/main" id="{01859633-8055-416F-A667-9DD8A0AF8A0E}"/>
              </a:ext>
            </a:extLst>
          </p:cNvPr>
          <p:cNvSpPr>
            <a:spLocks xmlns:a="http://schemas.openxmlformats.org/drawingml/2006/main" noGrp="1"/>
          </p:cNvSpPr>
          <p:nvPr/>
        </p:nvSpPr>
        <p:spPr>
          <a:xfrm xmlns:a="http://schemas.openxmlformats.org/drawingml/2006/main">
            <a:off x="6915150" y="2324100"/>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88C2"/>
                </a:solidFill>
                <a:latin typeface="DejaVu Sans"/>
                <a:ea typeface="DejaVu Sans"/>
                <a:cs typeface="DejaVu Sans"/>
              </a:defRPr>
            </a:pPr>
            <a:r>
              <a:rPr sz="1725" b="1">
                <a:solidFill>
                  <a:srgbClr val="1688C2"/>
                </a:solidFill>
                <a:latin typeface="DejaVu Sans"/>
                <a:ea typeface="DejaVu Sans"/>
                <a:cs typeface="DejaVu Sans"/>
              </a:rPr>
              <a:t>Backlog capacity</a:t>
            </a:r>
          </a:p>
        </p:txBody>
      </p:sp>
      <p:sp>
        <p:nvSpPr>
          <p:cNvPr id="13" name="">
            <a:extLst xmlns:a="http://schemas.openxmlformats.org/drawingml/2006/main">
              <a:ext uri="{FF2B5EF4-FFF2-40B4-BE49-F238E27FC236}">
                <a16:creationId xmlns:a16="http://schemas.microsoft.com/office/drawing/2014/main" id="{0412D21B-FFB5-4714-BD7A-0C0DEBBFD969}"/>
              </a:ext>
            </a:extLst>
          </p:cNvPr>
          <p:cNvSpPr>
            <a:spLocks xmlns:a="http://schemas.openxmlformats.org/drawingml/2006/main" noGrp="1"/>
          </p:cNvSpPr>
          <p:nvPr/>
        </p:nvSpPr>
        <p:spPr>
          <a:xfrm xmlns:a="http://schemas.openxmlformats.org/drawingml/2006/main">
            <a:off x="6334125" y="2686050"/>
            <a:ext cx="5257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Prioritize 68 backlog items across the three portfolios</a:t>
            </a:r>
          </a:p>
        </p:txBody>
      </p:sp>
      <p:sp>
        <p:nvSpPr>
          <p:cNvPr id="14" name="">
            <a:extLst xmlns:a="http://schemas.openxmlformats.org/drawingml/2006/main">
              <a:ext uri="{FF2B5EF4-FFF2-40B4-BE49-F238E27FC236}">
                <a16:creationId xmlns:a16="http://schemas.microsoft.com/office/drawing/2014/main" id="{A3992B50-5183-4FEE-BFC4-E7C0F9F33CAB}"/>
              </a:ext>
            </a:extLst>
          </p:cNvPr>
          <p:cNvSpPr>
            <a:spLocks xmlns:a="http://schemas.openxmlformats.org/drawingml/2006/main" noGrp="1"/>
          </p:cNvSpPr>
          <p:nvPr/>
        </p:nvSpPr>
        <p:spPr>
          <a:xfrm xmlns:a="http://schemas.openxmlformats.org/drawingml/2006/main">
            <a:off x="457200" y="3552825"/>
            <a:ext cx="5543550" cy="1219200"/>
          </a:xfrm>
          <a:prstGeom xmlns:a="http://schemas.openxmlformats.org/drawingml/2006/main" prst="roundRect">
            <a:avLst>
              <a:gd name="adj" fmla="val 9375"/>
            </a:avLst>
          </a:prstGeom>
          <a:solidFill xmlns:a="http://schemas.openxmlformats.org/drawingml/2006/main">
            <a:srgbClr val="FFF4D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5EC8530C-90CF-461B-A90E-002C639DF557}"/>
              </a:ext>
            </a:extLst>
          </p:cNvPr>
          <p:cNvSpPr>
            <a:spLocks xmlns:a="http://schemas.openxmlformats.org/drawingml/2006/main" noGrp="1"/>
          </p:cNvSpPr>
          <p:nvPr/>
        </p:nvSpPr>
        <p:spPr>
          <a:xfrm xmlns:a="http://schemas.openxmlformats.org/drawingml/2006/main">
            <a:off x="600075" y="366712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875BC5"/>
                </a:solidFill>
                <a:latin typeface="DejaVu Sans"/>
                <a:ea typeface="DejaVu Sans"/>
                <a:cs typeface="DejaVu Sans"/>
              </a:defRPr>
            </a:pPr>
            <a:r>
              <a:rPr sz="1950" b="1">
                <a:solidFill>
                  <a:srgbClr val="875BC5"/>
                </a:solidFill>
                <a:latin typeface="DejaVu Sans"/>
                <a:ea typeface="DejaVu Sans"/>
                <a:cs typeface="DejaVu Sans"/>
              </a:rPr>
              <a:t>⟳</a:t>
            </a:r>
          </a:p>
        </p:txBody>
      </p:sp>
      <p:sp>
        <p:nvSpPr>
          <p:cNvPr id="16" name="">
            <a:extLst xmlns:a="http://schemas.openxmlformats.org/drawingml/2006/main">
              <a:ext uri="{FF2B5EF4-FFF2-40B4-BE49-F238E27FC236}">
                <a16:creationId xmlns:a16="http://schemas.microsoft.com/office/drawing/2014/main" id="{22884665-8031-4E17-9461-E329CDD1AA45}"/>
              </a:ext>
            </a:extLst>
          </p:cNvPr>
          <p:cNvSpPr>
            <a:spLocks xmlns:a="http://schemas.openxmlformats.org/drawingml/2006/main" noGrp="1"/>
          </p:cNvSpPr>
          <p:nvPr/>
        </p:nvSpPr>
        <p:spPr>
          <a:xfrm xmlns:a="http://schemas.openxmlformats.org/drawingml/2006/main">
            <a:off x="1181100" y="3686175"/>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875BC5"/>
                </a:solidFill>
                <a:latin typeface="DejaVu Sans"/>
                <a:ea typeface="DejaVu Sans"/>
                <a:cs typeface="DejaVu Sans"/>
              </a:defRPr>
            </a:pPr>
            <a:r>
              <a:rPr sz="1725" b="1">
                <a:solidFill>
                  <a:srgbClr val="875BC5"/>
                </a:solidFill>
                <a:latin typeface="DejaVu Sans"/>
                <a:ea typeface="DejaVu Sans"/>
                <a:cs typeface="DejaVu Sans"/>
              </a:rPr>
              <a:t>Recovery exposure</a:t>
            </a:r>
          </a:p>
        </p:txBody>
      </p:sp>
      <p:sp>
        <p:nvSpPr>
          <p:cNvPr id="17" name="">
            <a:extLst xmlns:a="http://schemas.openxmlformats.org/drawingml/2006/main">
              <a:ext uri="{FF2B5EF4-FFF2-40B4-BE49-F238E27FC236}">
                <a16:creationId xmlns:a16="http://schemas.microsoft.com/office/drawing/2014/main" id="{FC51C3CB-5C23-4462-945A-75F07260BADA}"/>
              </a:ext>
            </a:extLst>
          </p:cNvPr>
          <p:cNvSpPr>
            <a:spLocks xmlns:a="http://schemas.openxmlformats.org/drawingml/2006/main" noGrp="1"/>
          </p:cNvSpPr>
          <p:nvPr/>
        </p:nvSpPr>
        <p:spPr>
          <a:xfrm xmlns:a="http://schemas.openxmlformats.org/drawingml/2006/main">
            <a:off x="600075" y="4048125"/>
            <a:ext cx="5257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Agree interim recovery controls for FinnOne and HFLMS</a:t>
            </a:r>
          </a:p>
        </p:txBody>
      </p:sp>
      <p:sp>
        <p:nvSpPr>
          <p:cNvPr id="18" name="">
            <a:extLst xmlns:a="http://schemas.openxmlformats.org/drawingml/2006/main">
              <a:ext uri="{FF2B5EF4-FFF2-40B4-BE49-F238E27FC236}">
                <a16:creationId xmlns:a16="http://schemas.microsoft.com/office/drawing/2014/main" id="{786B5FB4-6E90-4CA4-B1B5-649ED2255816}"/>
              </a:ext>
            </a:extLst>
          </p:cNvPr>
          <p:cNvSpPr>
            <a:spLocks xmlns:a="http://schemas.openxmlformats.org/drawingml/2006/main" noGrp="1"/>
          </p:cNvSpPr>
          <p:nvPr/>
        </p:nvSpPr>
        <p:spPr>
          <a:xfrm xmlns:a="http://schemas.openxmlformats.org/drawingml/2006/main">
            <a:off x="6191250" y="3552825"/>
            <a:ext cx="5543550" cy="1219200"/>
          </a:xfrm>
          <a:prstGeom xmlns:a="http://schemas.openxmlformats.org/drawingml/2006/main" prst="roundRect">
            <a:avLst>
              <a:gd name="adj" fmla="val 9375"/>
            </a:avLst>
          </a:prstGeom>
          <a:solidFill xmlns:a="http://schemas.openxmlformats.org/drawingml/2006/main">
            <a:srgbClr val="F0EAF9"/>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588E0D5E-3192-47F0-94AD-4B58281EF2F4}"/>
              </a:ext>
            </a:extLst>
          </p:cNvPr>
          <p:cNvSpPr>
            <a:spLocks xmlns:a="http://schemas.openxmlformats.org/drawingml/2006/main" noGrp="1"/>
          </p:cNvSpPr>
          <p:nvPr/>
        </p:nvSpPr>
        <p:spPr>
          <a:xfrm xmlns:a="http://schemas.openxmlformats.org/drawingml/2006/main">
            <a:off x="6334125" y="3667125"/>
            <a:ext cx="495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CC7D16"/>
                </a:solidFill>
                <a:latin typeface="DejaVu Sans"/>
                <a:ea typeface="DejaVu Sans"/>
                <a:cs typeface="DejaVu Sans"/>
              </a:defRPr>
            </a:pPr>
            <a:r>
              <a:rPr sz="1950" b="1">
                <a:solidFill>
                  <a:srgbClr val="CC7D16"/>
                </a:solidFill>
                <a:latin typeface="DejaVu Sans"/>
                <a:ea typeface="DejaVu Sans"/>
                <a:cs typeface="DejaVu Sans"/>
              </a:rPr>
              <a:t>✓</a:t>
            </a:r>
          </a:p>
        </p:txBody>
      </p:sp>
      <p:sp>
        <p:nvSpPr>
          <p:cNvPr id="20" name="">
            <a:extLst xmlns:a="http://schemas.openxmlformats.org/drawingml/2006/main">
              <a:ext uri="{FF2B5EF4-FFF2-40B4-BE49-F238E27FC236}">
                <a16:creationId xmlns:a16="http://schemas.microsoft.com/office/drawing/2014/main" id="{3EEA816C-CABD-404A-9D79-96436F9EFD03}"/>
              </a:ext>
            </a:extLst>
          </p:cNvPr>
          <p:cNvSpPr>
            <a:spLocks xmlns:a="http://schemas.openxmlformats.org/drawingml/2006/main" noGrp="1"/>
          </p:cNvSpPr>
          <p:nvPr/>
        </p:nvSpPr>
        <p:spPr>
          <a:xfrm xmlns:a="http://schemas.openxmlformats.org/drawingml/2006/main">
            <a:off x="6915150" y="3686175"/>
            <a:ext cx="4686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7D16"/>
                </a:solidFill>
                <a:latin typeface="DejaVu Sans"/>
                <a:ea typeface="DejaVu Sans"/>
                <a:cs typeface="DejaVu Sans"/>
              </a:defRPr>
            </a:pPr>
            <a:r>
              <a:rPr sz="1725" b="1">
                <a:solidFill>
                  <a:srgbClr val="CC7D16"/>
                </a:solidFill>
                <a:latin typeface="DejaVu Sans"/>
                <a:ea typeface="DejaVu Sans"/>
                <a:cs typeface="DejaVu Sans"/>
              </a:rPr>
              <a:t>Delivery progression</a:t>
            </a:r>
          </a:p>
        </p:txBody>
      </p:sp>
      <p:sp>
        <p:nvSpPr>
          <p:cNvPr id="21" name="">
            <a:extLst xmlns:a="http://schemas.openxmlformats.org/drawingml/2006/main">
              <a:ext uri="{FF2B5EF4-FFF2-40B4-BE49-F238E27FC236}">
                <a16:creationId xmlns:a16="http://schemas.microsoft.com/office/drawing/2014/main" id="{0633DC4E-A9FD-4296-8AA6-495B632981DA}"/>
              </a:ext>
            </a:extLst>
          </p:cNvPr>
          <p:cNvSpPr>
            <a:spLocks xmlns:a="http://schemas.openxmlformats.org/drawingml/2006/main" noGrp="1"/>
          </p:cNvSpPr>
          <p:nvPr/>
        </p:nvSpPr>
        <p:spPr>
          <a:xfrm xmlns:a="http://schemas.openxmlformats.org/drawingml/2006/main">
            <a:off x="6334125" y="4048125"/>
            <a:ext cx="52578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Review readiness of SIT, UAT and regression items</a:t>
            </a:r>
          </a:p>
        </p:txBody>
      </p:sp>
      <p:sp>
        <p:nvSpPr>
          <p:cNvPr id="22" name="">
            <a:extLst xmlns:a="http://schemas.openxmlformats.org/drawingml/2006/main">
              <a:ext uri="{FF2B5EF4-FFF2-40B4-BE49-F238E27FC236}">
                <a16:creationId xmlns:a16="http://schemas.microsoft.com/office/drawing/2014/main" id="{36562AF2-E1BB-4961-BD34-9A182756DA14}"/>
              </a:ext>
            </a:extLst>
          </p:cNvPr>
          <p:cNvSpPr>
            <a:spLocks xmlns:a="http://schemas.openxmlformats.org/drawingml/2006/main" noGrp="1"/>
          </p:cNvSpPr>
          <p:nvPr/>
        </p:nvSpPr>
        <p:spPr>
          <a:xfrm xmlns:a="http://schemas.openxmlformats.org/drawingml/2006/main">
            <a:off x="457200" y="4857750"/>
            <a:ext cx="53340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Infrastructure has reported headroom</a:t>
            </a:r>
          </a:p>
        </p:txBody>
      </p:sp>
      <p:sp>
        <p:nvSpPr>
          <p:cNvPr id="23" name="">
            <a:extLst xmlns:a="http://schemas.openxmlformats.org/drawingml/2006/main">
              <a:ext uri="{FF2B5EF4-FFF2-40B4-BE49-F238E27FC236}">
                <a16:creationId xmlns:a16="http://schemas.microsoft.com/office/drawing/2014/main" id="{83473397-39D7-43EA-8F92-08D19CE08531}"/>
              </a:ext>
            </a:extLst>
          </p:cNvPr>
          <p:cNvSpPr>
            <a:spLocks xmlns:a="http://schemas.openxmlformats.org/drawingml/2006/main" noGrp="1"/>
          </p:cNvSpPr>
          <p:nvPr/>
        </p:nvSpPr>
        <p:spPr>
          <a:xfrm xmlns:a="http://schemas.openxmlformats.org/drawingml/2006/main">
            <a:off x="457200" y="5238750"/>
            <a:ext cx="3657600" cy="990600"/>
          </a:xfrm>
          <a:prstGeom xmlns:a="http://schemas.openxmlformats.org/drawingml/2006/main" prst="roundRect">
            <a:avLst>
              <a:gd name="adj" fmla="val 11538"/>
            </a:avLst>
          </a:prstGeom>
          <a:solidFill xmlns:a="http://schemas.openxmlformats.org/drawingml/2006/main">
            <a:srgbClr val="E6F6F0"/>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4AD558E9-E11E-437D-89CF-97BB452E77C0}"/>
              </a:ext>
            </a:extLst>
          </p:cNvPr>
          <p:cNvSpPr>
            <a:spLocks xmlns:a="http://schemas.openxmlformats.org/drawingml/2006/main" noGrp="1"/>
          </p:cNvSpPr>
          <p:nvPr/>
        </p:nvSpPr>
        <p:spPr>
          <a:xfrm xmlns:a="http://schemas.openxmlformats.org/drawingml/2006/main">
            <a:off x="571500" y="531495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68"/>
                </a:solidFill>
                <a:latin typeface="DejaVu Sans"/>
                <a:ea typeface="DejaVu Sans"/>
                <a:cs typeface="DejaVu Sans"/>
              </a:defRPr>
            </a:pPr>
            <a:r>
              <a:rPr sz="1350" b="1">
                <a:solidFill>
                  <a:srgbClr val="087F68"/>
                </a:solidFill>
                <a:latin typeface="DejaVu Sans"/>
                <a:ea typeface="DejaVu Sans"/>
                <a:cs typeface="DejaVu Sans"/>
              </a:rPr>
              <a:t>MB / IB</a:t>
            </a:r>
          </a:p>
        </p:txBody>
      </p:sp>
      <p:sp>
        <p:nvSpPr>
          <p:cNvPr id="25" name="">
            <a:extLst xmlns:a="http://schemas.openxmlformats.org/drawingml/2006/main">
              <a:ext uri="{FF2B5EF4-FFF2-40B4-BE49-F238E27FC236}">
                <a16:creationId xmlns:a16="http://schemas.microsoft.com/office/drawing/2014/main" id="{BF751CF9-A236-4076-B91D-871D3F4AB146}"/>
              </a:ext>
            </a:extLst>
          </p:cNvPr>
          <p:cNvSpPr>
            <a:spLocks xmlns:a="http://schemas.openxmlformats.org/drawingml/2006/main" noGrp="1"/>
          </p:cNvSpPr>
          <p:nvPr/>
        </p:nvSpPr>
        <p:spPr>
          <a:xfrm xmlns:a="http://schemas.openxmlformats.org/drawingml/2006/main">
            <a:off x="571500" y="56007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73A4B"/>
                </a:solidFill>
                <a:latin typeface="DejaVu Sans"/>
                <a:ea typeface="DejaVu Sans"/>
                <a:cs typeface="DejaVu Sans"/>
              </a:defRPr>
            </a:pPr>
            <a:r>
              <a:rPr sz="1050" b="0">
                <a:solidFill>
                  <a:srgbClr val="173A4B"/>
                </a:solidFill>
                <a:latin typeface="DejaVu Sans"/>
                <a:ea typeface="DejaVu Sans"/>
                <a:cs typeface="DejaVu Sans"/>
              </a:rPr>
              <a:t>CPU 7.97% / 5.01%   Memory 35.64% / 52.87%</a:t>
            </a:r>
          </a:p>
        </p:txBody>
      </p:sp>
      <p:sp>
        <p:nvSpPr>
          <p:cNvPr id="26" name="">
            <a:extLst xmlns:a="http://schemas.openxmlformats.org/drawingml/2006/main">
              <a:ext uri="{FF2B5EF4-FFF2-40B4-BE49-F238E27FC236}">
                <a16:creationId xmlns:a16="http://schemas.microsoft.com/office/drawing/2014/main" id="{3BAE3469-8B3F-49AC-92A9-51D715741070}"/>
              </a:ext>
            </a:extLst>
          </p:cNvPr>
          <p:cNvSpPr>
            <a:spLocks xmlns:a="http://schemas.openxmlformats.org/drawingml/2006/main" noGrp="1"/>
          </p:cNvSpPr>
          <p:nvPr/>
        </p:nvSpPr>
        <p:spPr>
          <a:xfrm xmlns:a="http://schemas.openxmlformats.org/drawingml/2006/main">
            <a:off x="571500" y="588645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Storage 66.10% / 50.17%</a:t>
            </a:r>
          </a:p>
        </p:txBody>
      </p:sp>
      <p:sp>
        <p:nvSpPr>
          <p:cNvPr id="27" name="">
            <a:extLst xmlns:a="http://schemas.openxmlformats.org/drawingml/2006/main">
              <a:ext uri="{FF2B5EF4-FFF2-40B4-BE49-F238E27FC236}">
                <a16:creationId xmlns:a16="http://schemas.microsoft.com/office/drawing/2014/main" id="{D24A9CAB-A07D-4A21-9B4E-93A393372337}"/>
              </a:ext>
            </a:extLst>
          </p:cNvPr>
          <p:cNvSpPr>
            <a:spLocks xmlns:a="http://schemas.openxmlformats.org/drawingml/2006/main" noGrp="1"/>
          </p:cNvSpPr>
          <p:nvPr/>
        </p:nvSpPr>
        <p:spPr>
          <a:xfrm xmlns:a="http://schemas.openxmlformats.org/drawingml/2006/main">
            <a:off x="4267200" y="5238750"/>
            <a:ext cx="3657600" cy="990600"/>
          </a:xfrm>
          <a:prstGeom xmlns:a="http://schemas.openxmlformats.org/drawingml/2006/main" prst="roundRect">
            <a:avLst>
              <a:gd name="adj" fmla="val 11538"/>
            </a:avLst>
          </a:prstGeom>
          <a:solidFill xmlns:a="http://schemas.openxmlformats.org/drawingml/2006/main">
            <a:srgbClr val="E8F3F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79AA0A4C-AED9-48E6-B4A9-C2C891C337BE}"/>
              </a:ext>
            </a:extLst>
          </p:cNvPr>
          <p:cNvSpPr>
            <a:spLocks xmlns:a="http://schemas.openxmlformats.org/drawingml/2006/main" noGrp="1"/>
          </p:cNvSpPr>
          <p:nvPr/>
        </p:nvSpPr>
        <p:spPr>
          <a:xfrm xmlns:a="http://schemas.openxmlformats.org/drawingml/2006/main">
            <a:off x="4381500" y="531495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8C2"/>
                </a:solidFill>
                <a:latin typeface="DejaVu Sans"/>
                <a:ea typeface="DejaVu Sans"/>
                <a:cs typeface="DejaVu Sans"/>
              </a:defRPr>
            </a:pPr>
            <a:r>
              <a:rPr sz="1350" b="1">
                <a:solidFill>
                  <a:srgbClr val="1688C2"/>
                </a:solidFill>
                <a:latin typeface="DejaVu Sans"/>
                <a:ea typeface="DejaVu Sans"/>
                <a:cs typeface="DejaVu Sans"/>
              </a:rPr>
              <a:t>FinnOne</a:t>
            </a:r>
          </a:p>
        </p:txBody>
      </p:sp>
      <p:sp>
        <p:nvSpPr>
          <p:cNvPr id="29" name="">
            <a:extLst xmlns:a="http://schemas.openxmlformats.org/drawingml/2006/main">
              <a:ext uri="{FF2B5EF4-FFF2-40B4-BE49-F238E27FC236}">
                <a16:creationId xmlns:a16="http://schemas.microsoft.com/office/drawing/2014/main" id="{6909B525-6671-40A1-9ECC-A88B24EA7BE0}"/>
              </a:ext>
            </a:extLst>
          </p:cNvPr>
          <p:cNvSpPr>
            <a:spLocks xmlns:a="http://schemas.openxmlformats.org/drawingml/2006/main" noGrp="1"/>
          </p:cNvSpPr>
          <p:nvPr/>
        </p:nvSpPr>
        <p:spPr>
          <a:xfrm xmlns:a="http://schemas.openxmlformats.org/drawingml/2006/main">
            <a:off x="4381500" y="56007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73A4B"/>
                </a:solidFill>
                <a:latin typeface="DejaVu Sans"/>
                <a:ea typeface="DejaVu Sans"/>
                <a:cs typeface="DejaVu Sans"/>
              </a:defRPr>
            </a:pPr>
            <a:r>
              <a:rPr sz="1050" b="0">
                <a:solidFill>
                  <a:srgbClr val="173A4B"/>
                </a:solidFill>
                <a:latin typeface="DejaVu Sans"/>
                <a:ea typeface="DejaVu Sans"/>
                <a:cs typeface="DejaVu Sans"/>
              </a:rPr>
              <a:t>CPU &lt;10%   Memory &lt;60%</a:t>
            </a:r>
          </a:p>
        </p:txBody>
      </p:sp>
      <p:sp>
        <p:nvSpPr>
          <p:cNvPr id="30" name="">
            <a:extLst xmlns:a="http://schemas.openxmlformats.org/drawingml/2006/main">
              <a:ext uri="{FF2B5EF4-FFF2-40B4-BE49-F238E27FC236}">
                <a16:creationId xmlns:a16="http://schemas.microsoft.com/office/drawing/2014/main" id="{A29239ED-4F57-4BAF-AB54-F67B5BDDA70A}"/>
              </a:ext>
            </a:extLst>
          </p:cNvPr>
          <p:cNvSpPr>
            <a:spLocks xmlns:a="http://schemas.openxmlformats.org/drawingml/2006/main" noGrp="1"/>
          </p:cNvSpPr>
          <p:nvPr/>
        </p:nvSpPr>
        <p:spPr>
          <a:xfrm xmlns:a="http://schemas.openxmlformats.org/drawingml/2006/main">
            <a:off x="4381500" y="588645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Storage Not supplied</a:t>
            </a:r>
          </a:p>
        </p:txBody>
      </p:sp>
      <p:sp>
        <p:nvSpPr>
          <p:cNvPr id="31" name="">
            <a:extLst xmlns:a="http://schemas.openxmlformats.org/drawingml/2006/main">
              <a:ext uri="{FF2B5EF4-FFF2-40B4-BE49-F238E27FC236}">
                <a16:creationId xmlns:a16="http://schemas.microsoft.com/office/drawing/2014/main" id="{5267B181-0B72-4F33-AE6B-430985FFB4FD}"/>
              </a:ext>
            </a:extLst>
          </p:cNvPr>
          <p:cNvSpPr>
            <a:spLocks xmlns:a="http://schemas.openxmlformats.org/drawingml/2006/main" noGrp="1"/>
          </p:cNvSpPr>
          <p:nvPr/>
        </p:nvSpPr>
        <p:spPr>
          <a:xfrm xmlns:a="http://schemas.openxmlformats.org/drawingml/2006/main">
            <a:off x="8077200" y="5238750"/>
            <a:ext cx="3657600" cy="990600"/>
          </a:xfrm>
          <a:prstGeom xmlns:a="http://schemas.openxmlformats.org/drawingml/2006/main" prst="roundRect">
            <a:avLst>
              <a:gd name="adj" fmla="val 11538"/>
            </a:avLst>
          </a:prstGeom>
          <a:solidFill xmlns:a="http://schemas.openxmlformats.org/drawingml/2006/main">
            <a:srgbClr val="F0EAF9"/>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FA91EC94-F406-4F7F-8D86-263C8099BF4E}"/>
              </a:ext>
            </a:extLst>
          </p:cNvPr>
          <p:cNvSpPr>
            <a:spLocks xmlns:a="http://schemas.openxmlformats.org/drawingml/2006/main" noGrp="1"/>
          </p:cNvSpPr>
          <p:nvPr/>
        </p:nvSpPr>
        <p:spPr>
          <a:xfrm xmlns:a="http://schemas.openxmlformats.org/drawingml/2006/main">
            <a:off x="8191500" y="531495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75BC5"/>
                </a:solidFill>
                <a:latin typeface="DejaVu Sans"/>
                <a:ea typeface="DejaVu Sans"/>
                <a:cs typeface="DejaVu Sans"/>
              </a:defRPr>
            </a:pPr>
            <a:r>
              <a:rPr sz="1350" b="1">
                <a:solidFill>
                  <a:srgbClr val="875BC5"/>
                </a:solidFill>
                <a:latin typeface="DejaVu Sans"/>
                <a:ea typeface="DejaVu Sans"/>
                <a:cs typeface="DejaVu Sans"/>
              </a:rPr>
              <a:t>HFLMS</a:t>
            </a:r>
          </a:p>
        </p:txBody>
      </p:sp>
      <p:sp>
        <p:nvSpPr>
          <p:cNvPr id="33" name="">
            <a:extLst xmlns:a="http://schemas.openxmlformats.org/drawingml/2006/main">
              <a:ext uri="{FF2B5EF4-FFF2-40B4-BE49-F238E27FC236}">
                <a16:creationId xmlns:a16="http://schemas.microsoft.com/office/drawing/2014/main" id="{CCFA73EE-B28C-4884-A19A-CD4BA05207F2}"/>
              </a:ext>
            </a:extLst>
          </p:cNvPr>
          <p:cNvSpPr>
            <a:spLocks xmlns:a="http://schemas.openxmlformats.org/drawingml/2006/main" noGrp="1"/>
          </p:cNvSpPr>
          <p:nvPr/>
        </p:nvSpPr>
        <p:spPr>
          <a:xfrm xmlns:a="http://schemas.openxmlformats.org/drawingml/2006/main">
            <a:off x="8191500" y="5600700"/>
            <a:ext cx="3429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173A4B"/>
                </a:solidFill>
                <a:latin typeface="DejaVu Sans"/>
                <a:ea typeface="DejaVu Sans"/>
                <a:cs typeface="DejaVu Sans"/>
              </a:defRPr>
            </a:pPr>
            <a:r>
              <a:rPr sz="1050" b="0">
                <a:solidFill>
                  <a:srgbClr val="173A4B"/>
                </a:solidFill>
                <a:latin typeface="DejaVu Sans"/>
                <a:ea typeface="DejaVu Sans"/>
                <a:cs typeface="DejaVu Sans"/>
              </a:rPr>
              <a:t>CPU &lt;40%   Memory &lt;25%</a:t>
            </a:r>
          </a:p>
        </p:txBody>
      </p:sp>
      <p:sp>
        <p:nvSpPr>
          <p:cNvPr id="34" name="">
            <a:extLst xmlns:a="http://schemas.openxmlformats.org/drawingml/2006/main">
              <a:ext uri="{FF2B5EF4-FFF2-40B4-BE49-F238E27FC236}">
                <a16:creationId xmlns:a16="http://schemas.microsoft.com/office/drawing/2014/main" id="{EBF2FB60-A2CE-4ABC-B0A9-3DB6D7BF4406}"/>
              </a:ext>
            </a:extLst>
          </p:cNvPr>
          <p:cNvSpPr>
            <a:spLocks xmlns:a="http://schemas.openxmlformats.org/drawingml/2006/main" noGrp="1"/>
          </p:cNvSpPr>
          <p:nvPr/>
        </p:nvSpPr>
        <p:spPr>
          <a:xfrm xmlns:a="http://schemas.openxmlformats.org/drawingml/2006/main">
            <a:off x="8191500" y="5886450"/>
            <a:ext cx="3429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Storage &lt;70%</a:t>
            </a:r>
          </a:p>
        </p:txBody>
      </p:sp>
    </p:spTree>
    <p:extLst>
      <p:ext uri="{BB962C8B-B14F-4D97-AF65-F5344CB8AC3E}">
        <p14:creationId xmlns:p14="http://schemas.microsoft.com/office/powerpoint/2010/main" val="140764285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0C02EA5-D616-4779-8673-1AE034121E12}"/>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8144E87B-2FD0-49F4-957E-59B59530D672}"/>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AF squad: four initiatives in SIT / UAT</a:t>
            </a:r>
          </a:p>
        </p:txBody>
      </p:sp>
      <p:sp>
        <p:nvSpPr>
          <p:cNvPr id="3" name="">
            <a:extLst xmlns:a="http://schemas.openxmlformats.org/drawingml/2006/main">
              <a:ext uri="{FF2B5EF4-FFF2-40B4-BE49-F238E27FC236}">
                <a16:creationId xmlns:a16="http://schemas.microsoft.com/office/drawing/2014/main" id="{7995E067-446F-4405-963E-9350151EF19A}"/>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September status snapshot. Two initiatives have business sign-off.</a:t>
            </a:r>
          </a:p>
        </p:txBody>
      </p:sp>
      <p:sp>
        <p:nvSpPr>
          <p:cNvPr id="4" name="">
            <a:extLst xmlns:a="http://schemas.openxmlformats.org/drawingml/2006/main">
              <a:ext uri="{FF2B5EF4-FFF2-40B4-BE49-F238E27FC236}">
                <a16:creationId xmlns:a16="http://schemas.microsoft.com/office/drawing/2014/main" id="{3BA77313-0168-43E5-A482-179C957858B5}"/>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C41BB826-9447-4083-8B51-5F9B0C079B25}"/>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7</a:t>
            </a:r>
          </a:p>
        </p:txBody>
      </p:sp>
      <p:sp>
        <p:nvSpPr>
          <p:cNvPr id="6" name="">
            <a:extLst xmlns:a="http://schemas.openxmlformats.org/drawingml/2006/main">
              <a:ext uri="{FF2B5EF4-FFF2-40B4-BE49-F238E27FC236}">
                <a16:creationId xmlns:a16="http://schemas.microsoft.com/office/drawing/2014/main" id="{07FD64DA-50DF-45F7-91B7-03ABFF60DB52}"/>
              </a:ext>
            </a:extLst>
          </p:cNvPr>
          <p:cNvSpPr>
            <a:spLocks xmlns:a="http://schemas.openxmlformats.org/drawingml/2006/main" noGrp="1"/>
          </p:cNvSpPr>
          <p:nvPr/>
        </p:nvSpPr>
        <p:spPr>
          <a:xfrm xmlns:a="http://schemas.openxmlformats.org/drawingml/2006/main">
            <a:off x="457200" y="2143125"/>
            <a:ext cx="3657600" cy="1857375"/>
          </a:xfrm>
          <a:prstGeom xmlns:a="http://schemas.openxmlformats.org/drawingml/2006/main" prst="roundRect">
            <a:avLst>
              <a:gd name="adj" fmla="val 6154"/>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471629D8-A044-4274-A9A0-27065D93DD8D}"/>
              </a:ext>
            </a:extLst>
          </p:cNvPr>
          <p:cNvSpPr>
            <a:spLocks xmlns:a="http://schemas.openxmlformats.org/drawingml/2006/main" noGrp="1"/>
          </p:cNvSpPr>
          <p:nvPr/>
        </p:nvSpPr>
        <p:spPr>
          <a:xfrm xmlns:a="http://schemas.openxmlformats.org/drawingml/2006/main">
            <a:off x="619125" y="22669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  4 solution finalization</a:t>
            </a:r>
          </a:p>
        </p:txBody>
      </p:sp>
      <p:sp>
        <p:nvSpPr>
          <p:cNvPr id="8" name="">
            <a:extLst xmlns:a="http://schemas.openxmlformats.org/drawingml/2006/main">
              <a:ext uri="{FF2B5EF4-FFF2-40B4-BE49-F238E27FC236}">
                <a16:creationId xmlns:a16="http://schemas.microsoft.com/office/drawing/2014/main" id="{952C461C-11A0-4A65-A4B5-236DD7D359B6}"/>
              </a:ext>
            </a:extLst>
          </p:cNvPr>
          <p:cNvSpPr>
            <a:spLocks xmlns:a="http://schemas.openxmlformats.org/drawingml/2006/main" noGrp="1"/>
          </p:cNvSpPr>
          <p:nvPr/>
        </p:nvSpPr>
        <p:spPr>
          <a:xfrm xmlns:a="http://schemas.openxmlformats.org/drawingml/2006/main">
            <a:off x="619125" y="26670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DMGT-1325: Early settlement KFS trigger</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DMGT-2063: Hybrid / country-of-origin flags</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DMGT-679: Digital AECB and KFS</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Fourth initiative not named in source</a:t>
            </a:r>
          </a:p>
        </p:txBody>
      </p:sp>
      <p:sp>
        <p:nvSpPr>
          <p:cNvPr id="9" name="">
            <a:extLst xmlns:a="http://schemas.openxmlformats.org/drawingml/2006/main">
              <a:ext uri="{FF2B5EF4-FFF2-40B4-BE49-F238E27FC236}">
                <a16:creationId xmlns:a16="http://schemas.microsoft.com/office/drawing/2014/main" id="{A255E6E0-EC29-4589-9FF1-491ADF47E28B}"/>
              </a:ext>
            </a:extLst>
          </p:cNvPr>
          <p:cNvSpPr>
            <a:spLocks xmlns:a="http://schemas.openxmlformats.org/drawingml/2006/main" noGrp="1"/>
          </p:cNvSpPr>
          <p:nvPr/>
        </p:nvSpPr>
        <p:spPr>
          <a:xfrm xmlns:a="http://schemas.openxmlformats.org/drawingml/2006/main">
            <a:off x="4267200" y="2143125"/>
            <a:ext cx="3657600" cy="1857375"/>
          </a:xfrm>
          <a:prstGeom xmlns:a="http://schemas.openxmlformats.org/drawingml/2006/main" prst="roundRect">
            <a:avLst>
              <a:gd name="adj" fmla="val 6154"/>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460FF1D-51E2-4985-98D3-6A3D0A838AA3}"/>
              </a:ext>
            </a:extLst>
          </p:cNvPr>
          <p:cNvSpPr>
            <a:spLocks xmlns:a="http://schemas.openxmlformats.org/drawingml/2006/main" noGrp="1"/>
          </p:cNvSpPr>
          <p:nvPr/>
        </p:nvSpPr>
        <p:spPr>
          <a:xfrm xmlns:a="http://schemas.openxmlformats.org/drawingml/2006/main">
            <a:off x="4429125" y="22669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88C2"/>
                </a:solidFill>
                <a:latin typeface="DejaVu Sans"/>
                <a:ea typeface="DejaVu Sans"/>
                <a:cs typeface="DejaVu Sans"/>
              </a:defRPr>
            </a:pPr>
            <a:r>
              <a:rPr sz="1725" b="1">
                <a:solidFill>
                  <a:srgbClr val="1688C2"/>
                </a:solidFill>
                <a:latin typeface="DejaVu Sans"/>
                <a:ea typeface="DejaVu Sans"/>
                <a:cs typeface="DejaVu Sans"/>
              </a:rPr>
              <a:t>⚙  4 development</a:t>
            </a:r>
          </a:p>
        </p:txBody>
      </p:sp>
      <p:sp>
        <p:nvSpPr>
          <p:cNvPr id="11" name="">
            <a:extLst xmlns:a="http://schemas.openxmlformats.org/drawingml/2006/main">
              <a:ext uri="{FF2B5EF4-FFF2-40B4-BE49-F238E27FC236}">
                <a16:creationId xmlns:a16="http://schemas.microsoft.com/office/drawing/2014/main" id="{4DEA0EA8-6106-41D3-9D16-E256083EC8E9}"/>
              </a:ext>
            </a:extLst>
          </p:cNvPr>
          <p:cNvSpPr>
            <a:spLocks xmlns:a="http://schemas.openxmlformats.org/drawingml/2006/main" noGrp="1"/>
          </p:cNvSpPr>
          <p:nvPr/>
        </p:nvSpPr>
        <p:spPr>
          <a:xfrm xmlns:a="http://schemas.openxmlformats.org/drawingml/2006/main">
            <a:off x="4429125" y="26670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DMGT-267: Facial recognition for ETB</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DMGT-1052: New Takaful products</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DMGT-950: RTA Integration</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DMGT-2583: AF switch to standard rates</a:t>
            </a:r>
          </a:p>
        </p:txBody>
      </p:sp>
      <p:sp>
        <p:nvSpPr>
          <p:cNvPr id="12" name="">
            <a:extLst xmlns:a="http://schemas.openxmlformats.org/drawingml/2006/main">
              <a:ext uri="{FF2B5EF4-FFF2-40B4-BE49-F238E27FC236}">
                <a16:creationId xmlns:a16="http://schemas.microsoft.com/office/drawing/2014/main" id="{17367BAB-9E9F-4C29-8395-25A27743DAB5}"/>
              </a:ext>
            </a:extLst>
          </p:cNvPr>
          <p:cNvSpPr>
            <a:spLocks xmlns:a="http://schemas.openxmlformats.org/drawingml/2006/main" noGrp="1"/>
          </p:cNvSpPr>
          <p:nvPr/>
        </p:nvSpPr>
        <p:spPr>
          <a:xfrm xmlns:a="http://schemas.openxmlformats.org/drawingml/2006/main">
            <a:off x="8077200" y="2143125"/>
            <a:ext cx="3657600" cy="1857375"/>
          </a:xfrm>
          <a:prstGeom xmlns:a="http://schemas.openxmlformats.org/drawingml/2006/main" prst="roundRect">
            <a:avLst>
              <a:gd name="adj" fmla="val 6154"/>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4E016D9-430E-4F9A-A16F-C2817B209FC3}"/>
              </a:ext>
            </a:extLst>
          </p:cNvPr>
          <p:cNvSpPr>
            <a:spLocks xmlns:a="http://schemas.openxmlformats.org/drawingml/2006/main" noGrp="1"/>
          </p:cNvSpPr>
          <p:nvPr/>
        </p:nvSpPr>
        <p:spPr>
          <a:xfrm xmlns:a="http://schemas.openxmlformats.org/drawingml/2006/main">
            <a:off x="8239125" y="22669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875BC5"/>
                </a:solidFill>
                <a:latin typeface="DejaVu Sans"/>
                <a:ea typeface="DejaVu Sans"/>
                <a:cs typeface="DejaVu Sans"/>
              </a:defRPr>
            </a:pPr>
            <a:r>
              <a:rPr sz="1725" b="1">
                <a:solidFill>
                  <a:srgbClr val="875BC5"/>
                </a:solidFill>
                <a:latin typeface="DejaVu Sans"/>
                <a:ea typeface="DejaVu Sans"/>
                <a:cs typeface="DejaVu Sans"/>
              </a:rPr>
              <a:t>✓  2 SIT</a:t>
            </a:r>
          </a:p>
        </p:txBody>
      </p:sp>
      <p:sp>
        <p:nvSpPr>
          <p:cNvPr id="14" name="">
            <a:extLst xmlns:a="http://schemas.openxmlformats.org/drawingml/2006/main">
              <a:ext uri="{FF2B5EF4-FFF2-40B4-BE49-F238E27FC236}">
                <a16:creationId xmlns:a16="http://schemas.microsoft.com/office/drawing/2014/main" id="{9A006092-F74C-4D00-B0D4-560AAB238202}"/>
              </a:ext>
            </a:extLst>
          </p:cNvPr>
          <p:cNvSpPr>
            <a:spLocks xmlns:a="http://schemas.openxmlformats.org/drawingml/2006/main" noGrp="1"/>
          </p:cNvSpPr>
          <p:nvPr/>
        </p:nvSpPr>
        <p:spPr>
          <a:xfrm xmlns:a="http://schemas.openxmlformats.org/drawingml/2006/main">
            <a:off x="8239125" y="26670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DMGT-55 / DMGT-97</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Down payment and fee collection</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Additional ILOE premium collection</a:t>
            </a:r>
          </a:p>
        </p:txBody>
      </p:sp>
      <p:sp>
        <p:nvSpPr>
          <p:cNvPr id="15" name="">
            <a:extLst xmlns:a="http://schemas.openxmlformats.org/drawingml/2006/main">
              <a:ext uri="{FF2B5EF4-FFF2-40B4-BE49-F238E27FC236}">
                <a16:creationId xmlns:a16="http://schemas.microsoft.com/office/drawing/2014/main" id="{4564B862-2600-4EFA-B502-ADA58BFD0BEF}"/>
              </a:ext>
            </a:extLst>
          </p:cNvPr>
          <p:cNvSpPr>
            <a:spLocks xmlns:a="http://schemas.openxmlformats.org/drawingml/2006/main" noGrp="1"/>
          </p:cNvSpPr>
          <p:nvPr/>
        </p:nvSpPr>
        <p:spPr>
          <a:xfrm xmlns:a="http://schemas.openxmlformats.org/drawingml/2006/main">
            <a:off x="457200" y="4152900"/>
            <a:ext cx="3657600" cy="1857375"/>
          </a:xfrm>
          <a:prstGeom xmlns:a="http://schemas.openxmlformats.org/drawingml/2006/main" prst="roundRect">
            <a:avLst>
              <a:gd name="adj" fmla="val 6154"/>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5AAF4FF-6128-4BA3-9E55-C5789C12B7E2}"/>
              </a:ext>
            </a:extLst>
          </p:cNvPr>
          <p:cNvSpPr>
            <a:spLocks xmlns:a="http://schemas.openxmlformats.org/drawingml/2006/main" noGrp="1"/>
          </p:cNvSpPr>
          <p:nvPr/>
        </p:nvSpPr>
        <p:spPr>
          <a:xfrm xmlns:a="http://schemas.openxmlformats.org/drawingml/2006/main">
            <a:off x="619125" y="42767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7D16"/>
                </a:solidFill>
                <a:latin typeface="DejaVu Sans"/>
                <a:ea typeface="DejaVu Sans"/>
                <a:cs typeface="DejaVu Sans"/>
              </a:defRPr>
            </a:pPr>
            <a:r>
              <a:rPr sz="1725" b="1">
                <a:solidFill>
                  <a:srgbClr val="CC7D16"/>
                </a:solidFill>
                <a:latin typeface="DejaVu Sans"/>
                <a:ea typeface="DejaVu Sans"/>
                <a:cs typeface="DejaVu Sans"/>
              </a:rPr>
              <a:t>◆  2 UAT</a:t>
            </a:r>
          </a:p>
        </p:txBody>
      </p:sp>
      <p:sp>
        <p:nvSpPr>
          <p:cNvPr id="17" name="">
            <a:extLst xmlns:a="http://schemas.openxmlformats.org/drawingml/2006/main">
              <a:ext uri="{FF2B5EF4-FFF2-40B4-BE49-F238E27FC236}">
                <a16:creationId xmlns:a16="http://schemas.microsoft.com/office/drawing/2014/main" id="{0E2011FF-72E2-42FF-BE25-5FD9B564B711}"/>
              </a:ext>
            </a:extLst>
          </p:cNvPr>
          <p:cNvSpPr>
            <a:spLocks xmlns:a="http://schemas.openxmlformats.org/drawingml/2006/main" noGrp="1"/>
          </p:cNvSpPr>
          <p:nvPr/>
        </p:nvSpPr>
        <p:spPr>
          <a:xfrm xmlns:a="http://schemas.openxmlformats.org/drawingml/2006/main">
            <a:off x="619125" y="4676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DMGT-91: Rate / campaign master</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Adding guarantor in FinnOne</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Guarantor demand ID not supplied</a:t>
            </a:r>
          </a:p>
        </p:txBody>
      </p:sp>
      <p:sp>
        <p:nvSpPr>
          <p:cNvPr id="18" name="">
            <a:extLst xmlns:a="http://schemas.openxmlformats.org/drawingml/2006/main">
              <a:ext uri="{FF2B5EF4-FFF2-40B4-BE49-F238E27FC236}">
                <a16:creationId xmlns:a16="http://schemas.microsoft.com/office/drawing/2014/main" id="{1C8991AD-3478-4910-AA1B-FDED538E13B2}"/>
              </a:ext>
            </a:extLst>
          </p:cNvPr>
          <p:cNvSpPr>
            <a:spLocks xmlns:a="http://schemas.openxmlformats.org/drawingml/2006/main" noGrp="1"/>
          </p:cNvSpPr>
          <p:nvPr/>
        </p:nvSpPr>
        <p:spPr>
          <a:xfrm xmlns:a="http://schemas.openxmlformats.org/drawingml/2006/main">
            <a:off x="4267200" y="4152900"/>
            <a:ext cx="3657600" cy="1857375"/>
          </a:xfrm>
          <a:prstGeom xmlns:a="http://schemas.openxmlformats.org/drawingml/2006/main" prst="roundRect">
            <a:avLst>
              <a:gd name="adj" fmla="val 6154"/>
            </a:avLst>
          </a:prstGeom>
          <a:solidFill xmlns:a="http://schemas.openxmlformats.org/drawingml/2006/main">
            <a:srgbClr val="FCEA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DE75387-2E78-4C2E-9327-8D3067817291}"/>
              </a:ext>
            </a:extLst>
          </p:cNvPr>
          <p:cNvSpPr>
            <a:spLocks xmlns:a="http://schemas.openxmlformats.org/drawingml/2006/main" noGrp="1"/>
          </p:cNvSpPr>
          <p:nvPr/>
        </p:nvSpPr>
        <p:spPr>
          <a:xfrm xmlns:a="http://schemas.openxmlformats.org/drawingml/2006/main">
            <a:off x="4429125" y="42767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35373"/>
                </a:solidFill>
                <a:latin typeface="DejaVu Sans"/>
                <a:ea typeface="DejaVu Sans"/>
                <a:cs typeface="DejaVu Sans"/>
              </a:defRPr>
            </a:pPr>
            <a:r>
              <a:rPr sz="1725" b="1">
                <a:solidFill>
                  <a:srgbClr val="D35373"/>
                </a:solidFill>
                <a:latin typeface="DejaVu Sans"/>
                <a:ea typeface="DejaVu Sans"/>
                <a:cs typeface="DejaVu Sans"/>
              </a:rPr>
              <a:t>✓  2 business sign-off</a:t>
            </a:r>
          </a:p>
        </p:txBody>
      </p:sp>
      <p:sp>
        <p:nvSpPr>
          <p:cNvPr id="20" name="">
            <a:extLst xmlns:a="http://schemas.openxmlformats.org/drawingml/2006/main">
              <a:ext uri="{FF2B5EF4-FFF2-40B4-BE49-F238E27FC236}">
                <a16:creationId xmlns:a16="http://schemas.microsoft.com/office/drawing/2014/main" id="{7A965CBE-E144-458A-8440-C22A0B26CE25}"/>
              </a:ext>
            </a:extLst>
          </p:cNvPr>
          <p:cNvSpPr>
            <a:spLocks xmlns:a="http://schemas.openxmlformats.org/drawingml/2006/main" noGrp="1"/>
          </p:cNvSpPr>
          <p:nvPr/>
        </p:nvSpPr>
        <p:spPr>
          <a:xfrm xmlns:a="http://schemas.openxmlformats.org/drawingml/2006/main">
            <a:off x="4429125" y="4676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DMGT-2480: Wataniya T&amp;C in AF ILOE consent</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DMGT-2384: Early Settlement SMS</a:t>
            </a:r>
          </a:p>
        </p:txBody>
      </p:sp>
      <p:sp>
        <p:nvSpPr>
          <p:cNvPr id="21" name="">
            <a:extLst xmlns:a="http://schemas.openxmlformats.org/drawingml/2006/main">
              <a:ext uri="{FF2B5EF4-FFF2-40B4-BE49-F238E27FC236}">
                <a16:creationId xmlns:a16="http://schemas.microsoft.com/office/drawing/2014/main" id="{2922A283-6D35-406E-B214-4D495E2D789A}"/>
              </a:ext>
            </a:extLst>
          </p:cNvPr>
          <p:cNvSpPr>
            <a:spLocks xmlns:a="http://schemas.openxmlformats.org/drawingml/2006/main" noGrp="1"/>
          </p:cNvSpPr>
          <p:nvPr/>
        </p:nvSpPr>
        <p:spPr>
          <a:xfrm xmlns:a="http://schemas.openxmlformats.org/drawingml/2006/main">
            <a:off x="8077200" y="4152900"/>
            <a:ext cx="3657600" cy="1857375"/>
          </a:xfrm>
          <a:prstGeom xmlns:a="http://schemas.openxmlformats.org/drawingml/2006/main" prst="roundRect">
            <a:avLst>
              <a:gd name="adj" fmla="val 6154"/>
            </a:avLst>
          </a:prstGeom>
          <a:solidFill xmlns:a="http://schemas.openxmlformats.org/drawingml/2006/main">
            <a:srgbClr val="EAF3F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EC9F685-1234-417E-898E-30FB2392EDE2}"/>
              </a:ext>
            </a:extLst>
          </p:cNvPr>
          <p:cNvSpPr>
            <a:spLocks xmlns:a="http://schemas.openxmlformats.org/drawingml/2006/main" noGrp="1"/>
          </p:cNvSpPr>
          <p:nvPr/>
        </p:nvSpPr>
        <p:spPr>
          <a:xfrm xmlns:a="http://schemas.openxmlformats.org/drawingml/2006/main">
            <a:off x="8239125" y="42767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  4 backlog</a:t>
            </a:r>
          </a:p>
        </p:txBody>
      </p:sp>
      <p:sp>
        <p:nvSpPr>
          <p:cNvPr id="23" name="">
            <a:extLst xmlns:a="http://schemas.openxmlformats.org/drawingml/2006/main">
              <a:ext uri="{FF2B5EF4-FFF2-40B4-BE49-F238E27FC236}">
                <a16:creationId xmlns:a16="http://schemas.microsoft.com/office/drawing/2014/main" id="{8A828416-D55A-4FFB-90CE-72E9F56A6C2C}"/>
              </a:ext>
            </a:extLst>
          </p:cNvPr>
          <p:cNvSpPr>
            <a:spLocks xmlns:a="http://schemas.openxmlformats.org/drawingml/2006/main" noGrp="1"/>
          </p:cNvSpPr>
          <p:nvPr/>
        </p:nvSpPr>
        <p:spPr>
          <a:xfrm xmlns:a="http://schemas.openxmlformats.org/drawingml/2006/main">
            <a:off x="8239125" y="4676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Awaiting pickup</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30 Sep planned: DMGT-2583</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4 Oct planned: DMGT-2480 / DMGT-2384</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Actual go-live confirmation required</a:t>
            </a:r>
          </a:p>
        </p:txBody>
      </p:sp>
      <p:sp>
        <p:nvSpPr>
          <p:cNvPr id="24" name="">
            <a:extLst xmlns:a="http://schemas.openxmlformats.org/drawingml/2006/main">
              <a:ext uri="{FF2B5EF4-FFF2-40B4-BE49-F238E27FC236}">
                <a16:creationId xmlns:a16="http://schemas.microsoft.com/office/drawing/2014/main" id="{6D99F902-5CAC-4365-8D1B-5D55F7F5C5F5}"/>
              </a:ext>
            </a:extLst>
          </p:cNvPr>
          <p:cNvSpPr>
            <a:spLocks xmlns:a="http://schemas.openxmlformats.org/drawingml/2006/main" noGrp="1"/>
          </p:cNvSpPr>
          <p:nvPr/>
        </p:nvSpPr>
        <p:spPr>
          <a:xfrm xmlns:a="http://schemas.openxmlformats.org/drawingml/2006/main">
            <a:off x="457200" y="6200775"/>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Squad counts are reported stage counts and may overlap the platform portfolio.</a:t>
            </a:r>
          </a:p>
        </p:txBody>
      </p:sp>
    </p:spTree>
    <p:extLst>
      <p:ext uri="{BB962C8B-B14F-4D97-AF65-F5344CB8AC3E}">
        <p14:creationId xmlns:p14="http://schemas.microsoft.com/office/powerpoint/2010/main" val="165011501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1" name="">
            <a:extLst xmlns:a="http://schemas.openxmlformats.org/drawingml/2006/main">
              <a:ext uri="{FF2B5EF4-FFF2-40B4-BE49-F238E27FC236}">
                <a16:creationId xmlns:a16="http://schemas.microsoft.com/office/drawing/2014/main" id="{767D1B43-611C-4860-BCB4-6812690153F4}"/>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CE853262-31AE-4A90-B141-14184377797D}"/>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AF delivery timeline: September 2025–August 2026</a:t>
            </a:r>
          </a:p>
        </p:txBody>
      </p:sp>
      <p:sp>
        <p:nvSpPr>
          <p:cNvPr id="3" name="">
            <a:extLst xmlns:a="http://schemas.openxmlformats.org/drawingml/2006/main">
              <a:ext uri="{FF2B5EF4-FFF2-40B4-BE49-F238E27FC236}">
                <a16:creationId xmlns:a16="http://schemas.microsoft.com/office/drawing/2014/main" id="{9D34B459-CBB9-4289-A0D8-FD064F3AC45F}"/>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Twelve months of milestones. Read across each row, then continue below.</a:t>
            </a:r>
          </a:p>
        </p:txBody>
      </p:sp>
      <p:sp>
        <p:nvSpPr>
          <p:cNvPr id="4" name="">
            <a:extLst xmlns:a="http://schemas.openxmlformats.org/drawingml/2006/main">
              <a:ext uri="{FF2B5EF4-FFF2-40B4-BE49-F238E27FC236}">
                <a16:creationId xmlns:a16="http://schemas.microsoft.com/office/drawing/2014/main" id="{A5DBF5E4-0978-442D-9C16-CB660093B3A6}"/>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76ABE3B1-829A-4824-AA4A-20A2D08CC7AC}"/>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8</a:t>
            </a:r>
          </a:p>
        </p:txBody>
      </p:sp>
      <p:sp>
        <p:nvSpPr>
          <p:cNvPr id="6" name="">
            <a:extLst xmlns:a="http://schemas.openxmlformats.org/drawingml/2006/main">
              <a:ext uri="{FF2B5EF4-FFF2-40B4-BE49-F238E27FC236}">
                <a16:creationId xmlns:a16="http://schemas.microsoft.com/office/drawing/2014/main" id="{0C963F14-06B1-41EF-8F2A-01EF44036CAC}"/>
              </a:ext>
            </a:extLst>
          </p:cNvPr>
          <p:cNvSpPr>
            <a:spLocks xmlns:a="http://schemas.openxmlformats.org/drawingml/2006/main" noGrp="1"/>
          </p:cNvSpPr>
          <p:nvPr/>
        </p:nvSpPr>
        <p:spPr>
          <a:xfrm xmlns:a="http://schemas.openxmlformats.org/drawingml/2006/main">
            <a:off x="457200" y="2047875"/>
            <a:ext cx="2705100" cy="1333500"/>
          </a:xfrm>
          <a:prstGeom xmlns:a="http://schemas.openxmlformats.org/drawingml/2006/main" prst="roundRect">
            <a:avLst>
              <a:gd name="adj" fmla="val 8571"/>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B41F814-93BA-4676-B2A8-56886EB878EA}"/>
              </a:ext>
            </a:extLst>
          </p:cNvPr>
          <p:cNvSpPr>
            <a:spLocks xmlns:a="http://schemas.openxmlformats.org/drawingml/2006/main" noGrp="1"/>
          </p:cNvSpPr>
          <p:nvPr/>
        </p:nvSpPr>
        <p:spPr>
          <a:xfrm xmlns:a="http://schemas.openxmlformats.org/drawingml/2006/main">
            <a:off x="571500" y="2114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  Sep 2025</a:t>
            </a:r>
          </a:p>
        </p:txBody>
      </p:sp>
      <p:sp>
        <p:nvSpPr>
          <p:cNvPr id="8" name="">
            <a:extLst xmlns:a="http://schemas.openxmlformats.org/drawingml/2006/main">
              <a:ext uri="{FF2B5EF4-FFF2-40B4-BE49-F238E27FC236}">
                <a16:creationId xmlns:a16="http://schemas.microsoft.com/office/drawing/2014/main" id="{917534A4-C5F9-4238-B10E-0957AEAB74B3}"/>
              </a:ext>
            </a:extLst>
          </p:cNvPr>
          <p:cNvSpPr>
            <a:spLocks xmlns:a="http://schemas.openxmlformats.org/drawingml/2006/main" noGrp="1"/>
          </p:cNvSpPr>
          <p:nvPr/>
        </p:nvSpPr>
        <p:spPr>
          <a:xfrm xmlns:a="http://schemas.openxmlformats.org/drawingml/2006/main">
            <a:off x="571500" y="24288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Disclosure notification for STL</a:t>
            </a:r>
          </a:p>
        </p:txBody>
      </p:sp>
      <p:sp>
        <p:nvSpPr>
          <p:cNvPr id="9" name="">
            <a:extLst xmlns:a="http://schemas.openxmlformats.org/drawingml/2006/main">
              <a:ext uri="{FF2B5EF4-FFF2-40B4-BE49-F238E27FC236}">
                <a16:creationId xmlns:a16="http://schemas.microsoft.com/office/drawing/2014/main" id="{559F9F6F-68F1-42FF-A323-9ECEB4E50F15}"/>
              </a:ext>
            </a:extLst>
          </p:cNvPr>
          <p:cNvSpPr>
            <a:spLocks xmlns:a="http://schemas.openxmlformats.org/drawingml/2006/main" noGrp="1"/>
          </p:cNvSpPr>
          <p:nvPr/>
        </p:nvSpPr>
        <p:spPr>
          <a:xfrm xmlns:a="http://schemas.openxmlformats.org/drawingml/2006/main">
            <a:off x="3171825" y="25431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10" name="">
            <a:extLst xmlns:a="http://schemas.openxmlformats.org/drawingml/2006/main">
              <a:ext uri="{FF2B5EF4-FFF2-40B4-BE49-F238E27FC236}">
                <a16:creationId xmlns:a16="http://schemas.microsoft.com/office/drawing/2014/main" id="{798A163D-E4FC-494F-95B8-F5421C791A30}"/>
              </a:ext>
            </a:extLst>
          </p:cNvPr>
          <p:cNvSpPr>
            <a:spLocks xmlns:a="http://schemas.openxmlformats.org/drawingml/2006/main" noGrp="1"/>
          </p:cNvSpPr>
          <p:nvPr/>
        </p:nvSpPr>
        <p:spPr>
          <a:xfrm xmlns:a="http://schemas.openxmlformats.org/drawingml/2006/main">
            <a:off x="3314700" y="2047875"/>
            <a:ext cx="2705100" cy="1333500"/>
          </a:xfrm>
          <a:prstGeom xmlns:a="http://schemas.openxmlformats.org/drawingml/2006/main" prst="roundRect">
            <a:avLst>
              <a:gd name="adj" fmla="val 8571"/>
            </a:avLst>
          </a:prstGeom>
          <a:solidFill xmlns:a="http://schemas.openxmlformats.org/drawingml/2006/main">
            <a:srgbClr val="E8F3F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869573C-F4A0-4858-BA93-D82658B5A5D4}"/>
              </a:ext>
            </a:extLst>
          </p:cNvPr>
          <p:cNvSpPr>
            <a:spLocks xmlns:a="http://schemas.openxmlformats.org/drawingml/2006/main" noGrp="1"/>
          </p:cNvSpPr>
          <p:nvPr/>
        </p:nvSpPr>
        <p:spPr>
          <a:xfrm xmlns:a="http://schemas.openxmlformats.org/drawingml/2006/main">
            <a:off x="3429000" y="2114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8C2"/>
                </a:solidFill>
                <a:latin typeface="DejaVu Sans"/>
                <a:ea typeface="DejaVu Sans"/>
                <a:cs typeface="DejaVu Sans"/>
              </a:defRPr>
            </a:pPr>
            <a:r>
              <a:rPr sz="1500" b="1">
                <a:solidFill>
                  <a:srgbClr val="1688C2"/>
                </a:solidFill>
                <a:latin typeface="DejaVu Sans"/>
                <a:ea typeface="DejaVu Sans"/>
                <a:cs typeface="DejaVu Sans"/>
              </a:rPr>
              <a:t>✓  Oct 2025</a:t>
            </a:r>
          </a:p>
        </p:txBody>
      </p:sp>
      <p:sp>
        <p:nvSpPr>
          <p:cNvPr id="12" name="">
            <a:extLst xmlns:a="http://schemas.openxmlformats.org/drawingml/2006/main">
              <a:ext uri="{FF2B5EF4-FFF2-40B4-BE49-F238E27FC236}">
                <a16:creationId xmlns:a16="http://schemas.microsoft.com/office/drawing/2014/main" id="{8E96600F-4FA1-4FE9-96DE-0332B7DDC29B}"/>
              </a:ext>
            </a:extLst>
          </p:cNvPr>
          <p:cNvSpPr>
            <a:spLocks xmlns:a="http://schemas.openxmlformats.org/drawingml/2006/main" noGrp="1"/>
          </p:cNvSpPr>
          <p:nvPr/>
        </p:nvSpPr>
        <p:spPr>
          <a:xfrm xmlns:a="http://schemas.openxmlformats.org/drawingml/2006/main">
            <a:off x="3429000" y="24288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Q4 rate deployment</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Subvention campaign in FinnOne</a:t>
            </a:r>
          </a:p>
        </p:txBody>
      </p:sp>
      <p:sp>
        <p:nvSpPr>
          <p:cNvPr id="13" name="">
            <a:extLst xmlns:a="http://schemas.openxmlformats.org/drawingml/2006/main">
              <a:ext uri="{FF2B5EF4-FFF2-40B4-BE49-F238E27FC236}">
                <a16:creationId xmlns:a16="http://schemas.microsoft.com/office/drawing/2014/main" id="{66360AB0-48D7-413E-8DE7-C2AB587C6B04}"/>
              </a:ext>
            </a:extLst>
          </p:cNvPr>
          <p:cNvSpPr>
            <a:spLocks xmlns:a="http://schemas.openxmlformats.org/drawingml/2006/main" noGrp="1"/>
          </p:cNvSpPr>
          <p:nvPr/>
        </p:nvSpPr>
        <p:spPr>
          <a:xfrm xmlns:a="http://schemas.openxmlformats.org/drawingml/2006/main">
            <a:off x="6029325" y="25431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14" name="">
            <a:extLst xmlns:a="http://schemas.openxmlformats.org/drawingml/2006/main">
              <a:ext uri="{FF2B5EF4-FFF2-40B4-BE49-F238E27FC236}">
                <a16:creationId xmlns:a16="http://schemas.microsoft.com/office/drawing/2014/main" id="{504F0F57-2C18-4CDA-A846-DD1232A9F430}"/>
              </a:ext>
            </a:extLst>
          </p:cNvPr>
          <p:cNvSpPr>
            <a:spLocks xmlns:a="http://schemas.openxmlformats.org/drawingml/2006/main" noGrp="1"/>
          </p:cNvSpPr>
          <p:nvPr/>
        </p:nvSpPr>
        <p:spPr>
          <a:xfrm xmlns:a="http://schemas.openxmlformats.org/drawingml/2006/main">
            <a:off x="6172200" y="2047875"/>
            <a:ext cx="2705100" cy="1333500"/>
          </a:xfrm>
          <a:prstGeom xmlns:a="http://schemas.openxmlformats.org/drawingml/2006/main" prst="roundRect">
            <a:avLst>
              <a:gd name="adj" fmla="val 8571"/>
            </a:avLst>
          </a:prstGeom>
          <a:solidFill xmlns:a="http://schemas.openxmlformats.org/drawingml/2006/main">
            <a:srgbClr val="F0EAF9"/>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43775488-33DC-471B-905B-E6814C706BBD}"/>
              </a:ext>
            </a:extLst>
          </p:cNvPr>
          <p:cNvSpPr>
            <a:spLocks xmlns:a="http://schemas.openxmlformats.org/drawingml/2006/main" noGrp="1"/>
          </p:cNvSpPr>
          <p:nvPr/>
        </p:nvSpPr>
        <p:spPr>
          <a:xfrm xmlns:a="http://schemas.openxmlformats.org/drawingml/2006/main">
            <a:off x="6286500" y="2114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75BC5"/>
                </a:solidFill>
                <a:latin typeface="DejaVu Sans"/>
                <a:ea typeface="DejaVu Sans"/>
                <a:cs typeface="DejaVu Sans"/>
              </a:defRPr>
            </a:pPr>
            <a:r>
              <a:rPr sz="1500" b="1">
                <a:solidFill>
                  <a:srgbClr val="875BC5"/>
                </a:solidFill>
                <a:latin typeface="DejaVu Sans"/>
                <a:ea typeface="DejaVu Sans"/>
                <a:cs typeface="DejaVu Sans"/>
              </a:rPr>
              <a:t>✓  Nov 2025</a:t>
            </a:r>
          </a:p>
        </p:txBody>
      </p:sp>
      <p:sp>
        <p:nvSpPr>
          <p:cNvPr id="16" name="">
            <a:extLst xmlns:a="http://schemas.openxmlformats.org/drawingml/2006/main">
              <a:ext uri="{FF2B5EF4-FFF2-40B4-BE49-F238E27FC236}">
                <a16:creationId xmlns:a16="http://schemas.microsoft.com/office/drawing/2014/main" id="{1CB83040-4D83-4426-8875-F2D6FF2E42A3}"/>
              </a:ext>
            </a:extLst>
          </p:cNvPr>
          <p:cNvSpPr>
            <a:spLocks xmlns:a="http://schemas.openxmlformats.org/drawingml/2006/main" noGrp="1"/>
          </p:cNvSpPr>
          <p:nvPr/>
        </p:nvSpPr>
        <p:spPr>
          <a:xfrm xmlns:a="http://schemas.openxmlformats.org/drawingml/2006/main">
            <a:off x="6286500" y="24288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Updated SLA logic</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POD</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Job-loss Takaful mapping</a:t>
            </a:r>
          </a:p>
        </p:txBody>
      </p:sp>
      <p:sp>
        <p:nvSpPr>
          <p:cNvPr id="17" name="">
            <a:extLst xmlns:a="http://schemas.openxmlformats.org/drawingml/2006/main">
              <a:ext uri="{FF2B5EF4-FFF2-40B4-BE49-F238E27FC236}">
                <a16:creationId xmlns:a16="http://schemas.microsoft.com/office/drawing/2014/main" id="{108810E2-A0E3-4F03-AFAB-A867BD05FC0B}"/>
              </a:ext>
            </a:extLst>
          </p:cNvPr>
          <p:cNvSpPr>
            <a:spLocks xmlns:a="http://schemas.openxmlformats.org/drawingml/2006/main" noGrp="1"/>
          </p:cNvSpPr>
          <p:nvPr/>
        </p:nvSpPr>
        <p:spPr>
          <a:xfrm xmlns:a="http://schemas.openxmlformats.org/drawingml/2006/main">
            <a:off x="8886825" y="25431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18" name="">
            <a:extLst xmlns:a="http://schemas.openxmlformats.org/drawingml/2006/main">
              <a:ext uri="{FF2B5EF4-FFF2-40B4-BE49-F238E27FC236}">
                <a16:creationId xmlns:a16="http://schemas.microsoft.com/office/drawing/2014/main" id="{1A7944CC-1585-4F0C-9FFC-E609462FC8FA}"/>
              </a:ext>
            </a:extLst>
          </p:cNvPr>
          <p:cNvSpPr>
            <a:spLocks xmlns:a="http://schemas.openxmlformats.org/drawingml/2006/main" noGrp="1"/>
          </p:cNvSpPr>
          <p:nvPr/>
        </p:nvSpPr>
        <p:spPr>
          <a:xfrm xmlns:a="http://schemas.openxmlformats.org/drawingml/2006/main">
            <a:off x="9029700" y="2047875"/>
            <a:ext cx="2705100" cy="1333500"/>
          </a:xfrm>
          <a:prstGeom xmlns:a="http://schemas.openxmlformats.org/drawingml/2006/main" prst="roundRect">
            <a:avLst>
              <a:gd name="adj" fmla="val 8571"/>
            </a:avLst>
          </a:prstGeom>
          <a:solidFill xmlns:a="http://schemas.openxmlformats.org/drawingml/2006/main">
            <a:srgbClr val="FFF4D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B108EFC-1858-4436-B5AD-59DDCBFEC02C}"/>
              </a:ext>
            </a:extLst>
          </p:cNvPr>
          <p:cNvSpPr>
            <a:spLocks xmlns:a="http://schemas.openxmlformats.org/drawingml/2006/main" noGrp="1"/>
          </p:cNvSpPr>
          <p:nvPr/>
        </p:nvSpPr>
        <p:spPr>
          <a:xfrm xmlns:a="http://schemas.openxmlformats.org/drawingml/2006/main">
            <a:off x="9144000" y="21145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CC7D16"/>
                </a:solidFill>
                <a:latin typeface="DejaVu Sans"/>
                <a:ea typeface="DejaVu Sans"/>
                <a:cs typeface="DejaVu Sans"/>
              </a:defRPr>
            </a:pPr>
            <a:r>
              <a:rPr sz="1500" b="1">
                <a:solidFill>
                  <a:srgbClr val="CC7D16"/>
                </a:solidFill>
                <a:latin typeface="DejaVu Sans"/>
                <a:ea typeface="DejaVu Sans"/>
                <a:cs typeface="DejaVu Sans"/>
              </a:rPr>
              <a:t>✓  Dec 2025</a:t>
            </a:r>
          </a:p>
        </p:txBody>
      </p:sp>
      <p:sp>
        <p:nvSpPr>
          <p:cNvPr id="20" name="">
            <a:extLst xmlns:a="http://schemas.openxmlformats.org/drawingml/2006/main">
              <a:ext uri="{FF2B5EF4-FFF2-40B4-BE49-F238E27FC236}">
                <a16:creationId xmlns:a16="http://schemas.microsoft.com/office/drawing/2014/main" id="{DAC97EA6-BA38-4A1A-ADFE-AAD3CAC9A96D}"/>
              </a:ext>
            </a:extLst>
          </p:cNvPr>
          <p:cNvSpPr>
            <a:spLocks xmlns:a="http://schemas.openxmlformats.org/drawingml/2006/main" noGrp="1"/>
          </p:cNvSpPr>
          <p:nvPr/>
        </p:nvSpPr>
        <p:spPr>
          <a:xfrm xmlns:a="http://schemas.openxmlformats.org/drawingml/2006/main">
            <a:off x="9144000" y="24288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Rhoon Integration</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EV Tesla PF update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Ramadan-to-standard profit rate switch</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IRR value modification</a:t>
            </a:r>
          </a:p>
        </p:txBody>
      </p:sp>
      <p:sp>
        <p:nvSpPr>
          <p:cNvPr id="21" name="">
            <a:extLst xmlns:a="http://schemas.openxmlformats.org/drawingml/2006/main">
              <a:ext uri="{FF2B5EF4-FFF2-40B4-BE49-F238E27FC236}">
                <a16:creationId xmlns:a16="http://schemas.microsoft.com/office/drawing/2014/main" id="{45972604-5C20-4F36-A2F6-10FC17CB7535}"/>
              </a:ext>
            </a:extLst>
          </p:cNvPr>
          <p:cNvSpPr>
            <a:spLocks xmlns:a="http://schemas.openxmlformats.org/drawingml/2006/main" noGrp="1"/>
          </p:cNvSpPr>
          <p:nvPr/>
        </p:nvSpPr>
        <p:spPr>
          <a:xfrm xmlns:a="http://schemas.openxmlformats.org/drawingml/2006/main">
            <a:off x="457200" y="3476625"/>
            <a:ext cx="2705100" cy="1333500"/>
          </a:xfrm>
          <a:prstGeom xmlns:a="http://schemas.openxmlformats.org/drawingml/2006/main" prst="roundRect">
            <a:avLst>
              <a:gd name="adj" fmla="val 8571"/>
            </a:avLst>
          </a:prstGeom>
          <a:solidFill xmlns:a="http://schemas.openxmlformats.org/drawingml/2006/main">
            <a:srgbClr val="E6F6F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D3D5F10C-F9E5-4B3C-A7C5-76B21AE25E27}"/>
              </a:ext>
            </a:extLst>
          </p:cNvPr>
          <p:cNvSpPr>
            <a:spLocks xmlns:a="http://schemas.openxmlformats.org/drawingml/2006/main" noGrp="1"/>
          </p:cNvSpPr>
          <p:nvPr/>
        </p:nvSpPr>
        <p:spPr>
          <a:xfrm xmlns:a="http://schemas.openxmlformats.org/drawingml/2006/main">
            <a:off x="571500" y="3543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35373"/>
                </a:solidFill>
                <a:latin typeface="DejaVu Sans"/>
                <a:ea typeface="DejaVu Sans"/>
                <a:cs typeface="DejaVu Sans"/>
              </a:defRPr>
            </a:pPr>
            <a:r>
              <a:rPr sz="1500" b="1">
                <a:solidFill>
                  <a:srgbClr val="D35373"/>
                </a:solidFill>
                <a:latin typeface="DejaVu Sans"/>
                <a:ea typeface="DejaVu Sans"/>
                <a:cs typeface="DejaVu Sans"/>
              </a:rPr>
              <a:t>✓  Jan 2026</a:t>
            </a:r>
          </a:p>
        </p:txBody>
      </p:sp>
      <p:sp>
        <p:nvSpPr>
          <p:cNvPr id="23" name="">
            <a:extLst xmlns:a="http://schemas.openxmlformats.org/drawingml/2006/main">
              <a:ext uri="{FF2B5EF4-FFF2-40B4-BE49-F238E27FC236}">
                <a16:creationId xmlns:a16="http://schemas.microsoft.com/office/drawing/2014/main" id="{A63EA9B4-BDBF-43F8-90A1-DB8B59DD07E2}"/>
              </a:ext>
            </a:extLst>
          </p:cNvPr>
          <p:cNvSpPr>
            <a:spLocks xmlns:a="http://schemas.openxmlformats.org/drawingml/2006/main" noGrp="1"/>
          </p:cNvSpPr>
          <p:nvPr/>
        </p:nvSpPr>
        <p:spPr>
          <a:xfrm xmlns:a="http://schemas.openxmlformats.org/drawingml/2006/main">
            <a:off x="571500" y="385762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Map dealer under FD group</a:t>
            </a:r>
          </a:p>
        </p:txBody>
      </p:sp>
      <p:sp>
        <p:nvSpPr>
          <p:cNvPr id="24" name="">
            <a:extLst xmlns:a="http://schemas.openxmlformats.org/drawingml/2006/main">
              <a:ext uri="{FF2B5EF4-FFF2-40B4-BE49-F238E27FC236}">
                <a16:creationId xmlns:a16="http://schemas.microsoft.com/office/drawing/2014/main" id="{E6FA8997-D7BD-4A94-B1DB-014CC3C3BFB4}"/>
              </a:ext>
            </a:extLst>
          </p:cNvPr>
          <p:cNvSpPr>
            <a:spLocks xmlns:a="http://schemas.openxmlformats.org/drawingml/2006/main" noGrp="1"/>
          </p:cNvSpPr>
          <p:nvPr/>
        </p:nvSpPr>
        <p:spPr>
          <a:xfrm xmlns:a="http://schemas.openxmlformats.org/drawingml/2006/main">
            <a:off x="3171825" y="397192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25" name="">
            <a:extLst xmlns:a="http://schemas.openxmlformats.org/drawingml/2006/main">
              <a:ext uri="{FF2B5EF4-FFF2-40B4-BE49-F238E27FC236}">
                <a16:creationId xmlns:a16="http://schemas.microsoft.com/office/drawing/2014/main" id="{2345C380-A33B-4C97-AE75-69CFE3818BDB}"/>
              </a:ext>
            </a:extLst>
          </p:cNvPr>
          <p:cNvSpPr>
            <a:spLocks xmlns:a="http://schemas.openxmlformats.org/drawingml/2006/main" noGrp="1"/>
          </p:cNvSpPr>
          <p:nvPr/>
        </p:nvSpPr>
        <p:spPr>
          <a:xfrm xmlns:a="http://schemas.openxmlformats.org/drawingml/2006/main">
            <a:off x="3314700" y="3476625"/>
            <a:ext cx="2705100" cy="1333500"/>
          </a:xfrm>
          <a:prstGeom xmlns:a="http://schemas.openxmlformats.org/drawingml/2006/main" prst="roundRect">
            <a:avLst>
              <a:gd name="adj" fmla="val 8571"/>
            </a:avLst>
          </a:prstGeom>
          <a:solidFill xmlns:a="http://schemas.openxmlformats.org/drawingml/2006/main">
            <a:srgbClr val="E8F3FB"/>
          </a:solidFill>
          <a:ln xmlns:a="http://schemas.openxmlformats.org/drawingml/2006/main" w="0">
            <a:noFill/>
          </a:ln>
        </p:spPr>
      </p:sp>
      <p:sp>
        <p:nvSpPr>
          <p:cNvPr id="26" name="">
            <a:extLst xmlns:a="http://schemas.openxmlformats.org/drawingml/2006/main">
              <a:ext uri="{FF2B5EF4-FFF2-40B4-BE49-F238E27FC236}">
                <a16:creationId xmlns:a16="http://schemas.microsoft.com/office/drawing/2014/main" id="{A7526069-C707-489B-AF1C-985823AF2399}"/>
              </a:ext>
            </a:extLst>
          </p:cNvPr>
          <p:cNvSpPr>
            <a:spLocks xmlns:a="http://schemas.openxmlformats.org/drawingml/2006/main" noGrp="1"/>
          </p:cNvSpPr>
          <p:nvPr/>
        </p:nvSpPr>
        <p:spPr>
          <a:xfrm xmlns:a="http://schemas.openxmlformats.org/drawingml/2006/main">
            <a:off x="3429000" y="3543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  Feb 2026</a:t>
            </a:r>
          </a:p>
        </p:txBody>
      </p:sp>
      <p:sp>
        <p:nvSpPr>
          <p:cNvPr id="27" name="">
            <a:extLst xmlns:a="http://schemas.openxmlformats.org/drawingml/2006/main">
              <a:ext uri="{FF2B5EF4-FFF2-40B4-BE49-F238E27FC236}">
                <a16:creationId xmlns:a16="http://schemas.microsoft.com/office/drawing/2014/main" id="{A30238B8-99ED-4889-95E3-E24141E60D67}"/>
              </a:ext>
            </a:extLst>
          </p:cNvPr>
          <p:cNvSpPr>
            <a:spLocks xmlns:a="http://schemas.openxmlformats.org/drawingml/2006/main" noGrp="1"/>
          </p:cNvSpPr>
          <p:nvPr/>
        </p:nvSpPr>
        <p:spPr>
          <a:xfrm xmlns:a="http://schemas.openxmlformats.org/drawingml/2006/main">
            <a:off x="3429000" y="385762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EMI deferment fee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AF campaign enhancement</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New Ramadan rates 2026</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Abu Dhabi Motors profit-rate update</a:t>
            </a:r>
          </a:p>
        </p:txBody>
      </p:sp>
      <p:sp>
        <p:nvSpPr>
          <p:cNvPr id="28" name="">
            <a:extLst xmlns:a="http://schemas.openxmlformats.org/drawingml/2006/main">
              <a:ext uri="{FF2B5EF4-FFF2-40B4-BE49-F238E27FC236}">
                <a16:creationId xmlns:a16="http://schemas.microsoft.com/office/drawing/2014/main" id="{5EBC9E8D-95E9-4C03-A9C7-C50224531D95}"/>
              </a:ext>
            </a:extLst>
          </p:cNvPr>
          <p:cNvSpPr>
            <a:spLocks xmlns:a="http://schemas.openxmlformats.org/drawingml/2006/main" noGrp="1"/>
          </p:cNvSpPr>
          <p:nvPr/>
        </p:nvSpPr>
        <p:spPr>
          <a:xfrm xmlns:a="http://schemas.openxmlformats.org/drawingml/2006/main">
            <a:off x="6029325" y="397192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29" name="">
            <a:extLst xmlns:a="http://schemas.openxmlformats.org/drawingml/2006/main">
              <a:ext uri="{FF2B5EF4-FFF2-40B4-BE49-F238E27FC236}">
                <a16:creationId xmlns:a16="http://schemas.microsoft.com/office/drawing/2014/main" id="{EA3EA0CC-9774-4E04-8006-B08CEC92933A}"/>
              </a:ext>
            </a:extLst>
          </p:cNvPr>
          <p:cNvSpPr>
            <a:spLocks xmlns:a="http://schemas.openxmlformats.org/drawingml/2006/main" noGrp="1"/>
          </p:cNvSpPr>
          <p:nvPr/>
        </p:nvSpPr>
        <p:spPr>
          <a:xfrm xmlns:a="http://schemas.openxmlformats.org/drawingml/2006/main">
            <a:off x="6172200" y="3476625"/>
            <a:ext cx="2705100" cy="1333500"/>
          </a:xfrm>
          <a:prstGeom xmlns:a="http://schemas.openxmlformats.org/drawingml/2006/main" prst="roundRect">
            <a:avLst>
              <a:gd name="adj" fmla="val 8571"/>
            </a:avLst>
          </a:prstGeom>
          <a:solidFill xmlns:a="http://schemas.openxmlformats.org/drawingml/2006/main">
            <a:srgbClr val="F0EAF9"/>
          </a:solidFill>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CD79CC49-72AE-4425-B80E-35EFBCB9EDC5}"/>
              </a:ext>
            </a:extLst>
          </p:cNvPr>
          <p:cNvSpPr>
            <a:spLocks xmlns:a="http://schemas.openxmlformats.org/drawingml/2006/main" noGrp="1"/>
          </p:cNvSpPr>
          <p:nvPr/>
        </p:nvSpPr>
        <p:spPr>
          <a:xfrm xmlns:a="http://schemas.openxmlformats.org/drawingml/2006/main">
            <a:off x="6286500" y="3543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8C2"/>
                </a:solidFill>
                <a:latin typeface="DejaVu Sans"/>
                <a:ea typeface="DejaVu Sans"/>
                <a:cs typeface="DejaVu Sans"/>
              </a:defRPr>
            </a:pPr>
            <a:r>
              <a:rPr sz="1500" b="1">
                <a:solidFill>
                  <a:srgbClr val="1688C2"/>
                </a:solidFill>
                <a:latin typeface="DejaVu Sans"/>
                <a:ea typeface="DejaVu Sans"/>
                <a:cs typeface="DejaVu Sans"/>
              </a:rPr>
              <a:t>✓  Mar 2026</a:t>
            </a:r>
          </a:p>
        </p:txBody>
      </p:sp>
      <p:sp>
        <p:nvSpPr>
          <p:cNvPr id="31" name="">
            <a:extLst xmlns:a="http://schemas.openxmlformats.org/drawingml/2006/main">
              <a:ext uri="{FF2B5EF4-FFF2-40B4-BE49-F238E27FC236}">
                <a16:creationId xmlns:a16="http://schemas.microsoft.com/office/drawing/2014/main" id="{313A63FC-BBEC-4599-821F-C7AC128B698E}"/>
              </a:ext>
            </a:extLst>
          </p:cNvPr>
          <p:cNvSpPr>
            <a:spLocks xmlns:a="http://schemas.openxmlformats.org/drawingml/2006/main" noGrp="1"/>
          </p:cNvSpPr>
          <p:nvPr/>
        </p:nvSpPr>
        <p:spPr>
          <a:xfrm xmlns:a="http://schemas.openxmlformats.org/drawingml/2006/main">
            <a:off x="6286500" y="385762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Sharia terminology update in FinnOne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AF Profit Ramadan Rate</a:t>
            </a:r>
          </a:p>
        </p:txBody>
      </p:sp>
      <p:sp>
        <p:nvSpPr>
          <p:cNvPr id="32" name="">
            <a:extLst xmlns:a="http://schemas.openxmlformats.org/drawingml/2006/main">
              <a:ext uri="{FF2B5EF4-FFF2-40B4-BE49-F238E27FC236}">
                <a16:creationId xmlns:a16="http://schemas.microsoft.com/office/drawing/2014/main" id="{850CDCA0-A4E9-4DB1-9510-49CADBE0219F}"/>
              </a:ext>
            </a:extLst>
          </p:cNvPr>
          <p:cNvSpPr>
            <a:spLocks xmlns:a="http://schemas.openxmlformats.org/drawingml/2006/main" noGrp="1"/>
          </p:cNvSpPr>
          <p:nvPr/>
        </p:nvSpPr>
        <p:spPr>
          <a:xfrm xmlns:a="http://schemas.openxmlformats.org/drawingml/2006/main">
            <a:off x="8886825" y="397192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33" name="">
            <a:extLst xmlns:a="http://schemas.openxmlformats.org/drawingml/2006/main">
              <a:ext uri="{FF2B5EF4-FFF2-40B4-BE49-F238E27FC236}">
                <a16:creationId xmlns:a16="http://schemas.microsoft.com/office/drawing/2014/main" id="{9B4643F2-96C1-4200-A72E-D3328DFD5455}"/>
              </a:ext>
            </a:extLst>
          </p:cNvPr>
          <p:cNvSpPr>
            <a:spLocks xmlns:a="http://schemas.openxmlformats.org/drawingml/2006/main" noGrp="1"/>
          </p:cNvSpPr>
          <p:nvPr/>
        </p:nvSpPr>
        <p:spPr>
          <a:xfrm xmlns:a="http://schemas.openxmlformats.org/drawingml/2006/main">
            <a:off x="9029700" y="3476625"/>
            <a:ext cx="2705100" cy="1333500"/>
          </a:xfrm>
          <a:prstGeom xmlns:a="http://schemas.openxmlformats.org/drawingml/2006/main" prst="roundRect">
            <a:avLst>
              <a:gd name="adj" fmla="val 8571"/>
            </a:avLst>
          </a:prstGeom>
          <a:solidFill xmlns:a="http://schemas.openxmlformats.org/drawingml/2006/main">
            <a:srgbClr val="FFF4DE"/>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B406F45A-89EE-4A72-81F1-08A56A64219B}"/>
              </a:ext>
            </a:extLst>
          </p:cNvPr>
          <p:cNvSpPr>
            <a:spLocks xmlns:a="http://schemas.openxmlformats.org/drawingml/2006/main" noGrp="1"/>
          </p:cNvSpPr>
          <p:nvPr/>
        </p:nvSpPr>
        <p:spPr>
          <a:xfrm xmlns:a="http://schemas.openxmlformats.org/drawingml/2006/main">
            <a:off x="9144000" y="354330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75BC5"/>
                </a:solidFill>
                <a:latin typeface="DejaVu Sans"/>
                <a:ea typeface="DejaVu Sans"/>
                <a:cs typeface="DejaVu Sans"/>
              </a:defRPr>
            </a:pPr>
            <a:r>
              <a:rPr sz="1500" b="1">
                <a:solidFill>
                  <a:srgbClr val="875BC5"/>
                </a:solidFill>
                <a:latin typeface="DejaVu Sans"/>
                <a:ea typeface="DejaVu Sans"/>
                <a:cs typeface="DejaVu Sans"/>
              </a:rPr>
              <a:t>✓  Apr 2026</a:t>
            </a:r>
          </a:p>
        </p:txBody>
      </p:sp>
      <p:sp>
        <p:nvSpPr>
          <p:cNvPr id="35" name="">
            <a:extLst xmlns:a="http://schemas.openxmlformats.org/drawingml/2006/main">
              <a:ext uri="{FF2B5EF4-FFF2-40B4-BE49-F238E27FC236}">
                <a16:creationId xmlns:a16="http://schemas.microsoft.com/office/drawing/2014/main" id="{C7E20838-AE9C-441E-89E9-B35F51D54375}"/>
              </a:ext>
            </a:extLst>
          </p:cNvPr>
          <p:cNvSpPr>
            <a:spLocks xmlns:a="http://schemas.openxmlformats.org/drawingml/2006/main" noGrp="1"/>
          </p:cNvSpPr>
          <p:nvPr/>
        </p:nvSpPr>
        <p:spPr>
          <a:xfrm xmlns:a="http://schemas.openxmlformats.org/drawingml/2006/main">
            <a:off x="9144000" y="385762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WhatsApp Dealer</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Frontline employer special-rate change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Standard rate revision</a:t>
            </a:r>
          </a:p>
        </p:txBody>
      </p:sp>
      <p:sp>
        <p:nvSpPr>
          <p:cNvPr id="36" name="">
            <a:extLst xmlns:a="http://schemas.openxmlformats.org/drawingml/2006/main">
              <a:ext uri="{FF2B5EF4-FFF2-40B4-BE49-F238E27FC236}">
                <a16:creationId xmlns:a16="http://schemas.microsoft.com/office/drawing/2014/main" id="{A917D235-9060-4B98-9FE8-D4974BB003E8}"/>
              </a:ext>
            </a:extLst>
          </p:cNvPr>
          <p:cNvSpPr>
            <a:spLocks xmlns:a="http://schemas.openxmlformats.org/drawingml/2006/main" noGrp="1"/>
          </p:cNvSpPr>
          <p:nvPr/>
        </p:nvSpPr>
        <p:spPr>
          <a:xfrm xmlns:a="http://schemas.openxmlformats.org/drawingml/2006/main">
            <a:off x="457200" y="4905375"/>
            <a:ext cx="2705100" cy="1333500"/>
          </a:xfrm>
          <a:prstGeom xmlns:a="http://schemas.openxmlformats.org/drawingml/2006/main" prst="roundRect">
            <a:avLst>
              <a:gd name="adj" fmla="val 8571"/>
            </a:avLst>
          </a:prstGeom>
          <a:solidFill xmlns:a="http://schemas.openxmlformats.org/drawingml/2006/main">
            <a:srgbClr val="E6F6F0"/>
          </a:solidFill>
          <a:ln xmlns:a="http://schemas.openxmlformats.org/drawingml/2006/main" w="0">
            <a:noFill/>
          </a:ln>
        </p:spPr>
      </p:sp>
      <p:sp>
        <p:nvSpPr>
          <p:cNvPr id="37" name="">
            <a:extLst xmlns:a="http://schemas.openxmlformats.org/drawingml/2006/main">
              <a:ext uri="{FF2B5EF4-FFF2-40B4-BE49-F238E27FC236}">
                <a16:creationId xmlns:a16="http://schemas.microsoft.com/office/drawing/2014/main" id="{033A86BA-7388-401B-B567-AAD9F75A713A}"/>
              </a:ext>
            </a:extLst>
          </p:cNvPr>
          <p:cNvSpPr>
            <a:spLocks xmlns:a="http://schemas.openxmlformats.org/drawingml/2006/main" noGrp="1"/>
          </p:cNvSpPr>
          <p:nvPr/>
        </p:nvSpPr>
        <p:spPr>
          <a:xfrm xmlns:a="http://schemas.openxmlformats.org/drawingml/2006/main">
            <a:off x="571500" y="4972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CC7D16"/>
                </a:solidFill>
                <a:latin typeface="DejaVu Sans"/>
                <a:ea typeface="DejaVu Sans"/>
                <a:cs typeface="DejaVu Sans"/>
              </a:defRPr>
            </a:pPr>
            <a:r>
              <a:rPr sz="1500" b="1">
                <a:solidFill>
                  <a:srgbClr val="CC7D16"/>
                </a:solidFill>
                <a:latin typeface="DejaVu Sans"/>
                <a:ea typeface="DejaVu Sans"/>
                <a:cs typeface="DejaVu Sans"/>
              </a:rPr>
              <a:t>✓  May 2026</a:t>
            </a:r>
          </a:p>
        </p:txBody>
      </p:sp>
      <p:sp>
        <p:nvSpPr>
          <p:cNvPr id="38" name="">
            <a:extLst xmlns:a="http://schemas.openxmlformats.org/drawingml/2006/main">
              <a:ext uri="{FF2B5EF4-FFF2-40B4-BE49-F238E27FC236}">
                <a16:creationId xmlns:a16="http://schemas.microsoft.com/office/drawing/2014/main" id="{EF485624-7C9B-47C6-850A-BDC18D707794}"/>
              </a:ext>
            </a:extLst>
          </p:cNvPr>
          <p:cNvSpPr>
            <a:spLocks xmlns:a="http://schemas.openxmlformats.org/drawingml/2006/main" noGrp="1"/>
          </p:cNvSpPr>
          <p:nvPr/>
        </p:nvSpPr>
        <p:spPr>
          <a:xfrm xmlns:a="http://schemas.openxmlformats.org/drawingml/2006/main">
            <a:off x="571500" y="52863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Finance amount transfer: I2I</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Tenure control for subvention applications</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Employer rates / EAR changes</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WhatsApp Disable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Golden VISA</a:t>
            </a:r>
          </a:p>
        </p:txBody>
      </p:sp>
      <p:sp>
        <p:nvSpPr>
          <p:cNvPr id="39" name="">
            <a:extLst xmlns:a="http://schemas.openxmlformats.org/drawingml/2006/main">
              <a:ext uri="{FF2B5EF4-FFF2-40B4-BE49-F238E27FC236}">
                <a16:creationId xmlns:a16="http://schemas.microsoft.com/office/drawing/2014/main" id="{918601CC-E71D-4EBC-892F-FA23F6CC84A8}"/>
              </a:ext>
            </a:extLst>
          </p:cNvPr>
          <p:cNvSpPr>
            <a:spLocks xmlns:a="http://schemas.openxmlformats.org/drawingml/2006/main" noGrp="1"/>
          </p:cNvSpPr>
          <p:nvPr/>
        </p:nvSpPr>
        <p:spPr>
          <a:xfrm xmlns:a="http://schemas.openxmlformats.org/drawingml/2006/main">
            <a:off x="3171825" y="54006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40" name="">
            <a:extLst xmlns:a="http://schemas.openxmlformats.org/drawingml/2006/main">
              <a:ext uri="{FF2B5EF4-FFF2-40B4-BE49-F238E27FC236}">
                <a16:creationId xmlns:a16="http://schemas.microsoft.com/office/drawing/2014/main" id="{80528297-9BCD-4753-A7F3-A41BBCB36993}"/>
              </a:ext>
            </a:extLst>
          </p:cNvPr>
          <p:cNvSpPr>
            <a:spLocks xmlns:a="http://schemas.openxmlformats.org/drawingml/2006/main" noGrp="1"/>
          </p:cNvSpPr>
          <p:nvPr/>
        </p:nvSpPr>
        <p:spPr>
          <a:xfrm xmlns:a="http://schemas.openxmlformats.org/drawingml/2006/main">
            <a:off x="3314700" y="4905375"/>
            <a:ext cx="2705100" cy="1333500"/>
          </a:xfrm>
          <a:prstGeom xmlns:a="http://schemas.openxmlformats.org/drawingml/2006/main" prst="roundRect">
            <a:avLst>
              <a:gd name="adj" fmla="val 8571"/>
            </a:avLst>
          </a:prstGeom>
          <a:solidFill xmlns:a="http://schemas.openxmlformats.org/drawingml/2006/main">
            <a:srgbClr val="E8F3FB"/>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3E34A2C5-B39D-4D2E-A79A-A0B725CAB637}"/>
              </a:ext>
            </a:extLst>
          </p:cNvPr>
          <p:cNvSpPr>
            <a:spLocks xmlns:a="http://schemas.openxmlformats.org/drawingml/2006/main" noGrp="1"/>
          </p:cNvSpPr>
          <p:nvPr/>
        </p:nvSpPr>
        <p:spPr>
          <a:xfrm xmlns:a="http://schemas.openxmlformats.org/drawingml/2006/main">
            <a:off x="3429000" y="4972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35373"/>
                </a:solidFill>
                <a:latin typeface="DejaVu Sans"/>
                <a:ea typeface="DejaVu Sans"/>
                <a:cs typeface="DejaVu Sans"/>
              </a:defRPr>
            </a:pPr>
            <a:r>
              <a:rPr sz="1500" b="1">
                <a:solidFill>
                  <a:srgbClr val="D35373"/>
                </a:solidFill>
                <a:latin typeface="DejaVu Sans"/>
                <a:ea typeface="DejaVu Sans"/>
                <a:cs typeface="DejaVu Sans"/>
              </a:rPr>
              <a:t>✓  Jun 2026</a:t>
            </a:r>
          </a:p>
        </p:txBody>
      </p:sp>
      <p:sp>
        <p:nvSpPr>
          <p:cNvPr id="42" name="">
            <a:extLst xmlns:a="http://schemas.openxmlformats.org/drawingml/2006/main">
              <a:ext uri="{FF2B5EF4-FFF2-40B4-BE49-F238E27FC236}">
                <a16:creationId xmlns:a16="http://schemas.microsoft.com/office/drawing/2014/main" id="{0745A038-D196-4FDD-9463-627966E060B4}"/>
              </a:ext>
            </a:extLst>
          </p:cNvPr>
          <p:cNvSpPr>
            <a:spLocks xmlns:a="http://schemas.openxmlformats.org/drawingml/2006/main" noGrp="1"/>
          </p:cNvSpPr>
          <p:nvPr/>
        </p:nvSpPr>
        <p:spPr>
          <a:xfrm xmlns:a="http://schemas.openxmlformats.org/drawingml/2006/main">
            <a:off x="3429000" y="52863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Motorcycle field validation</a:t>
            </a:r>
          </a:p>
        </p:txBody>
      </p:sp>
      <p:sp>
        <p:nvSpPr>
          <p:cNvPr id="43" name="">
            <a:extLst xmlns:a="http://schemas.openxmlformats.org/drawingml/2006/main">
              <a:ext uri="{FF2B5EF4-FFF2-40B4-BE49-F238E27FC236}">
                <a16:creationId xmlns:a16="http://schemas.microsoft.com/office/drawing/2014/main" id="{2D205BF8-509D-4322-A03F-43BF1B57E506}"/>
              </a:ext>
            </a:extLst>
          </p:cNvPr>
          <p:cNvSpPr>
            <a:spLocks xmlns:a="http://schemas.openxmlformats.org/drawingml/2006/main" noGrp="1"/>
          </p:cNvSpPr>
          <p:nvPr/>
        </p:nvSpPr>
        <p:spPr>
          <a:xfrm xmlns:a="http://schemas.openxmlformats.org/drawingml/2006/main">
            <a:off x="6029325" y="54006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44" name="">
            <a:extLst xmlns:a="http://schemas.openxmlformats.org/drawingml/2006/main">
              <a:ext uri="{FF2B5EF4-FFF2-40B4-BE49-F238E27FC236}">
                <a16:creationId xmlns:a16="http://schemas.microsoft.com/office/drawing/2014/main" id="{D906988C-2D5B-47F7-8F96-6FF700BEE9ED}"/>
              </a:ext>
            </a:extLst>
          </p:cNvPr>
          <p:cNvSpPr>
            <a:spLocks xmlns:a="http://schemas.openxmlformats.org/drawingml/2006/main" noGrp="1"/>
          </p:cNvSpPr>
          <p:nvPr/>
        </p:nvSpPr>
        <p:spPr>
          <a:xfrm xmlns:a="http://schemas.openxmlformats.org/drawingml/2006/main">
            <a:off x="6172200" y="4905375"/>
            <a:ext cx="2705100" cy="1333500"/>
          </a:xfrm>
          <a:prstGeom xmlns:a="http://schemas.openxmlformats.org/drawingml/2006/main" prst="roundRect">
            <a:avLst>
              <a:gd name="adj" fmla="val 8571"/>
            </a:avLst>
          </a:prstGeom>
          <a:solidFill xmlns:a="http://schemas.openxmlformats.org/drawingml/2006/main">
            <a:srgbClr val="F0EAF9"/>
          </a:solidFill>
          <a:ln xmlns:a="http://schemas.openxmlformats.org/drawingml/2006/main" w="0">
            <a:noFill/>
          </a:ln>
        </p:spPr>
      </p:sp>
      <p:sp>
        <p:nvSpPr>
          <p:cNvPr id="45" name="">
            <a:extLst xmlns:a="http://schemas.openxmlformats.org/drawingml/2006/main">
              <a:ext uri="{FF2B5EF4-FFF2-40B4-BE49-F238E27FC236}">
                <a16:creationId xmlns:a16="http://schemas.microsoft.com/office/drawing/2014/main" id="{444426D6-EA2E-4363-97BF-F46780DA44EA}"/>
              </a:ext>
            </a:extLst>
          </p:cNvPr>
          <p:cNvSpPr>
            <a:spLocks xmlns:a="http://schemas.openxmlformats.org/drawingml/2006/main" noGrp="1"/>
          </p:cNvSpPr>
          <p:nvPr/>
        </p:nvSpPr>
        <p:spPr>
          <a:xfrm xmlns:a="http://schemas.openxmlformats.org/drawingml/2006/main">
            <a:off x="6286500" y="4972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  Jul 2026</a:t>
            </a:r>
          </a:p>
        </p:txBody>
      </p:sp>
      <p:sp>
        <p:nvSpPr>
          <p:cNvPr id="46" name="">
            <a:extLst xmlns:a="http://schemas.openxmlformats.org/drawingml/2006/main">
              <a:ext uri="{FF2B5EF4-FFF2-40B4-BE49-F238E27FC236}">
                <a16:creationId xmlns:a16="http://schemas.microsoft.com/office/drawing/2014/main" id="{C8A3B80D-7466-416B-B04E-CAAF8B4A85F1}"/>
              </a:ext>
            </a:extLst>
          </p:cNvPr>
          <p:cNvSpPr>
            <a:spLocks xmlns:a="http://schemas.openxmlformats.org/drawingml/2006/main" noGrp="1"/>
          </p:cNvSpPr>
          <p:nvPr/>
        </p:nvSpPr>
        <p:spPr>
          <a:xfrm xmlns:a="http://schemas.openxmlformats.org/drawingml/2006/main">
            <a:off x="6286500" y="52863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ILOE premium update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Frontline campaign extension</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Chassis number / flat-rate validation at PDOC</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AF Summer Campaign 2026</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DMGT-2372: Frontline Hero expiry</a:t>
            </a:r>
          </a:p>
        </p:txBody>
      </p:sp>
      <p:sp>
        <p:nvSpPr>
          <p:cNvPr id="47" name="">
            <a:extLst xmlns:a="http://schemas.openxmlformats.org/drawingml/2006/main">
              <a:ext uri="{FF2B5EF4-FFF2-40B4-BE49-F238E27FC236}">
                <a16:creationId xmlns:a16="http://schemas.microsoft.com/office/drawing/2014/main" id="{41324988-22CB-4F87-91E5-1D4D95E46D97}"/>
              </a:ext>
            </a:extLst>
          </p:cNvPr>
          <p:cNvSpPr>
            <a:spLocks xmlns:a="http://schemas.openxmlformats.org/drawingml/2006/main" noGrp="1"/>
          </p:cNvSpPr>
          <p:nvPr/>
        </p:nvSpPr>
        <p:spPr>
          <a:xfrm xmlns:a="http://schemas.openxmlformats.org/drawingml/2006/main">
            <a:off x="8886825" y="5400675"/>
            <a:ext cx="152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647B89"/>
                </a:solidFill>
                <a:latin typeface="DejaVu Sans"/>
                <a:ea typeface="DejaVu Sans"/>
                <a:cs typeface="DejaVu Sans"/>
              </a:defRPr>
            </a:pPr>
            <a:r>
              <a:rPr sz="1950" b="1">
                <a:solidFill>
                  <a:srgbClr val="647B89"/>
                </a:solidFill>
                <a:latin typeface="DejaVu Sans"/>
                <a:ea typeface="DejaVu Sans"/>
                <a:cs typeface="DejaVu Sans"/>
              </a:rPr>
              <a:t>›</a:t>
            </a:r>
          </a:p>
        </p:txBody>
      </p:sp>
      <p:sp>
        <p:nvSpPr>
          <p:cNvPr id="48" name="">
            <a:extLst xmlns:a="http://schemas.openxmlformats.org/drawingml/2006/main">
              <a:ext uri="{FF2B5EF4-FFF2-40B4-BE49-F238E27FC236}">
                <a16:creationId xmlns:a16="http://schemas.microsoft.com/office/drawing/2014/main" id="{9DF83105-9BFC-4D27-AABF-F28CAB451226}"/>
              </a:ext>
            </a:extLst>
          </p:cNvPr>
          <p:cNvSpPr>
            <a:spLocks xmlns:a="http://schemas.openxmlformats.org/drawingml/2006/main" noGrp="1"/>
          </p:cNvSpPr>
          <p:nvPr/>
        </p:nvSpPr>
        <p:spPr>
          <a:xfrm xmlns:a="http://schemas.openxmlformats.org/drawingml/2006/main">
            <a:off x="9029700" y="4905375"/>
            <a:ext cx="2705100" cy="1333500"/>
          </a:xfrm>
          <a:prstGeom xmlns:a="http://schemas.openxmlformats.org/drawingml/2006/main" prst="roundRect">
            <a:avLst>
              <a:gd name="adj" fmla="val 8571"/>
            </a:avLst>
          </a:prstGeom>
          <a:solidFill xmlns:a="http://schemas.openxmlformats.org/drawingml/2006/main">
            <a:srgbClr val="FFF4DE"/>
          </a:solidFill>
          <a:ln xmlns:a="http://schemas.openxmlformats.org/drawingml/2006/main" w="0">
            <a:noFill/>
          </a:ln>
        </p:spPr>
      </p:sp>
      <p:sp>
        <p:nvSpPr>
          <p:cNvPr id="49" name="">
            <a:extLst xmlns:a="http://schemas.openxmlformats.org/drawingml/2006/main">
              <a:ext uri="{FF2B5EF4-FFF2-40B4-BE49-F238E27FC236}">
                <a16:creationId xmlns:a16="http://schemas.microsoft.com/office/drawing/2014/main" id="{B145F1DE-8884-4FC5-A6D5-F1ACBD879551}"/>
              </a:ext>
            </a:extLst>
          </p:cNvPr>
          <p:cNvSpPr>
            <a:spLocks xmlns:a="http://schemas.openxmlformats.org/drawingml/2006/main" noGrp="1"/>
          </p:cNvSpPr>
          <p:nvPr/>
        </p:nvSpPr>
        <p:spPr>
          <a:xfrm xmlns:a="http://schemas.openxmlformats.org/drawingml/2006/main">
            <a:off x="9144000" y="4972050"/>
            <a:ext cx="247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8C2"/>
                </a:solidFill>
                <a:latin typeface="DejaVu Sans"/>
                <a:ea typeface="DejaVu Sans"/>
                <a:cs typeface="DejaVu Sans"/>
              </a:defRPr>
            </a:pPr>
            <a:r>
              <a:rPr sz="1500" b="1">
                <a:solidFill>
                  <a:srgbClr val="1688C2"/>
                </a:solidFill>
                <a:latin typeface="DejaVu Sans"/>
                <a:ea typeface="DejaVu Sans"/>
                <a:cs typeface="DejaVu Sans"/>
              </a:rPr>
              <a:t>✓  Aug 2026</a:t>
            </a:r>
          </a:p>
        </p:txBody>
      </p:sp>
      <p:sp>
        <p:nvSpPr>
          <p:cNvPr id="50" name="">
            <a:extLst xmlns:a="http://schemas.openxmlformats.org/drawingml/2006/main">
              <a:ext uri="{FF2B5EF4-FFF2-40B4-BE49-F238E27FC236}">
                <a16:creationId xmlns:a16="http://schemas.microsoft.com/office/drawing/2014/main" id="{4FA62AF5-6563-43BC-A1C4-3401E067CE4D}"/>
              </a:ext>
            </a:extLst>
          </p:cNvPr>
          <p:cNvSpPr>
            <a:spLocks xmlns:a="http://schemas.openxmlformats.org/drawingml/2006/main" noGrp="1"/>
          </p:cNvSpPr>
          <p:nvPr/>
        </p:nvSpPr>
        <p:spPr>
          <a:xfrm xmlns:a="http://schemas.openxmlformats.org/drawingml/2006/main">
            <a:off x="9144000" y="5286375"/>
            <a:ext cx="2476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PGL: ILOE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PGL: POD rate issue</a:t>
            </a:r>
          </a:p>
          <a:p xmlns:a="http://schemas.openxmlformats.org/drawingml/2006/main">
            <a:pPr>
              <a:defRPr sz="1013" b="0">
                <a:solidFill>
                  <a:srgbClr val="173A4B"/>
                </a:solidFill>
                <a:latin typeface="DejaVu Sans"/>
                <a:ea typeface="DejaVu Sans"/>
                <a:cs typeface="DejaVu Sans"/>
              </a:defRPr>
            </a:pPr>
            <a:r>
              <a:rPr sz="1013" b="0">
                <a:solidFill>
                  <a:srgbClr val="173A4B"/>
                </a:solidFill>
                <a:latin typeface="DejaVu Sans"/>
                <a:ea typeface="DejaVu Sans"/>
                <a:cs typeface="DejaVu Sans"/>
              </a:rPr>
              <a:t>Tesla rate revision</a:t>
            </a:r>
          </a:p>
        </p:txBody>
      </p:sp>
    </p:spTree>
    <p:extLst>
      <p:ext uri="{BB962C8B-B14F-4D97-AF65-F5344CB8AC3E}">
        <p14:creationId xmlns:p14="http://schemas.microsoft.com/office/powerpoint/2010/main" val="25142617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B1074656-161B-47D1-9992-4A40BB71F2AB}"/>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5A6F3205-05CC-4FC2-A473-16D83F65DB13}"/>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PF squad: six initiatives remain in solution design</a:t>
            </a:r>
          </a:p>
        </p:txBody>
      </p:sp>
      <p:sp>
        <p:nvSpPr>
          <p:cNvPr id="3" name="">
            <a:extLst xmlns:a="http://schemas.openxmlformats.org/drawingml/2006/main">
              <a:ext uri="{FF2B5EF4-FFF2-40B4-BE49-F238E27FC236}">
                <a16:creationId xmlns:a16="http://schemas.microsoft.com/office/drawing/2014/main" id="{E7F67AF9-7BEC-41E8-9702-E6A5223DDF97}"/>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September status snapshot. One initiative has business sign-off.</a:t>
            </a:r>
          </a:p>
        </p:txBody>
      </p:sp>
      <p:sp>
        <p:nvSpPr>
          <p:cNvPr id="4" name="">
            <a:extLst xmlns:a="http://schemas.openxmlformats.org/drawingml/2006/main">
              <a:ext uri="{FF2B5EF4-FFF2-40B4-BE49-F238E27FC236}">
                <a16:creationId xmlns:a16="http://schemas.microsoft.com/office/drawing/2014/main" id="{E5B819E6-E3D6-4028-918D-C97D47E01A93}"/>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FAD8F224-0F0B-474B-B8DE-8153751C208E}"/>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9</a:t>
            </a:r>
          </a:p>
        </p:txBody>
      </p:sp>
      <p:sp>
        <p:nvSpPr>
          <p:cNvPr id="6" name="">
            <a:extLst xmlns:a="http://schemas.openxmlformats.org/drawingml/2006/main">
              <a:ext uri="{FF2B5EF4-FFF2-40B4-BE49-F238E27FC236}">
                <a16:creationId xmlns:a16="http://schemas.microsoft.com/office/drawing/2014/main" id="{AB9275C1-7D5D-4038-858C-7068C6A4CE5D}"/>
              </a:ext>
            </a:extLst>
          </p:cNvPr>
          <p:cNvSpPr>
            <a:spLocks xmlns:a="http://schemas.openxmlformats.org/drawingml/2006/main" noGrp="1"/>
          </p:cNvSpPr>
          <p:nvPr/>
        </p:nvSpPr>
        <p:spPr>
          <a:xfrm xmlns:a="http://schemas.openxmlformats.org/drawingml/2006/main">
            <a:off x="457200" y="2143125"/>
            <a:ext cx="3657600" cy="1857375"/>
          </a:xfrm>
          <a:prstGeom xmlns:a="http://schemas.openxmlformats.org/drawingml/2006/main" prst="roundRect">
            <a:avLst>
              <a:gd name="adj" fmla="val 6154"/>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E06EFC39-6126-4C56-A362-A75A4217387D}"/>
              </a:ext>
            </a:extLst>
          </p:cNvPr>
          <p:cNvSpPr>
            <a:spLocks xmlns:a="http://schemas.openxmlformats.org/drawingml/2006/main" noGrp="1"/>
          </p:cNvSpPr>
          <p:nvPr/>
        </p:nvSpPr>
        <p:spPr>
          <a:xfrm xmlns:a="http://schemas.openxmlformats.org/drawingml/2006/main">
            <a:off x="619125" y="22669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  6 solution design</a:t>
            </a:r>
          </a:p>
        </p:txBody>
      </p:sp>
      <p:sp>
        <p:nvSpPr>
          <p:cNvPr id="8" name="">
            <a:extLst xmlns:a="http://schemas.openxmlformats.org/drawingml/2006/main">
              <a:ext uri="{FF2B5EF4-FFF2-40B4-BE49-F238E27FC236}">
                <a16:creationId xmlns:a16="http://schemas.microsoft.com/office/drawing/2014/main" id="{611E7D34-5243-44F2-A425-16648FC1C5AD}"/>
              </a:ext>
            </a:extLst>
          </p:cNvPr>
          <p:cNvSpPr>
            <a:spLocks xmlns:a="http://schemas.openxmlformats.org/drawingml/2006/main" noGrp="1"/>
          </p:cNvSpPr>
          <p:nvPr/>
        </p:nvSpPr>
        <p:spPr>
          <a:xfrm xmlns:a="http://schemas.openxmlformats.org/drawingml/2006/main">
            <a:off x="619125" y="26670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83: RAO salary check in liability settlement</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49: Early settlement methodology</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1336: Early settlement KFS</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2557: LC retention scheme</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1708: Flexi Salary after-sales (LEAN)</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1021: EFR for NTB / ETB</a:t>
            </a:r>
          </a:p>
        </p:txBody>
      </p:sp>
      <p:sp>
        <p:nvSpPr>
          <p:cNvPr id="9" name="">
            <a:extLst xmlns:a="http://schemas.openxmlformats.org/drawingml/2006/main">
              <a:ext uri="{FF2B5EF4-FFF2-40B4-BE49-F238E27FC236}">
                <a16:creationId xmlns:a16="http://schemas.microsoft.com/office/drawing/2014/main" id="{46910186-744C-4EBB-BF4C-72A89B1802B7}"/>
              </a:ext>
            </a:extLst>
          </p:cNvPr>
          <p:cNvSpPr>
            <a:spLocks xmlns:a="http://schemas.openxmlformats.org/drawingml/2006/main" noGrp="1"/>
          </p:cNvSpPr>
          <p:nvPr/>
        </p:nvSpPr>
        <p:spPr>
          <a:xfrm xmlns:a="http://schemas.openxmlformats.org/drawingml/2006/main">
            <a:off x="4267200" y="2143125"/>
            <a:ext cx="3657600" cy="1857375"/>
          </a:xfrm>
          <a:prstGeom xmlns:a="http://schemas.openxmlformats.org/drawingml/2006/main" prst="roundRect">
            <a:avLst>
              <a:gd name="adj" fmla="val 6154"/>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12E28EC-5531-4443-8997-43014D8BA939}"/>
              </a:ext>
            </a:extLst>
          </p:cNvPr>
          <p:cNvSpPr>
            <a:spLocks xmlns:a="http://schemas.openxmlformats.org/drawingml/2006/main" noGrp="1"/>
          </p:cNvSpPr>
          <p:nvPr/>
        </p:nvSpPr>
        <p:spPr>
          <a:xfrm xmlns:a="http://schemas.openxmlformats.org/drawingml/2006/main">
            <a:off x="4429125" y="22669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88C2"/>
                </a:solidFill>
                <a:latin typeface="DejaVu Sans"/>
                <a:ea typeface="DejaVu Sans"/>
                <a:cs typeface="DejaVu Sans"/>
              </a:defRPr>
            </a:pPr>
            <a:r>
              <a:rPr sz="1725" b="1">
                <a:solidFill>
                  <a:srgbClr val="1688C2"/>
                </a:solidFill>
                <a:latin typeface="DejaVu Sans"/>
                <a:ea typeface="DejaVu Sans"/>
                <a:cs typeface="DejaVu Sans"/>
              </a:rPr>
              <a:t>⚙  1 development</a:t>
            </a:r>
          </a:p>
        </p:txBody>
      </p:sp>
      <p:sp>
        <p:nvSpPr>
          <p:cNvPr id="11" name="">
            <a:extLst xmlns:a="http://schemas.openxmlformats.org/drawingml/2006/main">
              <a:ext uri="{FF2B5EF4-FFF2-40B4-BE49-F238E27FC236}">
                <a16:creationId xmlns:a16="http://schemas.microsoft.com/office/drawing/2014/main" id="{3335E560-A4F8-4E94-830D-2A549C73D6B2}"/>
              </a:ext>
            </a:extLst>
          </p:cNvPr>
          <p:cNvSpPr>
            <a:spLocks xmlns:a="http://schemas.openxmlformats.org/drawingml/2006/main" noGrp="1"/>
          </p:cNvSpPr>
          <p:nvPr/>
        </p:nvSpPr>
        <p:spPr>
          <a:xfrm xmlns:a="http://schemas.openxmlformats.org/drawingml/2006/main">
            <a:off x="4429125" y="26670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DMGT-91</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Business pricing updates in FinnOne</a:t>
            </a:r>
          </a:p>
        </p:txBody>
      </p:sp>
      <p:sp>
        <p:nvSpPr>
          <p:cNvPr id="12" name="">
            <a:extLst xmlns:a="http://schemas.openxmlformats.org/drawingml/2006/main">
              <a:ext uri="{FF2B5EF4-FFF2-40B4-BE49-F238E27FC236}">
                <a16:creationId xmlns:a16="http://schemas.microsoft.com/office/drawing/2014/main" id="{962D14E1-9092-4BA5-B908-5A3520807606}"/>
              </a:ext>
            </a:extLst>
          </p:cNvPr>
          <p:cNvSpPr>
            <a:spLocks xmlns:a="http://schemas.openxmlformats.org/drawingml/2006/main" noGrp="1"/>
          </p:cNvSpPr>
          <p:nvPr/>
        </p:nvSpPr>
        <p:spPr>
          <a:xfrm xmlns:a="http://schemas.openxmlformats.org/drawingml/2006/main">
            <a:off x="8077200" y="2143125"/>
            <a:ext cx="3657600" cy="1857375"/>
          </a:xfrm>
          <a:prstGeom xmlns:a="http://schemas.openxmlformats.org/drawingml/2006/main" prst="roundRect">
            <a:avLst>
              <a:gd name="adj" fmla="val 6154"/>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FA7145E-C93D-440A-8D93-38D24DE7397C}"/>
              </a:ext>
            </a:extLst>
          </p:cNvPr>
          <p:cNvSpPr>
            <a:spLocks xmlns:a="http://schemas.openxmlformats.org/drawingml/2006/main" noGrp="1"/>
          </p:cNvSpPr>
          <p:nvPr/>
        </p:nvSpPr>
        <p:spPr>
          <a:xfrm xmlns:a="http://schemas.openxmlformats.org/drawingml/2006/main">
            <a:off x="8239125" y="2266950"/>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875BC5"/>
                </a:solidFill>
                <a:latin typeface="DejaVu Sans"/>
                <a:ea typeface="DejaVu Sans"/>
                <a:cs typeface="DejaVu Sans"/>
              </a:defRPr>
            </a:pPr>
            <a:r>
              <a:rPr sz="1725" b="1">
                <a:solidFill>
                  <a:srgbClr val="875BC5"/>
                </a:solidFill>
                <a:latin typeface="DejaVu Sans"/>
                <a:ea typeface="DejaVu Sans"/>
                <a:cs typeface="DejaVu Sans"/>
              </a:rPr>
              <a:t>◆  1 UAT</a:t>
            </a:r>
          </a:p>
        </p:txBody>
      </p:sp>
      <p:sp>
        <p:nvSpPr>
          <p:cNvPr id="14" name="">
            <a:extLst xmlns:a="http://schemas.openxmlformats.org/drawingml/2006/main">
              <a:ext uri="{FF2B5EF4-FFF2-40B4-BE49-F238E27FC236}">
                <a16:creationId xmlns:a16="http://schemas.microsoft.com/office/drawing/2014/main" id="{43C2BFE4-6332-48AD-842D-6B1605C9D0C9}"/>
              </a:ext>
            </a:extLst>
          </p:cNvPr>
          <p:cNvSpPr>
            <a:spLocks xmlns:a="http://schemas.openxmlformats.org/drawingml/2006/main" noGrp="1"/>
          </p:cNvSpPr>
          <p:nvPr/>
        </p:nvSpPr>
        <p:spPr>
          <a:xfrm xmlns:a="http://schemas.openxmlformats.org/drawingml/2006/main">
            <a:off x="8239125" y="2667000"/>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DMGT-106</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LC PDC settlement remittance to the correct account</a:t>
            </a:r>
          </a:p>
        </p:txBody>
      </p:sp>
      <p:sp>
        <p:nvSpPr>
          <p:cNvPr id="15" name="">
            <a:extLst xmlns:a="http://schemas.openxmlformats.org/drawingml/2006/main">
              <a:ext uri="{FF2B5EF4-FFF2-40B4-BE49-F238E27FC236}">
                <a16:creationId xmlns:a16="http://schemas.microsoft.com/office/drawing/2014/main" id="{D303DC26-5DF5-4721-84D5-81A0A15B8416}"/>
              </a:ext>
            </a:extLst>
          </p:cNvPr>
          <p:cNvSpPr>
            <a:spLocks xmlns:a="http://schemas.openxmlformats.org/drawingml/2006/main" noGrp="1"/>
          </p:cNvSpPr>
          <p:nvPr/>
        </p:nvSpPr>
        <p:spPr>
          <a:xfrm xmlns:a="http://schemas.openxmlformats.org/drawingml/2006/main">
            <a:off x="457200" y="4152900"/>
            <a:ext cx="3657600" cy="1857375"/>
          </a:xfrm>
          <a:prstGeom xmlns:a="http://schemas.openxmlformats.org/drawingml/2006/main" prst="roundRect">
            <a:avLst>
              <a:gd name="adj" fmla="val 6154"/>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311EF0FC-A736-4261-87A5-2C093435D191}"/>
              </a:ext>
            </a:extLst>
          </p:cNvPr>
          <p:cNvSpPr>
            <a:spLocks xmlns:a="http://schemas.openxmlformats.org/drawingml/2006/main" noGrp="1"/>
          </p:cNvSpPr>
          <p:nvPr/>
        </p:nvSpPr>
        <p:spPr>
          <a:xfrm xmlns:a="http://schemas.openxmlformats.org/drawingml/2006/main">
            <a:off x="619125" y="42767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7D16"/>
                </a:solidFill>
                <a:latin typeface="DejaVu Sans"/>
                <a:ea typeface="DejaVu Sans"/>
                <a:cs typeface="DejaVu Sans"/>
              </a:defRPr>
            </a:pPr>
            <a:r>
              <a:rPr sz="1725" b="1">
                <a:solidFill>
                  <a:srgbClr val="CC7D16"/>
                </a:solidFill>
                <a:latin typeface="DejaVu Sans"/>
                <a:ea typeface="DejaVu Sans"/>
                <a:cs typeface="DejaVu Sans"/>
              </a:rPr>
              <a:t>✓  1 business sign-off</a:t>
            </a:r>
          </a:p>
        </p:txBody>
      </p:sp>
      <p:sp>
        <p:nvSpPr>
          <p:cNvPr id="17" name="">
            <a:extLst xmlns:a="http://schemas.openxmlformats.org/drawingml/2006/main">
              <a:ext uri="{FF2B5EF4-FFF2-40B4-BE49-F238E27FC236}">
                <a16:creationId xmlns:a16="http://schemas.microsoft.com/office/drawing/2014/main" id="{70494472-B942-45B0-8E68-AABC7B90A966}"/>
              </a:ext>
            </a:extLst>
          </p:cNvPr>
          <p:cNvSpPr>
            <a:spLocks xmlns:a="http://schemas.openxmlformats.org/drawingml/2006/main" noGrp="1"/>
          </p:cNvSpPr>
          <p:nvPr/>
        </p:nvSpPr>
        <p:spPr>
          <a:xfrm xmlns:a="http://schemas.openxmlformats.org/drawingml/2006/main">
            <a:off x="619125" y="4676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DMGT-56</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FTS enablement in all STL segments</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Planned go-live: 4 October 2026</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Actual release confirmation required</a:t>
            </a:r>
          </a:p>
        </p:txBody>
      </p:sp>
      <p:sp>
        <p:nvSpPr>
          <p:cNvPr id="18" name="">
            <a:extLst xmlns:a="http://schemas.openxmlformats.org/drawingml/2006/main">
              <a:ext uri="{FF2B5EF4-FFF2-40B4-BE49-F238E27FC236}">
                <a16:creationId xmlns:a16="http://schemas.microsoft.com/office/drawing/2014/main" id="{4448144D-09B3-49BF-9769-77C4BB25AC4D}"/>
              </a:ext>
            </a:extLst>
          </p:cNvPr>
          <p:cNvSpPr>
            <a:spLocks xmlns:a="http://schemas.openxmlformats.org/drawingml/2006/main" noGrp="1"/>
          </p:cNvSpPr>
          <p:nvPr/>
        </p:nvSpPr>
        <p:spPr>
          <a:xfrm xmlns:a="http://schemas.openxmlformats.org/drawingml/2006/main">
            <a:off x="4267200" y="4152900"/>
            <a:ext cx="3657600" cy="1857375"/>
          </a:xfrm>
          <a:prstGeom xmlns:a="http://schemas.openxmlformats.org/drawingml/2006/main" prst="roundRect">
            <a:avLst>
              <a:gd name="adj" fmla="val 6154"/>
            </a:avLst>
          </a:prstGeom>
          <a:solidFill xmlns:a="http://schemas.openxmlformats.org/drawingml/2006/main">
            <a:srgbClr val="FCEA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86903F4E-8212-4388-A628-99AD6DDD7E8A}"/>
              </a:ext>
            </a:extLst>
          </p:cNvPr>
          <p:cNvSpPr>
            <a:spLocks xmlns:a="http://schemas.openxmlformats.org/drawingml/2006/main" noGrp="1"/>
          </p:cNvSpPr>
          <p:nvPr/>
        </p:nvSpPr>
        <p:spPr>
          <a:xfrm xmlns:a="http://schemas.openxmlformats.org/drawingml/2006/main">
            <a:off x="4429125" y="42767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D35373"/>
                </a:solidFill>
                <a:latin typeface="DejaVu Sans"/>
                <a:ea typeface="DejaVu Sans"/>
                <a:cs typeface="DejaVu Sans"/>
              </a:defRPr>
            </a:pPr>
            <a:r>
              <a:rPr sz="1725" b="1">
                <a:solidFill>
                  <a:srgbClr val="D35373"/>
                </a:solidFill>
                <a:latin typeface="DejaVu Sans"/>
                <a:ea typeface="DejaVu Sans"/>
                <a:cs typeface="DejaVu Sans"/>
              </a:rPr>
              <a:t>▦  3 backlog</a:t>
            </a:r>
          </a:p>
        </p:txBody>
      </p:sp>
      <p:sp>
        <p:nvSpPr>
          <p:cNvPr id="20" name="">
            <a:extLst xmlns:a="http://schemas.openxmlformats.org/drawingml/2006/main">
              <a:ext uri="{FF2B5EF4-FFF2-40B4-BE49-F238E27FC236}">
                <a16:creationId xmlns:a16="http://schemas.microsoft.com/office/drawing/2014/main" id="{15E21554-1654-4371-80A3-A7F07DD31C9B}"/>
              </a:ext>
            </a:extLst>
          </p:cNvPr>
          <p:cNvSpPr>
            <a:spLocks xmlns:a="http://schemas.openxmlformats.org/drawingml/2006/main" noGrp="1"/>
          </p:cNvSpPr>
          <p:nvPr/>
        </p:nvSpPr>
        <p:spPr>
          <a:xfrm xmlns:a="http://schemas.openxmlformats.org/drawingml/2006/main">
            <a:off x="4429125" y="4676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Pickup depends on delivery of the current set of demands</a:t>
            </a:r>
          </a:p>
        </p:txBody>
      </p:sp>
      <p:sp>
        <p:nvSpPr>
          <p:cNvPr id="21" name="">
            <a:extLst xmlns:a="http://schemas.openxmlformats.org/drawingml/2006/main">
              <a:ext uri="{FF2B5EF4-FFF2-40B4-BE49-F238E27FC236}">
                <a16:creationId xmlns:a16="http://schemas.microsoft.com/office/drawing/2014/main" id="{308C966E-FAA6-4289-B0E2-119921797DC8}"/>
              </a:ext>
            </a:extLst>
          </p:cNvPr>
          <p:cNvSpPr>
            <a:spLocks xmlns:a="http://schemas.openxmlformats.org/drawingml/2006/main" noGrp="1"/>
          </p:cNvSpPr>
          <p:nvPr/>
        </p:nvSpPr>
        <p:spPr>
          <a:xfrm xmlns:a="http://schemas.openxmlformats.org/drawingml/2006/main">
            <a:off x="8077200" y="4152900"/>
            <a:ext cx="3657600" cy="1857375"/>
          </a:xfrm>
          <a:prstGeom xmlns:a="http://schemas.openxmlformats.org/drawingml/2006/main" prst="roundRect">
            <a:avLst>
              <a:gd name="adj" fmla="val 6154"/>
            </a:avLst>
          </a:prstGeom>
          <a:solidFill xmlns:a="http://schemas.openxmlformats.org/drawingml/2006/main">
            <a:srgbClr val="EAF3F7"/>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B634128E-03CE-4903-B046-C4CD7D30DC95}"/>
              </a:ext>
            </a:extLst>
          </p:cNvPr>
          <p:cNvSpPr>
            <a:spLocks xmlns:a="http://schemas.openxmlformats.org/drawingml/2006/main" noGrp="1"/>
          </p:cNvSpPr>
          <p:nvPr/>
        </p:nvSpPr>
        <p:spPr>
          <a:xfrm xmlns:a="http://schemas.openxmlformats.org/drawingml/2006/main">
            <a:off x="8239125" y="4276725"/>
            <a:ext cx="3333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  8 open points</a:t>
            </a:r>
          </a:p>
        </p:txBody>
      </p:sp>
      <p:sp>
        <p:nvSpPr>
          <p:cNvPr id="23" name="">
            <a:extLst xmlns:a="http://schemas.openxmlformats.org/drawingml/2006/main">
              <a:ext uri="{FF2B5EF4-FFF2-40B4-BE49-F238E27FC236}">
                <a16:creationId xmlns:a16="http://schemas.microsoft.com/office/drawing/2014/main" id="{A671C48D-8034-41FD-A4E1-08A2EBEEF10A}"/>
              </a:ext>
            </a:extLst>
          </p:cNvPr>
          <p:cNvSpPr>
            <a:spLocks xmlns:a="http://schemas.openxmlformats.org/drawingml/2006/main" noGrp="1"/>
          </p:cNvSpPr>
          <p:nvPr/>
        </p:nvSpPr>
        <p:spPr>
          <a:xfrm xmlns:a="http://schemas.openxmlformats.org/drawingml/2006/main">
            <a:off x="8239125" y="4676775"/>
            <a:ext cx="3333750" cy="1285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Tracked separately for follow-up</a:t>
            </a:r>
          </a:p>
          <a:p xmlns:a="http://schemas.openxmlformats.org/drawingml/2006/main">
            <a:pPr>
              <a:defRPr sz="1200" b="0">
                <a:solidFill>
                  <a:srgbClr val="173A4B"/>
                </a:solidFill>
                <a:latin typeface="DejaVu Sans"/>
                <a:ea typeface="DejaVu Sans"/>
                <a:cs typeface="DejaVu Sans"/>
              </a:defRPr>
            </a:pPr>
            <a:r>
              <a:rPr sz="1200" b="0">
                <a:solidFill>
                  <a:srgbClr val="173A4B"/>
                </a:solidFill>
                <a:latin typeface="DejaVu Sans"/>
                <a:ea typeface="DejaVu Sans"/>
                <a:cs typeface="DejaVu Sans"/>
              </a:rPr>
              <a:t>Treat as tracking items until demand scope and unique IDs are confirmed</a:t>
            </a:r>
          </a:p>
        </p:txBody>
      </p:sp>
      <p:sp>
        <p:nvSpPr>
          <p:cNvPr id="24" name="">
            <a:extLst xmlns:a="http://schemas.openxmlformats.org/drawingml/2006/main">
              <a:ext uri="{FF2B5EF4-FFF2-40B4-BE49-F238E27FC236}">
                <a16:creationId xmlns:a16="http://schemas.microsoft.com/office/drawing/2014/main" id="{18587BE7-3CBE-46D9-A470-E2B6D431C0A6}"/>
              </a:ext>
            </a:extLst>
          </p:cNvPr>
          <p:cNvSpPr>
            <a:spLocks xmlns:a="http://schemas.openxmlformats.org/drawingml/2006/main" noGrp="1"/>
          </p:cNvSpPr>
          <p:nvPr/>
        </p:nvSpPr>
        <p:spPr>
          <a:xfrm xmlns:a="http://schemas.openxmlformats.org/drawingml/2006/main">
            <a:off x="457200" y="6200775"/>
            <a:ext cx="112776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Solution-design numbers use the DMGT prefix. Squad counts are separate from platform totals.</a:t>
            </a:r>
          </a:p>
        </p:txBody>
      </p:sp>
    </p:spTree>
    <p:extLst>
      <p:ext uri="{BB962C8B-B14F-4D97-AF65-F5344CB8AC3E}">
        <p14:creationId xmlns:p14="http://schemas.microsoft.com/office/powerpoint/2010/main" val="62642293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2" name="">
            <a:extLst xmlns:a="http://schemas.openxmlformats.org/drawingml/2006/main">
              <a:ext uri="{FF2B5EF4-FFF2-40B4-BE49-F238E27FC236}">
                <a16:creationId xmlns:a16="http://schemas.microsoft.com/office/drawing/2014/main" id="{BD1A515D-6485-42B5-BC05-9FBCCE886663}"/>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D565C202-90A2-412A-A180-072A955F346C}"/>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PF delivery timeline: September 2025–October 2026</a:t>
            </a:r>
          </a:p>
        </p:txBody>
      </p:sp>
      <p:sp>
        <p:nvSpPr>
          <p:cNvPr id="3" name="">
            <a:extLst xmlns:a="http://schemas.openxmlformats.org/drawingml/2006/main">
              <a:ext uri="{FF2B5EF4-FFF2-40B4-BE49-F238E27FC236}">
                <a16:creationId xmlns:a16="http://schemas.microsoft.com/office/drawing/2014/main" id="{5B1EAAF0-7747-417A-B099-73EE7091DE83}"/>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Milestone lanes show completed work and the next planned release.</a:t>
            </a:r>
          </a:p>
        </p:txBody>
      </p:sp>
      <p:sp>
        <p:nvSpPr>
          <p:cNvPr id="4" name="">
            <a:extLst xmlns:a="http://schemas.openxmlformats.org/drawingml/2006/main">
              <a:ext uri="{FF2B5EF4-FFF2-40B4-BE49-F238E27FC236}">
                <a16:creationId xmlns:a16="http://schemas.microsoft.com/office/drawing/2014/main" id="{F1438670-F96F-44D9-9685-6001508886F1}"/>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C5626F99-22F7-4F60-8849-3332E99E653B}"/>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10</a:t>
            </a:r>
          </a:p>
        </p:txBody>
      </p:sp>
      <p:sp>
        <p:nvSpPr>
          <p:cNvPr id="6" name="">
            <a:extLst xmlns:a="http://schemas.openxmlformats.org/drawingml/2006/main">
              <a:ext uri="{FF2B5EF4-FFF2-40B4-BE49-F238E27FC236}">
                <a16:creationId xmlns:a16="http://schemas.microsoft.com/office/drawing/2014/main" id="{11FF61DA-B114-49F4-8AD1-062BE5B342BF}"/>
              </a:ext>
            </a:extLst>
          </p:cNvPr>
          <p:cNvSpPr>
            <a:spLocks xmlns:a="http://schemas.openxmlformats.org/drawingml/2006/main" noGrp="1"/>
          </p:cNvSpPr>
          <p:nvPr/>
        </p:nvSpPr>
        <p:spPr>
          <a:xfrm xmlns:a="http://schemas.openxmlformats.org/drawingml/2006/main">
            <a:off x="457200" y="2047875"/>
            <a:ext cx="1104900" cy="1333500"/>
          </a:xfrm>
          <a:prstGeom xmlns:a="http://schemas.openxmlformats.org/drawingml/2006/main" prst="roundRect">
            <a:avLst>
              <a:gd name="adj" fmla="val 10345"/>
            </a:avLst>
          </a:prstGeom>
          <a:solidFill xmlns:a="http://schemas.openxmlformats.org/drawingml/2006/main">
            <a:srgbClr val="DDF3EA"/>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6D32279-DCE7-4A39-89CF-786B9C8D1475}"/>
              </a:ext>
            </a:extLst>
          </p:cNvPr>
          <p:cNvSpPr>
            <a:spLocks xmlns:a="http://schemas.openxmlformats.org/drawingml/2006/main" noGrp="1"/>
          </p:cNvSpPr>
          <p:nvPr/>
        </p:nvSpPr>
        <p:spPr>
          <a:xfrm xmlns:a="http://schemas.openxmlformats.org/drawingml/2006/main">
            <a:off x="561975" y="2190750"/>
            <a:ext cx="95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2025</a:t>
            </a:r>
          </a:p>
        </p:txBody>
      </p:sp>
      <p:sp>
        <p:nvSpPr>
          <p:cNvPr id="8" name="">
            <a:extLst xmlns:a="http://schemas.openxmlformats.org/drawingml/2006/main">
              <a:ext uri="{FF2B5EF4-FFF2-40B4-BE49-F238E27FC236}">
                <a16:creationId xmlns:a16="http://schemas.microsoft.com/office/drawing/2014/main" id="{FD0F7137-DF6F-401D-81D3-6BD0A6E3B3FB}"/>
              </a:ext>
            </a:extLst>
          </p:cNvPr>
          <p:cNvSpPr>
            <a:spLocks xmlns:a="http://schemas.openxmlformats.org/drawingml/2006/main" noGrp="1"/>
          </p:cNvSpPr>
          <p:nvPr/>
        </p:nvSpPr>
        <p:spPr>
          <a:xfrm xmlns:a="http://schemas.openxmlformats.org/drawingml/2006/main">
            <a:off x="561975" y="2581275"/>
            <a:ext cx="942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 Completed</a:t>
            </a:r>
          </a:p>
        </p:txBody>
      </p:sp>
      <p:sp>
        <p:nvSpPr>
          <p:cNvPr id="9" name="">
            <a:extLst xmlns:a="http://schemas.openxmlformats.org/drawingml/2006/main">
              <a:ext uri="{FF2B5EF4-FFF2-40B4-BE49-F238E27FC236}">
                <a16:creationId xmlns:a16="http://schemas.microsoft.com/office/drawing/2014/main" id="{8AC585FF-1C18-46F8-A0F8-BE21E1919A84}"/>
              </a:ext>
            </a:extLst>
          </p:cNvPr>
          <p:cNvSpPr>
            <a:spLocks xmlns:a="http://schemas.openxmlformats.org/drawingml/2006/main" noGrp="1"/>
          </p:cNvSpPr>
          <p:nvPr/>
        </p:nvSpPr>
        <p:spPr>
          <a:xfrm xmlns:a="http://schemas.openxmlformats.org/drawingml/2006/main">
            <a:off x="1714500" y="2047875"/>
            <a:ext cx="2419350" cy="1333500"/>
          </a:xfrm>
          <a:prstGeom xmlns:a="http://schemas.openxmlformats.org/drawingml/2006/main" prst="roundRect">
            <a:avLst>
              <a:gd name="adj" fmla="val 8571"/>
            </a:avLst>
          </a:prstGeom>
          <a:solidFill xmlns:a="http://schemas.openxmlformats.org/drawingml/2006/main">
            <a:srgbClr val="E6F6F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8327DC7-7F4D-42A9-97B7-410990C31A7E}"/>
              </a:ext>
            </a:extLst>
          </p:cNvPr>
          <p:cNvSpPr>
            <a:spLocks xmlns:a="http://schemas.openxmlformats.org/drawingml/2006/main" noGrp="1"/>
          </p:cNvSpPr>
          <p:nvPr/>
        </p:nvSpPr>
        <p:spPr>
          <a:xfrm xmlns:a="http://schemas.openxmlformats.org/drawingml/2006/main">
            <a:off x="1809750" y="21240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68"/>
                </a:solidFill>
                <a:latin typeface="DejaVu Sans"/>
                <a:ea typeface="DejaVu Sans"/>
                <a:cs typeface="DejaVu Sans"/>
              </a:defRPr>
            </a:pPr>
            <a:r>
              <a:rPr sz="1350" b="1">
                <a:solidFill>
                  <a:srgbClr val="087F68"/>
                </a:solidFill>
                <a:latin typeface="DejaVu Sans"/>
                <a:ea typeface="DejaVu Sans"/>
                <a:cs typeface="DejaVu Sans"/>
              </a:rPr>
              <a:t>✓  Sep 2025</a:t>
            </a:r>
          </a:p>
        </p:txBody>
      </p:sp>
      <p:sp>
        <p:nvSpPr>
          <p:cNvPr id="11" name="">
            <a:extLst xmlns:a="http://schemas.openxmlformats.org/drawingml/2006/main">
              <a:ext uri="{FF2B5EF4-FFF2-40B4-BE49-F238E27FC236}">
                <a16:creationId xmlns:a16="http://schemas.microsoft.com/office/drawing/2014/main" id="{513C9DAB-E7BA-42A7-801D-E0166C252C76}"/>
              </a:ext>
            </a:extLst>
          </p:cNvPr>
          <p:cNvSpPr>
            <a:spLocks xmlns:a="http://schemas.openxmlformats.org/drawingml/2006/main" noGrp="1"/>
          </p:cNvSpPr>
          <p:nvPr/>
        </p:nvSpPr>
        <p:spPr>
          <a:xfrm xmlns:a="http://schemas.openxmlformats.org/drawingml/2006/main">
            <a:off x="1809750" y="24574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DMGT-90</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Disclosure notification in PF STL</a:t>
            </a:r>
          </a:p>
        </p:txBody>
      </p:sp>
      <p:sp>
        <p:nvSpPr>
          <p:cNvPr id="12" name="">
            <a:extLst xmlns:a="http://schemas.openxmlformats.org/drawingml/2006/main">
              <a:ext uri="{FF2B5EF4-FFF2-40B4-BE49-F238E27FC236}">
                <a16:creationId xmlns:a16="http://schemas.microsoft.com/office/drawing/2014/main" id="{6DFBE78A-219C-4ABF-B61D-F558051E31D6}"/>
              </a:ext>
            </a:extLst>
          </p:cNvPr>
          <p:cNvSpPr>
            <a:spLocks xmlns:a="http://schemas.openxmlformats.org/drawingml/2006/main" noGrp="1"/>
          </p:cNvSpPr>
          <p:nvPr/>
        </p:nvSpPr>
        <p:spPr>
          <a:xfrm xmlns:a="http://schemas.openxmlformats.org/drawingml/2006/main">
            <a:off x="4143375" y="254317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13" name="">
            <a:extLst xmlns:a="http://schemas.openxmlformats.org/drawingml/2006/main">
              <a:ext uri="{FF2B5EF4-FFF2-40B4-BE49-F238E27FC236}">
                <a16:creationId xmlns:a16="http://schemas.microsoft.com/office/drawing/2014/main" id="{93B45422-59BB-49A7-8D21-C9315775605C}"/>
              </a:ext>
            </a:extLst>
          </p:cNvPr>
          <p:cNvSpPr>
            <a:spLocks xmlns:a="http://schemas.openxmlformats.org/drawingml/2006/main" noGrp="1"/>
          </p:cNvSpPr>
          <p:nvPr/>
        </p:nvSpPr>
        <p:spPr>
          <a:xfrm xmlns:a="http://schemas.openxmlformats.org/drawingml/2006/main">
            <a:off x="4248150" y="2047875"/>
            <a:ext cx="2419350" cy="1333500"/>
          </a:xfrm>
          <a:prstGeom xmlns:a="http://schemas.openxmlformats.org/drawingml/2006/main" prst="roundRect">
            <a:avLst>
              <a:gd name="adj" fmla="val 8571"/>
            </a:avLst>
          </a:prstGeom>
          <a:solidFill xmlns:a="http://schemas.openxmlformats.org/drawingml/2006/main">
            <a:srgbClr val="E6F6F0"/>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40FD881F-419F-45A1-826E-8FA72892063B}"/>
              </a:ext>
            </a:extLst>
          </p:cNvPr>
          <p:cNvSpPr>
            <a:spLocks xmlns:a="http://schemas.openxmlformats.org/drawingml/2006/main" noGrp="1"/>
          </p:cNvSpPr>
          <p:nvPr/>
        </p:nvSpPr>
        <p:spPr>
          <a:xfrm xmlns:a="http://schemas.openxmlformats.org/drawingml/2006/main">
            <a:off x="4343400" y="21240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68"/>
                </a:solidFill>
                <a:latin typeface="DejaVu Sans"/>
                <a:ea typeface="DejaVu Sans"/>
                <a:cs typeface="DejaVu Sans"/>
              </a:defRPr>
            </a:pPr>
            <a:r>
              <a:rPr sz="1350" b="1">
                <a:solidFill>
                  <a:srgbClr val="087F68"/>
                </a:solidFill>
                <a:latin typeface="DejaVu Sans"/>
                <a:ea typeface="DejaVu Sans"/>
                <a:cs typeface="DejaVu Sans"/>
              </a:rPr>
              <a:t>✓  Oct 2025</a:t>
            </a:r>
          </a:p>
        </p:txBody>
      </p:sp>
      <p:sp>
        <p:nvSpPr>
          <p:cNvPr id="15" name="">
            <a:extLst xmlns:a="http://schemas.openxmlformats.org/drawingml/2006/main">
              <a:ext uri="{FF2B5EF4-FFF2-40B4-BE49-F238E27FC236}">
                <a16:creationId xmlns:a16="http://schemas.microsoft.com/office/drawing/2014/main" id="{21E7C7DA-9E83-454C-87E9-75E8CA40273D}"/>
              </a:ext>
            </a:extLst>
          </p:cNvPr>
          <p:cNvSpPr>
            <a:spLocks xmlns:a="http://schemas.openxmlformats.org/drawingml/2006/main" noGrp="1"/>
          </p:cNvSpPr>
          <p:nvPr/>
        </p:nvSpPr>
        <p:spPr>
          <a:xfrm xmlns:a="http://schemas.openxmlformats.org/drawingml/2006/main">
            <a:off x="4343400" y="24574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DMGT-54: Account start date in LS cases</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DMGT-94: FinnOne PF applications for People of Determination</a:t>
            </a:r>
          </a:p>
        </p:txBody>
      </p:sp>
      <p:sp>
        <p:nvSpPr>
          <p:cNvPr id="16" name="">
            <a:extLst xmlns:a="http://schemas.openxmlformats.org/drawingml/2006/main">
              <a:ext uri="{FF2B5EF4-FFF2-40B4-BE49-F238E27FC236}">
                <a16:creationId xmlns:a16="http://schemas.microsoft.com/office/drawing/2014/main" id="{EE436D69-88AB-42E5-8CA5-A34EA2DA18CE}"/>
              </a:ext>
            </a:extLst>
          </p:cNvPr>
          <p:cNvSpPr>
            <a:spLocks xmlns:a="http://schemas.openxmlformats.org/drawingml/2006/main" noGrp="1"/>
          </p:cNvSpPr>
          <p:nvPr/>
        </p:nvSpPr>
        <p:spPr>
          <a:xfrm xmlns:a="http://schemas.openxmlformats.org/drawingml/2006/main">
            <a:off x="6677025" y="254317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17" name="">
            <a:extLst xmlns:a="http://schemas.openxmlformats.org/drawingml/2006/main">
              <a:ext uri="{FF2B5EF4-FFF2-40B4-BE49-F238E27FC236}">
                <a16:creationId xmlns:a16="http://schemas.microsoft.com/office/drawing/2014/main" id="{2E2FAF65-1CAB-4379-9C05-F6BE2426827B}"/>
              </a:ext>
            </a:extLst>
          </p:cNvPr>
          <p:cNvSpPr>
            <a:spLocks xmlns:a="http://schemas.openxmlformats.org/drawingml/2006/main" noGrp="1"/>
          </p:cNvSpPr>
          <p:nvPr/>
        </p:nvSpPr>
        <p:spPr>
          <a:xfrm xmlns:a="http://schemas.openxmlformats.org/drawingml/2006/main">
            <a:off x="6781800" y="2047875"/>
            <a:ext cx="2419350" cy="1333500"/>
          </a:xfrm>
          <a:prstGeom xmlns:a="http://schemas.openxmlformats.org/drawingml/2006/main" prst="roundRect">
            <a:avLst>
              <a:gd name="adj" fmla="val 8571"/>
            </a:avLst>
          </a:prstGeom>
          <a:solidFill xmlns:a="http://schemas.openxmlformats.org/drawingml/2006/main">
            <a:srgbClr val="E6F6F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51D3438E-3B6C-4144-AF46-63C1E6C88C30}"/>
              </a:ext>
            </a:extLst>
          </p:cNvPr>
          <p:cNvSpPr>
            <a:spLocks xmlns:a="http://schemas.openxmlformats.org/drawingml/2006/main" noGrp="1"/>
          </p:cNvSpPr>
          <p:nvPr/>
        </p:nvSpPr>
        <p:spPr>
          <a:xfrm xmlns:a="http://schemas.openxmlformats.org/drawingml/2006/main">
            <a:off x="6877050" y="21240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68"/>
                </a:solidFill>
                <a:latin typeface="DejaVu Sans"/>
                <a:ea typeface="DejaVu Sans"/>
                <a:cs typeface="DejaVu Sans"/>
              </a:defRPr>
            </a:pPr>
            <a:r>
              <a:rPr sz="1350" b="1">
                <a:solidFill>
                  <a:srgbClr val="087F68"/>
                </a:solidFill>
                <a:latin typeface="DejaVu Sans"/>
                <a:ea typeface="DejaVu Sans"/>
                <a:cs typeface="DejaVu Sans"/>
              </a:rPr>
              <a:t>✓  Nov 2025</a:t>
            </a:r>
          </a:p>
        </p:txBody>
      </p:sp>
      <p:sp>
        <p:nvSpPr>
          <p:cNvPr id="19" name="">
            <a:extLst xmlns:a="http://schemas.openxmlformats.org/drawingml/2006/main">
              <a:ext uri="{FF2B5EF4-FFF2-40B4-BE49-F238E27FC236}">
                <a16:creationId xmlns:a16="http://schemas.microsoft.com/office/drawing/2014/main" id="{83F99B63-218A-45CB-85C0-BF67D6C7EE8E}"/>
              </a:ext>
            </a:extLst>
          </p:cNvPr>
          <p:cNvSpPr>
            <a:spLocks xmlns:a="http://schemas.openxmlformats.org/drawingml/2006/main" noGrp="1"/>
          </p:cNvSpPr>
          <p:nvPr/>
        </p:nvSpPr>
        <p:spPr>
          <a:xfrm xmlns:a="http://schemas.openxmlformats.org/drawingml/2006/main">
            <a:off x="6877050" y="24574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DMGT-1459</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New pricing for PF products</a:t>
            </a:r>
          </a:p>
        </p:txBody>
      </p:sp>
      <p:sp>
        <p:nvSpPr>
          <p:cNvPr id="20" name="">
            <a:extLst xmlns:a="http://schemas.openxmlformats.org/drawingml/2006/main">
              <a:ext uri="{FF2B5EF4-FFF2-40B4-BE49-F238E27FC236}">
                <a16:creationId xmlns:a16="http://schemas.microsoft.com/office/drawing/2014/main" id="{D7DCBB37-4F41-46A9-AEBA-1C7D9790A92C}"/>
              </a:ext>
            </a:extLst>
          </p:cNvPr>
          <p:cNvSpPr>
            <a:spLocks xmlns:a="http://schemas.openxmlformats.org/drawingml/2006/main" noGrp="1"/>
          </p:cNvSpPr>
          <p:nvPr/>
        </p:nvSpPr>
        <p:spPr>
          <a:xfrm xmlns:a="http://schemas.openxmlformats.org/drawingml/2006/main">
            <a:off x="457200" y="3476625"/>
            <a:ext cx="1104900" cy="1333500"/>
          </a:xfrm>
          <a:prstGeom xmlns:a="http://schemas.openxmlformats.org/drawingml/2006/main" prst="roundRect">
            <a:avLst>
              <a:gd name="adj" fmla="val 10345"/>
            </a:avLst>
          </a:prstGeom>
          <a:solidFill xmlns:a="http://schemas.openxmlformats.org/drawingml/2006/main">
            <a:srgbClr val="DFEFF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C48C7142-5301-4BCE-B817-C290F9E66182}"/>
              </a:ext>
            </a:extLst>
          </p:cNvPr>
          <p:cNvSpPr>
            <a:spLocks xmlns:a="http://schemas.openxmlformats.org/drawingml/2006/main" noGrp="1"/>
          </p:cNvSpPr>
          <p:nvPr/>
        </p:nvSpPr>
        <p:spPr>
          <a:xfrm xmlns:a="http://schemas.openxmlformats.org/drawingml/2006/main">
            <a:off x="561975" y="3619500"/>
            <a:ext cx="95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88C2"/>
                </a:solidFill>
                <a:latin typeface="DejaVu Sans"/>
                <a:ea typeface="DejaVu Sans"/>
                <a:cs typeface="DejaVu Sans"/>
              </a:defRPr>
            </a:pPr>
            <a:r>
              <a:rPr sz="1800" b="1">
                <a:solidFill>
                  <a:srgbClr val="1688C2"/>
                </a:solidFill>
                <a:latin typeface="DejaVu Sans"/>
                <a:ea typeface="DejaVu Sans"/>
                <a:cs typeface="DejaVu Sans"/>
              </a:rPr>
              <a:t>2026</a:t>
            </a:r>
          </a:p>
        </p:txBody>
      </p:sp>
      <p:sp>
        <p:nvSpPr>
          <p:cNvPr id="22" name="">
            <a:extLst xmlns:a="http://schemas.openxmlformats.org/drawingml/2006/main">
              <a:ext uri="{FF2B5EF4-FFF2-40B4-BE49-F238E27FC236}">
                <a16:creationId xmlns:a16="http://schemas.microsoft.com/office/drawing/2014/main" id="{A14CD901-E10A-4297-B3BA-0A6C87ED3F0D}"/>
              </a:ext>
            </a:extLst>
          </p:cNvPr>
          <p:cNvSpPr>
            <a:spLocks xmlns:a="http://schemas.openxmlformats.org/drawingml/2006/main" noGrp="1"/>
          </p:cNvSpPr>
          <p:nvPr/>
        </p:nvSpPr>
        <p:spPr>
          <a:xfrm xmlns:a="http://schemas.openxmlformats.org/drawingml/2006/main">
            <a:off x="561975" y="4010025"/>
            <a:ext cx="942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 Completed</a:t>
            </a:r>
          </a:p>
        </p:txBody>
      </p:sp>
      <p:sp>
        <p:nvSpPr>
          <p:cNvPr id="23" name="">
            <a:extLst xmlns:a="http://schemas.openxmlformats.org/drawingml/2006/main">
              <a:ext uri="{FF2B5EF4-FFF2-40B4-BE49-F238E27FC236}">
                <a16:creationId xmlns:a16="http://schemas.microsoft.com/office/drawing/2014/main" id="{EA25D261-519A-44CE-8BD6-11362F912F66}"/>
              </a:ext>
            </a:extLst>
          </p:cNvPr>
          <p:cNvSpPr>
            <a:spLocks xmlns:a="http://schemas.openxmlformats.org/drawingml/2006/main" noGrp="1"/>
          </p:cNvSpPr>
          <p:nvPr/>
        </p:nvSpPr>
        <p:spPr>
          <a:xfrm xmlns:a="http://schemas.openxmlformats.org/drawingml/2006/main">
            <a:off x="1714500" y="3476625"/>
            <a:ext cx="2419350" cy="1333500"/>
          </a:xfrm>
          <a:prstGeom xmlns:a="http://schemas.openxmlformats.org/drawingml/2006/main" prst="roundRect">
            <a:avLst>
              <a:gd name="adj" fmla="val 8571"/>
            </a:avLst>
          </a:prstGeom>
          <a:solidFill xmlns:a="http://schemas.openxmlformats.org/drawingml/2006/main">
            <a:srgbClr val="E8F3FB"/>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9F336572-AB1B-45DB-8B36-88BC1D366A40}"/>
              </a:ext>
            </a:extLst>
          </p:cNvPr>
          <p:cNvSpPr>
            <a:spLocks xmlns:a="http://schemas.openxmlformats.org/drawingml/2006/main" noGrp="1"/>
          </p:cNvSpPr>
          <p:nvPr/>
        </p:nvSpPr>
        <p:spPr>
          <a:xfrm xmlns:a="http://schemas.openxmlformats.org/drawingml/2006/main">
            <a:off x="1809750" y="355282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8C2"/>
                </a:solidFill>
                <a:latin typeface="DejaVu Sans"/>
                <a:ea typeface="DejaVu Sans"/>
                <a:cs typeface="DejaVu Sans"/>
              </a:defRPr>
            </a:pPr>
            <a:r>
              <a:rPr sz="1350" b="1">
                <a:solidFill>
                  <a:srgbClr val="1688C2"/>
                </a:solidFill>
                <a:latin typeface="DejaVu Sans"/>
                <a:ea typeface="DejaVu Sans"/>
                <a:cs typeface="DejaVu Sans"/>
              </a:rPr>
              <a:t>✓  Jan 2026</a:t>
            </a:r>
          </a:p>
        </p:txBody>
      </p:sp>
      <p:sp>
        <p:nvSpPr>
          <p:cNvPr id="25" name="">
            <a:extLst xmlns:a="http://schemas.openxmlformats.org/drawingml/2006/main">
              <a:ext uri="{FF2B5EF4-FFF2-40B4-BE49-F238E27FC236}">
                <a16:creationId xmlns:a16="http://schemas.microsoft.com/office/drawing/2014/main" id="{FF0595D1-3C42-4BC1-85C6-EF9AC50D9AC4}"/>
              </a:ext>
            </a:extLst>
          </p:cNvPr>
          <p:cNvSpPr>
            <a:spLocks xmlns:a="http://schemas.openxmlformats.org/drawingml/2006/main" noGrp="1"/>
          </p:cNvSpPr>
          <p:nvPr/>
        </p:nvSpPr>
        <p:spPr>
          <a:xfrm xmlns:a="http://schemas.openxmlformats.org/drawingml/2006/main">
            <a:off x="1809750" y="388620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DMGT-1665</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PF rate change</a:t>
            </a:r>
          </a:p>
        </p:txBody>
      </p:sp>
      <p:sp>
        <p:nvSpPr>
          <p:cNvPr id="26" name="">
            <a:extLst xmlns:a="http://schemas.openxmlformats.org/drawingml/2006/main">
              <a:ext uri="{FF2B5EF4-FFF2-40B4-BE49-F238E27FC236}">
                <a16:creationId xmlns:a16="http://schemas.microsoft.com/office/drawing/2014/main" id="{9F9A55FF-94E0-4323-A52A-AEA374D3D314}"/>
              </a:ext>
            </a:extLst>
          </p:cNvPr>
          <p:cNvSpPr>
            <a:spLocks xmlns:a="http://schemas.openxmlformats.org/drawingml/2006/main" noGrp="1"/>
          </p:cNvSpPr>
          <p:nvPr/>
        </p:nvSpPr>
        <p:spPr>
          <a:xfrm xmlns:a="http://schemas.openxmlformats.org/drawingml/2006/main">
            <a:off x="4143375" y="397192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27" name="">
            <a:extLst xmlns:a="http://schemas.openxmlformats.org/drawingml/2006/main">
              <a:ext uri="{FF2B5EF4-FFF2-40B4-BE49-F238E27FC236}">
                <a16:creationId xmlns:a16="http://schemas.microsoft.com/office/drawing/2014/main" id="{64530610-1BE1-4FA2-8A62-B22C9C78B3A5}"/>
              </a:ext>
            </a:extLst>
          </p:cNvPr>
          <p:cNvSpPr>
            <a:spLocks xmlns:a="http://schemas.openxmlformats.org/drawingml/2006/main" noGrp="1"/>
          </p:cNvSpPr>
          <p:nvPr/>
        </p:nvSpPr>
        <p:spPr>
          <a:xfrm xmlns:a="http://schemas.openxmlformats.org/drawingml/2006/main">
            <a:off x="4248150" y="3476625"/>
            <a:ext cx="2419350" cy="1333500"/>
          </a:xfrm>
          <a:prstGeom xmlns:a="http://schemas.openxmlformats.org/drawingml/2006/main" prst="roundRect">
            <a:avLst>
              <a:gd name="adj" fmla="val 8571"/>
            </a:avLst>
          </a:prstGeom>
          <a:solidFill xmlns:a="http://schemas.openxmlformats.org/drawingml/2006/main">
            <a:srgbClr val="E8F3FB"/>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447BEB21-3425-4AEB-8FC2-25B3CA58499A}"/>
              </a:ext>
            </a:extLst>
          </p:cNvPr>
          <p:cNvSpPr>
            <a:spLocks xmlns:a="http://schemas.openxmlformats.org/drawingml/2006/main" noGrp="1"/>
          </p:cNvSpPr>
          <p:nvPr/>
        </p:nvSpPr>
        <p:spPr>
          <a:xfrm xmlns:a="http://schemas.openxmlformats.org/drawingml/2006/main">
            <a:off x="4343400" y="355282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8C2"/>
                </a:solidFill>
                <a:latin typeface="DejaVu Sans"/>
                <a:ea typeface="DejaVu Sans"/>
                <a:cs typeface="DejaVu Sans"/>
              </a:defRPr>
            </a:pPr>
            <a:r>
              <a:rPr sz="1350" b="1">
                <a:solidFill>
                  <a:srgbClr val="1688C2"/>
                </a:solidFill>
                <a:latin typeface="DejaVu Sans"/>
                <a:ea typeface="DejaVu Sans"/>
                <a:cs typeface="DejaVu Sans"/>
              </a:rPr>
              <a:t>✓  Feb 2026</a:t>
            </a:r>
          </a:p>
        </p:txBody>
      </p:sp>
      <p:sp>
        <p:nvSpPr>
          <p:cNvPr id="29" name="">
            <a:extLst xmlns:a="http://schemas.openxmlformats.org/drawingml/2006/main">
              <a:ext uri="{FF2B5EF4-FFF2-40B4-BE49-F238E27FC236}">
                <a16:creationId xmlns:a16="http://schemas.microsoft.com/office/drawing/2014/main" id="{F6768B54-DED0-4A52-BE73-08C78086483E}"/>
              </a:ext>
            </a:extLst>
          </p:cNvPr>
          <p:cNvSpPr>
            <a:spLocks xmlns:a="http://schemas.openxmlformats.org/drawingml/2006/main" noGrp="1"/>
          </p:cNvSpPr>
          <p:nvPr/>
        </p:nvSpPr>
        <p:spPr>
          <a:xfrm xmlns:a="http://schemas.openxmlformats.org/drawingml/2006/main">
            <a:off x="4343400" y="388620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DMGT-81: LC rule change in FinnOne</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DMGT-254: PF policy changes</a:t>
            </a:r>
          </a:p>
        </p:txBody>
      </p:sp>
      <p:sp>
        <p:nvSpPr>
          <p:cNvPr id="30" name="">
            <a:extLst xmlns:a="http://schemas.openxmlformats.org/drawingml/2006/main">
              <a:ext uri="{FF2B5EF4-FFF2-40B4-BE49-F238E27FC236}">
                <a16:creationId xmlns:a16="http://schemas.microsoft.com/office/drawing/2014/main" id="{F260490F-32DB-40E3-A188-6DCE8E310DFB}"/>
              </a:ext>
            </a:extLst>
          </p:cNvPr>
          <p:cNvSpPr>
            <a:spLocks xmlns:a="http://schemas.openxmlformats.org/drawingml/2006/main" noGrp="1"/>
          </p:cNvSpPr>
          <p:nvPr/>
        </p:nvSpPr>
        <p:spPr>
          <a:xfrm xmlns:a="http://schemas.openxmlformats.org/drawingml/2006/main">
            <a:off x="6677025" y="397192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31" name="">
            <a:extLst xmlns:a="http://schemas.openxmlformats.org/drawingml/2006/main">
              <a:ext uri="{FF2B5EF4-FFF2-40B4-BE49-F238E27FC236}">
                <a16:creationId xmlns:a16="http://schemas.microsoft.com/office/drawing/2014/main" id="{D37EABD7-2886-4BB2-BB8A-0E11589A1C1C}"/>
              </a:ext>
            </a:extLst>
          </p:cNvPr>
          <p:cNvSpPr>
            <a:spLocks xmlns:a="http://schemas.openxmlformats.org/drawingml/2006/main" noGrp="1"/>
          </p:cNvSpPr>
          <p:nvPr/>
        </p:nvSpPr>
        <p:spPr>
          <a:xfrm xmlns:a="http://schemas.openxmlformats.org/drawingml/2006/main">
            <a:off x="6781800" y="3476625"/>
            <a:ext cx="2419350" cy="1333500"/>
          </a:xfrm>
          <a:prstGeom xmlns:a="http://schemas.openxmlformats.org/drawingml/2006/main" prst="roundRect">
            <a:avLst>
              <a:gd name="adj" fmla="val 8571"/>
            </a:avLst>
          </a:prstGeom>
          <a:solidFill xmlns:a="http://schemas.openxmlformats.org/drawingml/2006/main">
            <a:srgbClr val="E8F3FB"/>
          </a:solidFill>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77235AE7-1463-45E0-9B43-FFEBF00FD1BB}"/>
              </a:ext>
            </a:extLst>
          </p:cNvPr>
          <p:cNvSpPr>
            <a:spLocks xmlns:a="http://schemas.openxmlformats.org/drawingml/2006/main" noGrp="1"/>
          </p:cNvSpPr>
          <p:nvPr/>
        </p:nvSpPr>
        <p:spPr>
          <a:xfrm xmlns:a="http://schemas.openxmlformats.org/drawingml/2006/main">
            <a:off x="6877050" y="355282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8C2"/>
                </a:solidFill>
                <a:latin typeface="DejaVu Sans"/>
                <a:ea typeface="DejaVu Sans"/>
                <a:cs typeface="DejaVu Sans"/>
              </a:defRPr>
            </a:pPr>
            <a:r>
              <a:rPr sz="1350" b="1">
                <a:solidFill>
                  <a:srgbClr val="1688C2"/>
                </a:solidFill>
                <a:latin typeface="DejaVu Sans"/>
                <a:ea typeface="DejaVu Sans"/>
                <a:cs typeface="DejaVu Sans"/>
              </a:rPr>
              <a:t>✓  Apr 2026</a:t>
            </a:r>
          </a:p>
        </p:txBody>
      </p:sp>
      <p:sp>
        <p:nvSpPr>
          <p:cNvPr id="33" name="">
            <a:extLst xmlns:a="http://schemas.openxmlformats.org/drawingml/2006/main">
              <a:ext uri="{FF2B5EF4-FFF2-40B4-BE49-F238E27FC236}">
                <a16:creationId xmlns:a16="http://schemas.microsoft.com/office/drawing/2014/main" id="{1CC3DD60-EC02-4118-92C2-862D2E19FE37}"/>
              </a:ext>
            </a:extLst>
          </p:cNvPr>
          <p:cNvSpPr>
            <a:spLocks xmlns:a="http://schemas.openxmlformats.org/drawingml/2006/main" noGrp="1"/>
          </p:cNvSpPr>
          <p:nvPr/>
        </p:nvSpPr>
        <p:spPr>
          <a:xfrm xmlns:a="http://schemas.openxmlformats.org/drawingml/2006/main">
            <a:off x="6877050" y="388620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DMGT-105: LL / LG flag field amendment</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DMGT-2029: Special employer campaign pricing</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DMGT-2065: Frontline employer pricing</a:t>
            </a:r>
          </a:p>
        </p:txBody>
      </p:sp>
      <p:sp>
        <p:nvSpPr>
          <p:cNvPr id="34" name="">
            <a:extLst xmlns:a="http://schemas.openxmlformats.org/drawingml/2006/main">
              <a:ext uri="{FF2B5EF4-FFF2-40B4-BE49-F238E27FC236}">
                <a16:creationId xmlns:a16="http://schemas.microsoft.com/office/drawing/2014/main" id="{017BFAC8-E162-4ABE-9C72-90EA5AC37B28}"/>
              </a:ext>
            </a:extLst>
          </p:cNvPr>
          <p:cNvSpPr>
            <a:spLocks xmlns:a="http://schemas.openxmlformats.org/drawingml/2006/main" noGrp="1"/>
          </p:cNvSpPr>
          <p:nvPr/>
        </p:nvSpPr>
        <p:spPr>
          <a:xfrm xmlns:a="http://schemas.openxmlformats.org/drawingml/2006/main">
            <a:off x="457200" y="4905375"/>
            <a:ext cx="1104900" cy="1333500"/>
          </a:xfrm>
          <a:prstGeom xmlns:a="http://schemas.openxmlformats.org/drawingml/2006/main" prst="roundRect">
            <a:avLst>
              <a:gd name="adj" fmla="val 10345"/>
            </a:avLst>
          </a:prstGeom>
          <a:solidFill xmlns:a="http://schemas.openxmlformats.org/drawingml/2006/main">
            <a:srgbClr val="EFE7FA"/>
          </a:solidFill>
          <a:ln xmlns:a="http://schemas.openxmlformats.org/drawingml/2006/main" w="0">
            <a:noFill/>
          </a:ln>
        </p:spPr>
      </p:sp>
      <p:sp>
        <p:nvSpPr>
          <p:cNvPr id="35" name="">
            <a:extLst xmlns:a="http://schemas.openxmlformats.org/drawingml/2006/main">
              <a:ext uri="{FF2B5EF4-FFF2-40B4-BE49-F238E27FC236}">
                <a16:creationId xmlns:a16="http://schemas.microsoft.com/office/drawing/2014/main" id="{66CBDAC6-4CC2-401C-B294-9525B99D4CD4}"/>
              </a:ext>
            </a:extLst>
          </p:cNvPr>
          <p:cNvSpPr>
            <a:spLocks xmlns:a="http://schemas.openxmlformats.org/drawingml/2006/main" noGrp="1"/>
          </p:cNvSpPr>
          <p:nvPr/>
        </p:nvSpPr>
        <p:spPr>
          <a:xfrm xmlns:a="http://schemas.openxmlformats.org/drawingml/2006/main">
            <a:off x="561975" y="5048250"/>
            <a:ext cx="952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75BC5"/>
                </a:solidFill>
                <a:latin typeface="DejaVu Sans"/>
                <a:ea typeface="DejaVu Sans"/>
                <a:cs typeface="DejaVu Sans"/>
              </a:defRPr>
            </a:pPr>
            <a:r>
              <a:rPr sz="1800" b="1">
                <a:solidFill>
                  <a:srgbClr val="875BC5"/>
                </a:solidFill>
                <a:latin typeface="DejaVu Sans"/>
                <a:ea typeface="DejaVu Sans"/>
                <a:cs typeface="DejaVu Sans"/>
              </a:rPr>
              <a:t>2026</a:t>
            </a:r>
          </a:p>
        </p:txBody>
      </p:sp>
      <p:sp>
        <p:nvSpPr>
          <p:cNvPr id="36" name="">
            <a:extLst xmlns:a="http://schemas.openxmlformats.org/drawingml/2006/main">
              <a:ext uri="{FF2B5EF4-FFF2-40B4-BE49-F238E27FC236}">
                <a16:creationId xmlns:a16="http://schemas.microsoft.com/office/drawing/2014/main" id="{C25F04C9-9718-4881-91C8-5D33D6ABDC63}"/>
              </a:ext>
            </a:extLst>
          </p:cNvPr>
          <p:cNvSpPr>
            <a:spLocks xmlns:a="http://schemas.openxmlformats.org/drawingml/2006/main" noGrp="1"/>
          </p:cNvSpPr>
          <p:nvPr/>
        </p:nvSpPr>
        <p:spPr>
          <a:xfrm xmlns:a="http://schemas.openxmlformats.org/drawingml/2006/main">
            <a:off x="561975" y="5438775"/>
            <a:ext cx="94297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 Completed</a:t>
            </a:r>
          </a:p>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 Planned</a:t>
            </a:r>
          </a:p>
        </p:txBody>
      </p:sp>
      <p:sp>
        <p:nvSpPr>
          <p:cNvPr id="37" name="">
            <a:extLst xmlns:a="http://schemas.openxmlformats.org/drawingml/2006/main">
              <a:ext uri="{FF2B5EF4-FFF2-40B4-BE49-F238E27FC236}">
                <a16:creationId xmlns:a16="http://schemas.microsoft.com/office/drawing/2014/main" id="{A51BD38F-1A2D-4875-BF01-8CEDFED5D471}"/>
              </a:ext>
            </a:extLst>
          </p:cNvPr>
          <p:cNvSpPr>
            <a:spLocks xmlns:a="http://schemas.openxmlformats.org/drawingml/2006/main" noGrp="1"/>
          </p:cNvSpPr>
          <p:nvPr/>
        </p:nvSpPr>
        <p:spPr>
          <a:xfrm xmlns:a="http://schemas.openxmlformats.org/drawingml/2006/main">
            <a:off x="1714500" y="4905375"/>
            <a:ext cx="2419350" cy="1333500"/>
          </a:xfrm>
          <a:prstGeom xmlns:a="http://schemas.openxmlformats.org/drawingml/2006/main" prst="roundRect">
            <a:avLst>
              <a:gd name="adj" fmla="val 8571"/>
            </a:avLst>
          </a:prstGeom>
          <a:solidFill xmlns:a="http://schemas.openxmlformats.org/drawingml/2006/main">
            <a:srgbClr val="F0EAF9"/>
          </a:solidFill>
          <a:ln xmlns:a="http://schemas.openxmlformats.org/drawingml/2006/main" w="0">
            <a:noFill/>
          </a:ln>
        </p:spPr>
      </p:sp>
      <p:sp>
        <p:nvSpPr>
          <p:cNvPr id="38" name="">
            <a:extLst xmlns:a="http://schemas.openxmlformats.org/drawingml/2006/main">
              <a:ext uri="{FF2B5EF4-FFF2-40B4-BE49-F238E27FC236}">
                <a16:creationId xmlns:a16="http://schemas.microsoft.com/office/drawing/2014/main" id="{785F2389-E8DD-4FA1-80BC-DBEE449050C6}"/>
              </a:ext>
            </a:extLst>
          </p:cNvPr>
          <p:cNvSpPr>
            <a:spLocks xmlns:a="http://schemas.openxmlformats.org/drawingml/2006/main" noGrp="1"/>
          </p:cNvSpPr>
          <p:nvPr/>
        </p:nvSpPr>
        <p:spPr>
          <a:xfrm xmlns:a="http://schemas.openxmlformats.org/drawingml/2006/main">
            <a:off x="1809750" y="49815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75BC5"/>
                </a:solidFill>
                <a:latin typeface="DejaVu Sans"/>
                <a:ea typeface="DejaVu Sans"/>
                <a:cs typeface="DejaVu Sans"/>
              </a:defRPr>
            </a:pPr>
            <a:r>
              <a:rPr sz="1350" b="1">
                <a:solidFill>
                  <a:srgbClr val="875BC5"/>
                </a:solidFill>
                <a:latin typeface="DejaVu Sans"/>
                <a:ea typeface="DejaVu Sans"/>
                <a:cs typeface="DejaVu Sans"/>
              </a:rPr>
              <a:t>✓  Jun 2026</a:t>
            </a:r>
          </a:p>
        </p:txBody>
      </p:sp>
      <p:sp>
        <p:nvSpPr>
          <p:cNvPr id="39" name="">
            <a:extLst xmlns:a="http://schemas.openxmlformats.org/drawingml/2006/main">
              <a:ext uri="{FF2B5EF4-FFF2-40B4-BE49-F238E27FC236}">
                <a16:creationId xmlns:a16="http://schemas.microsoft.com/office/drawing/2014/main" id="{C5F2D240-0564-4BAA-A68F-FA2E259E6EC6}"/>
              </a:ext>
            </a:extLst>
          </p:cNvPr>
          <p:cNvSpPr>
            <a:spLocks xmlns:a="http://schemas.openxmlformats.org/drawingml/2006/main" noGrp="1"/>
          </p:cNvSpPr>
          <p:nvPr/>
        </p:nvSpPr>
        <p:spPr>
          <a:xfrm xmlns:a="http://schemas.openxmlformats.org/drawingml/2006/main">
            <a:off x="1809750" y="53149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DMGT-913: Add employer pricing campaign</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DMGT-2231: Additional frontline employer campaign</a:t>
            </a:r>
          </a:p>
        </p:txBody>
      </p:sp>
      <p:sp>
        <p:nvSpPr>
          <p:cNvPr id="40" name="">
            <a:extLst xmlns:a="http://schemas.openxmlformats.org/drawingml/2006/main">
              <a:ext uri="{FF2B5EF4-FFF2-40B4-BE49-F238E27FC236}">
                <a16:creationId xmlns:a16="http://schemas.microsoft.com/office/drawing/2014/main" id="{792F8E73-A228-4626-835C-A0EE2F5B5AB0}"/>
              </a:ext>
            </a:extLst>
          </p:cNvPr>
          <p:cNvSpPr>
            <a:spLocks xmlns:a="http://schemas.openxmlformats.org/drawingml/2006/main" noGrp="1"/>
          </p:cNvSpPr>
          <p:nvPr/>
        </p:nvSpPr>
        <p:spPr>
          <a:xfrm xmlns:a="http://schemas.openxmlformats.org/drawingml/2006/main">
            <a:off x="4143375" y="540067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41" name="">
            <a:extLst xmlns:a="http://schemas.openxmlformats.org/drawingml/2006/main">
              <a:ext uri="{FF2B5EF4-FFF2-40B4-BE49-F238E27FC236}">
                <a16:creationId xmlns:a16="http://schemas.microsoft.com/office/drawing/2014/main" id="{D1CD57C9-71F2-42EF-A903-2D78F2EA0268}"/>
              </a:ext>
            </a:extLst>
          </p:cNvPr>
          <p:cNvSpPr>
            <a:spLocks xmlns:a="http://schemas.openxmlformats.org/drawingml/2006/main" noGrp="1"/>
          </p:cNvSpPr>
          <p:nvPr/>
        </p:nvSpPr>
        <p:spPr>
          <a:xfrm xmlns:a="http://schemas.openxmlformats.org/drawingml/2006/main">
            <a:off x="4248150" y="4905375"/>
            <a:ext cx="2419350" cy="1333500"/>
          </a:xfrm>
          <a:prstGeom xmlns:a="http://schemas.openxmlformats.org/drawingml/2006/main" prst="roundRect">
            <a:avLst>
              <a:gd name="adj" fmla="val 8571"/>
            </a:avLst>
          </a:prstGeom>
          <a:solidFill xmlns:a="http://schemas.openxmlformats.org/drawingml/2006/main">
            <a:srgbClr val="F0EAF9"/>
          </a:solidFill>
          <a:ln xmlns:a="http://schemas.openxmlformats.org/drawingml/2006/main" w="0">
            <a:noFill/>
          </a:ln>
        </p:spPr>
      </p:sp>
      <p:sp>
        <p:nvSpPr>
          <p:cNvPr id="42" name="">
            <a:extLst xmlns:a="http://schemas.openxmlformats.org/drawingml/2006/main">
              <a:ext uri="{FF2B5EF4-FFF2-40B4-BE49-F238E27FC236}">
                <a16:creationId xmlns:a16="http://schemas.microsoft.com/office/drawing/2014/main" id="{141AD664-F6FB-4ADF-A600-F0BD8B80C6C0}"/>
              </a:ext>
            </a:extLst>
          </p:cNvPr>
          <p:cNvSpPr>
            <a:spLocks xmlns:a="http://schemas.openxmlformats.org/drawingml/2006/main" noGrp="1"/>
          </p:cNvSpPr>
          <p:nvPr/>
        </p:nvSpPr>
        <p:spPr>
          <a:xfrm xmlns:a="http://schemas.openxmlformats.org/drawingml/2006/main">
            <a:off x="4343400" y="49815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75BC5"/>
                </a:solidFill>
                <a:latin typeface="DejaVu Sans"/>
                <a:ea typeface="DejaVu Sans"/>
                <a:cs typeface="DejaVu Sans"/>
              </a:defRPr>
            </a:pPr>
            <a:r>
              <a:rPr sz="1350" b="1">
                <a:solidFill>
                  <a:srgbClr val="875BC5"/>
                </a:solidFill>
                <a:latin typeface="DejaVu Sans"/>
                <a:ea typeface="DejaVu Sans"/>
                <a:cs typeface="DejaVu Sans"/>
              </a:rPr>
              <a:t>✓  Jul 2026</a:t>
            </a:r>
          </a:p>
        </p:txBody>
      </p:sp>
      <p:sp>
        <p:nvSpPr>
          <p:cNvPr id="43" name="">
            <a:extLst xmlns:a="http://schemas.openxmlformats.org/drawingml/2006/main">
              <a:ext uri="{FF2B5EF4-FFF2-40B4-BE49-F238E27FC236}">
                <a16:creationId xmlns:a16="http://schemas.microsoft.com/office/drawing/2014/main" id="{C33C08D9-8136-44E2-9DDF-B66DB699184C}"/>
              </a:ext>
            </a:extLst>
          </p:cNvPr>
          <p:cNvSpPr>
            <a:spLocks xmlns:a="http://schemas.openxmlformats.org/drawingml/2006/main" noGrp="1"/>
          </p:cNvSpPr>
          <p:nvPr/>
        </p:nvSpPr>
        <p:spPr>
          <a:xfrm xmlns:a="http://schemas.openxmlformats.org/drawingml/2006/main">
            <a:off x="4343400" y="53149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DMGT-2296</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Extend the existing Frontline Hero campaign</a:t>
            </a:r>
          </a:p>
        </p:txBody>
      </p:sp>
      <p:sp>
        <p:nvSpPr>
          <p:cNvPr id="44" name="">
            <a:extLst xmlns:a="http://schemas.openxmlformats.org/drawingml/2006/main">
              <a:ext uri="{FF2B5EF4-FFF2-40B4-BE49-F238E27FC236}">
                <a16:creationId xmlns:a16="http://schemas.microsoft.com/office/drawing/2014/main" id="{341AF8EF-A7FD-48FA-AA5C-3E2F61A0D408}"/>
              </a:ext>
            </a:extLst>
          </p:cNvPr>
          <p:cNvSpPr>
            <a:spLocks xmlns:a="http://schemas.openxmlformats.org/drawingml/2006/main" noGrp="1"/>
          </p:cNvSpPr>
          <p:nvPr/>
        </p:nvSpPr>
        <p:spPr>
          <a:xfrm xmlns:a="http://schemas.openxmlformats.org/drawingml/2006/main">
            <a:off x="6677025" y="540067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45" name="">
            <a:extLst xmlns:a="http://schemas.openxmlformats.org/drawingml/2006/main">
              <a:ext uri="{FF2B5EF4-FFF2-40B4-BE49-F238E27FC236}">
                <a16:creationId xmlns:a16="http://schemas.microsoft.com/office/drawing/2014/main" id="{06CF598C-3401-46B4-82B2-2A6C5E838D0A}"/>
              </a:ext>
            </a:extLst>
          </p:cNvPr>
          <p:cNvSpPr>
            <a:spLocks xmlns:a="http://schemas.openxmlformats.org/drawingml/2006/main" noGrp="1"/>
          </p:cNvSpPr>
          <p:nvPr/>
        </p:nvSpPr>
        <p:spPr>
          <a:xfrm xmlns:a="http://schemas.openxmlformats.org/drawingml/2006/main">
            <a:off x="6781800" y="4905375"/>
            <a:ext cx="2419350" cy="1333500"/>
          </a:xfrm>
          <a:prstGeom xmlns:a="http://schemas.openxmlformats.org/drawingml/2006/main" prst="roundRect">
            <a:avLst>
              <a:gd name="adj" fmla="val 8571"/>
            </a:avLst>
          </a:prstGeom>
          <a:solidFill xmlns:a="http://schemas.openxmlformats.org/drawingml/2006/main">
            <a:srgbClr val="F0EAF9"/>
          </a:solidFill>
          <a:ln xmlns:a="http://schemas.openxmlformats.org/drawingml/2006/main" w="0">
            <a:noFill/>
          </a:ln>
        </p:spPr>
      </p:sp>
      <p:sp>
        <p:nvSpPr>
          <p:cNvPr id="46" name="">
            <a:extLst xmlns:a="http://schemas.openxmlformats.org/drawingml/2006/main">
              <a:ext uri="{FF2B5EF4-FFF2-40B4-BE49-F238E27FC236}">
                <a16:creationId xmlns:a16="http://schemas.microsoft.com/office/drawing/2014/main" id="{F5B7015F-04B0-4507-AEAE-0E452042BC9E}"/>
              </a:ext>
            </a:extLst>
          </p:cNvPr>
          <p:cNvSpPr>
            <a:spLocks xmlns:a="http://schemas.openxmlformats.org/drawingml/2006/main" noGrp="1"/>
          </p:cNvSpPr>
          <p:nvPr/>
        </p:nvSpPr>
        <p:spPr>
          <a:xfrm xmlns:a="http://schemas.openxmlformats.org/drawingml/2006/main">
            <a:off x="6877050" y="49815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75BC5"/>
                </a:solidFill>
                <a:latin typeface="DejaVu Sans"/>
                <a:ea typeface="DejaVu Sans"/>
                <a:cs typeface="DejaVu Sans"/>
              </a:defRPr>
            </a:pPr>
            <a:r>
              <a:rPr sz="1350" b="1">
                <a:solidFill>
                  <a:srgbClr val="875BC5"/>
                </a:solidFill>
                <a:latin typeface="DejaVu Sans"/>
                <a:ea typeface="DejaVu Sans"/>
                <a:cs typeface="DejaVu Sans"/>
              </a:rPr>
              <a:t>✓  Aug 2026</a:t>
            </a:r>
          </a:p>
        </p:txBody>
      </p:sp>
      <p:sp>
        <p:nvSpPr>
          <p:cNvPr id="47" name="">
            <a:extLst xmlns:a="http://schemas.openxmlformats.org/drawingml/2006/main">
              <a:ext uri="{FF2B5EF4-FFF2-40B4-BE49-F238E27FC236}">
                <a16:creationId xmlns:a16="http://schemas.microsoft.com/office/drawing/2014/main" id="{5EB9414C-FCEE-48FD-8E27-E1C360F026F4}"/>
              </a:ext>
            </a:extLst>
          </p:cNvPr>
          <p:cNvSpPr>
            <a:spLocks xmlns:a="http://schemas.openxmlformats.org/drawingml/2006/main" noGrp="1"/>
          </p:cNvSpPr>
          <p:nvPr/>
        </p:nvSpPr>
        <p:spPr>
          <a:xfrm xmlns:a="http://schemas.openxmlformats.org/drawingml/2006/main">
            <a:off x="6877050" y="53149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DMGT-2407</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LS NTML for PF</a:t>
            </a:r>
          </a:p>
        </p:txBody>
      </p:sp>
      <p:sp>
        <p:nvSpPr>
          <p:cNvPr id="48" name="">
            <a:extLst xmlns:a="http://schemas.openxmlformats.org/drawingml/2006/main">
              <a:ext uri="{FF2B5EF4-FFF2-40B4-BE49-F238E27FC236}">
                <a16:creationId xmlns:a16="http://schemas.microsoft.com/office/drawing/2014/main" id="{700617D9-4818-44AC-B243-8BCCE83D6720}"/>
              </a:ext>
            </a:extLst>
          </p:cNvPr>
          <p:cNvSpPr>
            <a:spLocks xmlns:a="http://schemas.openxmlformats.org/drawingml/2006/main" noGrp="1"/>
          </p:cNvSpPr>
          <p:nvPr/>
        </p:nvSpPr>
        <p:spPr>
          <a:xfrm xmlns:a="http://schemas.openxmlformats.org/drawingml/2006/main">
            <a:off x="9210675" y="5400675"/>
            <a:ext cx="1047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647B89"/>
                </a:solidFill>
                <a:latin typeface="DejaVu Sans"/>
                <a:ea typeface="DejaVu Sans"/>
                <a:cs typeface="DejaVu Sans"/>
              </a:defRPr>
            </a:pPr>
            <a:r>
              <a:rPr sz="1800" b="1">
                <a:solidFill>
                  <a:srgbClr val="647B89"/>
                </a:solidFill>
                <a:latin typeface="DejaVu Sans"/>
                <a:ea typeface="DejaVu Sans"/>
                <a:cs typeface="DejaVu Sans"/>
              </a:rPr>
              <a:t>›</a:t>
            </a:r>
          </a:p>
        </p:txBody>
      </p:sp>
      <p:sp>
        <p:nvSpPr>
          <p:cNvPr id="49" name="">
            <a:extLst xmlns:a="http://schemas.openxmlformats.org/drawingml/2006/main">
              <a:ext uri="{FF2B5EF4-FFF2-40B4-BE49-F238E27FC236}">
                <a16:creationId xmlns:a16="http://schemas.microsoft.com/office/drawing/2014/main" id="{2F877427-9554-4217-ACF5-C1CBC85E9686}"/>
              </a:ext>
            </a:extLst>
          </p:cNvPr>
          <p:cNvSpPr>
            <a:spLocks xmlns:a="http://schemas.openxmlformats.org/drawingml/2006/main" noGrp="1"/>
          </p:cNvSpPr>
          <p:nvPr/>
        </p:nvSpPr>
        <p:spPr>
          <a:xfrm xmlns:a="http://schemas.openxmlformats.org/drawingml/2006/main">
            <a:off x="9315450" y="4905375"/>
            <a:ext cx="2419350" cy="1333500"/>
          </a:xfrm>
          <a:prstGeom xmlns:a="http://schemas.openxmlformats.org/drawingml/2006/main" prst="roundRect">
            <a:avLst>
              <a:gd name="adj" fmla="val 8571"/>
            </a:avLst>
          </a:prstGeom>
          <a:solidFill xmlns:a="http://schemas.openxmlformats.org/drawingml/2006/main">
            <a:srgbClr val="FFF1D7"/>
          </a:solidFill>
          <a:ln xmlns:a="http://schemas.openxmlformats.org/drawingml/2006/main" w="0">
            <a:noFill/>
          </a:ln>
        </p:spPr>
      </p:sp>
      <p:sp>
        <p:nvSpPr>
          <p:cNvPr id="50" name="">
            <a:extLst xmlns:a="http://schemas.openxmlformats.org/drawingml/2006/main">
              <a:ext uri="{FF2B5EF4-FFF2-40B4-BE49-F238E27FC236}">
                <a16:creationId xmlns:a16="http://schemas.microsoft.com/office/drawing/2014/main" id="{97F2F66D-317A-47F4-8E08-FF58DF6C9B72}"/>
              </a:ext>
            </a:extLst>
          </p:cNvPr>
          <p:cNvSpPr>
            <a:spLocks xmlns:a="http://schemas.openxmlformats.org/drawingml/2006/main" noGrp="1"/>
          </p:cNvSpPr>
          <p:nvPr/>
        </p:nvSpPr>
        <p:spPr>
          <a:xfrm xmlns:a="http://schemas.openxmlformats.org/drawingml/2006/main">
            <a:off x="9410700" y="4981575"/>
            <a:ext cx="22288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F6D12"/>
                </a:solidFill>
                <a:latin typeface="DejaVu Sans"/>
                <a:ea typeface="DejaVu Sans"/>
                <a:cs typeface="DejaVu Sans"/>
              </a:defRPr>
            </a:pPr>
            <a:r>
              <a:rPr sz="1350" b="1">
                <a:solidFill>
                  <a:srgbClr val="BF6D12"/>
                </a:solidFill>
                <a:latin typeface="DejaVu Sans"/>
                <a:ea typeface="DejaVu Sans"/>
                <a:cs typeface="DejaVu Sans"/>
              </a:rPr>
              <a:t>◷  Oct 2026 planned</a:t>
            </a:r>
          </a:p>
        </p:txBody>
      </p:sp>
      <p:sp>
        <p:nvSpPr>
          <p:cNvPr id="51" name="">
            <a:extLst xmlns:a="http://schemas.openxmlformats.org/drawingml/2006/main">
              <a:ext uri="{FF2B5EF4-FFF2-40B4-BE49-F238E27FC236}">
                <a16:creationId xmlns:a16="http://schemas.microsoft.com/office/drawing/2014/main" id="{676846E9-99F7-4560-8C02-88612E0430F5}"/>
              </a:ext>
            </a:extLst>
          </p:cNvPr>
          <p:cNvSpPr>
            <a:spLocks xmlns:a="http://schemas.openxmlformats.org/drawingml/2006/main" noGrp="1"/>
          </p:cNvSpPr>
          <p:nvPr/>
        </p:nvSpPr>
        <p:spPr>
          <a:xfrm xmlns:a="http://schemas.openxmlformats.org/drawingml/2006/main">
            <a:off x="9410700" y="5314950"/>
            <a:ext cx="22288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DMGT-56</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FTS in all STL segments</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4 October target in September summary</a:t>
            </a:r>
          </a:p>
          <a:p xmlns:a="http://schemas.openxmlformats.org/drawingml/2006/main">
            <a:pPr>
              <a:defRPr sz="975" b="0">
                <a:solidFill>
                  <a:srgbClr val="173A4B"/>
                </a:solidFill>
                <a:latin typeface="DejaVu Sans"/>
                <a:ea typeface="DejaVu Sans"/>
                <a:cs typeface="DejaVu Sans"/>
              </a:defRPr>
            </a:pPr>
            <a:r>
              <a:rPr sz="975" b="0">
                <a:solidFill>
                  <a:srgbClr val="173A4B"/>
                </a:solidFill>
                <a:latin typeface="DejaVu Sans"/>
                <a:ea typeface="DejaVu Sans"/>
                <a:cs typeface="DejaVu Sans"/>
              </a:rPr>
              <a:t>Delivery confirmation pending</a:t>
            </a:r>
          </a:p>
        </p:txBody>
      </p:sp>
    </p:spTree>
    <p:extLst>
      <p:ext uri="{BB962C8B-B14F-4D97-AF65-F5344CB8AC3E}">
        <p14:creationId xmlns:p14="http://schemas.microsoft.com/office/powerpoint/2010/main" val="75483547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EF6172B-58EF-4C03-A3F4-DBBFD7AD2B91}"/>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B964EF4D-5057-471F-B0DE-779FF52C5EFE}"/>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CRM delivers 15 items with no reported outages</a:t>
            </a:r>
          </a:p>
        </p:txBody>
      </p:sp>
      <p:sp>
        <p:nvSpPr>
          <p:cNvPr id="3" name="">
            <a:extLst xmlns:a="http://schemas.openxmlformats.org/drawingml/2006/main">
              <a:ext uri="{FF2B5EF4-FFF2-40B4-BE49-F238E27FC236}">
                <a16:creationId xmlns:a16="http://schemas.microsoft.com/office/drawing/2014/main" id="{5441B284-2A36-44B8-A181-013E40F886E8}"/>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September executive outcome. Reliability remains green, with a minor-incident workload to monitor.</a:t>
            </a:r>
          </a:p>
        </p:txBody>
      </p:sp>
      <p:sp>
        <p:nvSpPr>
          <p:cNvPr id="4" name="">
            <a:extLst xmlns:a="http://schemas.openxmlformats.org/drawingml/2006/main">
              <a:ext uri="{FF2B5EF4-FFF2-40B4-BE49-F238E27FC236}">
                <a16:creationId xmlns:a16="http://schemas.microsoft.com/office/drawing/2014/main" id="{B08936B8-7576-4EDA-AFF1-AF51E5E867FC}"/>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6CA3BB95-7E14-4E88-BAF1-F585C2A792EC}"/>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11</a:t>
            </a:r>
          </a:p>
        </p:txBody>
      </p:sp>
      <p:sp>
        <p:nvSpPr>
          <p:cNvPr id="6" name="">
            <a:extLst xmlns:a="http://schemas.openxmlformats.org/drawingml/2006/main">
              <a:ext uri="{FF2B5EF4-FFF2-40B4-BE49-F238E27FC236}">
                <a16:creationId xmlns:a16="http://schemas.microsoft.com/office/drawing/2014/main" id="{72B7310A-7AB7-4685-8A5A-874107017768}"/>
              </a:ext>
            </a:extLst>
          </p:cNvPr>
          <p:cNvSpPr>
            <a:spLocks xmlns:a="http://schemas.openxmlformats.org/drawingml/2006/main" noGrp="1"/>
          </p:cNvSpPr>
          <p:nvPr/>
        </p:nvSpPr>
        <p:spPr>
          <a:xfrm xmlns:a="http://schemas.openxmlformats.org/drawingml/2006/main">
            <a:off x="457200" y="20955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A54871C-F3FC-44F2-BBCE-EE98B362B4BC}"/>
              </a:ext>
            </a:extLst>
          </p:cNvPr>
          <p:cNvSpPr>
            <a:spLocks xmlns:a="http://schemas.openxmlformats.org/drawingml/2006/main" noGrp="1"/>
          </p:cNvSpPr>
          <p:nvPr/>
        </p:nvSpPr>
        <p:spPr>
          <a:xfrm xmlns:a="http://schemas.openxmlformats.org/drawingml/2006/main">
            <a:off x="619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35</a:t>
            </a:r>
          </a:p>
        </p:txBody>
      </p:sp>
      <p:sp>
        <p:nvSpPr>
          <p:cNvPr id="8" name="">
            <a:extLst xmlns:a="http://schemas.openxmlformats.org/drawingml/2006/main">
              <a:ext uri="{FF2B5EF4-FFF2-40B4-BE49-F238E27FC236}">
                <a16:creationId xmlns:a16="http://schemas.microsoft.com/office/drawing/2014/main" id="{318CA0F4-38C1-447D-BE85-0D28229CD650}"/>
              </a:ext>
            </a:extLst>
          </p:cNvPr>
          <p:cNvSpPr>
            <a:spLocks xmlns:a="http://schemas.openxmlformats.org/drawingml/2006/main" noGrp="1"/>
          </p:cNvSpPr>
          <p:nvPr/>
        </p:nvSpPr>
        <p:spPr>
          <a:xfrm xmlns:a="http://schemas.openxmlformats.org/drawingml/2006/main">
            <a:off x="619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pipeline entries</a:t>
            </a:r>
          </a:p>
        </p:txBody>
      </p:sp>
      <p:sp>
        <p:nvSpPr>
          <p:cNvPr id="9" name="">
            <a:extLst xmlns:a="http://schemas.openxmlformats.org/drawingml/2006/main">
              <a:ext uri="{FF2B5EF4-FFF2-40B4-BE49-F238E27FC236}">
                <a16:creationId xmlns:a16="http://schemas.microsoft.com/office/drawing/2014/main" id="{DD4C0689-64D4-4A02-B4FF-0CA340BEDB5A}"/>
              </a:ext>
            </a:extLst>
          </p:cNvPr>
          <p:cNvSpPr>
            <a:spLocks xmlns:a="http://schemas.openxmlformats.org/drawingml/2006/main" noGrp="1"/>
          </p:cNvSpPr>
          <p:nvPr/>
        </p:nvSpPr>
        <p:spPr>
          <a:xfrm xmlns:a="http://schemas.openxmlformats.org/drawingml/2006/main">
            <a:off x="3314700" y="20955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5368DF1-E2D4-49BF-9CEC-3F973B59A274}"/>
              </a:ext>
            </a:extLst>
          </p:cNvPr>
          <p:cNvSpPr>
            <a:spLocks xmlns:a="http://schemas.openxmlformats.org/drawingml/2006/main" noGrp="1"/>
          </p:cNvSpPr>
          <p:nvPr/>
        </p:nvSpPr>
        <p:spPr>
          <a:xfrm xmlns:a="http://schemas.openxmlformats.org/drawingml/2006/main">
            <a:off x="3476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15</a:t>
            </a:r>
          </a:p>
        </p:txBody>
      </p:sp>
      <p:sp>
        <p:nvSpPr>
          <p:cNvPr id="11" name="">
            <a:extLst xmlns:a="http://schemas.openxmlformats.org/drawingml/2006/main">
              <a:ext uri="{FF2B5EF4-FFF2-40B4-BE49-F238E27FC236}">
                <a16:creationId xmlns:a16="http://schemas.microsoft.com/office/drawing/2014/main" id="{93327EDF-D715-4678-9071-B65E54297A31}"/>
              </a:ext>
            </a:extLst>
          </p:cNvPr>
          <p:cNvSpPr>
            <a:spLocks xmlns:a="http://schemas.openxmlformats.org/drawingml/2006/main" noGrp="1"/>
          </p:cNvSpPr>
          <p:nvPr/>
        </p:nvSpPr>
        <p:spPr>
          <a:xfrm xmlns:a="http://schemas.openxmlformats.org/drawingml/2006/main">
            <a:off x="3476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live / delivered</a:t>
            </a:r>
          </a:p>
        </p:txBody>
      </p:sp>
      <p:sp>
        <p:nvSpPr>
          <p:cNvPr id="12" name="">
            <a:extLst xmlns:a="http://schemas.openxmlformats.org/drawingml/2006/main">
              <a:ext uri="{FF2B5EF4-FFF2-40B4-BE49-F238E27FC236}">
                <a16:creationId xmlns:a16="http://schemas.microsoft.com/office/drawing/2014/main" id="{E7C23790-DD54-4A86-8ECA-61020276D660}"/>
              </a:ext>
            </a:extLst>
          </p:cNvPr>
          <p:cNvSpPr>
            <a:spLocks xmlns:a="http://schemas.openxmlformats.org/drawingml/2006/main" noGrp="1"/>
          </p:cNvSpPr>
          <p:nvPr/>
        </p:nvSpPr>
        <p:spPr>
          <a:xfrm xmlns:a="http://schemas.openxmlformats.org/drawingml/2006/main">
            <a:off x="6172200" y="20955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96A2D3F-00FC-4A56-85FA-47466AB457A4}"/>
              </a:ext>
            </a:extLst>
          </p:cNvPr>
          <p:cNvSpPr>
            <a:spLocks xmlns:a="http://schemas.openxmlformats.org/drawingml/2006/main" noGrp="1"/>
          </p:cNvSpPr>
          <p:nvPr/>
        </p:nvSpPr>
        <p:spPr>
          <a:xfrm xmlns:a="http://schemas.openxmlformats.org/drawingml/2006/main">
            <a:off x="6334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16</a:t>
            </a:r>
          </a:p>
        </p:txBody>
      </p:sp>
      <p:sp>
        <p:nvSpPr>
          <p:cNvPr id="14" name="">
            <a:extLst xmlns:a="http://schemas.openxmlformats.org/drawingml/2006/main">
              <a:ext uri="{FF2B5EF4-FFF2-40B4-BE49-F238E27FC236}">
                <a16:creationId xmlns:a16="http://schemas.microsoft.com/office/drawing/2014/main" id="{14066B14-2BD7-433A-B035-233CEF9BD02E}"/>
              </a:ext>
            </a:extLst>
          </p:cNvPr>
          <p:cNvSpPr>
            <a:spLocks xmlns:a="http://schemas.openxmlformats.org/drawingml/2006/main" noGrp="1"/>
          </p:cNvSpPr>
          <p:nvPr/>
        </p:nvSpPr>
        <p:spPr>
          <a:xfrm xmlns:a="http://schemas.openxmlformats.org/drawingml/2006/main">
            <a:off x="6334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in progress</a:t>
            </a:r>
          </a:p>
        </p:txBody>
      </p:sp>
      <p:sp>
        <p:nvSpPr>
          <p:cNvPr id="15" name="">
            <a:extLst xmlns:a="http://schemas.openxmlformats.org/drawingml/2006/main">
              <a:ext uri="{FF2B5EF4-FFF2-40B4-BE49-F238E27FC236}">
                <a16:creationId xmlns:a16="http://schemas.microsoft.com/office/drawing/2014/main" id="{64491CE9-8517-4D27-9A68-3ECE2E5947A1}"/>
              </a:ext>
            </a:extLst>
          </p:cNvPr>
          <p:cNvSpPr>
            <a:spLocks xmlns:a="http://schemas.openxmlformats.org/drawingml/2006/main" noGrp="1"/>
          </p:cNvSpPr>
          <p:nvPr/>
        </p:nvSpPr>
        <p:spPr>
          <a:xfrm xmlns:a="http://schemas.openxmlformats.org/drawingml/2006/main">
            <a:off x="9029700" y="20955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2A397E1-1629-4297-8F4A-70E57F79DD51}"/>
              </a:ext>
            </a:extLst>
          </p:cNvPr>
          <p:cNvSpPr>
            <a:spLocks xmlns:a="http://schemas.openxmlformats.org/drawingml/2006/main" noGrp="1"/>
          </p:cNvSpPr>
          <p:nvPr/>
        </p:nvSpPr>
        <p:spPr>
          <a:xfrm xmlns:a="http://schemas.openxmlformats.org/drawingml/2006/main">
            <a:off x="9191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4</a:t>
            </a:r>
          </a:p>
        </p:txBody>
      </p:sp>
      <p:sp>
        <p:nvSpPr>
          <p:cNvPr id="17" name="">
            <a:extLst xmlns:a="http://schemas.openxmlformats.org/drawingml/2006/main">
              <a:ext uri="{FF2B5EF4-FFF2-40B4-BE49-F238E27FC236}">
                <a16:creationId xmlns:a16="http://schemas.microsoft.com/office/drawing/2014/main" id="{8599DDFC-9B2D-4F73-9D0C-77CCF1389511}"/>
              </a:ext>
            </a:extLst>
          </p:cNvPr>
          <p:cNvSpPr>
            <a:spLocks xmlns:a="http://schemas.openxmlformats.org/drawingml/2006/main" noGrp="1"/>
          </p:cNvSpPr>
          <p:nvPr/>
        </p:nvSpPr>
        <p:spPr>
          <a:xfrm xmlns:a="http://schemas.openxmlformats.org/drawingml/2006/main">
            <a:off x="9191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under discussion</a:t>
            </a:r>
          </a:p>
        </p:txBody>
      </p:sp>
      <p:sp>
        <p:nvSpPr>
          <p:cNvPr id="18" name="">
            <a:extLst xmlns:a="http://schemas.openxmlformats.org/drawingml/2006/main">
              <a:ext uri="{FF2B5EF4-FFF2-40B4-BE49-F238E27FC236}">
                <a16:creationId xmlns:a16="http://schemas.microsoft.com/office/drawing/2014/main" id="{B20760AD-0718-44F5-AE4C-5BC59F49B32D}"/>
              </a:ext>
            </a:extLst>
          </p:cNvPr>
          <p:cNvSpPr>
            <a:spLocks xmlns:a="http://schemas.openxmlformats.org/drawingml/2006/main" noGrp="1"/>
          </p:cNvSpPr>
          <p:nvPr/>
        </p:nvSpPr>
        <p:spPr>
          <a:xfrm xmlns:a="http://schemas.openxmlformats.org/drawingml/2006/main">
            <a:off x="457200" y="3505200"/>
            <a:ext cx="3657600" cy="1809750"/>
          </a:xfrm>
          <a:prstGeom xmlns:a="http://schemas.openxmlformats.org/drawingml/2006/main" prst="roundRect">
            <a:avLst>
              <a:gd name="adj" fmla="val 6316"/>
            </a:avLst>
          </a:prstGeom>
          <a:solidFill xmlns:a="http://schemas.openxmlformats.org/drawingml/2006/main">
            <a:srgbClr val="E6F6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E361B622-3D54-4EF1-A0D3-88DE60F65715}"/>
              </a:ext>
            </a:extLst>
          </p:cNvPr>
          <p:cNvSpPr>
            <a:spLocks xmlns:a="http://schemas.openxmlformats.org/drawingml/2006/main" noGrp="1"/>
          </p:cNvSpPr>
          <p:nvPr/>
        </p:nvSpPr>
        <p:spPr>
          <a:xfrm xmlns:a="http://schemas.openxmlformats.org/drawingml/2006/main">
            <a:off x="628650" y="36385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  Service continuity</a:t>
            </a:r>
          </a:p>
        </p:txBody>
      </p:sp>
      <p:sp>
        <p:nvSpPr>
          <p:cNvPr id="20" name="">
            <a:extLst xmlns:a="http://schemas.openxmlformats.org/drawingml/2006/main">
              <a:ext uri="{FF2B5EF4-FFF2-40B4-BE49-F238E27FC236}">
                <a16:creationId xmlns:a16="http://schemas.microsoft.com/office/drawing/2014/main" id="{2B7289B3-C875-40F6-BFDA-34A62EF06892}"/>
              </a:ext>
            </a:extLst>
          </p:cNvPr>
          <p:cNvSpPr>
            <a:spLocks xmlns:a="http://schemas.openxmlformats.org/drawingml/2006/main" noGrp="1"/>
          </p:cNvSpPr>
          <p:nvPr/>
        </p:nvSpPr>
        <p:spPr>
          <a:xfrm xmlns:a="http://schemas.openxmlformats.org/drawingml/2006/main">
            <a:off x="628650" y="4114800"/>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0 planned or unplanned outages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0 major incidents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127 minor incidents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DR available and tested</a:t>
            </a:r>
          </a:p>
        </p:txBody>
      </p:sp>
      <p:sp>
        <p:nvSpPr>
          <p:cNvPr id="21" name="">
            <a:extLst xmlns:a="http://schemas.openxmlformats.org/drawingml/2006/main">
              <a:ext uri="{FF2B5EF4-FFF2-40B4-BE49-F238E27FC236}">
                <a16:creationId xmlns:a16="http://schemas.microsoft.com/office/drawing/2014/main" id="{B7218F5A-3E55-443A-A3A0-5326996B5353}"/>
              </a:ext>
            </a:extLst>
          </p:cNvPr>
          <p:cNvSpPr>
            <a:spLocks xmlns:a="http://schemas.openxmlformats.org/drawingml/2006/main" noGrp="1"/>
          </p:cNvSpPr>
          <p:nvPr/>
        </p:nvSpPr>
        <p:spPr>
          <a:xfrm xmlns:a="http://schemas.openxmlformats.org/drawingml/2006/main">
            <a:off x="4267200" y="3505200"/>
            <a:ext cx="3657600" cy="1809750"/>
          </a:xfrm>
          <a:prstGeom xmlns:a="http://schemas.openxmlformats.org/drawingml/2006/main" prst="roundRect">
            <a:avLst>
              <a:gd name="adj" fmla="val 6316"/>
            </a:avLst>
          </a:prstGeom>
          <a:solidFill xmlns:a="http://schemas.openxmlformats.org/drawingml/2006/main">
            <a:srgbClr val="E8F3F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B07EBCC-1E1F-4C70-A2D4-7AF3819EA9E7}"/>
              </a:ext>
            </a:extLst>
          </p:cNvPr>
          <p:cNvSpPr>
            <a:spLocks xmlns:a="http://schemas.openxmlformats.org/drawingml/2006/main" noGrp="1"/>
          </p:cNvSpPr>
          <p:nvPr/>
        </p:nvSpPr>
        <p:spPr>
          <a:xfrm xmlns:a="http://schemas.openxmlformats.org/drawingml/2006/main">
            <a:off x="4438650" y="36385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Customer activity</a:t>
            </a:r>
          </a:p>
        </p:txBody>
      </p:sp>
      <p:sp>
        <p:nvSpPr>
          <p:cNvPr id="23" name="">
            <a:extLst xmlns:a="http://schemas.openxmlformats.org/drawingml/2006/main">
              <a:ext uri="{FF2B5EF4-FFF2-40B4-BE49-F238E27FC236}">
                <a16:creationId xmlns:a16="http://schemas.microsoft.com/office/drawing/2014/main" id="{A3D06095-23FA-40F8-910E-190FE16D42FB}"/>
              </a:ext>
            </a:extLst>
          </p:cNvPr>
          <p:cNvSpPr>
            <a:spLocks xmlns:a="http://schemas.openxmlformats.org/drawingml/2006/main" noGrp="1"/>
          </p:cNvSpPr>
          <p:nvPr/>
        </p:nvSpPr>
        <p:spPr>
          <a:xfrm xmlns:a="http://schemas.openxmlformats.org/drawingml/2006/main">
            <a:off x="4438650" y="4114800"/>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1,242 CIF records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51,525 leads created</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45,465 opportunities created</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5,544 cases completed</a:t>
            </a:r>
          </a:p>
        </p:txBody>
      </p:sp>
      <p:sp>
        <p:nvSpPr>
          <p:cNvPr id="24" name="">
            <a:extLst xmlns:a="http://schemas.openxmlformats.org/drawingml/2006/main">
              <a:ext uri="{FF2B5EF4-FFF2-40B4-BE49-F238E27FC236}">
                <a16:creationId xmlns:a16="http://schemas.microsoft.com/office/drawing/2014/main" id="{0E51A94F-D918-470B-835D-08ABBB9C52AA}"/>
              </a:ext>
            </a:extLst>
          </p:cNvPr>
          <p:cNvSpPr>
            <a:spLocks xmlns:a="http://schemas.openxmlformats.org/drawingml/2006/main" noGrp="1"/>
          </p:cNvSpPr>
          <p:nvPr/>
        </p:nvSpPr>
        <p:spPr>
          <a:xfrm xmlns:a="http://schemas.openxmlformats.org/drawingml/2006/main">
            <a:off x="8077200" y="3505200"/>
            <a:ext cx="3657600" cy="1809750"/>
          </a:xfrm>
          <a:prstGeom xmlns:a="http://schemas.openxmlformats.org/drawingml/2006/main" prst="roundRect">
            <a:avLst>
              <a:gd name="adj" fmla="val 6316"/>
            </a:avLst>
          </a:prstGeom>
          <a:solidFill xmlns:a="http://schemas.openxmlformats.org/drawingml/2006/main">
            <a:srgbClr val="F0EAF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EC813702-3537-4DAC-9308-419E881890B5}"/>
              </a:ext>
            </a:extLst>
          </p:cNvPr>
          <p:cNvSpPr>
            <a:spLocks xmlns:a="http://schemas.openxmlformats.org/drawingml/2006/main" noGrp="1"/>
          </p:cNvSpPr>
          <p:nvPr/>
        </p:nvSpPr>
        <p:spPr>
          <a:xfrm xmlns:a="http://schemas.openxmlformats.org/drawingml/2006/main">
            <a:off x="8248650" y="36385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  Cloud readiness</a:t>
            </a:r>
          </a:p>
        </p:txBody>
      </p:sp>
      <p:sp>
        <p:nvSpPr>
          <p:cNvPr id="26" name="">
            <a:extLst xmlns:a="http://schemas.openxmlformats.org/drawingml/2006/main">
              <a:ext uri="{FF2B5EF4-FFF2-40B4-BE49-F238E27FC236}">
                <a16:creationId xmlns:a16="http://schemas.microsoft.com/office/drawing/2014/main" id="{73D9178E-199D-4415-8BE2-039D51979C9F}"/>
              </a:ext>
            </a:extLst>
          </p:cNvPr>
          <p:cNvSpPr>
            <a:spLocks xmlns:a="http://schemas.openxmlformats.org/drawingml/2006/main" noGrp="1"/>
          </p:cNvSpPr>
          <p:nvPr/>
        </p:nvSpPr>
        <p:spPr>
          <a:xfrm xmlns:a="http://schemas.openxmlformats.org/drawingml/2006/main">
            <a:off x="8248650" y="4114800"/>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Planning / under discussion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Q3 2027 target in latest overview</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10 team members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Source reports adequate staffing</a:t>
            </a:r>
          </a:p>
        </p:txBody>
      </p:sp>
      <p:sp>
        <p:nvSpPr>
          <p:cNvPr id="27" name="">
            <a:extLst xmlns:a="http://schemas.openxmlformats.org/drawingml/2006/main">
              <a:ext uri="{FF2B5EF4-FFF2-40B4-BE49-F238E27FC236}">
                <a16:creationId xmlns:a16="http://schemas.microsoft.com/office/drawing/2014/main" id="{882A3FC6-1737-44AC-A218-B72877B281A4}"/>
              </a:ext>
            </a:extLst>
          </p:cNvPr>
          <p:cNvSpPr>
            <a:spLocks xmlns:a="http://schemas.openxmlformats.org/drawingml/2006/main" noGrp="1"/>
          </p:cNvSpPr>
          <p:nvPr/>
        </p:nvSpPr>
        <p:spPr>
          <a:xfrm xmlns:a="http://schemas.openxmlformats.org/drawingml/2006/main">
            <a:off x="457200" y="57150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Management focus</a:t>
            </a:r>
          </a:p>
        </p:txBody>
      </p:sp>
      <p:sp>
        <p:nvSpPr>
          <p:cNvPr id="28" name="">
            <a:extLst xmlns:a="http://schemas.openxmlformats.org/drawingml/2006/main">
              <a:ext uri="{FF2B5EF4-FFF2-40B4-BE49-F238E27FC236}">
                <a16:creationId xmlns:a16="http://schemas.microsoft.com/office/drawing/2014/main" id="{377598EF-EE22-4E4D-9FFB-2711EB36AF8B}"/>
              </a:ext>
            </a:extLst>
          </p:cNvPr>
          <p:cNvSpPr>
            <a:spLocks xmlns:a="http://schemas.openxmlformats.org/drawingml/2006/main" noGrp="1"/>
          </p:cNvSpPr>
          <p:nvPr/>
        </p:nvSpPr>
        <p:spPr>
          <a:xfrm xmlns:a="http://schemas.openxmlformats.org/drawingml/2006/main">
            <a:off x="3095625" y="5667375"/>
            <a:ext cx="8572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73A4B"/>
                </a:solidFill>
                <a:latin typeface="DejaVu Sans"/>
                <a:ea typeface="DejaVu Sans"/>
                <a:cs typeface="DejaVu Sans"/>
              </a:defRPr>
            </a:pPr>
            <a:r>
              <a:rPr sz="1725" b="0">
                <a:solidFill>
                  <a:srgbClr val="173A4B"/>
                </a:solidFill>
                <a:latin typeface="DejaVu Sans"/>
                <a:ea typeface="DejaVu Sans"/>
                <a:cs typeface="DejaVu Sans"/>
              </a:rPr>
              <a:t>Track minor-incident drivers, progress the 16 delivery entries and agree the cloud migration approach.</a:t>
            </a:r>
          </a:p>
        </p:txBody>
      </p:sp>
    </p:spTree>
    <p:extLst>
      <p:ext uri="{BB962C8B-B14F-4D97-AF65-F5344CB8AC3E}">
        <p14:creationId xmlns:p14="http://schemas.microsoft.com/office/powerpoint/2010/main" val="210593354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63F935B2-AAAF-4E83-B2DA-C74D72FDBB69}"/>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770D7031-1E6C-4606-A3DC-E414952FDED3}"/>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CRM supports customer onboarding and sales activity</a:t>
            </a:r>
          </a:p>
        </p:txBody>
      </p:sp>
      <p:sp>
        <p:nvSpPr>
          <p:cNvPr id="3" name="">
            <a:extLst xmlns:a="http://schemas.openxmlformats.org/drawingml/2006/main">
              <a:ext uri="{FF2B5EF4-FFF2-40B4-BE49-F238E27FC236}">
                <a16:creationId xmlns:a16="http://schemas.microsoft.com/office/drawing/2014/main" id="{94EAD8AB-429F-4015-8189-FDE128120ACB}"/>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Workflow volumes are separate activity measures. Weekly incidents total 127, all minor.</a:t>
            </a:r>
          </a:p>
        </p:txBody>
      </p:sp>
      <p:sp>
        <p:nvSpPr>
          <p:cNvPr id="4" name="">
            <a:extLst xmlns:a="http://schemas.openxmlformats.org/drawingml/2006/main">
              <a:ext uri="{FF2B5EF4-FFF2-40B4-BE49-F238E27FC236}">
                <a16:creationId xmlns:a16="http://schemas.microsoft.com/office/drawing/2014/main" id="{304D376B-9030-45E5-BF02-2E47EEB0C10A}"/>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A21CDDB6-CB0E-45A5-A2C3-32B2C6A68245}"/>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12</a:t>
            </a:r>
          </a:p>
        </p:txBody>
      </p:sp>
      <p:sp>
        <p:nvSpPr>
          <p:cNvPr id="6" name="">
            <a:extLst xmlns:a="http://schemas.openxmlformats.org/drawingml/2006/main">
              <a:ext uri="{FF2B5EF4-FFF2-40B4-BE49-F238E27FC236}">
                <a16:creationId xmlns:a16="http://schemas.microsoft.com/office/drawing/2014/main" id="{E4872145-DA60-4C5D-894E-59D6508EE925}"/>
              </a:ext>
            </a:extLst>
          </p:cNvPr>
          <p:cNvSpPr>
            <a:spLocks xmlns:a="http://schemas.openxmlformats.org/drawingml/2006/main" noGrp="1"/>
          </p:cNvSpPr>
          <p:nvPr/>
        </p:nvSpPr>
        <p:spPr>
          <a:xfrm xmlns:a="http://schemas.openxmlformats.org/drawingml/2006/main">
            <a:off x="457200" y="2076450"/>
            <a:ext cx="52863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Weekly minor incidents</a:t>
            </a:r>
          </a:p>
        </p:txBody>
      </p:sp>
      <p:graphicFrame>
        <p:nvGraphicFramePr>
          <p:cNvPr id="29" name="Chart"/>
          <p:cNvGraphicFramePr/>
          <p:nvPr/>
        </p:nvGraphicFramePr>
        <p:xfrm>
          <a:off xmlns:a="http://schemas.openxmlformats.org/drawingml/2006/main" x="457200" y="2495550"/>
          <a:ext xmlns:a="http://schemas.openxmlformats.org/drawingml/2006/main" cx="5048250" cy="2419350"/>
        </p:xfrm>
        <a:graphic xmlns:a="http://schemas.openxmlformats.org/drawingml/2006/main">
          <a:graphicData uri="http://schemas.openxmlformats.org/drawingml/2006/chart">
            <c:chart xmlns:r="http://schemas.openxmlformats.org/officeDocument/2006/relationships" xmlns:c="http://schemas.openxmlformats.org/drawingml/2006/chart" r:id="R71886919e4f14750"/>
          </a:graphicData>
        </a:graphic>
      </p:graphicFrame>
      <p:sp>
        <p:nvSpPr>
          <p:cNvPr id="8" name="">
            <a:extLst xmlns:a="http://schemas.openxmlformats.org/drawingml/2006/main">
              <a:ext uri="{FF2B5EF4-FFF2-40B4-BE49-F238E27FC236}">
                <a16:creationId xmlns:a16="http://schemas.microsoft.com/office/drawing/2014/main" id="{1FE05488-5EB6-42B3-8F8E-627DF5D73FFC}"/>
              </a:ext>
            </a:extLst>
          </p:cNvPr>
          <p:cNvSpPr>
            <a:spLocks xmlns:a="http://schemas.openxmlformats.org/drawingml/2006/main" noGrp="1"/>
          </p:cNvSpPr>
          <p:nvPr/>
        </p:nvSpPr>
        <p:spPr>
          <a:xfrm xmlns:a="http://schemas.openxmlformats.org/drawingml/2006/main">
            <a:off x="6191250" y="2076450"/>
            <a:ext cx="5429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88C2"/>
                </a:solidFill>
                <a:latin typeface="DejaVu Sans"/>
                <a:ea typeface="DejaVu Sans"/>
                <a:cs typeface="DejaVu Sans"/>
              </a:defRPr>
            </a:pPr>
            <a:r>
              <a:rPr sz="1800" b="1">
                <a:solidFill>
                  <a:srgbClr val="1688C2"/>
                </a:solidFill>
                <a:latin typeface="DejaVu Sans"/>
                <a:ea typeface="DejaVu Sans"/>
                <a:cs typeface="DejaVu Sans"/>
              </a:rPr>
              <a:t>Workflow activity</a:t>
            </a:r>
          </a:p>
        </p:txBody>
      </p:sp>
      <p:graphicFrame>
        <p:nvGraphicFramePr>
          <p:cNvPr id="31" name="Chart"/>
          <p:cNvGraphicFramePr/>
          <p:nvPr/>
        </p:nvGraphicFramePr>
        <p:xfrm>
          <a:off xmlns:a="http://schemas.openxmlformats.org/drawingml/2006/main" x="6096000" y="2495550"/>
          <a:ext xmlns:a="http://schemas.openxmlformats.org/drawingml/2006/main" cx="5638800" cy="2419350"/>
        </p:xfrm>
        <a:graphic xmlns:a="http://schemas.openxmlformats.org/drawingml/2006/main">
          <a:graphicData uri="http://schemas.openxmlformats.org/drawingml/2006/chart">
            <c:chart xmlns:r="http://schemas.openxmlformats.org/officeDocument/2006/relationships" xmlns:c="http://schemas.openxmlformats.org/drawingml/2006/chart" r:id="R1caade5421e84d95"/>
          </a:graphicData>
        </a:graphic>
      </p:graphicFrame>
      <p:sp>
        <p:nvSpPr>
          <p:cNvPr id="10" name="">
            <a:extLst xmlns:a="http://schemas.openxmlformats.org/drawingml/2006/main">
              <a:ext uri="{FF2B5EF4-FFF2-40B4-BE49-F238E27FC236}">
                <a16:creationId xmlns:a16="http://schemas.microsoft.com/office/drawing/2014/main" id="{86D01BE3-B152-4EDA-B422-125BE4867F34}"/>
              </a:ext>
            </a:extLst>
          </p:cNvPr>
          <p:cNvSpPr>
            <a:spLocks xmlns:a="http://schemas.openxmlformats.org/drawingml/2006/main" noGrp="1"/>
          </p:cNvSpPr>
          <p:nvPr/>
        </p:nvSpPr>
        <p:spPr>
          <a:xfrm xmlns:a="http://schemas.openxmlformats.org/drawingml/2006/main">
            <a:off x="457200" y="5133975"/>
            <a:ext cx="11144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68"/>
                </a:solidFill>
                <a:latin typeface="DejaVu Sans"/>
                <a:ea typeface="DejaVu Sans"/>
                <a:cs typeface="DejaVu Sans"/>
              </a:defRPr>
            </a:pPr>
            <a:r>
              <a:rPr sz="1950" b="1">
                <a:solidFill>
                  <a:srgbClr val="087F68"/>
                </a:solidFill>
                <a:latin typeface="DejaVu Sans"/>
                <a:ea typeface="DejaVu Sans"/>
                <a:cs typeface="DejaVu Sans"/>
              </a:rPr>
              <a:t>1,242 CIF records in September</a:t>
            </a:r>
          </a:p>
        </p:txBody>
      </p:sp>
      <p:sp>
        <p:nvSpPr>
          <p:cNvPr id="11" name="">
            <a:extLst xmlns:a="http://schemas.openxmlformats.org/drawingml/2006/main">
              <a:ext uri="{FF2B5EF4-FFF2-40B4-BE49-F238E27FC236}">
                <a16:creationId xmlns:a16="http://schemas.microsoft.com/office/drawing/2014/main" id="{C9C20D80-9E75-43C6-85AA-6015D835D586}"/>
              </a:ext>
            </a:extLst>
          </p:cNvPr>
          <p:cNvSpPr>
            <a:spLocks xmlns:a="http://schemas.openxmlformats.org/drawingml/2006/main" noGrp="1"/>
          </p:cNvSpPr>
          <p:nvPr/>
        </p:nvSpPr>
        <p:spPr>
          <a:xfrm xmlns:a="http://schemas.openxmlformats.org/drawingml/2006/main">
            <a:off x="457200" y="5610225"/>
            <a:ext cx="2667000" cy="676275"/>
          </a:xfrm>
          <a:prstGeom xmlns:a="http://schemas.openxmlformats.org/drawingml/2006/main" prst="roundRect">
            <a:avLst>
              <a:gd name="adj" fmla="val 16901"/>
            </a:avLst>
          </a:prstGeom>
          <a:solidFill xmlns:a="http://schemas.openxmlformats.org/drawingml/2006/main">
            <a:srgbClr val="E6F6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CC1314DB-2E4F-47D1-A815-B791836536EB}"/>
              </a:ext>
            </a:extLst>
          </p:cNvPr>
          <p:cNvSpPr>
            <a:spLocks xmlns:a="http://schemas.openxmlformats.org/drawingml/2006/main" noGrp="1"/>
          </p:cNvSpPr>
          <p:nvPr/>
        </p:nvSpPr>
        <p:spPr>
          <a:xfrm xmlns:a="http://schemas.openxmlformats.org/drawingml/2006/main">
            <a:off x="590550" y="570547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087F68"/>
                </a:solidFill>
                <a:latin typeface="DejaVu Sans"/>
                <a:ea typeface="DejaVu Sans"/>
                <a:cs typeface="DejaVu Sans"/>
              </a:defRPr>
            </a:pPr>
            <a:r>
              <a:rPr sz="1275" b="1">
                <a:solidFill>
                  <a:srgbClr val="087F68"/>
                </a:solidFill>
                <a:latin typeface="DejaVu Sans"/>
                <a:ea typeface="DejaVu Sans"/>
                <a:cs typeface="DejaVu Sans"/>
              </a:rPr>
              <a:t>♙  Retail</a:t>
            </a:r>
          </a:p>
        </p:txBody>
      </p:sp>
      <p:sp>
        <p:nvSpPr>
          <p:cNvPr id="13" name="">
            <a:extLst xmlns:a="http://schemas.openxmlformats.org/drawingml/2006/main">
              <a:ext uri="{FF2B5EF4-FFF2-40B4-BE49-F238E27FC236}">
                <a16:creationId xmlns:a16="http://schemas.microsoft.com/office/drawing/2014/main" id="{D8A5872F-8E68-4CFD-897A-F33699C6962C}"/>
              </a:ext>
            </a:extLst>
          </p:cNvPr>
          <p:cNvSpPr>
            <a:spLocks xmlns:a="http://schemas.openxmlformats.org/drawingml/2006/main" noGrp="1"/>
          </p:cNvSpPr>
          <p:nvPr/>
        </p:nvSpPr>
        <p:spPr>
          <a:xfrm xmlns:a="http://schemas.openxmlformats.org/drawingml/2006/main">
            <a:off x="590550" y="5962650"/>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1,016</a:t>
            </a:r>
          </a:p>
        </p:txBody>
      </p:sp>
      <p:sp>
        <p:nvSpPr>
          <p:cNvPr id="14" name="">
            <a:extLst xmlns:a="http://schemas.openxmlformats.org/drawingml/2006/main">
              <a:ext uri="{FF2B5EF4-FFF2-40B4-BE49-F238E27FC236}">
                <a16:creationId xmlns:a16="http://schemas.microsoft.com/office/drawing/2014/main" id="{AACFF773-601B-4E29-88ED-36C1F77F9839}"/>
              </a:ext>
            </a:extLst>
          </p:cNvPr>
          <p:cNvSpPr>
            <a:spLocks xmlns:a="http://schemas.openxmlformats.org/drawingml/2006/main" noGrp="1"/>
          </p:cNvSpPr>
          <p:nvPr/>
        </p:nvSpPr>
        <p:spPr>
          <a:xfrm xmlns:a="http://schemas.openxmlformats.org/drawingml/2006/main">
            <a:off x="3314700" y="5610225"/>
            <a:ext cx="2667000" cy="676275"/>
          </a:xfrm>
          <a:prstGeom xmlns:a="http://schemas.openxmlformats.org/drawingml/2006/main" prst="roundRect">
            <a:avLst>
              <a:gd name="adj" fmla="val 16901"/>
            </a:avLst>
          </a:prstGeom>
          <a:solidFill xmlns:a="http://schemas.openxmlformats.org/drawingml/2006/main">
            <a:srgbClr val="E8F3FB"/>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772EEA85-56B7-41D1-93BB-989E4B12C34B}"/>
              </a:ext>
            </a:extLst>
          </p:cNvPr>
          <p:cNvSpPr>
            <a:spLocks xmlns:a="http://schemas.openxmlformats.org/drawingml/2006/main" noGrp="1"/>
          </p:cNvSpPr>
          <p:nvPr/>
        </p:nvSpPr>
        <p:spPr>
          <a:xfrm xmlns:a="http://schemas.openxmlformats.org/drawingml/2006/main">
            <a:off x="3448050" y="570547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1688C2"/>
                </a:solidFill>
                <a:latin typeface="DejaVu Sans"/>
                <a:ea typeface="DejaVu Sans"/>
                <a:cs typeface="DejaVu Sans"/>
              </a:defRPr>
            </a:pPr>
            <a:r>
              <a:rPr sz="1275" b="1">
                <a:solidFill>
                  <a:srgbClr val="1688C2"/>
                </a:solidFill>
                <a:latin typeface="DejaVu Sans"/>
                <a:ea typeface="DejaVu Sans"/>
                <a:cs typeface="DejaVu Sans"/>
              </a:rPr>
              <a:t>◆  Corporate</a:t>
            </a:r>
          </a:p>
        </p:txBody>
      </p:sp>
      <p:sp>
        <p:nvSpPr>
          <p:cNvPr id="16" name="">
            <a:extLst xmlns:a="http://schemas.openxmlformats.org/drawingml/2006/main">
              <a:ext uri="{FF2B5EF4-FFF2-40B4-BE49-F238E27FC236}">
                <a16:creationId xmlns:a16="http://schemas.microsoft.com/office/drawing/2014/main" id="{1376F0A1-ABB9-45E8-8DF9-87F064C7EB52}"/>
              </a:ext>
            </a:extLst>
          </p:cNvPr>
          <p:cNvSpPr>
            <a:spLocks xmlns:a="http://schemas.openxmlformats.org/drawingml/2006/main" noGrp="1"/>
          </p:cNvSpPr>
          <p:nvPr/>
        </p:nvSpPr>
        <p:spPr>
          <a:xfrm xmlns:a="http://schemas.openxmlformats.org/drawingml/2006/main">
            <a:off x="3448050" y="5962650"/>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88C2"/>
                </a:solidFill>
                <a:latin typeface="DejaVu Sans"/>
                <a:ea typeface="DejaVu Sans"/>
                <a:cs typeface="DejaVu Sans"/>
              </a:defRPr>
            </a:pPr>
            <a:r>
              <a:rPr sz="1800" b="1">
                <a:solidFill>
                  <a:srgbClr val="1688C2"/>
                </a:solidFill>
                <a:latin typeface="DejaVu Sans"/>
                <a:ea typeface="DejaVu Sans"/>
                <a:cs typeface="DejaVu Sans"/>
              </a:rPr>
              <a:t>11</a:t>
            </a:r>
          </a:p>
        </p:txBody>
      </p:sp>
      <p:sp>
        <p:nvSpPr>
          <p:cNvPr id="17" name="">
            <a:extLst xmlns:a="http://schemas.openxmlformats.org/drawingml/2006/main">
              <a:ext uri="{FF2B5EF4-FFF2-40B4-BE49-F238E27FC236}">
                <a16:creationId xmlns:a16="http://schemas.microsoft.com/office/drawing/2014/main" id="{F54F7DED-E6FE-4AC4-8881-9823A8A53593}"/>
              </a:ext>
            </a:extLst>
          </p:cNvPr>
          <p:cNvSpPr>
            <a:spLocks xmlns:a="http://schemas.openxmlformats.org/drawingml/2006/main" noGrp="1"/>
          </p:cNvSpPr>
          <p:nvPr/>
        </p:nvSpPr>
        <p:spPr>
          <a:xfrm xmlns:a="http://schemas.openxmlformats.org/drawingml/2006/main">
            <a:off x="6172200" y="5610225"/>
            <a:ext cx="2667000" cy="676275"/>
          </a:xfrm>
          <a:prstGeom xmlns:a="http://schemas.openxmlformats.org/drawingml/2006/main" prst="roundRect">
            <a:avLst>
              <a:gd name="adj" fmla="val 16901"/>
            </a:avLst>
          </a:prstGeom>
          <a:solidFill xmlns:a="http://schemas.openxmlformats.org/drawingml/2006/main">
            <a:srgbClr val="F0EAF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FC5DB803-DF8E-46FC-8632-63438F3B7E0F}"/>
              </a:ext>
            </a:extLst>
          </p:cNvPr>
          <p:cNvSpPr>
            <a:spLocks xmlns:a="http://schemas.openxmlformats.org/drawingml/2006/main" noGrp="1"/>
          </p:cNvSpPr>
          <p:nvPr/>
        </p:nvSpPr>
        <p:spPr>
          <a:xfrm xmlns:a="http://schemas.openxmlformats.org/drawingml/2006/main">
            <a:off x="6305550" y="570547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875BC5"/>
                </a:solidFill>
                <a:latin typeface="DejaVu Sans"/>
                <a:ea typeface="DejaVu Sans"/>
                <a:cs typeface="DejaVu Sans"/>
              </a:defRPr>
            </a:pPr>
            <a:r>
              <a:rPr sz="1275" b="1">
                <a:solidFill>
                  <a:srgbClr val="875BC5"/>
                </a:solidFill>
                <a:latin typeface="DejaVu Sans"/>
                <a:ea typeface="DejaVu Sans"/>
                <a:cs typeface="DejaVu Sans"/>
              </a:rPr>
              <a:t>▣  Escrow</a:t>
            </a:r>
          </a:p>
        </p:txBody>
      </p:sp>
      <p:sp>
        <p:nvSpPr>
          <p:cNvPr id="19" name="">
            <a:extLst xmlns:a="http://schemas.openxmlformats.org/drawingml/2006/main">
              <a:ext uri="{FF2B5EF4-FFF2-40B4-BE49-F238E27FC236}">
                <a16:creationId xmlns:a16="http://schemas.microsoft.com/office/drawing/2014/main" id="{FFE9500B-A657-4DAD-BA66-A8E4406642D1}"/>
              </a:ext>
            </a:extLst>
          </p:cNvPr>
          <p:cNvSpPr>
            <a:spLocks xmlns:a="http://schemas.openxmlformats.org/drawingml/2006/main" noGrp="1"/>
          </p:cNvSpPr>
          <p:nvPr/>
        </p:nvSpPr>
        <p:spPr>
          <a:xfrm xmlns:a="http://schemas.openxmlformats.org/drawingml/2006/main">
            <a:off x="6305550" y="5962650"/>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75BC5"/>
                </a:solidFill>
                <a:latin typeface="DejaVu Sans"/>
                <a:ea typeface="DejaVu Sans"/>
                <a:cs typeface="DejaVu Sans"/>
              </a:defRPr>
            </a:pPr>
            <a:r>
              <a:rPr sz="1800" b="1">
                <a:solidFill>
                  <a:srgbClr val="875BC5"/>
                </a:solidFill>
                <a:latin typeface="DejaVu Sans"/>
                <a:ea typeface="DejaVu Sans"/>
                <a:cs typeface="DejaVu Sans"/>
              </a:rPr>
              <a:t>1</a:t>
            </a:r>
          </a:p>
        </p:txBody>
      </p:sp>
      <p:sp>
        <p:nvSpPr>
          <p:cNvPr id="20" name="">
            <a:extLst xmlns:a="http://schemas.openxmlformats.org/drawingml/2006/main">
              <a:ext uri="{FF2B5EF4-FFF2-40B4-BE49-F238E27FC236}">
                <a16:creationId xmlns:a16="http://schemas.microsoft.com/office/drawing/2014/main" id="{EE97A230-7EBF-4821-8AC4-D9AF1C5EADF1}"/>
              </a:ext>
            </a:extLst>
          </p:cNvPr>
          <p:cNvSpPr>
            <a:spLocks xmlns:a="http://schemas.openxmlformats.org/drawingml/2006/main" noGrp="1"/>
          </p:cNvSpPr>
          <p:nvPr/>
        </p:nvSpPr>
        <p:spPr>
          <a:xfrm xmlns:a="http://schemas.openxmlformats.org/drawingml/2006/main">
            <a:off x="9029700" y="5610225"/>
            <a:ext cx="2667000" cy="676275"/>
          </a:xfrm>
          <a:prstGeom xmlns:a="http://schemas.openxmlformats.org/drawingml/2006/main" prst="roundRect">
            <a:avLst>
              <a:gd name="adj" fmla="val 16901"/>
            </a:avLst>
          </a:prstGeom>
          <a:solidFill xmlns:a="http://schemas.openxmlformats.org/drawingml/2006/main">
            <a:srgbClr val="FFF4D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68380040-0C84-48D2-AA74-95FC35542DD7}"/>
              </a:ext>
            </a:extLst>
          </p:cNvPr>
          <p:cNvSpPr>
            <a:spLocks xmlns:a="http://schemas.openxmlformats.org/drawingml/2006/main" noGrp="1"/>
          </p:cNvSpPr>
          <p:nvPr/>
        </p:nvSpPr>
        <p:spPr>
          <a:xfrm xmlns:a="http://schemas.openxmlformats.org/drawingml/2006/main">
            <a:off x="9163050" y="5705475"/>
            <a:ext cx="1714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CC7D16"/>
                </a:solidFill>
                <a:latin typeface="DejaVu Sans"/>
                <a:ea typeface="DejaVu Sans"/>
                <a:cs typeface="DejaVu Sans"/>
              </a:defRPr>
            </a:pPr>
            <a:r>
              <a:rPr sz="1275" b="1">
                <a:solidFill>
                  <a:srgbClr val="CC7D16"/>
                </a:solidFill>
                <a:latin typeface="DejaVu Sans"/>
                <a:ea typeface="DejaVu Sans"/>
                <a:cs typeface="DejaVu Sans"/>
              </a:rPr>
              <a:t>◉  BBU</a:t>
            </a:r>
          </a:p>
        </p:txBody>
      </p:sp>
      <p:sp>
        <p:nvSpPr>
          <p:cNvPr id="22" name="">
            <a:extLst xmlns:a="http://schemas.openxmlformats.org/drawingml/2006/main">
              <a:ext uri="{FF2B5EF4-FFF2-40B4-BE49-F238E27FC236}">
                <a16:creationId xmlns:a16="http://schemas.microsoft.com/office/drawing/2014/main" id="{C819E56C-9D7A-4A5E-8875-C55F54367BE5}"/>
              </a:ext>
            </a:extLst>
          </p:cNvPr>
          <p:cNvSpPr>
            <a:spLocks xmlns:a="http://schemas.openxmlformats.org/drawingml/2006/main" noGrp="1"/>
          </p:cNvSpPr>
          <p:nvPr/>
        </p:nvSpPr>
        <p:spPr>
          <a:xfrm xmlns:a="http://schemas.openxmlformats.org/drawingml/2006/main">
            <a:off x="9163050" y="5962650"/>
            <a:ext cx="23717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CC7D16"/>
                </a:solidFill>
                <a:latin typeface="DejaVu Sans"/>
                <a:ea typeface="DejaVu Sans"/>
                <a:cs typeface="DejaVu Sans"/>
              </a:defRPr>
            </a:pPr>
            <a:r>
              <a:rPr sz="1800" b="1">
                <a:solidFill>
                  <a:srgbClr val="CC7D16"/>
                </a:solidFill>
                <a:latin typeface="DejaVu Sans"/>
                <a:ea typeface="DejaVu Sans"/>
                <a:cs typeface="DejaVu Sans"/>
              </a:rPr>
              <a:t>214</a:t>
            </a:r>
          </a:p>
        </p:txBody>
      </p:sp>
    </p:spTree>
    <p:extLst>
      <p:ext uri="{BB962C8B-B14F-4D97-AF65-F5344CB8AC3E}">
        <p14:creationId xmlns:p14="http://schemas.microsoft.com/office/powerpoint/2010/main" val="171429130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4F37A2E-F753-42B0-BFE5-A74C42255830}"/>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FEE6D43D-B56F-430D-AE0B-06D51D7D2FF1}"/>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CRM live delivery spans controls and customer workflows</a:t>
            </a:r>
          </a:p>
        </p:txBody>
      </p:sp>
      <p:sp>
        <p:nvSpPr>
          <p:cNvPr id="3" name="">
            <a:extLst xmlns:a="http://schemas.openxmlformats.org/drawingml/2006/main">
              <a:ext uri="{FF2B5EF4-FFF2-40B4-BE49-F238E27FC236}">
                <a16:creationId xmlns:a16="http://schemas.microsoft.com/office/drawing/2014/main" id="{BAF0593A-1FAE-4447-B3C7-CC03DE6D6A87}"/>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15 live entries: 7 CRM-owned and 8 supporting, as labelled in the demand list.</a:t>
            </a:r>
          </a:p>
        </p:txBody>
      </p:sp>
      <p:sp>
        <p:nvSpPr>
          <p:cNvPr id="4" name="">
            <a:extLst xmlns:a="http://schemas.openxmlformats.org/drawingml/2006/main">
              <a:ext uri="{FF2B5EF4-FFF2-40B4-BE49-F238E27FC236}">
                <a16:creationId xmlns:a16="http://schemas.microsoft.com/office/drawing/2014/main" id="{9F3B58B8-D3E6-49D3-949D-1FAB3404F1FC}"/>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461610EB-C597-41B2-A287-764AB4BDCA02}"/>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13</a:t>
            </a:r>
          </a:p>
        </p:txBody>
      </p:sp>
      <p:sp>
        <p:nvSpPr>
          <p:cNvPr id="6" name="">
            <a:extLst xmlns:a="http://schemas.openxmlformats.org/drawingml/2006/main">
              <a:ext uri="{FF2B5EF4-FFF2-40B4-BE49-F238E27FC236}">
                <a16:creationId xmlns:a16="http://schemas.microsoft.com/office/drawing/2014/main" id="{C80D72AD-6E86-44D0-BB2E-462C8B417748}"/>
              </a:ext>
            </a:extLst>
          </p:cNvPr>
          <p:cNvSpPr>
            <a:spLocks xmlns:a="http://schemas.openxmlformats.org/drawingml/2006/main" noGrp="1"/>
          </p:cNvSpPr>
          <p:nvPr/>
        </p:nvSpPr>
        <p:spPr>
          <a:xfrm xmlns:a="http://schemas.openxmlformats.org/drawingml/2006/main">
            <a:off x="457200" y="2133600"/>
            <a:ext cx="5543550" cy="4114800"/>
          </a:xfrm>
          <a:prstGeom xmlns:a="http://schemas.openxmlformats.org/drawingml/2006/main" prst="roundRect">
            <a:avLst>
              <a:gd name="adj" fmla="val 2778"/>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29B70646-A3DF-4308-B916-FAFC15B165BB}"/>
              </a:ext>
            </a:extLst>
          </p:cNvPr>
          <p:cNvSpPr>
            <a:spLocks xmlns:a="http://schemas.openxmlformats.org/drawingml/2006/main" noGrp="1"/>
          </p:cNvSpPr>
          <p:nvPr/>
        </p:nvSpPr>
        <p:spPr>
          <a:xfrm xmlns:a="http://schemas.openxmlformats.org/drawingml/2006/main">
            <a:off x="628650" y="2266950"/>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  CRM-owned delivery (7)</a:t>
            </a:r>
          </a:p>
        </p:txBody>
      </p:sp>
      <p:sp>
        <p:nvSpPr>
          <p:cNvPr id="8" name="">
            <a:extLst xmlns:a="http://schemas.openxmlformats.org/drawingml/2006/main">
              <a:ext uri="{FF2B5EF4-FFF2-40B4-BE49-F238E27FC236}">
                <a16:creationId xmlns:a16="http://schemas.microsoft.com/office/drawing/2014/main" id="{D31EC682-EB9B-41A7-81CB-3F523C4BF4C1}"/>
              </a:ext>
            </a:extLst>
          </p:cNvPr>
          <p:cNvSpPr>
            <a:spLocks xmlns:a="http://schemas.openxmlformats.org/drawingml/2006/main" noGrp="1"/>
          </p:cNvSpPr>
          <p:nvPr/>
        </p:nvSpPr>
        <p:spPr>
          <a:xfrm xmlns:a="http://schemas.openxmlformats.org/drawingml/2006/main">
            <a:off x="628650" y="2743200"/>
            <a:ext cx="5200650" cy="3400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DMGT-1352: CPR bulk personal-data consent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DIBITP-163: CRM data archival setup</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DMGT-304: Fax indemnity flag modification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DMGT-719: Auto-closure enhancement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DMGT-1262: Electronic-signature re-push</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from CRM / Tablet / Mobile Banking</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DMGT-1222: Aggregator sales channel for CRAT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DMGT-1364: Email upon complaint closure</a:t>
            </a:r>
          </a:p>
        </p:txBody>
      </p:sp>
      <p:sp>
        <p:nvSpPr>
          <p:cNvPr id="9" name="">
            <a:extLst xmlns:a="http://schemas.openxmlformats.org/drawingml/2006/main">
              <a:ext uri="{FF2B5EF4-FFF2-40B4-BE49-F238E27FC236}">
                <a16:creationId xmlns:a16="http://schemas.microsoft.com/office/drawing/2014/main" id="{D0E2D363-4E12-486E-903F-F3373BCDC167}"/>
              </a:ext>
            </a:extLst>
          </p:cNvPr>
          <p:cNvSpPr>
            <a:spLocks xmlns:a="http://schemas.openxmlformats.org/drawingml/2006/main" noGrp="1"/>
          </p:cNvSpPr>
          <p:nvPr/>
        </p:nvSpPr>
        <p:spPr>
          <a:xfrm xmlns:a="http://schemas.openxmlformats.org/drawingml/2006/main">
            <a:off x="6191250" y="2133600"/>
            <a:ext cx="5543550" cy="4114800"/>
          </a:xfrm>
          <a:prstGeom xmlns:a="http://schemas.openxmlformats.org/drawingml/2006/main" prst="roundRect">
            <a:avLst>
              <a:gd name="adj" fmla="val 2778"/>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DB5ACA1-7A3E-4F9A-972B-617BD0F8E5EC}"/>
              </a:ext>
            </a:extLst>
          </p:cNvPr>
          <p:cNvSpPr>
            <a:spLocks xmlns:a="http://schemas.openxmlformats.org/drawingml/2006/main" noGrp="1"/>
          </p:cNvSpPr>
          <p:nvPr/>
        </p:nvSpPr>
        <p:spPr>
          <a:xfrm xmlns:a="http://schemas.openxmlformats.org/drawingml/2006/main">
            <a:off x="6362700" y="2266950"/>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Supporting delivery (8)</a:t>
            </a:r>
          </a:p>
        </p:txBody>
      </p:sp>
      <p:sp>
        <p:nvSpPr>
          <p:cNvPr id="11" name="">
            <a:extLst xmlns:a="http://schemas.openxmlformats.org/drawingml/2006/main">
              <a:ext uri="{FF2B5EF4-FFF2-40B4-BE49-F238E27FC236}">
                <a16:creationId xmlns:a16="http://schemas.microsoft.com/office/drawing/2014/main" id="{0D344E73-F542-4906-9CC7-DAA4BBCE2BEE}"/>
              </a:ext>
            </a:extLst>
          </p:cNvPr>
          <p:cNvSpPr>
            <a:spLocks xmlns:a="http://schemas.openxmlformats.org/drawingml/2006/main" noGrp="1"/>
          </p:cNvSpPr>
          <p:nvPr/>
        </p:nvSpPr>
        <p:spPr>
          <a:xfrm xmlns:a="http://schemas.openxmlformats.org/drawingml/2006/main">
            <a:off x="6362700" y="2743200"/>
            <a:ext cx="5200650" cy="3400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DMGT-125: Digital Salam Contract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DMGT-1567: SA-10 additional currencies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DMGT-951: FinnOne PDC automation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DIBITP-2747: Kafka Event Hub upgrade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DMGT-22: Millionaire ESG Saving Account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DMGT-1334: KYC Phase 2</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DMGT-929: FATCA / CRS controls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DMGT-1506: 3DS CB Mandate for KONY</a:t>
            </a:r>
          </a:p>
        </p:txBody>
      </p:sp>
    </p:spTree>
    <p:extLst>
      <p:ext uri="{BB962C8B-B14F-4D97-AF65-F5344CB8AC3E}">
        <p14:creationId xmlns:p14="http://schemas.microsoft.com/office/powerpoint/2010/main" val="13544477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320D0D4-3CED-4E0F-BA67-3030643E0E32}"/>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D63A1B07-D36B-44A2-8D1C-21BB871A98DE}"/>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CRM execution covers compliance, security and integrations</a:t>
            </a:r>
          </a:p>
        </p:txBody>
      </p:sp>
      <p:sp>
        <p:nvSpPr>
          <p:cNvPr id="3" name="">
            <a:extLst xmlns:a="http://schemas.openxmlformats.org/drawingml/2006/main">
              <a:ext uri="{FF2B5EF4-FFF2-40B4-BE49-F238E27FC236}">
                <a16:creationId xmlns:a16="http://schemas.microsoft.com/office/drawing/2014/main" id="{F4472A46-1609-48FF-A0CB-064F7EF6E9A8}"/>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16 in-progress entries: 9 CRM-owned and 7 supporting.</a:t>
            </a:r>
          </a:p>
        </p:txBody>
      </p:sp>
      <p:sp>
        <p:nvSpPr>
          <p:cNvPr id="4" name="">
            <a:extLst xmlns:a="http://schemas.openxmlformats.org/drawingml/2006/main">
              <a:ext uri="{FF2B5EF4-FFF2-40B4-BE49-F238E27FC236}">
                <a16:creationId xmlns:a16="http://schemas.microsoft.com/office/drawing/2014/main" id="{DDBDBFDB-3FAA-4A5F-8F01-70B6BA60F6CA}"/>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F0070063-160B-40B8-83F8-BA1A1852CD0C}"/>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14</a:t>
            </a:r>
          </a:p>
        </p:txBody>
      </p:sp>
      <p:sp>
        <p:nvSpPr>
          <p:cNvPr id="6" name="">
            <a:extLst xmlns:a="http://schemas.openxmlformats.org/drawingml/2006/main">
              <a:ext uri="{FF2B5EF4-FFF2-40B4-BE49-F238E27FC236}">
                <a16:creationId xmlns:a16="http://schemas.microsoft.com/office/drawing/2014/main" id="{0B5705F7-9A98-4194-A506-B8FBE5290125}"/>
              </a:ext>
            </a:extLst>
          </p:cNvPr>
          <p:cNvSpPr>
            <a:spLocks xmlns:a="http://schemas.openxmlformats.org/drawingml/2006/main" noGrp="1"/>
          </p:cNvSpPr>
          <p:nvPr/>
        </p:nvSpPr>
        <p:spPr>
          <a:xfrm xmlns:a="http://schemas.openxmlformats.org/drawingml/2006/main">
            <a:off x="457200" y="2133600"/>
            <a:ext cx="5543550" cy="4114800"/>
          </a:xfrm>
          <a:prstGeom xmlns:a="http://schemas.openxmlformats.org/drawingml/2006/main" prst="roundRect">
            <a:avLst>
              <a:gd name="adj" fmla="val 2778"/>
            </a:avLst>
          </a:prstGeom>
          <a:solidFill xmlns:a="http://schemas.openxmlformats.org/drawingml/2006/main">
            <a:srgbClr val="F0EAF9"/>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47E948B-36AA-479B-9C2D-D685C3110B08}"/>
              </a:ext>
            </a:extLst>
          </p:cNvPr>
          <p:cNvSpPr>
            <a:spLocks xmlns:a="http://schemas.openxmlformats.org/drawingml/2006/main" noGrp="1"/>
          </p:cNvSpPr>
          <p:nvPr/>
        </p:nvSpPr>
        <p:spPr>
          <a:xfrm xmlns:a="http://schemas.openxmlformats.org/drawingml/2006/main">
            <a:off x="628650" y="2266950"/>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  CRM-owned execution (9)</a:t>
            </a:r>
          </a:p>
        </p:txBody>
      </p:sp>
      <p:sp>
        <p:nvSpPr>
          <p:cNvPr id="8" name="">
            <a:extLst xmlns:a="http://schemas.openxmlformats.org/drawingml/2006/main">
              <a:ext uri="{FF2B5EF4-FFF2-40B4-BE49-F238E27FC236}">
                <a16:creationId xmlns:a16="http://schemas.microsoft.com/office/drawing/2014/main" id="{ED133DB3-4DA4-4E94-AF39-83FE92547AFD}"/>
              </a:ext>
            </a:extLst>
          </p:cNvPr>
          <p:cNvSpPr>
            <a:spLocks xmlns:a="http://schemas.openxmlformats.org/drawingml/2006/main" noGrp="1"/>
          </p:cNvSpPr>
          <p:nvPr/>
        </p:nvSpPr>
        <p:spPr>
          <a:xfrm xmlns:a="http://schemas.openxmlformats.org/drawingml/2006/main">
            <a:off x="628650" y="2743200"/>
            <a:ext cx="5200650" cy="3400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DMGT-1244: Investment Banking onboarding</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DMGT-28: CDD / EDD automation for asset IR cases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DMGT-714: Customer 360 statements / blacklist flag</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DMGT-1453: Email-to-case conversion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DMGT-1345: HNWI / client class / investment risk</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DMGT-976: FinnOne integration with Tesla</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DMGT-1980: Staging controls / RTB readiness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DMGT-1406: CPR implementation gap fixes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DMGT-1598: CRM security fix</a:t>
            </a:r>
          </a:p>
        </p:txBody>
      </p:sp>
      <p:sp>
        <p:nvSpPr>
          <p:cNvPr id="9" name="">
            <a:extLst xmlns:a="http://schemas.openxmlformats.org/drawingml/2006/main">
              <a:ext uri="{FF2B5EF4-FFF2-40B4-BE49-F238E27FC236}">
                <a16:creationId xmlns:a16="http://schemas.microsoft.com/office/drawing/2014/main" id="{D926F701-7E4B-49D7-BFD1-5ABE5B84342D}"/>
              </a:ext>
            </a:extLst>
          </p:cNvPr>
          <p:cNvSpPr>
            <a:spLocks xmlns:a="http://schemas.openxmlformats.org/drawingml/2006/main" noGrp="1"/>
          </p:cNvSpPr>
          <p:nvPr/>
        </p:nvSpPr>
        <p:spPr>
          <a:xfrm xmlns:a="http://schemas.openxmlformats.org/drawingml/2006/main">
            <a:off x="6191250" y="2133600"/>
            <a:ext cx="5543550" cy="4114800"/>
          </a:xfrm>
          <a:prstGeom xmlns:a="http://schemas.openxmlformats.org/drawingml/2006/main" prst="roundRect">
            <a:avLst>
              <a:gd name="adj" fmla="val 2778"/>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14923C5-1070-45FD-BF00-EF87DC444714}"/>
              </a:ext>
            </a:extLst>
          </p:cNvPr>
          <p:cNvSpPr>
            <a:spLocks xmlns:a="http://schemas.openxmlformats.org/drawingml/2006/main" noGrp="1"/>
          </p:cNvSpPr>
          <p:nvPr/>
        </p:nvSpPr>
        <p:spPr>
          <a:xfrm xmlns:a="http://schemas.openxmlformats.org/drawingml/2006/main">
            <a:off x="6362700" y="2266950"/>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Supporting execution (7)</a:t>
            </a:r>
          </a:p>
        </p:txBody>
      </p:sp>
      <p:sp>
        <p:nvSpPr>
          <p:cNvPr id="11" name="">
            <a:extLst xmlns:a="http://schemas.openxmlformats.org/drawingml/2006/main">
              <a:ext uri="{FF2B5EF4-FFF2-40B4-BE49-F238E27FC236}">
                <a16:creationId xmlns:a16="http://schemas.microsoft.com/office/drawing/2014/main" id="{CA29A6E8-4CFB-4E38-B80A-733578CF3E82}"/>
              </a:ext>
            </a:extLst>
          </p:cNvPr>
          <p:cNvSpPr>
            <a:spLocks xmlns:a="http://schemas.openxmlformats.org/drawingml/2006/main" noGrp="1"/>
          </p:cNvSpPr>
          <p:nvPr/>
        </p:nvSpPr>
        <p:spPr>
          <a:xfrm xmlns:a="http://schemas.openxmlformats.org/drawingml/2006/main">
            <a:off x="6362700" y="2743200"/>
            <a:ext cx="5200650" cy="3400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AIG: A-Ignite support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DMGT-1020: Onboarding dedupe controls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DMGT-960: E-Invoice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DMGT-1680: New Emirati Covered Card</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DMGT-1842: EFR</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DMGT-1272: Five-field input validation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DMGT-1272: Engagement Platform Drop 2 (Unica)</a:t>
            </a:r>
          </a:p>
          <a:p xmlns:a="http://schemas.openxmlformats.org/drawingml/2006/main">
            <a:r>
              <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Two different entries share DMGT-1272.</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Confirm identity before unique-demand reporting.</a:t>
            </a:r>
          </a:p>
        </p:txBody>
      </p:sp>
    </p:spTree>
    <p:extLst>
      <p:ext uri="{BB962C8B-B14F-4D97-AF65-F5344CB8AC3E}">
        <p14:creationId xmlns:p14="http://schemas.microsoft.com/office/powerpoint/2010/main" val="118070126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
            <a:extLst xmlns:a="http://schemas.openxmlformats.org/drawingml/2006/main">
              <a:ext uri="{FF2B5EF4-FFF2-40B4-BE49-F238E27FC236}">
                <a16:creationId xmlns:a16="http://schemas.microsoft.com/office/drawing/2014/main" id="{39EA4117-527F-46A7-8128-52DD8B61BA4F}"/>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74A83316-CDC3-4D6D-81F4-B9A9B5619498}"/>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CRM cloud migration needs a defined execution approach</a:t>
            </a:r>
          </a:p>
        </p:txBody>
      </p:sp>
      <p:sp>
        <p:nvSpPr>
          <p:cNvPr id="3" name="">
            <a:extLst xmlns:a="http://schemas.openxmlformats.org/drawingml/2006/main">
              <a:ext uri="{FF2B5EF4-FFF2-40B4-BE49-F238E27FC236}">
                <a16:creationId xmlns:a16="http://schemas.microsoft.com/office/drawing/2014/main" id="{6EF5F98C-5009-4C59-9ADC-CF20006C5C46}"/>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Latest overview targets Q3 2027. The demand list records cloud migration as under discussion.</a:t>
            </a:r>
          </a:p>
        </p:txBody>
      </p:sp>
      <p:sp>
        <p:nvSpPr>
          <p:cNvPr id="4" name="">
            <a:extLst xmlns:a="http://schemas.openxmlformats.org/drawingml/2006/main">
              <a:ext uri="{FF2B5EF4-FFF2-40B4-BE49-F238E27FC236}">
                <a16:creationId xmlns:a16="http://schemas.microsoft.com/office/drawing/2014/main" id="{5327884D-15BA-4E05-B567-80DB713A7E5C}"/>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6CDD0C4A-84F2-42AD-A5E5-59BC123C26F5}"/>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15</a:t>
            </a:r>
          </a:p>
        </p:txBody>
      </p:sp>
      <p:sp>
        <p:nvSpPr>
          <p:cNvPr id="6" name="">
            <a:extLst xmlns:a="http://schemas.openxmlformats.org/drawingml/2006/main">
              <a:ext uri="{FF2B5EF4-FFF2-40B4-BE49-F238E27FC236}">
                <a16:creationId xmlns:a16="http://schemas.microsoft.com/office/drawing/2014/main" id="{A0FE0FBD-243D-4E17-99A5-7A52C05D6AC1}"/>
              </a:ext>
            </a:extLst>
          </p:cNvPr>
          <p:cNvSpPr>
            <a:spLocks xmlns:a="http://schemas.openxmlformats.org/drawingml/2006/main" noGrp="1"/>
          </p:cNvSpPr>
          <p:nvPr/>
        </p:nvSpPr>
        <p:spPr>
          <a:xfrm xmlns:a="http://schemas.openxmlformats.org/drawingml/2006/main">
            <a:off x="457200" y="2133600"/>
            <a:ext cx="3657600" cy="1828800"/>
          </a:xfrm>
          <a:prstGeom xmlns:a="http://schemas.openxmlformats.org/drawingml/2006/main" prst="roundRect">
            <a:avLst>
              <a:gd name="adj" fmla="val 6250"/>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78AE29BD-BCBE-4737-80A8-C58F81E2A64F}"/>
              </a:ext>
            </a:extLst>
          </p:cNvPr>
          <p:cNvSpPr>
            <a:spLocks xmlns:a="http://schemas.openxmlformats.org/drawingml/2006/main" noGrp="1"/>
          </p:cNvSpPr>
          <p:nvPr/>
        </p:nvSpPr>
        <p:spPr>
          <a:xfrm xmlns:a="http://schemas.openxmlformats.org/drawingml/2006/main">
            <a:off x="609600" y="227647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087F68"/>
                </a:solidFill>
                <a:latin typeface="DejaVu Sans"/>
                <a:ea typeface="DejaVu Sans"/>
                <a:cs typeface="DejaVu Sans"/>
              </a:defRPr>
            </a:pPr>
            <a:r>
              <a:rPr sz="2025" b="1">
                <a:solidFill>
                  <a:srgbClr val="087F68"/>
                </a:solidFill>
                <a:latin typeface="DejaVu Sans"/>
                <a:ea typeface="DejaVu Sans"/>
                <a:cs typeface="DejaVu Sans"/>
              </a:rPr>
              <a:t>◉  Now</a:t>
            </a:r>
          </a:p>
        </p:txBody>
      </p:sp>
      <p:sp>
        <p:nvSpPr>
          <p:cNvPr id="8" name="">
            <a:extLst xmlns:a="http://schemas.openxmlformats.org/drawingml/2006/main">
              <a:ext uri="{FF2B5EF4-FFF2-40B4-BE49-F238E27FC236}">
                <a16:creationId xmlns:a16="http://schemas.microsoft.com/office/drawing/2014/main" id="{96DFB161-016A-4679-BF36-4B511CCFCF0A}"/>
              </a:ext>
            </a:extLst>
          </p:cNvPr>
          <p:cNvSpPr>
            <a:spLocks xmlns:a="http://schemas.openxmlformats.org/drawingml/2006/main" noGrp="1"/>
          </p:cNvSpPr>
          <p:nvPr/>
        </p:nvSpPr>
        <p:spPr>
          <a:xfrm xmlns:a="http://schemas.openxmlformats.org/drawingml/2006/main">
            <a:off x="609600" y="27432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Planning / discussion</a:t>
            </a:r>
          </a:p>
        </p:txBody>
      </p:sp>
      <p:sp>
        <p:nvSpPr>
          <p:cNvPr id="9" name="">
            <a:extLst xmlns:a="http://schemas.openxmlformats.org/drawingml/2006/main">
              <a:ext uri="{FF2B5EF4-FFF2-40B4-BE49-F238E27FC236}">
                <a16:creationId xmlns:a16="http://schemas.microsoft.com/office/drawing/2014/main" id="{F16BF66D-70A5-4EA3-BF44-520BEC868ECC}"/>
              </a:ext>
            </a:extLst>
          </p:cNvPr>
          <p:cNvSpPr>
            <a:spLocks xmlns:a="http://schemas.openxmlformats.org/drawingml/2006/main" noGrp="1"/>
          </p:cNvSpPr>
          <p:nvPr/>
        </p:nvSpPr>
        <p:spPr>
          <a:xfrm xmlns:a="http://schemas.openxmlformats.org/drawingml/2006/main">
            <a:off x="609600" y="3190875"/>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Agree scope, dependencies</a:t>
            </a:r>
          </a:p>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and migration approach</a:t>
            </a:r>
          </a:p>
        </p:txBody>
      </p:sp>
      <p:sp>
        <p:nvSpPr>
          <p:cNvPr id="10" name="">
            <a:extLst xmlns:a="http://schemas.openxmlformats.org/drawingml/2006/main">
              <a:ext uri="{FF2B5EF4-FFF2-40B4-BE49-F238E27FC236}">
                <a16:creationId xmlns:a16="http://schemas.microsoft.com/office/drawing/2014/main" id="{ACC6F4B3-744B-40E6-A3E3-64B2B73E180A}"/>
              </a:ext>
            </a:extLst>
          </p:cNvPr>
          <p:cNvSpPr>
            <a:spLocks xmlns:a="http://schemas.openxmlformats.org/drawingml/2006/main" noGrp="1"/>
          </p:cNvSpPr>
          <p:nvPr/>
        </p:nvSpPr>
        <p:spPr>
          <a:xfrm xmlns:a="http://schemas.openxmlformats.org/drawingml/2006/main">
            <a:off x="4133850" y="2790825"/>
            <a:ext cx="11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647B89"/>
                </a:solidFill>
                <a:latin typeface="DejaVu Sans"/>
                <a:ea typeface="DejaVu Sans"/>
                <a:cs typeface="DejaVu Sans"/>
              </a:defRPr>
            </a:pPr>
            <a:r>
              <a:rPr sz="2100" b="1">
                <a:solidFill>
                  <a:srgbClr val="647B89"/>
                </a:solidFill>
                <a:latin typeface="DejaVu Sans"/>
                <a:ea typeface="DejaVu Sans"/>
                <a:cs typeface="DejaVu Sans"/>
              </a:rPr>
              <a:t>›</a:t>
            </a:r>
          </a:p>
        </p:txBody>
      </p:sp>
      <p:sp>
        <p:nvSpPr>
          <p:cNvPr id="11" name="">
            <a:extLst xmlns:a="http://schemas.openxmlformats.org/drawingml/2006/main">
              <a:ext uri="{FF2B5EF4-FFF2-40B4-BE49-F238E27FC236}">
                <a16:creationId xmlns:a16="http://schemas.microsoft.com/office/drawing/2014/main" id="{42642AC3-FBCF-4574-B6E3-9F7CB1351DB8}"/>
              </a:ext>
            </a:extLst>
          </p:cNvPr>
          <p:cNvSpPr>
            <a:spLocks xmlns:a="http://schemas.openxmlformats.org/drawingml/2006/main" noGrp="1"/>
          </p:cNvSpPr>
          <p:nvPr/>
        </p:nvSpPr>
        <p:spPr>
          <a:xfrm xmlns:a="http://schemas.openxmlformats.org/drawingml/2006/main">
            <a:off x="4267200" y="2133600"/>
            <a:ext cx="3657600" cy="1828800"/>
          </a:xfrm>
          <a:prstGeom xmlns:a="http://schemas.openxmlformats.org/drawingml/2006/main" prst="roundRect">
            <a:avLst>
              <a:gd name="adj" fmla="val 6250"/>
            </a:avLst>
          </a:prstGeom>
          <a:solidFill xmlns:a="http://schemas.openxmlformats.org/drawingml/2006/main">
            <a:srgbClr val="E8F3F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5221D56-8BF1-42A1-B114-B474C46B4DCC}"/>
              </a:ext>
            </a:extLst>
          </p:cNvPr>
          <p:cNvSpPr>
            <a:spLocks xmlns:a="http://schemas.openxmlformats.org/drawingml/2006/main" noGrp="1"/>
          </p:cNvSpPr>
          <p:nvPr/>
        </p:nvSpPr>
        <p:spPr>
          <a:xfrm xmlns:a="http://schemas.openxmlformats.org/drawingml/2006/main">
            <a:off x="4419600" y="227647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688C2"/>
                </a:solidFill>
                <a:latin typeface="DejaVu Sans"/>
                <a:ea typeface="DejaVu Sans"/>
                <a:cs typeface="DejaVu Sans"/>
              </a:defRPr>
            </a:pPr>
            <a:r>
              <a:rPr sz="2025" b="1">
                <a:solidFill>
                  <a:srgbClr val="1688C2"/>
                </a:solidFill>
                <a:latin typeface="DejaVu Sans"/>
                <a:ea typeface="DejaVu Sans"/>
                <a:cs typeface="DejaVu Sans"/>
              </a:rPr>
              <a:t>⚙  Preparation</a:t>
            </a:r>
          </a:p>
        </p:txBody>
      </p:sp>
      <p:sp>
        <p:nvSpPr>
          <p:cNvPr id="13" name="">
            <a:extLst xmlns:a="http://schemas.openxmlformats.org/drawingml/2006/main">
              <a:ext uri="{FF2B5EF4-FFF2-40B4-BE49-F238E27FC236}">
                <a16:creationId xmlns:a16="http://schemas.microsoft.com/office/drawing/2014/main" id="{37E1D075-DDD5-4D4B-81A4-4A7EA9D84317}"/>
              </a:ext>
            </a:extLst>
          </p:cNvPr>
          <p:cNvSpPr>
            <a:spLocks xmlns:a="http://schemas.openxmlformats.org/drawingml/2006/main" noGrp="1"/>
          </p:cNvSpPr>
          <p:nvPr/>
        </p:nvSpPr>
        <p:spPr>
          <a:xfrm xmlns:a="http://schemas.openxmlformats.org/drawingml/2006/main">
            <a:off x="4419600" y="27432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Readiness work</a:t>
            </a:r>
          </a:p>
        </p:txBody>
      </p:sp>
      <p:sp>
        <p:nvSpPr>
          <p:cNvPr id="14" name="">
            <a:extLst xmlns:a="http://schemas.openxmlformats.org/drawingml/2006/main">
              <a:ext uri="{FF2B5EF4-FFF2-40B4-BE49-F238E27FC236}">
                <a16:creationId xmlns:a16="http://schemas.microsoft.com/office/drawing/2014/main" id="{FE42F361-075A-42A0-B20D-E1F701D8DA56}"/>
              </a:ext>
            </a:extLst>
          </p:cNvPr>
          <p:cNvSpPr>
            <a:spLocks xmlns:a="http://schemas.openxmlformats.org/drawingml/2006/main" noGrp="1"/>
          </p:cNvSpPr>
          <p:nvPr/>
        </p:nvSpPr>
        <p:spPr>
          <a:xfrm xmlns:a="http://schemas.openxmlformats.org/drawingml/2006/main">
            <a:off x="4419600" y="3190875"/>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Define recovery, testing</a:t>
            </a:r>
          </a:p>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and cutover acceptance</a:t>
            </a:r>
          </a:p>
        </p:txBody>
      </p:sp>
      <p:sp>
        <p:nvSpPr>
          <p:cNvPr id="15" name="">
            <a:extLst xmlns:a="http://schemas.openxmlformats.org/drawingml/2006/main">
              <a:ext uri="{FF2B5EF4-FFF2-40B4-BE49-F238E27FC236}">
                <a16:creationId xmlns:a16="http://schemas.microsoft.com/office/drawing/2014/main" id="{4AF38EF9-3C48-4269-8F4C-EB90F642386B}"/>
              </a:ext>
            </a:extLst>
          </p:cNvPr>
          <p:cNvSpPr>
            <a:spLocks xmlns:a="http://schemas.openxmlformats.org/drawingml/2006/main" noGrp="1"/>
          </p:cNvSpPr>
          <p:nvPr/>
        </p:nvSpPr>
        <p:spPr>
          <a:xfrm xmlns:a="http://schemas.openxmlformats.org/drawingml/2006/main">
            <a:off x="7943850" y="2790825"/>
            <a:ext cx="1143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647B89"/>
                </a:solidFill>
                <a:latin typeface="DejaVu Sans"/>
                <a:ea typeface="DejaVu Sans"/>
                <a:cs typeface="DejaVu Sans"/>
              </a:defRPr>
            </a:pPr>
            <a:r>
              <a:rPr sz="2100" b="1">
                <a:solidFill>
                  <a:srgbClr val="647B89"/>
                </a:solidFill>
                <a:latin typeface="DejaVu Sans"/>
                <a:ea typeface="DejaVu Sans"/>
                <a:cs typeface="DejaVu Sans"/>
              </a:rPr>
              <a:t>›</a:t>
            </a:r>
          </a:p>
        </p:txBody>
      </p:sp>
      <p:sp>
        <p:nvSpPr>
          <p:cNvPr id="16" name="">
            <a:extLst xmlns:a="http://schemas.openxmlformats.org/drawingml/2006/main">
              <a:ext uri="{FF2B5EF4-FFF2-40B4-BE49-F238E27FC236}">
                <a16:creationId xmlns:a16="http://schemas.microsoft.com/office/drawing/2014/main" id="{CEA8CDC2-E7A1-45BB-A02B-B0E44FD81FDF}"/>
              </a:ext>
            </a:extLst>
          </p:cNvPr>
          <p:cNvSpPr>
            <a:spLocks xmlns:a="http://schemas.openxmlformats.org/drawingml/2006/main" noGrp="1"/>
          </p:cNvSpPr>
          <p:nvPr/>
        </p:nvSpPr>
        <p:spPr>
          <a:xfrm xmlns:a="http://schemas.openxmlformats.org/drawingml/2006/main">
            <a:off x="8077200" y="2133600"/>
            <a:ext cx="3657600" cy="1828800"/>
          </a:xfrm>
          <a:prstGeom xmlns:a="http://schemas.openxmlformats.org/drawingml/2006/main" prst="roundRect">
            <a:avLst>
              <a:gd name="adj" fmla="val 6250"/>
            </a:avLst>
          </a:prstGeom>
          <a:solidFill xmlns:a="http://schemas.openxmlformats.org/drawingml/2006/main">
            <a:srgbClr val="F0EAF9"/>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AC826BEC-9F97-4E2F-A547-CC0CF5A8F1DD}"/>
              </a:ext>
            </a:extLst>
          </p:cNvPr>
          <p:cNvSpPr>
            <a:spLocks xmlns:a="http://schemas.openxmlformats.org/drawingml/2006/main" noGrp="1"/>
          </p:cNvSpPr>
          <p:nvPr/>
        </p:nvSpPr>
        <p:spPr>
          <a:xfrm xmlns:a="http://schemas.openxmlformats.org/drawingml/2006/main">
            <a:off x="8229600" y="227647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875BC5"/>
                </a:solidFill>
                <a:latin typeface="DejaVu Sans"/>
                <a:ea typeface="DejaVu Sans"/>
                <a:cs typeface="DejaVu Sans"/>
              </a:defRPr>
            </a:pPr>
            <a:r>
              <a:rPr sz="2025" b="1">
                <a:solidFill>
                  <a:srgbClr val="875BC5"/>
                </a:solidFill>
                <a:latin typeface="DejaVu Sans"/>
                <a:ea typeface="DejaVu Sans"/>
                <a:cs typeface="DejaVu Sans"/>
              </a:rPr>
              <a:t>☁  Q3 2027</a:t>
            </a:r>
          </a:p>
        </p:txBody>
      </p:sp>
      <p:sp>
        <p:nvSpPr>
          <p:cNvPr id="18" name="">
            <a:extLst xmlns:a="http://schemas.openxmlformats.org/drawingml/2006/main">
              <a:ext uri="{FF2B5EF4-FFF2-40B4-BE49-F238E27FC236}">
                <a16:creationId xmlns:a16="http://schemas.microsoft.com/office/drawing/2014/main" id="{27382366-D455-4698-A6F0-A4DAB7F18C36}"/>
              </a:ext>
            </a:extLst>
          </p:cNvPr>
          <p:cNvSpPr>
            <a:spLocks xmlns:a="http://schemas.openxmlformats.org/drawingml/2006/main" noGrp="1"/>
          </p:cNvSpPr>
          <p:nvPr/>
        </p:nvSpPr>
        <p:spPr>
          <a:xfrm xmlns:a="http://schemas.openxmlformats.org/drawingml/2006/main">
            <a:off x="8229600" y="2743200"/>
            <a:ext cx="333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Source target</a:t>
            </a:r>
          </a:p>
        </p:txBody>
      </p:sp>
      <p:sp>
        <p:nvSpPr>
          <p:cNvPr id="19" name="">
            <a:extLst xmlns:a="http://schemas.openxmlformats.org/drawingml/2006/main">
              <a:ext uri="{FF2B5EF4-FFF2-40B4-BE49-F238E27FC236}">
                <a16:creationId xmlns:a16="http://schemas.microsoft.com/office/drawing/2014/main" id="{54FCE6CA-5878-4B29-986C-F0207F2C71B4}"/>
              </a:ext>
            </a:extLst>
          </p:cNvPr>
          <p:cNvSpPr>
            <a:spLocks xmlns:a="http://schemas.openxmlformats.org/drawingml/2006/main" noGrp="1"/>
          </p:cNvSpPr>
          <p:nvPr/>
        </p:nvSpPr>
        <p:spPr>
          <a:xfrm xmlns:a="http://schemas.openxmlformats.org/drawingml/2006/main">
            <a:off x="8229600" y="3190875"/>
            <a:ext cx="3333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Prepare for execution</a:t>
            </a:r>
          </a:p>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Confirm baseline and dates</a:t>
            </a:r>
          </a:p>
        </p:txBody>
      </p:sp>
      <p:sp>
        <p:nvSpPr>
          <p:cNvPr id="20" name="">
            <a:extLst xmlns:a="http://schemas.openxmlformats.org/drawingml/2006/main">
              <a:ext uri="{FF2B5EF4-FFF2-40B4-BE49-F238E27FC236}">
                <a16:creationId xmlns:a16="http://schemas.microsoft.com/office/drawing/2014/main" id="{82088004-5633-4CA9-AADB-8829249807EA}"/>
              </a:ext>
            </a:extLst>
          </p:cNvPr>
          <p:cNvSpPr>
            <a:spLocks xmlns:a="http://schemas.openxmlformats.org/drawingml/2006/main" noGrp="1"/>
          </p:cNvSpPr>
          <p:nvPr/>
        </p:nvSpPr>
        <p:spPr>
          <a:xfrm xmlns:a="http://schemas.openxmlformats.org/drawingml/2006/main">
            <a:off x="457200" y="4238625"/>
            <a:ext cx="1123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087F68"/>
                </a:solidFill>
                <a:latin typeface="DejaVu Sans"/>
                <a:ea typeface="DejaVu Sans"/>
                <a:cs typeface="DejaVu Sans"/>
              </a:defRPr>
            </a:pPr>
            <a:r>
              <a:rPr sz="1950" b="1">
                <a:solidFill>
                  <a:srgbClr val="087F68"/>
                </a:solidFill>
                <a:latin typeface="DejaVu Sans"/>
                <a:ea typeface="DejaVu Sans"/>
                <a:cs typeface="DejaVu Sans"/>
              </a:rPr>
              <a:t>Four entries under discussion</a:t>
            </a:r>
          </a:p>
        </p:txBody>
      </p:sp>
      <p:sp>
        <p:nvSpPr>
          <p:cNvPr id="21" name="">
            <a:extLst xmlns:a="http://schemas.openxmlformats.org/drawingml/2006/main">
              <a:ext uri="{FF2B5EF4-FFF2-40B4-BE49-F238E27FC236}">
                <a16:creationId xmlns:a16="http://schemas.microsoft.com/office/drawing/2014/main" id="{1A10FD60-92CB-40D3-AFA4-CD993499B0B7}"/>
              </a:ext>
            </a:extLst>
          </p:cNvPr>
          <p:cNvSpPr>
            <a:spLocks xmlns:a="http://schemas.openxmlformats.org/drawingml/2006/main" noGrp="1"/>
          </p:cNvSpPr>
          <p:nvPr/>
        </p:nvSpPr>
        <p:spPr>
          <a:xfrm xmlns:a="http://schemas.openxmlformats.org/drawingml/2006/main">
            <a:off x="457200" y="4772025"/>
            <a:ext cx="2667000" cy="1381125"/>
          </a:xfrm>
          <a:prstGeom xmlns:a="http://schemas.openxmlformats.org/drawingml/2006/main" prst="roundRect">
            <a:avLst>
              <a:gd name="adj" fmla="val 8276"/>
            </a:avLst>
          </a:prstGeom>
          <a:solidFill xmlns:a="http://schemas.openxmlformats.org/drawingml/2006/main">
            <a:srgbClr val="E6F6F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230494AB-6348-4D2B-8065-04465B0D81E6}"/>
              </a:ext>
            </a:extLst>
          </p:cNvPr>
          <p:cNvSpPr>
            <a:spLocks xmlns:a="http://schemas.openxmlformats.org/drawingml/2006/main" noGrp="1"/>
          </p:cNvSpPr>
          <p:nvPr/>
        </p:nvSpPr>
        <p:spPr>
          <a:xfrm xmlns:a="http://schemas.openxmlformats.org/drawingml/2006/main">
            <a:off x="571500" y="48958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  DMGT-710</a:t>
            </a:r>
          </a:p>
        </p:txBody>
      </p:sp>
      <p:sp>
        <p:nvSpPr>
          <p:cNvPr id="23" name="">
            <a:extLst xmlns:a="http://schemas.openxmlformats.org/drawingml/2006/main">
              <a:ext uri="{FF2B5EF4-FFF2-40B4-BE49-F238E27FC236}">
                <a16:creationId xmlns:a16="http://schemas.microsoft.com/office/drawing/2014/main" id="{6D36C80F-4217-4152-86B6-936A4BAAE116}"/>
              </a:ext>
            </a:extLst>
          </p:cNvPr>
          <p:cNvSpPr>
            <a:spLocks xmlns:a="http://schemas.openxmlformats.org/drawingml/2006/main" noGrp="1"/>
          </p:cNvSpPr>
          <p:nvPr/>
        </p:nvSpPr>
        <p:spPr>
          <a:xfrm xmlns:a="http://schemas.openxmlformats.org/drawingml/2006/main">
            <a:off x="571500" y="5334000"/>
            <a:ext cx="2438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CRM migration to cloud</a:t>
            </a:r>
          </a:p>
        </p:txBody>
      </p:sp>
      <p:sp>
        <p:nvSpPr>
          <p:cNvPr id="24" name="">
            <a:extLst xmlns:a="http://schemas.openxmlformats.org/drawingml/2006/main">
              <a:ext uri="{FF2B5EF4-FFF2-40B4-BE49-F238E27FC236}">
                <a16:creationId xmlns:a16="http://schemas.microsoft.com/office/drawing/2014/main" id="{A5B1BA83-B354-4D8D-87A5-0F76BB83827C}"/>
              </a:ext>
            </a:extLst>
          </p:cNvPr>
          <p:cNvSpPr>
            <a:spLocks xmlns:a="http://schemas.openxmlformats.org/drawingml/2006/main" noGrp="1"/>
          </p:cNvSpPr>
          <p:nvPr/>
        </p:nvSpPr>
        <p:spPr>
          <a:xfrm xmlns:a="http://schemas.openxmlformats.org/drawingml/2006/main">
            <a:off x="3314700" y="4772025"/>
            <a:ext cx="2667000" cy="1381125"/>
          </a:xfrm>
          <a:prstGeom xmlns:a="http://schemas.openxmlformats.org/drawingml/2006/main" prst="roundRect">
            <a:avLst>
              <a:gd name="adj" fmla="val 8276"/>
            </a:avLst>
          </a:prstGeom>
          <a:solidFill xmlns:a="http://schemas.openxmlformats.org/drawingml/2006/main">
            <a:srgbClr val="E8F3F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053FED06-F3D4-407E-8CD5-9022BB2A7C2F}"/>
              </a:ext>
            </a:extLst>
          </p:cNvPr>
          <p:cNvSpPr>
            <a:spLocks xmlns:a="http://schemas.openxmlformats.org/drawingml/2006/main" noGrp="1"/>
          </p:cNvSpPr>
          <p:nvPr/>
        </p:nvSpPr>
        <p:spPr>
          <a:xfrm xmlns:a="http://schemas.openxmlformats.org/drawingml/2006/main">
            <a:off x="3429000" y="48958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88C2"/>
                </a:solidFill>
                <a:latin typeface="DejaVu Sans"/>
                <a:ea typeface="DejaVu Sans"/>
                <a:cs typeface="DejaVu Sans"/>
              </a:defRPr>
            </a:pPr>
            <a:r>
              <a:rPr sz="1725" b="1">
                <a:solidFill>
                  <a:srgbClr val="1688C2"/>
                </a:solidFill>
                <a:latin typeface="DejaVu Sans"/>
                <a:ea typeface="DejaVu Sans"/>
                <a:cs typeface="DejaVu Sans"/>
              </a:rPr>
              <a:t>✉  DMGT-1154</a:t>
            </a:r>
          </a:p>
        </p:txBody>
      </p:sp>
      <p:sp>
        <p:nvSpPr>
          <p:cNvPr id="26" name="">
            <a:extLst xmlns:a="http://schemas.openxmlformats.org/drawingml/2006/main">
              <a:ext uri="{FF2B5EF4-FFF2-40B4-BE49-F238E27FC236}">
                <a16:creationId xmlns:a16="http://schemas.microsoft.com/office/drawing/2014/main" id="{8128A0C1-BC3E-4D2E-B88E-8076C7900721}"/>
              </a:ext>
            </a:extLst>
          </p:cNvPr>
          <p:cNvSpPr>
            <a:spLocks xmlns:a="http://schemas.openxmlformats.org/drawingml/2006/main" noGrp="1"/>
          </p:cNvSpPr>
          <p:nvPr/>
        </p:nvSpPr>
        <p:spPr>
          <a:xfrm xmlns:a="http://schemas.openxmlformats.org/drawingml/2006/main">
            <a:off x="3429000" y="5334000"/>
            <a:ext cx="2438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Complaint management transformation</a:t>
            </a:r>
          </a:p>
        </p:txBody>
      </p:sp>
      <p:sp>
        <p:nvSpPr>
          <p:cNvPr id="27" name="">
            <a:extLst xmlns:a="http://schemas.openxmlformats.org/drawingml/2006/main">
              <a:ext uri="{FF2B5EF4-FFF2-40B4-BE49-F238E27FC236}">
                <a16:creationId xmlns:a16="http://schemas.microsoft.com/office/drawing/2014/main" id="{624BA1BC-E709-4209-A856-1CFDB052DAFA}"/>
              </a:ext>
            </a:extLst>
          </p:cNvPr>
          <p:cNvSpPr>
            <a:spLocks xmlns:a="http://schemas.openxmlformats.org/drawingml/2006/main" noGrp="1"/>
          </p:cNvSpPr>
          <p:nvPr/>
        </p:nvSpPr>
        <p:spPr>
          <a:xfrm xmlns:a="http://schemas.openxmlformats.org/drawingml/2006/main">
            <a:off x="6172200" y="4772025"/>
            <a:ext cx="2667000" cy="1381125"/>
          </a:xfrm>
          <a:prstGeom xmlns:a="http://schemas.openxmlformats.org/drawingml/2006/main" prst="roundRect">
            <a:avLst>
              <a:gd name="adj" fmla="val 8276"/>
            </a:avLst>
          </a:prstGeom>
          <a:solidFill xmlns:a="http://schemas.openxmlformats.org/drawingml/2006/main">
            <a:srgbClr val="F0EAF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5AE26CE2-C160-4EC9-BD81-1DCC79A1F22C}"/>
              </a:ext>
            </a:extLst>
          </p:cNvPr>
          <p:cNvSpPr>
            <a:spLocks xmlns:a="http://schemas.openxmlformats.org/drawingml/2006/main" noGrp="1"/>
          </p:cNvSpPr>
          <p:nvPr/>
        </p:nvSpPr>
        <p:spPr>
          <a:xfrm xmlns:a="http://schemas.openxmlformats.org/drawingml/2006/main">
            <a:off x="6286500" y="48958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875BC5"/>
                </a:solidFill>
                <a:latin typeface="DejaVu Sans"/>
                <a:ea typeface="DejaVu Sans"/>
                <a:cs typeface="DejaVu Sans"/>
              </a:defRPr>
            </a:pPr>
            <a:r>
              <a:rPr sz="1725" b="1">
                <a:solidFill>
                  <a:srgbClr val="875BC5"/>
                </a:solidFill>
                <a:latin typeface="DejaVu Sans"/>
                <a:ea typeface="DejaVu Sans"/>
                <a:cs typeface="DejaVu Sans"/>
              </a:rPr>
              <a:t>◉  DMGT-2336</a:t>
            </a:r>
          </a:p>
        </p:txBody>
      </p:sp>
      <p:sp>
        <p:nvSpPr>
          <p:cNvPr id="29" name="">
            <a:extLst xmlns:a="http://schemas.openxmlformats.org/drawingml/2006/main">
              <a:ext uri="{FF2B5EF4-FFF2-40B4-BE49-F238E27FC236}">
                <a16:creationId xmlns:a16="http://schemas.microsoft.com/office/drawing/2014/main" id="{76C55D77-9A02-48B7-AC13-7DDD05D05D9A}"/>
              </a:ext>
            </a:extLst>
          </p:cNvPr>
          <p:cNvSpPr>
            <a:spLocks xmlns:a="http://schemas.openxmlformats.org/drawingml/2006/main" noGrp="1"/>
          </p:cNvSpPr>
          <p:nvPr/>
        </p:nvSpPr>
        <p:spPr>
          <a:xfrm xmlns:a="http://schemas.openxmlformats.org/drawingml/2006/main">
            <a:off x="6286500" y="5334000"/>
            <a:ext cx="2438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Fraud / dispute workflows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Accounts and cards</a:t>
            </a:r>
          </a:p>
        </p:txBody>
      </p:sp>
      <p:sp>
        <p:nvSpPr>
          <p:cNvPr id="30" name="">
            <a:extLst xmlns:a="http://schemas.openxmlformats.org/drawingml/2006/main">
              <a:ext uri="{FF2B5EF4-FFF2-40B4-BE49-F238E27FC236}">
                <a16:creationId xmlns:a16="http://schemas.microsoft.com/office/drawing/2014/main" id="{F96BB225-96B5-4E67-BFF2-3CDE3C3D55AF}"/>
              </a:ext>
            </a:extLst>
          </p:cNvPr>
          <p:cNvSpPr>
            <a:spLocks xmlns:a="http://schemas.openxmlformats.org/drawingml/2006/main" noGrp="1"/>
          </p:cNvSpPr>
          <p:nvPr/>
        </p:nvSpPr>
        <p:spPr>
          <a:xfrm xmlns:a="http://schemas.openxmlformats.org/drawingml/2006/main">
            <a:off x="9029700" y="4772025"/>
            <a:ext cx="2667000" cy="1381125"/>
          </a:xfrm>
          <a:prstGeom xmlns:a="http://schemas.openxmlformats.org/drawingml/2006/main" prst="roundRect">
            <a:avLst>
              <a:gd name="adj" fmla="val 8276"/>
            </a:avLst>
          </a:prstGeom>
          <a:solidFill xmlns:a="http://schemas.openxmlformats.org/drawingml/2006/main">
            <a:srgbClr val="FFF4DE"/>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CE069C7E-09C3-401E-A8D6-1247DA3C8263}"/>
              </a:ext>
            </a:extLst>
          </p:cNvPr>
          <p:cNvSpPr>
            <a:spLocks xmlns:a="http://schemas.openxmlformats.org/drawingml/2006/main" noGrp="1"/>
          </p:cNvSpPr>
          <p:nvPr/>
        </p:nvSpPr>
        <p:spPr>
          <a:xfrm xmlns:a="http://schemas.openxmlformats.org/drawingml/2006/main">
            <a:off x="9144000" y="4895850"/>
            <a:ext cx="24384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CC7D16"/>
                </a:solidFill>
                <a:latin typeface="DejaVu Sans"/>
                <a:ea typeface="DejaVu Sans"/>
                <a:cs typeface="DejaVu Sans"/>
              </a:defRPr>
            </a:pPr>
            <a:r>
              <a:rPr sz="1725" b="1">
                <a:solidFill>
                  <a:srgbClr val="CC7D16"/>
                </a:solidFill>
                <a:latin typeface="DejaVu Sans"/>
                <a:ea typeface="DejaVu Sans"/>
                <a:cs typeface="DejaVu Sans"/>
              </a:rPr>
              <a:t>↗  DMGT-752</a:t>
            </a:r>
          </a:p>
        </p:txBody>
      </p:sp>
      <p:sp>
        <p:nvSpPr>
          <p:cNvPr id="32" name="">
            <a:extLst xmlns:a="http://schemas.openxmlformats.org/drawingml/2006/main">
              <a:ext uri="{FF2B5EF4-FFF2-40B4-BE49-F238E27FC236}">
                <a16:creationId xmlns:a16="http://schemas.microsoft.com/office/drawing/2014/main" id="{F96ED76E-E8C3-4EA6-A8B6-406B1F56E465}"/>
              </a:ext>
            </a:extLst>
          </p:cNvPr>
          <p:cNvSpPr>
            <a:spLocks xmlns:a="http://schemas.openxmlformats.org/drawingml/2006/main" noGrp="1"/>
          </p:cNvSpPr>
          <p:nvPr/>
        </p:nvSpPr>
        <p:spPr>
          <a:xfrm xmlns:a="http://schemas.openxmlformats.org/drawingml/2006/main">
            <a:off x="9144000" y="5334000"/>
            <a:ext cx="24384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Remittance workflow automation</a:t>
            </a:r>
          </a:p>
        </p:txBody>
      </p:sp>
    </p:spTree>
    <p:extLst>
      <p:ext uri="{BB962C8B-B14F-4D97-AF65-F5344CB8AC3E}">
        <p14:creationId xmlns:p14="http://schemas.microsoft.com/office/powerpoint/2010/main" val="304680888"/>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FE331583-1B77-4E18-9434-4D3BD40A8DB5}"/>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1A83402D-8358-470E-B398-B5C3F5E21808}"/>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Call centre: September abandonment needs attention</a:t>
            </a:r>
          </a:p>
        </p:txBody>
      </p:sp>
      <p:sp>
        <p:nvSpPr>
          <p:cNvPr id="3" name="">
            <a:extLst xmlns:a="http://schemas.openxmlformats.org/drawingml/2006/main">
              <a:ext uri="{FF2B5EF4-FFF2-40B4-BE49-F238E27FC236}">
                <a16:creationId xmlns:a16="http://schemas.microsoft.com/office/drawing/2014/main" id="{A3FA43DC-E5C0-4F0A-BF17-59A73277FF57}"/>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Interactive review. Click a coloured topic box to open its detail slide.</a:t>
            </a:r>
          </a:p>
        </p:txBody>
      </p:sp>
      <p:sp>
        <p:nvSpPr>
          <p:cNvPr id="4" name="">
            <a:extLst xmlns:a="http://schemas.openxmlformats.org/drawingml/2006/main">
              <a:ext uri="{FF2B5EF4-FFF2-40B4-BE49-F238E27FC236}">
                <a16:creationId xmlns:a16="http://schemas.microsoft.com/office/drawing/2014/main" id="{C5023D20-C31A-4966-8ADE-80BFED6FB93B}"/>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C890557E-01E3-4A80-92F2-19130683D7F6}"/>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16</a:t>
            </a:r>
          </a:p>
        </p:txBody>
      </p:sp>
      <p:sp>
        <p:nvSpPr>
          <p:cNvPr id="6" name="">
            <a:extLst xmlns:a="http://schemas.openxmlformats.org/drawingml/2006/main">
              <a:ext uri="{FF2B5EF4-FFF2-40B4-BE49-F238E27FC236}">
                <a16:creationId xmlns:a16="http://schemas.microsoft.com/office/drawing/2014/main" id="{EDBE3F9B-8C5A-4F0F-B978-2909E5290D0A}"/>
              </a:ext>
            </a:extLst>
          </p:cNvPr>
          <p:cNvSpPr>
            <a:spLocks xmlns:a="http://schemas.openxmlformats.org/drawingml/2006/main" noGrp="1"/>
          </p:cNvSpPr>
          <p:nvPr/>
        </p:nvSpPr>
        <p:spPr>
          <a:xfrm xmlns:a="http://schemas.openxmlformats.org/drawingml/2006/main">
            <a:off x="457200" y="20955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DB381900-FBCE-484C-8420-D3EFE3A53A04}"/>
              </a:ext>
            </a:extLst>
          </p:cNvPr>
          <p:cNvSpPr>
            <a:spLocks xmlns:a="http://schemas.openxmlformats.org/drawingml/2006/main" noGrp="1"/>
          </p:cNvSpPr>
          <p:nvPr/>
        </p:nvSpPr>
        <p:spPr>
          <a:xfrm xmlns:a="http://schemas.openxmlformats.org/drawingml/2006/main">
            <a:off x="619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446,482</a:t>
            </a:r>
          </a:p>
        </p:txBody>
      </p:sp>
      <p:sp>
        <p:nvSpPr>
          <p:cNvPr id="8" name="">
            <a:extLst xmlns:a="http://schemas.openxmlformats.org/drawingml/2006/main">
              <a:ext uri="{FF2B5EF4-FFF2-40B4-BE49-F238E27FC236}">
                <a16:creationId xmlns:a16="http://schemas.microsoft.com/office/drawing/2014/main" id="{3A203943-FEED-4AA0-81A5-5198ECE97D92}"/>
              </a:ext>
            </a:extLst>
          </p:cNvPr>
          <p:cNvSpPr>
            <a:spLocks xmlns:a="http://schemas.openxmlformats.org/drawingml/2006/main" noGrp="1"/>
          </p:cNvSpPr>
          <p:nvPr/>
        </p:nvSpPr>
        <p:spPr>
          <a:xfrm xmlns:a="http://schemas.openxmlformats.org/drawingml/2006/main">
            <a:off x="619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September IVR calls</a:t>
            </a:r>
          </a:p>
        </p:txBody>
      </p:sp>
      <p:sp>
        <p:nvSpPr>
          <p:cNvPr id="9" name="">
            <a:extLst xmlns:a="http://schemas.openxmlformats.org/drawingml/2006/main">
              <a:ext uri="{FF2B5EF4-FFF2-40B4-BE49-F238E27FC236}">
                <a16:creationId xmlns:a16="http://schemas.microsoft.com/office/drawing/2014/main" id="{72E6E55D-DEAA-4D5C-8544-8E63196C8260}"/>
              </a:ext>
            </a:extLst>
          </p:cNvPr>
          <p:cNvSpPr>
            <a:spLocks xmlns:a="http://schemas.openxmlformats.org/drawingml/2006/main" noGrp="1"/>
          </p:cNvSpPr>
          <p:nvPr/>
        </p:nvSpPr>
        <p:spPr>
          <a:xfrm xmlns:a="http://schemas.openxmlformats.org/drawingml/2006/main">
            <a:off x="3314700" y="20955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C057D39-F46E-4AFA-AAE8-99BF0BC5F43D}"/>
              </a:ext>
            </a:extLst>
          </p:cNvPr>
          <p:cNvSpPr>
            <a:spLocks xmlns:a="http://schemas.openxmlformats.org/drawingml/2006/main" noGrp="1"/>
          </p:cNvSpPr>
          <p:nvPr/>
        </p:nvSpPr>
        <p:spPr>
          <a:xfrm xmlns:a="http://schemas.openxmlformats.org/drawingml/2006/main">
            <a:off x="3476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68.45%</a:t>
            </a:r>
          </a:p>
        </p:txBody>
      </p:sp>
      <p:sp>
        <p:nvSpPr>
          <p:cNvPr id="11" name="">
            <a:extLst xmlns:a="http://schemas.openxmlformats.org/drawingml/2006/main">
              <a:ext uri="{FF2B5EF4-FFF2-40B4-BE49-F238E27FC236}">
                <a16:creationId xmlns:a16="http://schemas.microsoft.com/office/drawing/2014/main" id="{56E3627B-20AA-4C94-B259-BD8A3B8597CA}"/>
              </a:ext>
            </a:extLst>
          </p:cNvPr>
          <p:cNvSpPr>
            <a:spLocks xmlns:a="http://schemas.openxmlformats.org/drawingml/2006/main" noGrp="1"/>
          </p:cNvSpPr>
          <p:nvPr/>
        </p:nvSpPr>
        <p:spPr>
          <a:xfrm xmlns:a="http://schemas.openxmlformats.org/drawingml/2006/main">
            <a:off x="3476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IVR completion</a:t>
            </a:r>
          </a:p>
        </p:txBody>
      </p:sp>
      <p:sp>
        <p:nvSpPr>
          <p:cNvPr id="12" name="">
            <a:extLst xmlns:a="http://schemas.openxmlformats.org/drawingml/2006/main">
              <a:ext uri="{FF2B5EF4-FFF2-40B4-BE49-F238E27FC236}">
                <a16:creationId xmlns:a16="http://schemas.microsoft.com/office/drawing/2014/main" id="{840B5084-2FF1-4E54-B8A9-B74F98018BC4}"/>
              </a:ext>
            </a:extLst>
          </p:cNvPr>
          <p:cNvSpPr>
            <a:spLocks xmlns:a="http://schemas.openxmlformats.org/drawingml/2006/main" noGrp="1"/>
          </p:cNvSpPr>
          <p:nvPr/>
        </p:nvSpPr>
        <p:spPr>
          <a:xfrm xmlns:a="http://schemas.openxmlformats.org/drawingml/2006/main">
            <a:off x="6172200" y="20955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0E80538-8DED-4E04-ADED-F845F2A9FEE6}"/>
              </a:ext>
            </a:extLst>
          </p:cNvPr>
          <p:cNvSpPr>
            <a:spLocks xmlns:a="http://schemas.openxmlformats.org/drawingml/2006/main" noGrp="1"/>
          </p:cNvSpPr>
          <p:nvPr/>
        </p:nvSpPr>
        <p:spPr>
          <a:xfrm xmlns:a="http://schemas.openxmlformats.org/drawingml/2006/main">
            <a:off x="6334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11.77%</a:t>
            </a:r>
          </a:p>
        </p:txBody>
      </p:sp>
      <p:sp>
        <p:nvSpPr>
          <p:cNvPr id="14" name="">
            <a:extLst xmlns:a="http://schemas.openxmlformats.org/drawingml/2006/main">
              <a:ext uri="{FF2B5EF4-FFF2-40B4-BE49-F238E27FC236}">
                <a16:creationId xmlns:a16="http://schemas.microsoft.com/office/drawing/2014/main" id="{D5C0250F-1175-4DD0-BD79-15AE30C46D62}"/>
              </a:ext>
            </a:extLst>
          </p:cNvPr>
          <p:cNvSpPr>
            <a:spLocks xmlns:a="http://schemas.openxmlformats.org/drawingml/2006/main" noGrp="1"/>
          </p:cNvSpPr>
          <p:nvPr/>
        </p:nvSpPr>
        <p:spPr>
          <a:xfrm xmlns:a="http://schemas.openxmlformats.org/drawingml/2006/main">
            <a:off x="6334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call abandonment</a:t>
            </a:r>
          </a:p>
        </p:txBody>
      </p:sp>
      <p:sp>
        <p:nvSpPr>
          <p:cNvPr id="15" name="">
            <a:extLst xmlns:a="http://schemas.openxmlformats.org/drawingml/2006/main">
              <a:ext uri="{FF2B5EF4-FFF2-40B4-BE49-F238E27FC236}">
                <a16:creationId xmlns:a16="http://schemas.microsoft.com/office/drawing/2014/main" id="{0E006918-BA0F-4715-A387-56520147B5D7}"/>
              </a:ext>
            </a:extLst>
          </p:cNvPr>
          <p:cNvSpPr>
            <a:spLocks xmlns:a="http://schemas.openxmlformats.org/drawingml/2006/main" noGrp="1"/>
          </p:cNvSpPr>
          <p:nvPr/>
        </p:nvSpPr>
        <p:spPr>
          <a:xfrm xmlns:a="http://schemas.openxmlformats.org/drawingml/2006/main">
            <a:off x="9029700" y="20955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A0ABC84F-7293-4694-9EB7-B989F27958FF}"/>
              </a:ext>
            </a:extLst>
          </p:cNvPr>
          <p:cNvSpPr>
            <a:spLocks xmlns:a="http://schemas.openxmlformats.org/drawingml/2006/main" noGrp="1"/>
          </p:cNvSpPr>
          <p:nvPr/>
        </p:nvSpPr>
        <p:spPr>
          <a:xfrm xmlns:a="http://schemas.openxmlformats.org/drawingml/2006/main">
            <a:off x="9191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78 / 81</a:t>
            </a:r>
          </a:p>
        </p:txBody>
      </p:sp>
      <p:sp>
        <p:nvSpPr>
          <p:cNvPr id="17" name="">
            <a:extLst xmlns:a="http://schemas.openxmlformats.org/drawingml/2006/main">
              <a:ext uri="{FF2B5EF4-FFF2-40B4-BE49-F238E27FC236}">
                <a16:creationId xmlns:a16="http://schemas.microsoft.com/office/drawing/2014/main" id="{29C94920-EC42-4D23-A4F0-5E3DF2968616}"/>
              </a:ext>
            </a:extLst>
          </p:cNvPr>
          <p:cNvSpPr>
            <a:spLocks xmlns:a="http://schemas.openxmlformats.org/drawingml/2006/main" noGrp="1"/>
          </p:cNvSpPr>
          <p:nvPr/>
        </p:nvSpPr>
        <p:spPr>
          <a:xfrm xmlns:a="http://schemas.openxmlformats.org/drawingml/2006/main">
            <a:off x="9191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incidents closed</a:t>
            </a:r>
          </a:p>
        </p:txBody>
      </p:sp>
      <p:sp>
        <p:nvSpPr>
          <p:cNvPr id="18" name="">
            <a:extLst xmlns:a="http://schemas.openxmlformats.org/drawingml/2006/main">
              <a:ext uri="{FF2B5EF4-FFF2-40B4-BE49-F238E27FC236}">
                <a16:creationId xmlns:a16="http://schemas.microsoft.com/office/drawing/2014/main" id="{6A0E0E9C-8C7C-4FB3-B21B-97B383E3A557}"/>
              </a:ext>
            </a:extLst>
            <ns0:hlinkClick xmlns:ns0="http://schemas.openxmlformats.org/drawingml/2006/main" xmlns:ns1="http://schemas.openxmlformats.org/officeDocument/2006/relationships" ns1:id="rIdCC17" action="ppaction://hlinksldjump"/>
          </p:cNvPr>
          <p:cNvSpPr>
            <a:spLocks xmlns:a="http://schemas.openxmlformats.org/drawingml/2006/main" noGrp="1"/>
          </p:cNvSpPr>
          <p:nvPr/>
        </p:nvSpPr>
        <p:spPr>
          <a:xfrm xmlns:a="http://schemas.openxmlformats.org/drawingml/2006/main">
            <a:off x="457200" y="3524250"/>
            <a:ext cx="3657600" cy="1104900"/>
          </a:xfrm>
          <a:prstGeom xmlns:a="http://schemas.openxmlformats.org/drawingml/2006/main" prst="roundRect">
            <a:avLst>
              <a:gd name="adj" fmla="val 10345"/>
            </a:avLst>
          </a:prstGeom>
          <a:solidFill xmlns:a="http://schemas.openxmlformats.org/drawingml/2006/main">
            <a:srgbClr val="E6F6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2B9F91B-9B2C-45BE-A2AB-FCAEAD8B2197}"/>
              </a:ext>
            </a:extLst>
            <ns2:hlinkClick xmlns:ns2="http://schemas.openxmlformats.org/drawingml/2006/main" xmlns:ns3="http://schemas.openxmlformats.org/officeDocument/2006/relationships" ns3:id="rIdCC17" action="ppaction://hlinksldjump"/>
          </p:cNvPr>
          <p:cNvSpPr>
            <a:spLocks xmlns:a="http://schemas.openxmlformats.org/drawingml/2006/main" noGrp="1"/>
          </p:cNvSpPr>
          <p:nvPr/>
        </p:nvSpPr>
        <p:spPr>
          <a:xfrm xmlns:a="http://schemas.openxmlformats.org/drawingml/2006/main">
            <a:off x="619125" y="36576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  Service trends</a:t>
            </a:r>
          </a:p>
        </p:txBody>
      </p:sp>
      <p:sp>
        <p:nvSpPr>
          <p:cNvPr id="20" name="">
            <a:extLst xmlns:a="http://schemas.openxmlformats.org/drawingml/2006/main">
              <a:ext uri="{FF2B5EF4-FFF2-40B4-BE49-F238E27FC236}">
                <a16:creationId xmlns:a16="http://schemas.microsoft.com/office/drawing/2014/main" id="{7B97FD62-08AC-4B05-8C46-CFDC6ED5721C}"/>
              </a:ext>
            </a:extLst>
            <ns4:hlinkClick xmlns:ns4="http://schemas.openxmlformats.org/drawingml/2006/main" xmlns:ns5="http://schemas.openxmlformats.org/officeDocument/2006/relationships" ns5:id="rIdCC17" action="ppaction://hlinksldjump"/>
          </p:cNvPr>
          <p:cNvSpPr>
            <a:spLocks xmlns:a="http://schemas.openxmlformats.org/drawingml/2006/main" noGrp="1"/>
          </p:cNvSpPr>
          <p:nvPr/>
        </p:nvSpPr>
        <p:spPr>
          <a:xfrm xmlns:a="http://schemas.openxmlformats.org/drawingml/2006/main">
            <a:off x="619125" y="41148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Jan–Sep demand and service outcomes</a:t>
            </a:r>
          </a:p>
        </p:txBody>
      </p:sp>
      <p:sp>
        <p:nvSpPr>
          <p:cNvPr id="21" name="">
            <a:extLst xmlns:a="http://schemas.openxmlformats.org/drawingml/2006/main">
              <a:ext uri="{FF2B5EF4-FFF2-40B4-BE49-F238E27FC236}">
                <a16:creationId xmlns:a16="http://schemas.microsoft.com/office/drawing/2014/main" id="{A41A98B8-0853-4622-A37F-EB52FCBDF86F}"/>
              </a:ext>
            </a:extLst>
            <ns6:hlinkClick xmlns:ns6="http://schemas.openxmlformats.org/drawingml/2006/main" xmlns:ns7="http://schemas.openxmlformats.org/officeDocument/2006/relationships" ns7:id="rIdCC18" action="ppaction://hlinksldjump"/>
          </p:cNvPr>
          <p:cNvSpPr>
            <a:spLocks xmlns:a="http://schemas.openxmlformats.org/drawingml/2006/main" noGrp="1"/>
          </p:cNvSpPr>
          <p:nvPr/>
        </p:nvSpPr>
        <p:spPr>
          <a:xfrm xmlns:a="http://schemas.openxmlformats.org/drawingml/2006/main">
            <a:off x="4267200" y="3524250"/>
            <a:ext cx="3657600" cy="1104900"/>
          </a:xfrm>
          <a:prstGeom xmlns:a="http://schemas.openxmlformats.org/drawingml/2006/main" prst="roundRect">
            <a:avLst>
              <a:gd name="adj" fmla="val 10345"/>
            </a:avLst>
          </a:prstGeom>
          <a:solidFill xmlns:a="http://schemas.openxmlformats.org/drawingml/2006/main">
            <a:srgbClr val="E8F3F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71A16093-F432-41F6-BD4D-E2773F8E5BF8}"/>
              </a:ext>
            </a:extLst>
            <ns8:hlinkClick xmlns:ns8="http://schemas.openxmlformats.org/drawingml/2006/main" xmlns:ns9="http://schemas.openxmlformats.org/officeDocument/2006/relationships" ns9:id="rIdCC18" action="ppaction://hlinksldjump"/>
          </p:cNvPr>
          <p:cNvSpPr>
            <a:spLocks xmlns:a="http://schemas.openxmlformats.org/drawingml/2006/main" noGrp="1"/>
          </p:cNvSpPr>
          <p:nvPr/>
        </p:nvSpPr>
        <p:spPr>
          <a:xfrm xmlns:a="http://schemas.openxmlformats.org/drawingml/2006/main">
            <a:off x="4429125" y="36576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688C2"/>
                </a:solidFill>
                <a:latin typeface="DejaVu Sans"/>
                <a:ea typeface="DejaVu Sans"/>
                <a:cs typeface="DejaVu Sans"/>
              </a:defRPr>
            </a:pPr>
            <a:r>
              <a:rPr sz="1800" b="1">
                <a:solidFill>
                  <a:srgbClr val="1688C2"/>
                </a:solidFill>
                <a:latin typeface="DejaVu Sans"/>
                <a:ea typeface="DejaVu Sans"/>
                <a:cs typeface="DejaVu Sans"/>
              </a:rPr>
              <a:t>✓  Service controls</a:t>
            </a:r>
          </a:p>
        </p:txBody>
      </p:sp>
      <p:sp>
        <p:nvSpPr>
          <p:cNvPr id="23" name="">
            <a:extLst xmlns:a="http://schemas.openxmlformats.org/drawingml/2006/main">
              <a:ext uri="{FF2B5EF4-FFF2-40B4-BE49-F238E27FC236}">
                <a16:creationId xmlns:a16="http://schemas.microsoft.com/office/drawing/2014/main" id="{0078A07C-5277-4B04-9AD5-0D4B442A9EA8}"/>
              </a:ext>
            </a:extLst>
            <ns10:hlinkClick xmlns:ns10="http://schemas.openxmlformats.org/drawingml/2006/main" xmlns:ns11="http://schemas.openxmlformats.org/officeDocument/2006/relationships" ns11:id="rIdCC18" action="ppaction://hlinksldjump"/>
          </p:cNvPr>
          <p:cNvSpPr>
            <a:spLocks xmlns:a="http://schemas.openxmlformats.org/drawingml/2006/main" noGrp="1"/>
          </p:cNvSpPr>
          <p:nvPr/>
        </p:nvSpPr>
        <p:spPr>
          <a:xfrm xmlns:a="http://schemas.openxmlformats.org/drawingml/2006/main">
            <a:off x="4429125" y="41148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Incidents, SLA and authentication</a:t>
            </a:r>
          </a:p>
        </p:txBody>
      </p:sp>
      <p:sp>
        <p:nvSpPr>
          <p:cNvPr id="24" name="">
            <a:extLst xmlns:a="http://schemas.openxmlformats.org/drawingml/2006/main">
              <a:ext uri="{FF2B5EF4-FFF2-40B4-BE49-F238E27FC236}">
                <a16:creationId xmlns:a16="http://schemas.microsoft.com/office/drawing/2014/main" id="{C18598BE-B7A9-4EE3-AAE8-A57A200C83D6}"/>
              </a:ext>
            </a:extLst>
            <ns12:hlinkClick xmlns:ns12="http://schemas.openxmlformats.org/drawingml/2006/main" xmlns:ns13="http://schemas.openxmlformats.org/officeDocument/2006/relationships" ns13:id="rIdCC19" action="ppaction://hlinksldjump"/>
          </p:cNvPr>
          <p:cNvSpPr>
            <a:spLocks xmlns:a="http://schemas.openxmlformats.org/drawingml/2006/main" noGrp="1"/>
          </p:cNvSpPr>
          <p:nvPr/>
        </p:nvSpPr>
        <p:spPr>
          <a:xfrm xmlns:a="http://schemas.openxmlformats.org/drawingml/2006/main">
            <a:off x="8077200" y="3524250"/>
            <a:ext cx="3657600" cy="1104900"/>
          </a:xfrm>
          <a:prstGeom xmlns:a="http://schemas.openxmlformats.org/drawingml/2006/main" prst="roundRect">
            <a:avLst>
              <a:gd name="adj" fmla="val 10345"/>
            </a:avLst>
          </a:prstGeom>
          <a:solidFill xmlns:a="http://schemas.openxmlformats.org/drawingml/2006/main">
            <a:srgbClr val="F0EAF9"/>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ADFF64BE-C238-4652-964E-370B4EA9C800}"/>
              </a:ext>
            </a:extLst>
            <ns14:hlinkClick xmlns:ns14="http://schemas.openxmlformats.org/drawingml/2006/main" xmlns:ns15="http://schemas.openxmlformats.org/officeDocument/2006/relationships" ns15:id="rIdCC19" action="ppaction://hlinksldjump"/>
          </p:cNvPr>
          <p:cNvSpPr>
            <a:spLocks xmlns:a="http://schemas.openxmlformats.org/drawingml/2006/main" noGrp="1"/>
          </p:cNvSpPr>
          <p:nvPr/>
        </p:nvSpPr>
        <p:spPr>
          <a:xfrm xmlns:a="http://schemas.openxmlformats.org/drawingml/2006/main">
            <a:off x="8239125" y="3657600"/>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875BC5"/>
                </a:solidFill>
                <a:latin typeface="DejaVu Sans"/>
                <a:ea typeface="DejaVu Sans"/>
                <a:cs typeface="DejaVu Sans"/>
              </a:defRPr>
            </a:pPr>
            <a:r>
              <a:rPr sz="1800" b="1">
                <a:solidFill>
                  <a:srgbClr val="875BC5"/>
                </a:solidFill>
                <a:latin typeface="DejaVu Sans"/>
                <a:ea typeface="DejaVu Sans"/>
                <a:cs typeface="DejaVu Sans"/>
              </a:rPr>
              <a:t>▦  IVR transactions</a:t>
            </a:r>
          </a:p>
        </p:txBody>
      </p:sp>
      <p:sp>
        <p:nvSpPr>
          <p:cNvPr id="26" name="">
            <a:extLst xmlns:a="http://schemas.openxmlformats.org/drawingml/2006/main">
              <a:ext uri="{FF2B5EF4-FFF2-40B4-BE49-F238E27FC236}">
                <a16:creationId xmlns:a16="http://schemas.microsoft.com/office/drawing/2014/main" id="{4D9CBC56-D4DD-49ED-B92E-45CFD2FF3A81}"/>
              </a:ext>
            </a:extLst>
            <ns16:hlinkClick xmlns:ns16="http://schemas.openxmlformats.org/drawingml/2006/main" xmlns:ns17="http://schemas.openxmlformats.org/officeDocument/2006/relationships" ns17:id="rIdCC19" action="ppaction://hlinksldjump"/>
          </p:cNvPr>
          <p:cNvSpPr>
            <a:spLocks xmlns:a="http://schemas.openxmlformats.org/drawingml/2006/main" noGrp="1"/>
          </p:cNvSpPr>
          <p:nvPr/>
        </p:nvSpPr>
        <p:spPr>
          <a:xfrm xmlns:a="http://schemas.openxmlformats.org/drawingml/2006/main">
            <a:off x="8239125" y="41148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Self-service activity by function</a:t>
            </a:r>
          </a:p>
        </p:txBody>
      </p:sp>
      <p:sp>
        <p:nvSpPr>
          <p:cNvPr id="27" name="">
            <a:extLst xmlns:a="http://schemas.openxmlformats.org/drawingml/2006/main">
              <a:ext uri="{FF2B5EF4-FFF2-40B4-BE49-F238E27FC236}">
                <a16:creationId xmlns:a16="http://schemas.microsoft.com/office/drawing/2014/main" id="{FA4A056B-2598-4310-8792-ECE8C748ACC8}"/>
              </a:ext>
            </a:extLst>
            <ns18:hlinkClick xmlns:ns18="http://schemas.openxmlformats.org/drawingml/2006/main" xmlns:ns19="http://schemas.openxmlformats.org/officeDocument/2006/relationships" ns19:id="rIdCC20" action="ppaction://hlinksldjump"/>
          </p:cNvPr>
          <p:cNvSpPr>
            <a:spLocks xmlns:a="http://schemas.openxmlformats.org/drawingml/2006/main" noGrp="1"/>
          </p:cNvSpPr>
          <p:nvPr/>
        </p:nvSpPr>
        <p:spPr>
          <a:xfrm xmlns:a="http://schemas.openxmlformats.org/drawingml/2006/main">
            <a:off x="457200" y="4791075"/>
            <a:ext cx="3657600" cy="1104900"/>
          </a:xfrm>
          <a:prstGeom xmlns:a="http://schemas.openxmlformats.org/drawingml/2006/main" prst="roundRect">
            <a:avLst>
              <a:gd name="adj" fmla="val 10345"/>
            </a:avLst>
          </a:prstGeom>
          <a:solidFill xmlns:a="http://schemas.openxmlformats.org/drawingml/2006/main">
            <a:srgbClr val="FFF4DE"/>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FA5538F6-DD44-4109-89FA-287C16319213}"/>
              </a:ext>
            </a:extLst>
            <ns20:hlinkClick xmlns:ns20="http://schemas.openxmlformats.org/drawingml/2006/main" xmlns:ns21="http://schemas.openxmlformats.org/officeDocument/2006/relationships" ns21:id="rIdCC20" action="ppaction://hlinksldjump"/>
          </p:cNvPr>
          <p:cNvSpPr>
            <a:spLocks xmlns:a="http://schemas.openxmlformats.org/drawingml/2006/main" noGrp="1"/>
          </p:cNvSpPr>
          <p:nvPr/>
        </p:nvSpPr>
        <p:spPr>
          <a:xfrm xmlns:a="http://schemas.openxmlformats.org/drawingml/2006/main">
            <a:off x="619125" y="49244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CC7D16"/>
                </a:solidFill>
                <a:latin typeface="DejaVu Sans"/>
                <a:ea typeface="DejaVu Sans"/>
                <a:cs typeface="DejaVu Sans"/>
              </a:defRPr>
            </a:pPr>
            <a:r>
              <a:rPr sz="1800" b="1">
                <a:solidFill>
                  <a:srgbClr val="CC7D16"/>
                </a:solidFill>
                <a:latin typeface="DejaVu Sans"/>
                <a:ea typeface="DejaVu Sans"/>
                <a:cs typeface="DejaVu Sans"/>
              </a:rPr>
              <a:t>♙  Agent licences</a:t>
            </a:r>
          </a:p>
        </p:txBody>
      </p:sp>
      <p:sp>
        <p:nvSpPr>
          <p:cNvPr id="29" name="">
            <a:extLst xmlns:a="http://schemas.openxmlformats.org/drawingml/2006/main">
              <a:ext uri="{FF2B5EF4-FFF2-40B4-BE49-F238E27FC236}">
                <a16:creationId xmlns:a16="http://schemas.microsoft.com/office/drawing/2014/main" id="{EA66F982-F422-498E-B37D-1DACFE653AD1}"/>
              </a:ext>
            </a:extLst>
            <ns22:hlinkClick xmlns:ns22="http://schemas.openxmlformats.org/drawingml/2006/main" xmlns:ns23="http://schemas.openxmlformats.org/officeDocument/2006/relationships" ns23:id="rIdCC20" action="ppaction://hlinksldjump"/>
          </p:cNvPr>
          <p:cNvSpPr>
            <a:spLocks xmlns:a="http://schemas.openxmlformats.org/drawingml/2006/main" noGrp="1"/>
          </p:cNvSpPr>
          <p:nvPr/>
        </p:nvSpPr>
        <p:spPr>
          <a:xfrm xmlns:a="http://schemas.openxmlformats.org/drawingml/2006/main">
            <a:off x="619125" y="5381625"/>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Daily usage and capacity evidence</a:t>
            </a:r>
          </a:p>
        </p:txBody>
      </p:sp>
      <p:sp>
        <p:nvSpPr>
          <p:cNvPr id="30" name="">
            <a:extLst xmlns:a="http://schemas.openxmlformats.org/drawingml/2006/main">
              <a:ext uri="{FF2B5EF4-FFF2-40B4-BE49-F238E27FC236}">
                <a16:creationId xmlns:a16="http://schemas.microsoft.com/office/drawing/2014/main" id="{4AD4074B-61CA-4E8A-B3A6-07F696D3BB93}"/>
              </a:ext>
            </a:extLst>
            <ns24:hlinkClick xmlns:ns24="http://schemas.openxmlformats.org/drawingml/2006/main" xmlns:ns25="http://schemas.openxmlformats.org/officeDocument/2006/relationships" ns25:id="rIdCC21" action="ppaction://hlinksldjump"/>
          </p:cNvPr>
          <p:cNvSpPr>
            <a:spLocks xmlns:a="http://schemas.openxmlformats.org/drawingml/2006/main" noGrp="1"/>
          </p:cNvSpPr>
          <p:nvPr/>
        </p:nvSpPr>
        <p:spPr>
          <a:xfrm xmlns:a="http://schemas.openxmlformats.org/drawingml/2006/main">
            <a:off x="4267200" y="4791075"/>
            <a:ext cx="3657600" cy="1104900"/>
          </a:xfrm>
          <a:prstGeom xmlns:a="http://schemas.openxmlformats.org/drawingml/2006/main" prst="roundRect">
            <a:avLst>
              <a:gd name="adj" fmla="val 10345"/>
            </a:avLst>
          </a:prstGeom>
          <a:solidFill xmlns:a="http://schemas.openxmlformats.org/drawingml/2006/main">
            <a:srgbClr val="FCEAF0"/>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26783565-5050-4A2A-8A29-91112841FAF6}"/>
              </a:ext>
            </a:extLst>
            <ns26:hlinkClick xmlns:ns26="http://schemas.openxmlformats.org/drawingml/2006/main" xmlns:ns27="http://schemas.openxmlformats.org/officeDocument/2006/relationships" ns27:id="rIdCC21" action="ppaction://hlinksldjump"/>
          </p:cNvPr>
          <p:cNvSpPr>
            <a:spLocks xmlns:a="http://schemas.openxmlformats.org/drawingml/2006/main" noGrp="1"/>
          </p:cNvSpPr>
          <p:nvPr/>
        </p:nvSpPr>
        <p:spPr>
          <a:xfrm xmlns:a="http://schemas.openxmlformats.org/drawingml/2006/main">
            <a:off x="4429125" y="49244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D35373"/>
                </a:solidFill>
                <a:latin typeface="DejaVu Sans"/>
                <a:ea typeface="DejaVu Sans"/>
                <a:cs typeface="DejaVu Sans"/>
              </a:defRPr>
            </a:pPr>
            <a:r>
              <a:rPr sz="1800" b="1">
                <a:solidFill>
                  <a:srgbClr val="D35373"/>
                </a:solidFill>
                <a:latin typeface="DejaVu Sans"/>
                <a:ea typeface="DejaVu Sans"/>
                <a:cs typeface="DejaVu Sans"/>
              </a:rPr>
              <a:t>☁  Own initiatives</a:t>
            </a:r>
          </a:p>
        </p:txBody>
      </p:sp>
      <p:sp>
        <p:nvSpPr>
          <p:cNvPr id="32" name="">
            <a:extLst xmlns:a="http://schemas.openxmlformats.org/drawingml/2006/main">
              <a:ext uri="{FF2B5EF4-FFF2-40B4-BE49-F238E27FC236}">
                <a16:creationId xmlns:a16="http://schemas.microsoft.com/office/drawing/2014/main" id="{E3909644-B45B-4CB0-9A62-70D6A7B7F6A1}"/>
              </a:ext>
            </a:extLst>
            <ns28:hlinkClick xmlns:ns28="http://schemas.openxmlformats.org/drawingml/2006/main" xmlns:ns29="http://schemas.openxmlformats.org/officeDocument/2006/relationships" ns29:id="rIdCC21" action="ppaction://hlinksldjump"/>
          </p:cNvPr>
          <p:cNvSpPr>
            <a:spLocks xmlns:a="http://schemas.openxmlformats.org/drawingml/2006/main" noGrp="1"/>
          </p:cNvSpPr>
          <p:nvPr/>
        </p:nvSpPr>
        <p:spPr>
          <a:xfrm xmlns:a="http://schemas.openxmlformats.org/drawingml/2006/main">
            <a:off x="4429125" y="5381625"/>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Five demands and cloud roadmap</a:t>
            </a:r>
          </a:p>
        </p:txBody>
      </p:sp>
      <p:sp>
        <p:nvSpPr>
          <p:cNvPr id="33" name="">
            <a:extLst xmlns:a="http://schemas.openxmlformats.org/drawingml/2006/main">
              <a:ext uri="{FF2B5EF4-FFF2-40B4-BE49-F238E27FC236}">
                <a16:creationId xmlns:a16="http://schemas.microsoft.com/office/drawing/2014/main" id="{A3B43D6E-96A9-4FD5-B254-AC479C7B54DC}"/>
              </a:ext>
            </a:extLst>
            <ns30:hlinkClick xmlns:ns30="http://schemas.openxmlformats.org/drawingml/2006/main" xmlns:ns31="http://schemas.openxmlformats.org/officeDocument/2006/relationships" ns31:id="rIdCC22" action="ppaction://hlinksldjump"/>
          </p:cNvPr>
          <p:cNvSpPr>
            <a:spLocks xmlns:a="http://schemas.openxmlformats.org/drawingml/2006/main" noGrp="1"/>
          </p:cNvSpPr>
          <p:nvPr/>
        </p:nvSpPr>
        <p:spPr>
          <a:xfrm xmlns:a="http://schemas.openxmlformats.org/drawingml/2006/main">
            <a:off x="8077200" y="4791075"/>
            <a:ext cx="3657600" cy="1104900"/>
          </a:xfrm>
          <a:prstGeom xmlns:a="http://schemas.openxmlformats.org/drawingml/2006/main" prst="roundRect">
            <a:avLst>
              <a:gd name="adj" fmla="val 10345"/>
            </a:avLst>
          </a:prstGeom>
          <a:solidFill xmlns:a="http://schemas.openxmlformats.org/drawingml/2006/main">
            <a:srgbClr val="EAF3F7"/>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FDF9CD5C-4A0A-4B7D-BA0A-006115DD8A70}"/>
              </a:ext>
            </a:extLst>
            <ns32:hlinkClick xmlns:ns32="http://schemas.openxmlformats.org/drawingml/2006/main" xmlns:ns33="http://schemas.openxmlformats.org/officeDocument/2006/relationships" ns33:id="rIdCC22" action="ppaction://hlinksldjump"/>
          </p:cNvPr>
          <p:cNvSpPr>
            <a:spLocks xmlns:a="http://schemas.openxmlformats.org/drawingml/2006/main" noGrp="1"/>
          </p:cNvSpPr>
          <p:nvPr/>
        </p:nvSpPr>
        <p:spPr>
          <a:xfrm xmlns:a="http://schemas.openxmlformats.org/drawingml/2006/main">
            <a:off x="8239125" y="4924425"/>
            <a:ext cx="333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  Supporting portfolio</a:t>
            </a:r>
          </a:p>
        </p:txBody>
      </p:sp>
      <p:sp>
        <p:nvSpPr>
          <p:cNvPr id="35" name="">
            <a:extLst xmlns:a="http://schemas.openxmlformats.org/drawingml/2006/main">
              <a:ext uri="{FF2B5EF4-FFF2-40B4-BE49-F238E27FC236}">
                <a16:creationId xmlns:a16="http://schemas.microsoft.com/office/drawing/2014/main" id="{267B6353-3994-4A54-97E4-6CFDF35FF610}"/>
              </a:ext>
            </a:extLst>
            <ns34:hlinkClick xmlns:ns34="http://schemas.openxmlformats.org/drawingml/2006/main" xmlns:ns35="http://schemas.openxmlformats.org/officeDocument/2006/relationships" ns35:id="rIdCC22" action="ppaction://hlinksldjump"/>
          </p:cNvPr>
          <p:cNvSpPr>
            <a:spLocks xmlns:a="http://schemas.openxmlformats.org/drawingml/2006/main" noGrp="1"/>
          </p:cNvSpPr>
          <p:nvPr/>
        </p:nvSpPr>
        <p:spPr>
          <a:xfrm xmlns:a="http://schemas.openxmlformats.org/drawingml/2006/main">
            <a:off x="8239125" y="5381625"/>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Thirteen demands across partner teams</a:t>
            </a:r>
          </a:p>
        </p:txBody>
      </p:sp>
    </p:spTree>
    <p:extLst>
      <p:ext uri="{BB962C8B-B14F-4D97-AF65-F5344CB8AC3E}">
        <p14:creationId xmlns:p14="http://schemas.microsoft.com/office/powerpoint/2010/main" val="158916735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DF05188-7B4C-4FC7-BFDB-9775BF90596A}"/>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11A9DC46-F57C-450F-BDD2-37CBFAE4E127}"/>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IVR completion improved slightly as abandonment rose</a:t>
            </a:r>
          </a:p>
        </p:txBody>
      </p:sp>
      <p:sp>
        <p:nvSpPr>
          <p:cNvPr id="3" name="">
            <a:extLst xmlns:a="http://schemas.openxmlformats.org/drawingml/2006/main">
              <a:ext uri="{FF2B5EF4-FFF2-40B4-BE49-F238E27FC236}">
                <a16:creationId xmlns:a16="http://schemas.microsoft.com/office/drawing/2014/main" id="{C5A6622A-5838-48AB-BCC0-01CF4A8D85DC}"/>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September versus August: completion +0.46 percentage points, abandonment +4.31 points.</a:t>
            </a:r>
          </a:p>
        </p:txBody>
      </p:sp>
      <p:sp>
        <p:nvSpPr>
          <p:cNvPr id="4" name="">
            <a:extLst xmlns:a="http://schemas.openxmlformats.org/drawingml/2006/main">
              <a:ext uri="{FF2B5EF4-FFF2-40B4-BE49-F238E27FC236}">
                <a16:creationId xmlns:a16="http://schemas.microsoft.com/office/drawing/2014/main" id="{CD72C671-55C6-4B7F-9823-CF9DB43E7F4C}"/>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F01045F9-CC79-49A6-98BF-74E6D2909F28}"/>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17</a:t>
            </a:r>
          </a:p>
        </p:txBody>
      </p:sp>
      <p:sp>
        <p:nvSpPr>
          <p:cNvPr id="6" name="">
            <a:extLst xmlns:a="http://schemas.openxmlformats.org/drawingml/2006/main">
              <a:ext uri="{FF2B5EF4-FFF2-40B4-BE49-F238E27FC236}">
                <a16:creationId xmlns:a16="http://schemas.microsoft.com/office/drawing/2014/main" id="{2FA6DEE6-3484-488B-9FCB-FD88894AE66E}"/>
              </a:ext>
            </a:extLst>
          </p:cNvPr>
          <p:cNvSpPr>
            <a:spLocks xmlns:a="http://schemas.openxmlformats.org/drawingml/2006/main" noGrp="1"/>
          </p:cNvSpPr>
          <p:nvPr/>
        </p:nvSpPr>
        <p:spPr>
          <a:xfrm xmlns:a="http://schemas.openxmlformats.org/drawingml/2006/main">
            <a:off x="457200" y="2095500"/>
            <a:ext cx="54768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87F68"/>
                </a:solidFill>
                <a:latin typeface="DejaVu Sans"/>
                <a:ea typeface="DejaVu Sans"/>
                <a:cs typeface="DejaVu Sans"/>
              </a:defRPr>
            </a:pPr>
            <a:r>
              <a:rPr sz="1800" b="1">
                <a:solidFill>
                  <a:srgbClr val="087F68"/>
                </a:solidFill>
                <a:latin typeface="DejaVu Sans"/>
                <a:ea typeface="DejaVu Sans"/>
                <a:cs typeface="DejaVu Sans"/>
              </a:rPr>
              <a:t>IVR completion</a:t>
            </a:r>
          </a:p>
        </p:txBody>
      </p:sp>
      <p:graphicFrame>
        <p:nvGraphicFramePr>
          <p:cNvPr id="20" name="Chart"/>
          <p:cNvGraphicFramePr/>
          <p:nvPr/>
        </p:nvGraphicFramePr>
        <p:xfrm>
          <a:off xmlns:a="http://schemas.openxmlformats.org/drawingml/2006/main" x="457200" y="2457450"/>
          <a:ext xmlns:a="http://schemas.openxmlformats.org/drawingml/2006/main" cx="5391150" cy="2009775"/>
        </p:xfrm>
        <a:graphic xmlns:a="http://schemas.openxmlformats.org/drawingml/2006/main">
          <a:graphicData uri="http://schemas.openxmlformats.org/drawingml/2006/chart">
            <c:chart xmlns:r="http://schemas.openxmlformats.org/officeDocument/2006/relationships" xmlns:c="http://schemas.openxmlformats.org/drawingml/2006/chart" r:id="Rbeec734053d64943"/>
          </a:graphicData>
        </a:graphic>
      </p:graphicFrame>
      <p:sp>
        <p:nvSpPr>
          <p:cNvPr id="8" name="">
            <a:extLst xmlns:a="http://schemas.openxmlformats.org/drawingml/2006/main">
              <a:ext uri="{FF2B5EF4-FFF2-40B4-BE49-F238E27FC236}">
                <a16:creationId xmlns:a16="http://schemas.microsoft.com/office/drawing/2014/main" id="{08BEF922-8F39-40AA-AFEC-8F394C083CD0}"/>
              </a:ext>
            </a:extLst>
          </p:cNvPr>
          <p:cNvSpPr>
            <a:spLocks xmlns:a="http://schemas.openxmlformats.org/drawingml/2006/main" noGrp="1"/>
          </p:cNvSpPr>
          <p:nvPr/>
        </p:nvSpPr>
        <p:spPr>
          <a:xfrm xmlns:a="http://schemas.openxmlformats.org/drawingml/2006/main">
            <a:off x="6191250" y="2095500"/>
            <a:ext cx="552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BF6D12"/>
                </a:solidFill>
                <a:latin typeface="DejaVu Sans"/>
                <a:ea typeface="DejaVu Sans"/>
                <a:cs typeface="DejaVu Sans"/>
              </a:defRPr>
            </a:pPr>
            <a:r>
              <a:rPr sz="1800" b="1">
                <a:solidFill>
                  <a:srgbClr val="BF6D12"/>
                </a:solidFill>
                <a:latin typeface="DejaVu Sans"/>
                <a:ea typeface="DejaVu Sans"/>
                <a:cs typeface="DejaVu Sans"/>
              </a:rPr>
              <a:t>Call abandonment</a:t>
            </a:r>
          </a:p>
        </p:txBody>
      </p:sp>
      <p:graphicFrame>
        <p:nvGraphicFramePr>
          <p:cNvPr id="22" name="Chart"/>
          <p:cNvGraphicFramePr/>
          <p:nvPr/>
        </p:nvGraphicFramePr>
        <p:xfrm>
          <a:off xmlns:a="http://schemas.openxmlformats.org/drawingml/2006/main" x="6191250" y="2457450"/>
          <a:ext xmlns:a="http://schemas.openxmlformats.org/drawingml/2006/main" cx="5524500" cy="2009775"/>
        </p:xfrm>
        <a:graphic xmlns:a="http://schemas.openxmlformats.org/drawingml/2006/main">
          <a:graphicData uri="http://schemas.openxmlformats.org/drawingml/2006/chart">
            <c:chart xmlns:r="http://schemas.openxmlformats.org/officeDocument/2006/relationships" xmlns:c="http://schemas.openxmlformats.org/drawingml/2006/chart" r:id="Re132776131d74d40"/>
          </a:graphicData>
        </a:graphic>
      </p:graphicFrame>
      <p:graphicFrame>
        <p:nvGraphicFramePr>
          <p:cNvPr id="23" name="Chart"/>
          <p:cNvGraphicFramePr/>
          <p:nvPr/>
        </p:nvGraphicFramePr>
        <p:xfrm>
          <a:off xmlns:a="http://schemas.openxmlformats.org/drawingml/2006/main" x="457200" y="4667250"/>
          <a:ext xmlns:a="http://schemas.openxmlformats.org/drawingml/2006/main" cx="6858000" cy="1495425"/>
        </p:xfrm>
        <a:graphic xmlns:a="http://schemas.openxmlformats.org/drawingml/2006/main">
          <a:graphicData uri="http://schemas.openxmlformats.org/drawingml/2006/chart">
            <c:chart xmlns:r="http://schemas.openxmlformats.org/officeDocument/2006/relationships" xmlns:c="http://schemas.openxmlformats.org/drawingml/2006/chart" r:id="R65f2749a20934e2c"/>
          </a:graphicData>
        </a:graphic>
      </p:graphicFrame>
      <p:sp>
        <p:nvSpPr>
          <p:cNvPr id="11" name="">
            <a:extLst xmlns:a="http://schemas.openxmlformats.org/drawingml/2006/main">
              <a:ext uri="{FF2B5EF4-FFF2-40B4-BE49-F238E27FC236}">
                <a16:creationId xmlns:a16="http://schemas.microsoft.com/office/drawing/2014/main" id="{2A11A892-D26F-42F3-9881-A3AD2218E2B3}"/>
              </a:ext>
            </a:extLst>
          </p:cNvPr>
          <p:cNvSpPr>
            <a:spLocks xmlns:a="http://schemas.openxmlformats.org/drawingml/2006/main" noGrp="1"/>
          </p:cNvSpPr>
          <p:nvPr/>
        </p:nvSpPr>
        <p:spPr>
          <a:xfrm xmlns:a="http://schemas.openxmlformats.org/drawingml/2006/main">
            <a:off x="7810500" y="4667250"/>
            <a:ext cx="390525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3.92M IVR calls, Jan–Sep</a:t>
            </a:r>
          </a:p>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435,117 average per month</a:t>
            </a:r>
          </a:p>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Peak: July, 454,393</a:t>
            </a:r>
          </a:p>
          <a:p xmlns:a="http://schemas.openxmlformats.org/drawingml/2006/main">
            <a:pPr>
              <a:defRPr sz="1575" b="1">
                <a:solidFill>
                  <a:srgbClr val="173A4B"/>
                </a:solidFill>
                <a:latin typeface="DejaVu Sans"/>
                <a:ea typeface="DejaVu Sans"/>
                <a:cs typeface="DejaVu Sans"/>
              </a:defRPr>
            </a:pPr>
            <a:r>
              <a:rPr sz="1575" b="1">
                <a:solidFill>
                  <a:srgbClr val="173A4B"/>
                </a:solidFill>
                <a:latin typeface="DejaVu Sans"/>
                <a:ea typeface="DejaVu Sans"/>
                <a:cs typeface="DejaVu Sans"/>
              </a:rPr>
              <a:t>Lowest: February, 394,343</a:t>
            </a:r>
          </a:p>
        </p:txBody>
      </p:sp>
      <p:sp>
        <p:nvSpPr>
          <p:cNvPr id="12" name="">
            <a:extLst xmlns:a="http://schemas.openxmlformats.org/drawingml/2006/main">
              <a:ext uri="{FF2B5EF4-FFF2-40B4-BE49-F238E27FC236}">
                <a16:creationId xmlns:a16="http://schemas.microsoft.com/office/drawing/2014/main" id="{21EEE6D1-F70B-4CCD-8B42-637D02D1CDAE}"/>
              </a:ext>
            </a:extLst>
          </p:cNvPr>
          <p:cNvSpPr>
            <a:spLocks xmlns:a="http://schemas.openxmlformats.org/drawingml/2006/main" noGrp="1"/>
          </p:cNvSpPr>
          <p:nvPr/>
        </p:nvSpPr>
        <p:spPr>
          <a:xfrm xmlns:a="http://schemas.openxmlformats.org/drawingml/2006/main">
            <a:off x="457200" y="6238875"/>
            <a:ext cx="11239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647B89"/>
                </a:solidFill>
                <a:latin typeface="DejaVu Sans"/>
                <a:ea typeface="DejaVu Sans"/>
                <a:cs typeface="DejaVu Sans"/>
              </a:defRPr>
            </a:pPr>
            <a:r>
              <a:rPr sz="1200" b="0">
                <a:solidFill>
                  <a:srgbClr val="647B89"/>
                </a:solidFill>
                <a:latin typeface="DejaVu Sans"/>
                <a:ea typeface="DejaVu Sans"/>
                <a:cs typeface="DejaVu Sans"/>
              </a:rPr>
              <a:t>Jan–Sep: 69% completion, 31% transfer. Agent outcomes: 92% answered, 8% abandoned.</a:t>
            </a:r>
          </a:p>
        </p:txBody>
      </p:sp>
      <p:sp>
        <p:nvSpPr>
          <p:cNvPr id="13" name="">
            <a:extLst xmlns:a="http://schemas.openxmlformats.org/drawingml/2006/main">
              <a:ext uri="{FF2B5EF4-FFF2-40B4-BE49-F238E27FC236}">
                <a16:creationId xmlns:a16="http://schemas.microsoft.com/office/drawing/2014/main" id="{C0FFB65A-6D37-4E3C-9018-CA7BA743044C}"/>
              </a:ext>
            </a:extLst>
            <ns0:hlinkClick xmlns:ns0="http://schemas.openxmlformats.org/drawingml/2006/main" xmlns:ns1="http://schemas.openxmlformats.org/officeDocument/2006/relationships" ns1:id="rIdCC16" action="ppaction://hlinksldjump"/>
          </p:cNvPr>
          <p:cNvSpPr>
            <a:spLocks xmlns:a="http://schemas.openxmlformats.org/drawingml/2006/main" noGrp="1"/>
          </p:cNvSpPr>
          <p:nvPr/>
        </p:nvSpPr>
        <p:spPr>
          <a:xfrm xmlns:a="http://schemas.openxmlformats.org/drawingml/2006/main">
            <a:off x="9029700" y="2381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88C2"/>
                </a:solidFill>
                <a:latin typeface="DejaVu Sans"/>
                <a:ea typeface="DejaVu Sans"/>
                <a:cs typeface="DejaVu Sans"/>
              </a:defRPr>
            </a:pPr>
            <a:r>
              <a:rPr sz="1200" b="1">
                <a:solidFill>
                  <a:srgbClr val="1688C2"/>
                </a:solidFill>
                <a:latin typeface="DejaVu Sans"/>
                <a:ea typeface="DejaVu Sans"/>
                <a:cs typeface="DejaVu Sans"/>
              </a:rPr>
              <a:t>↩ Call-centre overview</a:t>
            </a:r>
          </a:p>
        </p:txBody>
      </p:sp>
    </p:spTree>
    <p:extLst>
      <p:ext uri="{BB962C8B-B14F-4D97-AF65-F5344CB8AC3E}">
        <p14:creationId xmlns:p14="http://schemas.microsoft.com/office/powerpoint/2010/main" val="150900838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2BA17A5C-008A-484F-A163-A3B3C385C9B9}"/>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ED4B5CA0-37D4-4F22-96D6-5568DBBC4C8F}"/>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Call-centre incidents remain within the reported SLA</a:t>
            </a:r>
          </a:p>
        </p:txBody>
      </p:sp>
      <p:sp>
        <p:nvSpPr>
          <p:cNvPr id="3" name="">
            <a:extLst xmlns:a="http://schemas.openxmlformats.org/drawingml/2006/main">
              <a:ext uri="{FF2B5EF4-FFF2-40B4-BE49-F238E27FC236}">
                <a16:creationId xmlns:a16="http://schemas.microsoft.com/office/drawing/2014/main" id="{58712C0B-6DC0-47D1-B06B-AD0BA2FCA35A}"/>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81 incidents: 78 closed and 3 in progress. No P1 or P2 incidents reported.</a:t>
            </a:r>
          </a:p>
        </p:txBody>
      </p:sp>
      <p:sp>
        <p:nvSpPr>
          <p:cNvPr id="4" name="">
            <a:extLst xmlns:a="http://schemas.openxmlformats.org/drawingml/2006/main">
              <a:ext uri="{FF2B5EF4-FFF2-40B4-BE49-F238E27FC236}">
                <a16:creationId xmlns:a16="http://schemas.microsoft.com/office/drawing/2014/main" id="{329200A1-0967-4BE5-BCDD-1B92E46053FB}"/>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218C5255-85CA-4228-890F-410DC6C167FE}"/>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18</a:t>
            </a:r>
          </a:p>
        </p:txBody>
      </p:sp>
      <p:sp>
        <p:nvSpPr>
          <p:cNvPr id="6" name="">
            <a:extLst xmlns:a="http://schemas.openxmlformats.org/drawingml/2006/main">
              <a:ext uri="{FF2B5EF4-FFF2-40B4-BE49-F238E27FC236}">
                <a16:creationId xmlns:a16="http://schemas.microsoft.com/office/drawing/2014/main" id="{DB44EF11-AB73-435C-A9DB-CF3D8C4CDDED}"/>
              </a:ext>
            </a:extLst>
          </p:cNvPr>
          <p:cNvSpPr>
            <a:spLocks xmlns:a="http://schemas.openxmlformats.org/drawingml/2006/main" noGrp="1"/>
          </p:cNvSpPr>
          <p:nvPr/>
        </p:nvSpPr>
        <p:spPr>
          <a:xfrm xmlns:a="http://schemas.openxmlformats.org/drawingml/2006/main">
            <a:off x="457200" y="20955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663E1190-C609-42F3-99FC-AE5CC114087F}"/>
              </a:ext>
            </a:extLst>
          </p:cNvPr>
          <p:cNvSpPr>
            <a:spLocks xmlns:a="http://schemas.openxmlformats.org/drawingml/2006/main" noGrp="1"/>
          </p:cNvSpPr>
          <p:nvPr/>
        </p:nvSpPr>
        <p:spPr>
          <a:xfrm xmlns:a="http://schemas.openxmlformats.org/drawingml/2006/main">
            <a:off x="619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81 / 81</a:t>
            </a:r>
          </a:p>
        </p:txBody>
      </p:sp>
      <p:sp>
        <p:nvSpPr>
          <p:cNvPr id="8" name="">
            <a:extLst xmlns:a="http://schemas.openxmlformats.org/drawingml/2006/main">
              <a:ext uri="{FF2B5EF4-FFF2-40B4-BE49-F238E27FC236}">
                <a16:creationId xmlns:a16="http://schemas.microsoft.com/office/drawing/2014/main" id="{035C71A0-82A8-4D82-AD74-319BD9871DBB}"/>
              </a:ext>
            </a:extLst>
          </p:cNvPr>
          <p:cNvSpPr>
            <a:spLocks xmlns:a="http://schemas.openxmlformats.org/drawingml/2006/main" noGrp="1"/>
          </p:cNvSpPr>
          <p:nvPr/>
        </p:nvSpPr>
        <p:spPr>
          <a:xfrm xmlns:a="http://schemas.openxmlformats.org/drawingml/2006/main">
            <a:off x="619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within reported SLA</a:t>
            </a:r>
          </a:p>
        </p:txBody>
      </p:sp>
      <p:sp>
        <p:nvSpPr>
          <p:cNvPr id="9" name="">
            <a:extLst xmlns:a="http://schemas.openxmlformats.org/drawingml/2006/main">
              <a:ext uri="{FF2B5EF4-FFF2-40B4-BE49-F238E27FC236}">
                <a16:creationId xmlns:a16="http://schemas.microsoft.com/office/drawing/2014/main" id="{D08BB675-DDBB-44E4-8641-40D395084FCF}"/>
              </a:ext>
            </a:extLst>
          </p:cNvPr>
          <p:cNvSpPr>
            <a:spLocks xmlns:a="http://schemas.openxmlformats.org/drawingml/2006/main" noGrp="1"/>
          </p:cNvSpPr>
          <p:nvPr/>
        </p:nvSpPr>
        <p:spPr>
          <a:xfrm xmlns:a="http://schemas.openxmlformats.org/drawingml/2006/main">
            <a:off x="3314700" y="20955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E408713-22B4-42C0-A920-48D0DF9EB234}"/>
              </a:ext>
            </a:extLst>
          </p:cNvPr>
          <p:cNvSpPr>
            <a:spLocks xmlns:a="http://schemas.openxmlformats.org/drawingml/2006/main" noGrp="1"/>
          </p:cNvSpPr>
          <p:nvPr/>
        </p:nvSpPr>
        <p:spPr>
          <a:xfrm xmlns:a="http://schemas.openxmlformats.org/drawingml/2006/main">
            <a:off x="3476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0</a:t>
            </a:r>
          </a:p>
        </p:txBody>
      </p:sp>
      <p:sp>
        <p:nvSpPr>
          <p:cNvPr id="11" name="">
            <a:extLst xmlns:a="http://schemas.openxmlformats.org/drawingml/2006/main">
              <a:ext uri="{FF2B5EF4-FFF2-40B4-BE49-F238E27FC236}">
                <a16:creationId xmlns:a16="http://schemas.microsoft.com/office/drawing/2014/main" id="{32A06CF4-B23D-48D2-A817-C3DD001600F6}"/>
              </a:ext>
            </a:extLst>
          </p:cNvPr>
          <p:cNvSpPr>
            <a:spLocks xmlns:a="http://schemas.openxmlformats.org/drawingml/2006/main" noGrp="1"/>
          </p:cNvSpPr>
          <p:nvPr/>
        </p:nvSpPr>
        <p:spPr>
          <a:xfrm xmlns:a="http://schemas.openxmlformats.org/drawingml/2006/main">
            <a:off x="3476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exceeded SLA</a:t>
            </a:r>
          </a:p>
        </p:txBody>
      </p:sp>
      <p:sp>
        <p:nvSpPr>
          <p:cNvPr id="12" name="">
            <a:extLst xmlns:a="http://schemas.openxmlformats.org/drawingml/2006/main">
              <a:ext uri="{FF2B5EF4-FFF2-40B4-BE49-F238E27FC236}">
                <a16:creationId xmlns:a16="http://schemas.microsoft.com/office/drawing/2014/main" id="{8FB756E9-C847-45F7-8BDF-C7FAC09446A0}"/>
              </a:ext>
            </a:extLst>
          </p:cNvPr>
          <p:cNvSpPr>
            <a:spLocks xmlns:a="http://schemas.openxmlformats.org/drawingml/2006/main" noGrp="1"/>
          </p:cNvSpPr>
          <p:nvPr/>
        </p:nvSpPr>
        <p:spPr>
          <a:xfrm xmlns:a="http://schemas.openxmlformats.org/drawingml/2006/main">
            <a:off x="6172200" y="20955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06D4976-1FCE-498E-814C-35B39A5A69F4}"/>
              </a:ext>
            </a:extLst>
          </p:cNvPr>
          <p:cNvSpPr>
            <a:spLocks xmlns:a="http://schemas.openxmlformats.org/drawingml/2006/main" noGrp="1"/>
          </p:cNvSpPr>
          <p:nvPr/>
        </p:nvSpPr>
        <p:spPr>
          <a:xfrm xmlns:a="http://schemas.openxmlformats.org/drawingml/2006/main">
            <a:off x="6334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73</a:t>
            </a:r>
          </a:p>
        </p:txBody>
      </p:sp>
      <p:sp>
        <p:nvSpPr>
          <p:cNvPr id="14" name="">
            <a:extLst xmlns:a="http://schemas.openxmlformats.org/drawingml/2006/main">
              <a:ext uri="{FF2B5EF4-FFF2-40B4-BE49-F238E27FC236}">
                <a16:creationId xmlns:a16="http://schemas.microsoft.com/office/drawing/2014/main" id="{2E7FCE44-72EA-45F4-931A-F55935238815}"/>
              </a:ext>
            </a:extLst>
          </p:cNvPr>
          <p:cNvSpPr>
            <a:spLocks xmlns:a="http://schemas.openxmlformats.org/drawingml/2006/main" noGrp="1"/>
          </p:cNvSpPr>
          <p:nvPr/>
        </p:nvSpPr>
        <p:spPr>
          <a:xfrm xmlns:a="http://schemas.openxmlformats.org/drawingml/2006/main">
            <a:off x="6334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P3 incidents</a:t>
            </a:r>
          </a:p>
        </p:txBody>
      </p:sp>
      <p:sp>
        <p:nvSpPr>
          <p:cNvPr id="15" name="">
            <a:extLst xmlns:a="http://schemas.openxmlformats.org/drawingml/2006/main">
              <a:ext uri="{FF2B5EF4-FFF2-40B4-BE49-F238E27FC236}">
                <a16:creationId xmlns:a16="http://schemas.microsoft.com/office/drawing/2014/main" id="{67986F81-C86B-4D50-A0BF-4E8C66C90F01}"/>
              </a:ext>
            </a:extLst>
          </p:cNvPr>
          <p:cNvSpPr>
            <a:spLocks xmlns:a="http://schemas.openxmlformats.org/drawingml/2006/main" noGrp="1"/>
          </p:cNvSpPr>
          <p:nvPr/>
        </p:nvSpPr>
        <p:spPr>
          <a:xfrm xmlns:a="http://schemas.openxmlformats.org/drawingml/2006/main">
            <a:off x="9029700" y="20955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B07ABB4-9381-4A6D-A5FD-ACC7929489DB}"/>
              </a:ext>
            </a:extLst>
          </p:cNvPr>
          <p:cNvSpPr>
            <a:spLocks xmlns:a="http://schemas.openxmlformats.org/drawingml/2006/main" noGrp="1"/>
          </p:cNvSpPr>
          <p:nvPr/>
        </p:nvSpPr>
        <p:spPr>
          <a:xfrm xmlns:a="http://schemas.openxmlformats.org/drawingml/2006/main">
            <a:off x="9191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8</a:t>
            </a:r>
          </a:p>
        </p:txBody>
      </p:sp>
      <p:sp>
        <p:nvSpPr>
          <p:cNvPr id="17" name="">
            <a:extLst xmlns:a="http://schemas.openxmlformats.org/drawingml/2006/main">
              <a:ext uri="{FF2B5EF4-FFF2-40B4-BE49-F238E27FC236}">
                <a16:creationId xmlns:a16="http://schemas.microsoft.com/office/drawing/2014/main" id="{B0F2AD9C-BEEE-417A-8103-3BDE9D863D7C}"/>
              </a:ext>
            </a:extLst>
          </p:cNvPr>
          <p:cNvSpPr>
            <a:spLocks xmlns:a="http://schemas.openxmlformats.org/drawingml/2006/main" noGrp="1"/>
          </p:cNvSpPr>
          <p:nvPr/>
        </p:nvSpPr>
        <p:spPr>
          <a:xfrm xmlns:a="http://schemas.openxmlformats.org/drawingml/2006/main">
            <a:off x="9191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P4 incidents</a:t>
            </a:r>
          </a:p>
        </p:txBody>
      </p:sp>
      <p:sp>
        <p:nvSpPr>
          <p:cNvPr id="18" name="">
            <a:extLst xmlns:a="http://schemas.openxmlformats.org/drawingml/2006/main">
              <a:ext uri="{FF2B5EF4-FFF2-40B4-BE49-F238E27FC236}">
                <a16:creationId xmlns:a16="http://schemas.microsoft.com/office/drawing/2014/main" id="{633A3200-CECC-4518-90B1-2DCF10F1A8AB}"/>
              </a:ext>
            </a:extLst>
          </p:cNvPr>
          <p:cNvSpPr>
            <a:spLocks xmlns:a="http://schemas.openxmlformats.org/drawingml/2006/main" noGrp="1"/>
          </p:cNvSpPr>
          <p:nvPr/>
        </p:nvSpPr>
        <p:spPr>
          <a:xfrm xmlns:a="http://schemas.openxmlformats.org/drawingml/2006/main">
            <a:off x="457200" y="3562350"/>
            <a:ext cx="5543550" cy="2486025"/>
          </a:xfrm>
          <a:prstGeom xmlns:a="http://schemas.openxmlformats.org/drawingml/2006/main" prst="roundRect">
            <a:avLst>
              <a:gd name="adj" fmla="val 4598"/>
            </a:avLst>
          </a:prstGeom>
          <a:solidFill xmlns:a="http://schemas.openxmlformats.org/drawingml/2006/main">
            <a:srgbClr val="E6F6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27FBE46-69DB-4856-B33F-9095A2FB0A45}"/>
              </a:ext>
            </a:extLst>
          </p:cNvPr>
          <p:cNvSpPr>
            <a:spLocks xmlns:a="http://schemas.openxmlformats.org/drawingml/2006/main" noGrp="1"/>
          </p:cNvSpPr>
          <p:nvPr/>
        </p:nvSpPr>
        <p:spPr>
          <a:xfrm xmlns:a="http://schemas.openxmlformats.org/drawingml/2006/main">
            <a:off x="628650" y="3695700"/>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  September call flow</a:t>
            </a:r>
          </a:p>
        </p:txBody>
      </p:sp>
      <p:sp>
        <p:nvSpPr>
          <p:cNvPr id="20" name="">
            <a:extLst xmlns:a="http://schemas.openxmlformats.org/drawingml/2006/main">
              <a:ext uri="{FF2B5EF4-FFF2-40B4-BE49-F238E27FC236}">
                <a16:creationId xmlns:a16="http://schemas.microsoft.com/office/drawing/2014/main" id="{180B8133-30DA-4B91-B6ED-92901FFB19B7}"/>
              </a:ext>
            </a:extLst>
          </p:cNvPr>
          <p:cNvSpPr>
            <a:spLocks xmlns:a="http://schemas.openxmlformats.org/drawingml/2006/main" noGrp="1"/>
          </p:cNvSpPr>
          <p:nvPr/>
        </p:nvSpPr>
        <p:spPr>
          <a:xfrm xmlns:a="http://schemas.openxmlformats.org/drawingml/2006/main">
            <a:off x="628650" y="4171950"/>
            <a:ext cx="52006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446,482 IVR calls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68% containment / 32% agent transfer</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146,785 agent calls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88% answered / 12% abandoned</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Source rates are rounded</a:t>
            </a:r>
          </a:p>
        </p:txBody>
      </p:sp>
      <p:sp>
        <p:nvSpPr>
          <p:cNvPr id="21" name="">
            <a:extLst xmlns:a="http://schemas.openxmlformats.org/drawingml/2006/main">
              <a:ext uri="{FF2B5EF4-FFF2-40B4-BE49-F238E27FC236}">
                <a16:creationId xmlns:a16="http://schemas.microsoft.com/office/drawing/2014/main" id="{21618EF3-2973-4CE9-9693-9508AEF2C362}"/>
              </a:ext>
            </a:extLst>
          </p:cNvPr>
          <p:cNvSpPr>
            <a:spLocks xmlns:a="http://schemas.openxmlformats.org/drawingml/2006/main" noGrp="1"/>
          </p:cNvSpPr>
          <p:nvPr/>
        </p:nvSpPr>
        <p:spPr>
          <a:xfrm xmlns:a="http://schemas.openxmlformats.org/drawingml/2006/main">
            <a:off x="6191250" y="3562350"/>
            <a:ext cx="5543550" cy="2486025"/>
          </a:xfrm>
          <a:prstGeom xmlns:a="http://schemas.openxmlformats.org/drawingml/2006/main" prst="roundRect">
            <a:avLst>
              <a:gd name="adj" fmla="val 4598"/>
            </a:avLst>
          </a:prstGeom>
          <a:solidFill xmlns:a="http://schemas.openxmlformats.org/drawingml/2006/main">
            <a:srgbClr val="E8F3F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5CEFF414-DD5D-4E7B-8A94-16942E02ABA4}"/>
              </a:ext>
            </a:extLst>
          </p:cNvPr>
          <p:cNvSpPr>
            <a:spLocks xmlns:a="http://schemas.openxmlformats.org/drawingml/2006/main" noGrp="1"/>
          </p:cNvSpPr>
          <p:nvPr/>
        </p:nvSpPr>
        <p:spPr>
          <a:xfrm xmlns:a="http://schemas.openxmlformats.org/drawingml/2006/main">
            <a:off x="6362700" y="3695700"/>
            <a:ext cx="5200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Identification and verification</a:t>
            </a:r>
          </a:p>
        </p:txBody>
      </p:sp>
      <p:sp>
        <p:nvSpPr>
          <p:cNvPr id="23" name="">
            <a:extLst xmlns:a="http://schemas.openxmlformats.org/drawingml/2006/main">
              <a:ext uri="{FF2B5EF4-FFF2-40B4-BE49-F238E27FC236}">
                <a16:creationId xmlns:a16="http://schemas.microsoft.com/office/drawing/2014/main" id="{2AD7A79D-ED73-4AD0-BB14-777D54612524}"/>
              </a:ext>
            </a:extLst>
          </p:cNvPr>
          <p:cNvSpPr>
            <a:spLocks xmlns:a="http://schemas.openxmlformats.org/drawingml/2006/main" noGrp="1"/>
          </p:cNvSpPr>
          <p:nvPr/>
        </p:nvSpPr>
        <p:spPr>
          <a:xfrm xmlns:a="http://schemas.openxmlformats.org/drawingml/2006/main">
            <a:off x="6362700" y="4171950"/>
            <a:ext cx="5200650" cy="1771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69% customer identification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25% TPIN verified</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7% biometrics verified</a:t>
            </a:r>
          </a:p>
          <a:p xmlns:a="http://schemas.openxmlformats.org/drawingml/2006/main">
            <a:r>
              <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Measures may use different denominators.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Treat them as separate rates.</a:t>
            </a:r>
          </a:p>
        </p:txBody>
      </p:sp>
      <p:sp>
        <p:nvSpPr>
          <p:cNvPr id="24" name="">
            <a:extLst xmlns:a="http://schemas.openxmlformats.org/drawingml/2006/main">
              <a:ext uri="{FF2B5EF4-FFF2-40B4-BE49-F238E27FC236}">
                <a16:creationId xmlns:a16="http://schemas.microsoft.com/office/drawing/2014/main" id="{52B6F414-7C20-4B84-A044-D32740620688}"/>
              </a:ext>
            </a:extLst>
            <ns0:hlinkClick xmlns:ns0="http://schemas.openxmlformats.org/drawingml/2006/main" xmlns:ns1="http://schemas.openxmlformats.org/officeDocument/2006/relationships" ns1:id="rIdCC16" action="ppaction://hlinksldjump"/>
          </p:cNvPr>
          <p:cNvSpPr>
            <a:spLocks xmlns:a="http://schemas.openxmlformats.org/drawingml/2006/main" noGrp="1"/>
          </p:cNvSpPr>
          <p:nvPr/>
        </p:nvSpPr>
        <p:spPr>
          <a:xfrm xmlns:a="http://schemas.openxmlformats.org/drawingml/2006/main">
            <a:off x="9029700" y="2381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88C2"/>
                </a:solidFill>
                <a:latin typeface="DejaVu Sans"/>
                <a:ea typeface="DejaVu Sans"/>
                <a:cs typeface="DejaVu Sans"/>
              </a:defRPr>
            </a:pPr>
            <a:r>
              <a:rPr sz="1200" b="1">
                <a:solidFill>
                  <a:srgbClr val="1688C2"/>
                </a:solidFill>
                <a:latin typeface="DejaVu Sans"/>
                <a:ea typeface="DejaVu Sans"/>
                <a:cs typeface="DejaVu Sans"/>
              </a:rPr>
              <a:t>↩ Call-centre overview</a:t>
            </a:r>
          </a:p>
        </p:txBody>
      </p:sp>
    </p:spTree>
    <p:extLst>
      <p:ext uri="{BB962C8B-B14F-4D97-AF65-F5344CB8AC3E}">
        <p14:creationId xmlns:p14="http://schemas.microsoft.com/office/powerpoint/2010/main" val="74089734"/>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855E04D6-3B34-4F49-AB90-325209FC1ABC}"/>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5D597ECE-3B29-4C03-AB69-F995EE694CFA}"/>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TPIN and card activation dominate IVR transaction activity</a:t>
            </a:r>
          </a:p>
        </p:txBody>
      </p:sp>
      <p:sp>
        <p:nvSpPr>
          <p:cNvPr id="3" name="">
            <a:extLst xmlns:a="http://schemas.openxmlformats.org/drawingml/2006/main">
              <a:ext uri="{FF2B5EF4-FFF2-40B4-BE49-F238E27FC236}">
                <a16:creationId xmlns:a16="http://schemas.microsoft.com/office/drawing/2014/main" id="{D1BA7098-A128-4BD0-BB34-F8C4CE0C895D}"/>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Source activity counts describe functions, rather than unique callers.</a:t>
            </a:r>
          </a:p>
        </p:txBody>
      </p:sp>
      <p:sp>
        <p:nvSpPr>
          <p:cNvPr id="4" name="">
            <a:extLst xmlns:a="http://schemas.openxmlformats.org/drawingml/2006/main">
              <a:ext uri="{FF2B5EF4-FFF2-40B4-BE49-F238E27FC236}">
                <a16:creationId xmlns:a16="http://schemas.microsoft.com/office/drawing/2014/main" id="{5EBEAA4B-DA96-41BD-AFF9-1B12ACC9EE38}"/>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1CB6B4FC-3D63-47C7-AB6C-29B6F6961BC7}"/>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19</a:t>
            </a:r>
          </a:p>
        </p:txBody>
      </p:sp>
      <p:graphicFrame>
        <p:nvGraphicFramePr>
          <p:cNvPr id="32" name="Chart"/>
          <p:cNvGraphicFramePr/>
          <p:nvPr/>
        </p:nvGraphicFramePr>
        <p:xfrm>
          <a:off xmlns:a="http://schemas.openxmlformats.org/drawingml/2006/main" x="2276475" y="2257425"/>
          <a:ext xmlns:a="http://schemas.openxmlformats.org/drawingml/2006/main" cx="3590925" cy="3514725"/>
        </p:xfrm>
        <a:graphic xmlns:a="http://schemas.openxmlformats.org/drawingml/2006/main">
          <a:graphicData uri="http://schemas.openxmlformats.org/drawingml/2006/chart">
            <c:chart xmlns:r="http://schemas.openxmlformats.org/officeDocument/2006/relationships" xmlns:c="http://schemas.openxmlformats.org/drawingml/2006/chart" r:id="R7f48036bc154443d"/>
          </a:graphicData>
        </a:graphic>
      </p:graphicFrame>
      <p:sp>
        <p:nvSpPr>
          <p:cNvPr id="7" name="">
            <a:extLst xmlns:a="http://schemas.openxmlformats.org/drawingml/2006/main">
              <a:ext uri="{FF2B5EF4-FFF2-40B4-BE49-F238E27FC236}">
                <a16:creationId xmlns:a16="http://schemas.microsoft.com/office/drawing/2014/main" id="{21EE0999-9935-4536-9565-A9C83DB6AEBB}"/>
              </a:ext>
            </a:extLst>
          </p:cNvPr>
          <p:cNvSpPr>
            <a:spLocks xmlns:a="http://schemas.openxmlformats.org/drawingml/2006/main" noGrp="1"/>
          </p:cNvSpPr>
          <p:nvPr/>
        </p:nvSpPr>
        <p:spPr>
          <a:xfrm xmlns:a="http://schemas.openxmlformats.org/drawingml/2006/main">
            <a:off x="457200" y="244792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Change card PIN</a:t>
            </a:r>
          </a:p>
        </p:txBody>
      </p:sp>
      <p:sp>
        <p:nvSpPr>
          <p:cNvPr id="8" name="">
            <a:extLst xmlns:a="http://schemas.openxmlformats.org/drawingml/2006/main">
              <a:ext uri="{FF2B5EF4-FFF2-40B4-BE49-F238E27FC236}">
                <a16:creationId xmlns:a16="http://schemas.microsoft.com/office/drawing/2014/main" id="{FB7C5C80-8C24-44D4-AB27-77AE408DBA08}"/>
              </a:ext>
            </a:extLst>
          </p:cNvPr>
          <p:cNvSpPr>
            <a:spLocks xmlns:a="http://schemas.openxmlformats.org/drawingml/2006/main" noGrp="1"/>
          </p:cNvSpPr>
          <p:nvPr/>
        </p:nvSpPr>
        <p:spPr>
          <a:xfrm xmlns:a="http://schemas.openxmlformats.org/drawingml/2006/main">
            <a:off x="457200" y="27749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Card payment</a:t>
            </a:r>
          </a:p>
        </p:txBody>
      </p:sp>
      <p:sp>
        <p:nvSpPr>
          <p:cNvPr id="9" name="">
            <a:extLst xmlns:a="http://schemas.openxmlformats.org/drawingml/2006/main">
              <a:ext uri="{FF2B5EF4-FFF2-40B4-BE49-F238E27FC236}">
                <a16:creationId xmlns:a16="http://schemas.microsoft.com/office/drawing/2014/main" id="{7BFB8DE7-4947-464D-9E59-F15C21317724}"/>
              </a:ext>
            </a:extLst>
          </p:cNvPr>
          <p:cNvSpPr>
            <a:spLocks xmlns:a="http://schemas.openxmlformats.org/drawingml/2006/main" noGrp="1"/>
          </p:cNvSpPr>
          <p:nvPr/>
        </p:nvSpPr>
        <p:spPr>
          <a:xfrm xmlns:a="http://schemas.openxmlformats.org/drawingml/2006/main">
            <a:off x="457200" y="310197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Cash on card</a:t>
            </a:r>
          </a:p>
        </p:txBody>
      </p:sp>
      <p:sp>
        <p:nvSpPr>
          <p:cNvPr id="10" name="">
            <a:extLst xmlns:a="http://schemas.openxmlformats.org/drawingml/2006/main">
              <a:ext uri="{FF2B5EF4-FFF2-40B4-BE49-F238E27FC236}">
                <a16:creationId xmlns:a16="http://schemas.microsoft.com/office/drawing/2014/main" id="{0A7C90FC-EA80-4D15-9395-3C6474E52E32}"/>
              </a:ext>
            </a:extLst>
          </p:cNvPr>
          <p:cNvSpPr>
            <a:spLocks xmlns:a="http://schemas.openxmlformats.org/drawingml/2006/main" noGrp="1"/>
          </p:cNvSpPr>
          <p:nvPr/>
        </p:nvSpPr>
        <p:spPr>
          <a:xfrm xmlns:a="http://schemas.openxmlformats.org/drawingml/2006/main">
            <a:off x="457200" y="34290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Cheque-book request</a:t>
            </a:r>
          </a:p>
        </p:txBody>
      </p:sp>
      <p:sp>
        <p:nvSpPr>
          <p:cNvPr id="11" name="">
            <a:extLst xmlns:a="http://schemas.openxmlformats.org/drawingml/2006/main">
              <a:ext uri="{FF2B5EF4-FFF2-40B4-BE49-F238E27FC236}">
                <a16:creationId xmlns:a16="http://schemas.microsoft.com/office/drawing/2014/main" id="{924E2F00-6C12-4A53-AE37-860432ED1B4B}"/>
              </a:ext>
            </a:extLst>
          </p:cNvPr>
          <p:cNvSpPr>
            <a:spLocks xmlns:a="http://schemas.openxmlformats.org/drawingml/2006/main" noGrp="1"/>
          </p:cNvSpPr>
          <p:nvPr/>
        </p:nvSpPr>
        <p:spPr>
          <a:xfrm xmlns:a="http://schemas.openxmlformats.org/drawingml/2006/main">
            <a:off x="457200" y="375602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Funds transfer</a:t>
            </a:r>
          </a:p>
        </p:txBody>
      </p:sp>
      <p:sp>
        <p:nvSpPr>
          <p:cNvPr id="12" name="">
            <a:extLst xmlns:a="http://schemas.openxmlformats.org/drawingml/2006/main">
              <a:ext uri="{FF2B5EF4-FFF2-40B4-BE49-F238E27FC236}">
                <a16:creationId xmlns:a16="http://schemas.microsoft.com/office/drawing/2014/main" id="{11228E09-6752-4AEA-96DE-F6E931AA6BB4}"/>
              </a:ext>
            </a:extLst>
          </p:cNvPr>
          <p:cNvSpPr>
            <a:spLocks xmlns:a="http://schemas.openxmlformats.org/drawingml/2006/main" noGrp="1"/>
          </p:cNvSpPr>
          <p:nvPr/>
        </p:nvSpPr>
        <p:spPr>
          <a:xfrm xmlns:a="http://schemas.openxmlformats.org/drawingml/2006/main">
            <a:off x="457200" y="408305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Salik payment</a:t>
            </a:r>
          </a:p>
        </p:txBody>
      </p:sp>
      <p:sp>
        <p:nvSpPr>
          <p:cNvPr id="13" name="">
            <a:extLst xmlns:a="http://schemas.openxmlformats.org/drawingml/2006/main">
              <a:ext uri="{FF2B5EF4-FFF2-40B4-BE49-F238E27FC236}">
                <a16:creationId xmlns:a16="http://schemas.microsoft.com/office/drawing/2014/main" id="{E32F2FE5-F3C9-4169-99EE-EF49BACE80B5}"/>
              </a:ext>
            </a:extLst>
          </p:cNvPr>
          <p:cNvSpPr>
            <a:spLocks xmlns:a="http://schemas.openxmlformats.org/drawingml/2006/main" noGrp="1"/>
          </p:cNvSpPr>
          <p:nvPr/>
        </p:nvSpPr>
        <p:spPr>
          <a:xfrm xmlns:a="http://schemas.openxmlformats.org/drawingml/2006/main">
            <a:off x="457200" y="441007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DU payments</a:t>
            </a:r>
          </a:p>
        </p:txBody>
      </p:sp>
      <p:sp>
        <p:nvSpPr>
          <p:cNvPr id="14" name="">
            <a:extLst xmlns:a="http://schemas.openxmlformats.org/drawingml/2006/main">
              <a:ext uri="{FF2B5EF4-FFF2-40B4-BE49-F238E27FC236}">
                <a16:creationId xmlns:a16="http://schemas.microsoft.com/office/drawing/2014/main" id="{50A7F7E0-F29D-4B0F-AB88-9C85688D451B}"/>
              </a:ext>
            </a:extLst>
          </p:cNvPr>
          <p:cNvSpPr>
            <a:spLocks xmlns:a="http://schemas.openxmlformats.org/drawingml/2006/main" noGrp="1"/>
          </p:cNvSpPr>
          <p:nvPr/>
        </p:nvSpPr>
        <p:spPr>
          <a:xfrm xmlns:a="http://schemas.openxmlformats.org/drawingml/2006/main">
            <a:off x="457200" y="4737100"/>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Etisalat payments</a:t>
            </a:r>
          </a:p>
        </p:txBody>
      </p:sp>
      <p:sp>
        <p:nvSpPr>
          <p:cNvPr id="15" name="">
            <a:extLst xmlns:a="http://schemas.openxmlformats.org/drawingml/2006/main">
              <a:ext uri="{FF2B5EF4-FFF2-40B4-BE49-F238E27FC236}">
                <a16:creationId xmlns:a16="http://schemas.microsoft.com/office/drawing/2014/main" id="{4E533E7E-88C9-4B61-86A4-65FD17B6E1ED}"/>
              </a:ext>
            </a:extLst>
          </p:cNvPr>
          <p:cNvSpPr>
            <a:spLocks xmlns:a="http://schemas.openxmlformats.org/drawingml/2006/main" noGrp="1"/>
          </p:cNvSpPr>
          <p:nvPr/>
        </p:nvSpPr>
        <p:spPr>
          <a:xfrm xmlns:a="http://schemas.openxmlformats.org/drawingml/2006/main">
            <a:off x="457200" y="506412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Utility payments</a:t>
            </a:r>
          </a:p>
        </p:txBody>
      </p:sp>
      <p:graphicFrame>
        <p:nvGraphicFramePr>
          <p:cNvPr id="42" name="Chart"/>
          <p:cNvGraphicFramePr/>
          <p:nvPr/>
        </p:nvGraphicFramePr>
        <p:xfrm>
          <a:off xmlns:a="http://schemas.openxmlformats.org/drawingml/2006/main" x="8010525" y="2257425"/>
          <a:ext xmlns:a="http://schemas.openxmlformats.org/drawingml/2006/main" cx="3705225" cy="3514725"/>
        </p:xfrm>
        <a:graphic xmlns:a="http://schemas.openxmlformats.org/drawingml/2006/main">
          <a:graphicData uri="http://schemas.openxmlformats.org/drawingml/2006/chart">
            <c:chart xmlns:r="http://schemas.openxmlformats.org/officeDocument/2006/relationships" xmlns:c="http://schemas.openxmlformats.org/drawingml/2006/chart" r:id="R742e4b7c17884dbb"/>
          </a:graphicData>
        </a:graphic>
      </p:graphicFrame>
      <p:sp>
        <p:nvSpPr>
          <p:cNvPr id="17" name="">
            <a:extLst xmlns:a="http://schemas.openxmlformats.org/drawingml/2006/main">
              <a:ext uri="{FF2B5EF4-FFF2-40B4-BE49-F238E27FC236}">
                <a16:creationId xmlns:a16="http://schemas.microsoft.com/office/drawing/2014/main" id="{B3622038-9522-48FF-B813-04DC7605A6E3}"/>
              </a:ext>
            </a:extLst>
          </p:cNvPr>
          <p:cNvSpPr>
            <a:spLocks xmlns:a="http://schemas.openxmlformats.org/drawingml/2006/main" noGrp="1"/>
          </p:cNvSpPr>
          <p:nvPr/>
        </p:nvSpPr>
        <p:spPr>
          <a:xfrm xmlns:a="http://schemas.openxmlformats.org/drawingml/2006/main">
            <a:off x="6191250" y="2447925"/>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Change TPIN</a:t>
            </a:r>
          </a:p>
        </p:txBody>
      </p:sp>
      <p:sp>
        <p:nvSpPr>
          <p:cNvPr id="18" name="">
            <a:extLst xmlns:a="http://schemas.openxmlformats.org/drawingml/2006/main">
              <a:ext uri="{FF2B5EF4-FFF2-40B4-BE49-F238E27FC236}">
                <a16:creationId xmlns:a16="http://schemas.microsoft.com/office/drawing/2014/main" id="{D42180E7-43D2-4086-82C1-3B51F6F59438}"/>
              </a:ext>
            </a:extLst>
          </p:cNvPr>
          <p:cNvSpPr>
            <a:spLocks xmlns:a="http://schemas.openxmlformats.org/drawingml/2006/main" noGrp="1"/>
          </p:cNvSpPr>
          <p:nvPr/>
        </p:nvSpPr>
        <p:spPr>
          <a:xfrm xmlns:a="http://schemas.openxmlformats.org/drawingml/2006/main">
            <a:off x="6191250" y="2815828"/>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Generate TPIN</a:t>
            </a:r>
          </a:p>
        </p:txBody>
      </p:sp>
      <p:sp>
        <p:nvSpPr>
          <p:cNvPr id="19" name="">
            <a:extLst xmlns:a="http://schemas.openxmlformats.org/drawingml/2006/main">
              <a:ext uri="{FF2B5EF4-FFF2-40B4-BE49-F238E27FC236}">
                <a16:creationId xmlns:a16="http://schemas.microsoft.com/office/drawing/2014/main" id="{65378BF4-4C57-4DEA-AF4C-D952CD31D2D6}"/>
              </a:ext>
            </a:extLst>
          </p:cNvPr>
          <p:cNvSpPr>
            <a:spLocks xmlns:a="http://schemas.openxmlformats.org/drawingml/2006/main" noGrp="1"/>
          </p:cNvSpPr>
          <p:nvPr/>
        </p:nvSpPr>
        <p:spPr>
          <a:xfrm xmlns:a="http://schemas.openxmlformats.org/drawingml/2006/main">
            <a:off x="6191250" y="3183731"/>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Block TPIN</a:t>
            </a:r>
          </a:p>
        </p:txBody>
      </p:sp>
      <p:sp>
        <p:nvSpPr>
          <p:cNvPr id="20" name="">
            <a:extLst xmlns:a="http://schemas.openxmlformats.org/drawingml/2006/main">
              <a:ext uri="{FF2B5EF4-FFF2-40B4-BE49-F238E27FC236}">
                <a16:creationId xmlns:a16="http://schemas.microsoft.com/office/drawing/2014/main" id="{A771ADAF-A12C-4CF4-8C06-1061D4221D8E}"/>
              </a:ext>
            </a:extLst>
          </p:cNvPr>
          <p:cNvSpPr>
            <a:spLocks xmlns:a="http://schemas.openxmlformats.org/drawingml/2006/main" noGrp="1"/>
          </p:cNvSpPr>
          <p:nvPr/>
        </p:nvSpPr>
        <p:spPr>
          <a:xfrm xmlns:a="http://schemas.openxmlformats.org/drawingml/2006/main">
            <a:off x="6191250" y="3551634"/>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Reset TPIN</a:t>
            </a:r>
          </a:p>
        </p:txBody>
      </p:sp>
      <p:sp>
        <p:nvSpPr>
          <p:cNvPr id="21" name="">
            <a:extLst xmlns:a="http://schemas.openxmlformats.org/drawingml/2006/main">
              <a:ext uri="{FF2B5EF4-FFF2-40B4-BE49-F238E27FC236}">
                <a16:creationId xmlns:a16="http://schemas.microsoft.com/office/drawing/2014/main" id="{FC4AD095-2ABA-4036-BE9F-DED62201E4A5}"/>
              </a:ext>
            </a:extLst>
          </p:cNvPr>
          <p:cNvSpPr>
            <a:spLocks xmlns:a="http://schemas.openxmlformats.org/drawingml/2006/main" noGrp="1"/>
          </p:cNvSpPr>
          <p:nvPr/>
        </p:nvSpPr>
        <p:spPr>
          <a:xfrm xmlns:a="http://schemas.openxmlformats.org/drawingml/2006/main">
            <a:off x="6191250" y="3919538"/>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Lost / stolen card</a:t>
            </a:r>
          </a:p>
        </p:txBody>
      </p:sp>
      <p:sp>
        <p:nvSpPr>
          <p:cNvPr id="22" name="">
            <a:extLst xmlns:a="http://schemas.openxmlformats.org/drawingml/2006/main">
              <a:ext uri="{FF2B5EF4-FFF2-40B4-BE49-F238E27FC236}">
                <a16:creationId xmlns:a16="http://schemas.microsoft.com/office/drawing/2014/main" id="{B4BE6F30-38FB-4EBB-859F-890A7A3E4D2E}"/>
              </a:ext>
            </a:extLst>
          </p:cNvPr>
          <p:cNvSpPr>
            <a:spLocks xmlns:a="http://schemas.openxmlformats.org/drawingml/2006/main" noGrp="1"/>
          </p:cNvSpPr>
          <p:nvPr/>
        </p:nvSpPr>
        <p:spPr>
          <a:xfrm xmlns:a="http://schemas.openxmlformats.org/drawingml/2006/main">
            <a:off x="6191250" y="4287441"/>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Reset card PIN</a:t>
            </a:r>
          </a:p>
        </p:txBody>
      </p:sp>
      <p:sp>
        <p:nvSpPr>
          <p:cNvPr id="23" name="">
            <a:extLst xmlns:a="http://schemas.openxmlformats.org/drawingml/2006/main">
              <a:ext uri="{FF2B5EF4-FFF2-40B4-BE49-F238E27FC236}">
                <a16:creationId xmlns:a16="http://schemas.microsoft.com/office/drawing/2014/main" id="{4B4578BB-2C62-4BC7-BBAA-50A10D15A064}"/>
              </a:ext>
            </a:extLst>
          </p:cNvPr>
          <p:cNvSpPr>
            <a:spLocks xmlns:a="http://schemas.openxmlformats.org/drawingml/2006/main" noGrp="1"/>
          </p:cNvSpPr>
          <p:nvPr/>
        </p:nvSpPr>
        <p:spPr>
          <a:xfrm xmlns:a="http://schemas.openxmlformats.org/drawingml/2006/main">
            <a:off x="6191250" y="4655344"/>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Activate card</a:t>
            </a:r>
          </a:p>
        </p:txBody>
      </p:sp>
      <p:sp>
        <p:nvSpPr>
          <p:cNvPr id="24" name="">
            <a:extLst xmlns:a="http://schemas.openxmlformats.org/drawingml/2006/main">
              <a:ext uri="{FF2B5EF4-FFF2-40B4-BE49-F238E27FC236}">
                <a16:creationId xmlns:a16="http://schemas.microsoft.com/office/drawing/2014/main" id="{89636890-9720-411F-A4FF-AFFFC9180302}"/>
              </a:ext>
            </a:extLst>
          </p:cNvPr>
          <p:cNvSpPr>
            <a:spLocks xmlns:a="http://schemas.openxmlformats.org/drawingml/2006/main" noGrp="1"/>
          </p:cNvSpPr>
          <p:nvPr/>
        </p:nvSpPr>
        <p:spPr>
          <a:xfrm xmlns:a="http://schemas.openxmlformats.org/drawingml/2006/main">
            <a:off x="6191250" y="5023247"/>
            <a:ext cx="17621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00" b="0">
                <a:solidFill>
                  <a:srgbClr val="173A4B"/>
                </a:solidFill>
                <a:latin typeface="DejaVu Sans"/>
                <a:ea typeface="DejaVu Sans"/>
                <a:cs typeface="DejaVu Sans"/>
              </a:defRPr>
            </a:pPr>
            <a:r>
              <a:rPr sz="900" b="0">
                <a:solidFill>
                  <a:srgbClr val="173A4B"/>
                </a:solidFill>
                <a:latin typeface="DejaVu Sans"/>
                <a:ea typeface="DejaVu Sans"/>
                <a:cs typeface="DejaVu Sans"/>
              </a:rPr>
              <a:t>Last 5 card transactions</a:t>
            </a:r>
          </a:p>
        </p:txBody>
      </p:sp>
      <p:sp>
        <p:nvSpPr>
          <p:cNvPr id="25" name="">
            <a:extLst xmlns:a="http://schemas.openxmlformats.org/drawingml/2006/main">
              <a:ext uri="{FF2B5EF4-FFF2-40B4-BE49-F238E27FC236}">
                <a16:creationId xmlns:a16="http://schemas.microsoft.com/office/drawing/2014/main" id="{BE71D787-5347-4BFA-B4AC-3DFACC91E5B3}"/>
              </a:ext>
            </a:extLst>
          </p:cNvPr>
          <p:cNvSpPr>
            <a:spLocks xmlns:a="http://schemas.openxmlformats.org/drawingml/2006/main" noGrp="1"/>
          </p:cNvSpPr>
          <p:nvPr/>
        </p:nvSpPr>
        <p:spPr>
          <a:xfrm xmlns:a="http://schemas.openxmlformats.org/drawingml/2006/main">
            <a:off x="457200" y="6019800"/>
            <a:ext cx="11239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Top functions: Reset TPIN 18,146; Activate card 13,337; Block TPIN 12,004.</a:t>
            </a:r>
          </a:p>
        </p:txBody>
      </p:sp>
      <p:sp>
        <p:nvSpPr>
          <p:cNvPr id="26" name="">
            <a:extLst xmlns:a="http://schemas.openxmlformats.org/drawingml/2006/main">
              <a:ext uri="{FF2B5EF4-FFF2-40B4-BE49-F238E27FC236}">
                <a16:creationId xmlns:a16="http://schemas.microsoft.com/office/drawing/2014/main" id="{FE36F455-7715-4954-894B-45123796C106}"/>
              </a:ext>
            </a:extLst>
            <ns0:hlinkClick xmlns:ns0="http://schemas.openxmlformats.org/drawingml/2006/main" xmlns:ns1="http://schemas.openxmlformats.org/officeDocument/2006/relationships" ns1:id="rIdCC16" action="ppaction://hlinksldjump"/>
          </p:cNvPr>
          <p:cNvSpPr>
            <a:spLocks xmlns:a="http://schemas.openxmlformats.org/drawingml/2006/main" noGrp="1"/>
          </p:cNvSpPr>
          <p:nvPr/>
        </p:nvSpPr>
        <p:spPr>
          <a:xfrm xmlns:a="http://schemas.openxmlformats.org/drawingml/2006/main">
            <a:off x="9029700" y="2381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88C2"/>
                </a:solidFill>
                <a:latin typeface="DejaVu Sans"/>
                <a:ea typeface="DejaVu Sans"/>
                <a:cs typeface="DejaVu Sans"/>
              </a:defRPr>
            </a:pPr>
            <a:r>
              <a:rPr sz="1200" b="1">
                <a:solidFill>
                  <a:srgbClr val="1688C2"/>
                </a:solidFill>
                <a:latin typeface="DejaVu Sans"/>
                <a:ea typeface="DejaVu Sans"/>
                <a:cs typeface="DejaVu Sans"/>
              </a:rPr>
              <a:t>↩ Call-centre overview</a:t>
            </a:r>
          </a:p>
        </p:txBody>
      </p:sp>
    </p:spTree>
    <p:extLst>
      <p:ext uri="{BB962C8B-B14F-4D97-AF65-F5344CB8AC3E}">
        <p14:creationId xmlns:p14="http://schemas.microsoft.com/office/powerpoint/2010/main" val="173297854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68830311-3D37-4AF4-B144-D40236482B82}"/>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DB01DE39-1A39-4214-AB9C-0286CA25A926}"/>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Daily agent-licence usage peaks at 492</a:t>
            </a:r>
          </a:p>
        </p:txBody>
      </p:sp>
      <p:sp>
        <p:nvSpPr>
          <p:cNvPr id="3" name="">
            <a:extLst xmlns:a="http://schemas.openxmlformats.org/drawingml/2006/main">
              <a:ext uri="{FF2B5EF4-FFF2-40B4-BE49-F238E27FC236}">
                <a16:creationId xmlns:a16="http://schemas.microsoft.com/office/drawing/2014/main" id="{77F96457-D5A6-41DF-8C03-7B5B714D0B01}"/>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The source reports 100% overall licence usage but does not supply a licensed capacity denominator.</a:t>
            </a:r>
          </a:p>
        </p:txBody>
      </p:sp>
      <p:sp>
        <p:nvSpPr>
          <p:cNvPr id="4" name="">
            <a:extLst xmlns:a="http://schemas.openxmlformats.org/drawingml/2006/main">
              <a:ext uri="{FF2B5EF4-FFF2-40B4-BE49-F238E27FC236}">
                <a16:creationId xmlns:a16="http://schemas.microsoft.com/office/drawing/2014/main" id="{30E93C52-0B67-436F-B144-005ABF14A51C}"/>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46BC5AE0-D013-440B-B7E3-3374DB842EC8}"/>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20</a:t>
            </a:r>
          </a:p>
        </p:txBody>
      </p:sp>
      <p:graphicFrame>
        <p:nvGraphicFramePr>
          <p:cNvPr id="25" name="Chart"/>
          <p:cNvGraphicFramePr/>
          <p:nvPr/>
        </p:nvGraphicFramePr>
        <p:xfrm>
          <a:off xmlns:a="http://schemas.openxmlformats.org/drawingml/2006/main" x="457200" y="2247900"/>
          <a:ext xmlns:a="http://schemas.openxmlformats.org/drawingml/2006/main" cx="11277600" cy="2695575"/>
        </p:xfrm>
        <a:graphic xmlns:a="http://schemas.openxmlformats.org/drawingml/2006/main">
          <a:graphicData uri="http://schemas.openxmlformats.org/drawingml/2006/chart">
            <c:chart xmlns:r="http://schemas.openxmlformats.org/officeDocument/2006/relationships" xmlns:c="http://schemas.openxmlformats.org/drawingml/2006/chart" r:id="R5480d1de5bfd4502"/>
          </a:graphicData>
        </a:graphic>
      </p:graphicFrame>
      <p:sp>
        <p:nvSpPr>
          <p:cNvPr id="7" name="">
            <a:extLst xmlns:a="http://schemas.openxmlformats.org/drawingml/2006/main">
              <a:ext uri="{FF2B5EF4-FFF2-40B4-BE49-F238E27FC236}">
                <a16:creationId xmlns:a16="http://schemas.microsoft.com/office/drawing/2014/main" id="{31C454AC-98E4-4A79-B7AD-7EECDDB0033D}"/>
              </a:ext>
            </a:extLst>
          </p:cNvPr>
          <p:cNvSpPr>
            <a:spLocks xmlns:a="http://schemas.openxmlformats.org/drawingml/2006/main" noGrp="1"/>
          </p:cNvSpPr>
          <p:nvPr/>
        </p:nvSpPr>
        <p:spPr>
          <a:xfrm xmlns:a="http://schemas.openxmlformats.org/drawingml/2006/main">
            <a:off x="457200" y="52197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C83D80B-E3D3-4903-8581-7BF86211874B}"/>
              </a:ext>
            </a:extLst>
          </p:cNvPr>
          <p:cNvSpPr>
            <a:spLocks xmlns:a="http://schemas.openxmlformats.org/drawingml/2006/main" noGrp="1"/>
          </p:cNvSpPr>
          <p:nvPr/>
        </p:nvSpPr>
        <p:spPr>
          <a:xfrm xmlns:a="http://schemas.openxmlformats.org/drawingml/2006/main">
            <a:off x="619125" y="53435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492</a:t>
            </a:r>
          </a:p>
        </p:txBody>
      </p:sp>
      <p:sp>
        <p:nvSpPr>
          <p:cNvPr id="9" name="">
            <a:extLst xmlns:a="http://schemas.openxmlformats.org/drawingml/2006/main">
              <a:ext uri="{FF2B5EF4-FFF2-40B4-BE49-F238E27FC236}">
                <a16:creationId xmlns:a16="http://schemas.microsoft.com/office/drawing/2014/main" id="{DF870172-B756-4560-B789-CBEC4AF29DFC}"/>
              </a:ext>
            </a:extLst>
          </p:cNvPr>
          <p:cNvSpPr>
            <a:spLocks xmlns:a="http://schemas.openxmlformats.org/drawingml/2006/main" noGrp="1"/>
          </p:cNvSpPr>
          <p:nvPr/>
        </p:nvSpPr>
        <p:spPr>
          <a:xfrm xmlns:a="http://schemas.openxmlformats.org/drawingml/2006/main">
            <a:off x="619125" y="59531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peak on 24 September</a:t>
            </a:r>
          </a:p>
        </p:txBody>
      </p:sp>
      <p:sp>
        <p:nvSpPr>
          <p:cNvPr id="10" name="">
            <a:extLst xmlns:a="http://schemas.openxmlformats.org/drawingml/2006/main">
              <a:ext uri="{FF2B5EF4-FFF2-40B4-BE49-F238E27FC236}">
                <a16:creationId xmlns:a16="http://schemas.microsoft.com/office/drawing/2014/main" id="{4C237025-D8D3-4111-B698-F39E249D7CE7}"/>
              </a:ext>
            </a:extLst>
          </p:cNvPr>
          <p:cNvSpPr>
            <a:spLocks xmlns:a="http://schemas.openxmlformats.org/drawingml/2006/main" noGrp="1"/>
          </p:cNvSpPr>
          <p:nvPr/>
        </p:nvSpPr>
        <p:spPr>
          <a:xfrm xmlns:a="http://schemas.openxmlformats.org/drawingml/2006/main">
            <a:off x="3314700" y="52197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88CEED6-981E-4404-80F3-DD608B514960}"/>
              </a:ext>
            </a:extLst>
          </p:cNvPr>
          <p:cNvSpPr>
            <a:spLocks xmlns:a="http://schemas.openxmlformats.org/drawingml/2006/main" noGrp="1"/>
          </p:cNvSpPr>
          <p:nvPr/>
        </p:nvSpPr>
        <p:spPr>
          <a:xfrm xmlns:a="http://schemas.openxmlformats.org/drawingml/2006/main">
            <a:off x="3476625" y="53435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72</a:t>
            </a:r>
          </a:p>
        </p:txBody>
      </p:sp>
      <p:sp>
        <p:nvSpPr>
          <p:cNvPr id="12" name="">
            <a:extLst xmlns:a="http://schemas.openxmlformats.org/drawingml/2006/main">
              <a:ext uri="{FF2B5EF4-FFF2-40B4-BE49-F238E27FC236}">
                <a16:creationId xmlns:a16="http://schemas.microsoft.com/office/drawing/2014/main" id="{C468B51E-19A7-4D57-9161-CB276BD0BF72}"/>
              </a:ext>
            </a:extLst>
          </p:cNvPr>
          <p:cNvSpPr>
            <a:spLocks xmlns:a="http://schemas.openxmlformats.org/drawingml/2006/main" noGrp="1"/>
          </p:cNvSpPr>
          <p:nvPr/>
        </p:nvSpPr>
        <p:spPr>
          <a:xfrm xmlns:a="http://schemas.openxmlformats.org/drawingml/2006/main">
            <a:off x="3476625" y="59531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low on 6 September</a:t>
            </a:r>
          </a:p>
        </p:txBody>
      </p:sp>
      <p:sp>
        <p:nvSpPr>
          <p:cNvPr id="13" name="">
            <a:extLst xmlns:a="http://schemas.openxmlformats.org/drawingml/2006/main">
              <a:ext uri="{FF2B5EF4-FFF2-40B4-BE49-F238E27FC236}">
                <a16:creationId xmlns:a16="http://schemas.microsoft.com/office/drawing/2014/main" id="{F362BC99-8262-44CA-905D-FF1EC6328B8B}"/>
              </a:ext>
            </a:extLst>
          </p:cNvPr>
          <p:cNvSpPr>
            <a:spLocks xmlns:a="http://schemas.openxmlformats.org/drawingml/2006/main" noGrp="1"/>
          </p:cNvSpPr>
          <p:nvPr/>
        </p:nvSpPr>
        <p:spPr>
          <a:xfrm xmlns:a="http://schemas.openxmlformats.org/drawingml/2006/main">
            <a:off x="6172200" y="52197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3757B06-0758-4160-9267-584B93F592B8}"/>
              </a:ext>
            </a:extLst>
          </p:cNvPr>
          <p:cNvSpPr>
            <a:spLocks xmlns:a="http://schemas.openxmlformats.org/drawingml/2006/main" noGrp="1"/>
          </p:cNvSpPr>
          <p:nvPr/>
        </p:nvSpPr>
        <p:spPr>
          <a:xfrm xmlns:a="http://schemas.openxmlformats.org/drawingml/2006/main">
            <a:off x="6334125" y="53435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432</a:t>
            </a:r>
          </a:p>
        </p:txBody>
      </p:sp>
      <p:sp>
        <p:nvSpPr>
          <p:cNvPr id="15" name="">
            <a:extLst xmlns:a="http://schemas.openxmlformats.org/drawingml/2006/main">
              <a:ext uri="{FF2B5EF4-FFF2-40B4-BE49-F238E27FC236}">
                <a16:creationId xmlns:a16="http://schemas.microsoft.com/office/drawing/2014/main" id="{9BD6AD8C-8DDD-4021-B45B-A99816E9FFDE}"/>
              </a:ext>
            </a:extLst>
          </p:cNvPr>
          <p:cNvSpPr>
            <a:spLocks xmlns:a="http://schemas.openxmlformats.org/drawingml/2006/main" noGrp="1"/>
          </p:cNvSpPr>
          <p:nvPr/>
        </p:nvSpPr>
        <p:spPr>
          <a:xfrm xmlns:a="http://schemas.openxmlformats.org/drawingml/2006/main">
            <a:off x="6334125" y="59531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30 September count</a:t>
            </a:r>
          </a:p>
        </p:txBody>
      </p:sp>
      <p:sp>
        <p:nvSpPr>
          <p:cNvPr id="16" name="">
            <a:extLst xmlns:a="http://schemas.openxmlformats.org/drawingml/2006/main">
              <a:ext uri="{FF2B5EF4-FFF2-40B4-BE49-F238E27FC236}">
                <a16:creationId xmlns:a16="http://schemas.microsoft.com/office/drawing/2014/main" id="{84D9DB22-E600-4E82-BAA8-3BEAEB99FE27}"/>
              </a:ext>
            </a:extLst>
          </p:cNvPr>
          <p:cNvSpPr>
            <a:spLocks xmlns:a="http://schemas.openxmlformats.org/drawingml/2006/main" noGrp="1"/>
          </p:cNvSpPr>
          <p:nvPr/>
        </p:nvSpPr>
        <p:spPr>
          <a:xfrm xmlns:a="http://schemas.openxmlformats.org/drawingml/2006/main">
            <a:off x="9029700" y="52197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F3A17EB-9F92-4606-9847-3A8699FEDA0D}"/>
              </a:ext>
            </a:extLst>
          </p:cNvPr>
          <p:cNvSpPr>
            <a:spLocks xmlns:a="http://schemas.openxmlformats.org/drawingml/2006/main" noGrp="1"/>
          </p:cNvSpPr>
          <p:nvPr/>
        </p:nvSpPr>
        <p:spPr>
          <a:xfrm xmlns:a="http://schemas.openxmlformats.org/drawingml/2006/main">
            <a:off x="9191625" y="53435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100%</a:t>
            </a:r>
          </a:p>
        </p:txBody>
      </p:sp>
      <p:sp>
        <p:nvSpPr>
          <p:cNvPr id="18" name="">
            <a:extLst xmlns:a="http://schemas.openxmlformats.org/drawingml/2006/main">
              <a:ext uri="{FF2B5EF4-FFF2-40B4-BE49-F238E27FC236}">
                <a16:creationId xmlns:a16="http://schemas.microsoft.com/office/drawing/2014/main" id="{995A2845-1ADF-44D0-AD6E-CE737E9D4C09}"/>
              </a:ext>
            </a:extLst>
          </p:cNvPr>
          <p:cNvSpPr>
            <a:spLocks xmlns:a="http://schemas.openxmlformats.org/drawingml/2006/main" noGrp="1"/>
          </p:cNvSpPr>
          <p:nvPr/>
        </p:nvSpPr>
        <p:spPr>
          <a:xfrm xmlns:a="http://schemas.openxmlformats.org/drawingml/2006/main">
            <a:off x="9191625" y="59531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source overall usage</a:t>
            </a:r>
          </a:p>
        </p:txBody>
      </p:sp>
      <p:sp>
        <p:nvSpPr>
          <p:cNvPr id="19" name="">
            <a:extLst xmlns:a="http://schemas.openxmlformats.org/drawingml/2006/main">
              <a:ext uri="{FF2B5EF4-FFF2-40B4-BE49-F238E27FC236}">
                <a16:creationId xmlns:a16="http://schemas.microsoft.com/office/drawing/2014/main" id="{19F11B6B-458C-4AB2-A742-A201E28433D1}"/>
              </a:ext>
            </a:extLst>
            <ns0:hlinkClick xmlns:ns0="http://schemas.openxmlformats.org/drawingml/2006/main" xmlns:ns1="http://schemas.openxmlformats.org/officeDocument/2006/relationships" ns1:id="rIdCC16" action="ppaction://hlinksldjump"/>
          </p:cNvPr>
          <p:cNvSpPr>
            <a:spLocks xmlns:a="http://schemas.openxmlformats.org/drawingml/2006/main" noGrp="1"/>
          </p:cNvSpPr>
          <p:nvPr/>
        </p:nvSpPr>
        <p:spPr>
          <a:xfrm xmlns:a="http://schemas.openxmlformats.org/drawingml/2006/main">
            <a:off x="9029700" y="2381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88C2"/>
                </a:solidFill>
                <a:latin typeface="DejaVu Sans"/>
                <a:ea typeface="DejaVu Sans"/>
                <a:cs typeface="DejaVu Sans"/>
              </a:defRPr>
            </a:pPr>
            <a:r>
              <a:rPr sz="1200" b="1">
                <a:solidFill>
                  <a:srgbClr val="1688C2"/>
                </a:solidFill>
                <a:latin typeface="DejaVu Sans"/>
                <a:ea typeface="DejaVu Sans"/>
                <a:cs typeface="DejaVu Sans"/>
              </a:rPr>
              <a:t>↩ Call-centre overview</a:t>
            </a:r>
          </a:p>
        </p:txBody>
      </p:sp>
    </p:spTree>
    <p:extLst>
      <p:ext uri="{BB962C8B-B14F-4D97-AF65-F5344CB8AC3E}">
        <p14:creationId xmlns:p14="http://schemas.microsoft.com/office/powerpoint/2010/main" val="130357846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3DA7012F-B38E-49EE-9226-8D81BE946750}"/>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11E13BD5-8F7B-43DD-9280-3CB0D672E61D}"/>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Call-centre portfolio: two closures and two reviews</a:t>
            </a:r>
          </a:p>
        </p:txBody>
      </p:sp>
      <p:sp>
        <p:nvSpPr>
          <p:cNvPr id="3" name="">
            <a:extLst xmlns:a="http://schemas.openxmlformats.org/drawingml/2006/main">
              <a:ext uri="{FF2B5EF4-FFF2-40B4-BE49-F238E27FC236}">
                <a16:creationId xmlns:a16="http://schemas.microsoft.com/office/drawing/2014/main" id="{2E3A0C2B-F529-4D8C-AE4C-0260BDC60167}"/>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Five own demands. Suspension and review require explicit management decisions.</a:t>
            </a:r>
          </a:p>
        </p:txBody>
      </p:sp>
      <p:sp>
        <p:nvSpPr>
          <p:cNvPr id="4" name="">
            <a:extLst xmlns:a="http://schemas.openxmlformats.org/drawingml/2006/main">
              <a:ext uri="{FF2B5EF4-FFF2-40B4-BE49-F238E27FC236}">
                <a16:creationId xmlns:a16="http://schemas.microsoft.com/office/drawing/2014/main" id="{BBB3754E-4963-4FB8-96A5-A95BBCEFF71F}"/>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2FB14992-280D-4E73-BA6B-8CE69D42D24E}"/>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21</a:t>
            </a:r>
          </a:p>
        </p:txBody>
      </p:sp>
      <p:sp>
        <p:nvSpPr>
          <p:cNvPr id="6" name="">
            <a:extLst xmlns:a="http://schemas.openxmlformats.org/drawingml/2006/main">
              <a:ext uri="{FF2B5EF4-FFF2-40B4-BE49-F238E27FC236}">
                <a16:creationId xmlns:a16="http://schemas.microsoft.com/office/drawing/2014/main" id="{8AB15D57-B756-4A54-B480-30DD63718B0F}"/>
              </a:ext>
            </a:extLst>
          </p:cNvPr>
          <p:cNvSpPr>
            <a:spLocks xmlns:a="http://schemas.openxmlformats.org/drawingml/2006/main" noGrp="1"/>
          </p:cNvSpPr>
          <p:nvPr/>
        </p:nvSpPr>
        <p:spPr>
          <a:xfrm xmlns:a="http://schemas.openxmlformats.org/drawingml/2006/main">
            <a:off x="457200" y="2143125"/>
            <a:ext cx="3657600" cy="1809750"/>
          </a:xfrm>
          <a:prstGeom xmlns:a="http://schemas.openxmlformats.org/drawingml/2006/main" prst="roundRect">
            <a:avLst>
              <a:gd name="adj" fmla="val 631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5C5BFBF-B706-4861-8A99-F16B778F954E}"/>
              </a:ext>
            </a:extLst>
          </p:cNvPr>
          <p:cNvSpPr>
            <a:spLocks xmlns:a="http://schemas.openxmlformats.org/drawingml/2006/main" noGrp="1"/>
          </p:cNvSpPr>
          <p:nvPr/>
        </p:nvSpPr>
        <p:spPr>
          <a:xfrm xmlns:a="http://schemas.openxmlformats.org/drawingml/2006/main">
            <a:off x="628650" y="2276475"/>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  DMGT-2171</a:t>
            </a:r>
          </a:p>
        </p:txBody>
      </p:sp>
      <p:sp>
        <p:nvSpPr>
          <p:cNvPr id="8" name="">
            <a:extLst xmlns:a="http://schemas.openxmlformats.org/drawingml/2006/main">
              <a:ext uri="{FF2B5EF4-FFF2-40B4-BE49-F238E27FC236}">
                <a16:creationId xmlns:a16="http://schemas.microsoft.com/office/drawing/2014/main" id="{94E244D4-102A-4C02-8228-D573ACB42094}"/>
              </a:ext>
            </a:extLst>
          </p:cNvPr>
          <p:cNvSpPr>
            <a:spLocks xmlns:a="http://schemas.openxmlformats.org/drawingml/2006/main" noGrp="1"/>
          </p:cNvSpPr>
          <p:nvPr/>
        </p:nvSpPr>
        <p:spPr>
          <a:xfrm xmlns:a="http://schemas.openxmlformats.org/drawingml/2006/main">
            <a:off x="628650" y="2752725"/>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IVR WhatsApp / SMS extension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Closure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September 2026 go-live</a:t>
            </a:r>
          </a:p>
        </p:txBody>
      </p:sp>
      <p:sp>
        <p:nvSpPr>
          <p:cNvPr id="9" name="">
            <a:extLst xmlns:a="http://schemas.openxmlformats.org/drawingml/2006/main">
              <a:ext uri="{FF2B5EF4-FFF2-40B4-BE49-F238E27FC236}">
                <a16:creationId xmlns:a16="http://schemas.microsoft.com/office/drawing/2014/main" id="{0FC3685C-6B18-40FC-A6BB-29AA0F05070A}"/>
              </a:ext>
            </a:extLst>
          </p:cNvPr>
          <p:cNvSpPr>
            <a:spLocks xmlns:a="http://schemas.openxmlformats.org/drawingml/2006/main" noGrp="1"/>
          </p:cNvSpPr>
          <p:nvPr/>
        </p:nvSpPr>
        <p:spPr>
          <a:xfrm xmlns:a="http://schemas.openxmlformats.org/drawingml/2006/main">
            <a:off x="4267200" y="2143125"/>
            <a:ext cx="3657600" cy="1809750"/>
          </a:xfrm>
          <a:prstGeom xmlns:a="http://schemas.openxmlformats.org/drawingml/2006/main" prst="roundRect">
            <a:avLst>
              <a:gd name="adj" fmla="val 631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758584A5-B310-4252-86A4-68F88B099AC2}"/>
              </a:ext>
            </a:extLst>
          </p:cNvPr>
          <p:cNvSpPr>
            <a:spLocks xmlns:a="http://schemas.openxmlformats.org/drawingml/2006/main" noGrp="1"/>
          </p:cNvSpPr>
          <p:nvPr/>
        </p:nvSpPr>
        <p:spPr>
          <a:xfrm xmlns:a="http://schemas.openxmlformats.org/drawingml/2006/main">
            <a:off x="4438650" y="2276475"/>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DMGT-443</a:t>
            </a:r>
          </a:p>
        </p:txBody>
      </p:sp>
      <p:sp>
        <p:nvSpPr>
          <p:cNvPr id="11" name="">
            <a:extLst xmlns:a="http://schemas.openxmlformats.org/drawingml/2006/main">
              <a:ext uri="{FF2B5EF4-FFF2-40B4-BE49-F238E27FC236}">
                <a16:creationId xmlns:a16="http://schemas.microsoft.com/office/drawing/2014/main" id="{C92B6A48-0576-41F2-B1F2-40F41AAB9A99}"/>
              </a:ext>
            </a:extLst>
          </p:cNvPr>
          <p:cNvSpPr>
            <a:spLocks xmlns:a="http://schemas.openxmlformats.org/drawingml/2006/main" noGrp="1"/>
          </p:cNvSpPr>
          <p:nvPr/>
        </p:nvSpPr>
        <p:spPr>
          <a:xfrm xmlns:a="http://schemas.openxmlformats.org/drawingml/2006/main">
            <a:off x="4438650" y="2752725"/>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Eleveo recording OS remediation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Closure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July 2026 go-live</a:t>
            </a:r>
          </a:p>
        </p:txBody>
      </p:sp>
      <p:sp>
        <p:nvSpPr>
          <p:cNvPr id="12" name="">
            <a:extLst xmlns:a="http://schemas.openxmlformats.org/drawingml/2006/main">
              <a:ext uri="{FF2B5EF4-FFF2-40B4-BE49-F238E27FC236}">
                <a16:creationId xmlns:a16="http://schemas.microsoft.com/office/drawing/2014/main" id="{616047FE-4160-4A76-B8AE-8C4BB611D4C2}"/>
              </a:ext>
            </a:extLst>
          </p:cNvPr>
          <p:cNvSpPr>
            <a:spLocks xmlns:a="http://schemas.openxmlformats.org/drawingml/2006/main" noGrp="1"/>
          </p:cNvSpPr>
          <p:nvPr/>
        </p:nvSpPr>
        <p:spPr>
          <a:xfrm xmlns:a="http://schemas.openxmlformats.org/drawingml/2006/main">
            <a:off x="8077200" y="2143125"/>
            <a:ext cx="3657600" cy="1809750"/>
          </a:xfrm>
          <a:prstGeom xmlns:a="http://schemas.openxmlformats.org/drawingml/2006/main" prst="roundRect">
            <a:avLst>
              <a:gd name="adj" fmla="val 631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91DC650-B14E-4CF5-8909-67DC445DB1AB}"/>
              </a:ext>
            </a:extLst>
          </p:cNvPr>
          <p:cNvSpPr>
            <a:spLocks xmlns:a="http://schemas.openxmlformats.org/drawingml/2006/main" noGrp="1"/>
          </p:cNvSpPr>
          <p:nvPr/>
        </p:nvSpPr>
        <p:spPr>
          <a:xfrm xmlns:a="http://schemas.openxmlformats.org/drawingml/2006/main">
            <a:off x="8248650" y="2276475"/>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  DMGT-1837</a:t>
            </a:r>
          </a:p>
        </p:txBody>
      </p:sp>
      <p:sp>
        <p:nvSpPr>
          <p:cNvPr id="14" name="">
            <a:extLst xmlns:a="http://schemas.openxmlformats.org/drawingml/2006/main">
              <a:ext uri="{FF2B5EF4-FFF2-40B4-BE49-F238E27FC236}">
                <a16:creationId xmlns:a16="http://schemas.microsoft.com/office/drawing/2014/main" id="{1A4319DF-3B45-46E7-A9EB-6C8728D096A0}"/>
              </a:ext>
            </a:extLst>
          </p:cNvPr>
          <p:cNvSpPr>
            <a:spLocks xmlns:a="http://schemas.openxmlformats.org/drawingml/2006/main" noGrp="1"/>
          </p:cNvSpPr>
          <p:nvPr/>
        </p:nvSpPr>
        <p:spPr>
          <a:xfrm xmlns:a="http://schemas.openxmlformats.org/drawingml/2006/main">
            <a:off x="8248650" y="2752725"/>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Call Centre cloud migration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Review</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Q4 2027 target</a:t>
            </a:r>
          </a:p>
        </p:txBody>
      </p:sp>
      <p:sp>
        <p:nvSpPr>
          <p:cNvPr id="15" name="">
            <a:extLst xmlns:a="http://schemas.openxmlformats.org/drawingml/2006/main">
              <a:ext uri="{FF2B5EF4-FFF2-40B4-BE49-F238E27FC236}">
                <a16:creationId xmlns:a16="http://schemas.microsoft.com/office/drawing/2014/main" id="{AAE9CBBF-3386-487F-B157-ADC5A635301D}"/>
              </a:ext>
            </a:extLst>
          </p:cNvPr>
          <p:cNvSpPr>
            <a:spLocks xmlns:a="http://schemas.openxmlformats.org/drawingml/2006/main" noGrp="1"/>
          </p:cNvSpPr>
          <p:nvPr/>
        </p:nvSpPr>
        <p:spPr>
          <a:xfrm xmlns:a="http://schemas.openxmlformats.org/drawingml/2006/main">
            <a:off x="457200" y="4152900"/>
            <a:ext cx="3657600" cy="1809750"/>
          </a:xfrm>
          <a:prstGeom xmlns:a="http://schemas.openxmlformats.org/drawingml/2006/main" prst="roundRect">
            <a:avLst>
              <a:gd name="adj" fmla="val 631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99D65CCE-A149-47F3-9FC8-4E78C417DF7B}"/>
              </a:ext>
            </a:extLst>
          </p:cNvPr>
          <p:cNvSpPr>
            <a:spLocks xmlns:a="http://schemas.openxmlformats.org/drawingml/2006/main" noGrp="1"/>
          </p:cNvSpPr>
          <p:nvPr/>
        </p:nvSpPr>
        <p:spPr>
          <a:xfrm xmlns:a="http://schemas.openxmlformats.org/drawingml/2006/main">
            <a:off x="628650" y="42862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CC7D16"/>
                </a:solidFill>
                <a:latin typeface="DejaVu Sans"/>
                <a:ea typeface="DejaVu Sans"/>
                <a:cs typeface="DejaVu Sans"/>
              </a:defRPr>
            </a:pPr>
            <a:r>
              <a:rPr sz="1875" b="1">
                <a:solidFill>
                  <a:srgbClr val="CC7D16"/>
                </a:solidFill>
                <a:latin typeface="DejaVu Sans"/>
                <a:ea typeface="DejaVu Sans"/>
                <a:cs typeface="DejaVu Sans"/>
              </a:rPr>
              <a:t>▦  DMGT-2147</a:t>
            </a:r>
          </a:p>
        </p:txBody>
      </p:sp>
      <p:sp>
        <p:nvSpPr>
          <p:cNvPr id="17" name="">
            <a:extLst xmlns:a="http://schemas.openxmlformats.org/drawingml/2006/main">
              <a:ext uri="{FF2B5EF4-FFF2-40B4-BE49-F238E27FC236}">
                <a16:creationId xmlns:a16="http://schemas.microsoft.com/office/drawing/2014/main" id="{23681D8E-FCBC-479D-AE53-CE96DAACC26B}"/>
              </a:ext>
            </a:extLst>
          </p:cNvPr>
          <p:cNvSpPr>
            <a:spLocks xmlns:a="http://schemas.openxmlformats.org/drawingml/2006/main" noGrp="1"/>
          </p:cNvSpPr>
          <p:nvPr/>
        </p:nvSpPr>
        <p:spPr>
          <a:xfrm xmlns:a="http://schemas.openxmlformats.org/drawingml/2006/main">
            <a:off x="628650" y="4762500"/>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Recording / reporting for telemarketing regulations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Review</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Go-live TBD</a:t>
            </a:r>
          </a:p>
        </p:txBody>
      </p:sp>
      <p:sp>
        <p:nvSpPr>
          <p:cNvPr id="18" name="">
            <a:extLst xmlns:a="http://schemas.openxmlformats.org/drawingml/2006/main">
              <a:ext uri="{FF2B5EF4-FFF2-40B4-BE49-F238E27FC236}">
                <a16:creationId xmlns:a16="http://schemas.microsoft.com/office/drawing/2014/main" id="{2249C89B-7932-4DD5-86E1-1AEDEEA67732}"/>
              </a:ext>
            </a:extLst>
          </p:cNvPr>
          <p:cNvSpPr>
            <a:spLocks xmlns:a="http://schemas.openxmlformats.org/drawingml/2006/main" noGrp="1"/>
          </p:cNvSpPr>
          <p:nvPr/>
        </p:nvSpPr>
        <p:spPr>
          <a:xfrm xmlns:a="http://schemas.openxmlformats.org/drawingml/2006/main">
            <a:off x="4267200" y="4152900"/>
            <a:ext cx="3657600" cy="1809750"/>
          </a:xfrm>
          <a:prstGeom xmlns:a="http://schemas.openxmlformats.org/drawingml/2006/main" prst="roundRect">
            <a:avLst>
              <a:gd name="adj" fmla="val 6316"/>
            </a:avLst>
          </a:prstGeom>
          <a:solidFill xmlns:a="http://schemas.openxmlformats.org/drawingml/2006/main">
            <a:srgbClr val="FCEA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3D23D995-1C27-45DD-A611-6D87DA7B9E79}"/>
              </a:ext>
            </a:extLst>
          </p:cNvPr>
          <p:cNvSpPr>
            <a:spLocks xmlns:a="http://schemas.openxmlformats.org/drawingml/2006/main" noGrp="1"/>
          </p:cNvSpPr>
          <p:nvPr/>
        </p:nvSpPr>
        <p:spPr>
          <a:xfrm xmlns:a="http://schemas.openxmlformats.org/drawingml/2006/main">
            <a:off x="4438650" y="42862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D35373"/>
                </a:solidFill>
                <a:latin typeface="DejaVu Sans"/>
                <a:ea typeface="DejaVu Sans"/>
                <a:cs typeface="DejaVu Sans"/>
              </a:defRPr>
            </a:pPr>
            <a:r>
              <a:rPr sz="1875" b="1">
                <a:solidFill>
                  <a:srgbClr val="D35373"/>
                </a:solidFill>
                <a:latin typeface="DejaVu Sans"/>
                <a:ea typeface="DejaVu Sans"/>
                <a:cs typeface="DejaVu Sans"/>
              </a:rPr>
              <a:t>Ⅱ  DMGT-250</a:t>
            </a:r>
          </a:p>
        </p:txBody>
      </p:sp>
      <p:sp>
        <p:nvSpPr>
          <p:cNvPr id="20" name="">
            <a:extLst xmlns:a="http://schemas.openxmlformats.org/drawingml/2006/main">
              <a:ext uri="{FF2B5EF4-FFF2-40B4-BE49-F238E27FC236}">
                <a16:creationId xmlns:a16="http://schemas.microsoft.com/office/drawing/2014/main" id="{18C7BE6A-CD00-4DA8-872B-C1C4AE8B4100}"/>
              </a:ext>
            </a:extLst>
          </p:cNvPr>
          <p:cNvSpPr>
            <a:spLocks xmlns:a="http://schemas.openxmlformats.org/drawingml/2006/main" noGrp="1"/>
          </p:cNvSpPr>
          <p:nvPr/>
        </p:nvSpPr>
        <p:spPr>
          <a:xfrm xmlns:a="http://schemas.openxmlformats.org/drawingml/2006/main">
            <a:off x="4438650" y="4762500"/>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IVR WhatsApp / SMS notifications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Suspended</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April 2026 source date</a:t>
            </a:r>
          </a:p>
        </p:txBody>
      </p:sp>
      <p:sp>
        <p:nvSpPr>
          <p:cNvPr id="21" name="">
            <a:extLst xmlns:a="http://schemas.openxmlformats.org/drawingml/2006/main">
              <a:ext uri="{FF2B5EF4-FFF2-40B4-BE49-F238E27FC236}">
                <a16:creationId xmlns:a16="http://schemas.microsoft.com/office/drawing/2014/main" id="{1BE258FD-F2C0-4F7E-80DD-0A4C8D4104A2}"/>
              </a:ext>
            </a:extLst>
          </p:cNvPr>
          <p:cNvSpPr>
            <a:spLocks xmlns:a="http://schemas.openxmlformats.org/drawingml/2006/main" noGrp="1"/>
          </p:cNvSpPr>
          <p:nvPr/>
        </p:nvSpPr>
        <p:spPr>
          <a:xfrm xmlns:a="http://schemas.openxmlformats.org/drawingml/2006/main">
            <a:off x="8077200" y="4152900"/>
            <a:ext cx="3657600" cy="1809750"/>
          </a:xfrm>
          <a:prstGeom xmlns:a="http://schemas.openxmlformats.org/drawingml/2006/main" prst="roundRect">
            <a:avLst>
              <a:gd name="adj" fmla="val 6316"/>
            </a:avLst>
          </a:prstGeom>
          <a:solidFill xmlns:a="http://schemas.openxmlformats.org/drawingml/2006/main">
            <a:srgbClr val="E8F3F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0C44B4D1-A452-4C6C-95C9-77999CE7A2BC}"/>
              </a:ext>
            </a:extLst>
          </p:cNvPr>
          <p:cNvSpPr>
            <a:spLocks xmlns:a="http://schemas.openxmlformats.org/drawingml/2006/main" noGrp="1"/>
          </p:cNvSpPr>
          <p:nvPr/>
        </p:nvSpPr>
        <p:spPr>
          <a:xfrm xmlns:a="http://schemas.openxmlformats.org/drawingml/2006/main">
            <a:off x="8248650" y="4286250"/>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Review priorities</a:t>
            </a:r>
          </a:p>
        </p:txBody>
      </p:sp>
      <p:sp>
        <p:nvSpPr>
          <p:cNvPr id="23" name="">
            <a:extLst xmlns:a="http://schemas.openxmlformats.org/drawingml/2006/main">
              <a:ext uri="{FF2B5EF4-FFF2-40B4-BE49-F238E27FC236}">
                <a16:creationId xmlns:a16="http://schemas.microsoft.com/office/drawing/2014/main" id="{80DAC1D3-52D8-4E27-9F47-C6C457C4A961}"/>
              </a:ext>
            </a:extLst>
          </p:cNvPr>
          <p:cNvSpPr>
            <a:spLocks xmlns:a="http://schemas.openxmlformats.org/drawingml/2006/main" noGrp="1"/>
          </p:cNvSpPr>
          <p:nvPr/>
        </p:nvSpPr>
        <p:spPr>
          <a:xfrm xmlns:a="http://schemas.openxmlformats.org/drawingml/2006/main">
            <a:off x="8248650" y="4762500"/>
            <a:ext cx="331470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Confirm suspended demand disposition</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Agree review outcomes and dates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Maintain cloud migration readiness</a:t>
            </a:r>
          </a:p>
        </p:txBody>
      </p:sp>
      <p:sp>
        <p:nvSpPr>
          <p:cNvPr id="24" name="">
            <a:extLst xmlns:a="http://schemas.openxmlformats.org/drawingml/2006/main">
              <a:ext uri="{FF2B5EF4-FFF2-40B4-BE49-F238E27FC236}">
                <a16:creationId xmlns:a16="http://schemas.microsoft.com/office/drawing/2014/main" id="{5CF3E877-6E6E-49A6-BA42-CE5B5CF4AF92}"/>
              </a:ext>
            </a:extLst>
            <ns0:hlinkClick xmlns:ns0="http://schemas.openxmlformats.org/drawingml/2006/main" xmlns:ns1="http://schemas.openxmlformats.org/officeDocument/2006/relationships" ns1:id="rIdCC16" action="ppaction://hlinksldjump"/>
          </p:cNvPr>
          <p:cNvSpPr>
            <a:spLocks xmlns:a="http://schemas.openxmlformats.org/drawingml/2006/main" noGrp="1"/>
          </p:cNvSpPr>
          <p:nvPr/>
        </p:nvSpPr>
        <p:spPr>
          <a:xfrm xmlns:a="http://schemas.openxmlformats.org/drawingml/2006/main">
            <a:off x="9029700" y="2381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88C2"/>
                </a:solidFill>
                <a:latin typeface="DejaVu Sans"/>
                <a:ea typeface="DejaVu Sans"/>
                <a:cs typeface="DejaVu Sans"/>
              </a:defRPr>
            </a:pPr>
            <a:r>
              <a:rPr sz="1200" b="1">
                <a:solidFill>
                  <a:srgbClr val="1688C2"/>
                </a:solidFill>
                <a:latin typeface="DejaVu Sans"/>
                <a:ea typeface="DejaVu Sans"/>
                <a:cs typeface="DejaVu Sans"/>
              </a:rPr>
              <a:t>↩ Call-centre overview</a:t>
            </a:r>
          </a:p>
        </p:txBody>
      </p:sp>
    </p:spTree>
    <p:extLst>
      <p:ext uri="{BB962C8B-B14F-4D97-AF65-F5344CB8AC3E}">
        <p14:creationId xmlns:p14="http://schemas.microsoft.com/office/powerpoint/2010/main" val="21502983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BF4383F8-EB4F-4B3E-BCA3-D1ED47515D9A}"/>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2DD59ED6-0C3D-4A01-B169-8E6830B86B56}"/>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Partner support spans 13 demands across CET, CORE and EIS</a:t>
            </a:r>
          </a:p>
        </p:txBody>
      </p:sp>
      <p:sp>
        <p:nvSpPr>
          <p:cNvPr id="3" name="">
            <a:extLst xmlns:a="http://schemas.openxmlformats.org/drawingml/2006/main">
              <a:ext uri="{FF2B5EF4-FFF2-40B4-BE49-F238E27FC236}">
                <a16:creationId xmlns:a16="http://schemas.microsoft.com/office/drawing/2014/main" id="{101F1818-86C0-4256-AEEC-B644055EEB6A}"/>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Five fulfilled, five in support, two in review and one not approved.</a:t>
            </a:r>
          </a:p>
        </p:txBody>
      </p:sp>
      <p:sp>
        <p:nvSpPr>
          <p:cNvPr id="4" name="">
            <a:extLst xmlns:a="http://schemas.openxmlformats.org/drawingml/2006/main">
              <a:ext uri="{FF2B5EF4-FFF2-40B4-BE49-F238E27FC236}">
                <a16:creationId xmlns:a16="http://schemas.microsoft.com/office/drawing/2014/main" id="{99794C21-6FD3-4EDC-999D-52F6B423889C}"/>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BB2D7393-C814-4B17-AC85-7E1B6422C5BA}"/>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22</a:t>
            </a:r>
          </a:p>
        </p:txBody>
      </p:sp>
      <p:sp>
        <p:nvSpPr>
          <p:cNvPr id="6" name="">
            <a:extLst xmlns:a="http://schemas.openxmlformats.org/drawingml/2006/main">
              <a:ext uri="{FF2B5EF4-FFF2-40B4-BE49-F238E27FC236}">
                <a16:creationId xmlns:a16="http://schemas.microsoft.com/office/drawing/2014/main" id="{448A6E6B-487E-4F09-8753-C7B656E13B53}"/>
              </a:ext>
            </a:extLst>
          </p:cNvPr>
          <p:cNvSpPr>
            <a:spLocks xmlns:a="http://schemas.openxmlformats.org/drawingml/2006/main" noGrp="1"/>
          </p:cNvSpPr>
          <p:nvPr/>
        </p:nvSpPr>
        <p:spPr>
          <a:xfrm xmlns:a="http://schemas.openxmlformats.org/drawingml/2006/main">
            <a:off x="457200" y="2143125"/>
            <a:ext cx="3657600" cy="4105275"/>
          </a:xfrm>
          <a:prstGeom xmlns:a="http://schemas.openxmlformats.org/drawingml/2006/main" prst="roundRect">
            <a:avLst>
              <a:gd name="adj" fmla="val 3125"/>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BE704BEA-E93F-4AFB-A736-2262FD57704D}"/>
              </a:ext>
            </a:extLst>
          </p:cNvPr>
          <p:cNvSpPr>
            <a:spLocks xmlns:a="http://schemas.openxmlformats.org/drawingml/2006/main" noGrp="1"/>
          </p:cNvSpPr>
          <p:nvPr/>
        </p:nvSpPr>
        <p:spPr>
          <a:xfrm xmlns:a="http://schemas.openxmlformats.org/drawingml/2006/main">
            <a:off x="628650" y="2276475"/>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087F68"/>
                </a:solidFill>
                <a:latin typeface="DejaVu Sans"/>
                <a:ea typeface="DejaVu Sans"/>
                <a:cs typeface="DejaVu Sans"/>
              </a:defRPr>
            </a:pPr>
            <a:r>
              <a:rPr sz="1875" b="1">
                <a:solidFill>
                  <a:srgbClr val="087F68"/>
                </a:solidFill>
                <a:latin typeface="DejaVu Sans"/>
                <a:ea typeface="DejaVu Sans"/>
                <a:cs typeface="DejaVu Sans"/>
              </a:rPr>
              <a:t>✓  Fulfilled (5)</a:t>
            </a:r>
          </a:p>
        </p:txBody>
      </p:sp>
      <p:sp>
        <p:nvSpPr>
          <p:cNvPr id="8" name="">
            <a:extLst xmlns:a="http://schemas.openxmlformats.org/drawingml/2006/main">
              <a:ext uri="{FF2B5EF4-FFF2-40B4-BE49-F238E27FC236}">
                <a16:creationId xmlns:a16="http://schemas.microsoft.com/office/drawing/2014/main" id="{3A9F9F7B-CCBE-48A1-8C76-F4F81794045F}"/>
              </a:ext>
            </a:extLst>
          </p:cNvPr>
          <p:cNvSpPr>
            <a:spLocks xmlns:a="http://schemas.openxmlformats.org/drawingml/2006/main" noGrp="1"/>
          </p:cNvSpPr>
          <p:nvPr/>
        </p:nvSpPr>
        <p:spPr>
          <a:xfrm xmlns:a="http://schemas.openxmlformats.org/drawingml/2006/main">
            <a:off x="628650" y="2752725"/>
            <a:ext cx="33147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1692: DIB logo update (CET), Feb 2026</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22: ESG digital savings (CET), Jul 2026</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1707: DNCR API / Genesys testing (EIS), Sep</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993: Jaywan Tracks 2 &amp; 3 (CET), Sep</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43: Deposit-account credit restrictions (CORE)</a:t>
            </a:r>
          </a:p>
        </p:txBody>
      </p:sp>
      <p:sp>
        <p:nvSpPr>
          <p:cNvPr id="9" name="">
            <a:extLst xmlns:a="http://schemas.openxmlformats.org/drawingml/2006/main">
              <a:ext uri="{FF2B5EF4-FFF2-40B4-BE49-F238E27FC236}">
                <a16:creationId xmlns:a16="http://schemas.microsoft.com/office/drawing/2014/main" id="{28AA6798-18DB-4412-BA63-938244BC332D}"/>
              </a:ext>
            </a:extLst>
          </p:cNvPr>
          <p:cNvSpPr>
            <a:spLocks xmlns:a="http://schemas.openxmlformats.org/drawingml/2006/main" noGrp="1"/>
          </p:cNvSpPr>
          <p:nvPr/>
        </p:nvSpPr>
        <p:spPr>
          <a:xfrm xmlns:a="http://schemas.openxmlformats.org/drawingml/2006/main">
            <a:off x="4267200" y="2143125"/>
            <a:ext cx="3657600" cy="4105275"/>
          </a:xfrm>
          <a:prstGeom xmlns:a="http://schemas.openxmlformats.org/drawingml/2006/main" prst="roundRect">
            <a:avLst>
              <a:gd name="adj" fmla="val 3125"/>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26A29AE-D0CD-492B-9552-0E503F267797}"/>
              </a:ext>
            </a:extLst>
          </p:cNvPr>
          <p:cNvSpPr>
            <a:spLocks xmlns:a="http://schemas.openxmlformats.org/drawingml/2006/main" noGrp="1"/>
          </p:cNvSpPr>
          <p:nvPr/>
        </p:nvSpPr>
        <p:spPr>
          <a:xfrm xmlns:a="http://schemas.openxmlformats.org/drawingml/2006/main">
            <a:off x="4438650" y="2276475"/>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688C2"/>
                </a:solidFill>
                <a:latin typeface="DejaVu Sans"/>
                <a:ea typeface="DejaVu Sans"/>
                <a:cs typeface="DejaVu Sans"/>
              </a:defRPr>
            </a:pPr>
            <a:r>
              <a:rPr sz="1875" b="1">
                <a:solidFill>
                  <a:srgbClr val="1688C2"/>
                </a:solidFill>
                <a:latin typeface="DejaVu Sans"/>
                <a:ea typeface="DejaVu Sans"/>
                <a:cs typeface="DejaVu Sans"/>
              </a:rPr>
              <a:t>⚙  In support (5)</a:t>
            </a:r>
          </a:p>
        </p:txBody>
      </p:sp>
      <p:sp>
        <p:nvSpPr>
          <p:cNvPr id="11" name="">
            <a:extLst xmlns:a="http://schemas.openxmlformats.org/drawingml/2006/main">
              <a:ext uri="{FF2B5EF4-FFF2-40B4-BE49-F238E27FC236}">
                <a16:creationId xmlns:a16="http://schemas.microsoft.com/office/drawing/2014/main" id="{80D683CD-4782-4D16-8821-DBC47398F5C9}"/>
              </a:ext>
            </a:extLst>
          </p:cNvPr>
          <p:cNvSpPr>
            <a:spLocks xmlns:a="http://schemas.openxmlformats.org/drawingml/2006/main" noGrp="1"/>
          </p:cNvSpPr>
          <p:nvPr/>
        </p:nvSpPr>
        <p:spPr>
          <a:xfrm xmlns:a="http://schemas.openxmlformats.org/drawingml/2006/main">
            <a:off x="4438650" y="2752725"/>
            <a:ext cx="33147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1368: DU ePayment (CET)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1326: Dormancy / fund transfer to CBUAE (CORE)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714: Statements / blacklist flag (CORE)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1680: Emirati covered cards (CET)</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1305: Jaywan CoBadge Track 4 (CET)</a:t>
            </a:r>
          </a:p>
        </p:txBody>
      </p:sp>
      <p:sp>
        <p:nvSpPr>
          <p:cNvPr id="12" name="">
            <a:extLst xmlns:a="http://schemas.openxmlformats.org/drawingml/2006/main">
              <a:ext uri="{FF2B5EF4-FFF2-40B4-BE49-F238E27FC236}">
                <a16:creationId xmlns:a16="http://schemas.microsoft.com/office/drawing/2014/main" id="{E6956845-68D6-4219-9B74-9A528152FDCB}"/>
              </a:ext>
            </a:extLst>
          </p:cNvPr>
          <p:cNvSpPr>
            <a:spLocks xmlns:a="http://schemas.openxmlformats.org/drawingml/2006/main" noGrp="1"/>
          </p:cNvSpPr>
          <p:nvPr/>
        </p:nvSpPr>
        <p:spPr>
          <a:xfrm xmlns:a="http://schemas.openxmlformats.org/drawingml/2006/main">
            <a:off x="8077200" y="2143125"/>
            <a:ext cx="3657600" cy="4105275"/>
          </a:xfrm>
          <a:prstGeom xmlns:a="http://schemas.openxmlformats.org/drawingml/2006/main" prst="roundRect">
            <a:avLst>
              <a:gd name="adj" fmla="val 3125"/>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64F4EA30-8127-4E2D-9B55-AE4D96E927DF}"/>
              </a:ext>
            </a:extLst>
          </p:cNvPr>
          <p:cNvSpPr>
            <a:spLocks xmlns:a="http://schemas.openxmlformats.org/drawingml/2006/main" noGrp="1"/>
          </p:cNvSpPr>
          <p:nvPr/>
        </p:nvSpPr>
        <p:spPr>
          <a:xfrm xmlns:a="http://schemas.openxmlformats.org/drawingml/2006/main">
            <a:off x="8248650" y="2276475"/>
            <a:ext cx="33147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875BC5"/>
                </a:solidFill>
                <a:latin typeface="DejaVu Sans"/>
                <a:ea typeface="DejaVu Sans"/>
                <a:cs typeface="DejaVu Sans"/>
              </a:defRPr>
            </a:pPr>
            <a:r>
              <a:rPr sz="1875" b="1">
                <a:solidFill>
                  <a:srgbClr val="875BC5"/>
                </a:solidFill>
                <a:latin typeface="DejaVu Sans"/>
                <a:ea typeface="DejaVu Sans"/>
                <a:cs typeface="DejaVu Sans"/>
              </a:rPr>
              <a:t>◉  Decisions (3)</a:t>
            </a:r>
          </a:p>
        </p:txBody>
      </p:sp>
      <p:sp>
        <p:nvSpPr>
          <p:cNvPr id="14" name="">
            <a:extLst xmlns:a="http://schemas.openxmlformats.org/drawingml/2006/main">
              <a:ext uri="{FF2B5EF4-FFF2-40B4-BE49-F238E27FC236}">
                <a16:creationId xmlns:a16="http://schemas.microsoft.com/office/drawing/2014/main" id="{64BE4E79-3116-46BB-87C6-4E157F18BCE9}"/>
              </a:ext>
            </a:extLst>
          </p:cNvPr>
          <p:cNvSpPr>
            <a:spLocks xmlns:a="http://schemas.openxmlformats.org/drawingml/2006/main" noGrp="1"/>
          </p:cNvSpPr>
          <p:nvPr/>
        </p:nvSpPr>
        <p:spPr>
          <a:xfrm xmlns:a="http://schemas.openxmlformats.org/drawingml/2006/main">
            <a:off x="8248650" y="2752725"/>
            <a:ext cx="3314700" cy="3390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1802: Universal Accounts</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Notice 680.2026 (CET), ITC review</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1248: Collections dialer upgrade</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(EIS), ITC review</a:t>
            </a:r>
          </a:p>
          <a:p xmlns:a="http://schemas.openxmlformats.org/drawingml/2006/main">
            <a:r>
              <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1785: A-Ignite engagement / dialer</a:t>
            </a:r>
          </a:p>
          <a:p xmlns:a="http://schemas.openxmlformats.org/drawingml/2006/main">
            <a:pPr>
              <a:defRPr sz="1275" b="0">
                <a:solidFill>
                  <a:srgbClr val="173A4B"/>
                </a:solidFill>
                <a:latin typeface="DejaVu Sans"/>
                <a:ea typeface="DejaVu Sans"/>
                <a:cs typeface="DejaVu Sans"/>
              </a:defRPr>
            </a:pPr>
            <a:r>
              <a:rPr sz="1275" b="0">
                <a:solidFill>
                  <a:srgbClr val="173A4B"/>
                </a:solidFill>
                <a:latin typeface="DejaVu Sans"/>
                <a:ea typeface="DejaVu Sans"/>
                <a:cs typeface="DejaVu Sans"/>
              </a:rPr>
              <a:t>(CET), ITC not approved on 21 Sep</a:t>
            </a:r>
          </a:p>
        </p:txBody>
      </p:sp>
      <p:sp>
        <p:nvSpPr>
          <p:cNvPr id="15" name="">
            <a:extLst xmlns:a="http://schemas.openxmlformats.org/drawingml/2006/main">
              <a:ext uri="{FF2B5EF4-FFF2-40B4-BE49-F238E27FC236}">
                <a16:creationId xmlns:a16="http://schemas.microsoft.com/office/drawing/2014/main" id="{2EA35931-CCDE-44D5-A1BE-549A52F5C173}"/>
              </a:ext>
            </a:extLst>
            <ns0:hlinkClick xmlns:ns0="http://schemas.openxmlformats.org/drawingml/2006/main" xmlns:ns1="http://schemas.openxmlformats.org/officeDocument/2006/relationships" ns1:id="rIdCC16" action="ppaction://hlinksldjump"/>
          </p:cNvPr>
          <p:cNvSpPr>
            <a:spLocks xmlns:a="http://schemas.openxmlformats.org/drawingml/2006/main" noGrp="1"/>
          </p:cNvSpPr>
          <p:nvPr/>
        </p:nvSpPr>
        <p:spPr>
          <a:xfrm xmlns:a="http://schemas.openxmlformats.org/drawingml/2006/main">
            <a:off x="9029700" y="238125"/>
            <a:ext cx="27051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688C2"/>
                </a:solidFill>
                <a:latin typeface="DejaVu Sans"/>
                <a:ea typeface="DejaVu Sans"/>
                <a:cs typeface="DejaVu Sans"/>
              </a:defRPr>
            </a:pPr>
            <a:r>
              <a:rPr sz="1200" b="1">
                <a:solidFill>
                  <a:srgbClr val="1688C2"/>
                </a:solidFill>
                <a:latin typeface="DejaVu Sans"/>
                <a:ea typeface="DejaVu Sans"/>
                <a:cs typeface="DejaVu Sans"/>
              </a:rPr>
              <a:t>↩ Call-centre overview</a:t>
            </a:r>
          </a:p>
        </p:txBody>
      </p:sp>
    </p:spTree>
    <p:extLst>
      <p:ext uri="{BB962C8B-B14F-4D97-AF65-F5344CB8AC3E}">
        <p14:creationId xmlns:p14="http://schemas.microsoft.com/office/powerpoint/2010/main" val="69897774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4D503735-5349-468F-9D90-94EA3AC63920}"/>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D803F6D3-68B1-49EF-AED2-B49F3657BC19}"/>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CCM/SMS, ATM and resiliency: executive outcome</a:t>
            </a:r>
          </a:p>
        </p:txBody>
      </p:sp>
      <p:sp>
        <p:nvSpPr>
          <p:cNvPr id="3" name="">
            <a:extLst xmlns:a="http://schemas.openxmlformats.org/drawingml/2006/main">
              <a:ext uri="{FF2B5EF4-FFF2-40B4-BE49-F238E27FC236}">
                <a16:creationId xmlns:a16="http://schemas.microsoft.com/office/drawing/2014/main" id="{9AD1A7E7-6D6F-4CD2-A502-5C6B5619802D}"/>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September operating results and the next management decisions</a:t>
            </a:r>
          </a:p>
        </p:txBody>
      </p:sp>
      <p:sp>
        <p:nvSpPr>
          <p:cNvPr id="4" name="">
            <a:extLst xmlns:a="http://schemas.openxmlformats.org/drawingml/2006/main">
              <a:ext uri="{FF2B5EF4-FFF2-40B4-BE49-F238E27FC236}">
                <a16:creationId xmlns:a16="http://schemas.microsoft.com/office/drawing/2014/main" id="{1AFF6B59-8CF9-4F7B-B7E1-CB27E8148745}"/>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C931A1BC-14A5-45D9-8722-A7F7ED25A283}"/>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23</a:t>
            </a:r>
          </a:p>
        </p:txBody>
      </p:sp>
      <p:sp>
        <p:nvSpPr>
          <p:cNvPr id="6" name="">
            <a:extLst xmlns:a="http://schemas.openxmlformats.org/drawingml/2006/main">
              <a:ext uri="{FF2B5EF4-FFF2-40B4-BE49-F238E27FC236}">
                <a16:creationId xmlns:a16="http://schemas.microsoft.com/office/drawing/2014/main" id="{F5F52CAB-DE4F-4A25-A51A-FEF99E051159}"/>
              </a:ext>
            </a:extLst>
          </p:cNvPr>
          <p:cNvSpPr>
            <a:spLocks xmlns:a="http://schemas.openxmlformats.org/drawingml/2006/main" noGrp="1"/>
          </p:cNvSpPr>
          <p:nvPr/>
        </p:nvSpPr>
        <p:spPr>
          <a:xfrm xmlns:a="http://schemas.openxmlformats.org/drawingml/2006/main">
            <a:off x="457200" y="20955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4626478-6BCA-46C7-8F4E-497872ADCDEB}"/>
              </a:ext>
            </a:extLst>
          </p:cNvPr>
          <p:cNvSpPr>
            <a:spLocks xmlns:a="http://schemas.openxmlformats.org/drawingml/2006/main" noGrp="1"/>
          </p:cNvSpPr>
          <p:nvPr/>
        </p:nvSpPr>
        <p:spPr>
          <a:xfrm xmlns:a="http://schemas.openxmlformats.org/drawingml/2006/main">
            <a:off x="619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30 / 48</a:t>
            </a:r>
          </a:p>
        </p:txBody>
      </p:sp>
      <p:sp>
        <p:nvSpPr>
          <p:cNvPr id="8" name="">
            <a:extLst xmlns:a="http://schemas.openxmlformats.org/drawingml/2006/main">
              <a:ext uri="{FF2B5EF4-FFF2-40B4-BE49-F238E27FC236}">
                <a16:creationId xmlns:a16="http://schemas.microsoft.com/office/drawing/2014/main" id="{11FF59AE-AA57-48C2-A5B5-99B7DCEF564B}"/>
              </a:ext>
            </a:extLst>
          </p:cNvPr>
          <p:cNvSpPr>
            <a:spLocks xmlns:a="http://schemas.openxmlformats.org/drawingml/2006/main" noGrp="1"/>
          </p:cNvSpPr>
          <p:nvPr/>
        </p:nvSpPr>
        <p:spPr>
          <a:xfrm xmlns:a="http://schemas.openxmlformats.org/drawingml/2006/main">
            <a:off x="619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CCM/SMS delivered</a:t>
            </a:r>
          </a:p>
        </p:txBody>
      </p:sp>
      <p:sp>
        <p:nvSpPr>
          <p:cNvPr id="9" name="">
            <a:extLst xmlns:a="http://schemas.openxmlformats.org/drawingml/2006/main">
              <a:ext uri="{FF2B5EF4-FFF2-40B4-BE49-F238E27FC236}">
                <a16:creationId xmlns:a16="http://schemas.microsoft.com/office/drawing/2014/main" id="{A0EE74F6-8979-4305-9796-90963B873402}"/>
              </a:ext>
            </a:extLst>
          </p:cNvPr>
          <p:cNvSpPr>
            <a:spLocks xmlns:a="http://schemas.openxmlformats.org/drawingml/2006/main" noGrp="1"/>
          </p:cNvSpPr>
          <p:nvPr/>
        </p:nvSpPr>
        <p:spPr>
          <a:xfrm xmlns:a="http://schemas.openxmlformats.org/drawingml/2006/main">
            <a:off x="3314700" y="20955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0F29EB2-9975-47FA-A5E6-5A4956BBF441}"/>
              </a:ext>
            </a:extLst>
          </p:cNvPr>
          <p:cNvSpPr>
            <a:spLocks xmlns:a="http://schemas.openxmlformats.org/drawingml/2006/main" noGrp="1"/>
          </p:cNvSpPr>
          <p:nvPr/>
        </p:nvSpPr>
        <p:spPr>
          <a:xfrm xmlns:a="http://schemas.openxmlformats.org/drawingml/2006/main">
            <a:off x="3476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6 / 13</a:t>
            </a:r>
          </a:p>
        </p:txBody>
      </p:sp>
      <p:sp>
        <p:nvSpPr>
          <p:cNvPr id="11" name="">
            <a:extLst xmlns:a="http://schemas.openxmlformats.org/drawingml/2006/main">
              <a:ext uri="{FF2B5EF4-FFF2-40B4-BE49-F238E27FC236}">
                <a16:creationId xmlns:a16="http://schemas.microsoft.com/office/drawing/2014/main" id="{9B29F8A8-E541-4C40-BC8E-1BAC3E7F43A6}"/>
              </a:ext>
            </a:extLst>
          </p:cNvPr>
          <p:cNvSpPr>
            <a:spLocks xmlns:a="http://schemas.openxmlformats.org/drawingml/2006/main" noGrp="1"/>
          </p:cNvSpPr>
          <p:nvPr/>
        </p:nvSpPr>
        <p:spPr>
          <a:xfrm xmlns:a="http://schemas.openxmlformats.org/drawingml/2006/main">
            <a:off x="3476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ATM delivered</a:t>
            </a:r>
          </a:p>
        </p:txBody>
      </p:sp>
      <p:sp>
        <p:nvSpPr>
          <p:cNvPr id="12" name="">
            <a:extLst xmlns:a="http://schemas.openxmlformats.org/drawingml/2006/main">
              <a:ext uri="{FF2B5EF4-FFF2-40B4-BE49-F238E27FC236}">
                <a16:creationId xmlns:a16="http://schemas.microsoft.com/office/drawing/2014/main" id="{C09BD22F-413B-4CD0-9254-C6F93C60E83B}"/>
              </a:ext>
            </a:extLst>
          </p:cNvPr>
          <p:cNvSpPr>
            <a:spLocks xmlns:a="http://schemas.openxmlformats.org/drawingml/2006/main" noGrp="1"/>
          </p:cNvSpPr>
          <p:nvPr/>
        </p:nvSpPr>
        <p:spPr>
          <a:xfrm xmlns:a="http://schemas.openxmlformats.org/drawingml/2006/main">
            <a:off x="6172200" y="20955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EC4DD21-047E-4292-9CF7-E43DF6E70467}"/>
              </a:ext>
            </a:extLst>
          </p:cNvPr>
          <p:cNvSpPr>
            <a:spLocks xmlns:a="http://schemas.openxmlformats.org/drawingml/2006/main" noGrp="1"/>
          </p:cNvSpPr>
          <p:nvPr/>
        </p:nvSpPr>
        <p:spPr>
          <a:xfrm xmlns:a="http://schemas.openxmlformats.org/drawingml/2006/main">
            <a:off x="6334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515 / 530</a:t>
            </a:r>
          </a:p>
        </p:txBody>
      </p:sp>
      <p:sp>
        <p:nvSpPr>
          <p:cNvPr id="14" name="">
            <a:extLst xmlns:a="http://schemas.openxmlformats.org/drawingml/2006/main">
              <a:ext uri="{FF2B5EF4-FFF2-40B4-BE49-F238E27FC236}">
                <a16:creationId xmlns:a16="http://schemas.microsoft.com/office/drawing/2014/main" id="{22057C60-A785-4CA0-B421-4F15F1004E37}"/>
              </a:ext>
            </a:extLst>
          </p:cNvPr>
          <p:cNvSpPr>
            <a:spLocks xmlns:a="http://schemas.openxmlformats.org/drawingml/2006/main" noGrp="1"/>
          </p:cNvSpPr>
          <p:nvPr/>
        </p:nvSpPr>
        <p:spPr>
          <a:xfrm xmlns:a="http://schemas.openxmlformats.org/drawingml/2006/main">
            <a:off x="6334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ATM XFS rollout</a:t>
            </a:r>
          </a:p>
        </p:txBody>
      </p:sp>
      <p:sp>
        <p:nvSpPr>
          <p:cNvPr id="15" name="">
            <a:extLst xmlns:a="http://schemas.openxmlformats.org/drawingml/2006/main">
              <a:ext uri="{FF2B5EF4-FFF2-40B4-BE49-F238E27FC236}">
                <a16:creationId xmlns:a16="http://schemas.microsoft.com/office/drawing/2014/main" id="{6B697544-031F-4DF7-A4E2-43C38B14DBCE}"/>
              </a:ext>
            </a:extLst>
          </p:cNvPr>
          <p:cNvSpPr>
            <a:spLocks xmlns:a="http://schemas.openxmlformats.org/drawingml/2006/main" noGrp="1"/>
          </p:cNvSpPr>
          <p:nvPr/>
        </p:nvSpPr>
        <p:spPr>
          <a:xfrm xmlns:a="http://schemas.openxmlformats.org/drawingml/2006/main">
            <a:off x="9029700" y="20955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1C14D9B9-BFA8-4BE3-98B8-90F9CE85C3EC}"/>
              </a:ext>
            </a:extLst>
          </p:cNvPr>
          <p:cNvSpPr>
            <a:spLocks xmlns:a="http://schemas.openxmlformats.org/drawingml/2006/main" noGrp="1"/>
          </p:cNvSpPr>
          <p:nvPr/>
        </p:nvSpPr>
        <p:spPr>
          <a:xfrm xmlns:a="http://schemas.openxmlformats.org/drawingml/2006/main">
            <a:off x="9191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8</a:t>
            </a:r>
          </a:p>
        </p:txBody>
      </p:sp>
      <p:sp>
        <p:nvSpPr>
          <p:cNvPr id="17" name="">
            <a:extLst xmlns:a="http://schemas.openxmlformats.org/drawingml/2006/main">
              <a:ext uri="{FF2B5EF4-FFF2-40B4-BE49-F238E27FC236}">
                <a16:creationId xmlns:a16="http://schemas.microsoft.com/office/drawing/2014/main" id="{4C1615EE-9745-418D-B2F5-B6B809388425}"/>
              </a:ext>
            </a:extLst>
          </p:cNvPr>
          <p:cNvSpPr>
            <a:spLocks xmlns:a="http://schemas.openxmlformats.org/drawingml/2006/main" noGrp="1"/>
          </p:cNvSpPr>
          <p:nvPr/>
        </p:nvSpPr>
        <p:spPr>
          <a:xfrm xmlns:a="http://schemas.openxmlformats.org/drawingml/2006/main">
            <a:off x="9191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resiliency platforms</a:t>
            </a:r>
          </a:p>
        </p:txBody>
      </p:sp>
      <p:sp>
        <p:nvSpPr>
          <p:cNvPr id="18" name="">
            <a:extLst xmlns:a="http://schemas.openxmlformats.org/drawingml/2006/main">
              <a:ext uri="{FF2B5EF4-FFF2-40B4-BE49-F238E27FC236}">
                <a16:creationId xmlns:a16="http://schemas.microsoft.com/office/drawing/2014/main" id="{A89C23D5-E1AB-4A3D-80EE-EEE8FF73DE52}"/>
              </a:ext>
            </a:extLst>
          </p:cNvPr>
          <p:cNvSpPr>
            <a:spLocks xmlns:a="http://schemas.openxmlformats.org/drawingml/2006/main" noGrp="1"/>
          </p:cNvSpPr>
          <p:nvPr/>
        </p:nvSpPr>
        <p:spPr>
          <a:xfrm xmlns:a="http://schemas.openxmlformats.org/drawingml/2006/main">
            <a:off x="457200" y="3543300"/>
            <a:ext cx="3657600" cy="2476500"/>
          </a:xfrm>
          <a:prstGeom xmlns:a="http://schemas.openxmlformats.org/drawingml/2006/main" prst="roundRect">
            <a:avLst>
              <a:gd name="adj" fmla="val 4615"/>
            </a:avLst>
          </a:prstGeom>
          <a:solidFill xmlns:a="http://schemas.openxmlformats.org/drawingml/2006/main">
            <a:srgbClr val="E6F6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BC0F40B5-944C-490D-8C9E-B525B3226616}"/>
              </a:ext>
            </a:extLst>
          </p:cNvPr>
          <p:cNvSpPr>
            <a:spLocks xmlns:a="http://schemas.openxmlformats.org/drawingml/2006/main" noGrp="1"/>
          </p:cNvSpPr>
          <p:nvPr/>
        </p:nvSpPr>
        <p:spPr>
          <a:xfrm xmlns:a="http://schemas.openxmlformats.org/drawingml/2006/main">
            <a:off x="609600" y="3657600"/>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  CCM/SMS</a:t>
            </a:r>
          </a:p>
        </p:txBody>
      </p:sp>
      <p:sp>
        <p:nvSpPr>
          <p:cNvPr id="20" name="">
            <a:extLst xmlns:a="http://schemas.openxmlformats.org/drawingml/2006/main">
              <a:ext uri="{FF2B5EF4-FFF2-40B4-BE49-F238E27FC236}">
                <a16:creationId xmlns:a16="http://schemas.microsoft.com/office/drawing/2014/main" id="{4B0416C7-34E0-4B24-BD76-70A1DFB39DCF}"/>
              </a:ext>
            </a:extLst>
          </p:cNvPr>
          <p:cNvSpPr>
            <a:spLocks xmlns:a="http://schemas.openxmlformats.org/drawingml/2006/main" noGrp="1"/>
          </p:cNvSpPr>
          <p:nvPr/>
        </p:nvSpPr>
        <p:spPr>
          <a:xfrm xmlns:a="http://schemas.openxmlformats.org/drawingml/2006/main">
            <a:off x="609600" y="4152900"/>
            <a:ext cx="335280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71.10M reported email and SMS events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Zero reported incidents or outages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CCM has no DR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SMS DR available and tested</a:t>
            </a:r>
          </a:p>
        </p:txBody>
      </p:sp>
      <p:sp>
        <p:nvSpPr>
          <p:cNvPr id="21" name="">
            <a:extLst xmlns:a="http://schemas.openxmlformats.org/drawingml/2006/main">
              <a:ext uri="{FF2B5EF4-FFF2-40B4-BE49-F238E27FC236}">
                <a16:creationId xmlns:a16="http://schemas.microsoft.com/office/drawing/2014/main" id="{19EDBE65-B2B9-40DB-BF3E-24BDA6F37FFC}"/>
              </a:ext>
            </a:extLst>
          </p:cNvPr>
          <p:cNvSpPr>
            <a:spLocks xmlns:a="http://schemas.openxmlformats.org/drawingml/2006/main" noGrp="1"/>
          </p:cNvSpPr>
          <p:nvPr/>
        </p:nvSpPr>
        <p:spPr>
          <a:xfrm xmlns:a="http://schemas.openxmlformats.org/drawingml/2006/main">
            <a:off x="4267200" y="3543300"/>
            <a:ext cx="3657600" cy="2476500"/>
          </a:xfrm>
          <a:prstGeom xmlns:a="http://schemas.openxmlformats.org/drawingml/2006/main" prst="roundRect">
            <a:avLst>
              <a:gd name="adj" fmla="val 4615"/>
            </a:avLst>
          </a:prstGeom>
          <a:solidFill xmlns:a="http://schemas.openxmlformats.org/drawingml/2006/main">
            <a:srgbClr val="E8F3FB"/>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5BEDE0C-B06F-4B5C-8A07-0206D5814970}"/>
              </a:ext>
            </a:extLst>
          </p:cNvPr>
          <p:cNvSpPr>
            <a:spLocks xmlns:a="http://schemas.openxmlformats.org/drawingml/2006/main" noGrp="1"/>
          </p:cNvSpPr>
          <p:nvPr/>
        </p:nvSpPr>
        <p:spPr>
          <a:xfrm xmlns:a="http://schemas.openxmlformats.org/drawingml/2006/main">
            <a:off x="4419600" y="3657600"/>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8C2"/>
                </a:solidFill>
                <a:latin typeface="DejaVu Sans"/>
                <a:ea typeface="DejaVu Sans"/>
                <a:cs typeface="DejaVu Sans"/>
              </a:defRPr>
            </a:pPr>
            <a:r>
              <a:rPr sz="1500" b="1">
                <a:solidFill>
                  <a:srgbClr val="1688C2"/>
                </a:solidFill>
                <a:latin typeface="DejaVu Sans"/>
                <a:ea typeface="DejaVu Sans"/>
                <a:cs typeface="DejaVu Sans"/>
              </a:rPr>
              <a:t>▣  ATM</a:t>
            </a:r>
          </a:p>
        </p:txBody>
      </p:sp>
      <p:sp>
        <p:nvSpPr>
          <p:cNvPr id="23" name="">
            <a:extLst xmlns:a="http://schemas.openxmlformats.org/drawingml/2006/main">
              <a:ext uri="{FF2B5EF4-FFF2-40B4-BE49-F238E27FC236}">
                <a16:creationId xmlns:a16="http://schemas.microsoft.com/office/drawing/2014/main" id="{59E266DD-CB2B-4D56-B968-45A8E432819C}"/>
              </a:ext>
            </a:extLst>
          </p:cNvPr>
          <p:cNvSpPr>
            <a:spLocks xmlns:a="http://schemas.openxmlformats.org/drawingml/2006/main" noGrp="1"/>
          </p:cNvSpPr>
          <p:nvPr/>
        </p:nvSpPr>
        <p:spPr>
          <a:xfrm xmlns:a="http://schemas.openxmlformats.org/drawingml/2006/main">
            <a:off x="4419600" y="4152900"/>
            <a:ext cx="335280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4.016B ATM transaction amount</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1 critical and 7 major incidents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KAL DR test completed in August</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Memory reaches 90.2% on one host</a:t>
            </a:r>
          </a:p>
        </p:txBody>
      </p:sp>
      <p:sp>
        <p:nvSpPr>
          <p:cNvPr id="24" name="">
            <a:extLst xmlns:a="http://schemas.openxmlformats.org/drawingml/2006/main">
              <a:ext uri="{FF2B5EF4-FFF2-40B4-BE49-F238E27FC236}">
                <a16:creationId xmlns:a16="http://schemas.microsoft.com/office/drawing/2014/main" id="{5275C27F-531A-46FF-B292-8C40BA426167}"/>
              </a:ext>
            </a:extLst>
          </p:cNvPr>
          <p:cNvSpPr>
            <a:spLocks xmlns:a="http://schemas.openxmlformats.org/drawingml/2006/main" noGrp="1"/>
          </p:cNvSpPr>
          <p:nvPr/>
        </p:nvSpPr>
        <p:spPr>
          <a:xfrm xmlns:a="http://schemas.openxmlformats.org/drawingml/2006/main">
            <a:off x="8077200" y="3543300"/>
            <a:ext cx="3657600" cy="2476500"/>
          </a:xfrm>
          <a:prstGeom xmlns:a="http://schemas.openxmlformats.org/drawingml/2006/main" prst="roundRect">
            <a:avLst>
              <a:gd name="adj" fmla="val 4615"/>
            </a:avLst>
          </a:prstGeom>
          <a:solidFill xmlns:a="http://schemas.openxmlformats.org/drawingml/2006/main">
            <a:srgbClr val="FFF4DE"/>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52BF9E9-7615-40E1-A3E7-E1CC66406EA7}"/>
              </a:ext>
            </a:extLst>
          </p:cNvPr>
          <p:cNvSpPr>
            <a:spLocks xmlns:a="http://schemas.openxmlformats.org/drawingml/2006/main" noGrp="1"/>
          </p:cNvSpPr>
          <p:nvPr/>
        </p:nvSpPr>
        <p:spPr>
          <a:xfrm xmlns:a="http://schemas.openxmlformats.org/drawingml/2006/main">
            <a:off x="8229600" y="3657600"/>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CC7D16"/>
                </a:solidFill>
                <a:latin typeface="DejaVu Sans"/>
                <a:ea typeface="DejaVu Sans"/>
                <a:cs typeface="DejaVu Sans"/>
              </a:defRPr>
            </a:pPr>
            <a:r>
              <a:rPr sz="1500" b="1">
                <a:solidFill>
                  <a:srgbClr val="CC7D16"/>
                </a:solidFill>
                <a:latin typeface="DejaVu Sans"/>
                <a:ea typeface="DejaVu Sans"/>
                <a:cs typeface="DejaVu Sans"/>
              </a:rPr>
              <a:t>◆  Resiliency programme</a:t>
            </a:r>
          </a:p>
        </p:txBody>
      </p:sp>
      <p:sp>
        <p:nvSpPr>
          <p:cNvPr id="26" name="">
            <a:extLst xmlns:a="http://schemas.openxmlformats.org/drawingml/2006/main">
              <a:ext uri="{FF2B5EF4-FFF2-40B4-BE49-F238E27FC236}">
                <a16:creationId xmlns:a16="http://schemas.microsoft.com/office/drawing/2014/main" id="{50D19595-983B-4C29-9CDF-526D49B94DBE}"/>
              </a:ext>
            </a:extLst>
          </p:cNvPr>
          <p:cNvSpPr>
            <a:spLocks xmlns:a="http://schemas.openxmlformats.org/drawingml/2006/main" noGrp="1"/>
          </p:cNvSpPr>
          <p:nvPr/>
        </p:nvSpPr>
        <p:spPr>
          <a:xfrm xmlns:a="http://schemas.openxmlformats.org/drawingml/2006/main">
            <a:off x="8229600" y="4152900"/>
            <a:ext cx="335280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Six staging environments denied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IB / Omni shift proposed to Q2 2027</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Council items need closure evidence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Delivery gates need agreed owners</a:t>
            </a:r>
          </a:p>
        </p:txBody>
      </p:sp>
    </p:spTree>
    <p:extLst>
      <p:ext uri="{BB962C8B-B14F-4D97-AF65-F5344CB8AC3E}">
        <p14:creationId xmlns:p14="http://schemas.microsoft.com/office/powerpoint/2010/main" val="750510867"/>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A0F11AE5-93BC-489A-A75B-7BBFE41AD1BC}"/>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199D445E-7A6F-4573-88ED-9665E450D916}"/>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CCM/SMS delivered 30 of 48 reported demands</a:t>
            </a:r>
          </a:p>
        </p:txBody>
      </p:sp>
      <p:sp>
        <p:nvSpPr>
          <p:cNvPr id="3" name="">
            <a:extLst xmlns:a="http://schemas.openxmlformats.org/drawingml/2006/main">
              <a:ext uri="{FF2B5EF4-FFF2-40B4-BE49-F238E27FC236}">
                <a16:creationId xmlns:a16="http://schemas.microsoft.com/office/drawing/2014/main" id="{F5B108D0-205A-48F3-AB7D-81BC89AC0174}"/>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Jan–September portfolio snapshot. Sixteen demands remain in progress and two in B0 discussion.</a:t>
            </a:r>
          </a:p>
        </p:txBody>
      </p:sp>
      <p:sp>
        <p:nvSpPr>
          <p:cNvPr id="4" name="">
            <a:extLst xmlns:a="http://schemas.openxmlformats.org/drawingml/2006/main">
              <a:ext uri="{FF2B5EF4-FFF2-40B4-BE49-F238E27FC236}">
                <a16:creationId xmlns:a16="http://schemas.microsoft.com/office/drawing/2014/main" id="{4B3A7D13-3797-42D0-B488-7FF7E203CD03}"/>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DFC34BFD-9432-482B-A3ED-5E58103B0A2D}"/>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24</a:t>
            </a:r>
          </a:p>
        </p:txBody>
      </p:sp>
      <p:graphicFrame>
        <p:nvGraphicFramePr>
          <p:cNvPr id="19" name="Chart"/>
          <p:cNvGraphicFramePr/>
          <p:nvPr/>
        </p:nvGraphicFramePr>
        <p:xfrm>
          <a:off xmlns:a="http://schemas.openxmlformats.org/drawingml/2006/main" x="457200" y="2266950"/>
          <a:ext xmlns:a="http://schemas.openxmlformats.org/drawingml/2006/main" cx="5619750" cy="3009900"/>
        </p:xfrm>
        <a:graphic xmlns:a="http://schemas.openxmlformats.org/drawingml/2006/main">
          <a:graphicData uri="http://schemas.openxmlformats.org/drawingml/2006/chart">
            <c:chart xmlns:r="http://schemas.openxmlformats.org/officeDocument/2006/relationships" xmlns:c="http://schemas.openxmlformats.org/drawingml/2006/chart" r:id="R4e64cae8938d4508"/>
          </a:graphicData>
        </a:graphic>
      </p:graphicFrame>
      <p:sp>
        <p:nvSpPr>
          <p:cNvPr id="7" name="">
            <a:extLst xmlns:a="http://schemas.openxmlformats.org/drawingml/2006/main">
              <a:ext uri="{FF2B5EF4-FFF2-40B4-BE49-F238E27FC236}">
                <a16:creationId xmlns:a16="http://schemas.microsoft.com/office/drawing/2014/main" id="{F0802EC2-4C98-4054-B648-97EACBE8B42F}"/>
              </a:ext>
            </a:extLst>
          </p:cNvPr>
          <p:cNvSpPr>
            <a:spLocks xmlns:a="http://schemas.openxmlformats.org/drawingml/2006/main" noGrp="1"/>
          </p:cNvSpPr>
          <p:nvPr/>
        </p:nvSpPr>
        <p:spPr>
          <a:xfrm xmlns:a="http://schemas.openxmlformats.org/drawingml/2006/main">
            <a:off x="6477000" y="2162175"/>
            <a:ext cx="5257800" cy="1762125"/>
          </a:xfrm>
          <a:prstGeom xmlns:a="http://schemas.openxmlformats.org/drawingml/2006/main" prst="roundRect">
            <a:avLst>
              <a:gd name="adj" fmla="val 6486"/>
            </a:avLst>
          </a:prstGeom>
          <a:solidFill xmlns:a="http://schemas.openxmlformats.org/drawingml/2006/main">
            <a:srgbClr val="E6F6F0"/>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DD55BD8A-B29A-4694-911C-BE126B163164}"/>
              </a:ext>
            </a:extLst>
          </p:cNvPr>
          <p:cNvSpPr>
            <a:spLocks xmlns:a="http://schemas.openxmlformats.org/drawingml/2006/main" noGrp="1"/>
          </p:cNvSpPr>
          <p:nvPr/>
        </p:nvSpPr>
        <p:spPr>
          <a:xfrm xmlns:a="http://schemas.openxmlformats.org/drawingml/2006/main">
            <a:off x="6629400" y="2276475"/>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  Delivered: 62.5%</a:t>
            </a:r>
          </a:p>
        </p:txBody>
      </p:sp>
      <p:sp>
        <p:nvSpPr>
          <p:cNvPr id="9" name="">
            <a:extLst xmlns:a="http://schemas.openxmlformats.org/drawingml/2006/main">
              <a:ext uri="{FF2B5EF4-FFF2-40B4-BE49-F238E27FC236}">
                <a16:creationId xmlns:a16="http://schemas.microsoft.com/office/drawing/2014/main" id="{CC52E988-152F-41E4-9169-73DEB603015A}"/>
              </a:ext>
            </a:extLst>
          </p:cNvPr>
          <p:cNvSpPr>
            <a:spLocks xmlns:a="http://schemas.openxmlformats.org/drawingml/2006/main" noGrp="1"/>
          </p:cNvSpPr>
          <p:nvPr/>
        </p:nvSpPr>
        <p:spPr>
          <a:xfrm xmlns:a="http://schemas.openxmlformats.org/drawingml/2006/main">
            <a:off x="6629400" y="2771775"/>
            <a:ext cx="49530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Platform 18 / Supporting 12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SMS Retail Banking Upgrade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EKYC AN/DN</a:t>
            </a:r>
          </a:p>
        </p:txBody>
      </p:sp>
      <p:sp>
        <p:nvSpPr>
          <p:cNvPr id="10" name="">
            <a:extLst xmlns:a="http://schemas.openxmlformats.org/drawingml/2006/main">
              <a:ext uri="{FF2B5EF4-FFF2-40B4-BE49-F238E27FC236}">
                <a16:creationId xmlns:a16="http://schemas.microsoft.com/office/drawing/2014/main" id="{B6380758-F4A5-43C3-830C-A8AC80147718}"/>
              </a:ext>
            </a:extLst>
          </p:cNvPr>
          <p:cNvSpPr>
            <a:spLocks xmlns:a="http://schemas.openxmlformats.org/drawingml/2006/main" noGrp="1"/>
          </p:cNvSpPr>
          <p:nvPr/>
        </p:nvSpPr>
        <p:spPr>
          <a:xfrm xmlns:a="http://schemas.openxmlformats.org/drawingml/2006/main">
            <a:off x="6477000" y="4076700"/>
            <a:ext cx="5257800" cy="2047875"/>
          </a:xfrm>
          <a:prstGeom xmlns:a="http://schemas.openxmlformats.org/drawingml/2006/main" prst="roundRect">
            <a:avLst>
              <a:gd name="adj" fmla="val 5581"/>
            </a:avLst>
          </a:prstGeom>
          <a:solidFill xmlns:a="http://schemas.openxmlformats.org/drawingml/2006/main">
            <a:srgbClr val="E8F3F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13020960-60CA-4900-8FA1-BDF6A739C4F9}"/>
              </a:ext>
            </a:extLst>
          </p:cNvPr>
          <p:cNvSpPr>
            <a:spLocks xmlns:a="http://schemas.openxmlformats.org/drawingml/2006/main" noGrp="1"/>
          </p:cNvSpPr>
          <p:nvPr/>
        </p:nvSpPr>
        <p:spPr>
          <a:xfrm xmlns:a="http://schemas.openxmlformats.org/drawingml/2006/main">
            <a:off x="6629400" y="4191000"/>
            <a:ext cx="49530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  Remaining delivery</a:t>
            </a:r>
          </a:p>
        </p:txBody>
      </p:sp>
      <p:sp>
        <p:nvSpPr>
          <p:cNvPr id="12" name="">
            <a:extLst xmlns:a="http://schemas.openxmlformats.org/drawingml/2006/main">
              <a:ext uri="{FF2B5EF4-FFF2-40B4-BE49-F238E27FC236}">
                <a16:creationId xmlns:a16="http://schemas.microsoft.com/office/drawing/2014/main" id="{4D9F9E53-CDA1-4C9D-8DA9-2233214C1C29}"/>
              </a:ext>
            </a:extLst>
          </p:cNvPr>
          <p:cNvSpPr>
            <a:spLocks xmlns:a="http://schemas.openxmlformats.org/drawingml/2006/main" noGrp="1"/>
          </p:cNvSpPr>
          <p:nvPr/>
        </p:nvSpPr>
        <p:spPr>
          <a:xfrm xmlns:a="http://schemas.openxmlformats.org/drawingml/2006/main">
            <a:off x="6629400" y="4686300"/>
            <a:ext cx="495300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Platform 2 / Supporting 14 in progress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CCM Release 17 in pipeline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Sitefinity website upgrade in planning</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e&amp; services consolidation in planning</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SMS Corporate upgrade in execution</a:t>
            </a:r>
          </a:p>
        </p:txBody>
      </p:sp>
      <p:sp>
        <p:nvSpPr>
          <p:cNvPr id="13" name="">
            <a:extLst xmlns:a="http://schemas.openxmlformats.org/drawingml/2006/main">
              <a:ext uri="{FF2B5EF4-FFF2-40B4-BE49-F238E27FC236}">
                <a16:creationId xmlns:a16="http://schemas.microsoft.com/office/drawing/2014/main" id="{CC87A6BF-FABA-4657-B2D4-2CC09C36E0AB}"/>
              </a:ext>
            </a:extLst>
          </p:cNvPr>
          <p:cNvSpPr>
            <a:spLocks xmlns:a="http://schemas.openxmlformats.org/drawingml/2006/main" noGrp="1"/>
          </p:cNvSpPr>
          <p:nvPr/>
        </p:nvSpPr>
        <p:spPr>
          <a:xfrm xmlns:a="http://schemas.openxmlformats.org/drawingml/2006/main">
            <a:off x="457200" y="5762625"/>
            <a:ext cx="5429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Resiliency remediations are in execution across the platforms.</a:t>
            </a:r>
          </a:p>
        </p:txBody>
      </p:sp>
    </p:spTree>
    <p:extLst>
      <p:ext uri="{BB962C8B-B14F-4D97-AF65-F5344CB8AC3E}">
        <p14:creationId xmlns:p14="http://schemas.microsoft.com/office/powerpoint/2010/main" val="810612330"/>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DC049210-756E-4D0C-ABBC-6680A4F4955D}"/>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6B541BD4-6871-4170-A1E2-8E7AF8E14FD1}"/>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CCM/SMS processes 71.10M reported events</a:t>
            </a:r>
          </a:p>
        </p:txBody>
      </p:sp>
      <p:sp>
        <p:nvSpPr>
          <p:cNvPr id="3" name="">
            <a:extLst xmlns:a="http://schemas.openxmlformats.org/drawingml/2006/main">
              <a:ext uri="{FF2B5EF4-FFF2-40B4-BE49-F238E27FC236}">
                <a16:creationId xmlns:a16="http://schemas.microsoft.com/office/drawing/2014/main" id="{5CEB0F09-26DA-4982-A66B-0CA962578598}"/>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September throughput remains outage-free, with different recovery capabilities across the two platforms.</a:t>
            </a:r>
          </a:p>
        </p:txBody>
      </p:sp>
      <p:sp>
        <p:nvSpPr>
          <p:cNvPr id="4" name="">
            <a:extLst xmlns:a="http://schemas.openxmlformats.org/drawingml/2006/main">
              <a:ext uri="{FF2B5EF4-FFF2-40B4-BE49-F238E27FC236}">
                <a16:creationId xmlns:a16="http://schemas.microsoft.com/office/drawing/2014/main" id="{C08D8D19-7D5F-454E-8C8F-B87657E8D6D2}"/>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682F534C-1D42-4E4D-9577-6E066A55FC5F}"/>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25</a:t>
            </a:r>
          </a:p>
        </p:txBody>
      </p:sp>
      <p:graphicFrame>
        <p:nvGraphicFramePr>
          <p:cNvPr id="20" name="Chart"/>
          <p:cNvGraphicFramePr/>
          <p:nvPr/>
        </p:nvGraphicFramePr>
        <p:xfrm>
          <a:off xmlns:a="http://schemas.openxmlformats.org/drawingml/2006/main" x="457200" y="2257425"/>
          <a:ext xmlns:a="http://schemas.openxmlformats.org/drawingml/2006/main" cx="5467350" cy="2809875"/>
        </p:xfrm>
        <a:graphic xmlns:a="http://schemas.openxmlformats.org/drawingml/2006/main">
          <a:graphicData uri="http://schemas.openxmlformats.org/drawingml/2006/chart">
            <c:chart xmlns:r="http://schemas.openxmlformats.org/officeDocument/2006/relationships" xmlns:c="http://schemas.openxmlformats.org/drawingml/2006/chart" r:id="R094d46bc817640f7"/>
          </a:graphicData>
        </a:graphic>
      </p:graphicFrame>
      <p:sp>
        <p:nvSpPr>
          <p:cNvPr id="7" name="">
            <a:extLst xmlns:a="http://schemas.openxmlformats.org/drawingml/2006/main">
              <a:ext uri="{FF2B5EF4-FFF2-40B4-BE49-F238E27FC236}">
                <a16:creationId xmlns:a16="http://schemas.microsoft.com/office/drawing/2014/main" id="{54B882A8-BE54-4AA4-A54A-9CDCBB0FBD44}"/>
              </a:ext>
            </a:extLst>
          </p:cNvPr>
          <p:cNvSpPr>
            <a:spLocks xmlns:a="http://schemas.openxmlformats.org/drawingml/2006/main" noGrp="1"/>
          </p:cNvSpPr>
          <p:nvPr/>
        </p:nvSpPr>
        <p:spPr>
          <a:xfrm xmlns:a="http://schemas.openxmlformats.org/drawingml/2006/main">
            <a:off x="6381750" y="2133600"/>
            <a:ext cx="5353050" cy="1809750"/>
          </a:xfrm>
          <a:prstGeom xmlns:a="http://schemas.openxmlformats.org/drawingml/2006/main" prst="roundRect">
            <a:avLst>
              <a:gd name="adj" fmla="val 6316"/>
            </a:avLst>
          </a:prstGeom>
          <a:solidFill xmlns:a="http://schemas.openxmlformats.org/drawingml/2006/main">
            <a:srgbClr val="E8F3FB"/>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9F3EF42-2D5F-477C-9CD1-9F021DEE9AE7}"/>
              </a:ext>
            </a:extLst>
          </p:cNvPr>
          <p:cNvSpPr>
            <a:spLocks xmlns:a="http://schemas.openxmlformats.org/drawingml/2006/main" noGrp="1"/>
          </p:cNvSpPr>
          <p:nvPr/>
        </p:nvSpPr>
        <p:spPr>
          <a:xfrm xmlns:a="http://schemas.openxmlformats.org/drawingml/2006/main">
            <a:off x="6534150" y="2247900"/>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  CCM</a:t>
            </a:r>
          </a:p>
        </p:txBody>
      </p:sp>
      <p:sp>
        <p:nvSpPr>
          <p:cNvPr id="9" name="">
            <a:extLst xmlns:a="http://schemas.openxmlformats.org/drawingml/2006/main">
              <a:ext uri="{FF2B5EF4-FFF2-40B4-BE49-F238E27FC236}">
                <a16:creationId xmlns:a16="http://schemas.microsoft.com/office/drawing/2014/main" id="{0883D702-9B90-480C-ABD8-F74FE7201AAD}"/>
              </a:ext>
            </a:extLst>
          </p:cNvPr>
          <p:cNvSpPr>
            <a:spLocks xmlns:a="http://schemas.openxmlformats.org/drawingml/2006/main" noGrp="1"/>
          </p:cNvSpPr>
          <p:nvPr/>
        </p:nvSpPr>
        <p:spPr>
          <a:xfrm xmlns:a="http://schemas.openxmlformats.org/drawingml/2006/main">
            <a:off x="6534150" y="2743200"/>
            <a:ext cx="5048250" cy="1114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CPU 4.14–6.45%</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Memory 34.3–44.7%</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HA at Site 1</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DR unavailable and untested</a:t>
            </a:r>
          </a:p>
        </p:txBody>
      </p:sp>
      <p:sp>
        <p:nvSpPr>
          <p:cNvPr id="10" name="">
            <a:extLst xmlns:a="http://schemas.openxmlformats.org/drawingml/2006/main">
              <a:ext uri="{FF2B5EF4-FFF2-40B4-BE49-F238E27FC236}">
                <a16:creationId xmlns:a16="http://schemas.microsoft.com/office/drawing/2014/main" id="{71AAD904-2685-46CA-9A87-B5E1ECB86481}"/>
              </a:ext>
            </a:extLst>
          </p:cNvPr>
          <p:cNvSpPr>
            <a:spLocks xmlns:a="http://schemas.openxmlformats.org/drawingml/2006/main" noGrp="1"/>
          </p:cNvSpPr>
          <p:nvPr/>
        </p:nvSpPr>
        <p:spPr>
          <a:xfrm xmlns:a="http://schemas.openxmlformats.org/drawingml/2006/main">
            <a:off x="6381750" y="4124325"/>
            <a:ext cx="5353050" cy="1895475"/>
          </a:xfrm>
          <a:prstGeom xmlns:a="http://schemas.openxmlformats.org/drawingml/2006/main" prst="roundRect">
            <a:avLst>
              <a:gd name="adj" fmla="val 6030"/>
            </a:avLst>
          </a:prstGeom>
          <a:solidFill xmlns:a="http://schemas.openxmlformats.org/drawingml/2006/main">
            <a:srgbClr val="E6F6F0"/>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F8C3EB95-FD71-46C4-B840-BC43E3EE0E55}"/>
              </a:ext>
            </a:extLst>
          </p:cNvPr>
          <p:cNvSpPr>
            <a:spLocks xmlns:a="http://schemas.openxmlformats.org/drawingml/2006/main" noGrp="1"/>
          </p:cNvSpPr>
          <p:nvPr/>
        </p:nvSpPr>
        <p:spPr>
          <a:xfrm xmlns:a="http://schemas.openxmlformats.org/drawingml/2006/main">
            <a:off x="6534150" y="4238625"/>
            <a:ext cx="5048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  SMS</a:t>
            </a:r>
          </a:p>
        </p:txBody>
      </p:sp>
      <p:sp>
        <p:nvSpPr>
          <p:cNvPr id="12" name="">
            <a:extLst xmlns:a="http://schemas.openxmlformats.org/drawingml/2006/main">
              <a:ext uri="{FF2B5EF4-FFF2-40B4-BE49-F238E27FC236}">
                <a16:creationId xmlns:a16="http://schemas.microsoft.com/office/drawing/2014/main" id="{CEFAC907-D835-4D17-8E80-3E4BD1FCF150}"/>
              </a:ext>
            </a:extLst>
          </p:cNvPr>
          <p:cNvSpPr>
            <a:spLocks xmlns:a="http://schemas.openxmlformats.org/drawingml/2006/main" noGrp="1"/>
          </p:cNvSpPr>
          <p:nvPr/>
        </p:nvSpPr>
        <p:spPr>
          <a:xfrm xmlns:a="http://schemas.openxmlformats.org/drawingml/2006/main">
            <a:off x="6534150" y="4733925"/>
            <a:ext cx="50482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CPU 0.608–2.98%</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Memory 20.5–35.4%</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DR available and tested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Site 2 activation / Q1 2027 drill planned</a:t>
            </a:r>
          </a:p>
        </p:txBody>
      </p:sp>
      <p:sp>
        <p:nvSpPr>
          <p:cNvPr id="13" name="">
            <a:extLst xmlns:a="http://schemas.openxmlformats.org/drawingml/2006/main">
              <a:ext uri="{FF2B5EF4-FFF2-40B4-BE49-F238E27FC236}">
                <a16:creationId xmlns:a16="http://schemas.microsoft.com/office/drawing/2014/main" id="{F465080F-517A-4098-B606-986AF14712BD}"/>
              </a:ext>
            </a:extLst>
          </p:cNvPr>
          <p:cNvSpPr>
            <a:spLocks xmlns:a="http://schemas.openxmlformats.org/drawingml/2006/main" noGrp="1"/>
          </p:cNvSpPr>
          <p:nvPr/>
        </p:nvSpPr>
        <p:spPr>
          <a:xfrm xmlns:a="http://schemas.openxmlformats.org/drawingml/2006/main">
            <a:off x="457200" y="5219700"/>
            <a:ext cx="5619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87F68"/>
                </a:solidFill>
                <a:latin typeface="DejaVu Sans"/>
                <a:ea typeface="DejaVu Sans"/>
                <a:cs typeface="DejaVu Sans"/>
              </a:defRPr>
            </a:pPr>
            <a:r>
              <a:rPr sz="1725" b="1">
                <a:solidFill>
                  <a:srgbClr val="087F68"/>
                </a:solidFill>
                <a:latin typeface="DejaVu Sans"/>
                <a:ea typeface="DejaVu Sans"/>
                <a:cs typeface="DejaVu Sans"/>
              </a:rPr>
              <a:t>0 incidents     0 outages     0 minutes downtime</a:t>
            </a:r>
          </a:p>
        </p:txBody>
      </p:sp>
      <p:sp>
        <p:nvSpPr>
          <p:cNvPr id="14" name="">
            <a:extLst xmlns:a="http://schemas.openxmlformats.org/drawingml/2006/main">
              <a:ext uri="{FF2B5EF4-FFF2-40B4-BE49-F238E27FC236}">
                <a16:creationId xmlns:a16="http://schemas.microsoft.com/office/drawing/2014/main" id="{D8C624C4-7CD2-442D-BCC5-1B6C0F716A5E}"/>
              </a:ext>
            </a:extLst>
          </p:cNvPr>
          <p:cNvSpPr>
            <a:spLocks xmlns:a="http://schemas.openxmlformats.org/drawingml/2006/main" noGrp="1"/>
          </p:cNvSpPr>
          <p:nvPr/>
        </p:nvSpPr>
        <p:spPr>
          <a:xfrm xmlns:a="http://schemas.openxmlformats.org/drawingml/2006/main">
            <a:off x="457200" y="5829300"/>
            <a:ext cx="5619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BF6D12"/>
                </a:solidFill>
                <a:latin typeface="DejaVu Sans"/>
                <a:ea typeface="DejaVu Sans"/>
                <a:cs typeface="DejaVu Sans"/>
              </a:defRPr>
            </a:pPr>
            <a:r>
              <a:rPr sz="1350" b="1">
                <a:solidFill>
                  <a:srgbClr val="BF6D12"/>
                </a:solidFill>
                <a:latin typeface="DejaVu Sans"/>
                <a:ea typeface="DejaVu Sans"/>
                <a:cs typeface="DejaVu Sans"/>
              </a:rPr>
              <a:t>Storage figures need reconciliation before capacity decisions.</a:t>
            </a:r>
          </a:p>
        </p:txBody>
      </p:sp>
    </p:spTree>
    <p:extLst>
      <p:ext uri="{BB962C8B-B14F-4D97-AF65-F5344CB8AC3E}">
        <p14:creationId xmlns:p14="http://schemas.microsoft.com/office/powerpoint/2010/main" val="1614117880"/>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4D610849-7FDD-4BA1-9908-2C54D4154811}"/>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0010B9DF-B2A4-4438-9434-1E30E2AAF406}"/>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ATM rollout reaches 515 of 530 terminals</a:t>
            </a:r>
          </a:p>
        </p:txBody>
      </p:sp>
      <p:sp>
        <p:nvSpPr>
          <p:cNvPr id="3" name="">
            <a:extLst xmlns:a="http://schemas.openxmlformats.org/drawingml/2006/main">
              <a:ext uri="{FF2B5EF4-FFF2-40B4-BE49-F238E27FC236}">
                <a16:creationId xmlns:a16="http://schemas.microsoft.com/office/drawing/2014/main" id="{C3297318-7A1D-4ABA-AD0B-AED91400B2F7}"/>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Thirteen reported demands: six delivered, four in progress and three in B0 discussion.</a:t>
            </a:r>
          </a:p>
        </p:txBody>
      </p:sp>
      <p:sp>
        <p:nvSpPr>
          <p:cNvPr id="4" name="">
            <a:extLst xmlns:a="http://schemas.openxmlformats.org/drawingml/2006/main">
              <a:ext uri="{FF2B5EF4-FFF2-40B4-BE49-F238E27FC236}">
                <a16:creationId xmlns:a16="http://schemas.microsoft.com/office/drawing/2014/main" id="{ABEF8B7F-952F-46CA-895A-00BEFAD1E670}"/>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440C568C-7734-48BF-B173-DA5EF6113BF3}"/>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26</a:t>
            </a:r>
          </a:p>
        </p:txBody>
      </p:sp>
      <p:graphicFrame>
        <p:nvGraphicFramePr>
          <p:cNvPr id="22" name="Chart"/>
          <p:cNvGraphicFramePr/>
          <p:nvPr/>
        </p:nvGraphicFramePr>
        <p:xfrm>
          <a:off xmlns:a="http://schemas.openxmlformats.org/drawingml/2006/main" x="457200" y="2190750"/>
          <a:ext xmlns:a="http://schemas.openxmlformats.org/drawingml/2006/main" cx="5095875" cy="2543175"/>
        </p:xfrm>
        <a:graphic xmlns:a="http://schemas.openxmlformats.org/drawingml/2006/main">
          <a:graphicData uri="http://schemas.openxmlformats.org/drawingml/2006/chart">
            <c:chart xmlns:r="http://schemas.openxmlformats.org/officeDocument/2006/relationships" xmlns:c="http://schemas.openxmlformats.org/drawingml/2006/chart" r:id="Rcf558f20c1ab439d"/>
          </a:graphicData>
        </a:graphic>
      </p:graphicFrame>
      <p:sp>
        <p:nvSpPr>
          <p:cNvPr id="7" name="">
            <a:extLst xmlns:a="http://schemas.openxmlformats.org/drawingml/2006/main">
              <a:ext uri="{FF2B5EF4-FFF2-40B4-BE49-F238E27FC236}">
                <a16:creationId xmlns:a16="http://schemas.microsoft.com/office/drawing/2014/main" id="{8BACE347-13EC-46AA-B2C3-A290560E148D}"/>
              </a:ext>
            </a:extLst>
          </p:cNvPr>
          <p:cNvSpPr>
            <a:spLocks xmlns:a="http://schemas.openxmlformats.org/drawingml/2006/main" noGrp="1"/>
          </p:cNvSpPr>
          <p:nvPr/>
        </p:nvSpPr>
        <p:spPr>
          <a:xfrm xmlns:a="http://schemas.openxmlformats.org/drawingml/2006/main">
            <a:off x="457200" y="5057775"/>
            <a:ext cx="5095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3A4B"/>
                </a:solidFill>
                <a:latin typeface="DejaVu Sans"/>
                <a:ea typeface="DejaVu Sans"/>
                <a:cs typeface="DejaVu Sans"/>
              </a:defRPr>
            </a:pPr>
            <a:r>
              <a:rPr sz="1350" b="1">
                <a:solidFill>
                  <a:srgbClr val="173A4B"/>
                </a:solidFill>
                <a:latin typeface="DejaVu Sans"/>
                <a:ea typeface="DejaVu Sans"/>
                <a:cs typeface="DejaVu Sans"/>
              </a:rPr>
              <a:t>XFS upgrade: 15 terminals remain</a:t>
            </a:r>
          </a:p>
        </p:txBody>
      </p:sp>
      <p:sp>
        <p:nvSpPr>
          <p:cNvPr id="8" name="">
            <a:extLst xmlns:a="http://schemas.openxmlformats.org/drawingml/2006/main">
              <a:ext uri="{FF2B5EF4-FFF2-40B4-BE49-F238E27FC236}">
                <a16:creationId xmlns:a16="http://schemas.microsoft.com/office/drawing/2014/main" id="{9A0DE039-6090-4AB6-A0E4-A5318AEFF0DE}"/>
              </a:ext>
            </a:extLst>
          </p:cNvPr>
          <p:cNvSpPr>
            <a:spLocks xmlns:a="http://schemas.openxmlformats.org/drawingml/2006/main" noGrp="1"/>
          </p:cNvSpPr>
          <p:nvPr/>
        </p:nvSpPr>
        <p:spPr>
          <a:xfrm xmlns:a="http://schemas.openxmlformats.org/drawingml/2006/main">
            <a:off x="457200" y="5419725"/>
            <a:ext cx="5095875" cy="133350"/>
          </a:xfrm>
          <a:prstGeom xmlns:a="http://schemas.openxmlformats.org/drawingml/2006/main" prst="roundRect">
            <a:avLst>
              <a:gd name="adj" fmla="val 50000"/>
            </a:avLst>
          </a:prstGeom>
          <a:solidFill xmlns:a="http://schemas.openxmlformats.org/drawingml/2006/main">
            <a:srgbClr val="E5EDF1"/>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A95BD32A-5789-46E1-9E3D-A91E556F207A}"/>
              </a:ext>
            </a:extLst>
          </p:cNvPr>
          <p:cNvSpPr>
            <a:spLocks xmlns:a="http://schemas.openxmlformats.org/drawingml/2006/main" noGrp="1"/>
          </p:cNvSpPr>
          <p:nvPr/>
        </p:nvSpPr>
        <p:spPr>
          <a:xfrm xmlns:a="http://schemas.openxmlformats.org/drawingml/2006/main">
            <a:off x="457200" y="5419725"/>
            <a:ext cx="4951652" cy="133350"/>
          </a:xfrm>
          <a:prstGeom xmlns:a="http://schemas.openxmlformats.org/drawingml/2006/main" prst="roundRect">
            <a:avLst>
              <a:gd name="adj" fmla="val 50000"/>
            </a:avLst>
          </a:prstGeom>
          <a:solidFill xmlns:a="http://schemas.openxmlformats.org/drawingml/2006/main">
            <a:srgbClr val="1688C2"/>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18A5739-5EB6-4FC0-BE5C-71064BEEFDCC}"/>
              </a:ext>
            </a:extLst>
          </p:cNvPr>
          <p:cNvSpPr>
            <a:spLocks xmlns:a="http://schemas.openxmlformats.org/drawingml/2006/main" noGrp="1"/>
          </p:cNvSpPr>
          <p:nvPr/>
        </p:nvSpPr>
        <p:spPr>
          <a:xfrm xmlns:a="http://schemas.openxmlformats.org/drawingml/2006/main">
            <a:off x="457200" y="5667375"/>
            <a:ext cx="509587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688C2"/>
                </a:solidFill>
                <a:latin typeface="DejaVu Sans"/>
                <a:ea typeface="DejaVu Sans"/>
                <a:cs typeface="DejaVu Sans"/>
              </a:defRPr>
            </a:pPr>
            <a:r>
              <a:rPr sz="1725" b="1">
                <a:solidFill>
                  <a:srgbClr val="1688C2"/>
                </a:solidFill>
                <a:latin typeface="DejaVu Sans"/>
                <a:ea typeface="DejaVu Sans"/>
                <a:cs typeface="DejaVu Sans"/>
              </a:rPr>
              <a:t>97.2%</a:t>
            </a:r>
          </a:p>
        </p:txBody>
      </p:sp>
      <p:sp>
        <p:nvSpPr>
          <p:cNvPr id="11" name="">
            <a:extLst xmlns:a="http://schemas.openxmlformats.org/drawingml/2006/main">
              <a:ext uri="{FF2B5EF4-FFF2-40B4-BE49-F238E27FC236}">
                <a16:creationId xmlns:a16="http://schemas.microsoft.com/office/drawing/2014/main" id="{DFE0EA07-5C17-4B9D-8013-7922233A4BFD}"/>
              </a:ext>
            </a:extLst>
          </p:cNvPr>
          <p:cNvSpPr>
            <a:spLocks xmlns:a="http://schemas.openxmlformats.org/drawingml/2006/main" noGrp="1"/>
          </p:cNvSpPr>
          <p:nvPr/>
        </p:nvSpPr>
        <p:spPr>
          <a:xfrm xmlns:a="http://schemas.openxmlformats.org/drawingml/2006/main">
            <a:off x="6048375" y="2143125"/>
            <a:ext cx="5686425" cy="1952625"/>
          </a:xfrm>
          <a:prstGeom xmlns:a="http://schemas.openxmlformats.org/drawingml/2006/main" prst="roundRect">
            <a:avLst>
              <a:gd name="adj" fmla="val 5854"/>
            </a:avLst>
          </a:prstGeom>
          <a:solidFill xmlns:a="http://schemas.openxmlformats.org/drawingml/2006/main">
            <a:srgbClr val="E6F6F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9EC20C3-07E0-4943-A2E5-95F708991259}"/>
              </a:ext>
            </a:extLst>
          </p:cNvPr>
          <p:cNvSpPr>
            <a:spLocks xmlns:a="http://schemas.openxmlformats.org/drawingml/2006/main" noGrp="1"/>
          </p:cNvSpPr>
          <p:nvPr/>
        </p:nvSpPr>
        <p:spPr>
          <a:xfrm xmlns:a="http://schemas.openxmlformats.org/drawingml/2006/main">
            <a:off x="6200775" y="2257425"/>
            <a:ext cx="538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  Delivery and rollout</a:t>
            </a:r>
          </a:p>
        </p:txBody>
      </p:sp>
      <p:sp>
        <p:nvSpPr>
          <p:cNvPr id="13" name="">
            <a:extLst xmlns:a="http://schemas.openxmlformats.org/drawingml/2006/main">
              <a:ext uri="{FF2B5EF4-FFF2-40B4-BE49-F238E27FC236}">
                <a16:creationId xmlns:a16="http://schemas.microsoft.com/office/drawing/2014/main" id="{9663B7B6-ED9F-49EE-9C9E-9A5897A8C138}"/>
              </a:ext>
            </a:extLst>
          </p:cNvPr>
          <p:cNvSpPr>
            <a:spLocks xmlns:a="http://schemas.openxmlformats.org/drawingml/2006/main" noGrp="1"/>
          </p:cNvSpPr>
          <p:nvPr/>
        </p:nvSpPr>
        <p:spPr>
          <a:xfrm xmlns:a="http://schemas.openxmlformats.org/drawingml/2006/main">
            <a:off x="6200775" y="2752725"/>
            <a:ext cx="53816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4 platform / 2 supporting demands delivered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33 replacement ATM machines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Smart CDM: Brinks &amp; TG completed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TLS update completed, rollout plan in progress</a:t>
            </a:r>
          </a:p>
        </p:txBody>
      </p:sp>
      <p:sp>
        <p:nvSpPr>
          <p:cNvPr id="14" name="">
            <a:extLst xmlns:a="http://schemas.openxmlformats.org/drawingml/2006/main">
              <a:ext uri="{FF2B5EF4-FFF2-40B4-BE49-F238E27FC236}">
                <a16:creationId xmlns:a16="http://schemas.microsoft.com/office/drawing/2014/main" id="{AEDEFC2A-938D-4A4F-AEEA-6177C4A06F26}"/>
              </a:ext>
            </a:extLst>
          </p:cNvPr>
          <p:cNvSpPr>
            <a:spLocks xmlns:a="http://schemas.openxmlformats.org/drawingml/2006/main" noGrp="1"/>
          </p:cNvSpPr>
          <p:nvPr/>
        </p:nvSpPr>
        <p:spPr>
          <a:xfrm xmlns:a="http://schemas.openxmlformats.org/drawingml/2006/main">
            <a:off x="6048375" y="4267200"/>
            <a:ext cx="5686425" cy="1905000"/>
          </a:xfrm>
          <a:prstGeom xmlns:a="http://schemas.openxmlformats.org/drawingml/2006/main" prst="roundRect">
            <a:avLst>
              <a:gd name="adj" fmla="val 6000"/>
            </a:avLst>
          </a:prstGeom>
          <a:solidFill xmlns:a="http://schemas.openxmlformats.org/drawingml/2006/main">
            <a:srgbClr val="FFF4DE"/>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92DC533F-88BB-454D-9D66-3D29AF52F060}"/>
              </a:ext>
            </a:extLst>
          </p:cNvPr>
          <p:cNvSpPr>
            <a:spLocks xmlns:a="http://schemas.openxmlformats.org/drawingml/2006/main" noGrp="1"/>
          </p:cNvSpPr>
          <p:nvPr/>
        </p:nvSpPr>
        <p:spPr>
          <a:xfrm xmlns:a="http://schemas.openxmlformats.org/drawingml/2006/main">
            <a:off x="6200775" y="4381500"/>
            <a:ext cx="53816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  Strategic initiatives</a:t>
            </a:r>
          </a:p>
        </p:txBody>
      </p:sp>
      <p:sp>
        <p:nvSpPr>
          <p:cNvPr id="16" name="">
            <a:extLst xmlns:a="http://schemas.openxmlformats.org/drawingml/2006/main">
              <a:ext uri="{FF2B5EF4-FFF2-40B4-BE49-F238E27FC236}">
                <a16:creationId xmlns:a16="http://schemas.microsoft.com/office/drawing/2014/main" id="{EF22DE58-C362-4FBE-B0D0-4F5CEDA8B0FA}"/>
              </a:ext>
            </a:extLst>
          </p:cNvPr>
          <p:cNvSpPr>
            <a:spLocks xmlns:a="http://schemas.openxmlformats.org/drawingml/2006/main" noGrp="1"/>
          </p:cNvSpPr>
          <p:nvPr/>
        </p:nvSpPr>
        <p:spPr>
          <a:xfrm xmlns:a="http://schemas.openxmlformats.org/drawingml/2006/main">
            <a:off x="6200775" y="4876800"/>
            <a:ext cx="5381625"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NBV SaaS upgrade: in progress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Board decision pending</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KTC upgrade: planning within resiliency</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XFS upgrade: rollout in progress</a:t>
            </a:r>
          </a:p>
        </p:txBody>
      </p:sp>
    </p:spTree>
    <p:extLst>
      <p:ext uri="{BB962C8B-B14F-4D97-AF65-F5344CB8AC3E}">
        <p14:creationId xmlns:p14="http://schemas.microsoft.com/office/powerpoint/2010/main" val="1712774764"/>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D9C0BFD-D1D9-4A67-A852-D32385F94FEA}"/>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43DC6501-250E-44D2-BCDE-96342A778D89}"/>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ATM/CDM activity carries material operational risk</a:t>
            </a:r>
          </a:p>
        </p:txBody>
      </p:sp>
      <p:sp>
        <p:nvSpPr>
          <p:cNvPr id="3" name="">
            <a:extLst xmlns:a="http://schemas.openxmlformats.org/drawingml/2006/main">
              <a:ext uri="{FF2B5EF4-FFF2-40B4-BE49-F238E27FC236}">
                <a16:creationId xmlns:a16="http://schemas.microsoft.com/office/drawing/2014/main" id="{E8BFC231-C849-4854-B54E-A03A9C7EF61A}"/>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Reported near-100% availability coexists with eight incidents in September.</a:t>
            </a:r>
          </a:p>
        </p:txBody>
      </p:sp>
      <p:sp>
        <p:nvSpPr>
          <p:cNvPr id="4" name="">
            <a:extLst xmlns:a="http://schemas.openxmlformats.org/drawingml/2006/main">
              <a:ext uri="{FF2B5EF4-FFF2-40B4-BE49-F238E27FC236}">
                <a16:creationId xmlns:a16="http://schemas.microsoft.com/office/drawing/2014/main" id="{84B49F6F-5AB6-4092-B7F2-111AD3B89A0C}"/>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DBD2AD64-AC1D-4133-9B18-F11A5603C561}"/>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27</a:t>
            </a:r>
          </a:p>
        </p:txBody>
      </p:sp>
      <p:sp>
        <p:nvSpPr>
          <p:cNvPr id="6" name="">
            <a:extLst xmlns:a="http://schemas.openxmlformats.org/drawingml/2006/main">
              <a:ext uri="{FF2B5EF4-FFF2-40B4-BE49-F238E27FC236}">
                <a16:creationId xmlns:a16="http://schemas.microsoft.com/office/drawing/2014/main" id="{C795B677-F1A8-4979-9A82-6AD753929157}"/>
              </a:ext>
            </a:extLst>
          </p:cNvPr>
          <p:cNvSpPr>
            <a:spLocks xmlns:a="http://schemas.openxmlformats.org/drawingml/2006/main" noGrp="1"/>
          </p:cNvSpPr>
          <p:nvPr/>
        </p:nvSpPr>
        <p:spPr>
          <a:xfrm xmlns:a="http://schemas.openxmlformats.org/drawingml/2006/main">
            <a:off x="457200" y="20955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70B828B-A706-42E6-9BF8-D96E201E9CCC}"/>
              </a:ext>
            </a:extLst>
          </p:cNvPr>
          <p:cNvSpPr>
            <a:spLocks xmlns:a="http://schemas.openxmlformats.org/drawingml/2006/main" noGrp="1"/>
          </p:cNvSpPr>
          <p:nvPr/>
        </p:nvSpPr>
        <p:spPr>
          <a:xfrm xmlns:a="http://schemas.openxmlformats.org/drawingml/2006/main">
            <a:off x="619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2.22M</a:t>
            </a:r>
          </a:p>
        </p:txBody>
      </p:sp>
      <p:sp>
        <p:nvSpPr>
          <p:cNvPr id="8" name="">
            <a:extLst xmlns:a="http://schemas.openxmlformats.org/drawingml/2006/main">
              <a:ext uri="{FF2B5EF4-FFF2-40B4-BE49-F238E27FC236}">
                <a16:creationId xmlns:a16="http://schemas.microsoft.com/office/drawing/2014/main" id="{56495BA1-5CDD-4311-8DF8-6E0A3DC5DD30}"/>
              </a:ext>
            </a:extLst>
          </p:cNvPr>
          <p:cNvSpPr>
            <a:spLocks xmlns:a="http://schemas.openxmlformats.org/drawingml/2006/main" noGrp="1"/>
          </p:cNvSpPr>
          <p:nvPr/>
        </p:nvSpPr>
        <p:spPr>
          <a:xfrm xmlns:a="http://schemas.openxmlformats.org/drawingml/2006/main">
            <a:off x="619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ATM transactions</a:t>
            </a:r>
          </a:p>
        </p:txBody>
      </p:sp>
      <p:sp>
        <p:nvSpPr>
          <p:cNvPr id="9" name="">
            <a:extLst xmlns:a="http://schemas.openxmlformats.org/drawingml/2006/main">
              <a:ext uri="{FF2B5EF4-FFF2-40B4-BE49-F238E27FC236}">
                <a16:creationId xmlns:a16="http://schemas.microsoft.com/office/drawing/2014/main" id="{C731D5DF-EEB3-437A-9A78-FA0CAABBC3B5}"/>
              </a:ext>
            </a:extLst>
          </p:cNvPr>
          <p:cNvSpPr>
            <a:spLocks xmlns:a="http://schemas.openxmlformats.org/drawingml/2006/main" noGrp="1"/>
          </p:cNvSpPr>
          <p:nvPr/>
        </p:nvSpPr>
        <p:spPr>
          <a:xfrm xmlns:a="http://schemas.openxmlformats.org/drawingml/2006/main">
            <a:off x="3314700" y="20955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698AA48-82E9-4D0F-90D1-E52A2268C032}"/>
              </a:ext>
            </a:extLst>
          </p:cNvPr>
          <p:cNvSpPr>
            <a:spLocks xmlns:a="http://schemas.openxmlformats.org/drawingml/2006/main" noGrp="1"/>
          </p:cNvSpPr>
          <p:nvPr/>
        </p:nvSpPr>
        <p:spPr>
          <a:xfrm xmlns:a="http://schemas.openxmlformats.org/drawingml/2006/main">
            <a:off x="3476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339,585</a:t>
            </a:r>
          </a:p>
        </p:txBody>
      </p:sp>
      <p:sp>
        <p:nvSpPr>
          <p:cNvPr id="11" name="">
            <a:extLst xmlns:a="http://schemas.openxmlformats.org/drawingml/2006/main">
              <a:ext uri="{FF2B5EF4-FFF2-40B4-BE49-F238E27FC236}">
                <a16:creationId xmlns:a16="http://schemas.microsoft.com/office/drawing/2014/main" id="{173F5E3F-6408-4090-80F6-259C60B4F76E}"/>
              </a:ext>
            </a:extLst>
          </p:cNvPr>
          <p:cNvSpPr>
            <a:spLocks xmlns:a="http://schemas.openxmlformats.org/drawingml/2006/main" noGrp="1"/>
          </p:cNvSpPr>
          <p:nvPr/>
        </p:nvSpPr>
        <p:spPr>
          <a:xfrm xmlns:a="http://schemas.openxmlformats.org/drawingml/2006/main">
            <a:off x="3476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CDM transactions</a:t>
            </a:r>
          </a:p>
        </p:txBody>
      </p:sp>
      <p:sp>
        <p:nvSpPr>
          <p:cNvPr id="12" name="">
            <a:extLst xmlns:a="http://schemas.openxmlformats.org/drawingml/2006/main">
              <a:ext uri="{FF2B5EF4-FFF2-40B4-BE49-F238E27FC236}">
                <a16:creationId xmlns:a16="http://schemas.microsoft.com/office/drawing/2014/main" id="{04D9557D-BB42-4C0B-983D-EBB7580D4AA8}"/>
              </a:ext>
            </a:extLst>
          </p:cNvPr>
          <p:cNvSpPr>
            <a:spLocks xmlns:a="http://schemas.openxmlformats.org/drawingml/2006/main" noGrp="1"/>
          </p:cNvSpPr>
          <p:nvPr/>
        </p:nvSpPr>
        <p:spPr>
          <a:xfrm xmlns:a="http://schemas.openxmlformats.org/drawingml/2006/main">
            <a:off x="6172200" y="20955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5878CFB-C936-45EA-9CF4-CCD653B050FE}"/>
              </a:ext>
            </a:extLst>
          </p:cNvPr>
          <p:cNvSpPr>
            <a:spLocks xmlns:a="http://schemas.openxmlformats.org/drawingml/2006/main" noGrp="1"/>
          </p:cNvSpPr>
          <p:nvPr/>
        </p:nvSpPr>
        <p:spPr>
          <a:xfrm xmlns:a="http://schemas.openxmlformats.org/drawingml/2006/main">
            <a:off x="6334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4.016B</a:t>
            </a:r>
          </a:p>
        </p:txBody>
      </p:sp>
      <p:sp>
        <p:nvSpPr>
          <p:cNvPr id="14" name="">
            <a:extLst xmlns:a="http://schemas.openxmlformats.org/drawingml/2006/main">
              <a:ext uri="{FF2B5EF4-FFF2-40B4-BE49-F238E27FC236}">
                <a16:creationId xmlns:a16="http://schemas.microsoft.com/office/drawing/2014/main" id="{31A92191-5A57-4701-A98A-CFD0A74128BA}"/>
              </a:ext>
            </a:extLst>
          </p:cNvPr>
          <p:cNvSpPr>
            <a:spLocks xmlns:a="http://schemas.openxmlformats.org/drawingml/2006/main" noGrp="1"/>
          </p:cNvSpPr>
          <p:nvPr/>
        </p:nvSpPr>
        <p:spPr>
          <a:xfrm xmlns:a="http://schemas.openxmlformats.org/drawingml/2006/main">
            <a:off x="6334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ATM amount</a:t>
            </a:r>
          </a:p>
        </p:txBody>
      </p:sp>
      <p:sp>
        <p:nvSpPr>
          <p:cNvPr id="15" name="">
            <a:extLst xmlns:a="http://schemas.openxmlformats.org/drawingml/2006/main">
              <a:ext uri="{FF2B5EF4-FFF2-40B4-BE49-F238E27FC236}">
                <a16:creationId xmlns:a16="http://schemas.microsoft.com/office/drawing/2014/main" id="{8D5AF675-121D-416E-B531-B5D722744AE1}"/>
              </a:ext>
            </a:extLst>
          </p:cNvPr>
          <p:cNvSpPr>
            <a:spLocks xmlns:a="http://schemas.openxmlformats.org/drawingml/2006/main" noGrp="1"/>
          </p:cNvSpPr>
          <p:nvPr/>
        </p:nvSpPr>
        <p:spPr>
          <a:xfrm xmlns:a="http://schemas.openxmlformats.org/drawingml/2006/main">
            <a:off x="9029700" y="20955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FF74660-ECAA-40C2-A340-7B3B4CB1CEE7}"/>
              </a:ext>
            </a:extLst>
          </p:cNvPr>
          <p:cNvSpPr>
            <a:spLocks xmlns:a="http://schemas.openxmlformats.org/drawingml/2006/main" noGrp="1"/>
          </p:cNvSpPr>
          <p:nvPr/>
        </p:nvSpPr>
        <p:spPr>
          <a:xfrm xmlns:a="http://schemas.openxmlformats.org/drawingml/2006/main">
            <a:off x="9191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1.223B</a:t>
            </a:r>
          </a:p>
        </p:txBody>
      </p:sp>
      <p:sp>
        <p:nvSpPr>
          <p:cNvPr id="17" name="">
            <a:extLst xmlns:a="http://schemas.openxmlformats.org/drawingml/2006/main">
              <a:ext uri="{FF2B5EF4-FFF2-40B4-BE49-F238E27FC236}">
                <a16:creationId xmlns:a16="http://schemas.microsoft.com/office/drawing/2014/main" id="{6148E894-C9F0-4C1B-954C-107201E235B3}"/>
              </a:ext>
            </a:extLst>
          </p:cNvPr>
          <p:cNvSpPr>
            <a:spLocks xmlns:a="http://schemas.openxmlformats.org/drawingml/2006/main" noGrp="1"/>
          </p:cNvSpPr>
          <p:nvPr/>
        </p:nvSpPr>
        <p:spPr>
          <a:xfrm xmlns:a="http://schemas.openxmlformats.org/drawingml/2006/main">
            <a:off x="9191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CDM amount</a:t>
            </a:r>
          </a:p>
        </p:txBody>
      </p:sp>
      <p:sp>
        <p:nvSpPr>
          <p:cNvPr id="18" name="">
            <a:extLst xmlns:a="http://schemas.openxmlformats.org/drawingml/2006/main">
              <a:ext uri="{FF2B5EF4-FFF2-40B4-BE49-F238E27FC236}">
                <a16:creationId xmlns:a16="http://schemas.microsoft.com/office/drawing/2014/main" id="{B4691061-B966-4F73-8A4E-DD471FE2A5B9}"/>
              </a:ext>
            </a:extLst>
          </p:cNvPr>
          <p:cNvSpPr>
            <a:spLocks xmlns:a="http://schemas.openxmlformats.org/drawingml/2006/main" noGrp="1"/>
          </p:cNvSpPr>
          <p:nvPr/>
        </p:nvSpPr>
        <p:spPr>
          <a:xfrm xmlns:a="http://schemas.openxmlformats.org/drawingml/2006/main">
            <a:off x="457200" y="3571875"/>
            <a:ext cx="3657600" cy="2495550"/>
          </a:xfrm>
          <a:prstGeom xmlns:a="http://schemas.openxmlformats.org/drawingml/2006/main" prst="roundRect">
            <a:avLst>
              <a:gd name="adj" fmla="val 4580"/>
            </a:avLst>
          </a:prstGeom>
          <a:solidFill xmlns:a="http://schemas.openxmlformats.org/drawingml/2006/main">
            <a:srgbClr val="FCEA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7A82C999-9593-4D83-ACC5-69AEA4286B02}"/>
              </a:ext>
            </a:extLst>
          </p:cNvPr>
          <p:cNvSpPr>
            <a:spLocks xmlns:a="http://schemas.openxmlformats.org/drawingml/2006/main" noGrp="1"/>
          </p:cNvSpPr>
          <p:nvPr/>
        </p:nvSpPr>
        <p:spPr>
          <a:xfrm xmlns:a="http://schemas.openxmlformats.org/drawingml/2006/main">
            <a:off x="609600" y="3686175"/>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D35373"/>
                </a:solidFill>
                <a:latin typeface="DejaVu Sans"/>
                <a:ea typeface="DejaVu Sans"/>
                <a:cs typeface="DejaVu Sans"/>
              </a:defRPr>
            </a:pPr>
            <a:r>
              <a:rPr sz="1500" b="1">
                <a:solidFill>
                  <a:srgbClr val="D35373"/>
                </a:solidFill>
                <a:latin typeface="DejaVu Sans"/>
                <a:ea typeface="DejaVu Sans"/>
                <a:cs typeface="DejaVu Sans"/>
              </a:rPr>
              <a:t>!  Incident profile</a:t>
            </a:r>
          </a:p>
        </p:txBody>
      </p:sp>
      <p:sp>
        <p:nvSpPr>
          <p:cNvPr id="20" name="">
            <a:extLst xmlns:a="http://schemas.openxmlformats.org/drawingml/2006/main">
              <a:ext uri="{FF2B5EF4-FFF2-40B4-BE49-F238E27FC236}">
                <a16:creationId xmlns:a16="http://schemas.microsoft.com/office/drawing/2014/main" id="{BCB2EB85-BD13-4705-9DF7-197069338184}"/>
              </a:ext>
            </a:extLst>
          </p:cNvPr>
          <p:cNvSpPr>
            <a:spLocks xmlns:a="http://schemas.openxmlformats.org/drawingml/2006/main" noGrp="1"/>
          </p:cNvSpPr>
          <p:nvPr/>
        </p:nvSpPr>
        <p:spPr>
          <a:xfrm xmlns:a="http://schemas.openxmlformats.org/drawingml/2006/main">
            <a:off x="609600" y="4181475"/>
            <a:ext cx="33528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1 critical: cheque-image processing</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7 major incidents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No reported unplanned outages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0 minutes reported downtime</a:t>
            </a:r>
          </a:p>
        </p:txBody>
      </p:sp>
      <p:sp>
        <p:nvSpPr>
          <p:cNvPr id="21" name="">
            <a:extLst xmlns:a="http://schemas.openxmlformats.org/drawingml/2006/main">
              <a:ext uri="{FF2B5EF4-FFF2-40B4-BE49-F238E27FC236}">
                <a16:creationId xmlns:a16="http://schemas.microsoft.com/office/drawing/2014/main" id="{B9B6F7D7-FA96-4969-9660-B591DEE75F3F}"/>
              </a:ext>
            </a:extLst>
          </p:cNvPr>
          <p:cNvSpPr>
            <a:spLocks xmlns:a="http://schemas.openxmlformats.org/drawingml/2006/main" noGrp="1"/>
          </p:cNvSpPr>
          <p:nvPr/>
        </p:nvSpPr>
        <p:spPr>
          <a:xfrm xmlns:a="http://schemas.openxmlformats.org/drawingml/2006/main">
            <a:off x="4267200" y="3571875"/>
            <a:ext cx="3657600" cy="2495550"/>
          </a:xfrm>
          <a:prstGeom xmlns:a="http://schemas.openxmlformats.org/drawingml/2006/main" prst="roundRect">
            <a:avLst>
              <a:gd name="adj" fmla="val 4580"/>
            </a:avLst>
          </a:prstGeom>
          <a:solidFill xmlns:a="http://schemas.openxmlformats.org/drawingml/2006/main">
            <a:srgbClr val="E6F6F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C1845AC4-B432-4BAC-A541-0A71F57617C4}"/>
              </a:ext>
            </a:extLst>
          </p:cNvPr>
          <p:cNvSpPr>
            <a:spLocks xmlns:a="http://schemas.openxmlformats.org/drawingml/2006/main" noGrp="1"/>
          </p:cNvSpPr>
          <p:nvPr/>
        </p:nvSpPr>
        <p:spPr>
          <a:xfrm xmlns:a="http://schemas.openxmlformats.org/drawingml/2006/main">
            <a:off x="4419600" y="3686175"/>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  Recovery position</a:t>
            </a:r>
          </a:p>
        </p:txBody>
      </p:sp>
      <p:sp>
        <p:nvSpPr>
          <p:cNvPr id="23" name="">
            <a:extLst xmlns:a="http://schemas.openxmlformats.org/drawingml/2006/main">
              <a:ext uri="{FF2B5EF4-FFF2-40B4-BE49-F238E27FC236}">
                <a16:creationId xmlns:a16="http://schemas.microsoft.com/office/drawing/2014/main" id="{02069A81-A740-469D-9802-4B94CAD512A2}"/>
              </a:ext>
            </a:extLst>
          </p:cNvPr>
          <p:cNvSpPr>
            <a:spLocks xmlns:a="http://schemas.openxmlformats.org/drawingml/2006/main" noGrp="1"/>
          </p:cNvSpPr>
          <p:nvPr/>
        </p:nvSpPr>
        <p:spPr>
          <a:xfrm xmlns:a="http://schemas.openxmlformats.org/drawingml/2006/main">
            <a:off x="4419600" y="4181475"/>
            <a:ext cx="33528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DR available and tested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KAL test: 22 August 2026</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Next reported activity: Q1 2027</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Recovery evidence needs a defined scope</a:t>
            </a:r>
          </a:p>
        </p:txBody>
      </p:sp>
      <p:sp>
        <p:nvSpPr>
          <p:cNvPr id="24" name="">
            <a:extLst xmlns:a="http://schemas.openxmlformats.org/drawingml/2006/main">
              <a:ext uri="{FF2B5EF4-FFF2-40B4-BE49-F238E27FC236}">
                <a16:creationId xmlns:a16="http://schemas.microsoft.com/office/drawing/2014/main" id="{AD7DBC6F-C953-48F5-8386-9811F947652E}"/>
              </a:ext>
            </a:extLst>
          </p:cNvPr>
          <p:cNvSpPr>
            <a:spLocks xmlns:a="http://schemas.openxmlformats.org/drawingml/2006/main" noGrp="1"/>
          </p:cNvSpPr>
          <p:nvPr/>
        </p:nvSpPr>
        <p:spPr>
          <a:xfrm xmlns:a="http://schemas.openxmlformats.org/drawingml/2006/main">
            <a:off x="8077200" y="3571875"/>
            <a:ext cx="3657600" cy="2495550"/>
          </a:xfrm>
          <a:prstGeom xmlns:a="http://schemas.openxmlformats.org/drawingml/2006/main" prst="roundRect">
            <a:avLst>
              <a:gd name="adj" fmla="val 4580"/>
            </a:avLst>
          </a:prstGeom>
          <a:solidFill xmlns:a="http://schemas.openxmlformats.org/drawingml/2006/main">
            <a:srgbClr val="E8F3F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3C275229-1B3D-4498-8AFB-2C7256672022}"/>
              </a:ext>
            </a:extLst>
          </p:cNvPr>
          <p:cNvSpPr>
            <a:spLocks xmlns:a="http://schemas.openxmlformats.org/drawingml/2006/main" noGrp="1"/>
          </p:cNvSpPr>
          <p:nvPr/>
        </p:nvSpPr>
        <p:spPr>
          <a:xfrm xmlns:a="http://schemas.openxmlformats.org/drawingml/2006/main">
            <a:off x="8229600" y="3686175"/>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8C2"/>
                </a:solidFill>
                <a:latin typeface="DejaVu Sans"/>
                <a:ea typeface="DejaVu Sans"/>
                <a:cs typeface="DejaVu Sans"/>
              </a:defRPr>
            </a:pPr>
            <a:r>
              <a:rPr sz="1500" b="1">
                <a:solidFill>
                  <a:srgbClr val="1688C2"/>
                </a:solidFill>
                <a:latin typeface="DejaVu Sans"/>
                <a:ea typeface="DejaVu Sans"/>
                <a:cs typeface="DejaVu Sans"/>
              </a:rPr>
              <a:t>▤  Cheque-image remediation</a:t>
            </a:r>
          </a:p>
        </p:txBody>
      </p:sp>
      <p:sp>
        <p:nvSpPr>
          <p:cNvPr id="26" name="">
            <a:extLst xmlns:a="http://schemas.openxmlformats.org/drawingml/2006/main">
              <a:ext uri="{FF2B5EF4-FFF2-40B4-BE49-F238E27FC236}">
                <a16:creationId xmlns:a16="http://schemas.microsoft.com/office/drawing/2014/main" id="{F06A2651-36FD-4094-A1F5-BBC700DD398A}"/>
              </a:ext>
            </a:extLst>
          </p:cNvPr>
          <p:cNvSpPr>
            <a:spLocks xmlns:a="http://schemas.openxmlformats.org/drawingml/2006/main" noGrp="1"/>
          </p:cNvSpPr>
          <p:nvPr/>
        </p:nvSpPr>
        <p:spPr>
          <a:xfrm xmlns:a="http://schemas.openxmlformats.org/drawingml/2006/main">
            <a:off x="8229600" y="4181475"/>
            <a:ext cx="3352800" cy="1800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CDM images retransmitted to KTC</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Envelope-file creation for ICCS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Management review should confirm completion and affected-item reconciliation</a:t>
            </a:r>
          </a:p>
        </p:txBody>
      </p:sp>
    </p:spTree>
    <p:extLst>
      <p:ext uri="{BB962C8B-B14F-4D97-AF65-F5344CB8AC3E}">
        <p14:creationId xmlns:p14="http://schemas.microsoft.com/office/powerpoint/2010/main" val="434192703"/>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2C5D4F7-6BB5-4A55-9CBA-FCB3E745274D}"/>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A3B25654-1197-4179-902C-D30236CD5901}"/>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ATM memory is concentrated on three KAL hosts</a:t>
            </a:r>
          </a:p>
        </p:txBody>
      </p:sp>
      <p:sp>
        <p:nvSpPr>
          <p:cNvPr id="3" name="">
            <a:extLst xmlns:a="http://schemas.openxmlformats.org/drawingml/2006/main">
              <a:ext uri="{FF2B5EF4-FFF2-40B4-BE49-F238E27FC236}">
                <a16:creationId xmlns:a16="http://schemas.microsoft.com/office/drawing/2014/main" id="{D822B27C-AEEC-4F27-9632-D739E9C1C75F}"/>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Peak CPU is 10.5%, while KAL database hosts report memory utilization above 86%.</a:t>
            </a:r>
          </a:p>
        </p:txBody>
      </p:sp>
      <p:sp>
        <p:nvSpPr>
          <p:cNvPr id="4" name="">
            <a:extLst xmlns:a="http://schemas.openxmlformats.org/drawingml/2006/main">
              <a:ext uri="{FF2B5EF4-FFF2-40B4-BE49-F238E27FC236}">
                <a16:creationId xmlns:a16="http://schemas.microsoft.com/office/drawing/2014/main" id="{D430FF06-F281-481F-931A-2B0619AF552F}"/>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AAC17ECD-5827-4287-8D42-1EE309EB9C91}"/>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28</a:t>
            </a:r>
          </a:p>
        </p:txBody>
      </p:sp>
      <p:graphicFrame>
        <p:nvGraphicFramePr>
          <p:cNvPr id="19" name="Chart"/>
          <p:cNvGraphicFramePr/>
          <p:nvPr/>
        </p:nvGraphicFramePr>
        <p:xfrm>
          <a:off xmlns:a="http://schemas.openxmlformats.org/drawingml/2006/main" x="457200" y="2200275"/>
          <a:ext xmlns:a="http://schemas.openxmlformats.org/drawingml/2006/main" cx="7143750" cy="3114675"/>
        </p:xfrm>
        <a:graphic xmlns:a="http://schemas.openxmlformats.org/drawingml/2006/main">
          <a:graphicData uri="http://schemas.openxmlformats.org/drawingml/2006/chart">
            <c:chart xmlns:r="http://schemas.openxmlformats.org/officeDocument/2006/relationships" xmlns:c="http://schemas.openxmlformats.org/drawingml/2006/chart" r:id="Rbd8281484502494b"/>
          </a:graphicData>
        </a:graphic>
      </p:graphicFrame>
      <p:sp>
        <p:nvSpPr>
          <p:cNvPr id="7" name="">
            <a:extLst xmlns:a="http://schemas.openxmlformats.org/drawingml/2006/main">
              <a:ext uri="{FF2B5EF4-FFF2-40B4-BE49-F238E27FC236}">
                <a16:creationId xmlns:a16="http://schemas.microsoft.com/office/drawing/2014/main" id="{A1B2E6EC-9AF7-47A7-A436-4CBB0C277768}"/>
              </a:ext>
            </a:extLst>
          </p:cNvPr>
          <p:cNvSpPr>
            <a:spLocks xmlns:a="http://schemas.openxmlformats.org/drawingml/2006/main" noGrp="1"/>
          </p:cNvSpPr>
          <p:nvPr/>
        </p:nvSpPr>
        <p:spPr>
          <a:xfrm xmlns:a="http://schemas.openxmlformats.org/drawingml/2006/main">
            <a:off x="8020050" y="2152650"/>
            <a:ext cx="3714750" cy="1971675"/>
          </a:xfrm>
          <a:prstGeom xmlns:a="http://schemas.openxmlformats.org/drawingml/2006/main" prst="roundRect">
            <a:avLst>
              <a:gd name="adj" fmla="val 5797"/>
            </a:avLst>
          </a:prstGeom>
          <a:solidFill xmlns:a="http://schemas.openxmlformats.org/drawingml/2006/main">
            <a:srgbClr val="FFF4DE"/>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F03D69C3-2DC2-4823-AD42-8C8B4B44C461}"/>
              </a:ext>
            </a:extLst>
          </p:cNvPr>
          <p:cNvSpPr>
            <a:spLocks xmlns:a="http://schemas.openxmlformats.org/drawingml/2006/main" noGrp="1"/>
          </p:cNvSpPr>
          <p:nvPr/>
        </p:nvSpPr>
        <p:spPr>
          <a:xfrm xmlns:a="http://schemas.openxmlformats.org/drawingml/2006/main">
            <a:off x="8172450" y="2266950"/>
            <a:ext cx="3409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CC7D16"/>
                </a:solidFill>
                <a:latin typeface="DejaVu Sans"/>
                <a:ea typeface="DejaVu Sans"/>
                <a:cs typeface="DejaVu Sans"/>
              </a:defRPr>
            </a:pPr>
            <a:r>
              <a:rPr sz="1500" b="1">
                <a:solidFill>
                  <a:srgbClr val="CC7D16"/>
                </a:solidFill>
                <a:latin typeface="DejaVu Sans"/>
                <a:ea typeface="DejaVu Sans"/>
                <a:cs typeface="DejaVu Sans"/>
              </a:rPr>
              <a:t>▦  Capacity watch</a:t>
            </a:r>
          </a:p>
        </p:txBody>
      </p:sp>
      <p:sp>
        <p:nvSpPr>
          <p:cNvPr id="9" name="">
            <a:extLst xmlns:a="http://schemas.openxmlformats.org/drawingml/2006/main">
              <a:ext uri="{FF2B5EF4-FFF2-40B4-BE49-F238E27FC236}">
                <a16:creationId xmlns:a16="http://schemas.microsoft.com/office/drawing/2014/main" id="{943C3D4A-0A6F-4636-9D6D-3CF590B9CCE3}"/>
              </a:ext>
            </a:extLst>
          </p:cNvPr>
          <p:cNvSpPr>
            <a:spLocks xmlns:a="http://schemas.openxmlformats.org/drawingml/2006/main" noGrp="1"/>
          </p:cNvSpPr>
          <p:nvPr/>
        </p:nvSpPr>
        <p:spPr>
          <a:xfrm xmlns:a="http://schemas.openxmlformats.org/drawingml/2006/main">
            <a:off x="8172450" y="2762250"/>
            <a:ext cx="34099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kald2 memory: 90.2%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kald3 memory: 87.2%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dxb02 kald1: 86.3%</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Storage peak: 76.4%</a:t>
            </a:r>
          </a:p>
        </p:txBody>
      </p:sp>
      <p:sp>
        <p:nvSpPr>
          <p:cNvPr id="10" name="">
            <a:extLst xmlns:a="http://schemas.openxmlformats.org/drawingml/2006/main">
              <a:ext uri="{FF2B5EF4-FFF2-40B4-BE49-F238E27FC236}">
                <a16:creationId xmlns:a16="http://schemas.microsoft.com/office/drawing/2014/main" id="{1F1475AE-E758-461A-AEE2-104E1978745A}"/>
              </a:ext>
            </a:extLst>
          </p:cNvPr>
          <p:cNvSpPr>
            <a:spLocks xmlns:a="http://schemas.openxmlformats.org/drawingml/2006/main" noGrp="1"/>
          </p:cNvSpPr>
          <p:nvPr/>
        </p:nvSpPr>
        <p:spPr>
          <a:xfrm xmlns:a="http://schemas.openxmlformats.org/drawingml/2006/main">
            <a:off x="8020050" y="4314825"/>
            <a:ext cx="3714750" cy="1762125"/>
          </a:xfrm>
          <a:prstGeom xmlns:a="http://schemas.openxmlformats.org/drawingml/2006/main" prst="roundRect">
            <a:avLst>
              <a:gd name="adj" fmla="val 6486"/>
            </a:avLst>
          </a:prstGeom>
          <a:solidFill xmlns:a="http://schemas.openxmlformats.org/drawingml/2006/main">
            <a:srgbClr val="E8F3FB"/>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C04E7BA5-425B-43AB-9618-C238C56F5BD5}"/>
              </a:ext>
            </a:extLst>
          </p:cNvPr>
          <p:cNvSpPr>
            <a:spLocks xmlns:a="http://schemas.openxmlformats.org/drawingml/2006/main" noGrp="1"/>
          </p:cNvSpPr>
          <p:nvPr/>
        </p:nvSpPr>
        <p:spPr>
          <a:xfrm xmlns:a="http://schemas.openxmlformats.org/drawingml/2006/main">
            <a:off x="8172450" y="4429125"/>
            <a:ext cx="3409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8C2"/>
                </a:solidFill>
                <a:latin typeface="DejaVu Sans"/>
                <a:ea typeface="DejaVu Sans"/>
                <a:cs typeface="DejaVu Sans"/>
              </a:defRPr>
            </a:pPr>
            <a:r>
              <a:rPr sz="1500" b="1">
                <a:solidFill>
                  <a:srgbClr val="1688C2"/>
                </a:solidFill>
                <a:latin typeface="DejaVu Sans"/>
                <a:ea typeface="DejaVu Sans"/>
                <a:cs typeface="DejaVu Sans"/>
              </a:rPr>
              <a:t>◉  Recommended review</a:t>
            </a:r>
          </a:p>
        </p:txBody>
      </p:sp>
      <p:sp>
        <p:nvSpPr>
          <p:cNvPr id="12" name="">
            <a:extLst xmlns:a="http://schemas.openxmlformats.org/drawingml/2006/main">
              <a:ext uri="{FF2B5EF4-FFF2-40B4-BE49-F238E27FC236}">
                <a16:creationId xmlns:a16="http://schemas.microsoft.com/office/drawing/2014/main" id="{F3AAC0F6-9D24-495F-84C2-556B2EA934F1}"/>
              </a:ext>
            </a:extLst>
          </p:cNvPr>
          <p:cNvSpPr>
            <a:spLocks xmlns:a="http://schemas.openxmlformats.org/drawingml/2006/main" noGrp="1"/>
          </p:cNvSpPr>
          <p:nvPr/>
        </p:nvSpPr>
        <p:spPr>
          <a:xfrm xmlns:a="http://schemas.openxmlformats.org/drawingml/2006/main">
            <a:off x="8172450" y="4924425"/>
            <a:ext cx="340995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Check memory trend and workload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Confirm alert thresholds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Validate headroom during failover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Assign remediation if needed</a:t>
            </a:r>
          </a:p>
        </p:txBody>
      </p:sp>
      <p:sp>
        <p:nvSpPr>
          <p:cNvPr id="13" name="">
            <a:extLst xmlns:a="http://schemas.openxmlformats.org/drawingml/2006/main">
              <a:ext uri="{FF2B5EF4-FFF2-40B4-BE49-F238E27FC236}">
                <a16:creationId xmlns:a16="http://schemas.microsoft.com/office/drawing/2014/main" id="{D5F3FD1A-9D09-4E55-8EC5-9660E587FF50}"/>
              </a:ext>
            </a:extLst>
          </p:cNvPr>
          <p:cNvSpPr>
            <a:spLocks xmlns:a="http://schemas.openxmlformats.org/drawingml/2006/main" noGrp="1"/>
          </p:cNvSpPr>
          <p:nvPr/>
        </p:nvSpPr>
        <p:spPr>
          <a:xfrm xmlns:a="http://schemas.openxmlformats.org/drawingml/2006/main">
            <a:off x="457200" y="5610225"/>
            <a:ext cx="7239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Memory utilization by host</a:t>
            </a:r>
          </a:p>
        </p:txBody>
      </p:sp>
    </p:spTree>
    <p:extLst>
      <p:ext uri="{BB962C8B-B14F-4D97-AF65-F5344CB8AC3E}">
        <p14:creationId xmlns:p14="http://schemas.microsoft.com/office/powerpoint/2010/main" val="1506369355"/>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B1644E8D-1929-4741-AC83-99AC27E9C46B}"/>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209BBCBD-8C52-4A04-B018-56A32BDAD6F9}"/>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Technology Oversight Council: ten tracked items</a:t>
            </a:r>
          </a:p>
        </p:txBody>
      </p:sp>
      <p:sp>
        <p:nvSpPr>
          <p:cNvPr id="3" name="">
            <a:extLst xmlns:a="http://schemas.openxmlformats.org/drawingml/2006/main">
              <a:ext uri="{FF2B5EF4-FFF2-40B4-BE49-F238E27FC236}">
                <a16:creationId xmlns:a16="http://schemas.microsoft.com/office/drawing/2014/main" id="{6197E132-65C5-4D8B-97F7-EEF261D2C83C}"/>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The source rates eight items Rare and two Frequent. Ratings describe probability, not severity.</a:t>
            </a:r>
          </a:p>
        </p:txBody>
      </p:sp>
      <p:sp>
        <p:nvSpPr>
          <p:cNvPr id="4" name="">
            <a:extLst xmlns:a="http://schemas.openxmlformats.org/drawingml/2006/main">
              <a:ext uri="{FF2B5EF4-FFF2-40B4-BE49-F238E27FC236}">
                <a16:creationId xmlns:a16="http://schemas.microsoft.com/office/drawing/2014/main" id="{2C866AAD-CD75-45F6-9A77-E2FB366165FB}"/>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3B883AE5-B920-40BD-9DCF-AA9374D62560}"/>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29</a:t>
            </a:r>
          </a:p>
        </p:txBody>
      </p:sp>
      <p:sp>
        <p:nvSpPr>
          <p:cNvPr id="6" name="">
            <a:extLst xmlns:a="http://schemas.openxmlformats.org/drawingml/2006/main">
              <a:ext uri="{FF2B5EF4-FFF2-40B4-BE49-F238E27FC236}">
                <a16:creationId xmlns:a16="http://schemas.microsoft.com/office/drawing/2014/main" id="{05C22011-9FC8-4B33-8988-BF798CA0C2FE}"/>
              </a:ext>
            </a:extLst>
          </p:cNvPr>
          <p:cNvSpPr>
            <a:spLocks xmlns:a="http://schemas.openxmlformats.org/drawingml/2006/main" noGrp="1"/>
          </p:cNvSpPr>
          <p:nvPr/>
        </p:nvSpPr>
        <p:spPr>
          <a:xfrm xmlns:a="http://schemas.openxmlformats.org/drawingml/2006/main">
            <a:off x="457200" y="2095500"/>
            <a:ext cx="266700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41D9D13-3CB8-4A9F-B758-6AA8209BEDEA}"/>
              </a:ext>
            </a:extLst>
          </p:cNvPr>
          <p:cNvSpPr>
            <a:spLocks xmlns:a="http://schemas.openxmlformats.org/drawingml/2006/main" noGrp="1"/>
          </p:cNvSpPr>
          <p:nvPr/>
        </p:nvSpPr>
        <p:spPr>
          <a:xfrm xmlns:a="http://schemas.openxmlformats.org/drawingml/2006/main">
            <a:off x="619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087F68"/>
                </a:solidFill>
                <a:latin typeface="DejaVu Sans"/>
                <a:ea typeface="DejaVu Sans"/>
                <a:cs typeface="DejaVu Sans"/>
              </a:defRPr>
            </a:pPr>
            <a:r>
              <a:rPr sz="3225" b="1">
                <a:solidFill>
                  <a:srgbClr val="087F68"/>
                </a:solidFill>
                <a:latin typeface="DejaVu Sans"/>
                <a:ea typeface="DejaVu Sans"/>
                <a:cs typeface="DejaVu Sans"/>
              </a:rPr>
              <a:t>10</a:t>
            </a:r>
          </a:p>
        </p:txBody>
      </p:sp>
      <p:sp>
        <p:nvSpPr>
          <p:cNvPr id="8" name="">
            <a:extLst xmlns:a="http://schemas.openxmlformats.org/drawingml/2006/main">
              <a:ext uri="{FF2B5EF4-FFF2-40B4-BE49-F238E27FC236}">
                <a16:creationId xmlns:a16="http://schemas.microsoft.com/office/drawing/2014/main" id="{EBCD2B66-6C5A-49B4-A783-C0539CCD3AF1}"/>
              </a:ext>
            </a:extLst>
          </p:cNvPr>
          <p:cNvSpPr>
            <a:spLocks xmlns:a="http://schemas.openxmlformats.org/drawingml/2006/main" noGrp="1"/>
          </p:cNvSpPr>
          <p:nvPr/>
        </p:nvSpPr>
        <p:spPr>
          <a:xfrm xmlns:a="http://schemas.openxmlformats.org/drawingml/2006/main">
            <a:off x="619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tracked council items</a:t>
            </a:r>
          </a:p>
        </p:txBody>
      </p:sp>
      <p:sp>
        <p:nvSpPr>
          <p:cNvPr id="9" name="">
            <a:extLst xmlns:a="http://schemas.openxmlformats.org/drawingml/2006/main">
              <a:ext uri="{FF2B5EF4-FFF2-40B4-BE49-F238E27FC236}">
                <a16:creationId xmlns:a16="http://schemas.microsoft.com/office/drawing/2014/main" id="{7B039045-EFF5-44FB-9B96-1C5396C5CE2E}"/>
              </a:ext>
            </a:extLst>
          </p:cNvPr>
          <p:cNvSpPr>
            <a:spLocks xmlns:a="http://schemas.openxmlformats.org/drawingml/2006/main" noGrp="1"/>
          </p:cNvSpPr>
          <p:nvPr/>
        </p:nvSpPr>
        <p:spPr>
          <a:xfrm xmlns:a="http://schemas.openxmlformats.org/drawingml/2006/main">
            <a:off x="3314700" y="2095500"/>
            <a:ext cx="266700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B862EC5-547C-4C75-AA47-0421C6EA018D}"/>
              </a:ext>
            </a:extLst>
          </p:cNvPr>
          <p:cNvSpPr>
            <a:spLocks xmlns:a="http://schemas.openxmlformats.org/drawingml/2006/main" noGrp="1"/>
          </p:cNvSpPr>
          <p:nvPr/>
        </p:nvSpPr>
        <p:spPr>
          <a:xfrm xmlns:a="http://schemas.openxmlformats.org/drawingml/2006/main">
            <a:off x="3476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1688C2"/>
                </a:solidFill>
                <a:latin typeface="DejaVu Sans"/>
                <a:ea typeface="DejaVu Sans"/>
                <a:cs typeface="DejaVu Sans"/>
              </a:defRPr>
            </a:pPr>
            <a:r>
              <a:rPr sz="3225" b="1">
                <a:solidFill>
                  <a:srgbClr val="1688C2"/>
                </a:solidFill>
                <a:latin typeface="DejaVu Sans"/>
                <a:ea typeface="DejaVu Sans"/>
                <a:cs typeface="DejaVu Sans"/>
              </a:rPr>
              <a:t>2</a:t>
            </a:r>
          </a:p>
        </p:txBody>
      </p:sp>
      <p:sp>
        <p:nvSpPr>
          <p:cNvPr id="11" name="">
            <a:extLst xmlns:a="http://schemas.openxmlformats.org/drawingml/2006/main">
              <a:ext uri="{FF2B5EF4-FFF2-40B4-BE49-F238E27FC236}">
                <a16:creationId xmlns:a16="http://schemas.microsoft.com/office/drawing/2014/main" id="{17491BAF-ABBF-4F9B-B91D-54441A0F83AA}"/>
              </a:ext>
            </a:extLst>
          </p:cNvPr>
          <p:cNvSpPr>
            <a:spLocks xmlns:a="http://schemas.openxmlformats.org/drawingml/2006/main" noGrp="1"/>
          </p:cNvSpPr>
          <p:nvPr/>
        </p:nvSpPr>
        <p:spPr>
          <a:xfrm xmlns:a="http://schemas.openxmlformats.org/drawingml/2006/main">
            <a:off x="3476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Frequent probability</a:t>
            </a:r>
          </a:p>
        </p:txBody>
      </p:sp>
      <p:sp>
        <p:nvSpPr>
          <p:cNvPr id="12" name="">
            <a:extLst xmlns:a="http://schemas.openxmlformats.org/drawingml/2006/main">
              <a:ext uri="{FF2B5EF4-FFF2-40B4-BE49-F238E27FC236}">
                <a16:creationId xmlns:a16="http://schemas.microsoft.com/office/drawing/2014/main" id="{4174B2F3-0C97-497D-BB62-00EF87E910CD}"/>
              </a:ext>
            </a:extLst>
          </p:cNvPr>
          <p:cNvSpPr>
            <a:spLocks xmlns:a="http://schemas.openxmlformats.org/drawingml/2006/main" noGrp="1"/>
          </p:cNvSpPr>
          <p:nvPr/>
        </p:nvSpPr>
        <p:spPr>
          <a:xfrm xmlns:a="http://schemas.openxmlformats.org/drawingml/2006/main">
            <a:off x="6172200" y="2095500"/>
            <a:ext cx="2667000" cy="1162050"/>
          </a:xfrm>
          <a:prstGeom xmlns:a="http://schemas.openxmlformats.org/drawingml/2006/main" prst="roundRect">
            <a:avLst>
              <a:gd name="adj" fmla="val 9836"/>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7CBE5BF-E813-4267-A28B-7C66111BFC0F}"/>
              </a:ext>
            </a:extLst>
          </p:cNvPr>
          <p:cNvSpPr>
            <a:spLocks xmlns:a="http://schemas.openxmlformats.org/drawingml/2006/main" noGrp="1"/>
          </p:cNvSpPr>
          <p:nvPr/>
        </p:nvSpPr>
        <p:spPr>
          <a:xfrm xmlns:a="http://schemas.openxmlformats.org/drawingml/2006/main">
            <a:off x="63341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875BC5"/>
                </a:solidFill>
                <a:latin typeface="DejaVu Sans"/>
                <a:ea typeface="DejaVu Sans"/>
                <a:cs typeface="DejaVu Sans"/>
              </a:defRPr>
            </a:pPr>
            <a:r>
              <a:rPr sz="3225" b="1">
                <a:solidFill>
                  <a:srgbClr val="875BC5"/>
                </a:solidFill>
                <a:latin typeface="DejaVu Sans"/>
                <a:ea typeface="DejaVu Sans"/>
                <a:cs typeface="DejaVu Sans"/>
              </a:rPr>
              <a:t>8</a:t>
            </a:r>
          </a:p>
        </p:txBody>
      </p:sp>
      <p:sp>
        <p:nvSpPr>
          <p:cNvPr id="14" name="">
            <a:extLst xmlns:a="http://schemas.openxmlformats.org/drawingml/2006/main">
              <a:ext uri="{FF2B5EF4-FFF2-40B4-BE49-F238E27FC236}">
                <a16:creationId xmlns:a16="http://schemas.microsoft.com/office/drawing/2014/main" id="{4CD35638-A88D-4929-9409-1C86A8C41C74}"/>
              </a:ext>
            </a:extLst>
          </p:cNvPr>
          <p:cNvSpPr>
            <a:spLocks xmlns:a="http://schemas.openxmlformats.org/drawingml/2006/main" noGrp="1"/>
          </p:cNvSpPr>
          <p:nvPr/>
        </p:nvSpPr>
        <p:spPr>
          <a:xfrm xmlns:a="http://schemas.openxmlformats.org/drawingml/2006/main">
            <a:off x="63341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Rare probability</a:t>
            </a:r>
          </a:p>
        </p:txBody>
      </p:sp>
      <p:sp>
        <p:nvSpPr>
          <p:cNvPr id="15" name="">
            <a:extLst xmlns:a="http://schemas.openxmlformats.org/drawingml/2006/main">
              <a:ext uri="{FF2B5EF4-FFF2-40B4-BE49-F238E27FC236}">
                <a16:creationId xmlns:a16="http://schemas.microsoft.com/office/drawing/2014/main" id="{D135EADA-D5BF-4FAA-AA2D-BDB1AE19407F}"/>
              </a:ext>
            </a:extLst>
          </p:cNvPr>
          <p:cNvSpPr>
            <a:spLocks xmlns:a="http://schemas.openxmlformats.org/drawingml/2006/main" noGrp="1"/>
          </p:cNvSpPr>
          <p:nvPr/>
        </p:nvSpPr>
        <p:spPr>
          <a:xfrm xmlns:a="http://schemas.openxmlformats.org/drawingml/2006/main">
            <a:off x="9029700" y="2095500"/>
            <a:ext cx="2667000" cy="1162050"/>
          </a:xfrm>
          <a:prstGeom xmlns:a="http://schemas.openxmlformats.org/drawingml/2006/main" prst="roundRect">
            <a:avLst>
              <a:gd name="adj" fmla="val 9836"/>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40690674-A39C-44C7-8967-3E52E702E7D4}"/>
              </a:ext>
            </a:extLst>
          </p:cNvPr>
          <p:cNvSpPr>
            <a:spLocks xmlns:a="http://schemas.openxmlformats.org/drawingml/2006/main" noGrp="1"/>
          </p:cNvSpPr>
          <p:nvPr/>
        </p:nvSpPr>
        <p:spPr>
          <a:xfrm xmlns:a="http://schemas.openxmlformats.org/drawingml/2006/main">
            <a:off x="9191625" y="2219325"/>
            <a:ext cx="233362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225" b="1">
                <a:solidFill>
                  <a:srgbClr val="CC7D16"/>
                </a:solidFill>
                <a:latin typeface="DejaVu Sans"/>
                <a:ea typeface="DejaVu Sans"/>
                <a:cs typeface="DejaVu Sans"/>
              </a:defRPr>
            </a:pPr>
            <a:r>
              <a:rPr sz="3225" b="1">
                <a:solidFill>
                  <a:srgbClr val="CC7D16"/>
                </a:solidFill>
                <a:latin typeface="DejaVu Sans"/>
                <a:ea typeface="DejaVu Sans"/>
                <a:cs typeface="DejaVu Sans"/>
              </a:rPr>
              <a:t>24 Oct</a:t>
            </a:r>
          </a:p>
        </p:txBody>
      </p:sp>
      <p:sp>
        <p:nvSpPr>
          <p:cNvPr id="17" name="">
            <a:extLst xmlns:a="http://schemas.openxmlformats.org/drawingml/2006/main">
              <a:ext uri="{FF2B5EF4-FFF2-40B4-BE49-F238E27FC236}">
                <a16:creationId xmlns:a16="http://schemas.microsoft.com/office/drawing/2014/main" id="{F960E5D1-129E-4BBB-8C2F-D81D122CDB36}"/>
              </a:ext>
            </a:extLst>
          </p:cNvPr>
          <p:cNvSpPr>
            <a:spLocks xmlns:a="http://schemas.openxmlformats.org/drawingml/2006/main" noGrp="1"/>
          </p:cNvSpPr>
          <p:nvPr/>
        </p:nvSpPr>
        <p:spPr>
          <a:xfrm xmlns:a="http://schemas.openxmlformats.org/drawingml/2006/main">
            <a:off x="9191625" y="2828925"/>
            <a:ext cx="23526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425" b="0">
                <a:solidFill>
                  <a:srgbClr val="647B89"/>
                </a:solidFill>
                <a:latin typeface="DejaVu Sans"/>
                <a:ea typeface="DejaVu Sans"/>
                <a:cs typeface="DejaVu Sans"/>
              </a:defRPr>
            </a:pPr>
            <a:r>
              <a:rPr sz="1425" b="0">
                <a:solidFill>
                  <a:srgbClr val="647B89"/>
                </a:solidFill>
                <a:latin typeface="DejaVu Sans"/>
                <a:ea typeface="DejaVu Sans"/>
                <a:cs typeface="DejaVu Sans"/>
              </a:rPr>
              <a:t>KAL rollout target</a:t>
            </a:r>
          </a:p>
        </p:txBody>
      </p:sp>
      <p:sp>
        <p:nvSpPr>
          <p:cNvPr id="18" name="">
            <a:extLst xmlns:a="http://schemas.openxmlformats.org/drawingml/2006/main">
              <a:ext uri="{FF2B5EF4-FFF2-40B4-BE49-F238E27FC236}">
                <a16:creationId xmlns:a16="http://schemas.microsoft.com/office/drawing/2014/main" id="{781199D2-4F05-42BE-8451-7971AF75D30C}"/>
              </a:ext>
            </a:extLst>
          </p:cNvPr>
          <p:cNvSpPr>
            <a:spLocks xmlns:a="http://schemas.openxmlformats.org/drawingml/2006/main" noGrp="1"/>
          </p:cNvSpPr>
          <p:nvPr/>
        </p:nvSpPr>
        <p:spPr>
          <a:xfrm xmlns:a="http://schemas.openxmlformats.org/drawingml/2006/main">
            <a:off x="457200" y="3552825"/>
            <a:ext cx="5543550" cy="2524125"/>
          </a:xfrm>
          <a:prstGeom xmlns:a="http://schemas.openxmlformats.org/drawingml/2006/main" prst="roundRect">
            <a:avLst>
              <a:gd name="adj" fmla="val 4528"/>
            </a:avLst>
          </a:prstGeom>
          <a:solidFill xmlns:a="http://schemas.openxmlformats.org/drawingml/2006/main">
            <a:srgbClr val="FFF4DE"/>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2119AC88-FD43-4DC8-AA9B-66724CF58326}"/>
              </a:ext>
            </a:extLst>
          </p:cNvPr>
          <p:cNvSpPr>
            <a:spLocks xmlns:a="http://schemas.openxmlformats.org/drawingml/2006/main" noGrp="1"/>
          </p:cNvSpPr>
          <p:nvPr/>
        </p:nvSpPr>
        <p:spPr>
          <a:xfrm xmlns:a="http://schemas.openxmlformats.org/drawingml/2006/main">
            <a:off x="609600" y="36671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  Frequent: KAL device observability</a:t>
            </a:r>
          </a:p>
        </p:txBody>
      </p:sp>
      <p:sp>
        <p:nvSpPr>
          <p:cNvPr id="20" name="">
            <a:extLst xmlns:a="http://schemas.openxmlformats.org/drawingml/2006/main">
              <a:ext uri="{FF2B5EF4-FFF2-40B4-BE49-F238E27FC236}">
                <a16:creationId xmlns:a16="http://schemas.microsoft.com/office/drawing/2014/main" id="{11D437B6-9848-4F13-9AA1-6CD89DF29D1E}"/>
              </a:ext>
            </a:extLst>
          </p:cNvPr>
          <p:cNvSpPr>
            <a:spLocks xmlns:a="http://schemas.openxmlformats.org/drawingml/2006/main" noGrp="1"/>
          </p:cNvSpPr>
          <p:nvPr/>
        </p:nvSpPr>
        <p:spPr>
          <a:xfrm xmlns:a="http://schemas.openxmlformats.org/drawingml/2006/main">
            <a:off x="609600" y="4162425"/>
            <a:ext cx="52387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Three production pilot terminals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EID-device status fix under monitoring</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Rollout planned from 4 to 24 October 2026</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Closure needs rollout and monitoring evidence</a:t>
            </a:r>
          </a:p>
        </p:txBody>
      </p:sp>
      <p:sp>
        <p:nvSpPr>
          <p:cNvPr id="21" name="">
            <a:extLst xmlns:a="http://schemas.openxmlformats.org/drawingml/2006/main">
              <a:ext uri="{FF2B5EF4-FFF2-40B4-BE49-F238E27FC236}">
                <a16:creationId xmlns:a16="http://schemas.microsoft.com/office/drawing/2014/main" id="{F2CC0058-72F0-47FE-AC06-1993998D8507}"/>
              </a:ext>
            </a:extLst>
          </p:cNvPr>
          <p:cNvSpPr>
            <a:spLocks xmlns:a="http://schemas.openxmlformats.org/drawingml/2006/main" noGrp="1"/>
          </p:cNvSpPr>
          <p:nvPr/>
        </p:nvSpPr>
        <p:spPr>
          <a:xfrm xmlns:a="http://schemas.openxmlformats.org/drawingml/2006/main">
            <a:off x="6191250" y="3552825"/>
            <a:ext cx="5543550" cy="2524125"/>
          </a:xfrm>
          <a:prstGeom xmlns:a="http://schemas.openxmlformats.org/drawingml/2006/main" prst="roundRect">
            <a:avLst>
              <a:gd name="adj" fmla="val 4528"/>
            </a:avLst>
          </a:prstGeom>
          <a:solidFill xmlns:a="http://schemas.openxmlformats.org/drawingml/2006/main">
            <a:srgbClr val="FCEAF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8D4AD05D-D913-487E-8403-9287D024CADA}"/>
              </a:ext>
            </a:extLst>
          </p:cNvPr>
          <p:cNvSpPr>
            <a:spLocks xmlns:a="http://schemas.openxmlformats.org/drawingml/2006/main" noGrp="1"/>
          </p:cNvSpPr>
          <p:nvPr/>
        </p:nvSpPr>
        <p:spPr>
          <a:xfrm xmlns:a="http://schemas.openxmlformats.org/drawingml/2006/main">
            <a:off x="6343650" y="36671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  Frequent: online duplicate transfers</a:t>
            </a:r>
          </a:p>
        </p:txBody>
      </p:sp>
      <p:sp>
        <p:nvSpPr>
          <p:cNvPr id="23" name="">
            <a:extLst xmlns:a="http://schemas.openxmlformats.org/drawingml/2006/main">
              <a:ext uri="{FF2B5EF4-FFF2-40B4-BE49-F238E27FC236}">
                <a16:creationId xmlns:a16="http://schemas.microsoft.com/office/drawing/2014/main" id="{346E8C2E-2D8B-4E18-A5E9-C72922B036F8}"/>
              </a:ext>
            </a:extLst>
          </p:cNvPr>
          <p:cNvSpPr>
            <a:spLocks xmlns:a="http://schemas.openxmlformats.org/drawingml/2006/main" noGrp="1"/>
          </p:cNvSpPr>
          <p:nvPr/>
        </p:nvSpPr>
        <p:spPr>
          <a:xfrm xmlns:a="http://schemas.openxmlformats.org/drawingml/2006/main">
            <a:off x="6343650" y="4162425"/>
            <a:ext cx="5238750" cy="1828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Future-dated DFT / IFT duplicate transactions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Development in progress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EFMS Release 1 target: December 2026</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Closure needs transaction-control evidence</a:t>
            </a:r>
          </a:p>
        </p:txBody>
      </p:sp>
    </p:spTree>
    <p:extLst>
      <p:ext uri="{BB962C8B-B14F-4D97-AF65-F5344CB8AC3E}">
        <p14:creationId xmlns:p14="http://schemas.microsoft.com/office/powerpoint/2010/main" val="512840125"/>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1A3F8BA-CD63-4C94-A08F-520030966219}"/>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F301BD27-3365-425C-BBC9-FE68A8D707B7}"/>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Council control actions: notifications and security</a:t>
            </a:r>
          </a:p>
        </p:txBody>
      </p:sp>
      <p:sp>
        <p:nvSpPr>
          <p:cNvPr id="3" name="">
            <a:extLst xmlns:a="http://schemas.openxmlformats.org/drawingml/2006/main">
              <a:ext uri="{FF2B5EF4-FFF2-40B4-BE49-F238E27FC236}">
                <a16:creationId xmlns:a16="http://schemas.microsoft.com/office/drawing/2014/main" id="{8410EFC1-B81D-44F2-BD82-FB6C0B4E90A4}"/>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Planned releases and fixes need evidence before the council records closure.</a:t>
            </a:r>
          </a:p>
        </p:txBody>
      </p:sp>
      <p:sp>
        <p:nvSpPr>
          <p:cNvPr id="4" name="">
            <a:extLst xmlns:a="http://schemas.openxmlformats.org/drawingml/2006/main">
              <a:ext uri="{FF2B5EF4-FFF2-40B4-BE49-F238E27FC236}">
                <a16:creationId xmlns:a16="http://schemas.microsoft.com/office/drawing/2014/main" id="{B51E3845-8C66-48C3-8997-B41508661271}"/>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AA7A1B56-7F67-4025-82F7-8BEDC79EA354}"/>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30</a:t>
            </a:r>
          </a:p>
        </p:txBody>
      </p:sp>
      <p:sp>
        <p:nvSpPr>
          <p:cNvPr id="6" name="">
            <a:extLst xmlns:a="http://schemas.openxmlformats.org/drawingml/2006/main">
              <a:ext uri="{FF2B5EF4-FFF2-40B4-BE49-F238E27FC236}">
                <a16:creationId xmlns:a16="http://schemas.microsoft.com/office/drawing/2014/main" id="{EBDCE93E-290B-42E1-9FDF-B2AA1301C29A}"/>
              </a:ext>
            </a:extLst>
          </p:cNvPr>
          <p:cNvSpPr>
            <a:spLocks xmlns:a="http://schemas.openxmlformats.org/drawingml/2006/main" noGrp="1"/>
          </p:cNvSpPr>
          <p:nvPr/>
        </p:nvSpPr>
        <p:spPr>
          <a:xfrm xmlns:a="http://schemas.openxmlformats.org/drawingml/2006/main">
            <a:off x="457200" y="2143125"/>
            <a:ext cx="5543550" cy="1895475"/>
          </a:xfrm>
          <a:prstGeom xmlns:a="http://schemas.openxmlformats.org/drawingml/2006/main" prst="roundRect">
            <a:avLst>
              <a:gd name="adj" fmla="val 6030"/>
            </a:avLst>
          </a:prstGeom>
          <a:solidFill xmlns:a="http://schemas.openxmlformats.org/drawingml/2006/main">
            <a:srgbClr val="E8F3FB"/>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DF99720-9EDA-492F-AB6D-F6498D8495B5}"/>
              </a:ext>
            </a:extLst>
          </p:cNvPr>
          <p:cNvSpPr>
            <a:spLocks xmlns:a="http://schemas.openxmlformats.org/drawingml/2006/main" noGrp="1"/>
          </p:cNvSpPr>
          <p:nvPr/>
        </p:nvSpPr>
        <p:spPr>
          <a:xfrm xmlns:a="http://schemas.openxmlformats.org/drawingml/2006/main">
            <a:off x="609600" y="22574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  SMS duplicate notifications</a:t>
            </a:r>
          </a:p>
        </p:txBody>
      </p:sp>
      <p:sp>
        <p:nvSpPr>
          <p:cNvPr id="8" name="">
            <a:extLst xmlns:a="http://schemas.openxmlformats.org/drawingml/2006/main">
              <a:ext uri="{FF2B5EF4-FFF2-40B4-BE49-F238E27FC236}">
                <a16:creationId xmlns:a16="http://schemas.microsoft.com/office/drawing/2014/main" id="{8DEF6DDE-B4EA-43F5-A661-3558AB933F8B}"/>
              </a:ext>
            </a:extLst>
          </p:cNvPr>
          <p:cNvSpPr>
            <a:spLocks xmlns:a="http://schemas.openxmlformats.org/drawingml/2006/main" noGrp="1"/>
          </p:cNvSpPr>
          <p:nvPr/>
        </p:nvSpPr>
        <p:spPr>
          <a:xfrm xmlns:a="http://schemas.openxmlformats.org/drawingml/2006/main">
            <a:off x="609600" y="2752725"/>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Debit / credit, ATM and Power Card alerts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Source planned release: 4 October 2026</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Actual deployment confirmation required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Probability: Rare</a:t>
            </a:r>
          </a:p>
        </p:txBody>
      </p:sp>
      <p:sp>
        <p:nvSpPr>
          <p:cNvPr id="9" name="">
            <a:extLst xmlns:a="http://schemas.openxmlformats.org/drawingml/2006/main">
              <a:ext uri="{FF2B5EF4-FFF2-40B4-BE49-F238E27FC236}">
                <a16:creationId xmlns:a16="http://schemas.microsoft.com/office/drawing/2014/main" id="{DC88DA16-FDB7-474B-B4C5-06E24E31705C}"/>
              </a:ext>
            </a:extLst>
          </p:cNvPr>
          <p:cNvSpPr>
            <a:spLocks xmlns:a="http://schemas.openxmlformats.org/drawingml/2006/main" noGrp="1"/>
          </p:cNvSpPr>
          <p:nvPr/>
        </p:nvSpPr>
        <p:spPr>
          <a:xfrm xmlns:a="http://schemas.openxmlformats.org/drawingml/2006/main">
            <a:off x="6191250" y="2143125"/>
            <a:ext cx="5543550" cy="1895475"/>
          </a:xfrm>
          <a:prstGeom xmlns:a="http://schemas.openxmlformats.org/drawingml/2006/main" prst="roundRect">
            <a:avLst>
              <a:gd name="adj" fmla="val 6030"/>
            </a:avLst>
          </a:prstGeom>
          <a:solidFill xmlns:a="http://schemas.openxmlformats.org/drawingml/2006/main">
            <a:srgbClr val="FFF4DE"/>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DC50F72-F25B-4F19-A780-81476A49F67E}"/>
              </a:ext>
            </a:extLst>
          </p:cNvPr>
          <p:cNvSpPr>
            <a:spLocks xmlns:a="http://schemas.openxmlformats.org/drawingml/2006/main" noGrp="1"/>
          </p:cNvSpPr>
          <p:nvPr/>
        </p:nvSpPr>
        <p:spPr>
          <a:xfrm xmlns:a="http://schemas.openxmlformats.org/drawingml/2006/main">
            <a:off x="6343650" y="22574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  SMS OTP masking</a:t>
            </a:r>
          </a:p>
        </p:txBody>
      </p:sp>
      <p:sp>
        <p:nvSpPr>
          <p:cNvPr id="11" name="">
            <a:extLst xmlns:a="http://schemas.openxmlformats.org/drawingml/2006/main">
              <a:ext uri="{FF2B5EF4-FFF2-40B4-BE49-F238E27FC236}">
                <a16:creationId xmlns:a16="http://schemas.microsoft.com/office/drawing/2014/main" id="{AA91C508-8CD7-41F0-A137-D438B629FB6A}"/>
              </a:ext>
            </a:extLst>
          </p:cNvPr>
          <p:cNvSpPr>
            <a:spLocks xmlns:a="http://schemas.openxmlformats.org/drawingml/2006/main" noGrp="1"/>
          </p:cNvSpPr>
          <p:nvPr/>
        </p:nvSpPr>
        <p:spPr>
          <a:xfrm xmlns:a="http://schemas.openxmlformats.org/drawingml/2006/main">
            <a:off x="6343650" y="2752725"/>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Centralize templates from SOA, IB and MB</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Demand created with DAMO team</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Payload and template redesign required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Probability: Rare</a:t>
            </a:r>
          </a:p>
        </p:txBody>
      </p:sp>
      <p:sp>
        <p:nvSpPr>
          <p:cNvPr id="12" name="">
            <a:extLst xmlns:a="http://schemas.openxmlformats.org/drawingml/2006/main">
              <a:ext uri="{FF2B5EF4-FFF2-40B4-BE49-F238E27FC236}">
                <a16:creationId xmlns:a16="http://schemas.microsoft.com/office/drawing/2014/main" id="{A0820A1B-1021-42F5-A860-166F9A7BE797}"/>
              </a:ext>
            </a:extLst>
          </p:cNvPr>
          <p:cNvSpPr>
            <a:spLocks xmlns:a="http://schemas.openxmlformats.org/drawingml/2006/main" noGrp="1"/>
          </p:cNvSpPr>
          <p:nvPr/>
        </p:nvSpPr>
        <p:spPr>
          <a:xfrm xmlns:a="http://schemas.openxmlformats.org/drawingml/2006/main">
            <a:off x="457200" y="4238625"/>
            <a:ext cx="5543550" cy="1905000"/>
          </a:xfrm>
          <a:prstGeom xmlns:a="http://schemas.openxmlformats.org/drawingml/2006/main" prst="roundRect">
            <a:avLst>
              <a:gd name="adj" fmla="val 6000"/>
            </a:avLst>
          </a:prstGeom>
          <a:solidFill xmlns:a="http://schemas.openxmlformats.org/drawingml/2006/main">
            <a:srgbClr val="E6F6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843CC5A7-5926-47B4-A573-7A4F17D7E111}"/>
              </a:ext>
            </a:extLst>
          </p:cNvPr>
          <p:cNvSpPr>
            <a:spLocks xmlns:a="http://schemas.openxmlformats.org/drawingml/2006/main" noGrp="1"/>
          </p:cNvSpPr>
          <p:nvPr/>
        </p:nvSpPr>
        <p:spPr>
          <a:xfrm xmlns:a="http://schemas.openxmlformats.org/drawingml/2006/main">
            <a:off x="609600" y="43529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  Website exchange interface</a:t>
            </a:r>
          </a:p>
        </p:txBody>
      </p:sp>
      <p:sp>
        <p:nvSpPr>
          <p:cNvPr id="14" name="">
            <a:extLst xmlns:a="http://schemas.openxmlformats.org/drawingml/2006/main">
              <a:ext uri="{FF2B5EF4-FFF2-40B4-BE49-F238E27FC236}">
                <a16:creationId xmlns:a16="http://schemas.microsoft.com/office/drawing/2014/main" id="{0E739093-ED12-43FC-8E30-44C7FB8536FE}"/>
              </a:ext>
            </a:extLst>
          </p:cNvPr>
          <p:cNvSpPr>
            <a:spLocks xmlns:a="http://schemas.openxmlformats.org/drawingml/2006/main" noGrp="1"/>
          </p:cNvSpPr>
          <p:nvPr/>
        </p:nvSpPr>
        <p:spPr>
          <a:xfrm xmlns:a="http://schemas.openxmlformats.org/drawingml/2006/main">
            <a:off x="609600" y="4848225"/>
            <a:ext cx="5238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Plain-text-password fix deployed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Further findings / requirements pending</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Closure needs remaining scope confirmed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Probability: Rare</a:t>
            </a:r>
          </a:p>
        </p:txBody>
      </p:sp>
      <p:sp>
        <p:nvSpPr>
          <p:cNvPr id="15" name="">
            <a:extLst xmlns:a="http://schemas.openxmlformats.org/drawingml/2006/main">
              <a:ext uri="{FF2B5EF4-FFF2-40B4-BE49-F238E27FC236}">
                <a16:creationId xmlns:a16="http://schemas.microsoft.com/office/drawing/2014/main" id="{BBB18AB1-2AF1-482C-BD11-4E1A980109B9}"/>
              </a:ext>
            </a:extLst>
          </p:cNvPr>
          <p:cNvSpPr>
            <a:spLocks xmlns:a="http://schemas.openxmlformats.org/drawingml/2006/main" noGrp="1"/>
          </p:cNvSpPr>
          <p:nvPr/>
        </p:nvSpPr>
        <p:spPr>
          <a:xfrm xmlns:a="http://schemas.openxmlformats.org/drawingml/2006/main">
            <a:off x="6191250" y="4238625"/>
            <a:ext cx="5543550" cy="1905000"/>
          </a:xfrm>
          <a:prstGeom xmlns:a="http://schemas.openxmlformats.org/drawingml/2006/main" prst="roundRect">
            <a:avLst>
              <a:gd name="adj" fmla="val 6000"/>
            </a:avLst>
          </a:prstGeom>
          <a:solidFill xmlns:a="http://schemas.openxmlformats.org/drawingml/2006/main">
            <a:srgbClr val="F0EAF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CDBB193-4C4C-496A-B5E7-5B170C7EE40E}"/>
              </a:ext>
            </a:extLst>
          </p:cNvPr>
          <p:cNvSpPr>
            <a:spLocks xmlns:a="http://schemas.openxmlformats.org/drawingml/2006/main" noGrp="1"/>
          </p:cNvSpPr>
          <p:nvPr/>
        </p:nvSpPr>
        <p:spPr>
          <a:xfrm xmlns:a="http://schemas.openxmlformats.org/drawingml/2006/main">
            <a:off x="6343650" y="43529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75BC5"/>
                </a:solidFill>
                <a:latin typeface="DejaVu Sans"/>
                <a:ea typeface="DejaVu Sans"/>
                <a:cs typeface="DejaVu Sans"/>
              </a:defRPr>
            </a:pPr>
            <a:r>
              <a:rPr sz="1650" b="1">
                <a:solidFill>
                  <a:srgbClr val="875BC5"/>
                </a:solidFill>
                <a:latin typeface="DejaVu Sans"/>
                <a:ea typeface="DejaVu Sans"/>
                <a:cs typeface="DejaVu Sans"/>
              </a:rPr>
              <a:t>☎  Call-centre support lifecycle</a:t>
            </a:r>
          </a:p>
        </p:txBody>
      </p:sp>
      <p:sp>
        <p:nvSpPr>
          <p:cNvPr id="17" name="">
            <a:extLst xmlns:a="http://schemas.openxmlformats.org/drawingml/2006/main">
              <a:ext uri="{FF2B5EF4-FFF2-40B4-BE49-F238E27FC236}">
                <a16:creationId xmlns:a16="http://schemas.microsoft.com/office/drawing/2014/main" id="{DFDDDE8D-1D51-4601-BE2B-E5DE8FD33646}"/>
              </a:ext>
            </a:extLst>
          </p:cNvPr>
          <p:cNvSpPr>
            <a:spLocks xmlns:a="http://schemas.openxmlformats.org/drawingml/2006/main" noGrp="1"/>
          </p:cNvSpPr>
          <p:nvPr/>
        </p:nvSpPr>
        <p:spPr>
          <a:xfrm xmlns:a="http://schemas.openxmlformats.org/drawingml/2006/main">
            <a:off x="6343650" y="4848225"/>
            <a:ext cx="5238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VHT support ended December 2023</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Genesys DataMart support ended May 2021</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Addressed within call-centre upgrade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Probability: Rare</a:t>
            </a:r>
          </a:p>
        </p:txBody>
      </p:sp>
    </p:spTree>
    <p:extLst>
      <p:ext uri="{BB962C8B-B14F-4D97-AF65-F5344CB8AC3E}">
        <p14:creationId xmlns:p14="http://schemas.microsoft.com/office/powerpoint/2010/main" val="826434027"/>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F8E051A-DD51-4BA6-82AC-DCAAB5D3FB52}"/>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43B1B5EF-AFA6-4C1D-8A20-68BEF06B3E3C}"/>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Council modernization actions span four platforms</a:t>
            </a:r>
          </a:p>
        </p:txBody>
      </p:sp>
      <p:sp>
        <p:nvSpPr>
          <p:cNvPr id="3" name="">
            <a:extLst xmlns:a="http://schemas.openxmlformats.org/drawingml/2006/main">
              <a:ext uri="{FF2B5EF4-FFF2-40B4-BE49-F238E27FC236}">
                <a16:creationId xmlns:a16="http://schemas.microsoft.com/office/drawing/2014/main" id="{07D9A698-0B19-475D-A7F4-26BF4012F603}"/>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Legacy technology and incomplete journey visibility remain on the council agenda.</a:t>
            </a:r>
          </a:p>
        </p:txBody>
      </p:sp>
      <p:sp>
        <p:nvSpPr>
          <p:cNvPr id="4" name="">
            <a:extLst xmlns:a="http://schemas.openxmlformats.org/drawingml/2006/main">
              <a:ext uri="{FF2B5EF4-FFF2-40B4-BE49-F238E27FC236}">
                <a16:creationId xmlns:a16="http://schemas.microsoft.com/office/drawing/2014/main" id="{FEBFF5CA-AD67-49B2-9C63-F80BEDEC2D35}"/>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78F37BA3-FE2D-47E4-9CE7-11661F528B72}"/>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31</a:t>
            </a:r>
          </a:p>
        </p:txBody>
      </p:sp>
      <p:sp>
        <p:nvSpPr>
          <p:cNvPr id="6" name="">
            <a:extLst xmlns:a="http://schemas.openxmlformats.org/drawingml/2006/main">
              <a:ext uri="{FF2B5EF4-FFF2-40B4-BE49-F238E27FC236}">
                <a16:creationId xmlns:a16="http://schemas.microsoft.com/office/drawing/2014/main" id="{DCA34344-446B-45BB-BB8C-2DD082A4169D}"/>
              </a:ext>
            </a:extLst>
          </p:cNvPr>
          <p:cNvSpPr>
            <a:spLocks xmlns:a="http://schemas.openxmlformats.org/drawingml/2006/main" noGrp="1"/>
          </p:cNvSpPr>
          <p:nvPr/>
        </p:nvSpPr>
        <p:spPr>
          <a:xfrm xmlns:a="http://schemas.openxmlformats.org/drawingml/2006/main">
            <a:off x="457200" y="2143125"/>
            <a:ext cx="5543550" cy="1895475"/>
          </a:xfrm>
          <a:prstGeom xmlns:a="http://schemas.openxmlformats.org/drawingml/2006/main" prst="roundRect">
            <a:avLst>
              <a:gd name="adj" fmla="val 6030"/>
            </a:avLst>
          </a:prstGeom>
          <a:solidFill xmlns:a="http://schemas.openxmlformats.org/drawingml/2006/main">
            <a:srgbClr val="FFF4D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AA0F5C6-DCA8-4543-8296-1C70A69EBEA8}"/>
              </a:ext>
            </a:extLst>
          </p:cNvPr>
          <p:cNvSpPr>
            <a:spLocks xmlns:a="http://schemas.openxmlformats.org/drawingml/2006/main" noGrp="1"/>
          </p:cNvSpPr>
          <p:nvPr/>
        </p:nvSpPr>
        <p:spPr>
          <a:xfrm xmlns:a="http://schemas.openxmlformats.org/drawingml/2006/main">
            <a:off x="609600" y="22574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  Power Card</a:t>
            </a:r>
          </a:p>
        </p:txBody>
      </p:sp>
      <p:sp>
        <p:nvSpPr>
          <p:cNvPr id="8" name="">
            <a:extLst xmlns:a="http://schemas.openxmlformats.org/drawingml/2006/main">
              <a:ext uri="{FF2B5EF4-FFF2-40B4-BE49-F238E27FC236}">
                <a16:creationId xmlns:a16="http://schemas.microsoft.com/office/drawing/2014/main" id="{21309C27-8EED-43AF-A44A-E67B29C4794E}"/>
              </a:ext>
            </a:extLst>
          </p:cNvPr>
          <p:cNvSpPr>
            <a:spLocks xmlns:a="http://schemas.openxmlformats.org/drawingml/2006/main" noGrp="1"/>
          </p:cNvSpPr>
          <p:nvPr/>
        </p:nvSpPr>
        <p:spPr>
          <a:xfrm xmlns:a="http://schemas.openxmlformats.org/drawingml/2006/main">
            <a:off x="609600" y="2752725"/>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Latency, EOD delays and CMS v2 / Switch v3 sync</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HPS engagement for a two-week review</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Replacement under management directive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Probability: Rare</a:t>
            </a:r>
          </a:p>
        </p:txBody>
      </p:sp>
      <p:sp>
        <p:nvSpPr>
          <p:cNvPr id="9" name="">
            <a:extLst xmlns:a="http://schemas.openxmlformats.org/drawingml/2006/main">
              <a:ext uri="{FF2B5EF4-FFF2-40B4-BE49-F238E27FC236}">
                <a16:creationId xmlns:a16="http://schemas.microsoft.com/office/drawing/2014/main" id="{7EA5ABF1-C32B-4344-973E-1D4FA7046434}"/>
              </a:ext>
            </a:extLst>
          </p:cNvPr>
          <p:cNvSpPr>
            <a:spLocks xmlns:a="http://schemas.openxmlformats.org/drawingml/2006/main" noGrp="1"/>
          </p:cNvSpPr>
          <p:nvPr/>
        </p:nvSpPr>
        <p:spPr>
          <a:xfrm xmlns:a="http://schemas.openxmlformats.org/drawingml/2006/main">
            <a:off x="6191250" y="2143125"/>
            <a:ext cx="5543550" cy="1895475"/>
          </a:xfrm>
          <a:prstGeom xmlns:a="http://schemas.openxmlformats.org/drawingml/2006/main" prst="roundRect">
            <a:avLst>
              <a:gd name="adj" fmla="val 6030"/>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A019A288-5510-428D-A626-4D72FE5592FE}"/>
              </a:ext>
            </a:extLst>
          </p:cNvPr>
          <p:cNvSpPr>
            <a:spLocks xmlns:a="http://schemas.openxmlformats.org/drawingml/2006/main" noGrp="1"/>
          </p:cNvSpPr>
          <p:nvPr/>
        </p:nvSpPr>
        <p:spPr>
          <a:xfrm xmlns:a="http://schemas.openxmlformats.org/drawingml/2006/main">
            <a:off x="6343650" y="22574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  Mobile journey tracking</a:t>
            </a:r>
          </a:p>
        </p:txBody>
      </p:sp>
      <p:sp>
        <p:nvSpPr>
          <p:cNvPr id="11" name="">
            <a:extLst xmlns:a="http://schemas.openxmlformats.org/drawingml/2006/main">
              <a:ext uri="{FF2B5EF4-FFF2-40B4-BE49-F238E27FC236}">
                <a16:creationId xmlns:a16="http://schemas.microsoft.com/office/drawing/2014/main" id="{00F7A6F2-FE45-43B9-B709-D9AA3409CE09}"/>
              </a:ext>
            </a:extLst>
          </p:cNvPr>
          <p:cNvSpPr>
            <a:spLocks xmlns:a="http://schemas.openxmlformats.org/drawingml/2006/main" noGrp="1"/>
          </p:cNvSpPr>
          <p:nvPr/>
        </p:nvSpPr>
        <p:spPr>
          <a:xfrm xmlns:a="http://schemas.openxmlformats.org/drawingml/2006/main">
            <a:off x="6343650" y="2752725"/>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PF / CC journey tracking implemented</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PF squad enhancements in progress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RtB reports only raw logs, limiting business visibility</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Dynatrace exploration proposed. Probability: Rare</a:t>
            </a:r>
          </a:p>
        </p:txBody>
      </p:sp>
      <p:sp>
        <p:nvSpPr>
          <p:cNvPr id="12" name="">
            <a:extLst xmlns:a="http://schemas.openxmlformats.org/drawingml/2006/main">
              <a:ext uri="{FF2B5EF4-FFF2-40B4-BE49-F238E27FC236}">
                <a16:creationId xmlns:a16="http://schemas.microsoft.com/office/drawing/2014/main" id="{55F17AA3-3702-4CD5-96C3-369A8BE01815}"/>
              </a:ext>
            </a:extLst>
          </p:cNvPr>
          <p:cNvSpPr>
            <a:spLocks xmlns:a="http://schemas.openxmlformats.org/drawingml/2006/main" noGrp="1"/>
          </p:cNvSpPr>
          <p:nvPr/>
        </p:nvSpPr>
        <p:spPr>
          <a:xfrm xmlns:a="http://schemas.openxmlformats.org/drawingml/2006/main">
            <a:off x="457200" y="4238625"/>
            <a:ext cx="5543550" cy="1905000"/>
          </a:xfrm>
          <a:prstGeom xmlns:a="http://schemas.openxmlformats.org/drawingml/2006/main" prst="roundRect">
            <a:avLst>
              <a:gd name="adj" fmla="val 6000"/>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C395287C-811E-4E1E-B5A4-A1DB363F58E9}"/>
              </a:ext>
            </a:extLst>
          </p:cNvPr>
          <p:cNvSpPr>
            <a:spLocks xmlns:a="http://schemas.openxmlformats.org/drawingml/2006/main" noGrp="1"/>
          </p:cNvSpPr>
          <p:nvPr/>
        </p:nvSpPr>
        <p:spPr>
          <a:xfrm xmlns:a="http://schemas.openxmlformats.org/drawingml/2006/main">
            <a:off x="609600" y="43529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75BC5"/>
                </a:solidFill>
                <a:latin typeface="DejaVu Sans"/>
                <a:ea typeface="DejaVu Sans"/>
                <a:cs typeface="DejaVu Sans"/>
              </a:defRPr>
            </a:pPr>
            <a:r>
              <a:rPr sz="1650" b="1">
                <a:solidFill>
                  <a:srgbClr val="875BC5"/>
                </a:solidFill>
                <a:latin typeface="DejaVu Sans"/>
                <a:ea typeface="DejaVu Sans"/>
                <a:cs typeface="DejaVu Sans"/>
              </a:rPr>
              <a:t>☁  OMNI / Internet Banking</a:t>
            </a:r>
          </a:p>
        </p:txBody>
      </p:sp>
      <p:sp>
        <p:nvSpPr>
          <p:cNvPr id="14" name="">
            <a:extLst xmlns:a="http://schemas.openxmlformats.org/drawingml/2006/main">
              <a:ext uri="{FF2B5EF4-FFF2-40B4-BE49-F238E27FC236}">
                <a16:creationId xmlns:a16="http://schemas.microsoft.com/office/drawing/2014/main" id="{7EC634BF-A35A-4A3D-BC91-D1C7BEC3379A}"/>
              </a:ext>
            </a:extLst>
          </p:cNvPr>
          <p:cNvSpPr>
            <a:spLocks xmlns:a="http://schemas.openxmlformats.org/drawingml/2006/main" noGrp="1"/>
          </p:cNvSpPr>
          <p:nvPr/>
        </p:nvSpPr>
        <p:spPr>
          <a:xfrm xmlns:a="http://schemas.openxmlformats.org/drawingml/2006/main">
            <a:off x="609600" y="4848225"/>
            <a:ext cx="5238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Unsupported technology stack</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Upgrade within the resiliency programme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Scope proposes IB / Omni for Q2 2027</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Probability: Rare</a:t>
            </a:r>
          </a:p>
        </p:txBody>
      </p:sp>
      <p:sp>
        <p:nvSpPr>
          <p:cNvPr id="15" name="">
            <a:extLst xmlns:a="http://schemas.openxmlformats.org/drawingml/2006/main">
              <a:ext uri="{FF2B5EF4-FFF2-40B4-BE49-F238E27FC236}">
                <a16:creationId xmlns:a16="http://schemas.microsoft.com/office/drawing/2014/main" id="{BB74B68E-1E6D-485C-BEEC-DCFDB58507BD}"/>
              </a:ext>
            </a:extLst>
          </p:cNvPr>
          <p:cNvSpPr>
            <a:spLocks xmlns:a="http://schemas.openxmlformats.org/drawingml/2006/main" noGrp="1"/>
          </p:cNvSpPr>
          <p:nvPr/>
        </p:nvSpPr>
        <p:spPr>
          <a:xfrm xmlns:a="http://schemas.openxmlformats.org/drawingml/2006/main">
            <a:off x="6191250" y="4238625"/>
            <a:ext cx="5543550" cy="1905000"/>
          </a:xfrm>
          <a:prstGeom xmlns:a="http://schemas.openxmlformats.org/drawingml/2006/main" prst="roundRect">
            <a:avLst>
              <a:gd name="adj" fmla="val 6000"/>
            </a:avLst>
          </a:prstGeom>
          <a:solidFill xmlns:a="http://schemas.openxmlformats.org/drawingml/2006/main">
            <a:srgbClr val="FCEAF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9749D83-B137-4BA2-A8D5-E800564FE0FC}"/>
              </a:ext>
            </a:extLst>
          </p:cNvPr>
          <p:cNvSpPr>
            <a:spLocks xmlns:a="http://schemas.openxmlformats.org/drawingml/2006/main" noGrp="1"/>
          </p:cNvSpPr>
          <p:nvPr/>
        </p:nvSpPr>
        <p:spPr>
          <a:xfrm xmlns:a="http://schemas.openxmlformats.org/drawingml/2006/main">
            <a:off x="6343650" y="43529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  HFLMS</a:t>
            </a:r>
          </a:p>
        </p:txBody>
      </p:sp>
      <p:sp>
        <p:nvSpPr>
          <p:cNvPr id="17" name="">
            <a:extLst xmlns:a="http://schemas.openxmlformats.org/drawingml/2006/main">
              <a:ext uri="{FF2B5EF4-FFF2-40B4-BE49-F238E27FC236}">
                <a16:creationId xmlns:a16="http://schemas.microsoft.com/office/drawing/2014/main" id="{AA27CC71-B088-47FF-B740-9CB171FB00EF}"/>
              </a:ext>
            </a:extLst>
          </p:cNvPr>
          <p:cNvSpPr>
            <a:spLocks xmlns:a="http://schemas.openxmlformats.org/drawingml/2006/main" noGrp="1"/>
          </p:cNvSpPr>
          <p:nvPr/>
        </p:nvSpPr>
        <p:spPr>
          <a:xfrm xmlns:a="http://schemas.openxmlformats.org/drawingml/2006/main">
            <a:off x="6343650" y="4848225"/>
            <a:ext cx="5238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Unsupported stack and no HA / DR in council report</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Platform upgrade in progress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Scope table targets Q4 2026</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Council target year requires confirmation</a:t>
            </a:r>
          </a:p>
        </p:txBody>
      </p:sp>
    </p:spTree>
    <p:extLst>
      <p:ext uri="{BB962C8B-B14F-4D97-AF65-F5344CB8AC3E}">
        <p14:creationId xmlns:p14="http://schemas.microsoft.com/office/powerpoint/2010/main" val="1187317201"/>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
            <a:extLst xmlns:a="http://schemas.openxmlformats.org/drawingml/2006/main">
              <a:ext uri="{FF2B5EF4-FFF2-40B4-BE49-F238E27FC236}">
                <a16:creationId xmlns:a16="http://schemas.microsoft.com/office/drawing/2014/main" id="{C1ADFB84-40FB-4BC7-B46C-CB59882C9AFE}"/>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724EA320-8C01-44EA-8983-D7C9878F7323}"/>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CET resiliency strategy covers eight platforms</a:t>
            </a:r>
          </a:p>
        </p:txBody>
      </p:sp>
      <p:sp>
        <p:nvSpPr>
          <p:cNvPr id="3" name="">
            <a:extLst xmlns:a="http://schemas.openxmlformats.org/drawingml/2006/main">
              <a:ext uri="{FF2B5EF4-FFF2-40B4-BE49-F238E27FC236}">
                <a16:creationId xmlns:a16="http://schemas.microsoft.com/office/drawing/2014/main" id="{336552A5-A511-4563-8C71-8C80CDA69EC1}"/>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Programme scope combines legacy upgrades, database resilience and recovery architecture.</a:t>
            </a:r>
          </a:p>
        </p:txBody>
      </p:sp>
      <p:sp>
        <p:nvSpPr>
          <p:cNvPr id="4" name="">
            <a:extLst xmlns:a="http://schemas.openxmlformats.org/drawingml/2006/main">
              <a:ext uri="{FF2B5EF4-FFF2-40B4-BE49-F238E27FC236}">
                <a16:creationId xmlns:a16="http://schemas.microsoft.com/office/drawing/2014/main" id="{22A8331D-9893-4BE1-BABC-D8A2A8F62120}"/>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11292178-1C52-47AA-95D5-B6B95C84E4D8}"/>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32</a:t>
            </a:r>
          </a:p>
        </p:txBody>
      </p:sp>
      <p:sp>
        <p:nvSpPr>
          <p:cNvPr id="6" name="">
            <a:extLst xmlns:a="http://schemas.openxmlformats.org/drawingml/2006/main">
              <a:ext uri="{FF2B5EF4-FFF2-40B4-BE49-F238E27FC236}">
                <a16:creationId xmlns:a16="http://schemas.microsoft.com/office/drawing/2014/main" id="{4AF4365E-DCAB-481E-A3F4-6765029AB9B0}"/>
              </a:ext>
            </a:extLst>
          </p:cNvPr>
          <p:cNvSpPr>
            <a:spLocks xmlns:a="http://schemas.openxmlformats.org/drawingml/2006/main" noGrp="1"/>
          </p:cNvSpPr>
          <p:nvPr/>
        </p:nvSpPr>
        <p:spPr>
          <a:xfrm xmlns:a="http://schemas.openxmlformats.org/drawingml/2006/main">
            <a:off x="457200" y="2114550"/>
            <a:ext cx="2705100" cy="1257300"/>
          </a:xfrm>
          <a:prstGeom xmlns:a="http://schemas.openxmlformats.org/drawingml/2006/main" prst="roundRect">
            <a:avLst>
              <a:gd name="adj" fmla="val 9091"/>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5BA7A8D-6D53-478D-BBCF-54F26D491BDA}"/>
              </a:ext>
            </a:extLst>
          </p:cNvPr>
          <p:cNvSpPr>
            <a:spLocks xmlns:a="http://schemas.openxmlformats.org/drawingml/2006/main" noGrp="1"/>
          </p:cNvSpPr>
          <p:nvPr/>
        </p:nvSpPr>
        <p:spPr>
          <a:xfrm xmlns:a="http://schemas.openxmlformats.org/drawingml/2006/main">
            <a:off x="609600" y="2228850"/>
            <a:ext cx="2400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68"/>
                </a:solidFill>
                <a:latin typeface="DejaVu Sans"/>
                <a:ea typeface="DejaVu Sans"/>
                <a:cs typeface="DejaVu Sans"/>
              </a:defRPr>
            </a:pPr>
            <a:r>
              <a:rPr sz="1350" b="1">
                <a:solidFill>
                  <a:srgbClr val="087F68"/>
                </a:solidFill>
                <a:latin typeface="DejaVu Sans"/>
                <a:ea typeface="DejaVu Sans"/>
                <a:cs typeface="DejaVu Sans"/>
              </a:rPr>
              <a:t>✉  Ducont SMS</a:t>
            </a:r>
          </a:p>
        </p:txBody>
      </p:sp>
      <p:sp>
        <p:nvSpPr>
          <p:cNvPr id="8" name="">
            <a:extLst xmlns:a="http://schemas.openxmlformats.org/drawingml/2006/main">
              <a:ext uri="{FF2B5EF4-FFF2-40B4-BE49-F238E27FC236}">
                <a16:creationId xmlns:a16="http://schemas.microsoft.com/office/drawing/2014/main" id="{5D75F886-8E84-4109-B963-B9CC5AAFA4E4}"/>
              </a:ext>
            </a:extLst>
          </p:cNvPr>
          <p:cNvSpPr>
            <a:spLocks xmlns:a="http://schemas.openxmlformats.org/drawingml/2006/main" noGrp="1"/>
          </p:cNvSpPr>
          <p:nvPr/>
        </p:nvSpPr>
        <p:spPr>
          <a:xfrm xmlns:a="http://schemas.openxmlformats.org/drawingml/2006/main">
            <a:off x="609600" y="2724150"/>
            <a:ext cx="2400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Ramzi Rizvan</a:t>
            </a:r>
          </a:p>
        </p:txBody>
      </p:sp>
      <p:sp>
        <p:nvSpPr>
          <p:cNvPr id="9" name="">
            <a:extLst xmlns:a="http://schemas.openxmlformats.org/drawingml/2006/main">
              <a:ext uri="{FF2B5EF4-FFF2-40B4-BE49-F238E27FC236}">
                <a16:creationId xmlns:a16="http://schemas.microsoft.com/office/drawing/2014/main" id="{3B9D5F5D-A773-4B6E-BE13-2C44C2691B8B}"/>
              </a:ext>
            </a:extLst>
          </p:cNvPr>
          <p:cNvSpPr>
            <a:spLocks xmlns:a="http://schemas.openxmlformats.org/drawingml/2006/main" noGrp="1"/>
          </p:cNvSpPr>
          <p:nvPr/>
        </p:nvSpPr>
        <p:spPr>
          <a:xfrm xmlns:a="http://schemas.openxmlformats.org/drawingml/2006/main">
            <a:off x="3314700" y="2114550"/>
            <a:ext cx="2705100" cy="1257300"/>
          </a:xfrm>
          <a:prstGeom xmlns:a="http://schemas.openxmlformats.org/drawingml/2006/main" prst="roundRect">
            <a:avLst>
              <a:gd name="adj" fmla="val 9091"/>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C24BD06-944D-4E30-ACBE-C43D8981BCBE}"/>
              </a:ext>
            </a:extLst>
          </p:cNvPr>
          <p:cNvSpPr>
            <a:spLocks xmlns:a="http://schemas.openxmlformats.org/drawingml/2006/main" noGrp="1"/>
          </p:cNvSpPr>
          <p:nvPr/>
        </p:nvSpPr>
        <p:spPr>
          <a:xfrm xmlns:a="http://schemas.openxmlformats.org/drawingml/2006/main">
            <a:off x="3467100" y="2228850"/>
            <a:ext cx="2400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8C2"/>
                </a:solidFill>
                <a:latin typeface="DejaVu Sans"/>
                <a:ea typeface="DejaVu Sans"/>
                <a:cs typeface="DejaVu Sans"/>
              </a:defRPr>
            </a:pPr>
            <a:r>
              <a:rPr sz="1350" b="1">
                <a:solidFill>
                  <a:srgbClr val="1688C2"/>
                </a:solidFill>
                <a:latin typeface="DejaVu Sans"/>
                <a:ea typeface="DejaVu Sans"/>
                <a:cs typeface="DejaVu Sans"/>
              </a:rPr>
              <a:t>◆  HFLMS</a:t>
            </a:r>
          </a:p>
        </p:txBody>
      </p:sp>
      <p:sp>
        <p:nvSpPr>
          <p:cNvPr id="11" name="">
            <a:extLst xmlns:a="http://schemas.openxmlformats.org/drawingml/2006/main">
              <a:ext uri="{FF2B5EF4-FFF2-40B4-BE49-F238E27FC236}">
                <a16:creationId xmlns:a16="http://schemas.microsoft.com/office/drawing/2014/main" id="{CAA008F6-8983-44F6-8D27-0159BE4B340C}"/>
              </a:ext>
            </a:extLst>
          </p:cNvPr>
          <p:cNvSpPr>
            <a:spLocks xmlns:a="http://schemas.openxmlformats.org/drawingml/2006/main" noGrp="1"/>
          </p:cNvSpPr>
          <p:nvPr/>
        </p:nvSpPr>
        <p:spPr>
          <a:xfrm xmlns:a="http://schemas.openxmlformats.org/drawingml/2006/main">
            <a:off x="3467100" y="2724150"/>
            <a:ext cx="2400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Naveed Rashid</a:t>
            </a:r>
          </a:p>
        </p:txBody>
      </p:sp>
      <p:sp>
        <p:nvSpPr>
          <p:cNvPr id="12" name="">
            <a:extLst xmlns:a="http://schemas.openxmlformats.org/drawingml/2006/main">
              <a:ext uri="{FF2B5EF4-FFF2-40B4-BE49-F238E27FC236}">
                <a16:creationId xmlns:a16="http://schemas.microsoft.com/office/drawing/2014/main" id="{E5BA910E-C82A-460A-95CD-2A1F5D89BCE8}"/>
              </a:ext>
            </a:extLst>
          </p:cNvPr>
          <p:cNvSpPr>
            <a:spLocks xmlns:a="http://schemas.openxmlformats.org/drawingml/2006/main" noGrp="1"/>
          </p:cNvSpPr>
          <p:nvPr/>
        </p:nvSpPr>
        <p:spPr>
          <a:xfrm xmlns:a="http://schemas.openxmlformats.org/drawingml/2006/main">
            <a:off x="6172200" y="2114550"/>
            <a:ext cx="2705100" cy="1257300"/>
          </a:xfrm>
          <a:prstGeom xmlns:a="http://schemas.openxmlformats.org/drawingml/2006/main" prst="roundRect">
            <a:avLst>
              <a:gd name="adj" fmla="val 9091"/>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2B803B8-BE47-44B6-830F-627A6DDFF5EC}"/>
              </a:ext>
            </a:extLst>
          </p:cNvPr>
          <p:cNvSpPr>
            <a:spLocks xmlns:a="http://schemas.openxmlformats.org/drawingml/2006/main" noGrp="1"/>
          </p:cNvSpPr>
          <p:nvPr/>
        </p:nvSpPr>
        <p:spPr>
          <a:xfrm xmlns:a="http://schemas.openxmlformats.org/drawingml/2006/main">
            <a:off x="6324600" y="2228850"/>
            <a:ext cx="2400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75BC5"/>
                </a:solidFill>
                <a:latin typeface="DejaVu Sans"/>
                <a:ea typeface="DejaVu Sans"/>
                <a:cs typeface="DejaVu Sans"/>
              </a:defRPr>
            </a:pPr>
            <a:r>
              <a:rPr sz="1350" b="1">
                <a:solidFill>
                  <a:srgbClr val="875BC5"/>
                </a:solidFill>
                <a:latin typeface="DejaVu Sans"/>
                <a:ea typeface="DejaVu Sans"/>
                <a:cs typeface="DejaVu Sans"/>
              </a:rPr>
              <a:t>★  ICC Loyalty</a:t>
            </a:r>
          </a:p>
        </p:txBody>
      </p:sp>
      <p:sp>
        <p:nvSpPr>
          <p:cNvPr id="14" name="">
            <a:extLst xmlns:a="http://schemas.openxmlformats.org/drawingml/2006/main">
              <a:ext uri="{FF2B5EF4-FFF2-40B4-BE49-F238E27FC236}">
                <a16:creationId xmlns:a16="http://schemas.microsoft.com/office/drawing/2014/main" id="{70A44AF5-8960-431B-B7FD-AF62B343CE49}"/>
              </a:ext>
            </a:extLst>
          </p:cNvPr>
          <p:cNvSpPr>
            <a:spLocks xmlns:a="http://schemas.openxmlformats.org/drawingml/2006/main" noGrp="1"/>
          </p:cNvSpPr>
          <p:nvPr/>
        </p:nvSpPr>
        <p:spPr>
          <a:xfrm xmlns:a="http://schemas.openxmlformats.org/drawingml/2006/main">
            <a:off x="6324600" y="2724150"/>
            <a:ext cx="2400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Ebrahim</a:t>
            </a:r>
          </a:p>
        </p:txBody>
      </p:sp>
      <p:sp>
        <p:nvSpPr>
          <p:cNvPr id="15" name="">
            <a:extLst xmlns:a="http://schemas.openxmlformats.org/drawingml/2006/main">
              <a:ext uri="{FF2B5EF4-FFF2-40B4-BE49-F238E27FC236}">
                <a16:creationId xmlns:a16="http://schemas.microsoft.com/office/drawing/2014/main" id="{6023D61F-3833-45DC-BC7D-8CEC260615D3}"/>
              </a:ext>
            </a:extLst>
          </p:cNvPr>
          <p:cNvSpPr>
            <a:spLocks xmlns:a="http://schemas.openxmlformats.org/drawingml/2006/main" noGrp="1"/>
          </p:cNvSpPr>
          <p:nvPr/>
        </p:nvSpPr>
        <p:spPr>
          <a:xfrm xmlns:a="http://schemas.openxmlformats.org/drawingml/2006/main">
            <a:off x="9029700" y="2114550"/>
            <a:ext cx="2705100" cy="1257300"/>
          </a:xfrm>
          <a:prstGeom xmlns:a="http://schemas.openxmlformats.org/drawingml/2006/main" prst="roundRect">
            <a:avLst>
              <a:gd name="adj" fmla="val 9091"/>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F22EB979-6903-4BF6-A06D-7070EEEB4D18}"/>
              </a:ext>
            </a:extLst>
          </p:cNvPr>
          <p:cNvSpPr>
            <a:spLocks xmlns:a="http://schemas.openxmlformats.org/drawingml/2006/main" noGrp="1"/>
          </p:cNvSpPr>
          <p:nvPr/>
        </p:nvSpPr>
        <p:spPr>
          <a:xfrm xmlns:a="http://schemas.openxmlformats.org/drawingml/2006/main">
            <a:off x="9182100" y="2228850"/>
            <a:ext cx="2400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CC7D16"/>
                </a:solidFill>
                <a:latin typeface="DejaVu Sans"/>
                <a:ea typeface="DejaVu Sans"/>
                <a:cs typeface="DejaVu Sans"/>
              </a:defRPr>
            </a:pPr>
            <a:r>
              <a:rPr sz="1350" b="1">
                <a:solidFill>
                  <a:srgbClr val="CC7D16"/>
                </a:solidFill>
                <a:latin typeface="DejaVu Sans"/>
                <a:ea typeface="DejaVu Sans"/>
                <a:cs typeface="DejaVu Sans"/>
              </a:rPr>
              <a:t>▦  Direct Equity / Matrix</a:t>
            </a:r>
          </a:p>
        </p:txBody>
      </p:sp>
      <p:sp>
        <p:nvSpPr>
          <p:cNvPr id="17" name="">
            <a:extLst xmlns:a="http://schemas.openxmlformats.org/drawingml/2006/main">
              <a:ext uri="{FF2B5EF4-FFF2-40B4-BE49-F238E27FC236}">
                <a16:creationId xmlns:a16="http://schemas.microsoft.com/office/drawing/2014/main" id="{0E73335B-C04C-4922-AB62-2EAB7DC97946}"/>
              </a:ext>
            </a:extLst>
          </p:cNvPr>
          <p:cNvSpPr>
            <a:spLocks xmlns:a="http://schemas.openxmlformats.org/drawingml/2006/main" noGrp="1"/>
          </p:cNvSpPr>
          <p:nvPr/>
        </p:nvSpPr>
        <p:spPr>
          <a:xfrm xmlns:a="http://schemas.openxmlformats.org/drawingml/2006/main">
            <a:off x="9182100" y="2724150"/>
            <a:ext cx="2400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Ramzi Rizvan</a:t>
            </a:r>
          </a:p>
        </p:txBody>
      </p:sp>
      <p:sp>
        <p:nvSpPr>
          <p:cNvPr id="18" name="">
            <a:extLst xmlns:a="http://schemas.openxmlformats.org/drawingml/2006/main">
              <a:ext uri="{FF2B5EF4-FFF2-40B4-BE49-F238E27FC236}">
                <a16:creationId xmlns:a16="http://schemas.microsoft.com/office/drawing/2014/main" id="{89A914F7-3AB1-4AD3-B5AC-327F0A9CD928}"/>
              </a:ext>
            </a:extLst>
          </p:cNvPr>
          <p:cNvSpPr>
            <a:spLocks xmlns:a="http://schemas.openxmlformats.org/drawingml/2006/main" noGrp="1"/>
          </p:cNvSpPr>
          <p:nvPr/>
        </p:nvSpPr>
        <p:spPr>
          <a:xfrm xmlns:a="http://schemas.openxmlformats.org/drawingml/2006/main">
            <a:off x="457200" y="3514725"/>
            <a:ext cx="2705100" cy="1257300"/>
          </a:xfrm>
          <a:prstGeom xmlns:a="http://schemas.openxmlformats.org/drawingml/2006/main" prst="roundRect">
            <a:avLst>
              <a:gd name="adj" fmla="val 9091"/>
            </a:avLst>
          </a:prstGeom>
          <a:solidFill xmlns:a="http://schemas.openxmlformats.org/drawingml/2006/main">
            <a:srgbClr val="FCEAF0"/>
          </a:solidFill>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B25FB41-A86F-4C14-BE1E-76CFEABFC877}"/>
              </a:ext>
            </a:extLst>
          </p:cNvPr>
          <p:cNvSpPr>
            <a:spLocks xmlns:a="http://schemas.openxmlformats.org/drawingml/2006/main" noGrp="1"/>
          </p:cNvSpPr>
          <p:nvPr/>
        </p:nvSpPr>
        <p:spPr>
          <a:xfrm xmlns:a="http://schemas.openxmlformats.org/drawingml/2006/main">
            <a:off x="609600" y="3629025"/>
            <a:ext cx="2400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D35373"/>
                </a:solidFill>
                <a:latin typeface="DejaVu Sans"/>
                <a:ea typeface="DejaVu Sans"/>
                <a:cs typeface="DejaVu Sans"/>
              </a:defRPr>
            </a:pPr>
            <a:r>
              <a:rPr sz="1350" b="1">
                <a:solidFill>
                  <a:srgbClr val="D35373"/>
                </a:solidFill>
                <a:latin typeface="DejaVu Sans"/>
                <a:ea typeface="DejaVu Sans"/>
                <a:cs typeface="DejaVu Sans"/>
              </a:rPr>
              <a:t>▣  KAL System</a:t>
            </a:r>
          </a:p>
        </p:txBody>
      </p:sp>
      <p:sp>
        <p:nvSpPr>
          <p:cNvPr id="20" name="">
            <a:extLst xmlns:a="http://schemas.openxmlformats.org/drawingml/2006/main">
              <a:ext uri="{FF2B5EF4-FFF2-40B4-BE49-F238E27FC236}">
                <a16:creationId xmlns:a16="http://schemas.microsoft.com/office/drawing/2014/main" id="{B0D7BE70-4276-44DD-A6C3-39AAF2E82D12}"/>
              </a:ext>
            </a:extLst>
          </p:cNvPr>
          <p:cNvSpPr>
            <a:spLocks xmlns:a="http://schemas.openxmlformats.org/drawingml/2006/main" noGrp="1"/>
          </p:cNvSpPr>
          <p:nvPr/>
        </p:nvSpPr>
        <p:spPr>
          <a:xfrm xmlns:a="http://schemas.openxmlformats.org/drawingml/2006/main">
            <a:off x="609600" y="4124325"/>
            <a:ext cx="2400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Ramzi Rizvan</a:t>
            </a:r>
          </a:p>
        </p:txBody>
      </p:sp>
      <p:sp>
        <p:nvSpPr>
          <p:cNvPr id="21" name="">
            <a:extLst xmlns:a="http://schemas.openxmlformats.org/drawingml/2006/main">
              <a:ext uri="{FF2B5EF4-FFF2-40B4-BE49-F238E27FC236}">
                <a16:creationId xmlns:a16="http://schemas.microsoft.com/office/drawing/2014/main" id="{A8C55986-29DD-4F61-875C-AF9D255C3737}"/>
              </a:ext>
            </a:extLst>
          </p:cNvPr>
          <p:cNvSpPr>
            <a:spLocks xmlns:a="http://schemas.openxmlformats.org/drawingml/2006/main" noGrp="1"/>
          </p:cNvSpPr>
          <p:nvPr/>
        </p:nvSpPr>
        <p:spPr>
          <a:xfrm xmlns:a="http://schemas.openxmlformats.org/drawingml/2006/main">
            <a:off x="3314700" y="3514725"/>
            <a:ext cx="2705100" cy="1257300"/>
          </a:xfrm>
          <a:prstGeom xmlns:a="http://schemas.openxmlformats.org/drawingml/2006/main" prst="roundRect">
            <a:avLst>
              <a:gd name="adj" fmla="val 9091"/>
            </a:avLst>
          </a:prstGeom>
          <a:solidFill xmlns:a="http://schemas.openxmlformats.org/drawingml/2006/main">
            <a:srgbClr val="E6F6F0"/>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E8BF55BD-3659-4FA5-9679-44689A92C9E9}"/>
              </a:ext>
            </a:extLst>
          </p:cNvPr>
          <p:cNvSpPr>
            <a:spLocks xmlns:a="http://schemas.openxmlformats.org/drawingml/2006/main" noGrp="1"/>
          </p:cNvSpPr>
          <p:nvPr/>
        </p:nvSpPr>
        <p:spPr>
          <a:xfrm xmlns:a="http://schemas.openxmlformats.org/drawingml/2006/main">
            <a:off x="3467100" y="3629025"/>
            <a:ext cx="2400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087F68"/>
                </a:solidFill>
                <a:latin typeface="DejaVu Sans"/>
                <a:ea typeface="DejaVu Sans"/>
                <a:cs typeface="DejaVu Sans"/>
              </a:defRPr>
            </a:pPr>
            <a:r>
              <a:rPr sz="1350" b="1">
                <a:solidFill>
                  <a:srgbClr val="087F68"/>
                </a:solidFill>
                <a:latin typeface="DejaVu Sans"/>
                <a:ea typeface="DejaVu Sans"/>
                <a:cs typeface="DejaVu Sans"/>
              </a:rPr>
              <a:t>◉  DIB Website</a:t>
            </a:r>
          </a:p>
        </p:txBody>
      </p:sp>
      <p:sp>
        <p:nvSpPr>
          <p:cNvPr id="23" name="">
            <a:extLst xmlns:a="http://schemas.openxmlformats.org/drawingml/2006/main">
              <a:ext uri="{FF2B5EF4-FFF2-40B4-BE49-F238E27FC236}">
                <a16:creationId xmlns:a16="http://schemas.microsoft.com/office/drawing/2014/main" id="{5C03E10E-CC9F-4AF7-A718-01DF322BE0E3}"/>
              </a:ext>
            </a:extLst>
          </p:cNvPr>
          <p:cNvSpPr>
            <a:spLocks xmlns:a="http://schemas.openxmlformats.org/drawingml/2006/main" noGrp="1"/>
          </p:cNvSpPr>
          <p:nvPr/>
        </p:nvSpPr>
        <p:spPr>
          <a:xfrm xmlns:a="http://schemas.openxmlformats.org/drawingml/2006/main">
            <a:off x="3467100" y="4124325"/>
            <a:ext cx="2400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Ramzi Rizvan</a:t>
            </a:r>
          </a:p>
        </p:txBody>
      </p:sp>
      <p:sp>
        <p:nvSpPr>
          <p:cNvPr id="24" name="">
            <a:extLst xmlns:a="http://schemas.openxmlformats.org/drawingml/2006/main">
              <a:ext uri="{FF2B5EF4-FFF2-40B4-BE49-F238E27FC236}">
                <a16:creationId xmlns:a16="http://schemas.microsoft.com/office/drawing/2014/main" id="{3298242E-662F-4A89-AC41-EB64BBC6C829}"/>
              </a:ext>
            </a:extLst>
          </p:cNvPr>
          <p:cNvSpPr>
            <a:spLocks xmlns:a="http://schemas.openxmlformats.org/drawingml/2006/main" noGrp="1"/>
          </p:cNvSpPr>
          <p:nvPr/>
        </p:nvSpPr>
        <p:spPr>
          <a:xfrm xmlns:a="http://schemas.openxmlformats.org/drawingml/2006/main">
            <a:off x="6172200" y="3514725"/>
            <a:ext cx="2705100" cy="1257300"/>
          </a:xfrm>
          <a:prstGeom xmlns:a="http://schemas.openxmlformats.org/drawingml/2006/main" prst="roundRect">
            <a:avLst>
              <a:gd name="adj" fmla="val 9091"/>
            </a:avLst>
          </a:prstGeom>
          <a:solidFill xmlns:a="http://schemas.openxmlformats.org/drawingml/2006/main">
            <a:srgbClr val="E8F3FB"/>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3D96AC9-D641-4120-B998-EC434495EF6D}"/>
              </a:ext>
            </a:extLst>
          </p:cNvPr>
          <p:cNvSpPr>
            <a:spLocks xmlns:a="http://schemas.openxmlformats.org/drawingml/2006/main" noGrp="1"/>
          </p:cNvSpPr>
          <p:nvPr/>
        </p:nvSpPr>
        <p:spPr>
          <a:xfrm xmlns:a="http://schemas.openxmlformats.org/drawingml/2006/main">
            <a:off x="6324600" y="3629025"/>
            <a:ext cx="2400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688C2"/>
                </a:solidFill>
                <a:latin typeface="DejaVu Sans"/>
                <a:ea typeface="DejaVu Sans"/>
                <a:cs typeface="DejaVu Sans"/>
              </a:defRPr>
            </a:pPr>
            <a:r>
              <a:rPr sz="1350" b="1">
                <a:solidFill>
                  <a:srgbClr val="1688C2"/>
                </a:solidFill>
                <a:latin typeface="DejaVu Sans"/>
                <a:ea typeface="DejaVu Sans"/>
                <a:cs typeface="DejaVu Sans"/>
              </a:rPr>
              <a:t>☏  Mobile App / Omni</a:t>
            </a:r>
          </a:p>
        </p:txBody>
      </p:sp>
      <p:sp>
        <p:nvSpPr>
          <p:cNvPr id="26" name="">
            <a:extLst xmlns:a="http://schemas.openxmlformats.org/drawingml/2006/main">
              <a:ext uri="{FF2B5EF4-FFF2-40B4-BE49-F238E27FC236}">
                <a16:creationId xmlns:a16="http://schemas.microsoft.com/office/drawing/2014/main" id="{A77D2672-B8E4-4BE2-959A-879E7FECFCED}"/>
              </a:ext>
            </a:extLst>
          </p:cNvPr>
          <p:cNvSpPr>
            <a:spLocks xmlns:a="http://schemas.openxmlformats.org/drawingml/2006/main" noGrp="1"/>
          </p:cNvSpPr>
          <p:nvPr/>
        </p:nvSpPr>
        <p:spPr>
          <a:xfrm xmlns:a="http://schemas.openxmlformats.org/drawingml/2006/main">
            <a:off x="6324600" y="4124325"/>
            <a:ext cx="2400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Naveed Rashid</a:t>
            </a:r>
          </a:p>
        </p:txBody>
      </p:sp>
      <p:sp>
        <p:nvSpPr>
          <p:cNvPr id="27" name="">
            <a:extLst xmlns:a="http://schemas.openxmlformats.org/drawingml/2006/main">
              <a:ext uri="{FF2B5EF4-FFF2-40B4-BE49-F238E27FC236}">
                <a16:creationId xmlns:a16="http://schemas.microsoft.com/office/drawing/2014/main" id="{504C5BDE-E220-4664-B17F-36E62FCC7B3F}"/>
              </a:ext>
            </a:extLst>
          </p:cNvPr>
          <p:cNvSpPr>
            <a:spLocks xmlns:a="http://schemas.openxmlformats.org/drawingml/2006/main" noGrp="1"/>
          </p:cNvSpPr>
          <p:nvPr/>
        </p:nvSpPr>
        <p:spPr>
          <a:xfrm xmlns:a="http://schemas.openxmlformats.org/drawingml/2006/main">
            <a:off x="9029700" y="3514725"/>
            <a:ext cx="2705100" cy="1257300"/>
          </a:xfrm>
          <a:prstGeom xmlns:a="http://schemas.openxmlformats.org/drawingml/2006/main" prst="roundRect">
            <a:avLst>
              <a:gd name="adj" fmla="val 9091"/>
            </a:avLst>
          </a:prstGeom>
          <a:solidFill xmlns:a="http://schemas.openxmlformats.org/drawingml/2006/main">
            <a:srgbClr val="F0EAF9"/>
          </a:solidFill>
          <a:ln xmlns:a="http://schemas.openxmlformats.org/drawingml/2006/main" w="0">
            <a:noFill/>
          </a:ln>
        </p:spPr>
      </p:sp>
      <p:sp>
        <p:nvSpPr>
          <p:cNvPr id="28" name="">
            <a:extLst xmlns:a="http://schemas.openxmlformats.org/drawingml/2006/main">
              <a:ext uri="{FF2B5EF4-FFF2-40B4-BE49-F238E27FC236}">
                <a16:creationId xmlns:a16="http://schemas.microsoft.com/office/drawing/2014/main" id="{DCB7B4C9-69B2-4213-B224-3B596D0B685B}"/>
              </a:ext>
            </a:extLst>
          </p:cNvPr>
          <p:cNvSpPr>
            <a:spLocks xmlns:a="http://schemas.openxmlformats.org/drawingml/2006/main" noGrp="1"/>
          </p:cNvSpPr>
          <p:nvPr/>
        </p:nvSpPr>
        <p:spPr>
          <a:xfrm xmlns:a="http://schemas.openxmlformats.org/drawingml/2006/main">
            <a:off x="9182100" y="3629025"/>
            <a:ext cx="24003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875BC5"/>
                </a:solidFill>
                <a:latin typeface="DejaVu Sans"/>
                <a:ea typeface="DejaVu Sans"/>
                <a:cs typeface="DejaVu Sans"/>
              </a:defRPr>
            </a:pPr>
            <a:r>
              <a:rPr sz="1350" b="1">
                <a:solidFill>
                  <a:srgbClr val="875BC5"/>
                </a:solidFill>
                <a:latin typeface="DejaVu Sans"/>
                <a:ea typeface="DejaVu Sans"/>
                <a:cs typeface="DejaVu Sans"/>
              </a:rPr>
              <a:t>⌂  Internet Banking</a:t>
            </a:r>
          </a:p>
        </p:txBody>
      </p:sp>
      <p:sp>
        <p:nvSpPr>
          <p:cNvPr id="29" name="">
            <a:extLst xmlns:a="http://schemas.openxmlformats.org/drawingml/2006/main">
              <a:ext uri="{FF2B5EF4-FFF2-40B4-BE49-F238E27FC236}">
                <a16:creationId xmlns:a16="http://schemas.microsoft.com/office/drawing/2014/main" id="{3B3DE378-85E4-4E9A-BF75-A3DE8630B84C}"/>
              </a:ext>
            </a:extLst>
          </p:cNvPr>
          <p:cNvSpPr>
            <a:spLocks xmlns:a="http://schemas.openxmlformats.org/drawingml/2006/main" noGrp="1"/>
          </p:cNvSpPr>
          <p:nvPr/>
        </p:nvSpPr>
        <p:spPr>
          <a:xfrm xmlns:a="http://schemas.openxmlformats.org/drawingml/2006/main">
            <a:off x="9182100" y="4124325"/>
            <a:ext cx="2400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Naveed Rashid</a:t>
            </a:r>
          </a:p>
        </p:txBody>
      </p:sp>
      <p:sp>
        <p:nvSpPr>
          <p:cNvPr id="30" name="">
            <a:extLst xmlns:a="http://schemas.openxmlformats.org/drawingml/2006/main">
              <a:ext uri="{FF2B5EF4-FFF2-40B4-BE49-F238E27FC236}">
                <a16:creationId xmlns:a16="http://schemas.microsoft.com/office/drawing/2014/main" id="{CED68B8B-7CFA-4FA7-8661-14C8889018C2}"/>
              </a:ext>
            </a:extLst>
          </p:cNvPr>
          <p:cNvSpPr>
            <a:spLocks xmlns:a="http://schemas.openxmlformats.org/drawingml/2006/main" noGrp="1"/>
          </p:cNvSpPr>
          <p:nvPr/>
        </p:nvSpPr>
        <p:spPr>
          <a:xfrm xmlns:a="http://schemas.openxmlformats.org/drawingml/2006/main">
            <a:off x="457200" y="5010150"/>
            <a:ext cx="5543550" cy="1162050"/>
          </a:xfrm>
          <a:prstGeom xmlns:a="http://schemas.openxmlformats.org/drawingml/2006/main" prst="roundRect">
            <a:avLst>
              <a:gd name="adj" fmla="val 9836"/>
            </a:avLst>
          </a:prstGeom>
          <a:solidFill xmlns:a="http://schemas.openxmlformats.org/drawingml/2006/main">
            <a:srgbClr val="E8F3FB"/>
          </a:solidFill>
          <a:ln xmlns:a="http://schemas.openxmlformats.org/drawingml/2006/main" w="0">
            <a:noFill/>
          </a:ln>
        </p:spPr>
      </p:sp>
      <p:sp>
        <p:nvSpPr>
          <p:cNvPr id="31" name="">
            <a:extLst xmlns:a="http://schemas.openxmlformats.org/drawingml/2006/main">
              <a:ext uri="{FF2B5EF4-FFF2-40B4-BE49-F238E27FC236}">
                <a16:creationId xmlns:a16="http://schemas.microsoft.com/office/drawing/2014/main" id="{E445D316-308E-47D6-85E3-77825F0B58FF}"/>
              </a:ext>
            </a:extLst>
          </p:cNvPr>
          <p:cNvSpPr>
            <a:spLocks xmlns:a="http://schemas.openxmlformats.org/drawingml/2006/main" noGrp="1"/>
          </p:cNvSpPr>
          <p:nvPr/>
        </p:nvSpPr>
        <p:spPr>
          <a:xfrm xmlns:a="http://schemas.openxmlformats.org/drawingml/2006/main">
            <a:off x="609600" y="51244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  Operating-system modernization</a:t>
            </a:r>
          </a:p>
        </p:txBody>
      </p:sp>
      <p:sp>
        <p:nvSpPr>
          <p:cNvPr id="32" name="">
            <a:extLst xmlns:a="http://schemas.openxmlformats.org/drawingml/2006/main">
              <a:ext uri="{FF2B5EF4-FFF2-40B4-BE49-F238E27FC236}">
                <a16:creationId xmlns:a16="http://schemas.microsoft.com/office/drawing/2014/main" id="{076923AD-42D7-41EF-BDB6-7F481F97849E}"/>
              </a:ext>
            </a:extLst>
          </p:cNvPr>
          <p:cNvSpPr>
            <a:spLocks xmlns:a="http://schemas.openxmlformats.org/drawingml/2006/main" noGrp="1"/>
          </p:cNvSpPr>
          <p:nvPr/>
        </p:nvSpPr>
        <p:spPr>
          <a:xfrm xmlns:a="http://schemas.openxmlformats.org/drawingml/2006/main">
            <a:off x="609600" y="5619750"/>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Windows / SQL upgrades to 2022 across the stated scope</a:t>
            </a:r>
          </a:p>
        </p:txBody>
      </p:sp>
      <p:sp>
        <p:nvSpPr>
          <p:cNvPr id="33" name="">
            <a:extLst xmlns:a="http://schemas.openxmlformats.org/drawingml/2006/main">
              <a:ext uri="{FF2B5EF4-FFF2-40B4-BE49-F238E27FC236}">
                <a16:creationId xmlns:a16="http://schemas.microsoft.com/office/drawing/2014/main" id="{50EEB77D-1883-4D2C-A4BA-3A876840F127}"/>
              </a:ext>
            </a:extLst>
          </p:cNvPr>
          <p:cNvSpPr>
            <a:spLocks xmlns:a="http://schemas.openxmlformats.org/drawingml/2006/main" noGrp="1"/>
          </p:cNvSpPr>
          <p:nvPr/>
        </p:nvSpPr>
        <p:spPr>
          <a:xfrm xmlns:a="http://schemas.openxmlformats.org/drawingml/2006/main">
            <a:off x="6191250" y="5010150"/>
            <a:ext cx="5543550" cy="1162050"/>
          </a:xfrm>
          <a:prstGeom xmlns:a="http://schemas.openxmlformats.org/drawingml/2006/main" prst="roundRect">
            <a:avLst>
              <a:gd name="adj" fmla="val 9836"/>
            </a:avLst>
          </a:prstGeom>
          <a:solidFill xmlns:a="http://schemas.openxmlformats.org/drawingml/2006/main">
            <a:srgbClr val="E6F6F0"/>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145368DF-5316-40AF-9CF6-EAB81989D246}"/>
              </a:ext>
            </a:extLst>
          </p:cNvPr>
          <p:cNvSpPr>
            <a:spLocks xmlns:a="http://schemas.openxmlformats.org/drawingml/2006/main" noGrp="1"/>
          </p:cNvSpPr>
          <p:nvPr/>
        </p:nvSpPr>
        <p:spPr>
          <a:xfrm xmlns:a="http://schemas.openxmlformats.org/drawingml/2006/main">
            <a:off x="6343650" y="51244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  Recovery architecture</a:t>
            </a:r>
          </a:p>
        </p:txBody>
      </p:sp>
      <p:sp>
        <p:nvSpPr>
          <p:cNvPr id="35" name="">
            <a:extLst xmlns:a="http://schemas.openxmlformats.org/drawingml/2006/main">
              <a:ext uri="{FF2B5EF4-FFF2-40B4-BE49-F238E27FC236}">
                <a16:creationId xmlns:a16="http://schemas.microsoft.com/office/drawing/2014/main" id="{995F0F78-392D-48EE-9734-7D912F95DE11}"/>
              </a:ext>
            </a:extLst>
          </p:cNvPr>
          <p:cNvSpPr>
            <a:spLocks xmlns:a="http://schemas.openxmlformats.org/drawingml/2006/main" noGrp="1"/>
          </p:cNvSpPr>
          <p:nvPr/>
        </p:nvSpPr>
        <p:spPr>
          <a:xfrm xmlns:a="http://schemas.openxmlformats.org/drawingml/2006/main">
            <a:off x="6343650" y="5619750"/>
            <a:ext cx="5238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HA / DR and Always On designs differ by platform</a:t>
            </a:r>
          </a:p>
        </p:txBody>
      </p:sp>
    </p:spTree>
    <p:extLst>
      <p:ext uri="{BB962C8B-B14F-4D97-AF65-F5344CB8AC3E}">
        <p14:creationId xmlns:p14="http://schemas.microsoft.com/office/powerpoint/2010/main" val="880536199"/>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70F0F55-783B-4A00-810C-A9824BAFE6AD}"/>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3D68CB4D-B00B-466C-9C08-98C5D7C19CB3}"/>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Resiliency roadmap: four platforms target Q4 2026</a:t>
            </a:r>
          </a:p>
        </p:txBody>
      </p:sp>
      <p:sp>
        <p:nvSpPr>
          <p:cNvPr id="3" name="">
            <a:extLst xmlns:a="http://schemas.openxmlformats.org/drawingml/2006/main">
              <a:ext uri="{FF2B5EF4-FFF2-40B4-BE49-F238E27FC236}">
                <a16:creationId xmlns:a16="http://schemas.microsoft.com/office/drawing/2014/main" id="{165B7EE1-1937-475E-9446-9109A7800D6A}"/>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IB and Omni have a proposed shift from Q1 to Q2 2027 because of team capacity.</a:t>
            </a:r>
          </a:p>
        </p:txBody>
      </p:sp>
      <p:sp>
        <p:nvSpPr>
          <p:cNvPr id="4" name="">
            <a:extLst xmlns:a="http://schemas.openxmlformats.org/drawingml/2006/main">
              <a:ext uri="{FF2B5EF4-FFF2-40B4-BE49-F238E27FC236}">
                <a16:creationId xmlns:a16="http://schemas.microsoft.com/office/drawing/2014/main" id="{3EEDC2FE-99EC-4822-9F2E-87854B337167}"/>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C275BEA1-B10F-424A-8DE6-17A91997FB46}"/>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33</a:t>
            </a:r>
          </a:p>
        </p:txBody>
      </p:sp>
      <p:sp>
        <p:nvSpPr>
          <p:cNvPr id="6" name="">
            <a:extLst xmlns:a="http://schemas.openxmlformats.org/drawingml/2006/main">
              <a:ext uri="{FF2B5EF4-FFF2-40B4-BE49-F238E27FC236}">
                <a16:creationId xmlns:a16="http://schemas.microsoft.com/office/drawing/2014/main" id="{83083F80-1090-4201-A3FE-0BBA88948375}"/>
              </a:ext>
            </a:extLst>
          </p:cNvPr>
          <p:cNvSpPr>
            <a:spLocks xmlns:a="http://schemas.openxmlformats.org/drawingml/2006/main" noGrp="1"/>
          </p:cNvSpPr>
          <p:nvPr/>
        </p:nvSpPr>
        <p:spPr>
          <a:xfrm xmlns:a="http://schemas.openxmlformats.org/drawingml/2006/main">
            <a:off x="457200" y="2190750"/>
            <a:ext cx="3657600" cy="2952750"/>
          </a:xfrm>
          <a:prstGeom xmlns:a="http://schemas.openxmlformats.org/drawingml/2006/main" prst="roundRect">
            <a:avLst>
              <a:gd name="adj" fmla="val 3871"/>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717EF23-E3C5-421E-8FEB-732825BBA036}"/>
              </a:ext>
            </a:extLst>
          </p:cNvPr>
          <p:cNvSpPr>
            <a:spLocks xmlns:a="http://schemas.openxmlformats.org/drawingml/2006/main" noGrp="1"/>
          </p:cNvSpPr>
          <p:nvPr/>
        </p:nvSpPr>
        <p:spPr>
          <a:xfrm xmlns:a="http://schemas.openxmlformats.org/drawingml/2006/main">
            <a:off x="647700" y="2343150"/>
            <a:ext cx="327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087F68"/>
                </a:solidFill>
                <a:latin typeface="DejaVu Sans"/>
                <a:ea typeface="DejaVu Sans"/>
                <a:cs typeface="DejaVu Sans"/>
              </a:defRPr>
            </a:pPr>
            <a:r>
              <a:rPr sz="2625" b="1">
                <a:solidFill>
                  <a:srgbClr val="087F68"/>
                </a:solidFill>
                <a:latin typeface="DejaVu Sans"/>
                <a:ea typeface="DejaVu Sans"/>
                <a:cs typeface="DejaVu Sans"/>
              </a:rPr>
              <a:t>Q4 2026</a:t>
            </a:r>
          </a:p>
        </p:txBody>
      </p:sp>
      <p:sp>
        <p:nvSpPr>
          <p:cNvPr id="8" name="">
            <a:extLst xmlns:a="http://schemas.openxmlformats.org/drawingml/2006/main">
              <a:ext uri="{FF2B5EF4-FFF2-40B4-BE49-F238E27FC236}">
                <a16:creationId xmlns:a16="http://schemas.microsoft.com/office/drawing/2014/main" id="{FB83FEFF-4461-4FE4-8B71-32ED79B93219}"/>
              </a:ext>
            </a:extLst>
          </p:cNvPr>
          <p:cNvSpPr>
            <a:spLocks xmlns:a="http://schemas.openxmlformats.org/drawingml/2006/main" noGrp="1"/>
          </p:cNvSpPr>
          <p:nvPr/>
        </p:nvSpPr>
        <p:spPr>
          <a:xfrm xmlns:a="http://schemas.openxmlformats.org/drawingml/2006/main">
            <a:off x="647700" y="28765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Scope-table targets</a:t>
            </a:r>
          </a:p>
        </p:txBody>
      </p:sp>
      <p:sp>
        <p:nvSpPr>
          <p:cNvPr id="9" name="">
            <a:extLst xmlns:a="http://schemas.openxmlformats.org/drawingml/2006/main">
              <a:ext uri="{FF2B5EF4-FFF2-40B4-BE49-F238E27FC236}">
                <a16:creationId xmlns:a16="http://schemas.microsoft.com/office/drawing/2014/main" id="{478EFAD6-43DB-4CF5-A2B1-EF2570F389FB}"/>
              </a:ext>
            </a:extLst>
          </p:cNvPr>
          <p:cNvSpPr>
            <a:spLocks xmlns:a="http://schemas.openxmlformats.org/drawingml/2006/main" noGrp="1"/>
          </p:cNvSpPr>
          <p:nvPr/>
        </p:nvSpPr>
        <p:spPr>
          <a:xfrm xmlns:a="http://schemas.openxmlformats.org/drawingml/2006/main">
            <a:off x="647700" y="3362325"/>
            <a:ext cx="32766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Ducont SMS</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HFLMS</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ICC Loyalty</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Direct Equity / Matrix</a:t>
            </a:r>
          </a:p>
        </p:txBody>
      </p:sp>
      <p:sp>
        <p:nvSpPr>
          <p:cNvPr id="10" name="">
            <a:extLst xmlns:a="http://schemas.openxmlformats.org/drawingml/2006/main">
              <a:ext uri="{FF2B5EF4-FFF2-40B4-BE49-F238E27FC236}">
                <a16:creationId xmlns:a16="http://schemas.microsoft.com/office/drawing/2014/main" id="{BB93559C-C06D-477C-8A14-7454230D034F}"/>
              </a:ext>
            </a:extLst>
          </p:cNvPr>
          <p:cNvSpPr>
            <a:spLocks xmlns:a="http://schemas.openxmlformats.org/drawingml/2006/main" noGrp="1"/>
          </p:cNvSpPr>
          <p:nvPr/>
        </p:nvSpPr>
        <p:spPr>
          <a:xfrm xmlns:a="http://schemas.openxmlformats.org/drawingml/2006/main">
            <a:off x="4105275" y="3324225"/>
            <a:ext cx="171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647B89"/>
                </a:solidFill>
                <a:latin typeface="DejaVu Sans"/>
                <a:ea typeface="DejaVu Sans"/>
                <a:cs typeface="DejaVu Sans"/>
              </a:defRPr>
            </a:pPr>
            <a:r>
              <a:rPr sz="2400" b="1">
                <a:solidFill>
                  <a:srgbClr val="647B89"/>
                </a:solidFill>
                <a:latin typeface="DejaVu Sans"/>
                <a:ea typeface="DejaVu Sans"/>
                <a:cs typeface="DejaVu Sans"/>
              </a:rPr>
              <a:t>›</a:t>
            </a:r>
          </a:p>
        </p:txBody>
      </p:sp>
      <p:sp>
        <p:nvSpPr>
          <p:cNvPr id="11" name="">
            <a:extLst xmlns:a="http://schemas.openxmlformats.org/drawingml/2006/main">
              <a:ext uri="{FF2B5EF4-FFF2-40B4-BE49-F238E27FC236}">
                <a16:creationId xmlns:a16="http://schemas.microsoft.com/office/drawing/2014/main" id="{C12824B4-D3BC-4871-85FD-82B47763A937}"/>
              </a:ext>
            </a:extLst>
          </p:cNvPr>
          <p:cNvSpPr>
            <a:spLocks xmlns:a="http://schemas.openxmlformats.org/drawingml/2006/main" noGrp="1"/>
          </p:cNvSpPr>
          <p:nvPr/>
        </p:nvSpPr>
        <p:spPr>
          <a:xfrm xmlns:a="http://schemas.openxmlformats.org/drawingml/2006/main">
            <a:off x="4267200" y="2190750"/>
            <a:ext cx="3657600" cy="2952750"/>
          </a:xfrm>
          <a:prstGeom xmlns:a="http://schemas.openxmlformats.org/drawingml/2006/main" prst="roundRect">
            <a:avLst>
              <a:gd name="adj" fmla="val 3871"/>
            </a:avLst>
          </a:prstGeom>
          <a:solidFill xmlns:a="http://schemas.openxmlformats.org/drawingml/2006/main">
            <a:srgbClr val="E8F3FB"/>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826F4A04-4F91-4466-91F4-2B24DD15C425}"/>
              </a:ext>
            </a:extLst>
          </p:cNvPr>
          <p:cNvSpPr>
            <a:spLocks xmlns:a="http://schemas.openxmlformats.org/drawingml/2006/main" noGrp="1"/>
          </p:cNvSpPr>
          <p:nvPr/>
        </p:nvSpPr>
        <p:spPr>
          <a:xfrm xmlns:a="http://schemas.openxmlformats.org/drawingml/2006/main">
            <a:off x="4457700" y="2343150"/>
            <a:ext cx="327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1688C2"/>
                </a:solidFill>
                <a:latin typeface="DejaVu Sans"/>
                <a:ea typeface="DejaVu Sans"/>
                <a:cs typeface="DejaVu Sans"/>
              </a:defRPr>
            </a:pPr>
            <a:r>
              <a:rPr sz="2625" b="1">
                <a:solidFill>
                  <a:srgbClr val="1688C2"/>
                </a:solidFill>
                <a:latin typeface="DejaVu Sans"/>
                <a:ea typeface="DejaVu Sans"/>
                <a:cs typeface="DejaVu Sans"/>
              </a:rPr>
              <a:t>Q1 2027</a:t>
            </a:r>
          </a:p>
        </p:txBody>
      </p:sp>
      <p:sp>
        <p:nvSpPr>
          <p:cNvPr id="13" name="">
            <a:extLst xmlns:a="http://schemas.openxmlformats.org/drawingml/2006/main">
              <a:ext uri="{FF2B5EF4-FFF2-40B4-BE49-F238E27FC236}">
                <a16:creationId xmlns:a16="http://schemas.microsoft.com/office/drawing/2014/main" id="{A7C4D479-DF2C-4232-8815-0FA7F5A14A3E}"/>
              </a:ext>
            </a:extLst>
          </p:cNvPr>
          <p:cNvSpPr>
            <a:spLocks xmlns:a="http://schemas.openxmlformats.org/drawingml/2006/main" noGrp="1"/>
          </p:cNvSpPr>
          <p:nvPr/>
        </p:nvSpPr>
        <p:spPr>
          <a:xfrm xmlns:a="http://schemas.openxmlformats.org/drawingml/2006/main">
            <a:off x="4457700" y="28765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Scope-table targets</a:t>
            </a:r>
          </a:p>
        </p:txBody>
      </p:sp>
      <p:sp>
        <p:nvSpPr>
          <p:cNvPr id="14" name="">
            <a:extLst xmlns:a="http://schemas.openxmlformats.org/drawingml/2006/main">
              <a:ext uri="{FF2B5EF4-FFF2-40B4-BE49-F238E27FC236}">
                <a16:creationId xmlns:a16="http://schemas.microsoft.com/office/drawing/2014/main" id="{D4741F2C-3B97-4F0B-B815-4476BFBF6198}"/>
              </a:ext>
            </a:extLst>
          </p:cNvPr>
          <p:cNvSpPr>
            <a:spLocks xmlns:a="http://schemas.openxmlformats.org/drawingml/2006/main" noGrp="1"/>
          </p:cNvSpPr>
          <p:nvPr/>
        </p:nvSpPr>
        <p:spPr>
          <a:xfrm xmlns:a="http://schemas.openxmlformats.org/drawingml/2006/main">
            <a:off x="4457700" y="3362325"/>
            <a:ext cx="32766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KAL System</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DIB Website</a:t>
            </a:r>
          </a:p>
          <a:p xmlns:a="http://schemas.openxmlformats.org/drawingml/2006/main">
            <a:r>
              <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Milestones require a confirmed delivery baseline</a:t>
            </a:r>
          </a:p>
        </p:txBody>
      </p:sp>
      <p:sp>
        <p:nvSpPr>
          <p:cNvPr id="15" name="">
            <a:extLst xmlns:a="http://schemas.openxmlformats.org/drawingml/2006/main">
              <a:ext uri="{FF2B5EF4-FFF2-40B4-BE49-F238E27FC236}">
                <a16:creationId xmlns:a16="http://schemas.microsoft.com/office/drawing/2014/main" id="{8F12C462-0456-4386-8191-F161CD7C8575}"/>
              </a:ext>
            </a:extLst>
          </p:cNvPr>
          <p:cNvSpPr>
            <a:spLocks xmlns:a="http://schemas.openxmlformats.org/drawingml/2006/main" noGrp="1"/>
          </p:cNvSpPr>
          <p:nvPr/>
        </p:nvSpPr>
        <p:spPr>
          <a:xfrm xmlns:a="http://schemas.openxmlformats.org/drawingml/2006/main">
            <a:off x="7915275" y="3324225"/>
            <a:ext cx="1714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647B89"/>
                </a:solidFill>
                <a:latin typeface="DejaVu Sans"/>
                <a:ea typeface="DejaVu Sans"/>
                <a:cs typeface="DejaVu Sans"/>
              </a:defRPr>
            </a:pPr>
            <a:r>
              <a:rPr sz="2400" b="1">
                <a:solidFill>
                  <a:srgbClr val="647B89"/>
                </a:solidFill>
                <a:latin typeface="DejaVu Sans"/>
                <a:ea typeface="DejaVu Sans"/>
                <a:cs typeface="DejaVu Sans"/>
              </a:rPr>
              <a:t>›</a:t>
            </a:r>
          </a:p>
        </p:txBody>
      </p:sp>
      <p:sp>
        <p:nvSpPr>
          <p:cNvPr id="16" name="">
            <a:extLst xmlns:a="http://schemas.openxmlformats.org/drawingml/2006/main">
              <a:ext uri="{FF2B5EF4-FFF2-40B4-BE49-F238E27FC236}">
                <a16:creationId xmlns:a16="http://schemas.microsoft.com/office/drawing/2014/main" id="{9A2E5D5D-E4E1-45FF-B8FE-0ACBB9BCEA6D}"/>
              </a:ext>
            </a:extLst>
          </p:cNvPr>
          <p:cNvSpPr>
            <a:spLocks xmlns:a="http://schemas.openxmlformats.org/drawingml/2006/main" noGrp="1"/>
          </p:cNvSpPr>
          <p:nvPr/>
        </p:nvSpPr>
        <p:spPr>
          <a:xfrm xmlns:a="http://schemas.openxmlformats.org/drawingml/2006/main">
            <a:off x="8077200" y="2190750"/>
            <a:ext cx="3657600" cy="2952750"/>
          </a:xfrm>
          <a:prstGeom xmlns:a="http://schemas.openxmlformats.org/drawingml/2006/main" prst="roundRect">
            <a:avLst>
              <a:gd name="adj" fmla="val 3871"/>
            </a:avLst>
          </a:prstGeom>
          <a:solidFill xmlns:a="http://schemas.openxmlformats.org/drawingml/2006/main">
            <a:srgbClr val="FFF4DE"/>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15792BD3-47A1-4A67-9AAA-6543FE4A0A7D}"/>
              </a:ext>
            </a:extLst>
          </p:cNvPr>
          <p:cNvSpPr>
            <a:spLocks xmlns:a="http://schemas.openxmlformats.org/drawingml/2006/main" noGrp="1"/>
          </p:cNvSpPr>
          <p:nvPr/>
        </p:nvSpPr>
        <p:spPr>
          <a:xfrm xmlns:a="http://schemas.openxmlformats.org/drawingml/2006/main">
            <a:off x="8267700" y="2343150"/>
            <a:ext cx="3276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CC7D16"/>
                </a:solidFill>
                <a:latin typeface="DejaVu Sans"/>
                <a:ea typeface="DejaVu Sans"/>
                <a:cs typeface="DejaVu Sans"/>
              </a:defRPr>
            </a:pPr>
            <a:r>
              <a:rPr sz="2625" b="1">
                <a:solidFill>
                  <a:srgbClr val="CC7D16"/>
                </a:solidFill>
                <a:latin typeface="DejaVu Sans"/>
                <a:ea typeface="DejaVu Sans"/>
                <a:cs typeface="DejaVu Sans"/>
              </a:rPr>
              <a:t>Q2 2027</a:t>
            </a:r>
          </a:p>
        </p:txBody>
      </p:sp>
      <p:sp>
        <p:nvSpPr>
          <p:cNvPr id="18" name="">
            <a:extLst xmlns:a="http://schemas.openxmlformats.org/drawingml/2006/main">
              <a:ext uri="{FF2B5EF4-FFF2-40B4-BE49-F238E27FC236}">
                <a16:creationId xmlns:a16="http://schemas.microsoft.com/office/drawing/2014/main" id="{7AC59E0C-F34E-4F9B-AE90-2EE979E6AF86}"/>
              </a:ext>
            </a:extLst>
          </p:cNvPr>
          <p:cNvSpPr>
            <a:spLocks xmlns:a="http://schemas.openxmlformats.org/drawingml/2006/main" noGrp="1"/>
          </p:cNvSpPr>
          <p:nvPr/>
        </p:nvSpPr>
        <p:spPr>
          <a:xfrm xmlns:a="http://schemas.openxmlformats.org/drawingml/2006/main">
            <a:off x="8267700" y="2876550"/>
            <a:ext cx="327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Proposed timing</a:t>
            </a:r>
          </a:p>
        </p:txBody>
      </p:sp>
      <p:sp>
        <p:nvSpPr>
          <p:cNvPr id="19" name="">
            <a:extLst xmlns:a="http://schemas.openxmlformats.org/drawingml/2006/main">
              <a:ext uri="{FF2B5EF4-FFF2-40B4-BE49-F238E27FC236}">
                <a16:creationId xmlns:a16="http://schemas.microsoft.com/office/drawing/2014/main" id="{0D45464C-7AFC-4FBC-939C-9D55F95BD438}"/>
              </a:ext>
            </a:extLst>
          </p:cNvPr>
          <p:cNvSpPr>
            <a:spLocks xmlns:a="http://schemas.openxmlformats.org/drawingml/2006/main" noGrp="1"/>
          </p:cNvSpPr>
          <p:nvPr/>
        </p:nvSpPr>
        <p:spPr>
          <a:xfrm xmlns:a="http://schemas.openxmlformats.org/drawingml/2006/main">
            <a:off x="8267700" y="3362325"/>
            <a:ext cx="3276600"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Mobile App / Omni</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Internet Banking</a:t>
            </a:r>
          </a:p>
          <a:p xmlns:a="http://schemas.openxmlformats.org/drawingml/2006/main">
            <a:r>
              <a:t/>
            </a:r>
          </a:p>
          <a:p xmlns:a="http://schemas.openxmlformats.org/drawingml/2006/main">
            <a:pPr>
              <a:defRPr sz="1650" b="0">
                <a:solidFill>
                  <a:srgbClr val="173A4B"/>
                </a:solidFill>
                <a:latin typeface="DejaVu Sans"/>
                <a:ea typeface="DejaVu Sans"/>
                <a:cs typeface="DejaVu Sans"/>
              </a:defRPr>
            </a:pPr>
            <a:r>
              <a:rPr sz="1650" b="0">
                <a:solidFill>
                  <a:srgbClr val="173A4B"/>
                </a:solidFill>
                <a:latin typeface="DejaVu Sans"/>
                <a:ea typeface="DejaVu Sans"/>
                <a:cs typeface="DejaVu Sans"/>
              </a:rPr>
              <a:t>Original scope table: Q1 2027</a:t>
            </a:r>
          </a:p>
        </p:txBody>
      </p:sp>
      <p:sp>
        <p:nvSpPr>
          <p:cNvPr id="20" name="">
            <a:extLst xmlns:a="http://schemas.openxmlformats.org/drawingml/2006/main">
              <a:ext uri="{FF2B5EF4-FFF2-40B4-BE49-F238E27FC236}">
                <a16:creationId xmlns:a16="http://schemas.microsoft.com/office/drawing/2014/main" id="{C58F98BD-D7B9-4B3A-B64C-D00F43265D27}"/>
              </a:ext>
            </a:extLst>
          </p:cNvPr>
          <p:cNvSpPr>
            <a:spLocks xmlns:a="http://schemas.openxmlformats.org/drawingml/2006/main" noGrp="1"/>
          </p:cNvSpPr>
          <p:nvPr/>
        </p:nvSpPr>
        <p:spPr>
          <a:xfrm xmlns:a="http://schemas.openxmlformats.org/drawingml/2006/main">
            <a:off x="457200" y="5353050"/>
            <a:ext cx="11277600" cy="809625"/>
          </a:xfrm>
          <a:prstGeom xmlns:a="http://schemas.openxmlformats.org/drawingml/2006/main" prst="roundRect">
            <a:avLst>
              <a:gd name="adj" fmla="val 14118"/>
            </a:avLst>
          </a:prstGeom>
          <a:solidFill xmlns:a="http://schemas.openxmlformats.org/drawingml/2006/main">
            <a:srgbClr val="FFF4DE"/>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EE63DB39-7CFC-46D9-922F-34DB3F46EF63}"/>
              </a:ext>
            </a:extLst>
          </p:cNvPr>
          <p:cNvSpPr>
            <a:spLocks xmlns:a="http://schemas.openxmlformats.org/drawingml/2006/main" noGrp="1"/>
          </p:cNvSpPr>
          <p:nvPr/>
        </p:nvSpPr>
        <p:spPr>
          <a:xfrm xmlns:a="http://schemas.openxmlformats.org/drawingml/2006/main">
            <a:off x="609600" y="5467350"/>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  Capacity dependency</a:t>
            </a:r>
          </a:p>
        </p:txBody>
      </p:sp>
      <p:sp>
        <p:nvSpPr>
          <p:cNvPr id="22" name="">
            <a:extLst xmlns:a="http://schemas.openxmlformats.org/drawingml/2006/main">
              <a:ext uri="{FF2B5EF4-FFF2-40B4-BE49-F238E27FC236}">
                <a16:creationId xmlns:a16="http://schemas.microsoft.com/office/drawing/2014/main" id="{6E13DBAD-58F3-4D0F-ACEF-F92B4E93496D}"/>
              </a:ext>
            </a:extLst>
          </p:cNvPr>
          <p:cNvSpPr>
            <a:spLocks xmlns:a="http://schemas.openxmlformats.org/drawingml/2006/main" noGrp="1"/>
          </p:cNvSpPr>
          <p:nvPr/>
        </p:nvSpPr>
        <p:spPr>
          <a:xfrm xmlns:a="http://schemas.openxmlformats.org/drawingml/2006/main">
            <a:off x="609600" y="5962650"/>
            <a:ext cx="10972800" cy="114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Critical Q1 commitments include CBUAE notice 3057. Revised IB / Omni dates remain proposed.</a:t>
            </a:r>
          </a:p>
        </p:txBody>
      </p:sp>
    </p:spTree>
    <p:extLst>
      <p:ext uri="{BB962C8B-B14F-4D97-AF65-F5344CB8AC3E}">
        <p14:creationId xmlns:p14="http://schemas.microsoft.com/office/powerpoint/2010/main" val="731970993"/>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7279AB9E-5C6A-417C-80E8-AAC654607FF8}"/>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F893846C-713E-4088-8F9E-334E5335E8B6}"/>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Recovery designs differ across the eight platforms</a:t>
            </a:r>
          </a:p>
        </p:txBody>
      </p:sp>
      <p:sp>
        <p:nvSpPr>
          <p:cNvPr id="3" name="">
            <a:extLst xmlns:a="http://schemas.openxmlformats.org/drawingml/2006/main">
              <a:ext uri="{FF2B5EF4-FFF2-40B4-BE49-F238E27FC236}">
                <a16:creationId xmlns:a16="http://schemas.microsoft.com/office/drawing/2014/main" id="{6926E62A-7B34-4A16-9E86-93542164EBCA}"/>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The scope defines architecture changes, rather than achieved recovery capability.</a:t>
            </a:r>
          </a:p>
        </p:txBody>
      </p:sp>
      <p:sp>
        <p:nvSpPr>
          <p:cNvPr id="4" name="">
            <a:extLst xmlns:a="http://schemas.openxmlformats.org/drawingml/2006/main">
              <a:ext uri="{FF2B5EF4-FFF2-40B4-BE49-F238E27FC236}">
                <a16:creationId xmlns:a16="http://schemas.microsoft.com/office/drawing/2014/main" id="{CD1FD468-7150-4D87-AE19-9D8B03E3A833}"/>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C40098FF-4AEC-4C56-B7E6-29F9EF03C050}"/>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34</a:t>
            </a:r>
          </a:p>
        </p:txBody>
      </p:sp>
      <p:sp>
        <p:nvSpPr>
          <p:cNvPr id="6" name="">
            <a:extLst xmlns:a="http://schemas.openxmlformats.org/drawingml/2006/main">
              <a:ext uri="{FF2B5EF4-FFF2-40B4-BE49-F238E27FC236}">
                <a16:creationId xmlns:a16="http://schemas.microsoft.com/office/drawing/2014/main" id="{A82E6CE8-E89C-495E-AC2A-45D59EB52CC4}"/>
              </a:ext>
            </a:extLst>
          </p:cNvPr>
          <p:cNvSpPr>
            <a:spLocks xmlns:a="http://schemas.openxmlformats.org/drawingml/2006/main" noGrp="1"/>
          </p:cNvSpPr>
          <p:nvPr/>
        </p:nvSpPr>
        <p:spPr>
          <a:xfrm xmlns:a="http://schemas.openxmlformats.org/drawingml/2006/main">
            <a:off x="457200" y="2143125"/>
            <a:ext cx="3657600" cy="3962400"/>
          </a:xfrm>
          <a:prstGeom xmlns:a="http://schemas.openxmlformats.org/drawingml/2006/main" prst="roundRect">
            <a:avLst>
              <a:gd name="adj" fmla="val 3125"/>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F49B9EF-7C21-42D6-867C-0C2D12887D71}"/>
              </a:ext>
            </a:extLst>
          </p:cNvPr>
          <p:cNvSpPr>
            <a:spLocks xmlns:a="http://schemas.openxmlformats.org/drawingml/2006/main" noGrp="1"/>
          </p:cNvSpPr>
          <p:nvPr/>
        </p:nvSpPr>
        <p:spPr>
          <a:xfrm xmlns:a="http://schemas.openxmlformats.org/drawingml/2006/main">
            <a:off x="609600" y="2257425"/>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087F68"/>
                </a:solidFill>
                <a:latin typeface="DejaVu Sans"/>
                <a:ea typeface="DejaVu Sans"/>
                <a:cs typeface="DejaVu Sans"/>
              </a:defRPr>
            </a:pPr>
            <a:r>
              <a:rPr sz="1500" b="1">
                <a:solidFill>
                  <a:srgbClr val="087F68"/>
                </a:solidFill>
                <a:latin typeface="DejaVu Sans"/>
                <a:ea typeface="DejaVu Sans"/>
                <a:cs typeface="DejaVu Sans"/>
              </a:rPr>
              <a:t>◆  Active-active HA / DR</a:t>
            </a:r>
          </a:p>
        </p:txBody>
      </p:sp>
      <p:sp>
        <p:nvSpPr>
          <p:cNvPr id="8" name="">
            <a:extLst xmlns:a="http://schemas.openxmlformats.org/drawingml/2006/main">
              <a:ext uri="{FF2B5EF4-FFF2-40B4-BE49-F238E27FC236}">
                <a16:creationId xmlns:a16="http://schemas.microsoft.com/office/drawing/2014/main" id="{B235318B-AFB7-4EA4-8266-F40289A412B1}"/>
              </a:ext>
            </a:extLst>
          </p:cNvPr>
          <p:cNvSpPr>
            <a:spLocks xmlns:a="http://schemas.openxmlformats.org/drawingml/2006/main" noGrp="1"/>
          </p:cNvSpPr>
          <p:nvPr/>
        </p:nvSpPr>
        <p:spPr>
          <a:xfrm xmlns:a="http://schemas.openxmlformats.org/drawingml/2006/main">
            <a:off x="609600" y="2752725"/>
            <a:ext cx="3352800" cy="3267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Ducont SMS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SMS / CCM database segregation</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Windows and SQL 2022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Database Always On (3+2)</a:t>
            </a:r>
          </a:p>
          <a:p xmlns:a="http://schemas.openxmlformats.org/drawingml/2006/main">
            <a:r>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DIB Website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Active-active architecture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Windows and SQL 2022</a:t>
            </a:r>
          </a:p>
          <a:p xmlns:a="http://schemas.openxmlformats.org/drawingml/2006/main">
            <a:r>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Mobile App / Omni</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OS 2012 to 2022</a:t>
            </a:r>
          </a:p>
        </p:txBody>
      </p:sp>
      <p:sp>
        <p:nvSpPr>
          <p:cNvPr id="9" name="">
            <a:extLst xmlns:a="http://schemas.openxmlformats.org/drawingml/2006/main">
              <a:ext uri="{FF2B5EF4-FFF2-40B4-BE49-F238E27FC236}">
                <a16:creationId xmlns:a16="http://schemas.microsoft.com/office/drawing/2014/main" id="{6EEE45BE-F3B3-4102-86D1-FEFD738044D2}"/>
              </a:ext>
            </a:extLst>
          </p:cNvPr>
          <p:cNvSpPr>
            <a:spLocks xmlns:a="http://schemas.openxmlformats.org/drawingml/2006/main" noGrp="1"/>
          </p:cNvSpPr>
          <p:nvPr/>
        </p:nvSpPr>
        <p:spPr>
          <a:xfrm xmlns:a="http://schemas.openxmlformats.org/drawingml/2006/main">
            <a:off x="4267200" y="2143125"/>
            <a:ext cx="3657600" cy="3962400"/>
          </a:xfrm>
          <a:prstGeom xmlns:a="http://schemas.openxmlformats.org/drawingml/2006/main" prst="roundRect">
            <a:avLst>
              <a:gd name="adj" fmla="val 3125"/>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953490D8-1361-4B06-9773-98699DEDA26F}"/>
              </a:ext>
            </a:extLst>
          </p:cNvPr>
          <p:cNvSpPr>
            <a:spLocks xmlns:a="http://schemas.openxmlformats.org/drawingml/2006/main" noGrp="1"/>
          </p:cNvSpPr>
          <p:nvPr/>
        </p:nvSpPr>
        <p:spPr>
          <a:xfrm xmlns:a="http://schemas.openxmlformats.org/drawingml/2006/main">
            <a:off x="4419600" y="2257425"/>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688C2"/>
                </a:solidFill>
                <a:latin typeface="DejaVu Sans"/>
                <a:ea typeface="DejaVu Sans"/>
                <a:cs typeface="DejaVu Sans"/>
              </a:defRPr>
            </a:pPr>
            <a:r>
              <a:rPr sz="1500" b="1">
                <a:solidFill>
                  <a:srgbClr val="1688C2"/>
                </a:solidFill>
                <a:latin typeface="DejaVu Sans"/>
                <a:ea typeface="DejaVu Sans"/>
                <a:cs typeface="DejaVu Sans"/>
              </a:rPr>
              <a:t>▦  Database and passive DR</a:t>
            </a:r>
          </a:p>
        </p:txBody>
      </p:sp>
      <p:sp>
        <p:nvSpPr>
          <p:cNvPr id="11" name="">
            <a:extLst xmlns:a="http://schemas.openxmlformats.org/drawingml/2006/main">
              <a:ext uri="{FF2B5EF4-FFF2-40B4-BE49-F238E27FC236}">
                <a16:creationId xmlns:a16="http://schemas.microsoft.com/office/drawing/2014/main" id="{13B6718D-7FCB-4131-9D7F-6FBCF5940C95}"/>
              </a:ext>
            </a:extLst>
          </p:cNvPr>
          <p:cNvSpPr>
            <a:spLocks xmlns:a="http://schemas.openxmlformats.org/drawingml/2006/main" noGrp="1"/>
          </p:cNvSpPr>
          <p:nvPr/>
        </p:nvSpPr>
        <p:spPr>
          <a:xfrm xmlns:a="http://schemas.openxmlformats.org/drawingml/2006/main">
            <a:off x="4419600" y="2752725"/>
            <a:ext cx="3352800" cy="3267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HFLMS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OS 2012 to 2022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Passive DR setup</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Database Always On (2+1)</a:t>
            </a:r>
          </a:p>
          <a:p xmlns:a="http://schemas.openxmlformats.org/drawingml/2006/main">
            <a:r>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KAL System</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Web / application OS 2022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SQL / OS 2022, Always On (3+2)</a:t>
            </a:r>
          </a:p>
          <a:p xmlns:a="http://schemas.openxmlformats.org/drawingml/2006/main">
            <a:r>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Internet Banking</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Web / application OS 2022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SQL 2022, Always On (3+2)</a:t>
            </a:r>
          </a:p>
        </p:txBody>
      </p:sp>
      <p:sp>
        <p:nvSpPr>
          <p:cNvPr id="12" name="">
            <a:extLst xmlns:a="http://schemas.openxmlformats.org/drawingml/2006/main">
              <a:ext uri="{FF2B5EF4-FFF2-40B4-BE49-F238E27FC236}">
                <a16:creationId xmlns:a16="http://schemas.microsoft.com/office/drawing/2014/main" id="{01EBF3AE-D453-4A0D-9FE8-01A0760C8D63}"/>
              </a:ext>
            </a:extLst>
          </p:cNvPr>
          <p:cNvSpPr>
            <a:spLocks xmlns:a="http://schemas.openxmlformats.org/drawingml/2006/main" noGrp="1"/>
          </p:cNvSpPr>
          <p:nvPr/>
        </p:nvSpPr>
        <p:spPr>
          <a:xfrm xmlns:a="http://schemas.openxmlformats.org/drawingml/2006/main">
            <a:off x="8077200" y="2143125"/>
            <a:ext cx="3657600" cy="3962400"/>
          </a:xfrm>
          <a:prstGeom xmlns:a="http://schemas.openxmlformats.org/drawingml/2006/main" prst="roundRect">
            <a:avLst>
              <a:gd name="adj" fmla="val 3125"/>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C1EE7EC-A19D-41AB-9072-273EC774AA35}"/>
              </a:ext>
            </a:extLst>
          </p:cNvPr>
          <p:cNvSpPr>
            <a:spLocks xmlns:a="http://schemas.openxmlformats.org/drawingml/2006/main" noGrp="1"/>
          </p:cNvSpPr>
          <p:nvPr/>
        </p:nvSpPr>
        <p:spPr>
          <a:xfrm xmlns:a="http://schemas.openxmlformats.org/drawingml/2006/main">
            <a:off x="8229600" y="2257425"/>
            <a:ext cx="335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875BC5"/>
                </a:solidFill>
                <a:latin typeface="DejaVu Sans"/>
                <a:ea typeface="DejaVu Sans"/>
                <a:cs typeface="DejaVu Sans"/>
              </a:defRPr>
            </a:pPr>
            <a:r>
              <a:rPr sz="1500" b="1">
                <a:solidFill>
                  <a:srgbClr val="875BC5"/>
                </a:solidFill>
                <a:latin typeface="DejaVu Sans"/>
                <a:ea typeface="DejaVu Sans"/>
                <a:cs typeface="DejaVu Sans"/>
              </a:rPr>
              <a:t>⚙  Legacy stack upgrades</a:t>
            </a:r>
          </a:p>
        </p:txBody>
      </p:sp>
      <p:sp>
        <p:nvSpPr>
          <p:cNvPr id="14" name="">
            <a:extLst xmlns:a="http://schemas.openxmlformats.org/drawingml/2006/main">
              <a:ext uri="{FF2B5EF4-FFF2-40B4-BE49-F238E27FC236}">
                <a16:creationId xmlns:a16="http://schemas.microsoft.com/office/drawing/2014/main" id="{FE84E7D9-3977-4AA0-8810-85CBB446B3B7}"/>
              </a:ext>
            </a:extLst>
          </p:cNvPr>
          <p:cNvSpPr>
            <a:spLocks xmlns:a="http://schemas.openxmlformats.org/drawingml/2006/main" noGrp="1"/>
          </p:cNvSpPr>
          <p:nvPr/>
        </p:nvSpPr>
        <p:spPr>
          <a:xfrm xmlns:a="http://schemas.openxmlformats.org/drawingml/2006/main">
            <a:off x="8229600" y="2752725"/>
            <a:ext cx="3352800" cy="3267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ICC Loyalty</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Windows 2012 to 2022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SQL 2014 to 2022</a:t>
            </a:r>
          </a:p>
          <a:p xmlns:a="http://schemas.openxmlformats.org/drawingml/2006/main">
            <a:r>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Direct Equity / Matrix</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OS 2012 to 2022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SQL / OS 2016 to 2022</a:t>
            </a:r>
          </a:p>
          <a:p xmlns:a="http://schemas.openxmlformats.org/drawingml/2006/main">
            <a:r>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RTO / RPO and test acceptance criteria are not supplied.</a:t>
            </a:r>
          </a:p>
        </p:txBody>
      </p:sp>
    </p:spTree>
    <p:extLst>
      <p:ext uri="{BB962C8B-B14F-4D97-AF65-F5344CB8AC3E}">
        <p14:creationId xmlns:p14="http://schemas.microsoft.com/office/powerpoint/2010/main" val="380947730"/>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 name="">
            <a:extLst xmlns:a="http://schemas.openxmlformats.org/drawingml/2006/main">
              <a:ext uri="{FF2B5EF4-FFF2-40B4-BE49-F238E27FC236}">
                <a16:creationId xmlns:a16="http://schemas.microsoft.com/office/drawing/2014/main" id="{95432A40-A6F9-47C5-A195-94D4A3384A2E}"/>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23BACBA2-DB11-4D40-9433-0AD97F799856}"/>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Provisioning confirms UAT and production for all eight</a:t>
            </a:r>
          </a:p>
        </p:txBody>
      </p:sp>
      <p:sp>
        <p:nvSpPr>
          <p:cNvPr id="3" name="">
            <a:extLst xmlns:a="http://schemas.openxmlformats.org/drawingml/2006/main">
              <a:ext uri="{FF2B5EF4-FFF2-40B4-BE49-F238E27FC236}">
                <a16:creationId xmlns:a16="http://schemas.microsoft.com/office/drawing/2014/main" id="{50D31A69-5734-4412-8610-7174F2B24E50}"/>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Six platforms have denied staging provisioning. Green means infrastructure confirmation, not release readiness.</a:t>
            </a:r>
          </a:p>
        </p:txBody>
      </p:sp>
      <p:sp>
        <p:nvSpPr>
          <p:cNvPr id="4" name="">
            <a:extLst xmlns:a="http://schemas.openxmlformats.org/drawingml/2006/main">
              <a:ext uri="{FF2B5EF4-FFF2-40B4-BE49-F238E27FC236}">
                <a16:creationId xmlns:a16="http://schemas.microsoft.com/office/drawing/2014/main" id="{F3562BDF-F34F-4CD3-A04A-B1ABC1729295}"/>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392D9FA0-C252-4DAE-9C20-31AC4D2FFE69}"/>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35</a:t>
            </a:r>
          </a:p>
        </p:txBody>
      </p:sp>
      <p:sp>
        <p:nvSpPr>
          <p:cNvPr id="6" name="">
            <a:extLst xmlns:a="http://schemas.openxmlformats.org/drawingml/2006/main">
              <a:ext uri="{FF2B5EF4-FFF2-40B4-BE49-F238E27FC236}">
                <a16:creationId xmlns:a16="http://schemas.microsoft.com/office/drawing/2014/main" id="{74AE8835-6D06-4A84-952D-8DD83E0ED47C}"/>
              </a:ext>
            </a:extLst>
          </p:cNvPr>
          <p:cNvSpPr>
            <a:spLocks xmlns:a="http://schemas.openxmlformats.org/drawingml/2006/main" noGrp="1"/>
          </p:cNvSpPr>
          <p:nvPr/>
        </p:nvSpPr>
        <p:spPr>
          <a:xfrm xmlns:a="http://schemas.openxmlformats.org/drawingml/2006/main">
            <a:off x="457200" y="2124075"/>
            <a:ext cx="3238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4B"/>
                </a:solidFill>
                <a:latin typeface="DejaVu Sans"/>
                <a:ea typeface="DejaVu Sans"/>
                <a:cs typeface="DejaVu Sans"/>
              </a:defRPr>
            </a:pPr>
            <a:r>
              <a:rPr sz="1500" b="1">
                <a:solidFill>
                  <a:srgbClr val="173A4B"/>
                </a:solidFill>
                <a:latin typeface="DejaVu Sans"/>
                <a:ea typeface="DejaVu Sans"/>
                <a:cs typeface="DejaVu Sans"/>
              </a:rPr>
              <a:t>Platform</a:t>
            </a:r>
          </a:p>
        </p:txBody>
      </p:sp>
      <p:sp>
        <p:nvSpPr>
          <p:cNvPr id="7" name="">
            <a:extLst xmlns:a="http://schemas.openxmlformats.org/drawingml/2006/main">
              <a:ext uri="{FF2B5EF4-FFF2-40B4-BE49-F238E27FC236}">
                <a16:creationId xmlns:a16="http://schemas.microsoft.com/office/drawing/2014/main" id="{94F66B00-58BF-4E6B-957C-10B939D279C6}"/>
              </a:ext>
            </a:extLst>
          </p:cNvPr>
          <p:cNvSpPr>
            <a:spLocks xmlns:a="http://schemas.openxmlformats.org/drawingml/2006/main" noGrp="1"/>
          </p:cNvSpPr>
          <p:nvPr/>
        </p:nvSpPr>
        <p:spPr>
          <a:xfrm xmlns:a="http://schemas.openxmlformats.org/drawingml/2006/main">
            <a:off x="3981450" y="2124075"/>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4B"/>
                </a:solidFill>
                <a:latin typeface="DejaVu Sans"/>
                <a:ea typeface="DejaVu Sans"/>
                <a:cs typeface="DejaVu Sans"/>
              </a:defRPr>
            </a:pPr>
            <a:r>
              <a:rPr sz="1500" b="1">
                <a:solidFill>
                  <a:srgbClr val="173A4B"/>
                </a:solidFill>
                <a:latin typeface="DejaVu Sans"/>
                <a:ea typeface="DejaVu Sans"/>
                <a:cs typeface="DejaVu Sans"/>
              </a:rPr>
              <a:t>SIT</a:t>
            </a:r>
          </a:p>
        </p:txBody>
      </p:sp>
      <p:sp>
        <p:nvSpPr>
          <p:cNvPr id="8" name="">
            <a:extLst xmlns:a="http://schemas.openxmlformats.org/drawingml/2006/main">
              <a:ext uri="{FF2B5EF4-FFF2-40B4-BE49-F238E27FC236}">
                <a16:creationId xmlns:a16="http://schemas.microsoft.com/office/drawing/2014/main" id="{FFBC531A-57A4-4901-8D7C-B45A28111749}"/>
              </a:ext>
            </a:extLst>
          </p:cNvPr>
          <p:cNvSpPr>
            <a:spLocks xmlns:a="http://schemas.openxmlformats.org/drawingml/2006/main" noGrp="1"/>
          </p:cNvSpPr>
          <p:nvPr/>
        </p:nvSpPr>
        <p:spPr>
          <a:xfrm xmlns:a="http://schemas.openxmlformats.org/drawingml/2006/main">
            <a:off x="5505450" y="2124075"/>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4B"/>
                </a:solidFill>
                <a:latin typeface="DejaVu Sans"/>
                <a:ea typeface="DejaVu Sans"/>
                <a:cs typeface="DejaVu Sans"/>
              </a:defRPr>
            </a:pPr>
            <a:r>
              <a:rPr sz="1500" b="1">
                <a:solidFill>
                  <a:srgbClr val="173A4B"/>
                </a:solidFill>
                <a:latin typeface="DejaVu Sans"/>
                <a:ea typeface="DejaVu Sans"/>
                <a:cs typeface="DejaVu Sans"/>
              </a:rPr>
              <a:t>UAT</a:t>
            </a:r>
          </a:p>
        </p:txBody>
      </p:sp>
      <p:sp>
        <p:nvSpPr>
          <p:cNvPr id="9" name="">
            <a:extLst xmlns:a="http://schemas.openxmlformats.org/drawingml/2006/main">
              <a:ext uri="{FF2B5EF4-FFF2-40B4-BE49-F238E27FC236}">
                <a16:creationId xmlns:a16="http://schemas.microsoft.com/office/drawing/2014/main" id="{DA4B114B-7D37-4AB7-BF38-854926ADC95B}"/>
              </a:ext>
            </a:extLst>
          </p:cNvPr>
          <p:cNvSpPr>
            <a:spLocks xmlns:a="http://schemas.openxmlformats.org/drawingml/2006/main" noGrp="1"/>
          </p:cNvSpPr>
          <p:nvPr/>
        </p:nvSpPr>
        <p:spPr>
          <a:xfrm xmlns:a="http://schemas.openxmlformats.org/drawingml/2006/main">
            <a:off x="7029450" y="2124075"/>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4B"/>
                </a:solidFill>
                <a:latin typeface="DejaVu Sans"/>
                <a:ea typeface="DejaVu Sans"/>
                <a:cs typeface="DejaVu Sans"/>
              </a:defRPr>
            </a:pPr>
            <a:r>
              <a:rPr sz="1500" b="1">
                <a:solidFill>
                  <a:srgbClr val="173A4B"/>
                </a:solidFill>
                <a:latin typeface="DejaVu Sans"/>
                <a:ea typeface="DejaVu Sans"/>
                <a:cs typeface="DejaVu Sans"/>
              </a:rPr>
              <a:t>Staging</a:t>
            </a:r>
          </a:p>
        </p:txBody>
      </p:sp>
      <p:sp>
        <p:nvSpPr>
          <p:cNvPr id="10" name="">
            <a:extLst xmlns:a="http://schemas.openxmlformats.org/drawingml/2006/main">
              <a:ext uri="{FF2B5EF4-FFF2-40B4-BE49-F238E27FC236}">
                <a16:creationId xmlns:a16="http://schemas.microsoft.com/office/drawing/2014/main" id="{C0696845-B838-47C9-BD43-588257BE2B75}"/>
              </a:ext>
            </a:extLst>
          </p:cNvPr>
          <p:cNvSpPr>
            <a:spLocks xmlns:a="http://schemas.openxmlformats.org/drawingml/2006/main" noGrp="1"/>
          </p:cNvSpPr>
          <p:nvPr/>
        </p:nvSpPr>
        <p:spPr>
          <a:xfrm xmlns:a="http://schemas.openxmlformats.org/drawingml/2006/main">
            <a:off x="8553450" y="2124075"/>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4B"/>
                </a:solidFill>
                <a:latin typeface="DejaVu Sans"/>
                <a:ea typeface="DejaVu Sans"/>
                <a:cs typeface="DejaVu Sans"/>
              </a:defRPr>
            </a:pPr>
            <a:r>
              <a:rPr sz="1500" b="1">
                <a:solidFill>
                  <a:srgbClr val="173A4B"/>
                </a:solidFill>
                <a:latin typeface="DejaVu Sans"/>
                <a:ea typeface="DejaVu Sans"/>
                <a:cs typeface="DejaVu Sans"/>
              </a:rPr>
              <a:t>Production</a:t>
            </a:r>
          </a:p>
        </p:txBody>
      </p:sp>
      <p:sp>
        <p:nvSpPr>
          <p:cNvPr id="11" name="">
            <a:extLst xmlns:a="http://schemas.openxmlformats.org/drawingml/2006/main">
              <a:ext uri="{FF2B5EF4-FFF2-40B4-BE49-F238E27FC236}">
                <a16:creationId xmlns:a16="http://schemas.microsoft.com/office/drawing/2014/main" id="{8A2293B9-6601-4BC2-A8FE-AD89ED56A64C}"/>
              </a:ext>
            </a:extLst>
          </p:cNvPr>
          <p:cNvSpPr>
            <a:spLocks xmlns:a="http://schemas.openxmlformats.org/drawingml/2006/main" noGrp="1"/>
          </p:cNvSpPr>
          <p:nvPr/>
        </p:nvSpPr>
        <p:spPr>
          <a:xfrm xmlns:a="http://schemas.openxmlformats.org/drawingml/2006/main">
            <a:off x="10077450" y="2124075"/>
            <a:ext cx="13811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1">
                <a:solidFill>
                  <a:srgbClr val="173A4B"/>
                </a:solidFill>
                <a:latin typeface="DejaVu Sans"/>
                <a:ea typeface="DejaVu Sans"/>
                <a:cs typeface="DejaVu Sans"/>
              </a:defRPr>
            </a:pPr>
            <a:r>
              <a:rPr sz="1500" b="1">
                <a:solidFill>
                  <a:srgbClr val="173A4B"/>
                </a:solidFill>
                <a:latin typeface="DejaVu Sans"/>
                <a:ea typeface="DejaVu Sans"/>
                <a:cs typeface="DejaVu Sans"/>
              </a:rPr>
              <a:t>DR</a:t>
            </a:r>
          </a:p>
        </p:txBody>
      </p:sp>
      <p:sp>
        <p:nvSpPr>
          <p:cNvPr id="12" name="">
            <a:extLst xmlns:a="http://schemas.openxmlformats.org/drawingml/2006/main">
              <a:ext uri="{FF2B5EF4-FFF2-40B4-BE49-F238E27FC236}">
                <a16:creationId xmlns:a16="http://schemas.microsoft.com/office/drawing/2014/main" id="{2EF6E098-DE3D-48C3-A925-AD19E78D6DA0}"/>
              </a:ext>
            </a:extLst>
          </p:cNvPr>
          <p:cNvSpPr>
            <a:spLocks xmlns:a="http://schemas.openxmlformats.org/drawingml/2006/main" noGrp="1"/>
          </p:cNvSpPr>
          <p:nvPr/>
        </p:nvSpPr>
        <p:spPr>
          <a:xfrm xmlns:a="http://schemas.openxmlformats.org/drawingml/2006/main">
            <a:off x="457200" y="2524125"/>
            <a:ext cx="1127760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34D2A33A-F756-4489-AD33-33A5FCDA4F93}"/>
              </a:ext>
            </a:extLst>
          </p:cNvPr>
          <p:cNvSpPr>
            <a:spLocks xmlns:a="http://schemas.openxmlformats.org/drawingml/2006/main" noGrp="1"/>
          </p:cNvSpPr>
          <p:nvPr/>
        </p:nvSpPr>
        <p:spPr>
          <a:xfrm xmlns:a="http://schemas.openxmlformats.org/drawingml/2006/main">
            <a:off x="581025" y="2571750"/>
            <a:ext cx="317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3A4B"/>
                </a:solidFill>
                <a:latin typeface="DejaVu Sans"/>
                <a:ea typeface="DejaVu Sans"/>
                <a:cs typeface="DejaVu Sans"/>
              </a:defRPr>
            </a:pPr>
            <a:r>
              <a:rPr sz="1350" b="1">
                <a:solidFill>
                  <a:srgbClr val="173A4B"/>
                </a:solidFill>
                <a:latin typeface="DejaVu Sans"/>
                <a:ea typeface="DejaVu Sans"/>
                <a:cs typeface="DejaVu Sans"/>
              </a:rPr>
              <a:t>IB</a:t>
            </a:r>
          </a:p>
        </p:txBody>
      </p:sp>
      <p:sp>
        <p:nvSpPr>
          <p:cNvPr id="14" name="">
            <a:extLst xmlns:a="http://schemas.openxmlformats.org/drawingml/2006/main">
              <a:ext uri="{FF2B5EF4-FFF2-40B4-BE49-F238E27FC236}">
                <a16:creationId xmlns:a16="http://schemas.microsoft.com/office/drawing/2014/main" id="{FF5F1C82-ED08-4DD9-B84E-00CB4CA5940B}"/>
              </a:ext>
            </a:extLst>
          </p:cNvPr>
          <p:cNvSpPr>
            <a:spLocks xmlns:a="http://schemas.openxmlformats.org/drawingml/2006/main" noGrp="1"/>
          </p:cNvSpPr>
          <p:nvPr/>
        </p:nvSpPr>
        <p:spPr>
          <a:xfrm xmlns:a="http://schemas.openxmlformats.org/drawingml/2006/main">
            <a:off x="3981450" y="25527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a:t>
            </a:r>
          </a:p>
        </p:txBody>
      </p:sp>
      <p:sp>
        <p:nvSpPr>
          <p:cNvPr id="15" name="">
            <a:extLst xmlns:a="http://schemas.openxmlformats.org/drawingml/2006/main">
              <a:ext uri="{FF2B5EF4-FFF2-40B4-BE49-F238E27FC236}">
                <a16:creationId xmlns:a16="http://schemas.microsoft.com/office/drawing/2014/main" id="{86AF66F4-D2E4-46D4-9D4A-30A0AD1A3929}"/>
              </a:ext>
            </a:extLst>
          </p:cNvPr>
          <p:cNvSpPr>
            <a:spLocks xmlns:a="http://schemas.openxmlformats.org/drawingml/2006/main" noGrp="1"/>
          </p:cNvSpPr>
          <p:nvPr/>
        </p:nvSpPr>
        <p:spPr>
          <a:xfrm xmlns:a="http://schemas.openxmlformats.org/drawingml/2006/main">
            <a:off x="5505450" y="25527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16" name="">
            <a:extLst xmlns:a="http://schemas.openxmlformats.org/drawingml/2006/main">
              <a:ext uri="{FF2B5EF4-FFF2-40B4-BE49-F238E27FC236}">
                <a16:creationId xmlns:a16="http://schemas.microsoft.com/office/drawing/2014/main" id="{8961EF01-5317-45C1-8803-57345E878CBE}"/>
              </a:ext>
            </a:extLst>
          </p:cNvPr>
          <p:cNvSpPr>
            <a:spLocks xmlns:a="http://schemas.openxmlformats.org/drawingml/2006/main" noGrp="1"/>
          </p:cNvSpPr>
          <p:nvPr/>
        </p:nvSpPr>
        <p:spPr>
          <a:xfrm xmlns:a="http://schemas.openxmlformats.org/drawingml/2006/main">
            <a:off x="7029450" y="25527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a:t>
            </a:r>
          </a:p>
        </p:txBody>
      </p:sp>
      <p:sp>
        <p:nvSpPr>
          <p:cNvPr id="17" name="">
            <a:extLst xmlns:a="http://schemas.openxmlformats.org/drawingml/2006/main">
              <a:ext uri="{FF2B5EF4-FFF2-40B4-BE49-F238E27FC236}">
                <a16:creationId xmlns:a16="http://schemas.microsoft.com/office/drawing/2014/main" id="{A36854DF-EA40-43E3-9414-960463DBF5F4}"/>
              </a:ext>
            </a:extLst>
          </p:cNvPr>
          <p:cNvSpPr>
            <a:spLocks xmlns:a="http://schemas.openxmlformats.org/drawingml/2006/main" noGrp="1"/>
          </p:cNvSpPr>
          <p:nvPr/>
        </p:nvSpPr>
        <p:spPr>
          <a:xfrm xmlns:a="http://schemas.openxmlformats.org/drawingml/2006/main">
            <a:off x="8553450" y="25527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18" name="">
            <a:extLst xmlns:a="http://schemas.openxmlformats.org/drawingml/2006/main">
              <a:ext uri="{FF2B5EF4-FFF2-40B4-BE49-F238E27FC236}">
                <a16:creationId xmlns:a16="http://schemas.microsoft.com/office/drawing/2014/main" id="{2F3CD4FC-DAE4-4E92-A421-83232C2C6ABD}"/>
              </a:ext>
            </a:extLst>
          </p:cNvPr>
          <p:cNvSpPr>
            <a:spLocks xmlns:a="http://schemas.openxmlformats.org/drawingml/2006/main" noGrp="1"/>
          </p:cNvSpPr>
          <p:nvPr/>
        </p:nvSpPr>
        <p:spPr>
          <a:xfrm xmlns:a="http://schemas.openxmlformats.org/drawingml/2006/main">
            <a:off x="10077450" y="25527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47B89"/>
                </a:solidFill>
                <a:latin typeface="DejaVu Sans"/>
                <a:ea typeface="DejaVu Sans"/>
                <a:cs typeface="DejaVu Sans"/>
              </a:defRPr>
            </a:pPr>
            <a:r>
              <a:rPr sz="1275" b="1">
                <a:solidFill>
                  <a:srgbClr val="647B89"/>
                </a:solidFill>
                <a:latin typeface="DejaVu Sans"/>
                <a:ea typeface="DejaVu Sans"/>
                <a:cs typeface="DejaVu Sans"/>
              </a:rPr>
              <a:t>◉ Passive</a:t>
            </a:r>
          </a:p>
        </p:txBody>
      </p:sp>
      <p:sp>
        <p:nvSpPr>
          <p:cNvPr id="19" name="">
            <a:extLst xmlns:a="http://schemas.openxmlformats.org/drawingml/2006/main">
              <a:ext uri="{FF2B5EF4-FFF2-40B4-BE49-F238E27FC236}">
                <a16:creationId xmlns:a16="http://schemas.microsoft.com/office/drawing/2014/main" id="{B99C33E8-A26B-47E3-AB75-ECCD5FE7056D}"/>
              </a:ext>
            </a:extLst>
          </p:cNvPr>
          <p:cNvSpPr>
            <a:spLocks xmlns:a="http://schemas.openxmlformats.org/drawingml/2006/main" noGrp="1"/>
          </p:cNvSpPr>
          <p:nvPr/>
        </p:nvSpPr>
        <p:spPr>
          <a:xfrm xmlns:a="http://schemas.openxmlformats.org/drawingml/2006/main">
            <a:off x="457200" y="2933700"/>
            <a:ext cx="11277600" cy="361950"/>
          </a:xfrm>
          <a:prstGeom xmlns:a="http://schemas.openxmlformats.org/drawingml/2006/main" prst="roundRect">
            <a:avLst>
              <a:gd name="adj" fmla="val 31579"/>
            </a:avLst>
          </a:prstGeom>
          <a:solidFill xmlns:a="http://schemas.openxmlformats.org/drawingml/2006/main">
            <a:srgbClr val="F5F8F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B0399C00-710F-445B-8381-885EAFAA9DFA}"/>
              </a:ext>
            </a:extLst>
          </p:cNvPr>
          <p:cNvSpPr>
            <a:spLocks xmlns:a="http://schemas.openxmlformats.org/drawingml/2006/main" noGrp="1"/>
          </p:cNvSpPr>
          <p:nvPr/>
        </p:nvSpPr>
        <p:spPr>
          <a:xfrm xmlns:a="http://schemas.openxmlformats.org/drawingml/2006/main">
            <a:off x="581025" y="2981325"/>
            <a:ext cx="317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3A4B"/>
                </a:solidFill>
                <a:latin typeface="DejaVu Sans"/>
                <a:ea typeface="DejaVu Sans"/>
                <a:cs typeface="DejaVu Sans"/>
              </a:defRPr>
            </a:pPr>
            <a:r>
              <a:rPr sz="1350" b="1">
                <a:solidFill>
                  <a:srgbClr val="173A4B"/>
                </a:solidFill>
                <a:latin typeface="DejaVu Sans"/>
                <a:ea typeface="DejaVu Sans"/>
                <a:cs typeface="DejaVu Sans"/>
              </a:rPr>
              <a:t>Omni</a:t>
            </a:r>
          </a:p>
        </p:txBody>
      </p:sp>
      <p:sp>
        <p:nvSpPr>
          <p:cNvPr id="21" name="">
            <a:extLst xmlns:a="http://schemas.openxmlformats.org/drawingml/2006/main">
              <a:ext uri="{FF2B5EF4-FFF2-40B4-BE49-F238E27FC236}">
                <a16:creationId xmlns:a16="http://schemas.microsoft.com/office/drawing/2014/main" id="{8B8C8F2B-6506-4B9D-AAB7-BC9A17119E2E}"/>
              </a:ext>
            </a:extLst>
          </p:cNvPr>
          <p:cNvSpPr>
            <a:spLocks xmlns:a="http://schemas.openxmlformats.org/drawingml/2006/main" noGrp="1"/>
          </p:cNvSpPr>
          <p:nvPr/>
        </p:nvSpPr>
        <p:spPr>
          <a:xfrm xmlns:a="http://schemas.openxmlformats.org/drawingml/2006/main">
            <a:off x="3981450" y="29622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a:t>
            </a:r>
          </a:p>
        </p:txBody>
      </p:sp>
      <p:sp>
        <p:nvSpPr>
          <p:cNvPr id="22" name="">
            <a:extLst xmlns:a="http://schemas.openxmlformats.org/drawingml/2006/main">
              <a:ext uri="{FF2B5EF4-FFF2-40B4-BE49-F238E27FC236}">
                <a16:creationId xmlns:a16="http://schemas.microsoft.com/office/drawing/2014/main" id="{9FDD08A8-68DA-4B6D-91BD-569BF56FBEFB}"/>
              </a:ext>
            </a:extLst>
          </p:cNvPr>
          <p:cNvSpPr>
            <a:spLocks xmlns:a="http://schemas.openxmlformats.org/drawingml/2006/main" noGrp="1"/>
          </p:cNvSpPr>
          <p:nvPr/>
        </p:nvSpPr>
        <p:spPr>
          <a:xfrm xmlns:a="http://schemas.openxmlformats.org/drawingml/2006/main">
            <a:off x="5505450" y="29622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23" name="">
            <a:extLst xmlns:a="http://schemas.openxmlformats.org/drawingml/2006/main">
              <a:ext uri="{FF2B5EF4-FFF2-40B4-BE49-F238E27FC236}">
                <a16:creationId xmlns:a16="http://schemas.microsoft.com/office/drawing/2014/main" id="{3B060968-A9B4-4D66-9FFE-E99D3C4E77AE}"/>
              </a:ext>
            </a:extLst>
          </p:cNvPr>
          <p:cNvSpPr>
            <a:spLocks xmlns:a="http://schemas.openxmlformats.org/drawingml/2006/main" noGrp="1"/>
          </p:cNvSpPr>
          <p:nvPr/>
        </p:nvSpPr>
        <p:spPr>
          <a:xfrm xmlns:a="http://schemas.openxmlformats.org/drawingml/2006/main">
            <a:off x="7029450" y="29622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a:t>
            </a:r>
          </a:p>
        </p:txBody>
      </p:sp>
      <p:sp>
        <p:nvSpPr>
          <p:cNvPr id="24" name="">
            <a:extLst xmlns:a="http://schemas.openxmlformats.org/drawingml/2006/main">
              <a:ext uri="{FF2B5EF4-FFF2-40B4-BE49-F238E27FC236}">
                <a16:creationId xmlns:a16="http://schemas.microsoft.com/office/drawing/2014/main" id="{72C8ED85-A9C0-4E8D-8289-D0E99E2775AA}"/>
              </a:ext>
            </a:extLst>
          </p:cNvPr>
          <p:cNvSpPr>
            <a:spLocks xmlns:a="http://schemas.openxmlformats.org/drawingml/2006/main" noGrp="1"/>
          </p:cNvSpPr>
          <p:nvPr/>
        </p:nvSpPr>
        <p:spPr>
          <a:xfrm xmlns:a="http://schemas.openxmlformats.org/drawingml/2006/main">
            <a:off x="8553450" y="29622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25" name="">
            <a:extLst xmlns:a="http://schemas.openxmlformats.org/drawingml/2006/main">
              <a:ext uri="{FF2B5EF4-FFF2-40B4-BE49-F238E27FC236}">
                <a16:creationId xmlns:a16="http://schemas.microsoft.com/office/drawing/2014/main" id="{5F91626B-1D72-40C8-BAA3-8D1B6359C6CA}"/>
              </a:ext>
            </a:extLst>
          </p:cNvPr>
          <p:cNvSpPr>
            <a:spLocks xmlns:a="http://schemas.openxmlformats.org/drawingml/2006/main" noGrp="1"/>
          </p:cNvSpPr>
          <p:nvPr/>
        </p:nvSpPr>
        <p:spPr>
          <a:xfrm xmlns:a="http://schemas.openxmlformats.org/drawingml/2006/main">
            <a:off x="10077450" y="29622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26" name="">
            <a:extLst xmlns:a="http://schemas.openxmlformats.org/drawingml/2006/main">
              <a:ext uri="{FF2B5EF4-FFF2-40B4-BE49-F238E27FC236}">
                <a16:creationId xmlns:a16="http://schemas.microsoft.com/office/drawing/2014/main" id="{1D1940DE-A4F1-4161-B7EB-CE09E7A9E267}"/>
              </a:ext>
            </a:extLst>
          </p:cNvPr>
          <p:cNvSpPr>
            <a:spLocks xmlns:a="http://schemas.openxmlformats.org/drawingml/2006/main" noGrp="1"/>
          </p:cNvSpPr>
          <p:nvPr/>
        </p:nvSpPr>
        <p:spPr>
          <a:xfrm xmlns:a="http://schemas.openxmlformats.org/drawingml/2006/main">
            <a:off x="457200" y="3343275"/>
            <a:ext cx="1127760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0">
            <a:noFill/>
          </a:ln>
        </p:spPr>
      </p:sp>
      <p:sp>
        <p:nvSpPr>
          <p:cNvPr id="27" name="">
            <a:extLst xmlns:a="http://schemas.openxmlformats.org/drawingml/2006/main">
              <a:ext uri="{FF2B5EF4-FFF2-40B4-BE49-F238E27FC236}">
                <a16:creationId xmlns:a16="http://schemas.microsoft.com/office/drawing/2014/main" id="{F6F4E34B-506E-4BC7-ACD9-235BF57D40A1}"/>
              </a:ext>
            </a:extLst>
          </p:cNvPr>
          <p:cNvSpPr>
            <a:spLocks xmlns:a="http://schemas.openxmlformats.org/drawingml/2006/main" noGrp="1"/>
          </p:cNvSpPr>
          <p:nvPr/>
        </p:nvSpPr>
        <p:spPr>
          <a:xfrm xmlns:a="http://schemas.openxmlformats.org/drawingml/2006/main">
            <a:off x="581025" y="3390900"/>
            <a:ext cx="317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3A4B"/>
                </a:solidFill>
                <a:latin typeface="DejaVu Sans"/>
                <a:ea typeface="DejaVu Sans"/>
                <a:cs typeface="DejaVu Sans"/>
              </a:defRPr>
            </a:pPr>
            <a:r>
              <a:rPr sz="1350" b="1">
                <a:solidFill>
                  <a:srgbClr val="173A4B"/>
                </a:solidFill>
                <a:latin typeface="DejaVu Sans"/>
                <a:ea typeface="DejaVu Sans"/>
                <a:cs typeface="DejaVu Sans"/>
              </a:rPr>
              <a:t>DIB Website</a:t>
            </a:r>
          </a:p>
        </p:txBody>
      </p:sp>
      <p:sp>
        <p:nvSpPr>
          <p:cNvPr id="28" name="">
            <a:extLst xmlns:a="http://schemas.openxmlformats.org/drawingml/2006/main">
              <a:ext uri="{FF2B5EF4-FFF2-40B4-BE49-F238E27FC236}">
                <a16:creationId xmlns:a16="http://schemas.microsoft.com/office/drawing/2014/main" id="{382040D7-8F9D-480E-B021-AA732B46732F}"/>
              </a:ext>
            </a:extLst>
          </p:cNvPr>
          <p:cNvSpPr>
            <a:spLocks xmlns:a="http://schemas.openxmlformats.org/drawingml/2006/main" noGrp="1"/>
          </p:cNvSpPr>
          <p:nvPr/>
        </p:nvSpPr>
        <p:spPr>
          <a:xfrm xmlns:a="http://schemas.openxmlformats.org/drawingml/2006/main">
            <a:off x="3981450" y="33718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47B89"/>
                </a:solidFill>
                <a:latin typeface="DejaVu Sans"/>
                <a:ea typeface="DejaVu Sans"/>
                <a:cs typeface="DejaVu Sans"/>
              </a:defRPr>
            </a:pPr>
            <a:r>
              <a:rPr sz="1650" b="1">
                <a:solidFill>
                  <a:srgbClr val="647B89"/>
                </a:solidFill>
                <a:latin typeface="DejaVu Sans"/>
                <a:ea typeface="DejaVu Sans"/>
                <a:cs typeface="DejaVu Sans"/>
              </a:rPr>
              <a:t>NA</a:t>
            </a:r>
          </a:p>
        </p:txBody>
      </p:sp>
      <p:sp>
        <p:nvSpPr>
          <p:cNvPr id="29" name="">
            <a:extLst xmlns:a="http://schemas.openxmlformats.org/drawingml/2006/main">
              <a:ext uri="{FF2B5EF4-FFF2-40B4-BE49-F238E27FC236}">
                <a16:creationId xmlns:a16="http://schemas.microsoft.com/office/drawing/2014/main" id="{17070B6D-45C9-4A52-AFF6-8E1DB100F846}"/>
              </a:ext>
            </a:extLst>
          </p:cNvPr>
          <p:cNvSpPr>
            <a:spLocks xmlns:a="http://schemas.openxmlformats.org/drawingml/2006/main" noGrp="1"/>
          </p:cNvSpPr>
          <p:nvPr/>
        </p:nvSpPr>
        <p:spPr>
          <a:xfrm xmlns:a="http://schemas.openxmlformats.org/drawingml/2006/main">
            <a:off x="5505450" y="33718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30" name="">
            <a:extLst xmlns:a="http://schemas.openxmlformats.org/drawingml/2006/main">
              <a:ext uri="{FF2B5EF4-FFF2-40B4-BE49-F238E27FC236}">
                <a16:creationId xmlns:a16="http://schemas.microsoft.com/office/drawing/2014/main" id="{D558F00D-DEC4-4440-BD0E-3D7385B69586}"/>
              </a:ext>
            </a:extLst>
          </p:cNvPr>
          <p:cNvSpPr>
            <a:spLocks xmlns:a="http://schemas.openxmlformats.org/drawingml/2006/main" noGrp="1"/>
          </p:cNvSpPr>
          <p:nvPr/>
        </p:nvSpPr>
        <p:spPr>
          <a:xfrm xmlns:a="http://schemas.openxmlformats.org/drawingml/2006/main">
            <a:off x="7029450" y="33718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a:t>
            </a:r>
          </a:p>
        </p:txBody>
      </p:sp>
      <p:sp>
        <p:nvSpPr>
          <p:cNvPr id="31" name="">
            <a:extLst xmlns:a="http://schemas.openxmlformats.org/drawingml/2006/main">
              <a:ext uri="{FF2B5EF4-FFF2-40B4-BE49-F238E27FC236}">
                <a16:creationId xmlns:a16="http://schemas.microsoft.com/office/drawing/2014/main" id="{16165225-FCC3-4E45-A396-25E24290C8A8}"/>
              </a:ext>
            </a:extLst>
          </p:cNvPr>
          <p:cNvSpPr>
            <a:spLocks xmlns:a="http://schemas.openxmlformats.org/drawingml/2006/main" noGrp="1"/>
          </p:cNvSpPr>
          <p:nvPr/>
        </p:nvSpPr>
        <p:spPr>
          <a:xfrm xmlns:a="http://schemas.openxmlformats.org/drawingml/2006/main">
            <a:off x="8553450" y="33718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32" name="">
            <a:extLst xmlns:a="http://schemas.openxmlformats.org/drawingml/2006/main">
              <a:ext uri="{FF2B5EF4-FFF2-40B4-BE49-F238E27FC236}">
                <a16:creationId xmlns:a16="http://schemas.microsoft.com/office/drawing/2014/main" id="{F7FF3C2C-CC50-4A93-BB6F-CA5178D55170}"/>
              </a:ext>
            </a:extLst>
          </p:cNvPr>
          <p:cNvSpPr>
            <a:spLocks xmlns:a="http://schemas.openxmlformats.org/drawingml/2006/main" noGrp="1"/>
          </p:cNvSpPr>
          <p:nvPr/>
        </p:nvSpPr>
        <p:spPr>
          <a:xfrm xmlns:a="http://schemas.openxmlformats.org/drawingml/2006/main">
            <a:off x="10077450" y="33718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33" name="">
            <a:extLst xmlns:a="http://schemas.openxmlformats.org/drawingml/2006/main">
              <a:ext uri="{FF2B5EF4-FFF2-40B4-BE49-F238E27FC236}">
                <a16:creationId xmlns:a16="http://schemas.microsoft.com/office/drawing/2014/main" id="{68F61B46-A03D-4AA6-BF71-0A3D341290C5}"/>
              </a:ext>
            </a:extLst>
          </p:cNvPr>
          <p:cNvSpPr>
            <a:spLocks xmlns:a="http://schemas.openxmlformats.org/drawingml/2006/main" noGrp="1"/>
          </p:cNvSpPr>
          <p:nvPr/>
        </p:nvSpPr>
        <p:spPr>
          <a:xfrm xmlns:a="http://schemas.openxmlformats.org/drawingml/2006/main">
            <a:off x="457200" y="3752850"/>
            <a:ext cx="11277600" cy="361950"/>
          </a:xfrm>
          <a:prstGeom xmlns:a="http://schemas.openxmlformats.org/drawingml/2006/main" prst="roundRect">
            <a:avLst>
              <a:gd name="adj" fmla="val 31579"/>
            </a:avLst>
          </a:prstGeom>
          <a:solidFill xmlns:a="http://schemas.openxmlformats.org/drawingml/2006/main">
            <a:srgbClr val="F5F8FA"/>
          </a:solidFill>
          <a:ln xmlns:a="http://schemas.openxmlformats.org/drawingml/2006/main" w="0">
            <a:noFill/>
          </a:ln>
        </p:spPr>
      </p:sp>
      <p:sp>
        <p:nvSpPr>
          <p:cNvPr id="34" name="">
            <a:extLst xmlns:a="http://schemas.openxmlformats.org/drawingml/2006/main">
              <a:ext uri="{FF2B5EF4-FFF2-40B4-BE49-F238E27FC236}">
                <a16:creationId xmlns:a16="http://schemas.microsoft.com/office/drawing/2014/main" id="{13FC213D-CAF7-4BD8-9D4A-97E93CBCEB15}"/>
              </a:ext>
            </a:extLst>
          </p:cNvPr>
          <p:cNvSpPr>
            <a:spLocks xmlns:a="http://schemas.openxmlformats.org/drawingml/2006/main" noGrp="1"/>
          </p:cNvSpPr>
          <p:nvPr/>
        </p:nvSpPr>
        <p:spPr>
          <a:xfrm xmlns:a="http://schemas.openxmlformats.org/drawingml/2006/main">
            <a:off x="581025" y="3800475"/>
            <a:ext cx="317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3A4B"/>
                </a:solidFill>
                <a:latin typeface="DejaVu Sans"/>
                <a:ea typeface="DejaVu Sans"/>
                <a:cs typeface="DejaVu Sans"/>
              </a:defRPr>
            </a:pPr>
            <a:r>
              <a:rPr sz="1350" b="1">
                <a:solidFill>
                  <a:srgbClr val="173A4B"/>
                </a:solidFill>
                <a:latin typeface="DejaVu Sans"/>
                <a:ea typeface="DejaVu Sans"/>
                <a:cs typeface="DejaVu Sans"/>
              </a:rPr>
              <a:t>SMS (DB cluster)</a:t>
            </a:r>
          </a:p>
        </p:txBody>
      </p:sp>
      <p:sp>
        <p:nvSpPr>
          <p:cNvPr id="35" name="">
            <a:extLst xmlns:a="http://schemas.openxmlformats.org/drawingml/2006/main">
              <a:ext uri="{FF2B5EF4-FFF2-40B4-BE49-F238E27FC236}">
                <a16:creationId xmlns:a16="http://schemas.microsoft.com/office/drawing/2014/main" id="{11408792-9EA9-46FC-B488-900C5929DC06}"/>
              </a:ext>
            </a:extLst>
          </p:cNvPr>
          <p:cNvSpPr>
            <a:spLocks xmlns:a="http://schemas.openxmlformats.org/drawingml/2006/main" noGrp="1"/>
          </p:cNvSpPr>
          <p:nvPr/>
        </p:nvSpPr>
        <p:spPr>
          <a:xfrm xmlns:a="http://schemas.openxmlformats.org/drawingml/2006/main">
            <a:off x="3981450" y="37814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47B89"/>
                </a:solidFill>
                <a:latin typeface="DejaVu Sans"/>
                <a:ea typeface="DejaVu Sans"/>
                <a:cs typeface="DejaVu Sans"/>
              </a:defRPr>
            </a:pPr>
            <a:r>
              <a:rPr sz="1650" b="1">
                <a:solidFill>
                  <a:srgbClr val="647B89"/>
                </a:solidFill>
                <a:latin typeface="DejaVu Sans"/>
                <a:ea typeface="DejaVu Sans"/>
                <a:cs typeface="DejaVu Sans"/>
              </a:rPr>
              <a:t>NA</a:t>
            </a:r>
          </a:p>
        </p:txBody>
      </p:sp>
      <p:sp>
        <p:nvSpPr>
          <p:cNvPr id="36" name="">
            <a:extLst xmlns:a="http://schemas.openxmlformats.org/drawingml/2006/main">
              <a:ext uri="{FF2B5EF4-FFF2-40B4-BE49-F238E27FC236}">
                <a16:creationId xmlns:a16="http://schemas.microsoft.com/office/drawing/2014/main" id="{7A1854D0-ABBF-4B90-B6AA-1634B2EAD2D1}"/>
              </a:ext>
            </a:extLst>
          </p:cNvPr>
          <p:cNvSpPr>
            <a:spLocks xmlns:a="http://schemas.openxmlformats.org/drawingml/2006/main" noGrp="1"/>
          </p:cNvSpPr>
          <p:nvPr/>
        </p:nvSpPr>
        <p:spPr>
          <a:xfrm xmlns:a="http://schemas.openxmlformats.org/drawingml/2006/main">
            <a:off x="5505450" y="37814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37" name="">
            <a:extLst xmlns:a="http://schemas.openxmlformats.org/drawingml/2006/main">
              <a:ext uri="{FF2B5EF4-FFF2-40B4-BE49-F238E27FC236}">
                <a16:creationId xmlns:a16="http://schemas.microsoft.com/office/drawing/2014/main" id="{9891EE9D-53C0-442E-9FD5-AD192970B41A}"/>
              </a:ext>
            </a:extLst>
          </p:cNvPr>
          <p:cNvSpPr>
            <a:spLocks xmlns:a="http://schemas.openxmlformats.org/drawingml/2006/main" noGrp="1"/>
          </p:cNvSpPr>
          <p:nvPr/>
        </p:nvSpPr>
        <p:spPr>
          <a:xfrm xmlns:a="http://schemas.openxmlformats.org/drawingml/2006/main">
            <a:off x="7029450" y="37814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a:t>
            </a:r>
          </a:p>
        </p:txBody>
      </p:sp>
      <p:sp>
        <p:nvSpPr>
          <p:cNvPr id="38" name="">
            <a:extLst xmlns:a="http://schemas.openxmlformats.org/drawingml/2006/main">
              <a:ext uri="{FF2B5EF4-FFF2-40B4-BE49-F238E27FC236}">
                <a16:creationId xmlns:a16="http://schemas.microsoft.com/office/drawing/2014/main" id="{389E0B9D-DA7A-4280-9ACA-4A3EB51AE234}"/>
              </a:ext>
            </a:extLst>
          </p:cNvPr>
          <p:cNvSpPr>
            <a:spLocks xmlns:a="http://schemas.openxmlformats.org/drawingml/2006/main" noGrp="1"/>
          </p:cNvSpPr>
          <p:nvPr/>
        </p:nvSpPr>
        <p:spPr>
          <a:xfrm xmlns:a="http://schemas.openxmlformats.org/drawingml/2006/main">
            <a:off x="8553450" y="37814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39" name="">
            <a:extLst xmlns:a="http://schemas.openxmlformats.org/drawingml/2006/main">
              <a:ext uri="{FF2B5EF4-FFF2-40B4-BE49-F238E27FC236}">
                <a16:creationId xmlns:a16="http://schemas.microsoft.com/office/drawing/2014/main" id="{CD1A15FA-15CD-48C0-9004-C445910F4A1B}"/>
              </a:ext>
            </a:extLst>
          </p:cNvPr>
          <p:cNvSpPr>
            <a:spLocks xmlns:a="http://schemas.openxmlformats.org/drawingml/2006/main" noGrp="1"/>
          </p:cNvSpPr>
          <p:nvPr/>
        </p:nvSpPr>
        <p:spPr>
          <a:xfrm xmlns:a="http://schemas.openxmlformats.org/drawingml/2006/main">
            <a:off x="10077450" y="37814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40" name="">
            <a:extLst xmlns:a="http://schemas.openxmlformats.org/drawingml/2006/main">
              <a:ext uri="{FF2B5EF4-FFF2-40B4-BE49-F238E27FC236}">
                <a16:creationId xmlns:a16="http://schemas.microsoft.com/office/drawing/2014/main" id="{FB8927DD-A2E2-48D4-8970-AB858E3317BD}"/>
              </a:ext>
            </a:extLst>
          </p:cNvPr>
          <p:cNvSpPr>
            <a:spLocks xmlns:a="http://schemas.openxmlformats.org/drawingml/2006/main" noGrp="1"/>
          </p:cNvSpPr>
          <p:nvPr/>
        </p:nvSpPr>
        <p:spPr>
          <a:xfrm xmlns:a="http://schemas.openxmlformats.org/drawingml/2006/main">
            <a:off x="457200" y="4162425"/>
            <a:ext cx="1127760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0">
            <a:noFill/>
          </a:ln>
        </p:spPr>
      </p:sp>
      <p:sp>
        <p:nvSpPr>
          <p:cNvPr id="41" name="">
            <a:extLst xmlns:a="http://schemas.openxmlformats.org/drawingml/2006/main">
              <a:ext uri="{FF2B5EF4-FFF2-40B4-BE49-F238E27FC236}">
                <a16:creationId xmlns:a16="http://schemas.microsoft.com/office/drawing/2014/main" id="{BFAEB1D5-FC7F-433A-BCA6-297C2C8FC938}"/>
              </a:ext>
            </a:extLst>
          </p:cNvPr>
          <p:cNvSpPr>
            <a:spLocks xmlns:a="http://schemas.openxmlformats.org/drawingml/2006/main" noGrp="1"/>
          </p:cNvSpPr>
          <p:nvPr/>
        </p:nvSpPr>
        <p:spPr>
          <a:xfrm xmlns:a="http://schemas.openxmlformats.org/drawingml/2006/main">
            <a:off x="581025" y="4210050"/>
            <a:ext cx="317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3A4B"/>
                </a:solidFill>
                <a:latin typeface="DejaVu Sans"/>
                <a:ea typeface="DejaVu Sans"/>
                <a:cs typeface="DejaVu Sans"/>
              </a:defRPr>
            </a:pPr>
            <a:r>
              <a:rPr sz="1350" b="1">
                <a:solidFill>
                  <a:srgbClr val="173A4B"/>
                </a:solidFill>
                <a:latin typeface="DejaVu Sans"/>
                <a:ea typeface="DejaVu Sans"/>
                <a:cs typeface="DejaVu Sans"/>
              </a:rPr>
              <a:t>HFLMS</a:t>
            </a:r>
          </a:p>
        </p:txBody>
      </p:sp>
      <p:sp>
        <p:nvSpPr>
          <p:cNvPr id="42" name="">
            <a:extLst xmlns:a="http://schemas.openxmlformats.org/drawingml/2006/main">
              <a:ext uri="{FF2B5EF4-FFF2-40B4-BE49-F238E27FC236}">
                <a16:creationId xmlns:a16="http://schemas.microsoft.com/office/drawing/2014/main" id="{78B48767-1FD8-4C0E-8BD5-8FA170FA57E9}"/>
              </a:ext>
            </a:extLst>
          </p:cNvPr>
          <p:cNvSpPr>
            <a:spLocks xmlns:a="http://schemas.openxmlformats.org/drawingml/2006/main" noGrp="1"/>
          </p:cNvSpPr>
          <p:nvPr/>
        </p:nvSpPr>
        <p:spPr>
          <a:xfrm xmlns:a="http://schemas.openxmlformats.org/drawingml/2006/main">
            <a:off x="3981450" y="41910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a:t>
            </a:r>
          </a:p>
        </p:txBody>
      </p:sp>
      <p:sp>
        <p:nvSpPr>
          <p:cNvPr id="43" name="">
            <a:extLst xmlns:a="http://schemas.openxmlformats.org/drawingml/2006/main">
              <a:ext uri="{FF2B5EF4-FFF2-40B4-BE49-F238E27FC236}">
                <a16:creationId xmlns:a16="http://schemas.microsoft.com/office/drawing/2014/main" id="{A4E77036-9BB9-43A3-BF58-56ACC4175E92}"/>
              </a:ext>
            </a:extLst>
          </p:cNvPr>
          <p:cNvSpPr>
            <a:spLocks xmlns:a="http://schemas.openxmlformats.org/drawingml/2006/main" noGrp="1"/>
          </p:cNvSpPr>
          <p:nvPr/>
        </p:nvSpPr>
        <p:spPr>
          <a:xfrm xmlns:a="http://schemas.openxmlformats.org/drawingml/2006/main">
            <a:off x="5505450" y="41910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44" name="">
            <a:extLst xmlns:a="http://schemas.openxmlformats.org/drawingml/2006/main">
              <a:ext uri="{FF2B5EF4-FFF2-40B4-BE49-F238E27FC236}">
                <a16:creationId xmlns:a16="http://schemas.microsoft.com/office/drawing/2014/main" id="{CCB7299E-C561-46A6-AF50-0E16E731B9BC}"/>
              </a:ext>
            </a:extLst>
          </p:cNvPr>
          <p:cNvSpPr>
            <a:spLocks xmlns:a="http://schemas.openxmlformats.org/drawingml/2006/main" noGrp="1"/>
          </p:cNvSpPr>
          <p:nvPr/>
        </p:nvSpPr>
        <p:spPr>
          <a:xfrm xmlns:a="http://schemas.openxmlformats.org/drawingml/2006/main">
            <a:off x="7029450" y="41910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a:t>
            </a:r>
          </a:p>
        </p:txBody>
      </p:sp>
      <p:sp>
        <p:nvSpPr>
          <p:cNvPr id="45" name="">
            <a:extLst xmlns:a="http://schemas.openxmlformats.org/drawingml/2006/main">
              <a:ext uri="{FF2B5EF4-FFF2-40B4-BE49-F238E27FC236}">
                <a16:creationId xmlns:a16="http://schemas.microsoft.com/office/drawing/2014/main" id="{3F6DF4F7-8B5D-4FDD-BD81-CBC390959D71}"/>
              </a:ext>
            </a:extLst>
          </p:cNvPr>
          <p:cNvSpPr>
            <a:spLocks xmlns:a="http://schemas.openxmlformats.org/drawingml/2006/main" noGrp="1"/>
          </p:cNvSpPr>
          <p:nvPr/>
        </p:nvSpPr>
        <p:spPr>
          <a:xfrm xmlns:a="http://schemas.openxmlformats.org/drawingml/2006/main">
            <a:off x="8553450" y="41910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46" name="">
            <a:extLst xmlns:a="http://schemas.openxmlformats.org/drawingml/2006/main">
              <a:ext uri="{FF2B5EF4-FFF2-40B4-BE49-F238E27FC236}">
                <a16:creationId xmlns:a16="http://schemas.microsoft.com/office/drawing/2014/main" id="{17AD13CB-9BA7-4EB3-B15A-47849AC522AE}"/>
              </a:ext>
            </a:extLst>
          </p:cNvPr>
          <p:cNvSpPr>
            <a:spLocks xmlns:a="http://schemas.openxmlformats.org/drawingml/2006/main" noGrp="1"/>
          </p:cNvSpPr>
          <p:nvPr/>
        </p:nvSpPr>
        <p:spPr>
          <a:xfrm xmlns:a="http://schemas.openxmlformats.org/drawingml/2006/main">
            <a:off x="10077450" y="419100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47B89"/>
                </a:solidFill>
                <a:latin typeface="DejaVu Sans"/>
                <a:ea typeface="DejaVu Sans"/>
                <a:cs typeface="DejaVu Sans"/>
              </a:defRPr>
            </a:pPr>
            <a:r>
              <a:rPr sz="1275" b="1">
                <a:solidFill>
                  <a:srgbClr val="647B89"/>
                </a:solidFill>
                <a:latin typeface="DejaVu Sans"/>
                <a:ea typeface="DejaVu Sans"/>
                <a:cs typeface="DejaVu Sans"/>
              </a:rPr>
              <a:t>◉ Passive</a:t>
            </a:r>
          </a:p>
        </p:txBody>
      </p:sp>
      <p:sp>
        <p:nvSpPr>
          <p:cNvPr id="47" name="">
            <a:extLst xmlns:a="http://schemas.openxmlformats.org/drawingml/2006/main">
              <a:ext uri="{FF2B5EF4-FFF2-40B4-BE49-F238E27FC236}">
                <a16:creationId xmlns:a16="http://schemas.microsoft.com/office/drawing/2014/main" id="{B7DB6E4B-D044-424F-BA8F-6A1D85D4D310}"/>
              </a:ext>
            </a:extLst>
          </p:cNvPr>
          <p:cNvSpPr>
            <a:spLocks xmlns:a="http://schemas.openxmlformats.org/drawingml/2006/main" noGrp="1"/>
          </p:cNvSpPr>
          <p:nvPr/>
        </p:nvSpPr>
        <p:spPr>
          <a:xfrm xmlns:a="http://schemas.openxmlformats.org/drawingml/2006/main">
            <a:off x="457200" y="4572000"/>
            <a:ext cx="11277600" cy="361950"/>
          </a:xfrm>
          <a:prstGeom xmlns:a="http://schemas.openxmlformats.org/drawingml/2006/main" prst="roundRect">
            <a:avLst>
              <a:gd name="adj" fmla="val 31579"/>
            </a:avLst>
          </a:prstGeom>
          <a:solidFill xmlns:a="http://schemas.openxmlformats.org/drawingml/2006/main">
            <a:srgbClr val="F5F8FA"/>
          </a:solidFill>
          <a:ln xmlns:a="http://schemas.openxmlformats.org/drawingml/2006/main" w="0">
            <a:noFill/>
          </a:ln>
        </p:spPr>
      </p:sp>
      <p:sp>
        <p:nvSpPr>
          <p:cNvPr id="48" name="">
            <a:extLst xmlns:a="http://schemas.openxmlformats.org/drawingml/2006/main">
              <a:ext uri="{FF2B5EF4-FFF2-40B4-BE49-F238E27FC236}">
                <a16:creationId xmlns:a16="http://schemas.microsoft.com/office/drawing/2014/main" id="{77535B5E-A19B-411B-9E55-8516F55EEDFB}"/>
              </a:ext>
            </a:extLst>
          </p:cNvPr>
          <p:cNvSpPr>
            <a:spLocks xmlns:a="http://schemas.openxmlformats.org/drawingml/2006/main" noGrp="1"/>
          </p:cNvSpPr>
          <p:nvPr/>
        </p:nvSpPr>
        <p:spPr>
          <a:xfrm xmlns:a="http://schemas.openxmlformats.org/drawingml/2006/main">
            <a:off x="581025" y="4619625"/>
            <a:ext cx="317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3A4B"/>
                </a:solidFill>
                <a:latin typeface="DejaVu Sans"/>
                <a:ea typeface="DejaVu Sans"/>
                <a:cs typeface="DejaVu Sans"/>
              </a:defRPr>
            </a:pPr>
            <a:r>
              <a:rPr sz="1350" b="1">
                <a:solidFill>
                  <a:srgbClr val="173A4B"/>
                </a:solidFill>
                <a:latin typeface="DejaVu Sans"/>
                <a:ea typeface="DejaVu Sans"/>
                <a:cs typeface="DejaVu Sans"/>
              </a:rPr>
              <a:t>Matrix (Tier 4)</a:t>
            </a:r>
          </a:p>
        </p:txBody>
      </p:sp>
      <p:sp>
        <p:nvSpPr>
          <p:cNvPr id="49" name="">
            <a:extLst xmlns:a="http://schemas.openxmlformats.org/drawingml/2006/main">
              <a:ext uri="{FF2B5EF4-FFF2-40B4-BE49-F238E27FC236}">
                <a16:creationId xmlns:a16="http://schemas.microsoft.com/office/drawing/2014/main" id="{E824BA6F-DE59-44E0-ADDA-4909A3C09ABB}"/>
              </a:ext>
            </a:extLst>
          </p:cNvPr>
          <p:cNvSpPr>
            <a:spLocks xmlns:a="http://schemas.openxmlformats.org/drawingml/2006/main" noGrp="1"/>
          </p:cNvSpPr>
          <p:nvPr/>
        </p:nvSpPr>
        <p:spPr>
          <a:xfrm xmlns:a="http://schemas.openxmlformats.org/drawingml/2006/main">
            <a:off x="3981450" y="46005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47B89"/>
                </a:solidFill>
                <a:latin typeface="DejaVu Sans"/>
                <a:ea typeface="DejaVu Sans"/>
                <a:cs typeface="DejaVu Sans"/>
              </a:defRPr>
            </a:pPr>
            <a:r>
              <a:rPr sz="1650" b="1">
                <a:solidFill>
                  <a:srgbClr val="647B89"/>
                </a:solidFill>
                <a:latin typeface="DejaVu Sans"/>
                <a:ea typeface="DejaVu Sans"/>
                <a:cs typeface="DejaVu Sans"/>
              </a:rPr>
              <a:t>NA</a:t>
            </a:r>
          </a:p>
        </p:txBody>
      </p:sp>
      <p:sp>
        <p:nvSpPr>
          <p:cNvPr id="50" name="">
            <a:extLst xmlns:a="http://schemas.openxmlformats.org/drawingml/2006/main">
              <a:ext uri="{FF2B5EF4-FFF2-40B4-BE49-F238E27FC236}">
                <a16:creationId xmlns:a16="http://schemas.microsoft.com/office/drawing/2014/main" id="{7F234D09-D048-4369-8EC5-5086BF3BCED7}"/>
              </a:ext>
            </a:extLst>
          </p:cNvPr>
          <p:cNvSpPr>
            <a:spLocks xmlns:a="http://schemas.openxmlformats.org/drawingml/2006/main" noGrp="1"/>
          </p:cNvSpPr>
          <p:nvPr/>
        </p:nvSpPr>
        <p:spPr>
          <a:xfrm xmlns:a="http://schemas.openxmlformats.org/drawingml/2006/main">
            <a:off x="5505450" y="46005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51" name="">
            <a:extLst xmlns:a="http://schemas.openxmlformats.org/drawingml/2006/main">
              <a:ext uri="{FF2B5EF4-FFF2-40B4-BE49-F238E27FC236}">
                <a16:creationId xmlns:a16="http://schemas.microsoft.com/office/drawing/2014/main" id="{4B9A8233-8DF3-4E86-B84E-8F141CC601EB}"/>
              </a:ext>
            </a:extLst>
          </p:cNvPr>
          <p:cNvSpPr>
            <a:spLocks xmlns:a="http://schemas.openxmlformats.org/drawingml/2006/main" noGrp="1"/>
          </p:cNvSpPr>
          <p:nvPr/>
        </p:nvSpPr>
        <p:spPr>
          <a:xfrm xmlns:a="http://schemas.openxmlformats.org/drawingml/2006/main">
            <a:off x="7029450" y="46005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47B89"/>
                </a:solidFill>
                <a:latin typeface="DejaVu Sans"/>
                <a:ea typeface="DejaVu Sans"/>
                <a:cs typeface="DejaVu Sans"/>
              </a:defRPr>
            </a:pPr>
            <a:r>
              <a:rPr sz="1650" b="1">
                <a:solidFill>
                  <a:srgbClr val="647B89"/>
                </a:solidFill>
                <a:latin typeface="DejaVu Sans"/>
                <a:ea typeface="DejaVu Sans"/>
                <a:cs typeface="DejaVu Sans"/>
              </a:rPr>
              <a:t>NA</a:t>
            </a:r>
          </a:p>
        </p:txBody>
      </p:sp>
      <p:sp>
        <p:nvSpPr>
          <p:cNvPr id="52" name="">
            <a:extLst xmlns:a="http://schemas.openxmlformats.org/drawingml/2006/main">
              <a:ext uri="{FF2B5EF4-FFF2-40B4-BE49-F238E27FC236}">
                <a16:creationId xmlns:a16="http://schemas.microsoft.com/office/drawing/2014/main" id="{EBE5B02A-4E18-4D76-A5B7-CFB8A42C6127}"/>
              </a:ext>
            </a:extLst>
          </p:cNvPr>
          <p:cNvSpPr>
            <a:spLocks xmlns:a="http://schemas.openxmlformats.org/drawingml/2006/main" noGrp="1"/>
          </p:cNvSpPr>
          <p:nvPr/>
        </p:nvSpPr>
        <p:spPr>
          <a:xfrm xmlns:a="http://schemas.openxmlformats.org/drawingml/2006/main">
            <a:off x="8553450" y="46005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53" name="">
            <a:extLst xmlns:a="http://schemas.openxmlformats.org/drawingml/2006/main">
              <a:ext uri="{FF2B5EF4-FFF2-40B4-BE49-F238E27FC236}">
                <a16:creationId xmlns:a16="http://schemas.microsoft.com/office/drawing/2014/main" id="{444F0EB2-639D-4DFD-91C4-4F3EBAA887E2}"/>
              </a:ext>
            </a:extLst>
          </p:cNvPr>
          <p:cNvSpPr>
            <a:spLocks xmlns:a="http://schemas.openxmlformats.org/drawingml/2006/main" noGrp="1"/>
          </p:cNvSpPr>
          <p:nvPr/>
        </p:nvSpPr>
        <p:spPr>
          <a:xfrm xmlns:a="http://schemas.openxmlformats.org/drawingml/2006/main">
            <a:off x="10077450" y="460057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47B89"/>
                </a:solidFill>
                <a:latin typeface="DejaVu Sans"/>
                <a:ea typeface="DejaVu Sans"/>
                <a:cs typeface="DejaVu Sans"/>
              </a:defRPr>
            </a:pPr>
            <a:r>
              <a:rPr sz="1275" b="1">
                <a:solidFill>
                  <a:srgbClr val="647B89"/>
                </a:solidFill>
                <a:latin typeface="DejaVu Sans"/>
                <a:ea typeface="DejaVu Sans"/>
                <a:cs typeface="DejaVu Sans"/>
              </a:rPr>
              <a:t>◉ Passive</a:t>
            </a:r>
          </a:p>
        </p:txBody>
      </p:sp>
      <p:sp>
        <p:nvSpPr>
          <p:cNvPr id="54" name="">
            <a:extLst xmlns:a="http://schemas.openxmlformats.org/drawingml/2006/main">
              <a:ext uri="{FF2B5EF4-FFF2-40B4-BE49-F238E27FC236}">
                <a16:creationId xmlns:a16="http://schemas.microsoft.com/office/drawing/2014/main" id="{5BB33772-C2A5-42E0-B048-E668B2DB003D}"/>
              </a:ext>
            </a:extLst>
          </p:cNvPr>
          <p:cNvSpPr>
            <a:spLocks xmlns:a="http://schemas.openxmlformats.org/drawingml/2006/main" noGrp="1"/>
          </p:cNvSpPr>
          <p:nvPr/>
        </p:nvSpPr>
        <p:spPr>
          <a:xfrm xmlns:a="http://schemas.openxmlformats.org/drawingml/2006/main">
            <a:off x="457200" y="4981575"/>
            <a:ext cx="11277600" cy="361950"/>
          </a:xfrm>
          <a:prstGeom xmlns:a="http://schemas.openxmlformats.org/drawingml/2006/main" prst="roundRect">
            <a:avLst>
              <a:gd name="adj" fmla="val 31579"/>
            </a:avLst>
          </a:prstGeom>
          <a:solidFill xmlns:a="http://schemas.openxmlformats.org/drawingml/2006/main">
            <a:srgbClr val="FFFFFF"/>
          </a:solidFill>
          <a:ln xmlns:a="http://schemas.openxmlformats.org/drawingml/2006/main" w="0">
            <a:noFill/>
          </a:ln>
        </p:spPr>
      </p:sp>
      <p:sp>
        <p:nvSpPr>
          <p:cNvPr id="55" name="">
            <a:extLst xmlns:a="http://schemas.openxmlformats.org/drawingml/2006/main">
              <a:ext uri="{FF2B5EF4-FFF2-40B4-BE49-F238E27FC236}">
                <a16:creationId xmlns:a16="http://schemas.microsoft.com/office/drawing/2014/main" id="{CE8CE119-86C6-446F-B637-C0C451293EB0}"/>
              </a:ext>
            </a:extLst>
          </p:cNvPr>
          <p:cNvSpPr>
            <a:spLocks xmlns:a="http://schemas.openxmlformats.org/drawingml/2006/main" noGrp="1"/>
          </p:cNvSpPr>
          <p:nvPr/>
        </p:nvSpPr>
        <p:spPr>
          <a:xfrm xmlns:a="http://schemas.openxmlformats.org/drawingml/2006/main">
            <a:off x="581025" y="5029200"/>
            <a:ext cx="317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3A4B"/>
                </a:solidFill>
                <a:latin typeface="DejaVu Sans"/>
                <a:ea typeface="DejaVu Sans"/>
                <a:cs typeface="DejaVu Sans"/>
              </a:defRPr>
            </a:pPr>
            <a:r>
              <a:rPr sz="1350" b="1">
                <a:solidFill>
                  <a:srgbClr val="173A4B"/>
                </a:solidFill>
                <a:latin typeface="DejaVu Sans"/>
                <a:ea typeface="DejaVu Sans"/>
                <a:cs typeface="DejaVu Sans"/>
              </a:rPr>
              <a:t>ICC Loyalty (DB)</a:t>
            </a:r>
          </a:p>
        </p:txBody>
      </p:sp>
      <p:sp>
        <p:nvSpPr>
          <p:cNvPr id="56" name="">
            <a:extLst xmlns:a="http://schemas.openxmlformats.org/drawingml/2006/main">
              <a:ext uri="{FF2B5EF4-FFF2-40B4-BE49-F238E27FC236}">
                <a16:creationId xmlns:a16="http://schemas.microsoft.com/office/drawing/2014/main" id="{D64F7FB7-AAB4-453C-A860-85EA21AF03FD}"/>
              </a:ext>
            </a:extLst>
          </p:cNvPr>
          <p:cNvSpPr>
            <a:spLocks xmlns:a="http://schemas.openxmlformats.org/drawingml/2006/main" noGrp="1"/>
          </p:cNvSpPr>
          <p:nvPr/>
        </p:nvSpPr>
        <p:spPr>
          <a:xfrm xmlns:a="http://schemas.openxmlformats.org/drawingml/2006/main">
            <a:off x="3981450" y="50101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47B89"/>
                </a:solidFill>
                <a:latin typeface="DejaVu Sans"/>
                <a:ea typeface="DejaVu Sans"/>
                <a:cs typeface="DejaVu Sans"/>
              </a:defRPr>
            </a:pPr>
            <a:r>
              <a:rPr sz="1650" b="1">
                <a:solidFill>
                  <a:srgbClr val="647B89"/>
                </a:solidFill>
                <a:latin typeface="DejaVu Sans"/>
                <a:ea typeface="DejaVu Sans"/>
                <a:cs typeface="DejaVu Sans"/>
              </a:rPr>
              <a:t>NA</a:t>
            </a:r>
          </a:p>
        </p:txBody>
      </p:sp>
      <p:sp>
        <p:nvSpPr>
          <p:cNvPr id="57" name="">
            <a:extLst xmlns:a="http://schemas.openxmlformats.org/drawingml/2006/main">
              <a:ext uri="{FF2B5EF4-FFF2-40B4-BE49-F238E27FC236}">
                <a16:creationId xmlns:a16="http://schemas.microsoft.com/office/drawing/2014/main" id="{0D8F173C-FD89-4A00-82DC-D29EEAF4D584}"/>
              </a:ext>
            </a:extLst>
          </p:cNvPr>
          <p:cNvSpPr>
            <a:spLocks xmlns:a="http://schemas.openxmlformats.org/drawingml/2006/main" noGrp="1"/>
          </p:cNvSpPr>
          <p:nvPr/>
        </p:nvSpPr>
        <p:spPr>
          <a:xfrm xmlns:a="http://schemas.openxmlformats.org/drawingml/2006/main">
            <a:off x="5505450" y="50101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58" name="">
            <a:extLst xmlns:a="http://schemas.openxmlformats.org/drawingml/2006/main">
              <a:ext uri="{FF2B5EF4-FFF2-40B4-BE49-F238E27FC236}">
                <a16:creationId xmlns:a16="http://schemas.microsoft.com/office/drawing/2014/main" id="{80A8635A-F0EE-49F0-981A-2518084FA043}"/>
              </a:ext>
            </a:extLst>
          </p:cNvPr>
          <p:cNvSpPr>
            <a:spLocks xmlns:a="http://schemas.openxmlformats.org/drawingml/2006/main" noGrp="1"/>
          </p:cNvSpPr>
          <p:nvPr/>
        </p:nvSpPr>
        <p:spPr>
          <a:xfrm xmlns:a="http://schemas.openxmlformats.org/drawingml/2006/main">
            <a:off x="7029450" y="50101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47B89"/>
                </a:solidFill>
                <a:latin typeface="DejaVu Sans"/>
                <a:ea typeface="DejaVu Sans"/>
                <a:cs typeface="DejaVu Sans"/>
              </a:defRPr>
            </a:pPr>
            <a:r>
              <a:rPr sz="1650" b="1">
                <a:solidFill>
                  <a:srgbClr val="647B89"/>
                </a:solidFill>
                <a:latin typeface="DejaVu Sans"/>
                <a:ea typeface="DejaVu Sans"/>
                <a:cs typeface="DejaVu Sans"/>
              </a:rPr>
              <a:t>NA</a:t>
            </a:r>
          </a:p>
        </p:txBody>
      </p:sp>
      <p:sp>
        <p:nvSpPr>
          <p:cNvPr id="59" name="">
            <a:extLst xmlns:a="http://schemas.openxmlformats.org/drawingml/2006/main">
              <a:ext uri="{FF2B5EF4-FFF2-40B4-BE49-F238E27FC236}">
                <a16:creationId xmlns:a16="http://schemas.microsoft.com/office/drawing/2014/main" id="{0F444577-A3CA-46B1-9205-D97D8D333BE7}"/>
              </a:ext>
            </a:extLst>
          </p:cNvPr>
          <p:cNvSpPr>
            <a:spLocks xmlns:a="http://schemas.openxmlformats.org/drawingml/2006/main" noGrp="1"/>
          </p:cNvSpPr>
          <p:nvPr/>
        </p:nvSpPr>
        <p:spPr>
          <a:xfrm xmlns:a="http://schemas.openxmlformats.org/drawingml/2006/main">
            <a:off x="8553450" y="50101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60" name="">
            <a:extLst xmlns:a="http://schemas.openxmlformats.org/drawingml/2006/main">
              <a:ext uri="{FF2B5EF4-FFF2-40B4-BE49-F238E27FC236}">
                <a16:creationId xmlns:a16="http://schemas.microsoft.com/office/drawing/2014/main" id="{F960364E-A62D-49C2-AF63-2D9BF538FDAA}"/>
              </a:ext>
            </a:extLst>
          </p:cNvPr>
          <p:cNvSpPr>
            <a:spLocks xmlns:a="http://schemas.openxmlformats.org/drawingml/2006/main" noGrp="1"/>
          </p:cNvSpPr>
          <p:nvPr/>
        </p:nvSpPr>
        <p:spPr>
          <a:xfrm xmlns:a="http://schemas.openxmlformats.org/drawingml/2006/main">
            <a:off x="10077450" y="5010150"/>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47B89"/>
                </a:solidFill>
                <a:latin typeface="DejaVu Sans"/>
                <a:ea typeface="DejaVu Sans"/>
                <a:cs typeface="DejaVu Sans"/>
              </a:defRPr>
            </a:pPr>
            <a:r>
              <a:rPr sz="1275" b="1">
                <a:solidFill>
                  <a:srgbClr val="647B89"/>
                </a:solidFill>
                <a:latin typeface="DejaVu Sans"/>
                <a:ea typeface="DejaVu Sans"/>
                <a:cs typeface="DejaVu Sans"/>
              </a:rPr>
              <a:t>◉ Passive</a:t>
            </a:r>
          </a:p>
        </p:txBody>
      </p:sp>
      <p:sp>
        <p:nvSpPr>
          <p:cNvPr id="61" name="">
            <a:extLst xmlns:a="http://schemas.openxmlformats.org/drawingml/2006/main">
              <a:ext uri="{FF2B5EF4-FFF2-40B4-BE49-F238E27FC236}">
                <a16:creationId xmlns:a16="http://schemas.microsoft.com/office/drawing/2014/main" id="{80DE3793-D279-4E4C-9A68-0B7E1BDD40F2}"/>
              </a:ext>
            </a:extLst>
          </p:cNvPr>
          <p:cNvSpPr>
            <a:spLocks xmlns:a="http://schemas.openxmlformats.org/drawingml/2006/main" noGrp="1"/>
          </p:cNvSpPr>
          <p:nvPr/>
        </p:nvSpPr>
        <p:spPr>
          <a:xfrm xmlns:a="http://schemas.openxmlformats.org/drawingml/2006/main">
            <a:off x="457200" y="5391150"/>
            <a:ext cx="11277600" cy="361950"/>
          </a:xfrm>
          <a:prstGeom xmlns:a="http://schemas.openxmlformats.org/drawingml/2006/main" prst="roundRect">
            <a:avLst>
              <a:gd name="adj" fmla="val 31579"/>
            </a:avLst>
          </a:prstGeom>
          <a:solidFill xmlns:a="http://schemas.openxmlformats.org/drawingml/2006/main">
            <a:srgbClr val="F5F8FA"/>
          </a:solidFill>
          <a:ln xmlns:a="http://schemas.openxmlformats.org/drawingml/2006/main" w="0">
            <a:noFill/>
          </a:ln>
        </p:spPr>
      </p:sp>
      <p:sp>
        <p:nvSpPr>
          <p:cNvPr id="62" name="">
            <a:extLst xmlns:a="http://schemas.openxmlformats.org/drawingml/2006/main">
              <a:ext uri="{FF2B5EF4-FFF2-40B4-BE49-F238E27FC236}">
                <a16:creationId xmlns:a16="http://schemas.microsoft.com/office/drawing/2014/main" id="{60688ABE-1242-485C-853D-41A3DD0779D1}"/>
              </a:ext>
            </a:extLst>
          </p:cNvPr>
          <p:cNvSpPr>
            <a:spLocks xmlns:a="http://schemas.openxmlformats.org/drawingml/2006/main" noGrp="1"/>
          </p:cNvSpPr>
          <p:nvPr/>
        </p:nvSpPr>
        <p:spPr>
          <a:xfrm xmlns:a="http://schemas.openxmlformats.org/drawingml/2006/main">
            <a:off x="581025" y="5438775"/>
            <a:ext cx="3171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1">
                <a:solidFill>
                  <a:srgbClr val="173A4B"/>
                </a:solidFill>
                <a:latin typeface="DejaVu Sans"/>
                <a:ea typeface="DejaVu Sans"/>
                <a:cs typeface="DejaVu Sans"/>
              </a:defRPr>
            </a:pPr>
            <a:r>
              <a:rPr sz="1350" b="1">
                <a:solidFill>
                  <a:srgbClr val="173A4B"/>
                </a:solidFill>
                <a:latin typeface="DejaVu Sans"/>
                <a:ea typeface="DejaVu Sans"/>
                <a:cs typeface="DejaVu Sans"/>
              </a:rPr>
              <a:t>KAL</a:t>
            </a:r>
          </a:p>
        </p:txBody>
      </p:sp>
      <p:sp>
        <p:nvSpPr>
          <p:cNvPr id="63" name="">
            <a:extLst xmlns:a="http://schemas.openxmlformats.org/drawingml/2006/main">
              <a:ext uri="{FF2B5EF4-FFF2-40B4-BE49-F238E27FC236}">
                <a16:creationId xmlns:a16="http://schemas.microsoft.com/office/drawing/2014/main" id="{4B480D65-366F-4F33-A4C3-AE05884BF020}"/>
              </a:ext>
            </a:extLst>
          </p:cNvPr>
          <p:cNvSpPr>
            <a:spLocks xmlns:a="http://schemas.openxmlformats.org/drawingml/2006/main" noGrp="1"/>
          </p:cNvSpPr>
          <p:nvPr/>
        </p:nvSpPr>
        <p:spPr>
          <a:xfrm xmlns:a="http://schemas.openxmlformats.org/drawingml/2006/main">
            <a:off x="3981450" y="54197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647B89"/>
                </a:solidFill>
                <a:latin typeface="DejaVu Sans"/>
                <a:ea typeface="DejaVu Sans"/>
                <a:cs typeface="DejaVu Sans"/>
              </a:defRPr>
            </a:pPr>
            <a:r>
              <a:rPr sz="1650" b="1">
                <a:solidFill>
                  <a:srgbClr val="647B89"/>
                </a:solidFill>
                <a:latin typeface="DejaVu Sans"/>
                <a:ea typeface="DejaVu Sans"/>
                <a:cs typeface="DejaVu Sans"/>
              </a:rPr>
              <a:t>NA</a:t>
            </a:r>
          </a:p>
        </p:txBody>
      </p:sp>
      <p:sp>
        <p:nvSpPr>
          <p:cNvPr id="64" name="">
            <a:extLst xmlns:a="http://schemas.openxmlformats.org/drawingml/2006/main">
              <a:ext uri="{FF2B5EF4-FFF2-40B4-BE49-F238E27FC236}">
                <a16:creationId xmlns:a16="http://schemas.microsoft.com/office/drawing/2014/main" id="{DF942422-E8C2-4EBE-B90E-3AFBAB9B65D8}"/>
              </a:ext>
            </a:extLst>
          </p:cNvPr>
          <p:cNvSpPr>
            <a:spLocks xmlns:a="http://schemas.openxmlformats.org/drawingml/2006/main" noGrp="1"/>
          </p:cNvSpPr>
          <p:nvPr/>
        </p:nvSpPr>
        <p:spPr>
          <a:xfrm xmlns:a="http://schemas.openxmlformats.org/drawingml/2006/main">
            <a:off x="5505450" y="54197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65" name="">
            <a:extLst xmlns:a="http://schemas.openxmlformats.org/drawingml/2006/main">
              <a:ext uri="{FF2B5EF4-FFF2-40B4-BE49-F238E27FC236}">
                <a16:creationId xmlns:a16="http://schemas.microsoft.com/office/drawing/2014/main" id="{33C1873D-2B88-429E-98DC-B13F5595618A}"/>
              </a:ext>
            </a:extLst>
          </p:cNvPr>
          <p:cNvSpPr>
            <a:spLocks xmlns:a="http://schemas.openxmlformats.org/drawingml/2006/main" noGrp="1"/>
          </p:cNvSpPr>
          <p:nvPr/>
        </p:nvSpPr>
        <p:spPr>
          <a:xfrm xmlns:a="http://schemas.openxmlformats.org/drawingml/2006/main">
            <a:off x="7029450" y="54197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D35373"/>
                </a:solidFill>
                <a:latin typeface="DejaVu Sans"/>
                <a:ea typeface="DejaVu Sans"/>
                <a:cs typeface="DejaVu Sans"/>
              </a:defRPr>
            </a:pPr>
            <a:r>
              <a:rPr sz="1650" b="1">
                <a:solidFill>
                  <a:srgbClr val="D35373"/>
                </a:solidFill>
                <a:latin typeface="DejaVu Sans"/>
                <a:ea typeface="DejaVu Sans"/>
                <a:cs typeface="DejaVu Sans"/>
              </a:rPr>
              <a:t>×</a:t>
            </a:r>
          </a:p>
        </p:txBody>
      </p:sp>
      <p:sp>
        <p:nvSpPr>
          <p:cNvPr id="66" name="">
            <a:extLst xmlns:a="http://schemas.openxmlformats.org/drawingml/2006/main">
              <a:ext uri="{FF2B5EF4-FFF2-40B4-BE49-F238E27FC236}">
                <a16:creationId xmlns:a16="http://schemas.microsoft.com/office/drawing/2014/main" id="{C2F3E626-09BA-4AC4-B9E7-3B6767A5D8B2}"/>
              </a:ext>
            </a:extLst>
          </p:cNvPr>
          <p:cNvSpPr>
            <a:spLocks xmlns:a="http://schemas.openxmlformats.org/drawingml/2006/main" noGrp="1"/>
          </p:cNvSpPr>
          <p:nvPr/>
        </p:nvSpPr>
        <p:spPr>
          <a:xfrm xmlns:a="http://schemas.openxmlformats.org/drawingml/2006/main">
            <a:off x="8553450" y="54197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a:t>
            </a:r>
          </a:p>
        </p:txBody>
      </p:sp>
      <p:sp>
        <p:nvSpPr>
          <p:cNvPr id="67" name="">
            <a:extLst xmlns:a="http://schemas.openxmlformats.org/drawingml/2006/main">
              <a:ext uri="{FF2B5EF4-FFF2-40B4-BE49-F238E27FC236}">
                <a16:creationId xmlns:a16="http://schemas.microsoft.com/office/drawing/2014/main" id="{4FBB4684-9E98-4BE1-ACFE-31F45D48B293}"/>
              </a:ext>
            </a:extLst>
          </p:cNvPr>
          <p:cNvSpPr>
            <a:spLocks xmlns:a="http://schemas.openxmlformats.org/drawingml/2006/main" noGrp="1"/>
          </p:cNvSpPr>
          <p:nvPr/>
        </p:nvSpPr>
        <p:spPr>
          <a:xfrm xmlns:a="http://schemas.openxmlformats.org/drawingml/2006/main">
            <a:off x="10077450" y="5419725"/>
            <a:ext cx="13811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647B89"/>
                </a:solidFill>
                <a:latin typeface="DejaVu Sans"/>
                <a:ea typeface="DejaVu Sans"/>
                <a:cs typeface="DejaVu Sans"/>
              </a:defRPr>
            </a:pPr>
            <a:r>
              <a:rPr sz="1275" b="1">
                <a:solidFill>
                  <a:srgbClr val="647B89"/>
                </a:solidFill>
                <a:latin typeface="DejaVu Sans"/>
                <a:ea typeface="DejaVu Sans"/>
                <a:cs typeface="DejaVu Sans"/>
              </a:rPr>
              <a:t>◉ Passive</a:t>
            </a:r>
          </a:p>
        </p:txBody>
      </p:sp>
      <p:sp>
        <p:nvSpPr>
          <p:cNvPr id="68" name="">
            <a:extLst xmlns:a="http://schemas.openxmlformats.org/drawingml/2006/main">
              <a:ext uri="{FF2B5EF4-FFF2-40B4-BE49-F238E27FC236}">
                <a16:creationId xmlns:a16="http://schemas.microsoft.com/office/drawing/2014/main" id="{515A7487-3696-4242-B6BC-D3AC2932306E}"/>
              </a:ext>
            </a:extLst>
          </p:cNvPr>
          <p:cNvSpPr>
            <a:spLocks xmlns:a="http://schemas.openxmlformats.org/drawingml/2006/main" noGrp="1"/>
          </p:cNvSpPr>
          <p:nvPr/>
        </p:nvSpPr>
        <p:spPr>
          <a:xfrm xmlns:a="http://schemas.openxmlformats.org/drawingml/2006/main">
            <a:off x="457200" y="5953125"/>
            <a:ext cx="112776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647B89"/>
                </a:solidFill>
                <a:latin typeface="DejaVu Sans"/>
                <a:ea typeface="DejaVu Sans"/>
                <a:cs typeface="DejaVu Sans"/>
              </a:defRPr>
            </a:pPr>
            <a:r>
              <a:rPr sz="1350" b="0">
                <a:solidFill>
                  <a:srgbClr val="647B89"/>
                </a:solidFill>
                <a:latin typeface="DejaVu Sans"/>
                <a:ea typeface="DejaVu Sans"/>
                <a:cs typeface="DejaVu Sans"/>
              </a:rPr>
              <a:t>✓ Confirmed     × Denied     ◉ Passive DR     NA Not applicable</a:t>
            </a:r>
          </a:p>
        </p:txBody>
      </p:sp>
    </p:spTree>
    <p:extLst>
      <p:ext uri="{BB962C8B-B14F-4D97-AF65-F5344CB8AC3E}">
        <p14:creationId xmlns:p14="http://schemas.microsoft.com/office/powerpoint/2010/main" val="710869550"/>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DBDAA39-7F9F-47CD-9CA1-0F49F4BE5460}"/>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D88E781B-A76B-4EE3-9DD5-540796DB9F31}"/>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Resiliency infrastructure: website, SMS, HFLMS and loyalty</a:t>
            </a:r>
          </a:p>
        </p:txBody>
      </p:sp>
      <p:sp>
        <p:nvSpPr>
          <p:cNvPr id="3" name="">
            <a:extLst xmlns:a="http://schemas.openxmlformats.org/drawingml/2006/main">
              <a:ext uri="{FF2B5EF4-FFF2-40B4-BE49-F238E27FC236}">
                <a16:creationId xmlns:a16="http://schemas.microsoft.com/office/drawing/2014/main" id="{73859DF2-1F8E-4F66-A11B-6F86930B12BF}"/>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Source server totals include requested environments. Staging entries appear as provisioning denied.</a:t>
            </a:r>
          </a:p>
        </p:txBody>
      </p:sp>
      <p:sp>
        <p:nvSpPr>
          <p:cNvPr id="4" name="">
            <a:extLst xmlns:a="http://schemas.openxmlformats.org/drawingml/2006/main">
              <a:ext uri="{FF2B5EF4-FFF2-40B4-BE49-F238E27FC236}">
                <a16:creationId xmlns:a16="http://schemas.microsoft.com/office/drawing/2014/main" id="{918104C3-E188-4C9E-8D30-DCA7D9840D0E}"/>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2170C0EE-AD56-42FC-A82E-4CBA773A253E}"/>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36</a:t>
            </a:r>
          </a:p>
        </p:txBody>
      </p:sp>
      <p:sp>
        <p:nvSpPr>
          <p:cNvPr id="6" name="">
            <a:extLst xmlns:a="http://schemas.openxmlformats.org/drawingml/2006/main">
              <a:ext uri="{FF2B5EF4-FFF2-40B4-BE49-F238E27FC236}">
                <a16:creationId xmlns:a16="http://schemas.microsoft.com/office/drawing/2014/main" id="{B2EA0E81-D484-4143-9363-8CF3DB9B3248}"/>
              </a:ext>
            </a:extLst>
          </p:cNvPr>
          <p:cNvSpPr>
            <a:spLocks xmlns:a="http://schemas.openxmlformats.org/drawingml/2006/main" noGrp="1"/>
          </p:cNvSpPr>
          <p:nvPr/>
        </p:nvSpPr>
        <p:spPr>
          <a:xfrm xmlns:a="http://schemas.openxmlformats.org/drawingml/2006/main">
            <a:off x="457200" y="2114550"/>
            <a:ext cx="5543550" cy="1933575"/>
          </a:xfrm>
          <a:prstGeom xmlns:a="http://schemas.openxmlformats.org/drawingml/2006/main" prst="roundRect">
            <a:avLst>
              <a:gd name="adj" fmla="val 5911"/>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9DE79692-B975-43B5-83B2-BF17599A1065}"/>
              </a:ext>
            </a:extLst>
          </p:cNvPr>
          <p:cNvSpPr>
            <a:spLocks xmlns:a="http://schemas.openxmlformats.org/drawingml/2006/main" noGrp="1"/>
          </p:cNvSpPr>
          <p:nvPr/>
        </p:nvSpPr>
        <p:spPr>
          <a:xfrm xmlns:a="http://schemas.openxmlformats.org/drawingml/2006/main">
            <a:off x="609600" y="22288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DIB Website   26 servers</a:t>
            </a:r>
          </a:p>
        </p:txBody>
      </p:sp>
      <p:sp>
        <p:nvSpPr>
          <p:cNvPr id="8" name="">
            <a:extLst xmlns:a="http://schemas.openxmlformats.org/drawingml/2006/main">
              <a:ext uri="{FF2B5EF4-FFF2-40B4-BE49-F238E27FC236}">
                <a16:creationId xmlns:a16="http://schemas.microsoft.com/office/drawing/2014/main" id="{CA9C1DB0-5FD8-4F7D-9153-14BAF2933B66}"/>
              </a:ext>
            </a:extLst>
          </p:cNvPr>
          <p:cNvSpPr>
            <a:spLocks xmlns:a="http://schemas.openxmlformats.org/drawingml/2006/main" noGrp="1"/>
          </p:cNvSpPr>
          <p:nvPr/>
        </p:nvSpPr>
        <p:spPr>
          <a:xfrm xmlns:a="http://schemas.openxmlformats.org/drawingml/2006/main">
            <a:off x="609600" y="272415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NP / STG / PROD / DR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1 / 3 / 3 / 3</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Database: 1 / 3 / 3 / 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Web: 1 / 2 / 2 / 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Storage total: 6,768</a:t>
            </a:r>
          </a:p>
        </p:txBody>
      </p:sp>
      <p:sp>
        <p:nvSpPr>
          <p:cNvPr id="9" name="">
            <a:extLst xmlns:a="http://schemas.openxmlformats.org/drawingml/2006/main">
              <a:ext uri="{FF2B5EF4-FFF2-40B4-BE49-F238E27FC236}">
                <a16:creationId xmlns:a16="http://schemas.microsoft.com/office/drawing/2014/main" id="{8064B116-56EB-43A6-A3D7-7341075F00A2}"/>
              </a:ext>
            </a:extLst>
          </p:cNvPr>
          <p:cNvSpPr>
            <a:spLocks xmlns:a="http://schemas.openxmlformats.org/drawingml/2006/main" noGrp="1"/>
          </p:cNvSpPr>
          <p:nvPr/>
        </p:nvSpPr>
        <p:spPr>
          <a:xfrm xmlns:a="http://schemas.openxmlformats.org/drawingml/2006/main">
            <a:off x="6172200" y="2114550"/>
            <a:ext cx="5543550" cy="1933575"/>
          </a:xfrm>
          <a:prstGeom xmlns:a="http://schemas.openxmlformats.org/drawingml/2006/main" prst="roundRect">
            <a:avLst>
              <a:gd name="adj" fmla="val 5911"/>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C76E03AF-1C61-4FDC-9283-7BB346E91272}"/>
              </a:ext>
            </a:extLst>
          </p:cNvPr>
          <p:cNvSpPr>
            <a:spLocks xmlns:a="http://schemas.openxmlformats.org/drawingml/2006/main" noGrp="1"/>
          </p:cNvSpPr>
          <p:nvPr/>
        </p:nvSpPr>
        <p:spPr>
          <a:xfrm xmlns:a="http://schemas.openxmlformats.org/drawingml/2006/main">
            <a:off x="6324600" y="22288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Ducont SMS   12 servers</a:t>
            </a:r>
          </a:p>
        </p:txBody>
      </p:sp>
      <p:sp>
        <p:nvSpPr>
          <p:cNvPr id="11" name="">
            <a:extLst xmlns:a="http://schemas.openxmlformats.org/drawingml/2006/main">
              <a:ext uri="{FF2B5EF4-FFF2-40B4-BE49-F238E27FC236}">
                <a16:creationId xmlns:a16="http://schemas.microsoft.com/office/drawing/2014/main" id="{CF5954CE-BE20-45A1-9D79-2C4DC7F711CC}"/>
              </a:ext>
            </a:extLst>
          </p:cNvPr>
          <p:cNvSpPr>
            <a:spLocks xmlns:a="http://schemas.openxmlformats.org/drawingml/2006/main" noGrp="1"/>
          </p:cNvSpPr>
          <p:nvPr/>
        </p:nvSpPr>
        <p:spPr>
          <a:xfrm xmlns:a="http://schemas.openxmlformats.org/drawingml/2006/main">
            <a:off x="6324600" y="272415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NP / STG / PROD / DR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1 / 2 / – / –</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Database: 1 / 3 / 3 / 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Storage total: 13,550</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Programme scope: DB cluster</a:t>
            </a:r>
          </a:p>
        </p:txBody>
      </p:sp>
      <p:sp>
        <p:nvSpPr>
          <p:cNvPr id="12" name="">
            <a:extLst xmlns:a="http://schemas.openxmlformats.org/drawingml/2006/main">
              <a:ext uri="{FF2B5EF4-FFF2-40B4-BE49-F238E27FC236}">
                <a16:creationId xmlns:a16="http://schemas.microsoft.com/office/drawing/2014/main" id="{F93A4A17-3FC0-48DA-95E9-7FC024699DE9}"/>
              </a:ext>
            </a:extLst>
          </p:cNvPr>
          <p:cNvSpPr>
            <a:spLocks xmlns:a="http://schemas.openxmlformats.org/drawingml/2006/main" noGrp="1"/>
          </p:cNvSpPr>
          <p:nvPr/>
        </p:nvSpPr>
        <p:spPr>
          <a:xfrm xmlns:a="http://schemas.openxmlformats.org/drawingml/2006/main">
            <a:off x="457200" y="4181475"/>
            <a:ext cx="5543550" cy="1933575"/>
          </a:xfrm>
          <a:prstGeom xmlns:a="http://schemas.openxmlformats.org/drawingml/2006/main" prst="roundRect">
            <a:avLst>
              <a:gd name="adj" fmla="val 5911"/>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B365E2DD-FDFA-4D1F-8826-6F4D918D9A76}"/>
              </a:ext>
            </a:extLst>
          </p:cNvPr>
          <p:cNvSpPr>
            <a:spLocks xmlns:a="http://schemas.openxmlformats.org/drawingml/2006/main" noGrp="1"/>
          </p:cNvSpPr>
          <p:nvPr/>
        </p:nvSpPr>
        <p:spPr>
          <a:xfrm xmlns:a="http://schemas.openxmlformats.org/drawingml/2006/main">
            <a:off x="609600" y="42957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75BC5"/>
                </a:solidFill>
                <a:latin typeface="DejaVu Sans"/>
                <a:ea typeface="DejaVu Sans"/>
                <a:cs typeface="DejaVu Sans"/>
              </a:defRPr>
            </a:pPr>
            <a:r>
              <a:rPr sz="1650" b="1">
                <a:solidFill>
                  <a:srgbClr val="875BC5"/>
                </a:solidFill>
                <a:latin typeface="DejaVu Sans"/>
                <a:ea typeface="DejaVu Sans"/>
                <a:cs typeface="DejaVu Sans"/>
              </a:rPr>
              <a:t>HFLMS   19 servers</a:t>
            </a:r>
          </a:p>
        </p:txBody>
      </p:sp>
      <p:sp>
        <p:nvSpPr>
          <p:cNvPr id="14" name="">
            <a:extLst xmlns:a="http://schemas.openxmlformats.org/drawingml/2006/main">
              <a:ext uri="{FF2B5EF4-FFF2-40B4-BE49-F238E27FC236}">
                <a16:creationId xmlns:a16="http://schemas.microsoft.com/office/drawing/2014/main" id="{C338F216-0A83-4FCE-9027-4EA072CA2E4A}"/>
              </a:ext>
            </a:extLst>
          </p:cNvPr>
          <p:cNvSpPr>
            <a:spLocks xmlns:a="http://schemas.openxmlformats.org/drawingml/2006/main" noGrp="1"/>
          </p:cNvSpPr>
          <p:nvPr/>
        </p:nvSpPr>
        <p:spPr>
          <a:xfrm xmlns:a="http://schemas.openxmlformats.org/drawingml/2006/main">
            <a:off x="609600" y="4791075"/>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NP / STG / PROD / DR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2 / 2 / – / 5</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Database: 2 / 3 / 3 / 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Storage total: 40,226</a:t>
            </a:r>
          </a:p>
        </p:txBody>
      </p:sp>
      <p:sp>
        <p:nvSpPr>
          <p:cNvPr id="15" name="">
            <a:extLst xmlns:a="http://schemas.openxmlformats.org/drawingml/2006/main">
              <a:ext uri="{FF2B5EF4-FFF2-40B4-BE49-F238E27FC236}">
                <a16:creationId xmlns:a16="http://schemas.microsoft.com/office/drawing/2014/main" id="{C26C9D80-2D74-4A27-8706-8AA9EA9C24E1}"/>
              </a:ext>
            </a:extLst>
          </p:cNvPr>
          <p:cNvSpPr>
            <a:spLocks xmlns:a="http://schemas.openxmlformats.org/drawingml/2006/main" noGrp="1"/>
          </p:cNvSpPr>
          <p:nvPr/>
        </p:nvSpPr>
        <p:spPr>
          <a:xfrm xmlns:a="http://schemas.openxmlformats.org/drawingml/2006/main">
            <a:off x="6172200" y="4181475"/>
            <a:ext cx="5543550" cy="1933575"/>
          </a:xfrm>
          <a:prstGeom xmlns:a="http://schemas.openxmlformats.org/drawingml/2006/main" prst="roundRect">
            <a:avLst>
              <a:gd name="adj" fmla="val 5911"/>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8F74DDAF-1A0E-468B-B0E7-3BB8387AF8C2}"/>
              </a:ext>
            </a:extLst>
          </p:cNvPr>
          <p:cNvSpPr>
            <a:spLocks xmlns:a="http://schemas.openxmlformats.org/drawingml/2006/main" noGrp="1"/>
          </p:cNvSpPr>
          <p:nvPr/>
        </p:nvSpPr>
        <p:spPr>
          <a:xfrm xmlns:a="http://schemas.openxmlformats.org/drawingml/2006/main">
            <a:off x="6324600" y="42957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ICC Loyalty   3 servers</a:t>
            </a:r>
          </a:p>
        </p:txBody>
      </p:sp>
      <p:sp>
        <p:nvSpPr>
          <p:cNvPr id="17" name="">
            <a:extLst xmlns:a="http://schemas.openxmlformats.org/drawingml/2006/main">
              <a:ext uri="{FF2B5EF4-FFF2-40B4-BE49-F238E27FC236}">
                <a16:creationId xmlns:a16="http://schemas.microsoft.com/office/drawing/2014/main" id="{FE49E66E-E663-467A-8E7E-326D4A7901AA}"/>
              </a:ext>
            </a:extLst>
          </p:cNvPr>
          <p:cNvSpPr>
            <a:spLocks xmlns:a="http://schemas.openxmlformats.org/drawingml/2006/main" noGrp="1"/>
          </p:cNvSpPr>
          <p:nvPr/>
        </p:nvSpPr>
        <p:spPr>
          <a:xfrm xmlns:a="http://schemas.openxmlformats.org/drawingml/2006/main">
            <a:off x="6324600" y="4791075"/>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NP / STG / PROD / DR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Database: 1 / – / 1 / 1</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Storage total: 6,648</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Programme scope: DB only</a:t>
            </a:r>
          </a:p>
        </p:txBody>
      </p:sp>
    </p:spTree>
    <p:extLst>
      <p:ext uri="{BB962C8B-B14F-4D97-AF65-F5344CB8AC3E}">
        <p14:creationId xmlns:p14="http://schemas.microsoft.com/office/powerpoint/2010/main" val="965941258"/>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8F2729D3-649D-4C5B-9ED8-4FB15D5E9000}"/>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A9EB0EF9-476A-412A-8AD1-09EEBB48E9A6}"/>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Resiliency infrastructure: IB, KAL, Matrix and Omni</a:t>
            </a:r>
          </a:p>
        </p:txBody>
      </p:sp>
      <p:sp>
        <p:nvSpPr>
          <p:cNvPr id="3" name="">
            <a:extLst xmlns:a="http://schemas.openxmlformats.org/drawingml/2006/main">
              <a:ext uri="{FF2B5EF4-FFF2-40B4-BE49-F238E27FC236}">
                <a16:creationId xmlns:a16="http://schemas.microsoft.com/office/drawing/2014/main" id="{2EABB368-CD35-48CD-AF09-A1562782051A}"/>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Infrastructure design quantities remain separate from operational platform health measures.</a:t>
            </a:r>
          </a:p>
        </p:txBody>
      </p:sp>
      <p:sp>
        <p:nvSpPr>
          <p:cNvPr id="4" name="">
            <a:extLst xmlns:a="http://schemas.openxmlformats.org/drawingml/2006/main">
              <a:ext uri="{FF2B5EF4-FFF2-40B4-BE49-F238E27FC236}">
                <a16:creationId xmlns:a16="http://schemas.microsoft.com/office/drawing/2014/main" id="{A2B09E54-14DD-4539-A3E4-5C05AE5681F7}"/>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EFE5ECF2-B0D6-49B4-9ADC-77613C2244C7}"/>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37</a:t>
            </a:r>
          </a:p>
        </p:txBody>
      </p:sp>
      <p:sp>
        <p:nvSpPr>
          <p:cNvPr id="6" name="">
            <a:extLst xmlns:a="http://schemas.openxmlformats.org/drawingml/2006/main">
              <a:ext uri="{FF2B5EF4-FFF2-40B4-BE49-F238E27FC236}">
                <a16:creationId xmlns:a16="http://schemas.microsoft.com/office/drawing/2014/main" id="{234C2E3C-E185-4853-9DCF-87BAFE70F55B}"/>
              </a:ext>
            </a:extLst>
          </p:cNvPr>
          <p:cNvSpPr>
            <a:spLocks xmlns:a="http://schemas.openxmlformats.org/drawingml/2006/main" noGrp="1"/>
          </p:cNvSpPr>
          <p:nvPr/>
        </p:nvSpPr>
        <p:spPr>
          <a:xfrm xmlns:a="http://schemas.openxmlformats.org/drawingml/2006/main">
            <a:off x="457200" y="2114550"/>
            <a:ext cx="5543550" cy="1933575"/>
          </a:xfrm>
          <a:prstGeom xmlns:a="http://schemas.openxmlformats.org/drawingml/2006/main" prst="roundRect">
            <a:avLst>
              <a:gd name="adj" fmla="val 5911"/>
            </a:avLst>
          </a:prstGeom>
          <a:solidFill xmlns:a="http://schemas.openxmlformats.org/drawingml/2006/main">
            <a:srgbClr val="E6F6F0"/>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B7AFDF8-7A7F-4ED1-8006-0DC8C61D249C}"/>
              </a:ext>
            </a:extLst>
          </p:cNvPr>
          <p:cNvSpPr>
            <a:spLocks xmlns:a="http://schemas.openxmlformats.org/drawingml/2006/main" noGrp="1"/>
          </p:cNvSpPr>
          <p:nvPr/>
        </p:nvSpPr>
        <p:spPr>
          <a:xfrm xmlns:a="http://schemas.openxmlformats.org/drawingml/2006/main">
            <a:off x="609600" y="22288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Internet Banking   42 servers</a:t>
            </a:r>
          </a:p>
        </p:txBody>
      </p:sp>
      <p:sp>
        <p:nvSpPr>
          <p:cNvPr id="8" name="">
            <a:extLst xmlns:a="http://schemas.openxmlformats.org/drawingml/2006/main">
              <a:ext uri="{FF2B5EF4-FFF2-40B4-BE49-F238E27FC236}">
                <a16:creationId xmlns:a16="http://schemas.microsoft.com/office/drawing/2014/main" id="{A780E172-9698-4A47-9AD3-133B449105D9}"/>
              </a:ext>
            </a:extLst>
          </p:cNvPr>
          <p:cNvSpPr>
            <a:spLocks xmlns:a="http://schemas.openxmlformats.org/drawingml/2006/main" noGrp="1"/>
          </p:cNvSpPr>
          <p:nvPr/>
        </p:nvSpPr>
        <p:spPr>
          <a:xfrm xmlns:a="http://schemas.openxmlformats.org/drawingml/2006/main">
            <a:off x="609600" y="272415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NP / STG / PROD / DR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6 / 4 / 5 / 5</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Database: 3 / 3 / 3 / 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Web: 3 / 2 / 3 / 3</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Storage total: 34,958</a:t>
            </a:r>
          </a:p>
        </p:txBody>
      </p:sp>
      <p:sp>
        <p:nvSpPr>
          <p:cNvPr id="9" name="">
            <a:extLst xmlns:a="http://schemas.openxmlformats.org/drawingml/2006/main">
              <a:ext uri="{FF2B5EF4-FFF2-40B4-BE49-F238E27FC236}">
                <a16:creationId xmlns:a16="http://schemas.microsoft.com/office/drawing/2014/main" id="{D04F218E-646A-4915-92FF-6144082288CB}"/>
              </a:ext>
            </a:extLst>
          </p:cNvPr>
          <p:cNvSpPr>
            <a:spLocks xmlns:a="http://schemas.openxmlformats.org/drawingml/2006/main" noGrp="1"/>
          </p:cNvSpPr>
          <p:nvPr/>
        </p:nvSpPr>
        <p:spPr>
          <a:xfrm xmlns:a="http://schemas.openxmlformats.org/drawingml/2006/main">
            <a:off x="6172200" y="2114550"/>
            <a:ext cx="5543550" cy="1933575"/>
          </a:xfrm>
          <a:prstGeom xmlns:a="http://schemas.openxmlformats.org/drawingml/2006/main" prst="roundRect">
            <a:avLst>
              <a:gd name="adj" fmla="val 5911"/>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EE55FEF4-34A8-45AA-93EC-C16E40DD7B6F}"/>
              </a:ext>
            </a:extLst>
          </p:cNvPr>
          <p:cNvSpPr>
            <a:spLocks xmlns:a="http://schemas.openxmlformats.org/drawingml/2006/main" noGrp="1"/>
          </p:cNvSpPr>
          <p:nvPr/>
        </p:nvSpPr>
        <p:spPr>
          <a:xfrm xmlns:a="http://schemas.openxmlformats.org/drawingml/2006/main">
            <a:off x="6324600" y="2228850"/>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KAL   23 servers</a:t>
            </a:r>
          </a:p>
        </p:txBody>
      </p:sp>
      <p:sp>
        <p:nvSpPr>
          <p:cNvPr id="11" name="">
            <a:extLst xmlns:a="http://schemas.openxmlformats.org/drawingml/2006/main">
              <a:ext uri="{FF2B5EF4-FFF2-40B4-BE49-F238E27FC236}">
                <a16:creationId xmlns:a16="http://schemas.microsoft.com/office/drawing/2014/main" id="{FBD3C7CD-7799-4BF1-BED5-13915623FAD7}"/>
              </a:ext>
            </a:extLst>
          </p:cNvPr>
          <p:cNvSpPr>
            <a:spLocks xmlns:a="http://schemas.openxmlformats.org/drawingml/2006/main" noGrp="1"/>
          </p:cNvSpPr>
          <p:nvPr/>
        </p:nvSpPr>
        <p:spPr>
          <a:xfrm xmlns:a="http://schemas.openxmlformats.org/drawingml/2006/main">
            <a:off x="6324600" y="2724150"/>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NP / STG / PROD / DR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1 / 2 / 2 / 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Database: 1 / 3 / 3 / 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Web: 1 / 2 / 2 / 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Storage total: 12,808</a:t>
            </a:r>
          </a:p>
        </p:txBody>
      </p:sp>
      <p:sp>
        <p:nvSpPr>
          <p:cNvPr id="12" name="">
            <a:extLst xmlns:a="http://schemas.openxmlformats.org/drawingml/2006/main">
              <a:ext uri="{FF2B5EF4-FFF2-40B4-BE49-F238E27FC236}">
                <a16:creationId xmlns:a16="http://schemas.microsoft.com/office/drawing/2014/main" id="{3BF41FEA-21C6-4781-A158-08532B4E384D}"/>
              </a:ext>
            </a:extLst>
          </p:cNvPr>
          <p:cNvSpPr>
            <a:spLocks xmlns:a="http://schemas.openxmlformats.org/drawingml/2006/main" noGrp="1"/>
          </p:cNvSpPr>
          <p:nvPr/>
        </p:nvSpPr>
        <p:spPr>
          <a:xfrm xmlns:a="http://schemas.openxmlformats.org/drawingml/2006/main">
            <a:off x="457200" y="4181475"/>
            <a:ext cx="5543550" cy="1933575"/>
          </a:xfrm>
          <a:prstGeom xmlns:a="http://schemas.openxmlformats.org/drawingml/2006/main" prst="roundRect">
            <a:avLst>
              <a:gd name="adj" fmla="val 5911"/>
            </a:avLst>
          </a:prstGeom>
          <a:solidFill xmlns:a="http://schemas.openxmlformats.org/drawingml/2006/main">
            <a:srgbClr val="F0EAF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7365622A-C813-4C04-BAF3-9E7AEA25D101}"/>
              </a:ext>
            </a:extLst>
          </p:cNvPr>
          <p:cNvSpPr>
            <a:spLocks xmlns:a="http://schemas.openxmlformats.org/drawingml/2006/main" noGrp="1"/>
          </p:cNvSpPr>
          <p:nvPr/>
        </p:nvSpPr>
        <p:spPr>
          <a:xfrm xmlns:a="http://schemas.openxmlformats.org/drawingml/2006/main">
            <a:off x="609600" y="42957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75BC5"/>
                </a:solidFill>
                <a:latin typeface="DejaVu Sans"/>
                <a:ea typeface="DejaVu Sans"/>
                <a:cs typeface="DejaVu Sans"/>
              </a:defRPr>
            </a:pPr>
            <a:r>
              <a:rPr sz="1650" b="1">
                <a:solidFill>
                  <a:srgbClr val="875BC5"/>
                </a:solidFill>
                <a:latin typeface="DejaVu Sans"/>
                <a:ea typeface="DejaVu Sans"/>
                <a:cs typeface="DejaVu Sans"/>
              </a:rPr>
              <a:t>Matrix   6 servers</a:t>
            </a:r>
          </a:p>
        </p:txBody>
      </p:sp>
      <p:sp>
        <p:nvSpPr>
          <p:cNvPr id="14" name="">
            <a:extLst xmlns:a="http://schemas.openxmlformats.org/drawingml/2006/main">
              <a:ext uri="{FF2B5EF4-FFF2-40B4-BE49-F238E27FC236}">
                <a16:creationId xmlns:a16="http://schemas.microsoft.com/office/drawing/2014/main" id="{2AAE71EA-1C3D-4A98-921C-094BACC58BCC}"/>
              </a:ext>
            </a:extLst>
          </p:cNvPr>
          <p:cNvSpPr>
            <a:spLocks xmlns:a="http://schemas.openxmlformats.org/drawingml/2006/main" noGrp="1"/>
          </p:cNvSpPr>
          <p:nvPr/>
        </p:nvSpPr>
        <p:spPr>
          <a:xfrm xmlns:a="http://schemas.openxmlformats.org/drawingml/2006/main">
            <a:off x="609600" y="4791075"/>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NP / STG / PROD / DR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1 / – / 1 / 1</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Database: 1 / – / 1 / 1</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Storage total: 10,530</a:t>
            </a:r>
          </a:p>
        </p:txBody>
      </p:sp>
      <p:sp>
        <p:nvSpPr>
          <p:cNvPr id="15" name="">
            <a:extLst xmlns:a="http://schemas.openxmlformats.org/drawingml/2006/main">
              <a:ext uri="{FF2B5EF4-FFF2-40B4-BE49-F238E27FC236}">
                <a16:creationId xmlns:a16="http://schemas.microsoft.com/office/drawing/2014/main" id="{DA07CD00-477D-4DCC-B241-2D016BD681E8}"/>
              </a:ext>
            </a:extLst>
          </p:cNvPr>
          <p:cNvSpPr>
            <a:spLocks xmlns:a="http://schemas.openxmlformats.org/drawingml/2006/main" noGrp="1"/>
          </p:cNvSpPr>
          <p:nvPr/>
        </p:nvSpPr>
        <p:spPr>
          <a:xfrm xmlns:a="http://schemas.openxmlformats.org/drawingml/2006/main">
            <a:off x="6172200" y="4181475"/>
            <a:ext cx="5543550" cy="1933575"/>
          </a:xfrm>
          <a:prstGeom xmlns:a="http://schemas.openxmlformats.org/drawingml/2006/main" prst="roundRect">
            <a:avLst>
              <a:gd name="adj" fmla="val 5911"/>
            </a:avLst>
          </a:prstGeom>
          <a:solidFill xmlns:a="http://schemas.openxmlformats.org/drawingml/2006/main">
            <a:srgbClr val="FFF4DE"/>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B53E457F-A182-43A2-9EE1-742936C9693C}"/>
              </a:ext>
            </a:extLst>
          </p:cNvPr>
          <p:cNvSpPr>
            <a:spLocks xmlns:a="http://schemas.openxmlformats.org/drawingml/2006/main" noGrp="1"/>
          </p:cNvSpPr>
          <p:nvPr/>
        </p:nvSpPr>
        <p:spPr>
          <a:xfrm xmlns:a="http://schemas.openxmlformats.org/drawingml/2006/main">
            <a:off x="6324600" y="429577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Mobile App / Omni   11 servers</a:t>
            </a:r>
          </a:p>
        </p:txBody>
      </p:sp>
      <p:sp>
        <p:nvSpPr>
          <p:cNvPr id="17" name="">
            <a:extLst xmlns:a="http://schemas.openxmlformats.org/drawingml/2006/main">
              <a:ext uri="{FF2B5EF4-FFF2-40B4-BE49-F238E27FC236}">
                <a16:creationId xmlns:a16="http://schemas.microsoft.com/office/drawing/2014/main" id="{5F2ACEC1-EC8F-4009-983F-1777A91769D5}"/>
              </a:ext>
            </a:extLst>
          </p:cNvPr>
          <p:cNvSpPr>
            <a:spLocks xmlns:a="http://schemas.openxmlformats.org/drawingml/2006/main" noGrp="1"/>
          </p:cNvSpPr>
          <p:nvPr/>
        </p:nvSpPr>
        <p:spPr>
          <a:xfrm xmlns:a="http://schemas.openxmlformats.org/drawingml/2006/main">
            <a:off x="6324600" y="4791075"/>
            <a:ext cx="523875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NP / STG / PROD / DR</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Application: 2 / 3 / 3 / 3</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Storage total: 2,498</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Staging provisioning denied</a:t>
            </a:r>
          </a:p>
        </p:txBody>
      </p:sp>
    </p:spTree>
    <p:extLst>
      <p:ext uri="{BB962C8B-B14F-4D97-AF65-F5344CB8AC3E}">
        <p14:creationId xmlns:p14="http://schemas.microsoft.com/office/powerpoint/2010/main" val="1346332295"/>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3E641F72-DB9B-422E-9668-7C691C52EC73}"/>
              </a:ext>
            </a:extLst>
          </p:cNvPr>
          <p:cNvSpPr>
            <a:spLocks xmlns:a="http://schemas.openxmlformats.org/drawingml/2006/main" noGrp="1"/>
          </p:cNvSpPr>
          <p:nvPr/>
        </p:nvSpPr>
        <p:spPr>
          <a:xfrm xmlns:a="http://schemas.openxmlformats.org/drawingml/2006/main">
            <a:off x="457200" y="238125"/>
            <a:ext cx="1047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125" b="1">
                <a:solidFill>
                  <a:srgbClr val="087F68"/>
                </a:solidFill>
                <a:latin typeface="DejaVu Sans"/>
                <a:ea typeface="DejaVu Sans"/>
                <a:cs typeface="DejaVu Sans"/>
              </a:defRPr>
            </a:pPr>
            <a:r>
              <a:rPr sz="1125" b="1">
                <a:solidFill>
                  <a:srgbClr val="087F68"/>
                </a:solidFill>
                <a:latin typeface="DejaVu Sans"/>
                <a:ea typeface="DejaVu Sans"/>
                <a:cs typeface="DejaVu Sans"/>
              </a:rPr>
              <a:t>DIB   /   CET MONTHLY PERFORMANCE</a:t>
            </a:r>
          </a:p>
        </p:txBody>
      </p:sp>
      <p:sp>
        <p:nvSpPr>
          <p:cNvPr id="2" name="">
            <a:extLst xmlns:a="http://schemas.openxmlformats.org/drawingml/2006/main">
              <a:ext uri="{FF2B5EF4-FFF2-40B4-BE49-F238E27FC236}">
                <a16:creationId xmlns:a16="http://schemas.microsoft.com/office/drawing/2014/main" id="{30872C0D-E089-46A9-8F00-D7AA548A8E6F}"/>
              </a:ext>
            </a:extLst>
          </p:cNvPr>
          <p:cNvSpPr>
            <a:spLocks xmlns:a="http://schemas.openxmlformats.org/drawingml/2006/main" noGrp="1"/>
          </p:cNvSpPr>
          <p:nvPr/>
        </p:nvSpPr>
        <p:spPr>
          <a:xfrm xmlns:a="http://schemas.openxmlformats.org/drawingml/2006/main">
            <a:off x="457200" y="685800"/>
            <a:ext cx="112776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A4B"/>
                </a:solidFill>
                <a:latin typeface="DejaVu Sans"/>
                <a:ea typeface="DejaVu Sans"/>
                <a:cs typeface="DejaVu Sans"/>
              </a:defRPr>
            </a:pPr>
            <a:r>
              <a:rPr sz="2400" b="1">
                <a:solidFill>
                  <a:srgbClr val="173A4B"/>
                </a:solidFill>
                <a:latin typeface="DejaVu Sans"/>
                <a:ea typeface="DejaVu Sans"/>
                <a:cs typeface="DejaVu Sans"/>
              </a:rPr>
              <a:t>Management decisions and evidence for the next review</a:t>
            </a:r>
          </a:p>
        </p:txBody>
      </p:sp>
      <p:sp>
        <p:nvSpPr>
          <p:cNvPr id="3" name="">
            <a:extLst xmlns:a="http://schemas.openxmlformats.org/drawingml/2006/main">
              <a:ext uri="{FF2B5EF4-FFF2-40B4-BE49-F238E27FC236}">
                <a16:creationId xmlns:a16="http://schemas.microsoft.com/office/drawing/2014/main" id="{C480FC64-4681-4043-9845-7B4231756693}"/>
              </a:ext>
            </a:extLst>
          </p:cNvPr>
          <p:cNvSpPr>
            <a:spLocks xmlns:a="http://schemas.openxmlformats.org/drawingml/2006/main" noGrp="1"/>
          </p:cNvSpPr>
          <p:nvPr/>
        </p:nvSpPr>
        <p:spPr>
          <a:xfrm xmlns:a="http://schemas.openxmlformats.org/drawingml/2006/main">
            <a:off x="457200" y="1543050"/>
            <a:ext cx="112776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647B89"/>
                </a:solidFill>
                <a:latin typeface="DejaVu Sans"/>
                <a:ea typeface="DejaVu Sans"/>
                <a:cs typeface="DejaVu Sans"/>
              </a:defRPr>
            </a:pPr>
            <a:r>
              <a:rPr sz="1500" b="0">
                <a:solidFill>
                  <a:srgbClr val="647B89"/>
                </a:solidFill>
                <a:latin typeface="DejaVu Sans"/>
                <a:ea typeface="DejaVu Sans"/>
                <a:cs typeface="DejaVu Sans"/>
              </a:rPr>
              <a:t>Recommended governance gates for the new platform and resiliency sections</a:t>
            </a:r>
          </a:p>
        </p:txBody>
      </p:sp>
      <p:sp>
        <p:nvSpPr>
          <p:cNvPr id="4" name="">
            <a:extLst xmlns:a="http://schemas.openxmlformats.org/drawingml/2006/main">
              <a:ext uri="{FF2B5EF4-FFF2-40B4-BE49-F238E27FC236}">
                <a16:creationId xmlns:a16="http://schemas.microsoft.com/office/drawing/2014/main" id="{23C3EC3F-2D5F-4A6D-B977-1E7F3B8845BD}"/>
              </a:ext>
            </a:extLst>
          </p:cNvPr>
          <p:cNvSpPr>
            <a:spLocks xmlns:a="http://schemas.openxmlformats.org/drawingml/2006/main" noGrp="1"/>
          </p:cNvSpPr>
          <p:nvPr/>
        </p:nvSpPr>
        <p:spPr>
          <a:xfrm xmlns:a="http://schemas.openxmlformats.org/drawingml/2006/main">
            <a:off x="457200" y="6477000"/>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b="0">
                <a:solidFill>
                  <a:srgbClr val="647B89"/>
                </a:solidFill>
                <a:latin typeface="DejaVu Sans"/>
                <a:ea typeface="DejaVu Sans"/>
                <a:cs typeface="DejaVu Sans"/>
              </a:defRPr>
            </a:pPr>
            <a:r>
              <a:rPr sz="975" b="0">
                <a:solidFill>
                  <a:srgbClr val="647B89"/>
                </a:solidFill>
                <a:latin typeface="DejaVu Sans"/>
                <a:ea typeface="DejaVu Sans"/>
                <a:cs typeface="DejaVu Sans"/>
              </a:rPr>
              <a:t>September 2026   •   Source: supplied platform and squad reports</a:t>
            </a:r>
          </a:p>
        </p:txBody>
      </p:sp>
      <p:sp>
        <p:nvSpPr>
          <p:cNvPr id="5" name="">
            <a:extLst xmlns:a="http://schemas.openxmlformats.org/drawingml/2006/main">
              <a:ext uri="{FF2B5EF4-FFF2-40B4-BE49-F238E27FC236}">
                <a16:creationId xmlns:a16="http://schemas.microsoft.com/office/drawing/2014/main" id="{66308BC3-C140-4DB2-B566-2D136443F977}"/>
              </a:ext>
            </a:extLst>
          </p:cNvPr>
          <p:cNvSpPr>
            <a:spLocks xmlns:a="http://schemas.openxmlformats.org/drawingml/2006/main" noGrp="1"/>
          </p:cNvSpPr>
          <p:nvPr/>
        </p:nvSpPr>
        <p:spPr>
          <a:xfrm xmlns:a="http://schemas.openxmlformats.org/drawingml/2006/main">
            <a:off x="11334750" y="6457950"/>
            <a:ext cx="381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b="0">
                <a:solidFill>
                  <a:srgbClr val="647B89"/>
                </a:solidFill>
                <a:latin typeface="DejaVu Sans"/>
                <a:ea typeface="DejaVu Sans"/>
                <a:cs typeface="DejaVu Sans"/>
              </a:defRPr>
            </a:pPr>
            <a:r>
              <a:rPr sz="1050" b="0">
                <a:solidFill>
                  <a:srgbClr val="647B89"/>
                </a:solidFill>
                <a:latin typeface="DejaVu Sans"/>
                <a:ea typeface="DejaVu Sans"/>
                <a:cs typeface="DejaVu Sans"/>
              </a:rPr>
              <a:t>38</a:t>
            </a:r>
          </a:p>
        </p:txBody>
      </p:sp>
      <p:sp>
        <p:nvSpPr>
          <p:cNvPr id="6" name="">
            <a:extLst xmlns:a="http://schemas.openxmlformats.org/drawingml/2006/main">
              <a:ext uri="{FF2B5EF4-FFF2-40B4-BE49-F238E27FC236}">
                <a16:creationId xmlns:a16="http://schemas.microsoft.com/office/drawing/2014/main" id="{BF922645-89D1-43EE-90E5-F2E5859BBB6C}"/>
              </a:ext>
            </a:extLst>
          </p:cNvPr>
          <p:cNvSpPr>
            <a:spLocks xmlns:a="http://schemas.openxmlformats.org/drawingml/2006/main" noGrp="1"/>
          </p:cNvSpPr>
          <p:nvPr/>
        </p:nvSpPr>
        <p:spPr>
          <a:xfrm xmlns:a="http://schemas.openxmlformats.org/drawingml/2006/main">
            <a:off x="457200" y="2143125"/>
            <a:ext cx="5543550" cy="1895475"/>
          </a:xfrm>
          <a:prstGeom xmlns:a="http://schemas.openxmlformats.org/drawingml/2006/main" prst="roundRect">
            <a:avLst>
              <a:gd name="adj" fmla="val 6030"/>
            </a:avLst>
          </a:prstGeom>
          <a:solidFill xmlns:a="http://schemas.openxmlformats.org/drawingml/2006/main">
            <a:srgbClr val="FFF4DE"/>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5B6F0655-1EF9-48AE-83BA-ECFA74E3335F}"/>
              </a:ext>
            </a:extLst>
          </p:cNvPr>
          <p:cNvSpPr>
            <a:spLocks xmlns:a="http://schemas.openxmlformats.org/drawingml/2006/main" noGrp="1"/>
          </p:cNvSpPr>
          <p:nvPr/>
        </p:nvSpPr>
        <p:spPr>
          <a:xfrm xmlns:a="http://schemas.openxmlformats.org/drawingml/2006/main">
            <a:off x="609600" y="22574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CC7D16"/>
                </a:solidFill>
                <a:latin typeface="DejaVu Sans"/>
                <a:ea typeface="DejaVu Sans"/>
                <a:cs typeface="DejaVu Sans"/>
              </a:defRPr>
            </a:pPr>
            <a:r>
              <a:rPr sz="1650" b="1">
                <a:solidFill>
                  <a:srgbClr val="CC7D16"/>
                </a:solidFill>
                <a:latin typeface="DejaVu Sans"/>
                <a:ea typeface="DejaVu Sans"/>
                <a:cs typeface="DejaVu Sans"/>
              </a:rPr>
              <a:t>1  Release baseline</a:t>
            </a:r>
          </a:p>
        </p:txBody>
      </p:sp>
      <p:sp>
        <p:nvSpPr>
          <p:cNvPr id="8" name="">
            <a:extLst xmlns:a="http://schemas.openxmlformats.org/drawingml/2006/main">
              <a:ext uri="{FF2B5EF4-FFF2-40B4-BE49-F238E27FC236}">
                <a16:creationId xmlns:a16="http://schemas.microsoft.com/office/drawing/2014/main" id="{65EAD352-2783-4E97-ADE1-D3CFFD7BF7ED}"/>
              </a:ext>
            </a:extLst>
          </p:cNvPr>
          <p:cNvSpPr>
            <a:spLocks xmlns:a="http://schemas.openxmlformats.org/drawingml/2006/main" noGrp="1"/>
          </p:cNvSpPr>
          <p:nvPr/>
        </p:nvSpPr>
        <p:spPr>
          <a:xfrm xmlns:a="http://schemas.openxmlformats.org/drawingml/2006/main">
            <a:off x="609600" y="2752725"/>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Confirm IB / Omni proposed Q2 2027 dates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Reconcile HFLMS Q4 2026 scope with 2027 DR plan</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Correct council entries that show Q2 2007</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Confirm 4 October releases with actual evidence</a:t>
            </a:r>
          </a:p>
        </p:txBody>
      </p:sp>
      <p:sp>
        <p:nvSpPr>
          <p:cNvPr id="9" name="">
            <a:extLst xmlns:a="http://schemas.openxmlformats.org/drawingml/2006/main">
              <a:ext uri="{FF2B5EF4-FFF2-40B4-BE49-F238E27FC236}">
                <a16:creationId xmlns:a16="http://schemas.microsoft.com/office/drawing/2014/main" id="{DE5F0537-4032-4B40-845E-3D6D98DED53F}"/>
              </a:ext>
            </a:extLst>
          </p:cNvPr>
          <p:cNvSpPr>
            <a:spLocks xmlns:a="http://schemas.openxmlformats.org/drawingml/2006/main" noGrp="1"/>
          </p:cNvSpPr>
          <p:nvPr/>
        </p:nvSpPr>
        <p:spPr>
          <a:xfrm xmlns:a="http://schemas.openxmlformats.org/drawingml/2006/main">
            <a:off x="6191250" y="2143125"/>
            <a:ext cx="5543550" cy="1895475"/>
          </a:xfrm>
          <a:prstGeom xmlns:a="http://schemas.openxmlformats.org/drawingml/2006/main" prst="roundRect">
            <a:avLst>
              <a:gd name="adj" fmla="val 6030"/>
            </a:avLst>
          </a:prstGeom>
          <a:solidFill xmlns:a="http://schemas.openxmlformats.org/drawingml/2006/main">
            <a:srgbClr val="E8F3FB"/>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329C156-0333-4BF8-9EC0-82D65244A409}"/>
              </a:ext>
            </a:extLst>
          </p:cNvPr>
          <p:cNvSpPr>
            <a:spLocks xmlns:a="http://schemas.openxmlformats.org/drawingml/2006/main" noGrp="1"/>
          </p:cNvSpPr>
          <p:nvPr/>
        </p:nvSpPr>
        <p:spPr>
          <a:xfrm xmlns:a="http://schemas.openxmlformats.org/drawingml/2006/main">
            <a:off x="6343650" y="22574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1688C2"/>
                </a:solidFill>
                <a:latin typeface="DejaVu Sans"/>
                <a:ea typeface="DejaVu Sans"/>
                <a:cs typeface="DejaVu Sans"/>
              </a:defRPr>
            </a:pPr>
            <a:r>
              <a:rPr sz="1650" b="1">
                <a:solidFill>
                  <a:srgbClr val="1688C2"/>
                </a:solidFill>
                <a:latin typeface="DejaVu Sans"/>
                <a:ea typeface="DejaVu Sans"/>
                <a:cs typeface="DejaVu Sans"/>
              </a:rPr>
              <a:t>2  Environment approval</a:t>
            </a:r>
          </a:p>
        </p:txBody>
      </p:sp>
      <p:sp>
        <p:nvSpPr>
          <p:cNvPr id="11" name="">
            <a:extLst xmlns:a="http://schemas.openxmlformats.org/drawingml/2006/main">
              <a:ext uri="{FF2B5EF4-FFF2-40B4-BE49-F238E27FC236}">
                <a16:creationId xmlns:a16="http://schemas.microsoft.com/office/drawing/2014/main" id="{B0DC2310-3585-4035-B605-E8F0206F393D}"/>
              </a:ext>
            </a:extLst>
          </p:cNvPr>
          <p:cNvSpPr>
            <a:spLocks xmlns:a="http://schemas.openxmlformats.org/drawingml/2006/main" noGrp="1"/>
          </p:cNvSpPr>
          <p:nvPr/>
        </p:nvSpPr>
        <p:spPr>
          <a:xfrm xmlns:a="http://schemas.openxmlformats.org/drawingml/2006/main">
            <a:off x="6343650" y="2752725"/>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Resolve six denied staging requirements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Document alternatives and accountable approvals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Confirm passive DR provisioning versus operational capability</a:t>
            </a:r>
          </a:p>
        </p:txBody>
      </p:sp>
      <p:sp>
        <p:nvSpPr>
          <p:cNvPr id="12" name="">
            <a:extLst xmlns:a="http://schemas.openxmlformats.org/drawingml/2006/main">
              <a:ext uri="{FF2B5EF4-FFF2-40B4-BE49-F238E27FC236}">
                <a16:creationId xmlns:a16="http://schemas.microsoft.com/office/drawing/2014/main" id="{018E4370-8883-4F5B-84CF-3F8F4E3F1426}"/>
              </a:ext>
            </a:extLst>
          </p:cNvPr>
          <p:cNvSpPr>
            <a:spLocks xmlns:a="http://schemas.openxmlformats.org/drawingml/2006/main" noGrp="1"/>
          </p:cNvSpPr>
          <p:nvPr/>
        </p:nvSpPr>
        <p:spPr>
          <a:xfrm xmlns:a="http://schemas.openxmlformats.org/drawingml/2006/main">
            <a:off x="457200" y="4238625"/>
            <a:ext cx="5543550" cy="1905000"/>
          </a:xfrm>
          <a:prstGeom xmlns:a="http://schemas.openxmlformats.org/drawingml/2006/main" prst="roundRect">
            <a:avLst>
              <a:gd name="adj" fmla="val 6000"/>
            </a:avLst>
          </a:prstGeom>
          <a:solidFill xmlns:a="http://schemas.openxmlformats.org/drawingml/2006/main">
            <a:srgbClr val="E6F6F0"/>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4152F236-AEB9-480A-8A97-BF8190479B14}"/>
              </a:ext>
            </a:extLst>
          </p:cNvPr>
          <p:cNvSpPr>
            <a:spLocks xmlns:a="http://schemas.openxmlformats.org/drawingml/2006/main" noGrp="1"/>
          </p:cNvSpPr>
          <p:nvPr/>
        </p:nvSpPr>
        <p:spPr>
          <a:xfrm xmlns:a="http://schemas.openxmlformats.org/drawingml/2006/main">
            <a:off x="609600" y="43529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087F68"/>
                </a:solidFill>
                <a:latin typeface="DejaVu Sans"/>
                <a:ea typeface="DejaVu Sans"/>
                <a:cs typeface="DejaVu Sans"/>
              </a:defRPr>
            </a:pPr>
            <a:r>
              <a:rPr sz="1650" b="1">
                <a:solidFill>
                  <a:srgbClr val="087F68"/>
                </a:solidFill>
                <a:latin typeface="DejaVu Sans"/>
                <a:ea typeface="DejaVu Sans"/>
                <a:cs typeface="DejaVu Sans"/>
              </a:rPr>
              <a:t>3  Recovery acceptance</a:t>
            </a:r>
          </a:p>
        </p:txBody>
      </p:sp>
      <p:sp>
        <p:nvSpPr>
          <p:cNvPr id="14" name="">
            <a:extLst xmlns:a="http://schemas.openxmlformats.org/drawingml/2006/main">
              <a:ext uri="{FF2B5EF4-FFF2-40B4-BE49-F238E27FC236}">
                <a16:creationId xmlns:a16="http://schemas.microsoft.com/office/drawing/2014/main" id="{ECAEF4A2-27EF-40E8-88CE-7F17A6C9AF4B}"/>
              </a:ext>
            </a:extLst>
          </p:cNvPr>
          <p:cNvSpPr>
            <a:spLocks xmlns:a="http://schemas.openxmlformats.org/drawingml/2006/main" noGrp="1"/>
          </p:cNvSpPr>
          <p:nvPr/>
        </p:nvSpPr>
        <p:spPr>
          <a:xfrm xmlns:a="http://schemas.openxmlformats.org/drawingml/2006/main">
            <a:off x="609600" y="4848225"/>
            <a:ext cx="5238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Agree platform RTO / RPO and test criteria</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Track failover, failback and data integrity evidence</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Assign owners for CCM DR and SMS Site 2</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Define production release acceptance</a:t>
            </a:r>
          </a:p>
        </p:txBody>
      </p:sp>
      <p:sp>
        <p:nvSpPr>
          <p:cNvPr id="15" name="">
            <a:extLst xmlns:a="http://schemas.openxmlformats.org/drawingml/2006/main">
              <a:ext uri="{FF2B5EF4-FFF2-40B4-BE49-F238E27FC236}">
                <a16:creationId xmlns:a16="http://schemas.microsoft.com/office/drawing/2014/main" id="{9E307C6D-337F-4097-BA35-C1C1377371B0}"/>
              </a:ext>
            </a:extLst>
          </p:cNvPr>
          <p:cNvSpPr>
            <a:spLocks xmlns:a="http://schemas.openxmlformats.org/drawingml/2006/main" noGrp="1"/>
          </p:cNvSpPr>
          <p:nvPr/>
        </p:nvSpPr>
        <p:spPr>
          <a:xfrm xmlns:a="http://schemas.openxmlformats.org/drawingml/2006/main">
            <a:off x="6191250" y="4238625"/>
            <a:ext cx="5543550" cy="1905000"/>
          </a:xfrm>
          <a:prstGeom xmlns:a="http://schemas.openxmlformats.org/drawingml/2006/main" prst="roundRect">
            <a:avLst>
              <a:gd name="adj" fmla="val 6000"/>
            </a:avLst>
          </a:prstGeom>
          <a:solidFill xmlns:a="http://schemas.openxmlformats.org/drawingml/2006/main">
            <a:srgbClr val="F0EAF9"/>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59CED296-9E4B-408C-A865-14466AF4B127}"/>
              </a:ext>
            </a:extLst>
          </p:cNvPr>
          <p:cNvSpPr>
            <a:spLocks xmlns:a="http://schemas.openxmlformats.org/drawingml/2006/main" noGrp="1"/>
          </p:cNvSpPr>
          <p:nvPr/>
        </p:nvSpPr>
        <p:spPr>
          <a:xfrm xmlns:a="http://schemas.openxmlformats.org/drawingml/2006/main">
            <a:off x="6343650" y="4352925"/>
            <a:ext cx="5238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875BC5"/>
                </a:solidFill>
                <a:latin typeface="DejaVu Sans"/>
                <a:ea typeface="DejaVu Sans"/>
                <a:cs typeface="DejaVu Sans"/>
              </a:defRPr>
            </a:pPr>
            <a:r>
              <a:rPr sz="1650" b="1">
                <a:solidFill>
                  <a:srgbClr val="875BC5"/>
                </a:solidFill>
                <a:latin typeface="DejaVu Sans"/>
                <a:ea typeface="DejaVu Sans"/>
                <a:cs typeface="DejaVu Sans"/>
              </a:rPr>
              <a:t>4  Capacity and reporting</a:t>
            </a:r>
          </a:p>
        </p:txBody>
      </p:sp>
      <p:sp>
        <p:nvSpPr>
          <p:cNvPr id="17" name="">
            <a:extLst xmlns:a="http://schemas.openxmlformats.org/drawingml/2006/main">
              <a:ext uri="{FF2B5EF4-FFF2-40B4-BE49-F238E27FC236}">
                <a16:creationId xmlns:a16="http://schemas.microsoft.com/office/drawing/2014/main" id="{29099826-714D-49E9-87D3-7648F81F8DDC}"/>
              </a:ext>
            </a:extLst>
          </p:cNvPr>
          <p:cNvSpPr>
            <a:spLocks xmlns:a="http://schemas.openxmlformats.org/drawingml/2006/main" noGrp="1"/>
          </p:cNvSpPr>
          <p:nvPr/>
        </p:nvSpPr>
        <p:spPr>
          <a:xfrm xmlns:a="http://schemas.openxmlformats.org/drawingml/2006/main">
            <a:off x="6343650" y="4848225"/>
            <a:ext cx="5238750" cy="1209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Review ATM memory trends and failover headroom</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Reconcile CCM/SMS storage figures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Confirm infrastructure quantities and storage units</a:t>
            </a:r>
          </a:p>
          <a:p xmlns:a="http://schemas.openxmlformats.org/drawingml/2006/main">
            <a:pPr>
              <a:defRPr sz="1350" b="0">
                <a:solidFill>
                  <a:srgbClr val="173A4B"/>
                </a:solidFill>
                <a:latin typeface="DejaVu Sans"/>
                <a:ea typeface="DejaVu Sans"/>
                <a:cs typeface="DejaVu Sans"/>
              </a:defRPr>
            </a:pPr>
            <a:r>
              <a:rPr sz="1350" b="0">
                <a:solidFill>
                  <a:srgbClr val="173A4B"/>
                </a:solidFill>
                <a:latin typeface="DejaVu Sans"/>
                <a:ea typeface="DejaVu Sans"/>
                <a:cs typeface="DejaVu Sans"/>
              </a:rPr>
              <a:t>Budget / migration checklist not supplied</a:t>
            </a:r>
          </a:p>
        </p:txBody>
      </p:sp>
    </p:spTree>
    <p:extLst>
      <p:ext uri="{BB962C8B-B14F-4D97-AF65-F5344CB8AC3E}">
        <p14:creationId xmlns:p14="http://schemas.microsoft.com/office/powerpoint/2010/main" val="108905505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2026-10-06T08:47:47.6860000Z</dcterms:created>
  <dcterms:modified xsi:type="dcterms:W3CDTF">2026-10-06T08:47:47.6860000Z</dcterms:modified>
</coreProperties>
</file>