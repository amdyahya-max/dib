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035bfc15614ec4" /><Relationship Type="http://schemas.openxmlformats.org/officeDocument/2006/relationships/extended-properties" Target="/docProps/app.xml" Id="R463a45fb7a4a4285" /><Relationship Type="http://schemas.openxmlformats.org/officeDocument/2006/relationships/officeDocument" Target="/ppt/presentation.xml" Id="Rc29205511759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e82686c104b8c"/>
  </p:sldMasterIdLst>
  <p:notesMasterIdLst>
    <p:notesMasterId xmlns:r="http://schemas.openxmlformats.org/officeDocument/2006/relationships" r:id="Rd47085dc87a14ec8"/>
  </p:notesMasterIdLst>
  <p:sldIdLst>
    <p:sldId xmlns:r="http://schemas.openxmlformats.org/officeDocument/2006/relationships" id="256" r:id="R9baea22c7eeb451f"/>
    <p:sldId xmlns:r="http://schemas.openxmlformats.org/officeDocument/2006/relationships" id="257" r:id="R1d1bc1accad84fa7"/>
    <p:sldId xmlns:r="http://schemas.openxmlformats.org/officeDocument/2006/relationships" id="258" r:id="Rd8fb3476d3984d20"/>
    <p:sldId xmlns:r="http://schemas.openxmlformats.org/officeDocument/2006/relationships" id="259" r:id="Rce64b41eb5e14db0"/>
    <p:sldId xmlns:r="http://schemas.openxmlformats.org/officeDocument/2006/relationships" id="260" r:id="Rf32adc7c987142b9"/>
    <p:sldId xmlns:r="http://schemas.openxmlformats.org/officeDocument/2006/relationships" id="261" r:id="R5c412cf2a1af44d6"/>
    <p:sldId xmlns:r="http://schemas.openxmlformats.org/officeDocument/2006/relationships" id="262" r:id="R537ed56a8c8b4a0a"/>
    <p:sldId xmlns:r="http://schemas.openxmlformats.org/officeDocument/2006/relationships" id="263" r:id="R35e530b3ca72457a"/>
    <p:sldId xmlns:r="http://schemas.openxmlformats.org/officeDocument/2006/relationships" id="264" r:id="R465a603367544418"/>
    <p:sldId xmlns:r="http://schemas.openxmlformats.org/officeDocument/2006/relationships" id="265" r:id="Rcc3cd967c4474bdf"/>
    <p:sldId xmlns:r="http://schemas.openxmlformats.org/officeDocument/2006/relationships" id="266" r:id="Rbc29b41e6d7645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9df6a6da5a457f" /><Relationship Type="http://schemas.openxmlformats.org/officeDocument/2006/relationships/slideMaster" Target="/ppt/slideMasters/slideMaster1.xml" Id="Rfafe82686c104b8c" /><Relationship Type="http://schemas.openxmlformats.org/officeDocument/2006/relationships/notesMaster" Target="/ppt/notesMasters/notesMaster1.xml" Id="Rd47085dc87a14ec8" /><Relationship Type="http://schemas.openxmlformats.org/officeDocument/2006/relationships/presProps" Target="/ppt/presProps.xml" Id="R98ff24227fc74dce" /><Relationship Type="http://schemas.openxmlformats.org/officeDocument/2006/relationships/tableStyles" Target="/ppt/tableStyles.xml" Id="R68782a2672b04426" /><Relationship Type="http://schemas.openxmlformats.org/officeDocument/2006/relationships/slide" Target="/ppt/slides/slide1.xml" Id="R9baea22c7eeb451f" /><Relationship Type="http://schemas.openxmlformats.org/officeDocument/2006/relationships/slide" Target="/ppt/slides/slide2.xml" Id="R1d1bc1accad84fa7" /><Relationship Type="http://schemas.openxmlformats.org/officeDocument/2006/relationships/slide" Target="/ppt/slides/slide3.xml" Id="Rd8fb3476d3984d20" /><Relationship Type="http://schemas.openxmlformats.org/officeDocument/2006/relationships/slide" Target="/ppt/slides/slide4.xml" Id="Rce64b41eb5e14db0" /><Relationship Type="http://schemas.openxmlformats.org/officeDocument/2006/relationships/slide" Target="/ppt/slides/slide5.xml" Id="Rf32adc7c987142b9" /><Relationship Type="http://schemas.openxmlformats.org/officeDocument/2006/relationships/slide" Target="/ppt/slides/slide6.xml" Id="R5c412cf2a1af44d6" /><Relationship Type="http://schemas.openxmlformats.org/officeDocument/2006/relationships/slide" Target="/ppt/slides/slide7.xml" Id="R537ed56a8c8b4a0a" /><Relationship Type="http://schemas.openxmlformats.org/officeDocument/2006/relationships/slide" Target="/ppt/slides/slide8.xml" Id="R35e530b3ca72457a" /><Relationship Type="http://schemas.openxmlformats.org/officeDocument/2006/relationships/slide" Target="/ppt/slides/slide9.xml" Id="R465a603367544418" /><Relationship Type="http://schemas.openxmlformats.org/officeDocument/2006/relationships/slide" Target="/ppt/slides/slide10.xml" Id="Rcc3cd967c4474bdf" /><Relationship Type="http://schemas.openxmlformats.org/officeDocument/2006/relationships/slide" Target="/ppt/slides/slide11.xml" Id="Rbc29b41e6d7645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a179cce6ed4b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13b3f06464e47" /><Relationship Type="http://schemas.openxmlformats.org/officeDocument/2006/relationships/notesMaster" Target="/ppt/notesMasters/notesMaster1.xml" Id="R81b02ccc36b849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79d3d2afc74de7" /><Relationship Type="http://schemas.openxmlformats.org/officeDocument/2006/relationships/notesMaster" Target="/ppt/notesMasters/notesMaster1.xml" Id="R2bf964da538c43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e21c4e6254ca8" /><Relationship Type="http://schemas.openxmlformats.org/officeDocument/2006/relationships/notesMaster" Target="/ppt/notesMasters/notesMaster1.xml" Id="Rd95993d314cd41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6ef1e546594d3c" /><Relationship Type="http://schemas.openxmlformats.org/officeDocument/2006/relationships/notesMaster" Target="/ppt/notesMasters/notesMaster1.xml" Id="Rfbecee79976740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6c7cdbda2643ff" /><Relationship Type="http://schemas.openxmlformats.org/officeDocument/2006/relationships/notesMaster" Target="/ppt/notesMasters/notesMaster1.xml" Id="R4dba07245a874b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58299d81cc4b73" /><Relationship Type="http://schemas.openxmlformats.org/officeDocument/2006/relationships/notesMaster" Target="/ppt/notesMasters/notesMaster1.xml" Id="Ra695715141844a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4154110658454d" /><Relationship Type="http://schemas.openxmlformats.org/officeDocument/2006/relationships/notesMaster" Target="/ppt/notesMasters/notesMaster1.xml" Id="R002855025bc843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a658d2a81241bf" /><Relationship Type="http://schemas.openxmlformats.org/officeDocument/2006/relationships/notesMaster" Target="/ppt/notesMasters/notesMaster1.xml" Id="R267af5b3204d49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51c8484a6648e0" /><Relationship Type="http://schemas.openxmlformats.org/officeDocument/2006/relationships/notesMaster" Target="/ppt/notesMasters/notesMaster1.xml" Id="R7f60dc0d2f4c44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9c6f3cffac4382" /><Relationship Type="http://schemas.openxmlformats.org/officeDocument/2006/relationships/notesMaster" Target="/ppt/notesMasters/notesMaster1.xml" Id="R5720c2afebdd4d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2cb602b3734a13" /><Relationship Type="http://schemas.openxmlformats.org/officeDocument/2006/relationships/notesMaster" Target="/ppt/notesMasters/notesMaster1.xml" Id="R712e138e10ca4d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 and IMG_9453F031-49AD-4FB5-A10C-0BBC67F65DBF.jpeg; IT strategy mapping from the user's DIB CET IT Strategy deck.</a:t>
            </a:r>
          </a:p>
          <a:p xmlns:a="http://schemas.openxmlformats.org/drawingml/2006/main">
            <a:r>
              <a:t>VERIFIED: 56 total demands; 25 completed; seven planned go-lives through January 2027. IT strategy pillars are Protect, Build and Flourish.</a:t>
            </a:r>
          </a:p>
          <a:p xmlns:a="http://schemas.openxmlformats.org/drawingml/2006/main">
            <a:r>
              <a:t>DERIVED: None displayed.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Protect / Build / Flourish.</a:t>
            </a:r>
          </a:p>
          <a:p xmlns:a="http://schemas.openxmlformats.org/drawingml/2006/main">
            <a:r>
              <a:t>NARRATIVE: This presentation follows the Cards portfolio from demand mix and delivery volume into project outcomes, control delivery and the confirmed release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 and IMG_9453F031-49AD-4FB5-A10C-0BBC67F65DBF.jpeg.</a:t>
            </a:r>
          </a:p>
          <a:p xmlns:a="http://schemas.openxmlformats.org/drawingml/2006/main">
            <a:r>
              <a:t>VERIFIED: 56 total demands; 25 completed; 15 Baseline 1; 9 Baseline 0; 7 under discussion; 32 total go-lives; 25 completed go-lives; 7 planned go-lives.</a:t>
            </a:r>
          </a:p>
          <a:p xmlns:a="http://schemas.openxmlformats.org/drawingml/2006/main">
            <a:r>
              <a:t>DERIVED: 45% completed is 25 divided by 56, rounded to the nearest whole percentage. Active baseline demand is 15 plus 9, equal to 24.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opening slide establishes delivery achieved, the active pipeline and the go-live scale in one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IMG_8CF6D7E4-E31F-4C6C-9E8E-7E059150168F.jpeg.</a:t>
            </a:r>
          </a:p>
          <a:p xmlns:a="http://schemas.openxmlformats.org/drawingml/2006/main">
            <a:r>
              <a:t>VERIFIED: Status counts are Completed 25, Baseline 1 15, Baseline 0 9 and Under Discussion 7. Demand origin totals are 31 for 2025 and 25 for 2026.</a:t>
            </a:r>
          </a:p>
          <a:p xmlns:a="http://schemas.openxmlformats.org/drawingml/2006/main">
            <a:r>
              <a:t>DERIVED: 45% completed is 25 divided by 56. The 24-demand baseline pipeline is 15 plus 9.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This slide decomposes the portfolio position by lifecycle stage and year of demand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IMG_B8C720AD-BF08-4FAC-A6CA-DB10B99E906B.jpeg.</a:t>
            </a:r>
          </a:p>
          <a:p xmlns:a="http://schemas.openxmlformats.org/drawingml/2006/main">
            <a:r>
              <a:t>VERIFIED: 20 supporting demands: 7 Completed, 9 Baseline 1 and 4 Baseline 0 across 11 platforms. Platform counts are Core Banking Platform 5, Mobile Banking - Retail 4, FinOne 3 and eight other platforms with one demand each.</a:t>
            </a:r>
          </a:p>
          <a:p xmlns:a="http://schemas.openxmlformats.org/drawingml/2006/main">
            <a:r>
              <a:t>DERIVED: 35% completed is 7 divided by 20. Active baseline is 9 plus 4, equal to 13 or 65% of supporting demands. Platform counts were grouped directly from the 20 visible rows.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supporting portfolio extends Cards delivery across 11 platforms. Seven items are complete, while 13 remain active in Baseline 0 or Baseline 1. The largest concentrations sit in Core Banking, Mobile Banking and FinOne.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IMG_8FDCA664-8D70-4187-80A2-1FCAAC74536A.jpeg, IMG_7D69CBF7-3197-4ACE-A4AA-A5CB9ECD8C38.jpeg and IMG_6C7E5331-A428-4C07-8298-460A4376BEA9.jpeg.</a:t>
            </a:r>
          </a:p>
          <a:p xmlns:a="http://schemas.openxmlformats.org/drawingml/2006/main">
            <a:r>
              <a:t>VERIFIED: 13 visible resources: Ebrahim Hassan Marzoughi; Abdul Rahman; Ashraf Shahidali Ansari; Bilal Elkiri; Habibur Rahman; Heshmat Moffah; Leo Dilip Kumar Anthony; Syed Mujahid Hassan; Tarek Mohamed AbdelAziz; Jince Jose; Kamalakannan B. (surname truncated in the source); Muhammad Haris Azfar; Muhammad Umer Waqas. Visible role labels are represented in concise form.</a:t>
            </a:r>
          </a:p>
          <a:p xmlns:a="http://schemas.openxmlformats.org/drawingml/2006/main">
            <a:r>
              <a:t>DERIVED: The three capability groups are derived from the visible reporting structure and role titles. The 56-demand portfolio is verified from the consolidated Cards demand statistics. The generic team illustration does not depict any named employee.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Cards Squad brings portfolio leadership, project delivery, engineering and assurance together across the full demand lifecycle.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IMG_9453F031-49AD-4FB5-A10C-0BBC67F65DBF.jpeg.</a:t>
            </a:r>
          </a:p>
          <a:p xmlns:a="http://schemas.openxmlformats.org/drawingml/2006/main">
            <a:r>
              <a:t>VERIFIED: 32 total go-lives: 25 completed and 7 planned. Completed monthly counts are Jan 7, Feb 2, Mar 1, Apr 1, May 4, Jun 0, Jul 3, Aug 1, Sep 5, Oct 1, Nov 0 and Dec 0. Planned counts are Oct 3, Dec 3 and Jan 2027 1.</a:t>
            </a:r>
          </a:p>
          <a:p xmlns:a="http://schemas.openxmlformats.org/drawingml/2006/main">
            <a:r>
              <a:t>DERIVED: 78% is 25 divided by 32, rounded to the nearest whole percentage.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slide shows delivered volume first, then locates the seven remaining scheduled go-lives by month.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IMG_B4D6B5BE-FBEC-4715-B676-719BF6C5D496.jpeg, IMG_FEC5FBBC-CA27-48A4-A3AF-826FD80105E2.jpeg and IMG_AB07E44D-4585-4840-86BD-501E4B809AE6.jpeg.</a:t>
            </a:r>
          </a:p>
          <a:p xmlns:a="http://schemas.openxmlformats.org/drawingml/2006/main">
            <a:r>
              <a:t>VERIFIED: DMGT-993 Jaywan Mono-Badge Debit Cards completed on 26 Oct 2025. DMGT-1978 and DMGT-1979 show e-commerce transactions live with tokenization access or UAT in progress. DMGT-1305 Jaywan Visa Co-Badged Debit Cards and DMGT-1863 Jaywan Standards Uplift to V1.8 are Baseline 1 with target date 11 Dec 2026.</a:t>
            </a:r>
          </a:p>
          <a:p xmlns:a="http://schemas.openxmlformats.org/drawingml/2006/main">
            <a:r>
              <a:t>DERIVED: The programme progression groups verified Jaywan demands by delivered and current stage; no benefit values are inferred.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Flourish.</a:t>
            </a:r>
          </a:p>
          <a:p xmlns:a="http://schemas.openxmlformats.org/drawingml/2006/main">
            <a:r>
              <a:t>NARRATIVE: The slide narrates the delivered Jaywan foundation and the verified expansion into co-badging, tokenization and scheme uplift.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IMG_258ABD3F-5921-4186-BE6A-7CCD9666DF47.jpeg, IMG_B8FA6345-8936-40D1-9489-976E7D3715B3.jpeg, IMG_2210AAD2-88BA-438E-96E4-0142F1AE5012.jpeg, IMG_AB07E44D-4585-4840-86BD-501E4B809AE6.jpeg and IMG_FEC5FBBC-CA27-48A4-A3AF-826FD80105E2.jpeg.</a:t>
            </a:r>
          </a:p>
          <a:p xmlns:a="http://schemas.openxmlformats.org/drawingml/2006/main">
            <a:r>
              <a:t>VERIFIED: Customer communications: DMGT-242 completed 23 Feb 2026; DMGT-144 completed 17 May 2026; DMGT-2414 completed 6 Sep 2026; DMGT-2415 is in UAT; DMGT-1266 is in UAT with target 18 Oct 2026. Revenue and propositions: DMGT-125 completed 26 Apr 2026; DMGT-1960 completed 10 May 2026; DMGT-2143 completed 6 Sep 2026; DMGT-1329 targets 23 Oct 2026; DMGT-1680 targets 6 Dec 2026; DMGT-672 targets 15 Jan 2027.</a:t>
            </a:r>
          </a:p>
          <a:p xmlns:a="http://schemas.openxmlformats.org/drawingml/2006/main">
            <a:r>
              <a:t>DERIVED: The two tracks organize verified projects by business outcome theme. No financial benefit values are inferred.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Flourish.</a:t>
            </a:r>
          </a:p>
          <a:p xmlns:a="http://schemas.openxmlformats.org/drawingml/2006/main">
            <a:r>
              <a:t>NARRATIVE: The slide shows how delivered customer communications connect to UAT work and scheduled proposition releases.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IMG_B4D6B5BE-FBEC-4715-B676-719BF6C5D496.jpeg, IMG_258ABD3F-5921-4186-BE6A-7CCD9666DF47.jpeg, IMG_B8FA6345-8936-40D1-9489-976E7D3715B3.jpeg and IMG_69F75D47-98CE-4A3A-B11C-84351EC9E8F3.jpeg.</a:t>
            </a:r>
          </a:p>
          <a:p xmlns:a="http://schemas.openxmlformats.org/drawingml/2006/main">
            <a:r>
              <a:t>VERIFIED: Six completed audit or regulatory deliveries shown: DMGT-993 on 26 Oct 2025; DMGT-1307 on 25 Jan 2026; DMGT-982 on 15 Mar 2026; DMGT-1091 and DMGT-984 on 17 May 2026; DMGT-1780 on 3 Sep 2026. Current control pipeline examples are DMGT-2345, DMGT-1570 and DMGT-651.</a:t>
            </a:r>
          </a:p>
          <a:p xmlns:a="http://schemas.openxmlformats.org/drawingml/2006/main">
            <a:r>
              <a:t>DERIVED: Two audit items and four regulatory items are counted from the verified demand segment classifications shown in the screenshots.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Protect.</a:t>
            </a:r>
          </a:p>
          <a:p xmlns:a="http://schemas.openxmlformats.org/drawingml/2006/main">
            <a:r>
              <a:t>NARRATIVE: The slide consolidates completed control outcomes and three verified items still in planning or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IMG_9453F031-49AD-4FB5-A10C-0BBC67F65DBF.jpeg plus IMG_FEC5FBBC-CA27-48A4-A3AF-826FD80105E2.jpeg, IMG_AB07E44D-4585-4840-86BD-501E4B809AE6.jpeg, IMG_69F75D47-98CE-4A3A-B11C-84351EC9E8F3.jpeg and IMG_2210AAD2-88BA-438E-96E4-0142F1AE5012.jpeg.</a:t>
            </a:r>
          </a:p>
          <a:p xmlns:a="http://schemas.openxmlformats.org/drawingml/2006/main">
            <a:r>
              <a:t>VERIFIED: The seven planned go-lives reconcile to the pivot: 3 in Oct 2026, 3 in Dec 2026 and 1 in Jan 2027. The named projects and target dates are DMGT-2162 10 Oct; DMGT-1266 18 Oct; DMGT-1329 23 Oct; DMGT-1680 6 Dec; DMGT-1305 and DMGT-1863 11 Dec; DMGT-672 15 Jan 2027.</a:t>
            </a:r>
          </a:p>
          <a:p xmlns:a="http://schemas.openxmlformats.org/drawingml/2006/main">
            <a:r>
              <a:t>DERIVED: The roadmap aligns the seven named project dates to the monthly planned counts in the consolidated go-live pivot.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Build.</a:t>
            </a:r>
          </a:p>
          <a:p xmlns:a="http://schemas.openxmlformats.org/drawingml/2006/main">
            <a:r>
              <a:t>NARRATIVE: The slide converts the monthly plan into a named executive delivery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IMG_8CF6D7E4-E31F-4C6C-9E8E-7E059150168F.jpeg, IMG_9453F031-49AD-4FB5-A10C-0BBC67F65DBF.jpeg and project screenshots supporting the seven planned releases.</a:t>
            </a:r>
          </a:p>
          <a:p xmlns:a="http://schemas.openxmlformats.org/drawingml/2006/main">
            <a:r>
              <a:t>VERIFIED: 56 total demands; 25 completed; 15 Baseline 1; 9 Baseline 0; 7 under discussion; 25 completed go-lives; 7 planned go-lives; final named target is DMGT-672 Credit Shield enrolment on 15 Jan 2027.</a:t>
            </a:r>
          </a:p>
          <a:p xmlns:a="http://schemas.openxmlformats.org/drawingml/2006/main">
            <a:r>
              <a:t>DERIVED: 24 active baseline demands is 15 plus 9. 45% completed is 25 divided by 56, rounded to the nearest whole percentage.</a:t>
            </a:r>
          </a:p>
          <a:p xmlns:a="http://schemas.openxmlformats.org/drawingml/2006/main">
            <a:r>
              <a:t>SIMULATED: None displayed.</a:t>
            </a:r>
          </a:p>
          <a:p xmlns:a="http://schemas.openxmlformats.org/drawingml/2006/main">
            <a:r>
              <a:t>IT STRATEGY PILLAR: Flourish.</a:t>
            </a:r>
          </a:p>
          <a:p xmlns:a="http://schemas.openxmlformats.org/drawingml/2006/main">
            <a:r>
              <a:t>NARRATIVE: The closing slide restates the delivery position and the confirmed horizon of the forward plan without adding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9f88cc9194d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2d92e9b55f4366" /><Relationship Type="http://schemas.openxmlformats.org/officeDocument/2006/relationships/slideLayout" Target="/ppt/slideLayouts/slideLayout1.xml" Id="R65c9c2b2fadb48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9c2b2fadb48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2264efeb4087" /><Relationship Type="http://schemas.openxmlformats.org/officeDocument/2006/relationships/image" Target="/ppt/media/image.png" Id="R2da40cba9f5e4796" /><Relationship Type="http://schemas.openxmlformats.org/officeDocument/2006/relationships/image" Target="/ppt/media/image.svg" Id="R497d915124d54ff0" /><Relationship Type="http://schemas.openxmlformats.org/officeDocument/2006/relationships/image" Target="/ppt/media/image2.png" Id="R02c1228946054e67" /><Relationship Type="http://schemas.openxmlformats.org/officeDocument/2006/relationships/image" Target="/ppt/media/image2.svg" Id="Ra73a46754ce546f7" /><Relationship Type="http://schemas.openxmlformats.org/officeDocument/2006/relationships/image" Target="/ppt/media/image3.png" Id="R7cca11f321194d9f" /><Relationship Type="http://schemas.openxmlformats.org/officeDocument/2006/relationships/image" Target="/ppt/media/image3.svg" Id="R4ee5e791d92e4124" /><Relationship Type="http://schemas.openxmlformats.org/officeDocument/2006/relationships/notesSlide" Target="/ppt/notesSlides/notesSlide1.xml" Id="Ra258f841520a43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b381fb5be4e6f" /><Relationship Type="http://schemas.openxmlformats.org/officeDocument/2006/relationships/image" Target="/ppt/media/image4.png" Id="R466e26a50f40445e" /><Relationship Type="http://schemas.openxmlformats.org/officeDocument/2006/relationships/image" Target="/ppt/media/image4.svg" Id="R07ea7cac4f1b414d" /><Relationship Type="http://schemas.openxmlformats.org/officeDocument/2006/relationships/notesSlide" Target="/ppt/notesSlides/notesSlide2.xml" Id="R4f783993b7f7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39557cc49426e" /><Relationship Type="http://schemas.openxmlformats.org/officeDocument/2006/relationships/image" Target="/ppt/media/image5.png" Id="R49112c7b9f854aa6" /><Relationship Type="http://schemas.openxmlformats.org/officeDocument/2006/relationships/image" Target="/ppt/media/image5.svg" Id="R3d32000ec1fb4a48" /><Relationship Type="http://schemas.openxmlformats.org/officeDocument/2006/relationships/chart" Target="/ppt/slides/charts/chart1.xml" Id="R1f58e1c8d7334ce8" /><Relationship Type="http://schemas.openxmlformats.org/officeDocument/2006/relationships/notesSlide" Target="/ppt/notesSlides/notesSlide3.xml" Id="Racc04ce231fb4d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43d0b54f646c0" /><Relationship Type="http://schemas.openxmlformats.org/officeDocument/2006/relationships/image" Target="/ppt/media/image6.png" Id="Rd886e4e1dc894022" /><Relationship Type="http://schemas.openxmlformats.org/officeDocument/2006/relationships/image" Target="/ppt/media/image6.svg" Id="R63d25d6996e34fcd" /><Relationship Type="http://schemas.openxmlformats.org/officeDocument/2006/relationships/chart" Target="/ppt/slides/charts/chart2.xml" Id="Rca9cbe823a7841e7" /><Relationship Type="http://schemas.openxmlformats.org/officeDocument/2006/relationships/notesSlide" Target="/ppt/notesSlides/notesSlide4.xml" Id="R88d999fa62ff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4afde99e146c6" /><Relationship Type="http://schemas.openxmlformats.org/officeDocument/2006/relationships/image" Target="/ppt/media/image7.png" Id="R945ad4b2ed314e98" /><Relationship Type="http://schemas.openxmlformats.org/officeDocument/2006/relationships/image" Target="/ppt/media/image7.svg" Id="Rec4bfad108cc430c" /><Relationship Type="http://schemas.openxmlformats.org/officeDocument/2006/relationships/image" Target="/ppt/media/image8.png" Id="Rfcbc83a7ceaf4dba" /><Relationship Type="http://schemas.openxmlformats.org/officeDocument/2006/relationships/notesSlide" Target="/ppt/notesSlides/notesSlide5.xml" Id="R5a58cf7c821e42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6a2e288d048a6" /><Relationship Type="http://schemas.openxmlformats.org/officeDocument/2006/relationships/image" Target="/ppt/media/image9.png" Id="R50c9cf99f9de46fa" /><Relationship Type="http://schemas.openxmlformats.org/officeDocument/2006/relationships/image" Target="/ppt/media/image8.svg" Id="Rd1d7259437b34ac2" /><Relationship Type="http://schemas.openxmlformats.org/officeDocument/2006/relationships/chart" Target="/ppt/slides/charts/chart3.xml" Id="Ra41af3e202324c7a" /><Relationship Type="http://schemas.openxmlformats.org/officeDocument/2006/relationships/notesSlide" Target="/ppt/notesSlides/notesSlide6.xml" Id="Rc2079c6b837c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c192431d64063" /><Relationship Type="http://schemas.openxmlformats.org/officeDocument/2006/relationships/image" Target="/ppt/media/image10.png" Id="R7d60d17faba448d3" /><Relationship Type="http://schemas.openxmlformats.org/officeDocument/2006/relationships/image" Target="/ppt/media/image9.svg" Id="Rc73e622b08b54463" /><Relationship Type="http://schemas.openxmlformats.org/officeDocument/2006/relationships/notesSlide" Target="/ppt/notesSlides/notesSlide7.xml" Id="R6248f534ad7544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5abd2b33f48d1" /><Relationship Type="http://schemas.openxmlformats.org/officeDocument/2006/relationships/image" Target="/ppt/media/image11.png" Id="R4d2ff9c4299941cd" /><Relationship Type="http://schemas.openxmlformats.org/officeDocument/2006/relationships/image" Target="/ppt/media/image10.svg" Id="Re4182dbeaa9a4a23" /><Relationship Type="http://schemas.openxmlformats.org/officeDocument/2006/relationships/notesSlide" Target="/ppt/notesSlides/notesSlide8.xml" Id="R215617bc49fb47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aea878f2f4125" /><Relationship Type="http://schemas.openxmlformats.org/officeDocument/2006/relationships/image" Target="/ppt/media/image12.png" Id="R4a38eee04e7c4a18" /><Relationship Type="http://schemas.openxmlformats.org/officeDocument/2006/relationships/image" Target="/ppt/media/image11.svg" Id="Rcf03088c5d4b4639" /><Relationship Type="http://schemas.openxmlformats.org/officeDocument/2006/relationships/notesSlide" Target="/ppt/notesSlides/notesSlide9.xml" Id="R1f98eeb2204a4d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abf94ff894b0f" /><Relationship Type="http://schemas.openxmlformats.org/officeDocument/2006/relationships/image" Target="/ppt/media/image13.png" Id="R4d10cccc521947c1" /><Relationship Type="http://schemas.openxmlformats.org/officeDocument/2006/relationships/image" Target="/ppt/media/image12.svg" Id="R57f3238d440a47c6" /><Relationship Type="http://schemas.openxmlformats.org/officeDocument/2006/relationships/notesSlide" Target="/ppt/notesSlides/notesSlide10.xml" Id="R0f9f1fed869a4b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3a4d1ecac49fa" /><Relationship Type="http://schemas.openxmlformats.org/officeDocument/2006/relationships/image" Target="/ppt/media/image14.png" Id="Rf9bc5b1415f843d3" /><Relationship Type="http://schemas.openxmlformats.org/officeDocument/2006/relationships/image" Target="/ppt/media/image13.svg" Id="Rcc7c3142a0624960" /><Relationship Type="http://schemas.openxmlformats.org/officeDocument/2006/relationships/notesSlide" Target="/ppt/notesSlides/notesSlide11.xml" Id="Rfa2e99ddfb7c4d9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Demands</c:v>
          </c:tx>
          <c:spPr>
            <a:solidFill xmlns:a="http://schemas.openxmlformats.org/drawingml/2006/main">
              <a:srgbClr val="004C3F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7352E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cat>
            <c:numRef>
              <c:f>'Chart Data'!$A$2:$A$3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2026</c:v>
                </c:pt>
              </c:numCache>
            </c:num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</c:v>
                </c:pt>
                <c:pt idx="1">
                  <c:v>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D2926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5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Demands</c:v>
          </c:tx>
          <c:spPr>
            <a:solidFill xmlns:a="http://schemas.openxmlformats.org/drawingml/2006/main">
              <a:srgbClr val="004C3F"/>
            </a:solidFill>
            <a:ln xmlns:a="http://schemas.openxmlformats.org/drawingml/2006/main" w="0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rgbClr val="07352E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2F7668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58A32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35768A"/>
              </a:solidFill>
              <a:ln xmlns:a="http://schemas.openxmlformats.org/drawingml/2006/main" w="0">
                <a:noFill/>
              </a:ln>
            </c:spPr>
          </c:dPt>
          <c:cat>
            <c:strRef>
              <c:f>'Chart Data'!$A$2:$A$5</c:f>
              <c:strCache>
                <c:ptCount val="4"/>
                <c:pt idx="0">
                  <c:v>Core Banking</c:v>
                </c:pt>
                <c:pt idx="1">
                  <c:v>Mobile Banking</c:v>
                </c:pt>
                <c:pt idx="2">
                  <c:v>FinOne</c:v>
                </c:pt>
                <c:pt idx="3">
                  <c:v>Other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D2926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Completed</c:v>
          </c:tx>
          <c:spPr>
            <a:solidFill xmlns:a="http://schemas.openxmlformats.org/drawingml/2006/main">
              <a:srgbClr val="07352E"/>
            </a:solidFill>
            <a:ln xmlns:a="http://schemas.openxmlformats.org/drawingml/2006/main" w="0">
              <a:noFill/>
            </a:ln>
          </c:spPr>
          <c:cat>
            <c:strRef>
              <c:f>'Chart Data'!$A$2:$A$13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  <c:pt idx="5">
                  <c:v>0</c:v>
                </c:pt>
                <c:pt idx="6">
                  <c:v>3</c:v>
                </c:pt>
                <c:pt idx="7">
                  <c:v>1</c:v>
                </c:pt>
                <c:pt idx="8">
                  <c:v>5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v>Planned</c:v>
          </c:tx>
          <c:spPr>
            <a:solidFill xmlns:a="http://schemas.openxmlformats.org/drawingml/2006/main">
              <a:srgbClr val="B58A32"/>
            </a:solidFill>
            <a:ln xmlns:a="http://schemas.openxmlformats.org/drawingml/2006/main" w="0">
              <a:noFill/>
            </a:ln>
          </c:spPr>
          <c:cat>
            <c:strRef>
              <c:f>'Chart Data'!$C$2:$C$13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</c:v>
                </c:pt>
                <c:pt idx="10">
                  <c:v>0</c:v>
                </c:pt>
                <c:pt idx="11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35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7ED0B28F-0801-4E93-AFE4-0A4055A2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441CFBF-4966-4957-A060-51118F18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CARDS PORTFOLIO 2026</a:t>
            </a:r>
          </a:p>
        </p:txBody>
      </p:sp>
      <p:sp>
        <p:nvSpPr>
          <p:cNvPr id="3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2D8B3CEC-534C-41BB-9A20-730E996D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portfolio demand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customer delivery</a:t>
            </a:r>
          </a:p>
        </p:txBody>
      </p:sp>
      <p:sp>
        <p:nvSpPr>
          <p:cNvPr id="4" name="cover-position">
            <a:extLst xmlns:a="http://schemas.openxmlformats.org/drawingml/2006/main">
              <a:ext uri="{FF2B5EF4-FFF2-40B4-BE49-F238E27FC236}">
                <a16:creationId xmlns:a16="http://schemas.microsoft.com/office/drawing/2014/main" id="{C5F59243-1B49-4BB4-A837-600E6E82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9E4"/>
                </a:solidFill>
                <a:latin typeface="Aptos"/>
                <a:ea typeface="Aptos"/>
                <a:cs typeface="Aptos"/>
              </a:rPr>
              <a:t>56 demands with 25 completed and seven planned go-lives through January 2027</a:t>
            </a:r>
          </a:p>
        </p:txBody>
      </p:sp>
      <p:sp>
        <p:nvSpPr>
          <p:cNvPr id="5" name="cover-card-back">
            <a:extLst xmlns:a="http://schemas.openxmlformats.org/drawingml/2006/main">
              <a:ext uri="{FF2B5EF4-FFF2-40B4-BE49-F238E27FC236}">
                <a16:creationId xmlns:a16="http://schemas.microsoft.com/office/drawing/2014/main" id="{65C7981A-D574-4FB2-BAAD-C2098A35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23950"/>
            <a:ext cx="272415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A8B83"/>
            </a:solidFill>
            <a:prstDash val="solid"/>
          </a:ln>
        </p:spPr>
      </p:sp>
      <p:sp>
        <p:nvSpPr>
          <p:cNvPr id="6" name="cover-card-mid">
            <a:extLst xmlns:a="http://schemas.openxmlformats.org/drawingml/2006/main">
              <a:ext uri="{FF2B5EF4-FFF2-40B4-BE49-F238E27FC236}">
                <a16:creationId xmlns:a16="http://schemas.microsoft.com/office/drawing/2014/main" id="{25D883C2-3461-4EEB-9975-A871FAFE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2724150" cy="171450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B58A32"/>
            </a:solidFill>
            <a:prstDash val="solid"/>
          </a:ln>
        </p:spPr>
      </p:sp>
      <p:sp>
        <p:nvSpPr>
          <p:cNvPr id="7" name="cover-card-front">
            <a:extLst xmlns:a="http://schemas.openxmlformats.org/drawingml/2006/main">
              <a:ext uri="{FF2B5EF4-FFF2-40B4-BE49-F238E27FC236}">
                <a16:creationId xmlns:a16="http://schemas.microsoft.com/office/drawing/2014/main" id="{7A96DC16-FAEA-40CD-85E8-D60F498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2724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19050">
            <a:solidFill>
              <a:srgbClr val="EFE5CF"/>
            </a:solidFill>
            <a:prstDash val="solid"/>
          </a:ln>
        </p:spPr>
      </p:sp>
      <p:sp>
        <p:nvSpPr>
          <p:cNvPr id="8" name="cover-chip">
            <a:extLst xmlns:a="http://schemas.openxmlformats.org/drawingml/2006/main">
              <a:ext uri="{FF2B5EF4-FFF2-40B4-BE49-F238E27FC236}">
                <a16:creationId xmlns:a16="http://schemas.microsoft.com/office/drawing/2014/main" id="{8710F8DD-2499-4B1B-94BC-40F151AB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523875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9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064848E1-A852-4892-9751-EEEA1C9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114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B3D1D-6798-4291-A7B3-EFAA5E30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861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CA5C2-D324-4F4C-AC82-B0880495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29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23 SEPTEMBER 2026</a:t>
            </a:r>
          </a:p>
        </p:txBody>
      </p:sp>
      <p:sp>
        <p:nvSpPr>
          <p:cNvPr id="12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50D8F5D3-8427-4677-9CA4-A037E9BA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13" name="cover-protect-circle">
            <a:extLst xmlns:a="http://schemas.openxmlformats.org/drawingml/2006/main">
              <a:ext uri="{FF2B5EF4-FFF2-40B4-BE49-F238E27FC236}">
                <a16:creationId xmlns:a16="http://schemas.microsoft.com/office/drawing/2014/main" id="{7EEC3254-8276-42F1-97EE-DDD8590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40cba9f5e4796">
            <a:extLst>
              <a:ext uri="{96DAC541-7B7A-43D3-8B79-37D633B846F1}">
                <asvg:svgBlip xmlns:asvg="http://schemas.microsoft.com/office/drawing/2016/SVG/main" r:embed="R497d915124d54f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0575" y="5324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BA384-AB55-4B42-8E5F-F7D0A3E4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22DC4-B732-4630-A54F-0E3DD5FD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4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Secure delivery and controls</a:t>
            </a:r>
          </a:p>
        </p:txBody>
      </p:sp>
      <p:sp>
        <p:nvSpPr>
          <p:cNvPr id="17" name="cover-build-circle">
            <a:extLst xmlns:a="http://schemas.openxmlformats.org/drawingml/2006/main">
              <a:ext uri="{FF2B5EF4-FFF2-40B4-BE49-F238E27FC236}">
                <a16:creationId xmlns:a16="http://schemas.microsoft.com/office/drawing/2014/main" id="{8E782535-AFA9-4CE0-AEF4-0D2622F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1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1228946054e67">
            <a:extLst>
              <a:ext uri="{96DAC541-7B7A-43D3-8B79-37D633B846F1}">
                <asvg:svgBlip xmlns:asvg="http://schemas.microsoft.com/office/drawing/2016/SVG/main" r:embed="Ra73a46754ce546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05225" y="5324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E96DB-78D9-43E0-B4CD-515AF27D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D9056-C48E-40DF-9E97-5979CAE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4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Portfolio execution and capability</a:t>
            </a:r>
          </a:p>
        </p:txBody>
      </p:sp>
      <p:sp>
        <p:nvSpPr>
          <p:cNvPr id="21" name="cover-flourish-circle">
            <a:extLst xmlns:a="http://schemas.openxmlformats.org/drawingml/2006/main">
              <a:ext uri="{FF2B5EF4-FFF2-40B4-BE49-F238E27FC236}">
                <a16:creationId xmlns:a16="http://schemas.microsoft.com/office/drawing/2014/main" id="{9D164E24-B094-45F1-B061-7945012D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19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a11f321194d9f">
            <a:extLst>
              <a:ext uri="{96DAC541-7B7A-43D3-8B79-37D633B846F1}">
                <asvg:svgBlip xmlns:asvg="http://schemas.microsoft.com/office/drawing/2016/SVG/main" r:embed="R4ee5e791d92e41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19875" y="5324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A34412-DE03-429D-996D-9BC89408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91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D2A7E-C897-42F4-A1E4-1EB8EA38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4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journeys and propositions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8B6D8-2D36-40D2-8D8A-5CEEDACB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5277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brand-edge">
            <a:extLst xmlns:a="http://schemas.openxmlformats.org/drawingml/2006/main">
              <a:ext uri="{FF2B5EF4-FFF2-40B4-BE49-F238E27FC236}">
                <a16:creationId xmlns:a16="http://schemas.microsoft.com/office/drawing/2014/main" id="{8D088B0D-9620-41F6-92A9-8E5AA635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81AE8D95-9013-4FB5-9EC0-14F2C66E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E3E54CD-0F93-4C0A-9E6E-B19A6E7D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CARDS PORTFOLIO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BC1F6B38-C385-4BA3-9CE8-7DB46779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e26a50f40445e">
            <a:extLst>
              <a:ext uri="{96DAC541-7B7A-43D3-8B79-37D633B846F1}">
                <asvg:svgBlip xmlns:asvg="http://schemas.microsoft.com/office/drawing/2016/SVG/main" r:embed="R07ea7cac4f1b41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5F02E-FA2D-48A3-BB04-5F37096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F1978960-9126-44A8-A765-DAF8659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25 demands delivered across a 56-demand Cards portfolio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740CB929-76E4-45AB-8B32-03088860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Consolidated portfolio position at 23 September 2026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2EB0910-F0D9-46BC-B370-E91CD47B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B8E699-C24E-4742-90A7-7E2393A7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09DF4-DF11-4FB2-8F43-BB98B1F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0002AF3A-4D98-4B82-AD3E-9B003394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75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45B12-75AB-45D7-8EF7-68362738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DD154-2EAC-42C5-90ED-F9660CE5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45% of the 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586E5-630E-4ADA-970D-CA15F3E9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The portfolio combines completed delivery with 24 demands in Baseline 0 or 1 and seven under discussion.</a:t>
            </a:r>
          </a:p>
        </p:txBody>
      </p:sp>
      <p:sp>
        <p:nvSpPr>
          <p:cNvPr id="16" name="morph-kpi-band">
            <a:extLst xmlns:a="http://schemas.openxmlformats.org/drawingml/2006/main">
              <a:ext uri="{FF2B5EF4-FFF2-40B4-BE49-F238E27FC236}">
                <a16:creationId xmlns:a16="http://schemas.microsoft.com/office/drawing/2014/main" id="{734DB861-9055-46E1-B2CE-EC7E06C2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05050"/>
            <a:ext cx="7600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kpi-div-1">
            <a:extLst xmlns:a="http://schemas.openxmlformats.org/drawingml/2006/main">
              <a:ext uri="{FF2B5EF4-FFF2-40B4-BE49-F238E27FC236}">
                <a16:creationId xmlns:a16="http://schemas.microsoft.com/office/drawing/2014/main" id="{367E2821-3B1B-43E6-9966-1AEEE8B4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527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8" name="kpi-div-2">
            <a:extLst xmlns:a="http://schemas.openxmlformats.org/drawingml/2006/main">
              <a:ext uri="{FF2B5EF4-FFF2-40B4-BE49-F238E27FC236}">
                <a16:creationId xmlns:a16="http://schemas.microsoft.com/office/drawing/2014/main" id="{7E0A0F35-6888-4942-97B4-798EE29E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9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7C729489-8DCF-4991-B99B-A296418D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431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0CEDD-78BB-4FD7-AA4E-71F0EAA1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62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ACTIVE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4E90E-EE43-4E04-9DE2-FA2F10FE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15 B1 + 9 B0</a:t>
            </a:r>
          </a:p>
        </p:txBody>
      </p:sp>
      <p:sp>
        <p:nvSpPr>
          <p:cNvPr id="22" name="morph-discussion-number">
            <a:extLst xmlns:a="http://schemas.openxmlformats.org/drawingml/2006/main">
              <a:ext uri="{FF2B5EF4-FFF2-40B4-BE49-F238E27FC236}">
                <a16:creationId xmlns:a16="http://schemas.microsoft.com/office/drawing/2014/main" id="{7EF3697A-E43D-48A5-B569-31BCBBD8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431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5768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35768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2DA19-F6B9-4BBF-ABE3-F2AFCDFE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62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UNDER DISCUSSION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3CC71-D718-44D0-AADC-9BC7BE7C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29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Technology review</a:t>
            </a:r>
          </a:p>
        </p:txBody>
      </p:sp>
      <p:sp>
        <p:nvSpPr>
          <p:cNvPr id="25" name="morph-golives-number">
            <a:extLst xmlns:a="http://schemas.openxmlformats.org/drawingml/2006/main">
              <a:ext uri="{FF2B5EF4-FFF2-40B4-BE49-F238E27FC236}">
                <a16:creationId xmlns:a16="http://schemas.microsoft.com/office/drawing/2014/main" id="{AF08C1F9-7D9B-4FC5-A8AB-BECF690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431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7B010-30E8-4F07-B1D0-63B58227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62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GO-LIVES TRACKED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F9B10-E115-4395-B958-116F7BD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29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25 completed + 7 planned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76279-6F8A-4827-B292-2602DF9B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386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PORTFOLIO LIFECYCLE</a:t>
            </a:r>
          </a:p>
        </p:txBody>
      </p:sp>
      <p:sp>
        <p:nvSpPr>
          <p:cNvPr id="29" name="morph-status-0">
            <a:extLst xmlns:a="http://schemas.openxmlformats.org/drawingml/2006/main">
              <a:ext uri="{FF2B5EF4-FFF2-40B4-BE49-F238E27FC236}">
                <a16:creationId xmlns:a16="http://schemas.microsoft.com/office/drawing/2014/main" id="{15A71367-35B4-45F3-AAF6-471058E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43425"/>
            <a:ext cx="3393281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39D918-5D95-4B0A-8C6C-D5CEDAF3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67250"/>
            <a:ext cx="33932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1" name="morph-status-1">
            <a:extLst xmlns:a="http://schemas.openxmlformats.org/drawingml/2006/main">
              <a:ext uri="{FF2B5EF4-FFF2-40B4-BE49-F238E27FC236}">
                <a16:creationId xmlns:a16="http://schemas.microsoft.com/office/drawing/2014/main" id="{3F23C170-4E4F-41CF-918A-7993E9C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4543425"/>
            <a:ext cx="2035969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E4DCA-6C60-4E11-99D2-EBAB5D18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4667250"/>
            <a:ext cx="203596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3" name="morph-status-2">
            <a:extLst xmlns:a="http://schemas.openxmlformats.org/drawingml/2006/main">
              <a:ext uri="{FF2B5EF4-FFF2-40B4-BE49-F238E27FC236}">
                <a16:creationId xmlns:a16="http://schemas.microsoft.com/office/drawing/2014/main" id="{A6435E63-735C-4188-989B-70A1438F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43425"/>
            <a:ext cx="1221581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F467CD-9804-4BCC-97E5-0FA8914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122158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5" name="morph-status-3">
            <a:extLst xmlns:a="http://schemas.openxmlformats.org/drawingml/2006/main">
              <a:ext uri="{FF2B5EF4-FFF2-40B4-BE49-F238E27FC236}">
                <a16:creationId xmlns:a16="http://schemas.microsoft.com/office/drawing/2014/main" id="{5132D67C-1751-4874-BCD8-87DF9221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31" y="4543425"/>
            <a:ext cx="950119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9F36B6-0CE2-4C1D-BBED-3360E87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31" y="4667250"/>
            <a:ext cx="95011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37DCA-7F4B-4A85-882E-96C2E32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81600"/>
            <a:ext cx="33932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 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6372D7-8087-41DD-831A-15F41267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581" y="5181600"/>
            <a:ext cx="203596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 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2AC289-1A1B-4DB4-811F-5090AD11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81600"/>
            <a:ext cx="12215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0 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3B28A1-3D3B-4146-8E99-455984BE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131" y="5181600"/>
            <a:ext cx="950119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Under discussion 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1296EF-B94C-48EB-84DB-FE86993D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C4F7A8-2190-4EE7-8176-E58E99F6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0102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TOTAL DEMANDS</a:t>
            </a:r>
          </a:p>
        </p:txBody>
      </p:sp>
    </p:spTree>
    <p:extLst>
      <p:ext uri="{BB962C8B-B14F-4D97-AF65-F5344CB8AC3E}">
        <p14:creationId xmlns:p14="http://schemas.microsoft.com/office/powerpoint/2010/main" val="1611319198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edge">
            <a:extLst xmlns:a="http://schemas.openxmlformats.org/drawingml/2006/main">
              <a:ext uri="{FF2B5EF4-FFF2-40B4-BE49-F238E27FC236}">
                <a16:creationId xmlns:a16="http://schemas.microsoft.com/office/drawing/2014/main" id="{67C30D8A-13F4-4B38-9A73-481CCE03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7CCCCD27-E8FE-408E-9EBC-1400B8DB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296B4F4-ABDD-4355-B4AB-A28A300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PORTFOLIO COMPOSITION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87CE9074-6AE9-45BD-9C00-8FD10B11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12c7b9f854aa6">
            <a:extLst>
              <a:ext uri="{96DAC541-7B7A-43D3-8B79-37D633B846F1}">
                <asvg:svgBlip xmlns:asvg="http://schemas.microsoft.com/office/drawing/2016/SVG/main" r:embed="R3d32000ec1fb4a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1ADA0-D346-43ED-8F35-30D08421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A0DF1124-AA7A-4E3F-9E7A-F1BDFA8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Completed delivery represents 45% of the portfolio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10E6FF52-B181-4493-9101-70181801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Status distribution and demand origin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8375A78-3C99-4F42-B8EA-0AE031DD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A2A5A10A-42B8-42D7-8B81-53D33E65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05E2F-6823-465C-BF50-EB204933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A8D7D-A81E-4CE7-A592-DD088D6D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STATUS MIX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B1375-8677-48CA-A85C-384C1A31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4" name="status-track-0">
            <a:extLst xmlns:a="http://schemas.openxmlformats.org/drawingml/2006/main">
              <a:ext uri="{FF2B5EF4-FFF2-40B4-BE49-F238E27FC236}">
                <a16:creationId xmlns:a16="http://schemas.microsoft.com/office/drawing/2014/main" id="{2EC7644F-6FB8-400E-AFAA-3CF983E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57475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5" name="morph-status-0">
            <a:extLst xmlns:a="http://schemas.openxmlformats.org/drawingml/2006/main">
              <a:ext uri="{FF2B5EF4-FFF2-40B4-BE49-F238E27FC236}">
                <a16:creationId xmlns:a16="http://schemas.microsoft.com/office/drawing/2014/main" id="{8286666B-0C78-47EB-8E4A-BF710B1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57475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F4D29-29A0-4524-9BFF-E0E4323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735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352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98E27-30E7-4B25-B611-DA361F3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18" name="status-track-1">
            <a:extLst xmlns:a="http://schemas.openxmlformats.org/drawingml/2006/main">
              <a:ext uri="{FF2B5EF4-FFF2-40B4-BE49-F238E27FC236}">
                <a16:creationId xmlns:a16="http://schemas.microsoft.com/office/drawing/2014/main" id="{81D0BCE1-D833-4F13-8956-00B65EE4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2800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9" name="morph-status-1">
            <a:extLst xmlns:a="http://schemas.openxmlformats.org/drawingml/2006/main">
              <a:ext uri="{FF2B5EF4-FFF2-40B4-BE49-F238E27FC236}">
                <a16:creationId xmlns:a16="http://schemas.microsoft.com/office/drawing/2014/main" id="{9A1A18CD-0E0D-44B8-93BE-DD632ADF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2800"/>
            <a:ext cx="24574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0D77E-6F21-4AF5-93B5-62ADB95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95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F766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766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D1D9A-E62B-4D71-A79A-C5ECC1BF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0</a:t>
            </a:r>
          </a:p>
        </p:txBody>
      </p:sp>
      <p:sp>
        <p:nvSpPr>
          <p:cNvPr id="22" name="status-track-2">
            <a:extLst xmlns:a="http://schemas.openxmlformats.org/drawingml/2006/main">
              <a:ext uri="{FF2B5EF4-FFF2-40B4-BE49-F238E27FC236}">
                <a16:creationId xmlns:a16="http://schemas.microsoft.com/office/drawing/2014/main" id="{FA1A6A84-391D-4E2B-B0CA-C9E8BE55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48125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3" name="morph-status-2">
            <a:extLst xmlns:a="http://schemas.openxmlformats.org/drawingml/2006/main">
              <a:ext uri="{FF2B5EF4-FFF2-40B4-BE49-F238E27FC236}">
                <a16:creationId xmlns:a16="http://schemas.microsoft.com/office/drawing/2014/main" id="{F4A54ED7-7F06-4427-BC9F-68D8C695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48125"/>
            <a:ext cx="147447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08509-9F52-4769-94B5-4989329E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64839-11E8-406D-874F-03E59EF7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Under discussion</a:t>
            </a:r>
          </a:p>
        </p:txBody>
      </p:sp>
      <p:sp>
        <p:nvSpPr>
          <p:cNvPr id="26" name="status-track-3">
            <a:extLst xmlns:a="http://schemas.openxmlformats.org/drawingml/2006/main">
              <a:ext uri="{FF2B5EF4-FFF2-40B4-BE49-F238E27FC236}">
                <a16:creationId xmlns:a16="http://schemas.microsoft.com/office/drawing/2014/main" id="{24209FDC-950C-4404-B6D0-16DDD74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43450"/>
            <a:ext cx="40957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7" name="morph-status-3">
            <a:extLst xmlns:a="http://schemas.openxmlformats.org/drawingml/2006/main">
              <a:ext uri="{FF2B5EF4-FFF2-40B4-BE49-F238E27FC236}">
                <a16:creationId xmlns:a16="http://schemas.microsoft.com/office/drawing/2014/main" id="{4BF4B3DA-155C-4DA1-8BA8-7CDEBCF7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43450"/>
            <a:ext cx="114681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8FBE7-C320-4881-8FD7-A6C1AF58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35768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5768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D59DE5D6-34FC-4A1E-8F74-A9F45E3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24 demands remain in Baseline 0 or Baseline 1</a:t>
            </a:r>
          </a:p>
        </p:txBody>
      </p:sp>
      <p:sp>
        <p:nvSpPr>
          <p:cNvPr id="30" name="year-surface">
            <a:extLst xmlns:a="http://schemas.openxmlformats.org/drawingml/2006/main">
              <a:ext uri="{FF2B5EF4-FFF2-40B4-BE49-F238E27FC236}">
                <a16:creationId xmlns:a16="http://schemas.microsoft.com/office/drawing/2014/main" id="{B4150863-E381-42D3-BEB7-CAFDA747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417195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6E24FD-0C21-46F2-A96C-8B49342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DEMANDS CREATED BY YEAR</a:t>
            </a:r>
          </a:p>
        </p:txBody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7658100" y="2876550"/>
          <a:ext xmlns:a="http://schemas.openxmlformats.org/drawingml/2006/main" cx="3429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58e1c8d7334ce8"/>
          </a:graphicData>
        </a:graphic>
      </p:graphicFrame>
      <p:sp>
        <p:nvSpPr>
          <p:cNvPr id="33" name="year-rule">
            <a:extLst xmlns:a="http://schemas.openxmlformats.org/drawingml/2006/main">
              <a:ext uri="{FF2B5EF4-FFF2-40B4-BE49-F238E27FC236}">
                <a16:creationId xmlns:a16="http://schemas.microsoft.com/office/drawing/2014/main" id="{D20C8BB5-9602-4434-A694-4899148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197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DCDAA0-9A24-4099-804E-C359E6A1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1020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352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352E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867E99-8D93-4DFE-9902-0D55BD48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76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11F86A-1A19-42FC-8E37-74BAEAFD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10200"/>
            <a:ext cx="74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73768-B5C8-4ABD-B4F0-C0C6FA87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76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22809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brand-edge">
            <a:extLst xmlns:a="http://schemas.openxmlformats.org/drawingml/2006/main">
              <a:ext uri="{FF2B5EF4-FFF2-40B4-BE49-F238E27FC236}">
                <a16:creationId xmlns:a16="http://schemas.microsoft.com/office/drawing/2014/main" id="{F2FABC82-639F-48CE-837D-7D9DD6B5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51B3DB06-0652-43AD-9CD5-17C1C12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297EF0B-6862-458B-8667-C2F43455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SUPPORTING PORTFOLIO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D97AFF76-04A6-439E-BF3F-50A22FA4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6e4e1dc894022">
            <a:extLst>
              <a:ext uri="{96DAC541-7B7A-43D3-8B79-37D633B846F1}">
                <asvg:svgBlip xmlns:asvg="http://schemas.microsoft.com/office/drawing/2016/SVG/main" r:embed="R63d25d6996e34f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B76E4-B99B-42E0-BC85-2F999DA2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1A5E3AC9-92FB-43BC-BDF8-C3326AB4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20 supporting demands extend delivery across 11 platforms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BAB94515-0372-496F-B7AC-AAEC6639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Seven completed with 13 demands active in Baseline 0 or Baseline 1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06B4152-62EB-4863-8C32-D70F91B1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881056-3FB7-45E8-8FF4-487B0145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2BEA6-6F9C-4360-BEB8-C4F2BAB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supporting-primary">
            <a:extLst xmlns:a="http://schemas.openxmlformats.org/drawingml/2006/main">
              <a:ext uri="{FF2B5EF4-FFF2-40B4-BE49-F238E27FC236}">
                <a16:creationId xmlns:a16="http://schemas.microsoft.com/office/drawing/2014/main" id="{56211DD7-C6CA-422A-B86C-2AF7A4A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476500" cy="3524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3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9B21DD18-87B0-421D-ADA0-EBA1623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37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391E9-5359-4FA6-896B-D22283FA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SUPPORTING DEMANDS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9D806-595F-4501-A6D3-65CB2CDB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11 platforms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428C6-F101-4832-A21E-93CCD2C1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180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Delivery spans core banking, mobile, FinOne and eight additional platforms.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C0B95-5908-4A69-B701-3F2F6367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LIFECYCLE 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C9695-D166-4EA9-89A3-4D3BD67D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9" name="support-track-0">
            <a:extLst xmlns:a="http://schemas.openxmlformats.org/drawingml/2006/main">
              <a:ext uri="{FF2B5EF4-FFF2-40B4-BE49-F238E27FC236}">
                <a16:creationId xmlns:a16="http://schemas.microsoft.com/office/drawing/2014/main" id="{52F13986-8179-498F-9CDB-69CA51F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955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0" name="support-fill-0">
            <a:extLst xmlns:a="http://schemas.openxmlformats.org/drawingml/2006/main">
              <a:ext uri="{FF2B5EF4-FFF2-40B4-BE49-F238E27FC236}">
                <a16:creationId xmlns:a16="http://schemas.microsoft.com/office/drawing/2014/main" id="{495E1E89-6EAE-459B-A099-CC366166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95575"/>
            <a:ext cx="2222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ECC2C-87E7-4AE9-98AB-CE568B2A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28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735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352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F4B19-B6DE-41C0-9ECD-2FBBCF3E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6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D12A5-746D-4A2F-AF27-07CA6D55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24" name="support-track-1">
            <a:extLst xmlns:a="http://schemas.openxmlformats.org/drawingml/2006/main">
              <a:ext uri="{FF2B5EF4-FFF2-40B4-BE49-F238E27FC236}">
                <a16:creationId xmlns:a16="http://schemas.microsoft.com/office/drawing/2014/main" id="{4DE8D71E-54E2-4D29-9661-9F081CF0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432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5" name="support-fill-1">
            <a:extLst xmlns:a="http://schemas.openxmlformats.org/drawingml/2006/main">
              <a:ext uri="{FF2B5EF4-FFF2-40B4-BE49-F238E27FC236}">
                <a16:creationId xmlns:a16="http://schemas.microsoft.com/office/drawing/2014/main" id="{44795E1C-F12D-4BC9-9654-88136086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432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FFCFC-13DE-4EF1-A3F7-E9A4973C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F76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766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2D38E-2F61-4FF8-BC8A-05246639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314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45%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4D5BE-DF97-4F83-AE40-0B6CFBB2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Baseline 0</a:t>
            </a:r>
          </a:p>
        </p:txBody>
      </p:sp>
      <p:sp>
        <p:nvSpPr>
          <p:cNvPr id="29" name="support-track-2">
            <a:extLst xmlns:a="http://schemas.openxmlformats.org/drawingml/2006/main">
              <a:ext uri="{FF2B5EF4-FFF2-40B4-BE49-F238E27FC236}">
                <a16:creationId xmlns:a16="http://schemas.microsoft.com/office/drawing/2014/main" id="{EE1DDD67-6D47-4E38-A058-80E10BC1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0" name="support-fill-2">
            <a:extLst xmlns:a="http://schemas.openxmlformats.org/drawingml/2006/main">
              <a:ext uri="{FF2B5EF4-FFF2-40B4-BE49-F238E27FC236}">
                <a16:creationId xmlns:a16="http://schemas.microsoft.com/office/drawing/2014/main" id="{A5BB3C1A-2D92-4B2B-8585-FA9FA6F9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1270000" cy="219075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E4854-8537-4241-9424-1FABDC84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243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5527E2-1EB0-4E86-96F4-E1B48306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62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3" name="support-active-band">
            <a:extLst xmlns:a="http://schemas.openxmlformats.org/drawingml/2006/main">
              <a:ext uri="{FF2B5EF4-FFF2-40B4-BE49-F238E27FC236}">
                <a16:creationId xmlns:a16="http://schemas.microsoft.com/office/drawing/2014/main" id="{2B03CA79-3028-452B-BCF4-EAE526BD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76775"/>
            <a:ext cx="5305425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EFE5CF"/>
          </a:solidFill>
          <a:ln xmlns:a="http://schemas.openxmlformats.org/drawingml/2006/main" w="0">
            <a:noFill/>
          </a:ln>
        </p:spPr>
      </p:sp>
      <p:sp>
        <p:nvSpPr>
          <p:cNvPr id="34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40B04BC5-1083-4E2A-B22E-5F9D44FD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57750"/>
            <a:ext cx="87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600F5F-627A-4C15-9FDF-B1D451E9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86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ACTIVE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44F7A3-6D3D-4EB5-BB5C-AE6D23CB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62550"/>
            <a:ext cx="3762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65% of supporting demands are in Baseline 0 or Baseline 1</a:t>
            </a:r>
          </a:p>
        </p:txBody>
      </p:sp>
      <p:sp>
        <p:nvSpPr>
          <p:cNvPr id="37" name="support-platform-surface">
            <a:extLst xmlns:a="http://schemas.openxmlformats.org/drawingml/2006/main">
              <a:ext uri="{FF2B5EF4-FFF2-40B4-BE49-F238E27FC236}">
                <a16:creationId xmlns:a16="http://schemas.microsoft.com/office/drawing/2014/main" id="{322130CF-E959-4774-B0CE-304A2EA5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05050"/>
            <a:ext cx="2400300" cy="3524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0450A7-0D7B-4949-96C5-762D6A8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336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PLATFORM MIX</a:t>
            </a:r>
          </a:p>
        </p:txBody>
      </p:sp>
      <p:graphicFrame>
        <p:nvGraphicFramePr>
          <p:cNvPr id="79" name="Chart"/>
          <p:cNvGraphicFramePr/>
          <p:nvPr/>
        </p:nvGraphicFramePr>
        <p:xfrm>
          <a:off xmlns:a="http://schemas.openxmlformats.org/drawingml/2006/main" x="9334500" y="2914650"/>
          <a:ext xmlns:a="http://schemas.openxmlformats.org/drawingml/2006/main" cx="1952625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cbe823a7841e7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A75793-33AC-42CD-94D6-3EBCFFC2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02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Other = eight platforms with one demand each</a:t>
            </a:r>
          </a:p>
        </p:txBody>
      </p:sp>
    </p:spTree>
    <p:extLst>
      <p:ext uri="{BB962C8B-B14F-4D97-AF65-F5344CB8AC3E}">
        <p14:creationId xmlns:p14="http://schemas.microsoft.com/office/powerpoint/2010/main" val="474372385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brand-edge">
            <a:extLst xmlns:a="http://schemas.openxmlformats.org/drawingml/2006/main">
              <a:ext uri="{FF2B5EF4-FFF2-40B4-BE49-F238E27FC236}">
                <a16:creationId xmlns:a16="http://schemas.microsoft.com/office/drawing/2014/main" id="{C75EFFBF-17F6-46E8-8269-34B4A951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FF6E99D0-1C37-4B2A-9018-C29BA6DB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58226F58-D0B7-40E4-9830-99717E06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CARDS SQUAD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CB59D706-BF79-4975-AEB3-DEA83383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ad4b2ed314e98">
            <a:extLst>
              <a:ext uri="{96DAC541-7B7A-43D3-8B79-37D633B846F1}">
                <asvg:svgBlip xmlns:asvg="http://schemas.microsoft.com/office/drawing/2016/SVG/main" r:embed="Rec4bfad108cc43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A3B43-4E49-4FF4-B043-A868133C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02164754-25E1-4B8D-9B14-6A8675E5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One Cards Squad supports delivery across the full portfolio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8466127D-0867-4172-98FB-42109142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13 specialists connect leadership, delivery, engineering and assurance across 56 demands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D7D34A6-47A0-44B6-9C9A-485C6CD5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7DF297B-C364-4491-9A02-1F7DEA10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B74EA-980C-4719-B5E0-71E3FD44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squad-group-0">
            <a:extLst xmlns:a="http://schemas.openxmlformats.org/drawingml/2006/main">
              <a:ext uri="{FF2B5EF4-FFF2-40B4-BE49-F238E27FC236}">
                <a16:creationId xmlns:a16="http://schemas.microsoft.com/office/drawing/2014/main" id="{D9E2DF28-F0C9-46F6-8BE5-B5D846CA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66950" cy="37147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FE5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9B2AA-6DA0-464D-B7FF-E89A59A8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PORTFOLIO LEADERSHIP</a:t>
            </a:r>
          </a:p>
        </p:txBody>
      </p:sp>
      <p:sp>
        <p:nvSpPr>
          <p:cNvPr id="14" name="squad-count-0">
            <a:extLst xmlns:a="http://schemas.openxmlformats.org/drawingml/2006/main">
              <a:ext uri="{FF2B5EF4-FFF2-40B4-BE49-F238E27FC236}">
                <a16:creationId xmlns:a16="http://schemas.microsoft.com/office/drawing/2014/main" id="{0D21C013-6345-4BD0-9A38-55E83C00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6EBE6-8E0E-4EF1-9D01-602368B5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4792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squad-group-1">
            <a:extLst xmlns:a="http://schemas.openxmlformats.org/drawingml/2006/main">
              <a:ext uri="{FF2B5EF4-FFF2-40B4-BE49-F238E27FC236}">
                <a16:creationId xmlns:a16="http://schemas.microsoft.com/office/drawing/2014/main" id="{D1B4CA49-52F0-4A48-860D-E53F873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2266950" cy="37147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DF4F1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50013-4426-4FD9-BDC4-EE887AFF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DELIVERY MANAGEMENT</a:t>
            </a:r>
          </a:p>
        </p:txBody>
      </p:sp>
      <p:sp>
        <p:nvSpPr>
          <p:cNvPr id="18" name="squad-count-1">
            <a:extLst xmlns:a="http://schemas.openxmlformats.org/drawingml/2006/main">
              <a:ext uri="{FF2B5EF4-FFF2-40B4-BE49-F238E27FC236}">
                <a16:creationId xmlns:a16="http://schemas.microsoft.com/office/drawing/2014/main" id="{B18C0836-15E7-4F5B-88F5-23F1A674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726D0-5E48-432B-B6EB-17A4E159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4792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squad-group-2">
            <a:extLst xmlns:a="http://schemas.openxmlformats.org/drawingml/2006/main">
              <a:ext uri="{FF2B5EF4-FFF2-40B4-BE49-F238E27FC236}">
                <a16:creationId xmlns:a16="http://schemas.microsoft.com/office/drawing/2014/main" id="{E57F9353-E523-45AF-8D92-B7F5D2D6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66950"/>
            <a:ext cx="3219450" cy="37147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58F44-E189-493A-992B-DE7AAB9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574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ENGINEERING + ASSURANCE</a:t>
            </a:r>
          </a:p>
        </p:txBody>
      </p:sp>
      <p:sp>
        <p:nvSpPr>
          <p:cNvPr id="22" name="squad-count-2">
            <a:extLst xmlns:a="http://schemas.openxmlformats.org/drawingml/2006/main">
              <a:ext uri="{FF2B5EF4-FFF2-40B4-BE49-F238E27FC236}">
                <a16:creationId xmlns:a16="http://schemas.microsoft.com/office/drawing/2014/main" id="{8FC4B86A-75E3-412D-A478-8D5F7161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473BE-E6CB-4E5C-818F-AFC2F5BF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4792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person-EM-92-304">
            <a:extLst xmlns:a="http://schemas.openxmlformats.org/drawingml/2006/main">
              <a:ext uri="{FF2B5EF4-FFF2-40B4-BE49-F238E27FC236}">
                <a16:creationId xmlns:a16="http://schemas.microsoft.com/office/drawing/2014/main" id="{33894F79-0638-451A-902C-5FF99DA1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459AD-DCAD-47F1-81E9-70B9B701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622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E0799-BF11-4658-A25F-7F2AEA3D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860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Ebrahim Hassan Marzoughi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B88F4-DA31-4FE7-B84D-1A39EF77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67050"/>
            <a:ext cx="1495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AVP, Cards and ATM Technologies</a:t>
            </a:r>
          </a:p>
        </p:txBody>
      </p:sp>
      <p:sp>
        <p:nvSpPr>
          <p:cNvPr id="28" name="person-TA-92-370">
            <a:extLst xmlns:a="http://schemas.openxmlformats.org/drawingml/2006/main">
              <a:ext uri="{FF2B5EF4-FFF2-40B4-BE49-F238E27FC236}">
                <a16:creationId xmlns:a16="http://schemas.microsoft.com/office/drawing/2014/main" id="{28AECE18-5418-42A7-8E39-9A913D8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1AF99-C013-45A6-BA9F-32ECACF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3E27A9-08B4-4C06-97C9-ECB5C6E0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472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Tarek Mohamed AbdelAziz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B6FB5-43E8-4201-A778-23B11A01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95700"/>
            <a:ext cx="1495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Manager, Cards and ATM Tech.</a:t>
            </a:r>
          </a:p>
        </p:txBody>
      </p:sp>
      <p:sp>
        <p:nvSpPr>
          <p:cNvPr id="32" name="person-HR-92-436">
            <a:extLst xmlns:a="http://schemas.openxmlformats.org/drawingml/2006/main">
              <a:ext uri="{FF2B5EF4-FFF2-40B4-BE49-F238E27FC236}">
                <a16:creationId xmlns:a16="http://schemas.microsoft.com/office/drawing/2014/main" id="{BF74A2C0-5E93-4C14-AADA-2908B8C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29E4DD-704C-4CB1-99E3-7B5D7B5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1496F5-E2E7-4A89-B7EE-780F105F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1433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Habibur Rahman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D4DB5-AF3C-450E-B837-C095C1EB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24350"/>
            <a:ext cx="1495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Assistant Manager, Cards and ATM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516ACB-D3F0-40FB-A1B2-CDA22B11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Portfolio direction and accountable delivery ownership</a:t>
            </a:r>
          </a:p>
        </p:txBody>
      </p:sp>
      <p:sp>
        <p:nvSpPr>
          <p:cNvPr id="37" name="person-LA-344-304">
            <a:extLst xmlns:a="http://schemas.openxmlformats.org/drawingml/2006/main">
              <a:ext uri="{FF2B5EF4-FFF2-40B4-BE49-F238E27FC236}">
                <a16:creationId xmlns:a16="http://schemas.microsoft.com/office/drawing/2014/main" id="{A29A52BB-7802-469C-B859-708BC11F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0EDABA-E2E6-472B-B7B8-A07B288F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622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9DB1D3-D0F3-4FB4-A2BB-E23442C7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860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Leo Dilip Kumar Anthony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EA1A4A-E9A6-49EB-9A50-5855AAD9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67050"/>
            <a:ext cx="1495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Projects Leader, Cards and ATM</a:t>
            </a:r>
          </a:p>
        </p:txBody>
      </p:sp>
      <p:sp>
        <p:nvSpPr>
          <p:cNvPr id="41" name="person-SM-344-370">
            <a:extLst xmlns:a="http://schemas.openxmlformats.org/drawingml/2006/main">
              <a:ext uri="{FF2B5EF4-FFF2-40B4-BE49-F238E27FC236}">
                <a16:creationId xmlns:a16="http://schemas.microsoft.com/office/drawing/2014/main" id="{727E08F4-843E-4FA6-A023-0A645F44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389AFA-4AA6-4ED5-BCC1-0410F6F9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9092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70B4A8-4BC0-4783-9FFF-FCDBD180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51472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Syed Mujahid Hassan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1EEE64-7767-4D2A-A106-C2052380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695700"/>
            <a:ext cx="1495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Projects Leader, Cards and ATM</a:t>
            </a:r>
          </a:p>
        </p:txBody>
      </p:sp>
      <p:sp>
        <p:nvSpPr>
          <p:cNvPr id="45" name="person-AS-344-436">
            <a:extLst xmlns:a="http://schemas.openxmlformats.org/drawingml/2006/main">
              <a:ext uri="{FF2B5EF4-FFF2-40B4-BE49-F238E27FC236}">
                <a16:creationId xmlns:a16="http://schemas.microsoft.com/office/drawing/2014/main" id="{3A235BC5-7C1F-4BD7-8485-140F4A6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52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66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04F077-C962-4C9F-95A1-0539F296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95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238B60-AEF6-4C11-BA8B-C3CB5211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43375"/>
            <a:ext cx="149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Ashraf Shahidali Ansari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7B0218-7306-428F-9EDC-99DD1005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324350"/>
            <a:ext cx="1495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Technical Analyst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AB6EB4-ECA0-4EEE-B2C1-5C0EC7B6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720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Demand shaping, project coordination and delivery tracking</a:t>
            </a:r>
          </a:p>
        </p:txBody>
      </p:sp>
      <p:sp>
        <p:nvSpPr>
          <p:cNvPr id="50" name="person-AR-596-300">
            <a:extLst xmlns:a="http://schemas.openxmlformats.org/drawingml/2006/main">
              <a:ext uri="{FF2B5EF4-FFF2-40B4-BE49-F238E27FC236}">
                <a16:creationId xmlns:a16="http://schemas.microsoft.com/office/drawing/2014/main" id="{06C17072-9F34-4E5C-B2C1-60D54601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1A5881-DFC5-461A-8E0B-C6EBE542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6A1B9E-C749-469A-8969-BB7C0CC4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4797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Abdul Rahman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3786D3-CAF2-4465-BD71-461E81BE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289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Software Engineer</a:t>
            </a:r>
          </a:p>
        </p:txBody>
      </p:sp>
      <p:sp>
        <p:nvSpPr>
          <p:cNvPr id="54" name="person-BE-756-300">
            <a:extLst xmlns:a="http://schemas.openxmlformats.org/drawingml/2006/main">
              <a:ext uri="{FF2B5EF4-FFF2-40B4-BE49-F238E27FC236}">
                <a16:creationId xmlns:a16="http://schemas.microsoft.com/office/drawing/2014/main" id="{4D1C4A69-CE2E-473B-9519-F7955CAB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A352F4-E09C-4886-98CA-42635B65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241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5FDE09-15F9-4994-A004-6CEFCEEE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8479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Bilal Elkiri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8F472A-DF67-40C4-A916-96A45B7C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28950"/>
            <a:ext cx="942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Senior Software Engineer</a:t>
            </a:r>
          </a:p>
        </p:txBody>
      </p:sp>
      <p:sp>
        <p:nvSpPr>
          <p:cNvPr id="58" name="person-HM-596-360">
            <a:extLst xmlns:a="http://schemas.openxmlformats.org/drawingml/2006/main">
              <a:ext uri="{FF2B5EF4-FFF2-40B4-BE49-F238E27FC236}">
                <a16:creationId xmlns:a16="http://schemas.microsoft.com/office/drawing/2014/main" id="{1EF3F6B7-F50E-4411-89CB-F3D35067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CC16F9-56AD-4F0E-9A67-14639FA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956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C3549D-E064-4D4E-9205-3059806F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1947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Heshmat Moffah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3FF5D1-6DF6-4A02-BCFC-7F5EF94B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004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Senior Software Engineer</a:t>
            </a:r>
          </a:p>
        </p:txBody>
      </p:sp>
      <p:sp>
        <p:nvSpPr>
          <p:cNvPr id="62" name="person-JJ-756-360">
            <a:extLst xmlns:a="http://schemas.openxmlformats.org/drawingml/2006/main">
              <a:ext uri="{FF2B5EF4-FFF2-40B4-BE49-F238E27FC236}">
                <a16:creationId xmlns:a16="http://schemas.microsoft.com/office/drawing/2014/main" id="{FBCDD4AE-49FB-4378-B6B5-ADC05470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29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64C728-700B-481D-B365-13C4875D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956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JJ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7B8A99-C776-4B5A-9178-430921F3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194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Jince Jose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AAEF86-EB53-4811-AE0F-673CDE75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00450"/>
            <a:ext cx="942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PowerCard Developer</a:t>
            </a:r>
          </a:p>
        </p:txBody>
      </p:sp>
      <p:sp>
        <p:nvSpPr>
          <p:cNvPr id="66" name="person-KB-596-420">
            <a:extLst xmlns:a="http://schemas.openxmlformats.org/drawingml/2006/main">
              <a:ext uri="{FF2B5EF4-FFF2-40B4-BE49-F238E27FC236}">
                <a16:creationId xmlns:a16="http://schemas.microsoft.com/office/drawing/2014/main" id="{37B81B96-4B32-4E21-B126-D11B4DFA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EBA563-E610-4635-B053-696C39DE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671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KB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F78026-48CB-4CC9-A284-4ED8CA8C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99097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Kamalakannan B.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D21CDD-78F0-4A04-8748-A0BE577B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719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System Test Engineer</a:t>
            </a:r>
          </a:p>
        </p:txBody>
      </p:sp>
      <p:sp>
        <p:nvSpPr>
          <p:cNvPr id="70" name="person-MH-756-420">
            <a:extLst xmlns:a="http://schemas.openxmlformats.org/drawingml/2006/main">
              <a:ext uri="{FF2B5EF4-FFF2-40B4-BE49-F238E27FC236}">
                <a16:creationId xmlns:a16="http://schemas.microsoft.com/office/drawing/2014/main" id="{CE167313-A6D0-4E4A-979C-FC799E41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EF9A203-7F0C-4566-970D-6134F54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671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6EF726-B470-471F-88C8-BB46F6D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909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677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Muhammad Haris Azfar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7AB60F-B80F-4753-88C2-4EA1EBF0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171950"/>
            <a:ext cx="942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Software Engineer</a:t>
            </a:r>
          </a:p>
        </p:txBody>
      </p:sp>
      <p:sp>
        <p:nvSpPr>
          <p:cNvPr id="74" name="person-MU-596-480">
            <a:extLst xmlns:a="http://schemas.openxmlformats.org/drawingml/2006/main">
              <a:ext uri="{FF2B5EF4-FFF2-40B4-BE49-F238E27FC236}">
                <a16:creationId xmlns:a16="http://schemas.microsoft.com/office/drawing/2014/main" id="{530D92E4-AB27-4710-8F87-636E6AC2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68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50DD82-D2DB-4274-95B9-ADB1C82C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3867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C83B-4DB3-4372-9647-4EA13B3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62475"/>
            <a:ext cx="2466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Muhammad Umer Waqas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66930C-0197-405E-82AD-D0B8349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43450"/>
            <a:ext cx="2466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PowerCard Developer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57ED40-AFA5-4977-B896-D3639F04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Build, test and platform expertise across Cards delivery</a:t>
            </a:r>
          </a:p>
        </p:txBody>
      </p:sp>
      <p:sp>
        <p:nvSpPr>
          <p:cNvPr id="79" name="squad-visual-panel">
            <a:extLst xmlns:a="http://schemas.openxmlformats.org/drawingml/2006/main">
              <a:ext uri="{FF2B5EF4-FFF2-40B4-BE49-F238E27FC236}">
                <a16:creationId xmlns:a16="http://schemas.microsoft.com/office/drawing/2014/main" id="{CE9E4945-FC50-4E2D-972B-62742EEA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2628900" cy="3714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F51AC9C-E001-43A4-B4A2-8D0F868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ONE TEAM. FULL LIFECYCLE.</a:t>
            </a: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c83a7ceaf4dba"/>
          <a:stretch xmlns:a="http://schemas.openxmlformats.org/drawingml/2006/main"/>
        </p:blipFill>
        <p:spPr>
          <a:xfrm xmlns:a="http://schemas.openxmlformats.org/drawingml/2006/main">
            <a:off x="9198769" y="2781300"/>
            <a:ext cx="2024063" cy="2428875"/>
          </a:xfrm>
          <a:prstGeom xmlns:a="http://schemas.openxmlformats.org/drawingml/2006/main" prst="rect">
            <a:avLst/>
          </a:prstGeom>
        </p:spPr>
      </p:pic>
      <p:sp>
        <p:nvSpPr>
          <p:cNvPr id="82" name="squad-stage-0">
            <a:extLst xmlns:a="http://schemas.openxmlformats.org/drawingml/2006/main">
              <a:ext uri="{FF2B5EF4-FFF2-40B4-BE49-F238E27FC236}">
                <a16:creationId xmlns:a16="http://schemas.microsoft.com/office/drawing/2014/main" id="{C21FD59E-8867-4175-A830-9C2524D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57800"/>
            <a:ext cx="10287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83" name="squad-stage-1">
            <a:extLst xmlns:a="http://schemas.openxmlformats.org/drawingml/2006/main">
              <a:ext uri="{FF2B5EF4-FFF2-40B4-BE49-F238E27FC236}">
                <a16:creationId xmlns:a16="http://schemas.microsoft.com/office/drawing/2014/main" id="{237CC5B0-538D-4A30-8D91-492A937B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57800"/>
            <a:ext cx="10287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84" name="squad-stage-2">
            <a:extLst xmlns:a="http://schemas.openxmlformats.org/drawingml/2006/main">
              <a:ext uri="{FF2B5EF4-FFF2-40B4-BE49-F238E27FC236}">
                <a16:creationId xmlns:a16="http://schemas.microsoft.com/office/drawing/2014/main" id="{133AABD1-FD22-4386-9787-11BAB54B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81650"/>
            <a:ext cx="10287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85" name="squad-stage-3">
            <a:extLst xmlns:a="http://schemas.openxmlformats.org/drawingml/2006/main">
              <a:ext uri="{FF2B5EF4-FFF2-40B4-BE49-F238E27FC236}">
                <a16:creationId xmlns:a16="http://schemas.microsoft.com/office/drawing/2014/main" id="{BEC023BE-6258-4A51-AEE0-DF55C003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581650"/>
            <a:ext cx="10287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 LIVE</a:t>
            </a:r>
          </a:p>
        </p:txBody>
      </p:sp>
    </p:spTree>
    <p:extLst>
      <p:ext uri="{BB962C8B-B14F-4D97-AF65-F5344CB8AC3E}">
        <p14:creationId xmlns:p14="http://schemas.microsoft.com/office/powerpoint/2010/main" val="1457596235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brand-edge">
            <a:extLst xmlns:a="http://schemas.openxmlformats.org/drawingml/2006/main">
              <a:ext uri="{FF2B5EF4-FFF2-40B4-BE49-F238E27FC236}">
                <a16:creationId xmlns:a16="http://schemas.microsoft.com/office/drawing/2014/main" id="{66A47EA6-881D-498A-B264-D3CDBDF1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703571A8-D42E-4E78-BE83-2A09456A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0FB4F0E-1230-41C9-B409-2460C03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GO-LIVE ACHIEVEMENT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05DAD597-4825-4CE2-A245-120A813A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9cf99f9de46fa">
            <a:extLst>
              <a:ext uri="{96DAC541-7B7A-43D3-8B79-37D633B846F1}">
                <asvg:svgBlip xmlns:asvg="http://schemas.microsoft.com/office/drawing/2016/SVG/main" r:embed="Rd1d7259437b34a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ED7E2-785F-4E83-BE95-2E0BC487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83CB3DF5-B4E0-45F4-8FBA-1B8E40BC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25 go-lives completed, with seven scheduled through January 2027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8726FAE8-4B72-42BB-AFFB-FE509A2B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Monthly go-live profile across 2025 to 2027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D4F0024-A701-468F-9052-C9786F9A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400062-F34C-446C-A3A5-729699D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3B99D-5301-40D5-AA2F-01E563EF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2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1E600B7D-E5F8-4832-AFDD-FC07F0AA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7C65C-D656-424F-9EBB-2FE0E9F3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 GO-LIVES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98394-67D4-4E74-874C-8EAC119E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78% of 32 tracked</a:t>
            </a:r>
          </a:p>
        </p:txBody>
      </p:sp>
      <p:sp>
        <p:nvSpPr>
          <p:cNvPr id="15" name="morph-golives-number">
            <a:extLst xmlns:a="http://schemas.openxmlformats.org/drawingml/2006/main">
              <a:ext uri="{FF2B5EF4-FFF2-40B4-BE49-F238E27FC236}">
                <a16:creationId xmlns:a16="http://schemas.microsoft.com/office/drawing/2014/main" id="{030C17B5-A1EA-4D80-952B-8A873D12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31900-AABA-42E5-B84E-CC3EADA7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 GO-LIVES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5469A-0D50-416D-80C7-FE9BC11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Oct, Dec and Jan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42CFA-28FF-468B-A653-37F1C860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The forward plan groups three releases in October, three in December and one in January 2027.</a:t>
            </a:r>
          </a:p>
        </p:txBody>
      </p:sp>
      <p:sp>
        <p:nvSpPr>
          <p:cNvPr id="19" name="go-live-chart-surface">
            <a:extLst xmlns:a="http://schemas.openxmlformats.org/drawingml/2006/main">
              <a:ext uri="{FF2B5EF4-FFF2-40B4-BE49-F238E27FC236}">
                <a16:creationId xmlns:a16="http://schemas.microsoft.com/office/drawing/2014/main" id="{823626A7-14E0-4D6E-A58B-C0B76C92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8267700" cy="3762375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4FFD9-AD3D-4283-9DD0-8036D51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GO-LIVES BY MONTH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90652-28AE-4DA7-8D6E-97B6C41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574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2" name="legend-completed">
            <a:extLst xmlns:a="http://schemas.openxmlformats.org/drawingml/2006/main">
              <a:ext uri="{FF2B5EF4-FFF2-40B4-BE49-F238E27FC236}">
                <a16:creationId xmlns:a16="http://schemas.microsoft.com/office/drawing/2014/main" id="{EFC0ACAC-6569-49D4-B033-C2BE63D1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F4E7C-37B4-4812-9465-67800257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24" name="legend-planned">
            <a:extLst xmlns:a="http://schemas.openxmlformats.org/drawingml/2006/main">
              <a:ext uri="{FF2B5EF4-FFF2-40B4-BE49-F238E27FC236}">
                <a16:creationId xmlns:a16="http://schemas.microsoft.com/office/drawing/2014/main" id="{6C1329C6-203C-4BD9-8FE0-A5D177E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3505200" y="2781300"/>
          <a:ext xmlns:a="http://schemas.openxmlformats.org/drawingml/2006/main" cx="7715250" cy="2495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1af3e202324c7a"/>
          </a:graphicData>
        </a:graphic>
      </p:graphicFrame>
      <p:sp>
        <p:nvSpPr>
          <p:cNvPr id="26" name="wave-line">
            <a:extLst xmlns:a="http://schemas.openxmlformats.org/drawingml/2006/main">
              <a:ext uri="{FF2B5EF4-FFF2-40B4-BE49-F238E27FC236}">
                <a16:creationId xmlns:a16="http://schemas.microsoft.com/office/drawing/2014/main" id="{01B78041-8C0B-44AA-89DD-DAF2797C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768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A8E3B-93A7-4A59-A461-1F54D76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OCT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8A0CA-512B-4F49-B546-DECA2CBD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619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3 planned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511B9-ACAD-4844-B654-270AF1A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DEC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CD64DE-CCB6-471E-9BA1-44B01FB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9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3 planned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AA8C92-95CA-475A-A001-E2C15C03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19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JAN 2027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48A20-830B-4549-8BAD-7DF78B1B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 planned</a:t>
            </a:r>
          </a:p>
        </p:txBody>
      </p:sp>
    </p:spTree>
    <p:extLst>
      <p:ext uri="{BB962C8B-B14F-4D97-AF65-F5344CB8AC3E}">
        <p14:creationId xmlns:p14="http://schemas.microsoft.com/office/powerpoint/2010/main" val="663268314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brand-edge">
            <a:extLst xmlns:a="http://schemas.openxmlformats.org/drawingml/2006/main">
              <a:ext uri="{FF2B5EF4-FFF2-40B4-BE49-F238E27FC236}">
                <a16:creationId xmlns:a16="http://schemas.microsoft.com/office/drawing/2014/main" id="{1C74AB72-D512-4515-90F9-C730FE43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7133B33D-9E80-440C-8A97-5E533F2E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C254E54-F3D1-4130-ADA1-D1BC383E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PROJECT OUTCOME</a:t>
            </a:r>
          </a:p>
        </p:txBody>
      </p:sp>
      <p:sp>
        <p:nvSpPr>
          <p:cNvPr id="4" name="strategy-flourish-tag">
            <a:extLst xmlns:a="http://schemas.openxmlformats.org/drawingml/2006/main">
              <a:ext uri="{FF2B5EF4-FFF2-40B4-BE49-F238E27FC236}">
                <a16:creationId xmlns:a16="http://schemas.microsoft.com/office/drawing/2014/main" id="{AB2BA0C4-A7FA-4AD7-B9D2-8AB627F3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0d17faba448d3">
            <a:extLst>
              <a:ext uri="{96DAC541-7B7A-43D3-8B79-37D633B846F1}">
                <asvg:svgBlip xmlns:asvg="http://schemas.microsoft.com/office/drawing/2016/SVG/main" r:embed="Rc73e622b08b544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9119A-7059-4455-B765-B1F0056C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7AB46E23-B269-4840-A2FF-D03F154D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progressed from mono-badge launch to co-badging, tokenization and standards uplift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90A0CE89-ABF7-4880-BFE9-A3BEA12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Verified delivery stages across the Jaywan programme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EBCCADD-B327-4C51-B177-2DDFCB1F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B78133E-F55A-45E6-BC1A-7CA59401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DCA75-0F15-4D78-B131-8C24310F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2" name="jaywan-foundation">
            <a:extLst xmlns:a="http://schemas.openxmlformats.org/drawingml/2006/main">
              <a:ext uri="{FF2B5EF4-FFF2-40B4-BE49-F238E27FC236}">
                <a16:creationId xmlns:a16="http://schemas.microsoft.com/office/drawing/2014/main" id="{95883A97-BF4D-4C0C-A1FF-3AD8A7F2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571750" cy="34956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2718D-6074-48B3-B235-A11902F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LIVE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4C7C7-578A-480D-840E-C4A4E29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9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26 OCT</a:t>
            </a:r>
          </a:p>
          <a:p xmlns:a="http://schemas.openxmlformats.org/drawingml/2006/main">
            <a:pPr algn="l">
              <a:defRPr sz="28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91517-4F1A-43C4-80C5-746EBC25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Jaywan Mono-Badge Debit Cards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92E08-219D-4866-9A59-9D1FE5F0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DMGT-993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1B60F-EB0B-40E0-8671-7FCE6529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17089-124D-4902-8EC1-59A239E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PROGRAMME PROGRESSION</a:t>
            </a:r>
          </a:p>
        </p:txBody>
      </p:sp>
      <p:sp>
        <p:nvSpPr>
          <p:cNvPr id="19" name="morph-jaywan-line">
            <a:extLst xmlns:a="http://schemas.openxmlformats.org/drawingml/2006/main">
              <a:ext uri="{FF2B5EF4-FFF2-40B4-BE49-F238E27FC236}">
                <a16:creationId xmlns:a16="http://schemas.microsoft.com/office/drawing/2014/main" id="{48B7A03E-FEC9-4520-B7E3-3F025FFC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5650"/>
            <a:ext cx="7200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20" name="jaywan-0-dot">
            <a:extLst xmlns:a="http://schemas.openxmlformats.org/drawingml/2006/main">
              <a:ext uri="{FF2B5EF4-FFF2-40B4-BE49-F238E27FC236}">
                <a16:creationId xmlns:a16="http://schemas.microsoft.com/office/drawing/2014/main" id="{4EB6DBE9-799D-4D0E-9E33-FF5A84E8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C02687-3D6C-4CC3-B97E-E7CFE18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MAR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DD698-12B0-4FDF-A20E-01174AFB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E-commerce 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A3862-53B7-4E82-8534-71A3B4B8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DMGT-1978 / 1979</a:t>
            </a:r>
          </a:p>
        </p:txBody>
      </p:sp>
      <p:sp>
        <p:nvSpPr>
          <p:cNvPr id="24" name="jaywan-1-dot">
            <a:extLst xmlns:a="http://schemas.openxmlformats.org/drawingml/2006/main">
              <a:ext uri="{FF2B5EF4-FFF2-40B4-BE49-F238E27FC236}">
                <a16:creationId xmlns:a16="http://schemas.microsoft.com/office/drawing/2014/main" id="{0D779DE4-E105-4955-B708-53B6F38A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B3BE4-77A0-44C0-9E40-33664D58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F8F91-7EBB-44EF-BB02-5A98150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Tokenization UAT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C4FBB-AA98-40F6-B997-327DAA27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Integration in progress</a:t>
            </a:r>
          </a:p>
        </p:txBody>
      </p:sp>
      <p:sp>
        <p:nvSpPr>
          <p:cNvPr id="28" name="jaywan-2-dot">
            <a:extLst xmlns:a="http://schemas.openxmlformats.org/drawingml/2006/main">
              <a:ext uri="{FF2B5EF4-FFF2-40B4-BE49-F238E27FC236}">
                <a16:creationId xmlns:a16="http://schemas.microsoft.com/office/drawing/2014/main" id="{1D9413B0-9814-4989-B2DE-A01132D1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57A45-F415-4D6E-B48B-5C0AAAE0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11 DEC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E9C30-C68D-4E22-B6E7-3B56BC31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Visa co-badged card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8AC182-BF36-4EFE-98D9-F8D704A9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32" name="jaywan-3-dot">
            <a:extLst xmlns:a="http://schemas.openxmlformats.org/drawingml/2006/main">
              <a:ext uri="{FF2B5EF4-FFF2-40B4-BE49-F238E27FC236}">
                <a16:creationId xmlns:a16="http://schemas.microsoft.com/office/drawing/2014/main" id="{E4954FF3-282A-45A0-B2DF-A80998CA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58D8B5-3970-4570-85E1-AF161560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714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11 DEC 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D0DDC7-803E-488C-9A27-C52521F4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766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Standards uplift V1.8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20BF80-F3ED-48B9-B8F4-34985AEF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36" name="jaywan-ribbon">
            <a:extLst xmlns:a="http://schemas.openxmlformats.org/drawingml/2006/main">
              <a:ext uri="{FF2B5EF4-FFF2-40B4-BE49-F238E27FC236}">
                <a16:creationId xmlns:a16="http://schemas.microsoft.com/office/drawing/2014/main" id="{BB5004C4-9BA3-4288-855C-10113C8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78867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4F1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E5A8F-804F-4597-B14B-26A41F9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ISSUANCE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F09230-CE05-479A-B1D9-0833305C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Mono-badge live, with co-badged card in Baseline 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ED96E8-F990-452B-B615-C6A0F621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6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DIGITAL PAYMENT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DE09E3-2529-4C7D-AED4-0659AD6D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8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E-commerce live, with tokenization progressing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49C935-6554-4DC7-8147-BD72EFA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62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SCHEME READINESS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9A0DB2-8349-46FA-A2E4-73A879C4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816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Standards uplift targets 11 December</a:t>
            </a:r>
          </a:p>
        </p:txBody>
      </p:sp>
    </p:spTree>
    <p:extLst>
      <p:ext uri="{BB962C8B-B14F-4D97-AF65-F5344CB8AC3E}">
        <p14:creationId xmlns:p14="http://schemas.microsoft.com/office/powerpoint/2010/main" val="1995194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brand-edge">
            <a:extLst xmlns:a="http://schemas.openxmlformats.org/drawingml/2006/main">
              <a:ext uri="{FF2B5EF4-FFF2-40B4-BE49-F238E27FC236}">
                <a16:creationId xmlns:a16="http://schemas.microsoft.com/office/drawing/2014/main" id="{FD53497E-DA6F-4CCA-B4B8-E5330C98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C5079D0C-C892-484B-8CA6-7A8FA0DB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DBD55D6-EDB1-4FF3-A7D9-082037C8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DELIVERY OUTCOMES</a:t>
            </a:r>
          </a:p>
        </p:txBody>
      </p:sp>
      <p:sp>
        <p:nvSpPr>
          <p:cNvPr id="4" name="strategy-flourish-tag">
            <a:extLst xmlns:a="http://schemas.openxmlformats.org/drawingml/2006/main">
              <a:ext uri="{FF2B5EF4-FFF2-40B4-BE49-F238E27FC236}">
                <a16:creationId xmlns:a16="http://schemas.microsoft.com/office/drawing/2014/main" id="{3025D2C0-E6BE-4704-9C62-A6F2D4E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ff9c4299941cd">
            <a:extLst>
              <a:ext uri="{96DAC541-7B7A-43D3-8B79-37D633B846F1}">
                <asvg:svgBlip xmlns:asvg="http://schemas.microsoft.com/office/drawing/2016/SVG/main" r:embed="Re4182dbeaa9a4a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791C2-7519-4EEE-9207-3C5947E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525D02BE-2D0C-4918-959C-0B07F39F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Messaging and pricing changes span live delivery, UAT and scheduled go-lives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36A9BAA5-8CAF-4379-A653-2312933B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Two delivery tracks across customer communications and revenue propositions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1DB8DEB-7A53-4709-A758-27746261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373B226-38D1-44A5-9239-8DEE651A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04FE7-E751-4819-8A40-E6887937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EE8F0-DA08-431D-AB85-115E5ED8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CUSTOMER COMMUNICATIONS</a:t>
            </a:r>
          </a:p>
        </p:txBody>
      </p:sp>
      <p:sp>
        <p:nvSpPr>
          <p:cNvPr id="13" name="track-1-line">
            <a:extLst xmlns:a="http://schemas.openxmlformats.org/drawingml/2006/main">
              <a:ext uri="{FF2B5EF4-FFF2-40B4-BE49-F238E27FC236}">
                <a16:creationId xmlns:a16="http://schemas.microsoft.com/office/drawing/2014/main" id="{1FD44E13-DA36-4074-B5C1-DC484174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1040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4" name="comms-0-dot">
            <a:extLst xmlns:a="http://schemas.openxmlformats.org/drawingml/2006/main">
              <a:ext uri="{FF2B5EF4-FFF2-40B4-BE49-F238E27FC236}">
                <a16:creationId xmlns:a16="http://schemas.microsoft.com/office/drawing/2014/main" id="{90B6F307-14F9-41FF-B9A6-015174EA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640AB-B63C-429B-B51B-0026039D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23 FEB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3823C-E0FE-4A30-BD60-17EB9AB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International currency SMS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3BF9F-F03D-41B5-A56E-8837C1BE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8" name="comms-1-dot">
            <a:extLst xmlns:a="http://schemas.openxmlformats.org/drawingml/2006/main">
              <a:ext uri="{FF2B5EF4-FFF2-40B4-BE49-F238E27FC236}">
                <a16:creationId xmlns:a16="http://schemas.microsoft.com/office/drawing/2014/main" id="{645F979F-2D25-45B6-8B9B-2B0A3FD1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3679C-F844-4FC4-AB91-59EDD3D4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17 MAY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1CFBF-C6ED-431A-A94E-F92D1CE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Failed transaction SMS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A5497-1E6C-4EBA-A874-B8D78EE1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2" name="comms-2-dot">
            <a:extLst xmlns:a="http://schemas.openxmlformats.org/drawingml/2006/main">
              <a:ext uri="{FF2B5EF4-FFF2-40B4-BE49-F238E27FC236}">
                <a16:creationId xmlns:a16="http://schemas.microsoft.com/office/drawing/2014/main" id="{31D48201-27A9-403A-B792-0BA44438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E6357-BAC3-4AC2-89A7-1F9F835B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 SEP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C71FA-0FC0-416B-99C6-CBA1A3FD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Declined SMS enhancement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7C822-EFB7-4261-9277-F1D6221B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6" name="comms-3-dot">
            <a:extLst xmlns:a="http://schemas.openxmlformats.org/drawingml/2006/main">
              <a:ext uri="{FF2B5EF4-FFF2-40B4-BE49-F238E27FC236}">
                <a16:creationId xmlns:a16="http://schemas.microsoft.com/office/drawing/2014/main" id="{36F05F4F-0D65-48CD-AB1F-74BB9D2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763F1-10BA-465A-A981-6C75BD0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1809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UAT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20EEB-8174-4AD7-9C8C-A8390C47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05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Wrong expiry-date SMS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0AB762-43B4-45D9-ADBC-11C5DEC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Baseline 1</a:t>
            </a:r>
          </a:p>
        </p:txBody>
      </p:sp>
      <p:sp>
        <p:nvSpPr>
          <p:cNvPr id="30" name="comms-4-dot">
            <a:extLst xmlns:a="http://schemas.openxmlformats.org/drawingml/2006/main">
              <a:ext uri="{FF2B5EF4-FFF2-40B4-BE49-F238E27FC236}">
                <a16:creationId xmlns:a16="http://schemas.microsoft.com/office/drawing/2014/main" id="{A651AEE8-0C66-47D2-A816-BDD1AAE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89BF6-7A9B-4AE0-B023-E2146295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76600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 OCT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CF3051-F344-48BB-99BF-66BE6057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0520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Statement generation SMS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194A79-1E4C-43A2-8B88-D7F39245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43350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UAT target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BAEF27-7CB6-4D9C-9EC4-B9447DF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REVENUE AND CARD PROPOSITIONS</a:t>
            </a:r>
          </a:p>
        </p:txBody>
      </p:sp>
      <p:sp>
        <p:nvSpPr>
          <p:cNvPr id="35" name="track-2-line">
            <a:extLst xmlns:a="http://schemas.openxmlformats.org/drawingml/2006/main">
              <a:ext uri="{FF2B5EF4-FFF2-40B4-BE49-F238E27FC236}">
                <a16:creationId xmlns:a16="http://schemas.microsoft.com/office/drawing/2014/main" id="{294F39EB-A257-489D-BDA4-B11E27D7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91150"/>
            <a:ext cx="1040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36" name="revenue-0-dot">
            <a:extLst xmlns:a="http://schemas.openxmlformats.org/drawingml/2006/main">
              <a:ext uri="{FF2B5EF4-FFF2-40B4-BE49-F238E27FC236}">
                <a16:creationId xmlns:a16="http://schemas.microsoft.com/office/drawing/2014/main" id="{6BF575A8-5729-48D4-A7A2-9DA7ACEB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93C41C-64C7-44EE-A081-5D03F2B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26 APR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108E6E-A0AC-4BE7-8D3D-79BCDC2A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Digital Salam renewal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79B56C-894B-4234-AE7F-69E4FC3B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40" name="revenue-1-dot">
            <a:extLst xmlns:a="http://schemas.openxmlformats.org/drawingml/2006/main">
              <a:ext uri="{FF2B5EF4-FFF2-40B4-BE49-F238E27FC236}">
                <a16:creationId xmlns:a16="http://schemas.microsoft.com/office/drawing/2014/main" id="{E5DF759C-F6B9-4EF8-804F-E803669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B8F943-2810-4EC0-B16C-489ABE8B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10 MAY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66F13A-7196-4665-990F-571B2525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ENR pricing increase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DFCEB9-D33C-49D4-867C-3E2F9DBD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44" name="revenue-2-dot">
            <a:extLst xmlns:a="http://schemas.openxmlformats.org/drawingml/2006/main">
              <a:ext uri="{FF2B5EF4-FFF2-40B4-BE49-F238E27FC236}">
                <a16:creationId xmlns:a16="http://schemas.microsoft.com/office/drawing/2014/main" id="{B8DC4545-F5F8-4448-BAA6-007E4D6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1071A3-28D4-48FD-A6CE-4B41377F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06 SEP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BAD720-E0BC-40C6-929C-9894371B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Quasi-cash advance fee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5A49C-7226-4D52-B609-8F8062E3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48" name="revenue-3-dot">
            <a:extLst xmlns:a="http://schemas.openxmlformats.org/drawingml/2006/main">
              <a:ext uri="{FF2B5EF4-FFF2-40B4-BE49-F238E27FC236}">
                <a16:creationId xmlns:a16="http://schemas.microsoft.com/office/drawing/2014/main" id="{BB2AB600-5BBA-4D19-A266-C7B1F99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B9D776-E71A-4071-A7C2-56433783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23 OCT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61BC7F-9DB4-454E-A92A-B340DC61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ENR pricing change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42F534-9DBE-42EA-AD0E-5701B902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 go-live</a:t>
            </a:r>
          </a:p>
        </p:txBody>
      </p:sp>
      <p:sp>
        <p:nvSpPr>
          <p:cNvPr id="52" name="revenue-4-dot">
            <a:extLst xmlns:a="http://schemas.openxmlformats.org/drawingml/2006/main">
              <a:ext uri="{FF2B5EF4-FFF2-40B4-BE49-F238E27FC236}">
                <a16:creationId xmlns:a16="http://schemas.microsoft.com/office/drawing/2014/main" id="{098045DB-284E-4B07-B587-C7D3267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C12250-B542-4D1A-AF05-E9FB65AA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543550"/>
            <a:ext cx="1666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06 DEC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E7F8C0-6FBA-4A69-A3C5-BD793D06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772150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Emirati covered card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E03F9C-A707-4D1D-8980-840A32AC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210300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Planned go-live</a:t>
            </a:r>
          </a:p>
        </p:txBody>
      </p:sp>
      <p:sp>
        <p:nvSpPr>
          <p:cNvPr id="56" name="revenue-5-dot">
            <a:extLst xmlns:a="http://schemas.openxmlformats.org/drawingml/2006/main">
              <a:ext uri="{FF2B5EF4-FFF2-40B4-BE49-F238E27FC236}">
                <a16:creationId xmlns:a16="http://schemas.microsoft.com/office/drawing/2014/main" id="{AEC4181B-0697-4BF7-B4FF-800FD4F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149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3BE7A2-5097-4C00-B9F5-FB44DB7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54355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15 JAN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568DB6-108B-4903-8309-A8E0CBD8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72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Credit Shield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51546E-BF30-4220-B3EB-A5607ADE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103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2027 plan</a:t>
            </a:r>
          </a:p>
        </p:txBody>
      </p:sp>
    </p:spTree>
    <p:extLst>
      <p:ext uri="{BB962C8B-B14F-4D97-AF65-F5344CB8AC3E}">
        <p14:creationId xmlns:p14="http://schemas.microsoft.com/office/powerpoint/2010/main" val="1476260108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brand-edge">
            <a:extLst xmlns:a="http://schemas.openxmlformats.org/drawingml/2006/main">
              <a:ext uri="{FF2B5EF4-FFF2-40B4-BE49-F238E27FC236}">
                <a16:creationId xmlns:a16="http://schemas.microsoft.com/office/drawing/2014/main" id="{2A6B2FEB-2A00-4930-94B5-1F7E48E6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2B0B71AD-12DE-45C1-B34A-A51A34C6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0C9424C-3E8F-4C70-87AA-021C74BD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CONTROL OUTCOME</a:t>
            </a:r>
          </a:p>
        </p:txBody>
      </p:sp>
      <p:sp>
        <p:nvSpPr>
          <p:cNvPr id="4" name="strategy-protect-tag">
            <a:extLst xmlns:a="http://schemas.openxmlformats.org/drawingml/2006/main">
              <a:ext uri="{FF2B5EF4-FFF2-40B4-BE49-F238E27FC236}">
                <a16:creationId xmlns:a16="http://schemas.microsoft.com/office/drawing/2014/main" id="{384DC976-BF7F-47A4-8078-182C2DAA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8eee04e7c4a18">
            <a:extLst>
              <a:ext uri="{96DAC541-7B7A-43D3-8B79-37D633B846F1}">
                <asvg:svgBlip xmlns:asvg="http://schemas.microsoft.com/office/drawing/2016/SVG/main" r:embed="Rcf03088c5d4b46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6443A-36D1-48A5-A3AA-1D134F7C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PROTECT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F877D387-2388-48C1-9D17-C16D0114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Six audit and regulatory deliveries entered production across Cards platforms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3EDD9324-630A-4E2C-8A4A-860E0B1B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 control-related delivery from October 2025 to September 2026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EE9D3A2-C0B1-496D-BA3D-7D84FA1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7FA2ACD-82D6-429D-B27E-E915462A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DCC26-51C6-49B0-AC73-697FF66B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2" name="control-number-block">
            <a:extLst xmlns:a="http://schemas.openxmlformats.org/drawingml/2006/main">
              <a:ext uri="{FF2B5EF4-FFF2-40B4-BE49-F238E27FC236}">
                <a16:creationId xmlns:a16="http://schemas.microsoft.com/office/drawing/2014/main" id="{3AA7308F-F1B5-4402-9529-214F200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33625" cy="358140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13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07D835E8-004D-412E-B40B-183DEFE7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109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3CAC7-B574-406B-9C2E-D531AC28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DELIVERIES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CD8A7-18DE-4AF0-9200-F1F41D54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2 audit items</a:t>
            </a:r>
          </a:p>
          <a:p xmlns:a="http://schemas.openxmlformats.org/drawingml/2006/main">
            <a:pPr algn="l">
              <a:defRPr sz="1350" b="1">
                <a:solidFill>
                  <a:srgbClr val="DCE9E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E9E4"/>
                </a:solidFill>
                <a:latin typeface="Aptos"/>
                <a:ea typeface="Aptos"/>
                <a:cs typeface="Aptos"/>
              </a:rPr>
              <a:t>4 regulatory items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A0436-0A61-42F2-83F6-22F4CA0E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Production dates span 26 October 2025 to 3 September 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79866-0F81-45BA-8F50-ED7C1801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CONTROL DELIVERY TIMELINE</a:t>
            </a:r>
          </a:p>
        </p:txBody>
      </p:sp>
      <p:sp>
        <p:nvSpPr>
          <p:cNvPr id="18" name="morph-control-line">
            <a:extLst xmlns:a="http://schemas.openxmlformats.org/drawingml/2006/main">
              <a:ext uri="{FF2B5EF4-FFF2-40B4-BE49-F238E27FC236}">
                <a16:creationId xmlns:a16="http://schemas.microsoft.com/office/drawing/2014/main" id="{1977E701-60B9-40B0-BAA2-4EC0D11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762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9" name="control-0-dot">
            <a:extLst xmlns:a="http://schemas.openxmlformats.org/drawingml/2006/main">
              <a:ext uri="{FF2B5EF4-FFF2-40B4-BE49-F238E27FC236}">
                <a16:creationId xmlns:a16="http://schemas.microsoft.com/office/drawing/2014/main" id="{B97673E3-0077-4453-B90B-680ECD2C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D0A54-4945-4866-996D-62BAC31F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0045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26 OCT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3B55C-8D40-4828-B624-82AA185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mono-badge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8D9CF-FF21-450D-8984-860C1165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23" name="control-1-dot">
            <a:extLst xmlns:a="http://schemas.openxmlformats.org/drawingml/2006/main">
              <a:ext uri="{FF2B5EF4-FFF2-40B4-BE49-F238E27FC236}">
                <a16:creationId xmlns:a16="http://schemas.microsoft.com/office/drawing/2014/main" id="{E4D8ABBA-7437-464E-9C17-7B880945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A5C58-1AC2-4339-9301-657C4CB2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 JAN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6D16C-160A-4942-959E-06CE9520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New fee 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B7019-560A-4EC3-BC01-0DD37924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7" name="control-2-dot">
            <a:extLst xmlns:a="http://schemas.openxmlformats.org/drawingml/2006/main">
              <a:ext uri="{FF2B5EF4-FFF2-40B4-BE49-F238E27FC236}">
                <a16:creationId xmlns:a16="http://schemas.microsoft.com/office/drawing/2014/main" id="{DEAFFC9D-E90C-4315-BC34-83B98122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A47EF9-6EC7-427F-852C-A6CD012A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1381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15 MAR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AEE4F1-DC54-4A10-A61F-EDB9AE94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DPD statement fix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9192A-A4AC-4FB8-A752-59F3D61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31" name="control-3-dot">
            <a:extLst xmlns:a="http://schemas.openxmlformats.org/drawingml/2006/main">
              <a:ext uri="{FF2B5EF4-FFF2-40B4-BE49-F238E27FC236}">
                <a16:creationId xmlns:a16="http://schemas.microsoft.com/office/drawing/2014/main" id="{EA77224D-2AAA-4984-BCE6-8A5613F3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ADA5A-429E-4E96-8417-C4D264FC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17 MAY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A86FB-B74D-4338-92A3-1AED7CF7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PIN counter reset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ACB082-6700-4D0C-A7E3-A0B4668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5" name="control-4-dot">
            <a:extLst xmlns:a="http://schemas.openxmlformats.org/drawingml/2006/main">
              <a:ext uri="{FF2B5EF4-FFF2-40B4-BE49-F238E27FC236}">
                <a16:creationId xmlns:a16="http://schemas.microsoft.com/office/drawing/2014/main" id="{D6288BA3-26F2-4297-A515-1E0E5EA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983091-73A9-4A08-9F15-F66EBE6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00450"/>
            <a:ext cx="1143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17 MAY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8BEC59-4219-4E7F-B3DE-379949B9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29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LPC fees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61C947-A485-45FB-8577-634E1B5F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672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39" name="control-5-dot">
            <a:extLst xmlns:a="http://schemas.openxmlformats.org/drawingml/2006/main">
              <a:ext uri="{FF2B5EF4-FFF2-40B4-BE49-F238E27FC236}">
                <a16:creationId xmlns:a16="http://schemas.microsoft.com/office/drawing/2014/main" id="{4735D7E3-DC32-4C7E-97E7-97F3DCA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718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C1BB92-28BA-4395-BCA3-30F7E78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00450"/>
            <a:ext cx="1009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03 SEP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48176-9F17-4E28-B2D5-3E3295A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29050"/>
            <a:ext cx="100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Visa clearing exchange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7E9306-5A3C-4A8D-BFB0-C34C0AC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67200"/>
            <a:ext cx="1009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43" name="control-foot">
            <a:extLst xmlns:a="http://schemas.openxmlformats.org/drawingml/2006/main">
              <a:ext uri="{FF2B5EF4-FFF2-40B4-BE49-F238E27FC236}">
                <a16:creationId xmlns:a16="http://schemas.microsoft.com/office/drawing/2014/main" id="{9BE31237-07DA-4851-AC8C-E215D3D5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24450"/>
            <a:ext cx="81343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FE5C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FBEEBB-9318-4595-B907-3B1BC79F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054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CURRENT CONTROL PIPELINE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E27052-0A55-40DB-8272-1A5D56B3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530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POS and ATM report changes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310BBE-B9C6-4D8A-A4DF-CF5B4865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530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Fraud-prevention data elements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961611-91C2-4C28-8B5C-1FB73BC1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553075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Loyalty database server upgrade</a:t>
            </a:r>
          </a:p>
        </p:txBody>
      </p:sp>
    </p:spTree>
    <p:extLst>
      <p:ext uri="{BB962C8B-B14F-4D97-AF65-F5344CB8AC3E}">
        <p14:creationId xmlns:p14="http://schemas.microsoft.com/office/powerpoint/2010/main" val="895786536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brand-edge">
            <a:extLst xmlns:a="http://schemas.openxmlformats.org/drawingml/2006/main">
              <a:ext uri="{FF2B5EF4-FFF2-40B4-BE49-F238E27FC236}">
                <a16:creationId xmlns:a16="http://schemas.microsoft.com/office/drawing/2014/main" id="{DA87DC15-0921-48B4-B34D-E9CC870D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42E47AFB-6883-4472-9CE8-EE3567FC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0CB2909E-7EA2-4FB4-AC99-C4A35510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DELIVERY ROADMAP</a:t>
            </a:r>
          </a:p>
        </p:txBody>
      </p:sp>
      <p:sp>
        <p:nvSpPr>
          <p:cNvPr id="4" name="strategy-build-tag">
            <a:extLst xmlns:a="http://schemas.openxmlformats.org/drawingml/2006/main">
              <a:ext uri="{FF2B5EF4-FFF2-40B4-BE49-F238E27FC236}">
                <a16:creationId xmlns:a16="http://schemas.microsoft.com/office/drawing/2014/main" id="{FA29F96D-E00E-418B-A7F1-7C592818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0cccc521947c1">
            <a:extLst>
              <a:ext uri="{96DAC541-7B7A-43D3-8B79-37D633B846F1}">
                <asvg:svgBlip xmlns:asvg="http://schemas.microsoft.com/office/drawing/2016/SVG/main" r:embed="R57f3238d440a47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FE35C-3E88-4F58-B04D-5FE49D0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D3EBE49E-1F3F-4506-96E2-893039E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Seven planned go-lives concentrate in October, December and January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1FC7B806-81C5-436A-8105-809EFB4A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Named forward releases through 15 January 2027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8BF9537-E646-4A77-BD49-E012131F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2155FC5-1DD3-49F4-8507-385F0DD5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2BDE8-0E08-4DA4-B217-3013853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morph-roadmap-line">
            <a:extLst xmlns:a="http://schemas.openxmlformats.org/drawingml/2006/main">
              <a:ext uri="{FF2B5EF4-FFF2-40B4-BE49-F238E27FC236}">
                <a16:creationId xmlns:a16="http://schemas.microsoft.com/office/drawing/2014/main" id="{400643E3-106A-4C75-8EA9-DC5C9C85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1009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3" name="roadmap-month-0">
            <a:extLst xmlns:a="http://schemas.openxmlformats.org/drawingml/2006/main">
              <a:ext uri="{FF2B5EF4-FFF2-40B4-BE49-F238E27FC236}">
                <a16:creationId xmlns:a16="http://schemas.microsoft.com/office/drawing/2014/main" id="{255F4910-D9C6-4E88-AA75-FDC78783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B0E5B-5B77-4651-AE6D-EC488F52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408E8-5417-4708-97C3-16E2B832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OCTOBER 2026</a:t>
            </a:r>
          </a:p>
        </p:txBody>
      </p:sp>
      <p:sp>
        <p:nvSpPr>
          <p:cNvPr id="16" name="roadmap-month-1">
            <a:extLst xmlns:a="http://schemas.openxmlformats.org/drawingml/2006/main">
              <a:ext uri="{FF2B5EF4-FFF2-40B4-BE49-F238E27FC236}">
                <a16:creationId xmlns:a16="http://schemas.microsoft.com/office/drawing/2014/main" id="{850BD2F6-7617-4719-8671-46F7D01B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C7AFB-FF61-4987-9D44-35349163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C1E46-3553-457F-B3B4-E6E3A15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DECEMBER 2026</a:t>
            </a:r>
          </a:p>
        </p:txBody>
      </p:sp>
      <p:sp>
        <p:nvSpPr>
          <p:cNvPr id="19" name="roadmap-month-2">
            <a:extLst xmlns:a="http://schemas.openxmlformats.org/drawingml/2006/main">
              <a:ext uri="{FF2B5EF4-FFF2-40B4-BE49-F238E27FC236}">
                <a16:creationId xmlns:a16="http://schemas.microsoft.com/office/drawing/2014/main" id="{26EF3ACF-F742-4632-B79E-E53E443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7E263-8B78-4988-A511-F8F86196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5560C-04F5-4321-8553-201A5E82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JANUARY 2027</a:t>
            </a:r>
          </a:p>
        </p:txBody>
      </p:sp>
      <p:sp>
        <p:nvSpPr>
          <p:cNvPr id="22" name="roadmap-card-0">
            <a:extLst xmlns:a="http://schemas.openxmlformats.org/drawingml/2006/main">
              <a:ext uri="{FF2B5EF4-FFF2-40B4-BE49-F238E27FC236}">
                <a16:creationId xmlns:a16="http://schemas.microsoft.com/office/drawing/2014/main" id="{39AD9C0F-DA46-4CD1-BEA7-67658A91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75847-271C-49EE-8C0F-B2CCC3A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10 OCT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E4419-1585-41BD-9C07-C14C98E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385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DMGT-2162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D2ACA-7DBB-4CB3-915F-0F4B539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Central Bank STFP file automation</a:t>
            </a:r>
          </a:p>
        </p:txBody>
      </p:sp>
      <p:sp>
        <p:nvSpPr>
          <p:cNvPr id="26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203E0A51-C3B9-49C3-82B0-0EAE77A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1AD205-10A7-40EC-B21B-B63114B7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386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18 OCT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62747-81FB-4A25-9AA3-9E89A69F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386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DMGT-1266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DEE19-AED4-44E8-98A0-A986C9B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Covered Card statement SMS</a:t>
            </a:r>
          </a:p>
        </p:txBody>
      </p:sp>
      <p:sp>
        <p:nvSpPr>
          <p:cNvPr id="30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8AF6E7E7-C096-470E-96D4-A84BC1A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BDA8C-0CC0-4606-9A27-28DB4512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38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23 OCT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98719-FAE4-404A-AA6C-EFCAA5AB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387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DMGT-1329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95F2E1-E4AE-4820-BF59-585E9E2F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ENR pricing change</a:t>
            </a:r>
          </a:p>
        </p:txBody>
      </p:sp>
      <p:sp>
        <p:nvSpPr>
          <p:cNvPr id="34" name="roadmap-card-3">
            <a:extLst xmlns:a="http://schemas.openxmlformats.org/drawingml/2006/main">
              <a:ext uri="{FF2B5EF4-FFF2-40B4-BE49-F238E27FC236}">
                <a16:creationId xmlns:a16="http://schemas.microsoft.com/office/drawing/2014/main" id="{A4A9C0EA-DFDB-4DF7-896A-299AC2D2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D5CC0D-65E5-4A56-A03E-AF9055D8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385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06 DEC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631D79-FF83-441F-B175-377C3F62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385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DMGT-1680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B71D07-2CE6-4474-8560-C78CA414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576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New Emirati Covered Card</a:t>
            </a:r>
          </a:p>
        </p:txBody>
      </p:sp>
      <p:sp>
        <p:nvSpPr>
          <p:cNvPr id="38" name="roadmap-card-4">
            <a:extLst xmlns:a="http://schemas.openxmlformats.org/drawingml/2006/main">
              <a:ext uri="{FF2B5EF4-FFF2-40B4-BE49-F238E27FC236}">
                <a16:creationId xmlns:a16="http://schemas.microsoft.com/office/drawing/2014/main" id="{60BC749D-5A77-466D-894A-1E96E62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795141-36D0-4A2C-8E81-78F0869E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386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11 DEC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6ED03F-E205-4B18-B8A6-4B4445B3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386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DMGT-1305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34DCEC-818F-495C-9E2D-5E43FEB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577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Visa co-badged debit card</a:t>
            </a:r>
          </a:p>
        </p:txBody>
      </p:sp>
      <p:sp>
        <p:nvSpPr>
          <p:cNvPr id="42" name="roadmap-card-5">
            <a:extLst xmlns:a="http://schemas.openxmlformats.org/drawingml/2006/main">
              <a:ext uri="{FF2B5EF4-FFF2-40B4-BE49-F238E27FC236}">
                <a16:creationId xmlns:a16="http://schemas.microsoft.com/office/drawing/2014/main" id="{60FB9DD8-6C0C-49E4-B8DA-E50AC86E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495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06758E-F3E7-4970-BB03-F701D9E4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11 DEC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252BBD-AC9C-460D-B172-7531023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4387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DMGT-1863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8C99E6-840B-45D5-A9F5-1D387AC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5785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Jaywan standards uplift V1.8</a:t>
            </a:r>
          </a:p>
        </p:txBody>
      </p:sp>
      <p:sp>
        <p:nvSpPr>
          <p:cNvPr id="46" name="roadmap-card-6">
            <a:extLst xmlns:a="http://schemas.openxmlformats.org/drawingml/2006/main">
              <a:ext uri="{FF2B5EF4-FFF2-40B4-BE49-F238E27FC236}">
                <a16:creationId xmlns:a16="http://schemas.microsoft.com/office/drawing/2014/main" id="{1291B8FB-70CD-4BF4-AA70-8648F86C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3000375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30236F-94EC-4700-83B7-A30B7A24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386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15 JAN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8CE3A6-56E9-4B1D-96CE-48819B4E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386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DMGT-672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F815C1-E4FC-408F-A5CB-4FB0F8C0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14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Credit Shield enrolment</a:t>
            </a:r>
          </a:p>
        </p:txBody>
      </p:sp>
    </p:spTree>
    <p:extLst>
      <p:ext uri="{BB962C8B-B14F-4D97-AF65-F5344CB8AC3E}">
        <p14:creationId xmlns:p14="http://schemas.microsoft.com/office/powerpoint/2010/main" val="1474394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edge">
            <a:extLst xmlns:a="http://schemas.openxmlformats.org/drawingml/2006/main">
              <a:ext uri="{FF2B5EF4-FFF2-40B4-BE49-F238E27FC236}">
                <a16:creationId xmlns:a16="http://schemas.microsoft.com/office/drawing/2014/main" id="{C5F13B58-93E0-4C37-BB6F-2F905E20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C3F"/>
          </a:solidFill>
          <a:ln xmlns:a="http://schemas.openxmlformats.org/drawingml/2006/main" w="0">
            <a:noFill/>
          </a:ln>
        </p:spPr>
      </p:sp>
      <p:sp>
        <p:nvSpPr>
          <p:cNvPr id="2" name="top-gold-rule">
            <a:extLst xmlns:a="http://schemas.openxmlformats.org/drawingml/2006/main">
              <a:ext uri="{FF2B5EF4-FFF2-40B4-BE49-F238E27FC236}">
                <a16:creationId xmlns:a16="http://schemas.microsoft.com/office/drawing/2014/main" id="{5AA47F96-09B3-403B-A666-34D4395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A32"/>
          </a:solidFill>
          <a:ln xmlns:a="http://schemas.openxmlformats.org/drawingml/2006/main" w="0">
            <a:noFill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CC710B7-8716-4D27-A38E-A0632CC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EXECUTIVE SYNTHESIS</a:t>
            </a:r>
          </a:p>
        </p:txBody>
      </p:sp>
      <p:sp>
        <p:nvSpPr>
          <p:cNvPr id="4" name="strategy-flourish-tag">
            <a:extLst xmlns:a="http://schemas.openxmlformats.org/drawingml/2006/main">
              <a:ext uri="{FF2B5EF4-FFF2-40B4-BE49-F238E27FC236}">
                <a16:creationId xmlns:a16="http://schemas.microsoft.com/office/drawing/2014/main" id="{871B8EA2-5A2B-40BE-BF4A-E5D8AFCD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"/>
            <a:ext cx="1428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c5b1415f843d3">
            <a:extLst>
              <a:ext uri="{96DAC541-7B7A-43D3-8B79-37D633B846F1}">
                <asvg:svgBlip xmlns:asvg="http://schemas.microsoft.com/office/drawing/2016/SVG/main" r:embed="Rcc7c3142a06249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9850" y="457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63959-828F-4523-8E0D-25D35CB8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6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FLOURISH</a:t>
            </a:r>
          </a:p>
        </p:txBody>
      </p:sp>
      <p:sp>
        <p:nvSpPr>
          <p:cNvPr id="7" name="morph-headline">
            <a:extLst xmlns:a="http://schemas.openxmlformats.org/drawingml/2006/main">
              <a:ext uri="{FF2B5EF4-FFF2-40B4-BE49-F238E27FC236}">
                <a16:creationId xmlns:a16="http://schemas.microsoft.com/office/drawing/2014/main" id="{69D3F9FF-C72F-428A-BCC6-A3087657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Delivery stands at 25 completed, 24 active baseline and seven under discussion</a:t>
            </a:r>
          </a:p>
        </p:txBody>
      </p:sp>
      <p:sp>
        <p:nvSpPr>
          <p:cNvPr id="8" name="reporting-period">
            <a:extLst xmlns:a="http://schemas.openxmlformats.org/drawingml/2006/main">
              <a:ext uri="{FF2B5EF4-FFF2-40B4-BE49-F238E27FC236}">
                <a16:creationId xmlns:a16="http://schemas.microsoft.com/office/drawing/2014/main" id="{C42EA9AF-AFCD-4EF7-B739-9ADFAC9A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Current portfolio position and confirmed forward go-live plan</a:t>
            </a:r>
          </a:p>
        </p:txBody>
      </p:sp>
      <p:sp>
        <p:nvSpPr>
          <p:cNvPr id="9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ECDBD4-0083-4138-9B8D-81990A9E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1A15380-7DE5-4AAC-9B0D-8DCE1FB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736E"/>
                </a:solidFill>
                <a:latin typeface="Aptos"/>
                <a:ea typeface="Aptos"/>
                <a:cs typeface="Aptos"/>
              </a:rPr>
              <a:t>Source: user-provided Cards portfolio screenshots. Data basis is identified in speaker notes.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0F1CC-333F-4D00-8FE0-F45513E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2" name="morph-kpi-band">
            <a:extLst xmlns:a="http://schemas.openxmlformats.org/drawingml/2006/main">
              <a:ext uri="{FF2B5EF4-FFF2-40B4-BE49-F238E27FC236}">
                <a16:creationId xmlns:a16="http://schemas.microsoft.com/office/drawing/2014/main" id="{0C07AAC8-12C7-49D8-89EB-0A72E46B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394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sum-div-1">
            <a:extLst xmlns:a="http://schemas.openxmlformats.org/drawingml/2006/main">
              <a:ext uri="{FF2B5EF4-FFF2-40B4-BE49-F238E27FC236}">
                <a16:creationId xmlns:a16="http://schemas.microsoft.com/office/drawing/2014/main" id="{A295EB38-0416-4681-A99C-072AEBBA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4" name="sum-div-2">
            <a:extLst xmlns:a="http://schemas.openxmlformats.org/drawingml/2006/main">
              <a:ext uri="{FF2B5EF4-FFF2-40B4-BE49-F238E27FC236}">
                <a16:creationId xmlns:a16="http://schemas.microsoft.com/office/drawing/2014/main" id="{6B8D9FFF-AFE5-4183-B12B-A0EB412C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5" name="sum-div-3">
            <a:extLst xmlns:a="http://schemas.openxmlformats.org/drawingml/2006/main">
              <a:ext uri="{FF2B5EF4-FFF2-40B4-BE49-F238E27FC236}">
                <a16:creationId xmlns:a16="http://schemas.microsoft.com/office/drawing/2014/main" id="{4012DCBC-9CDE-41B6-A08C-5A32FB08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7A819-2216-4682-AE36-236EA02B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471DD-9DDF-49F9-9F87-28C4928A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TOTAL DEMANDS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3B3F8-98F1-4FC1-B2DB-9C9DE699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2025 and 2026 origin</a:t>
            </a:r>
          </a:p>
        </p:txBody>
      </p:sp>
      <p:sp>
        <p:nvSpPr>
          <p:cNvPr id="19" name="morph-primary-number">
            <a:extLst xmlns:a="http://schemas.openxmlformats.org/drawingml/2006/main">
              <a:ext uri="{FF2B5EF4-FFF2-40B4-BE49-F238E27FC236}">
                <a16:creationId xmlns:a16="http://schemas.microsoft.com/office/drawing/2014/main" id="{34F04CC4-A538-42E0-A77B-44C10F69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39BE2-EDC6-4207-B7D9-72A5A38B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514C2-C1A9-4F68-80EE-A9C30466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45% of portfolio</a:t>
            </a:r>
          </a:p>
        </p:txBody>
      </p:sp>
      <p:sp>
        <p:nvSpPr>
          <p:cNvPr id="22" name="morph-active-number">
            <a:extLst xmlns:a="http://schemas.openxmlformats.org/drawingml/2006/main">
              <a:ext uri="{FF2B5EF4-FFF2-40B4-BE49-F238E27FC236}">
                <a16:creationId xmlns:a16="http://schemas.microsoft.com/office/drawing/2014/main" id="{4D2CAB0D-376E-4133-9517-EF31491E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4C3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004C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C3C5C-2D65-45C4-996A-8F08C5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ACTIVE BASELINE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3DF35-9B39-47A9-BE1A-EC166FA5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15 B1 + 9 B0</a:t>
            </a:r>
          </a:p>
        </p:txBody>
      </p:sp>
      <p:sp>
        <p:nvSpPr>
          <p:cNvPr id="25" name="morph-discussion-number">
            <a:extLst xmlns:a="http://schemas.openxmlformats.org/drawingml/2006/main">
              <a:ext uri="{FF2B5EF4-FFF2-40B4-BE49-F238E27FC236}">
                <a16:creationId xmlns:a16="http://schemas.microsoft.com/office/drawing/2014/main" id="{DCDCF027-8099-4DDE-B829-55DA2AD7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5768A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35768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390F0-145B-45F4-A21E-8FC4652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99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73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36E"/>
                </a:solidFill>
                <a:latin typeface="Aptos"/>
                <a:ea typeface="Aptos"/>
                <a:cs typeface="Aptos"/>
              </a:rPr>
              <a:t>UNDER DISCUSSION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9F10E8-BE16-446D-9497-F2A28CBF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Technology review</a:t>
            </a:r>
          </a:p>
        </p:txBody>
      </p:sp>
      <p:sp>
        <p:nvSpPr>
          <p:cNvPr id="28" name="summary-runway">
            <a:extLst xmlns:a="http://schemas.openxmlformats.org/drawingml/2006/main">
              <a:ext uri="{FF2B5EF4-FFF2-40B4-BE49-F238E27FC236}">
                <a16:creationId xmlns:a16="http://schemas.microsoft.com/office/drawing/2014/main" id="{65231558-04BD-4E82-9B88-AC5E53C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394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7352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6E64C-EB1F-4D02-9779-74A6A44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9BC8A7-9EC7-4507-A988-22BA6BE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29876F-C3EA-47B1-A5C8-BF52976C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go-lives</a:t>
            </a:r>
          </a:p>
        </p:txBody>
      </p:sp>
      <p:sp>
        <p:nvSpPr>
          <p:cNvPr id="32" name="summary-div-1">
            <a:extLst xmlns:a="http://schemas.openxmlformats.org/drawingml/2006/main">
              <a:ext uri="{FF2B5EF4-FFF2-40B4-BE49-F238E27FC236}">
                <a16:creationId xmlns:a16="http://schemas.microsoft.com/office/drawing/2014/main" id="{D8AED4BA-E68C-4354-913C-11AE2DAD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E57D06-167C-45ED-B619-D7C341C2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CURRENT DELIVERY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FBF5E6-ED05-4815-89EA-F14E6C88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244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C6D5E5-6F91-4555-ACCB-FE866209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67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demands in Baseline 0 or 1</a:t>
            </a:r>
          </a:p>
        </p:txBody>
      </p:sp>
      <p:sp>
        <p:nvSpPr>
          <p:cNvPr id="36" name="summary-div-2">
            <a:extLst xmlns:a="http://schemas.openxmlformats.org/drawingml/2006/main">
              <a:ext uri="{FF2B5EF4-FFF2-40B4-BE49-F238E27FC236}">
                <a16:creationId xmlns:a16="http://schemas.microsoft.com/office/drawing/2014/main" id="{E2E80375-76A2-4518-8EC1-34CE245B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B7F6F-634E-4EE9-82FE-DA97E16C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FORWARD PLAN</a:t>
            </a:r>
          </a:p>
        </p:txBody>
      </p:sp>
      <p:sp>
        <p:nvSpPr>
          <p:cNvPr id="38" name="morph-golives-number">
            <a:extLst xmlns:a="http://schemas.openxmlformats.org/drawingml/2006/main">
              <a:ext uri="{FF2B5EF4-FFF2-40B4-BE49-F238E27FC236}">
                <a16:creationId xmlns:a16="http://schemas.microsoft.com/office/drawing/2014/main" id="{6E92F4CB-83D4-47C3-A5F0-07474359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0F05EA-D3C6-4781-BBE4-6454120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673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 go-lives</a:t>
            </a:r>
          </a:p>
        </p:txBody>
      </p:sp>
      <p:sp>
        <p:nvSpPr>
          <p:cNvPr id="40" name="summary-div-3">
            <a:extLst xmlns:a="http://schemas.openxmlformats.org/drawingml/2006/main">
              <a:ext uri="{FF2B5EF4-FFF2-40B4-BE49-F238E27FC236}">
                <a16:creationId xmlns:a16="http://schemas.microsoft.com/office/drawing/2014/main" id="{6E286E3F-0C83-4F77-8F3D-E3C3436F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B63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6988A0-DE22-479A-A912-B7E04DB0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57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E5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E5CF"/>
                </a:solidFill>
                <a:latin typeface="Aptos"/>
                <a:ea typeface="Aptos"/>
                <a:cs typeface="Aptos"/>
              </a:rPr>
              <a:t>LAST CONFIRMED DATE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151FB1-F6D6-4F0A-BDB2-309B59B8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19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58A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58A32"/>
                </a:solidFill>
                <a:latin typeface="Aptos"/>
                <a:ea typeface="Aptos"/>
                <a:cs typeface="Aptos"/>
              </a:rPr>
              <a:t>15 JAN 2027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2C2101-10DA-47A9-8E4F-7F91F6CC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673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Credit Shield enrolment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5568FB-8745-4307-B59F-8E4B7492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9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926"/>
                </a:solidFill>
                <a:latin typeface="Aptos"/>
                <a:ea typeface="Aptos"/>
                <a:cs typeface="Aptos"/>
              </a:rPr>
              <a:t>The portfolio closes with 25 completed demands and a seven-item go-live plan through 15 January 2027.</a:t>
            </a:r>
          </a:p>
        </p:txBody>
      </p:sp>
    </p:spTree>
    <p:extLst>
      <p:ext uri="{BB962C8B-B14F-4D97-AF65-F5344CB8AC3E}">
        <p14:creationId xmlns:p14="http://schemas.microsoft.com/office/powerpoint/2010/main" val="51627203"/>
      </p:ext>
    </p:extLst>
  </p:cSld>
  <mc:AlternateContent xmlns:mc="http://schemas.openxmlformats.org/markup-compatibility/2006">
    <mc:Choice xmlns:p159="http://schemas.microsoft.com/office/powerpoint/2015/09/main" Requires="p159">
      <p:transition spd="med" advClick="1">
        <p159:morph option="byObject"/>
      </p:transition>
    </mc:Choice>
    <mc:Fallback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2026-09-23T09:12:23.2350000Z</dcterms:created>
  <dcterms:modified xsi:type="dcterms:W3CDTF">2026-09-23T09:12:23.2350000Z</dcterms:modified>
</coreProperties>
</file>