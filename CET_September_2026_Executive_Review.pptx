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b9c00ce8eb4f54" /><Relationship Type="http://schemas.openxmlformats.org/officeDocument/2006/relationships/extended-properties" Target="/docProps/app.xml" Id="Raa94185492594058" /><Relationship Type="http://schemas.openxmlformats.org/officeDocument/2006/relationships/officeDocument" Target="/ppt/presentation.xml" Id="Rd27150f668af4c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2fdd80462b4923"/>
  </p:sldMasterIdLst>
  <p:notesMasterIdLst>
    <p:notesMasterId xmlns:r="http://schemas.openxmlformats.org/officeDocument/2006/relationships" r:id="R8c02fd7dfc484194"/>
  </p:notesMasterIdLst>
  <p:sldIdLst>
    <p:sldId xmlns:r="http://schemas.openxmlformats.org/officeDocument/2006/relationships" id="256" r:id="R19495ac7e55f416c"/>
    <p:sldId xmlns:r="http://schemas.openxmlformats.org/officeDocument/2006/relationships" id="257" r:id="R4616f06b9759463e"/>
    <p:sldId xmlns:r="http://schemas.openxmlformats.org/officeDocument/2006/relationships" id="258" r:id="R801ce5e5f41541ec"/>
    <p:sldId xmlns:r="http://schemas.openxmlformats.org/officeDocument/2006/relationships" id="259" r:id="R26ae2990964e4ce4"/>
    <p:sldId xmlns:r="http://schemas.openxmlformats.org/officeDocument/2006/relationships" id="260" r:id="Raadb3521b06a4b32"/>
    <p:sldId xmlns:r="http://schemas.openxmlformats.org/officeDocument/2006/relationships" id="261" r:id="R1fbd3af80c8742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a67a63d6d74d78" /><Relationship Type="http://schemas.openxmlformats.org/officeDocument/2006/relationships/slideMaster" Target="/ppt/slideMasters/slideMaster1.xml" Id="R302fdd80462b4923" /><Relationship Type="http://schemas.openxmlformats.org/officeDocument/2006/relationships/notesMaster" Target="/ppt/notesMasters/notesMaster1.xml" Id="R8c02fd7dfc484194" /><Relationship Type="http://schemas.openxmlformats.org/officeDocument/2006/relationships/presProps" Target="/ppt/presProps.xml" Id="Re0666ba505044400" /><Relationship Type="http://schemas.openxmlformats.org/officeDocument/2006/relationships/tableStyles" Target="/ppt/tableStyles.xml" Id="Rd7c962c1a57a44a9" /><Relationship Type="http://schemas.openxmlformats.org/officeDocument/2006/relationships/slide" Target="/ppt/slides/slide1.xml" Id="R19495ac7e55f416c" /><Relationship Type="http://schemas.openxmlformats.org/officeDocument/2006/relationships/slide" Target="/ppt/slides/slide2.xml" Id="R4616f06b9759463e" /><Relationship Type="http://schemas.openxmlformats.org/officeDocument/2006/relationships/slide" Target="/ppt/slides/slide3.xml" Id="R801ce5e5f41541ec" /><Relationship Type="http://schemas.openxmlformats.org/officeDocument/2006/relationships/slide" Target="/ppt/slides/slide4.xml" Id="R26ae2990964e4ce4" /><Relationship Type="http://schemas.openxmlformats.org/officeDocument/2006/relationships/slide" Target="/ppt/slides/slide5.xml" Id="Raadb3521b06a4b32" /><Relationship Type="http://schemas.openxmlformats.org/officeDocument/2006/relationships/slide" Target="/ppt/slides/slide6.xml" Id="R1fbd3af80c8742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674c0c24604c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3123112677403a" /><Relationship Type="http://schemas.openxmlformats.org/officeDocument/2006/relationships/notesMaster" Target="/ppt/notesMasters/notesMaster1.xml" Id="Rbaaed34a68df4e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b4b8d7a37a4a91" /><Relationship Type="http://schemas.openxmlformats.org/officeDocument/2006/relationships/notesMaster" Target="/ppt/notesMasters/notesMaster1.xml" Id="Rec9ce76263934a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7ecf5e31c74b24" /><Relationship Type="http://schemas.openxmlformats.org/officeDocument/2006/relationships/notesMaster" Target="/ppt/notesMasters/notesMaster1.xml" Id="R2e6469cba87b47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a9b3d0be9b4fa5" /><Relationship Type="http://schemas.openxmlformats.org/officeDocument/2006/relationships/notesMaster" Target="/ppt/notesMasters/notesMaster1.xml" Id="R2abc062cdc3e48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b5fea2825748ab" /><Relationship Type="http://schemas.openxmlformats.org/officeDocument/2006/relationships/notesMaster" Target="/ppt/notesMasters/notesMaster1.xml" Id="R30673766bcef40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50a59bd10b493c" /><Relationship Type="http://schemas.openxmlformats.org/officeDocument/2006/relationships/notesMaster" Target="/ppt/notesMasters/notesMaster1.xml" Id="R4ee89fca15c84f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¹Completed / total demand is a portfolio snapshot share, not a monthly delivery rate. Totals are arithmetic sums of reported platform portfolios, without demand-ID deduplication. 98/285=34.4%. Other states: 24 new demand, 4 baseline 0, 24 dropped. Volumes remain separate because currency and cross-platform overlap are unspecified. Source health labels are Green for all platforms. Management priorities are analytical recommendations.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Planned outages/deployments: IB 5, MB 10. Planned downtime: IB 2h50m, MB 3h15m. Unplanned outages: MB 1. The source reports ~48 hours of intermittent degradation and successful mitigation, not 48 hours of total downtime. Infrastructure: MB CPU 7.97%, memory 35.64%, storage 66.10%. IB CPU 5.01%, memory 52.87%, storage 50.17%. DR available yes, tested, environment readiness validated and recovery procedures confirmed. Source reports healthy infrastructure and monitored reliability. SME share 9.16/16.99=53.9%.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Total demands 122. Exact September volume 3,242,716,155.49. Rounded component volumes sum to 3.24B. PF share 2.33/3.24=71.9%. Planned outages 0, unplanned outages 0, planned downtime 0 hours, unplanned downtime 0. Reliability unchanged and stable operational posture. CPU &lt;10%, memory &lt;60%, capacity healthy within operating thresholds. No DR available, upgrade planned 2027. Source target is sustain monthly processing above 3.0 billion, not a forecast. Product abbreviations preserved from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Exact September volume 1,244,030,273. Source monthly values are rounded to two decimal billions. August-to-September change (1.24/1.39-1)=-10.8%, calculated from rounded figures. July peak 1.57B, March low 0.84B. 0 planned outages, 1 unplanned outage, 0 planned downtime, 12 minutes unplanned downtime. Application server dxb01-vwp-lmsa2 stopped responding and returned Server Too Busy. Secondary server took load and prevented total environment outage. No critical incidents, one major incident, reliability monitored. CPU &lt;40%, memory &lt;25%, storage &lt;70%. Source availability 100% needs reconciliation with 12 minutes downtime.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These are selected named initiatives, not a complete list of the 98 delivered/completed items or 67 in progress. The source spells Emirati Card. LL/LG and CIF expansion not assumed. IB/MB source: Removal of Skywards Cards from Mobile Banking; 3x3 Drop 4 – Release 1 &amp; Release 2; TAB-52 – Tablet AOF Audit Requirement. FinnOne source: Field Amendment for LL and LG flags; Multiple Rate Changes service request; Supplementary Card Mobile No. Email ID Capture.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Data interpretation: source labels all platforms Green. HFLMS reports 100% availability alongside 12 minutes unplanned downtime. IB/MB reports 99.9% alongside ~48 hours intermittent MB degradation. These metrics may use different denominators or service scopes. Reconcile definitions without substituting an invented availability rate. No prior-month demand snapshot, demand aging, capacity allocation, costs, benefits or dates supplied. Delivery share is a portfolio composition measure and cannot establish throughput growth, ROI or delivery efficiency. Volumes are business transaction volumes, not revenue. Summing portfolios assumes no cross-platform duplicate demand IDs and needs validation before an enterprise unique-demand total. Recommendations do not imply approved owners or commitments.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de1e80d38a41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f8ae6fba0b495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a1b1837b7d4e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11e3e4ea18409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1f34570e8f49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7c5ecdec214d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51345FC-F637-467F-8953-FC7F3C04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8C73EB2-5DD4-4F72-B7F7-446F2420B0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55A7530-D596-458B-B4AF-55E6152F4C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442DC77-4B51-4D1C-98BF-D3402F73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222AA92-1DC0-4C3A-8BB4-63B9D80013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18CB788-D722-4027-A481-35B89F79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9B016D5-D040-4CCC-B87B-CD8ECB456F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E0ECD3C-4428-41EF-91BE-C8A6F2C0BE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75BEA76-AF1B-416B-9EB6-EDFC9FD8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7C6DE0C-58DF-45AD-AB03-0E151B6EC9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50139C3-1D47-40B7-AC68-688782D1DD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0739C33-5031-4DC8-A671-6DC4079C8C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09DEC5E-3F1E-408D-8CD9-8FD1D0CE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260A992-80FC-4F15-9EDF-9DBF915662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75CE3F-5A24-4D0E-BF85-5322640A1E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ff0732bf3247c4" /><Relationship Type="http://schemas.openxmlformats.org/officeDocument/2006/relationships/slideLayout" Target="/ppt/slideLayouts/slideLayout1.xml" Id="Rcc9ff4eb799445d7" /><Relationship Type="http://schemas.openxmlformats.org/officeDocument/2006/relationships/slideLayout" Target="/ppt/slideLayouts/slideLayout2.xml" Id="Rfb86f9d807364e76" /><Relationship Type="http://schemas.openxmlformats.org/officeDocument/2006/relationships/slideLayout" Target="/ppt/slideLayouts/slideLayout3.xml" Id="Rdcf5270bdfa14c74" /><Relationship Type="http://schemas.openxmlformats.org/officeDocument/2006/relationships/slideLayout" Target="/ppt/slideLayouts/slideLayout4.xml" Id="R8efd8db731614c3a" /><Relationship Type="http://schemas.openxmlformats.org/officeDocument/2006/relationships/slideLayout" Target="/ppt/slideLayouts/slideLayout5.xml" Id="R5a1a2566c0e44a1c" /><Relationship Type="http://schemas.openxmlformats.org/officeDocument/2006/relationships/slideLayout" Target="/ppt/slideLayouts/slideLayout6.xml" Id="Red46dfd543834e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9ff4eb799445d7"/>
    <p:sldLayoutId xmlns:r="http://schemas.openxmlformats.org/officeDocument/2006/relationships" id="2147483650" r:id="Rfb86f9d807364e76"/>
    <p:sldLayoutId xmlns:r="http://schemas.openxmlformats.org/officeDocument/2006/relationships" id="2147483651" r:id="Rdcf5270bdfa14c74"/>
    <p:sldLayoutId xmlns:r="http://schemas.openxmlformats.org/officeDocument/2006/relationships" id="2147483652" r:id="R8efd8db731614c3a"/>
    <p:sldLayoutId xmlns:r="http://schemas.openxmlformats.org/officeDocument/2006/relationships" id="2147483653" r:id="R5a1a2566c0e44a1c"/>
    <p:sldLayoutId xmlns:r="http://schemas.openxmlformats.org/officeDocument/2006/relationships" id="2147483654" r:id="Red46dfd543834e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ad9e71c2b34d96" /><Relationship Type="http://schemas.openxmlformats.org/officeDocument/2006/relationships/notesSlide" Target="/ppt/notesSlides/notesSlide1.xml" Id="R6ad0bc08b6db4b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f2994a8700438a" /><Relationship Type="http://schemas.openxmlformats.org/officeDocument/2006/relationships/chart" Target="/ppt/slides/charts/chart1.xml" Id="R438c08c71bbf4481" /><Relationship Type="http://schemas.openxmlformats.org/officeDocument/2006/relationships/notesSlide" Target="/ppt/notesSlides/notesSlide2.xml" Id="R4bed3f4594074b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ad660993774e6b" /><Relationship Type="http://schemas.openxmlformats.org/officeDocument/2006/relationships/chart" Target="/ppt/slides/charts/chart2.xml" Id="Ree0c5082917b4053" /><Relationship Type="http://schemas.openxmlformats.org/officeDocument/2006/relationships/notesSlide" Target="/ppt/notesSlides/notesSlide3.xml" Id="Rb23499b2e2b44f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01c1d637b94eb0" /><Relationship Type="http://schemas.openxmlformats.org/officeDocument/2006/relationships/chart" Target="/ppt/slides/charts/chart3.xml" Id="Rc0bede0382a14602" /><Relationship Type="http://schemas.openxmlformats.org/officeDocument/2006/relationships/notesSlide" Target="/ppt/notesSlides/notesSlide4.xml" Id="R90e553d6e24b42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fe4a34d7df4257" /><Relationship Type="http://schemas.openxmlformats.org/officeDocument/2006/relationships/notesSlide" Target="/ppt/notesSlides/notesSlide5.xml" Id="R2e3b6cb778f349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624c838b054552" /><Relationship Type="http://schemas.openxmlformats.org/officeDocument/2006/relationships/notesSlide" Target="/ppt/notesSlides/notesSlide6.xml" Id="Re6a2aaa17e3c449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Reported volume</c:v>
          </c:tx>
          <c:spPr>
            <a:solidFill xmlns:a="http://schemas.openxmlformats.org/drawingml/2006/main">
              <a:srgbClr val="064B35"/>
            </a:solidFill>
          </c:spPr>
          <c:cat>
            <c:strLit>
              <c:ptCount val="2"/>
              <c:pt idx="0">
                <c:v>Retail</c:v>
              </c:pt>
              <c:pt idx="1">
                <c:v>SME</c:v>
              </c:pt>
            </c:strLit>
          </c:cat>
          <c:val>
            <c:numLit>
              <c:formatCode>0.00"B"</c:formatCode>
              <c:ptCount val="2"/>
              <c:pt idx="0">
                <c:v>7.83</c:v>
              </c:pt>
              <c:pt idx="1">
                <c:v>9.16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6372D"/>
                  </a:solidFill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C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DD"/>
              </a:solidFill>
            </a:ln>
          </c:spPr>
        </c:majorGridlines>
        <c:numFmt formatCode="0.00&quot;B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Reported volume</c:v>
          </c:tx>
          <c:spPr>
            <a:solidFill xmlns:a="http://schemas.openxmlformats.org/drawingml/2006/main">
              <a:srgbClr val="064B35"/>
            </a:solidFill>
          </c:spPr>
          <c:cat>
            <c:strLit>
              <c:ptCount val="5"/>
              <c:pt idx="0">
                <c:v>AF</c:v>
              </c:pt>
              <c:pt idx="1">
                <c:v>AF-EV</c:v>
              </c:pt>
              <c:pt idx="2">
                <c:v>CC</c:v>
              </c:pt>
              <c:pt idx="3">
                <c:v>PF</c:v>
              </c:pt>
              <c:pt idx="4">
                <c:v>SBF</c:v>
              </c:pt>
            </c:strLit>
          </c:cat>
          <c:val>
            <c:numLit>
              <c:formatCode>0.00"B"</c:formatCode>
              <c:ptCount val="5"/>
              <c:pt idx="0">
                <c:v>0.63</c:v>
              </c:pt>
              <c:pt idx="1">
                <c:v>0.02</c:v>
              </c:pt>
              <c:pt idx="2">
                <c:v>0.19</c:v>
              </c:pt>
              <c:pt idx="3">
                <c:v>2.33</c:v>
              </c:pt>
              <c:pt idx="4">
                <c:v>0.07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6372D"/>
                  </a:solidFill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C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DD"/>
              </a:solidFill>
            </a:ln>
          </c:spPr>
        </c:majorGridlines>
        <c:numFmt formatCode="0.00&quot;B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Reported volume</c:v>
          </c:tx>
          <c:spPr>
            <a:solidFill xmlns:a="http://schemas.openxmlformats.org/drawingml/2006/main">
              <a:srgbClr val="064B35"/>
            </a:solidFill>
          </c:spPr>
          <c:cat>
            <c:strLit>
              <c:ptCount val="9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</c:strLit>
          </c:cat>
          <c:val>
            <c:numLit>
              <c:formatCode>0.00"B"</c:formatCode>
              <c:ptCount val="9"/>
              <c:pt idx="0">
                <c:v>1.08</c:v>
              </c:pt>
              <c:pt idx="1">
                <c:v>1.2</c:v>
              </c:pt>
              <c:pt idx="2">
                <c:v>0.84</c:v>
              </c:pt>
              <c:pt idx="3">
                <c:v>1.1</c:v>
              </c:pt>
              <c:pt idx="4">
                <c:v>0.97</c:v>
              </c:pt>
              <c:pt idx="5">
                <c:v>1.01</c:v>
              </c:pt>
              <c:pt idx="6">
                <c:v>1.57</c:v>
              </c:pt>
              <c:pt idx="7">
                <c:v>1.39</c:v>
              </c:pt>
              <c:pt idx="8">
                <c:v>1.24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6372D"/>
                  </a:solidFill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C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DD"/>
              </a:solidFill>
            </a:ln>
          </c:spPr>
        </c:majorGridlines>
        <c:numFmt formatCode="0.00&quot;B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64F7D3-8968-4B82-A237-F6AA192B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1809F-CE51-4D67-B3A3-EFD5D341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rPr>
              <a:t>Delivery progressed, with resilience gaps requiring attention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4D0A6-9A6F-49A8-B7CC-013FA7EF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rPr>
              <a:t>Executive outcome across IB / MB, FinnOne and HFLMS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FC38D-C59D-45B5-BA82-8FC0C71F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rPr>
              <a:t>September 2026   •   Source: supplied platform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44578-FFA9-436E-9A5F-E74C1A81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0B1E0-1140-4834-B652-3D008E5F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65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rPr>
              <a:t>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4602F-A6DF-4B5E-A940-68DDF326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rPr>
              <a:t>delivered / completed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6100E-D0E2-4D2C-940C-C2CEA4CF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65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rPr>
              <a:t>285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E8E3D6-8CE0-4F74-B795-FB3F4D73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051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rPr>
              <a:t>reported demands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273A2-F826-423F-B87B-F042AB79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65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rPr>
              <a:t>68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A4D8C-CC9A-410D-ACE2-EEE0A641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051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rPr>
              <a:t>backlog items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5BABC2-15AC-41C2-AD66-0B9559C2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65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rPr>
              <a:t>67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1DF150-CD69-446F-9F44-3D393C4E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051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rPr>
              <a:t>in progress</a:t>
            </a:r>
          </a:p>
        </p:txBody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457200" y="3476625"/>
          <a:ext xmlns:a="http://schemas.openxmlformats.org/drawingml/2006/main" cx="11277600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571750"/>
                <a:gridCol w="2238375"/>
                <a:gridCol w="2095500"/>
                <a:gridCol w="2276475"/>
              </a:tblGrid>
              <a:tr h="3810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Platform</a:t>
                      </a:r>
                    </a:p>
                  </a:txBody>
                  <a:tcPr marL="91440" marR="91440" marT="45720" marB="45720">
                    <a:solidFill>
                      <a:srgbClr val="064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Delivery share¹</a:t>
                      </a:r>
                    </a:p>
                  </a:txBody>
                  <a:tcPr marL="91440" marR="91440" marT="45720" marB="45720">
                    <a:solidFill>
                      <a:srgbClr val="064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September volume</a:t>
                      </a:r>
                    </a:p>
                  </a:txBody>
                  <a:tcPr marL="91440" marR="91440" marT="45720" marB="45720">
                    <a:solidFill>
                      <a:srgbClr val="064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Availability</a:t>
                      </a:r>
                    </a:p>
                  </a:txBody>
                  <a:tcPr marL="91440" marR="91440" marT="45720" marB="45720">
                    <a:solidFill>
                      <a:srgbClr val="064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DR</a:t>
                      </a:r>
                    </a:p>
                  </a:txBody>
                  <a:tcPr marL="91440" marR="91440" marT="45720" marB="45720">
                    <a:solidFill>
                      <a:srgbClr val="064B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IB / 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25 / 113  (22.1%)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16.99B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99.9%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Tested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FinnOne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50 / 122  (41.0%)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3.24B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Unavailable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HFLMS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23 / 50  (46.0%)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1.24B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Unavailable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909C9C-8688-4864-88DF-7154E192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483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rPr>
              <a:t>Management focus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24F27B-3150-4AB9-93E7-F5C8B195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19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37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6372D"/>
                </a:solidFill>
                <a:latin typeface="Bitstream Charter"/>
                <a:ea typeface="Bitstream Charter"/>
                <a:cs typeface="Bitstream Charter"/>
              </a:rPr>
              <a:t>MB incident controls and backlog capacity need attention. FinnOne and HFLMS require interim recovery controls before the 2027 DR upgrades.</a:t>
            </a:r>
          </a:p>
        </p:txBody>
      </p:sp>
    </p:spTree>
    <p:extLst>
      <p:ext uri="{BB962C8B-B14F-4D97-AF65-F5344CB8AC3E}">
        <p14:creationId xmlns:p14="http://schemas.microsoft.com/office/powerpoint/2010/main" val="14188549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46F77-2525-45C1-9023-ADB7E480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8078E-35DB-463A-BBE5-BE714ED6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rPr>
              <a:t>IB / MB supports 16.99B in business volume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E5DF4-F922-48DB-A565-2A8BF85A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rPr>
              <a:t>Delivery continues while Mobile Banking reliability needs closer oversight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A6B71-1AE3-44F7-9B73-147E03FB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rPr>
              <a:t>September 2026   •   Source: supplied platform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9C66F-83FB-4053-972C-11E40E4A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57200" y="2266950"/>
          <a:ext xmlns:a="http://schemas.openxmlformats.org/drawingml/2006/main" cx="514350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8c08c71bbf448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AC9AE-F056-4BE5-AB61-E8E51ACB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017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rPr>
              <a:t>54% of reported volume comes from SME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048375" y="2238375"/>
          <a:ext xmlns:a="http://schemas.openxmlformats.org/drawingml/2006/main" cx="2857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904875"/>
              </a:tblGrid>
              <a:tr h="3810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Demand state</a:t>
                      </a:r>
                    </a:p>
                  </a:txBody>
                  <a:tcPr marL="91440" marR="91440" marT="45720" marB="45720">
                    <a:solidFill>
                      <a:srgbClr val="064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Count</a:t>
                      </a:r>
                    </a:p>
                  </a:txBody>
                  <a:tcPr marL="91440" marR="91440" marT="45720" marB="45720">
                    <a:solidFill>
                      <a:srgbClr val="064B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Delivered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In progress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23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Backlog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New demand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24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Dropped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1088CC-AB20-4E0F-BA78-C6C25551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66950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rPr>
              <a:t>113 demands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072B6-2DCB-4AC9-B5B4-3C197BEA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7813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rPr>
              <a:t>99.9% availability</a:t>
            </a:r>
          </a:p>
          <a:p xmlns:a="http://schemas.openxmlformats.org/drawingml/2006/main">
            <a:pPr>
              <a:defRPr sz="180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rPr>
              <a:t>DR tested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FB4C57-FF23-48C3-9FCD-3BD6A093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4332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F651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AF6513"/>
                </a:solidFill>
                <a:latin typeface="Bitstream Charter"/>
                <a:ea typeface="Bitstream Charter"/>
                <a:cs typeface="Bitstream Charter"/>
              </a:rPr>
              <a:t>MB: 6 major + 1 minor incidents</a:t>
            </a:r>
          </a:p>
          <a:p xmlns:a="http://schemas.openxmlformats.org/drawingml/2006/main">
            <a:pPr>
              <a:defRPr sz="1575" b="1">
                <a:solidFill>
                  <a:srgbClr val="AF651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AF6513"/>
                </a:solidFill>
                <a:latin typeface="Bitstream Charter"/>
                <a:ea typeface="Bitstream Charter"/>
                <a:cs typeface="Bitstream Charter"/>
              </a:rPr>
              <a:t>IB: 2 minor incidents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027FA9-C253-4DBD-8E5B-5F199FC7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rPr>
              <a:t>Operational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CE90B4-4BEA-43D2-80DF-0C11E8DB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800725"/>
            <a:ext cx="881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37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6372D"/>
                </a:solidFill>
                <a:latin typeface="Bitstream Charter"/>
                <a:ea typeface="Bitstream Charter"/>
                <a:cs typeface="Bitstream Charter"/>
              </a:rPr>
              <a:t>15 planned deployments. Service continuity maintained during ~48 hours of intermittent MB degradation attributed to DDoS threshold exceedance.</a:t>
            </a:r>
          </a:p>
        </p:txBody>
      </p:sp>
    </p:spTree>
    <p:extLst>
      <p:ext uri="{BB962C8B-B14F-4D97-AF65-F5344CB8AC3E}">
        <p14:creationId xmlns:p14="http://schemas.microsoft.com/office/powerpoint/2010/main" val="11069424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EAEF96-FC86-4AB3-A74B-404F0755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35DAD-59CE-498C-ACF8-0390A769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rPr>
              <a:t>FinnOne combines 50 completed demands with zero outages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BAE0E-C07C-4391-9F60-49848279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rPr>
              <a:t>3.24B reported September volume, with PF contributing approximately 72%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F1D70D-593E-401F-BA61-C4B8E7A6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rPr>
              <a:t>September 2026   •   Source: supplied platform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70A94-41A3-4DFB-9223-15D7AA1B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57200" y="2209800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0c5082917b4053"/>
          </a:graphicData>
        </a:graphic>
      </p:graphicFrame>
      <p:graphicFrame>
        <p:nvGraphicFramePr>
          <p:cNvPr id="18" name=""/>
          <p:cNvGraphicFramePr/>
          <p:nvPr/>
        </p:nvGraphicFramePr>
        <p:xfrm>
          <a:off xmlns:a="http://schemas.openxmlformats.org/drawingml/2006/main" x="7905750" y="2228850"/>
          <a:ext xmlns:a="http://schemas.openxmlformats.org/drawingml/2006/main" cx="3810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1000125"/>
              </a:tblGrid>
              <a:tr h="381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Demand state</a:t>
                      </a:r>
                    </a:p>
                  </a:txBody>
                  <a:tcPr marL="91440" marR="91440" marT="45720" marB="45720">
                    <a:solidFill>
                      <a:srgbClr val="064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Count</a:t>
                      </a:r>
                    </a:p>
                  </a:txBody>
                  <a:tcPr marL="91440" marR="91440" marT="45720" marB="45720">
                    <a:solidFill>
                      <a:srgbClr val="064B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Completed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In progress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29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Backlog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Baseline 0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Dropped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66B62-B183-4B94-AACE-0D35DC27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rPr>
              <a:t>24,981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EF9EA-594C-4662-A18B-3064A0A7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48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rPr>
              <a:t>transaction count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240B38-8466-4BE6-B295-BFE18EB2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581650"/>
            <a:ext cx="3619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rPr>
              <a:t>100% availability</a:t>
            </a:r>
          </a:p>
          <a:p xmlns:a="http://schemas.openxmlformats.org/drawingml/2006/main">
            <a:pPr>
              <a:defRPr sz="180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rPr>
              <a:t>No critical or major incidents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CFD3A-0220-490C-9472-D6B44BF8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24500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F651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AF6513"/>
                </a:solidFill>
                <a:latin typeface="Bitstream Charter"/>
                <a:ea typeface="Bitstream Charter"/>
                <a:cs typeface="Bitstream Charter"/>
              </a:rPr>
              <a:t>DR unavailable</a:t>
            </a:r>
          </a:p>
          <a:p xmlns:a="http://schemas.openxmlformats.org/drawingml/2006/main">
            <a:pPr>
              <a:defRPr sz="1800" b="1">
                <a:solidFill>
                  <a:srgbClr val="AF651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AF6513"/>
                </a:solidFill>
                <a:latin typeface="Bitstream Charter"/>
                <a:ea typeface="Bitstream Charter"/>
                <a:cs typeface="Bitstream Charter"/>
              </a:rPr>
              <a:t>Upgrade planned for 2027</a:t>
            </a:r>
          </a:p>
        </p:txBody>
      </p:sp>
    </p:spTree>
    <p:extLst>
      <p:ext uri="{BB962C8B-B14F-4D97-AF65-F5344CB8AC3E}">
        <p14:creationId xmlns:p14="http://schemas.microsoft.com/office/powerpoint/2010/main" val="11481747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FEBE6-CC25-48AD-9FB0-4449F5CE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5086C-6D80-4989-87FB-6C33D931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rPr>
              <a:t>HFLMS maintained continuity through secondary-server failover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98307-6F15-40E0-A18C-1DBBF719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rPr>
              <a:t>23 completed demands. September volume eased 10.8% from August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EC2AF-C61E-49A0-90C7-A92C0C98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rPr>
              <a:t>September 2026   •   Source: supplied platform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3CA72-82D6-43F6-81A8-2F4090AD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57200" y="2286000"/>
          <a:ext xmlns:a="http://schemas.openxmlformats.org/drawingml/2006/main" cx="7239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bede0382a1460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BD375-BC50-42D8-8689-9E4ECA68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rPr>
              <a:t>1.24B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E889D-FF1C-4A9E-9814-76ABB706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86075"/>
            <a:ext cx="352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37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6372D"/>
                </a:solidFill>
                <a:latin typeface="Bitstream Charter"/>
                <a:ea typeface="Bitstream Charter"/>
                <a:cs typeface="Bitstream Charter"/>
              </a:rPr>
              <a:t>774 transactions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775E2-4AE6-4B00-9A93-D348AC2B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37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6372D"/>
                </a:solidFill>
                <a:latin typeface="Bitstream Charter"/>
                <a:ea typeface="Bitstream Charter"/>
                <a:cs typeface="Bitstream Charter"/>
              </a:rPr>
              <a:t>50 demands</a:t>
            </a:r>
          </a:p>
          <a:p xmlns:a="http://schemas.openxmlformats.org/drawingml/2006/main">
            <a:pPr>
              <a:defRPr sz="1650" b="0">
                <a:solidFill>
                  <a:srgbClr val="1637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6372D"/>
                </a:solidFill>
                <a:latin typeface="Bitstream Charter"/>
                <a:ea typeface="Bitstream Charter"/>
                <a:cs typeface="Bitstream Charter"/>
              </a:rPr>
              <a:t>23 completed   /   15 in progress</a:t>
            </a:r>
          </a:p>
          <a:p xmlns:a="http://schemas.openxmlformats.org/drawingml/2006/main">
            <a:pPr>
              <a:defRPr sz="1650" b="0">
                <a:solidFill>
                  <a:srgbClr val="1637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6372D"/>
                </a:solidFill>
                <a:latin typeface="Bitstream Charter"/>
                <a:ea typeface="Bitstream Charter"/>
                <a:cs typeface="Bitstream Charter"/>
              </a:rPr>
              <a:t>12 backlog   /   0 baseline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C8508A-24DE-4E1E-87D1-0D1AB3FD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523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F651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AF6513"/>
                </a:solidFill>
                <a:latin typeface="Bitstream Charter"/>
                <a:ea typeface="Bitstream Charter"/>
                <a:cs typeface="Bitstream Charter"/>
              </a:rPr>
              <a:t>1 major incident</a:t>
            </a:r>
          </a:p>
          <a:p xmlns:a="http://schemas.openxmlformats.org/drawingml/2006/main">
            <a:pPr>
              <a:defRPr sz="1800" b="1">
                <a:solidFill>
                  <a:srgbClr val="AF651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AF6513"/>
                </a:solidFill>
                <a:latin typeface="Bitstream Charter"/>
                <a:ea typeface="Bitstream Charter"/>
                <a:cs typeface="Bitstream Charter"/>
              </a:rPr>
              <a:t>12 minutes unplanned downtime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96F2D-ED0E-43A6-B0D9-4F1ACEE1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0200"/>
            <a:ext cx="3619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F651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AF6513"/>
                </a:solidFill>
                <a:latin typeface="Bitstream Charter"/>
                <a:ea typeface="Bitstream Charter"/>
                <a:cs typeface="Bitstream Charter"/>
              </a:rPr>
              <a:t>DR unavailable</a:t>
            </a:r>
          </a:p>
          <a:p xmlns:a="http://schemas.openxmlformats.org/drawingml/2006/main">
            <a:pPr>
              <a:defRPr sz="1800" b="1">
                <a:solidFill>
                  <a:srgbClr val="AF651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AF6513"/>
                </a:solidFill>
                <a:latin typeface="Bitstream Charter"/>
                <a:ea typeface="Bitstream Charter"/>
                <a:cs typeface="Bitstream Charter"/>
              </a:rPr>
              <a:t>Upgrade planned for 2027</a:t>
            </a:r>
          </a:p>
        </p:txBody>
      </p:sp>
    </p:spTree>
    <p:extLst>
      <p:ext uri="{BB962C8B-B14F-4D97-AF65-F5344CB8AC3E}">
        <p14:creationId xmlns:p14="http://schemas.microsoft.com/office/powerpoint/2010/main" val="11976500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A2D3B-1F9B-44C3-958F-562B67FF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9BDAA-698E-44A7-ABDE-DF2F7D3B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rPr>
              <a:t>The delivery pipeline spans releases, controls and integrations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0957E-605D-43B9-857D-1A267D64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rPr>
              <a:t>Selected initiatives reported in September. Pipeline stages guide the next management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95945-C61C-47E1-BF8C-6DCC3607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rPr>
              <a:t>September 2026   •   Source: supplied platform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2EF84E-D748-4C4E-8552-3D3EDB9B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57200" y="2181225"/>
          <a:ext xmlns:a="http://schemas.openxmlformats.org/drawingml/2006/main" cx="11277600" cy="3695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4495800"/>
                <a:gridCol w="5305425"/>
              </a:tblGrid>
              <a:tr h="381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Platform</a:t>
                      </a:r>
                    </a:p>
                  </a:txBody>
                  <a:tcPr marL="91440" marR="91440" marT="45720" marB="45720">
                    <a:solidFill>
                      <a:srgbClr val="064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Live / delivered examples</a:t>
                      </a:r>
                    </a:p>
                  </a:txBody>
                  <a:tcPr marL="91440" marR="91440" marT="45720" marB="45720">
                    <a:solidFill>
                      <a:srgbClr val="064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Selected in-progress initiatives</a:t>
                      </a:r>
                    </a:p>
                  </a:txBody>
                  <a:tcPr marL="91440" marR="91440" marT="45720" marB="45720">
                    <a:solidFill>
                      <a:srgbClr val="064B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IB / 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Skywards cards removal from MB</a:t>
                      </a:r>
                    </a:p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3x3 Drop 4 – Releases 1 &amp; 2</a:t>
                      </a:r>
                    </a:p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TAB-52 – Tablet AOF audit requirement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EFR cost enhancements – SIT</a:t>
                      </a:r>
                    </a:p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SWIFT GPI – Regression</a:t>
                      </a:r>
                    </a:p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Input Validations – Development</a:t>
                      </a:r>
                    </a:p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EFMS Upgrade – UAT</a:t>
                      </a:r>
                    </a:p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Emirati Card – SIT / UAT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FinnOne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LL / LG flag field amendment</a:t>
                      </a:r>
                    </a:p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Multiple Rate Changes service request</a:t>
                      </a:r>
                    </a:p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Supplementary Card mobile number / email capture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RTA Integration – Design</a:t>
                      </a:r>
                    </a:p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PDC Remittance – UAT</a:t>
                      </a:r>
                    </a:p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EFR for PDC – Design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HFLMS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No named live initiatives supplied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HF48 Forward Ijara Freehold Phase 2</a:t>
                      </a:r>
                    </a:p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Dedup logic controls in customer onboarding*</a:t>
                      </a:r>
                    </a:p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Duplicate CIF: linkage of closed customer*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530C6-FDB0-42BF-855A-0FE7AA5A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05525"/>
            <a:ext cx="11277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rPr>
              <a:t>* HFLMS + Core Banking. Source gives no stage for these initiatives. Names and abbreviations retain the source terminology.</a:t>
            </a:r>
          </a:p>
        </p:txBody>
      </p:sp>
    </p:spTree>
    <p:extLst>
      <p:ext uri="{BB962C8B-B14F-4D97-AF65-F5344CB8AC3E}">
        <p14:creationId xmlns:p14="http://schemas.microsoft.com/office/powerpoint/2010/main" val="6326395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CD309-7D04-430A-AC83-C5F8ABEC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3F375-F912-4869-A332-C0BF050C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rPr>
              <a:t>The next review needs capacity decisions and recovery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60BAF-6C10-44B8-880F-264540AD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rPr>
              <a:t>Recommended management actions based on September reporting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8DDF6-14F3-4A32-AD80-08FEBF36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rPr>
              <a:t>September 2026   •   Source: supplied platform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09FC6-FBEA-4898-964F-8EB50BA7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5C7168"/>
                </a:solidFill>
                <a:latin typeface="Bitstream Charter"/>
                <a:ea typeface="Bitstream Charter"/>
                <a:cs typeface="Bitstream Charter"/>
              </a:rPr>
              <a:t>6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57200" y="2190750"/>
          <a:ext xmlns:a="http://schemas.openxmlformats.org/drawingml/2006/main" cx="11277600" cy="2686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4610100"/>
                <a:gridCol w="4619625"/>
              </a:tblGrid>
              <a:tr h="381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Priority</a:t>
                      </a:r>
                    </a:p>
                  </a:txBody>
                  <a:tcPr marL="91440" marR="91440" marT="45720" marB="45720">
                    <a:solidFill>
                      <a:srgbClr val="064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Recommended action</a:t>
                      </a:r>
                    </a:p>
                  </a:txBody>
                  <a:tcPr marL="91440" marR="91440" marT="45720" marB="45720">
                    <a:solidFill>
                      <a:srgbClr val="064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Evidence for the next review</a:t>
                      </a:r>
                    </a:p>
                  </a:txBody>
                  <a:tcPr marL="91440" marR="91440" marT="45720" marB="45720">
                    <a:solidFill>
                      <a:srgbClr val="064B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MB reliability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Review the DDoS threshold event and mitigation controls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Incident closure, customer impact and control effectiveness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Backlog capacity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Prioritize 68 backlog items across the three portfolios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Approved pickup plan: IB/MB 27, FinnOne 29, HFLMS 12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Recovery exposure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Agree interim recovery controls for FinnOne and HFLMS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Recovery ownership, test evidence and 2027 milestones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Delivery progression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Review readiness of SIT, UAT and regression items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Release dates, blockers and acceptance decisions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3EC55-F381-4E92-BCFC-B018B69C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64B35"/>
                </a:solidFill>
                <a:latin typeface="Bitstream Charter"/>
                <a:ea typeface="Bitstream Charter"/>
                <a:cs typeface="Bitstream Charter"/>
              </a:rPr>
              <a:t>Infrastructure has reported headroom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457200" y="5238750"/>
          <a:ext xmlns:a="http://schemas.openxmlformats.org/drawingml/2006/main" cx="112776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524125"/>
                <a:gridCol w="3514725"/>
                <a:gridCol w="3429000"/>
              </a:tblGrid>
              <a:tr h="238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Platform</a:t>
                      </a:r>
                    </a:p>
                  </a:txBody>
                  <a:tcPr marL="91440" marR="91440" marT="45720" marB="45720">
                    <a:solidFill>
                      <a:srgbClr val="064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CPU</a:t>
                      </a:r>
                    </a:p>
                  </a:txBody>
                  <a:tcPr marL="91440" marR="91440" marT="45720" marB="45720">
                    <a:solidFill>
                      <a:srgbClr val="064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Memory</a:t>
                      </a:r>
                    </a:p>
                  </a:txBody>
                  <a:tcPr marL="91440" marR="91440" marT="45720" marB="45720">
                    <a:solidFill>
                      <a:srgbClr val="064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Storage</a:t>
                      </a:r>
                    </a:p>
                  </a:txBody>
                  <a:tcPr marL="91440" marR="91440" marT="45720" marB="45720">
                    <a:solidFill>
                      <a:srgbClr val="064B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MB / IB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7.97% / 5.01%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35.64% / 52.87%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66.10% / 50.17%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FinnOne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&lt;10%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&lt;60%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Not supplied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HFLMS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&lt;40%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&lt;25%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6372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&lt;70%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06196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2026-10-05T13:21:52.1990000Z</dcterms:created>
  <dcterms:modified xsi:type="dcterms:W3CDTF">2026-10-05T13:21:52.1990000Z</dcterms:modified>
</coreProperties>
</file>