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97a4667c1f4b3c" /><Relationship Type="http://schemas.openxmlformats.org/officeDocument/2006/relationships/extended-properties" Target="/docProps/app.xml" Id="Red0dd55038ca4418" /><Relationship Type="http://schemas.openxmlformats.org/officeDocument/2006/relationships/officeDocument" Target="/ppt/presentation.xml" Id="Raeb22fce1e6645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6548e8b0be44b8"/>
  </p:sldMasterIdLst>
  <p:notesMasterIdLst>
    <p:notesMasterId xmlns:r="http://schemas.openxmlformats.org/officeDocument/2006/relationships" r:id="R2a9a509cfaa64b1f"/>
  </p:notesMasterIdLst>
  <p:sldIdLst>
    <p:sldId xmlns:r="http://schemas.openxmlformats.org/officeDocument/2006/relationships" id="256" r:id="Rdf4c1d6e81564aca"/>
    <p:sldId xmlns:r="http://schemas.openxmlformats.org/officeDocument/2006/relationships" id="257" r:id="R51352bf6abff40b7"/>
    <p:sldId xmlns:r="http://schemas.openxmlformats.org/officeDocument/2006/relationships" id="258" r:id="R5405938cc4b84c09"/>
    <p:sldId xmlns:r="http://schemas.openxmlformats.org/officeDocument/2006/relationships" id="259" r:id="Rf50272a572864a03"/>
    <p:sldId xmlns:r="http://schemas.openxmlformats.org/officeDocument/2006/relationships" id="260" r:id="R185e10955fe648aa"/>
    <p:sldId xmlns:r="http://schemas.openxmlformats.org/officeDocument/2006/relationships" id="261" r:id="Rf53f18649aaf40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dac147978d4487" /><Relationship Type="http://schemas.openxmlformats.org/officeDocument/2006/relationships/slideMaster" Target="/ppt/slideMasters/slideMaster1.xml" Id="R6b6548e8b0be44b8" /><Relationship Type="http://schemas.openxmlformats.org/officeDocument/2006/relationships/notesMaster" Target="/ppt/notesMasters/notesMaster1.xml" Id="R2a9a509cfaa64b1f" /><Relationship Type="http://schemas.openxmlformats.org/officeDocument/2006/relationships/presProps" Target="/ppt/presProps.xml" Id="R753379ed1ff743e0" /><Relationship Type="http://schemas.openxmlformats.org/officeDocument/2006/relationships/tableStyles" Target="/ppt/tableStyles.xml" Id="R26fb361ac6664ea6" /><Relationship Type="http://schemas.openxmlformats.org/officeDocument/2006/relationships/slide" Target="/ppt/slides/slide1.xml" Id="Rdf4c1d6e81564aca" /><Relationship Type="http://schemas.openxmlformats.org/officeDocument/2006/relationships/slide" Target="/ppt/slides/slide2.xml" Id="R51352bf6abff40b7" /><Relationship Type="http://schemas.openxmlformats.org/officeDocument/2006/relationships/slide" Target="/ppt/slides/slide3.xml" Id="R5405938cc4b84c09" /><Relationship Type="http://schemas.openxmlformats.org/officeDocument/2006/relationships/slide" Target="/ppt/slides/slide4.xml" Id="Rf50272a572864a03" /><Relationship Type="http://schemas.openxmlformats.org/officeDocument/2006/relationships/slide" Target="/ppt/slides/slide5.xml" Id="R185e10955fe648aa" /><Relationship Type="http://schemas.openxmlformats.org/officeDocument/2006/relationships/slide" Target="/ppt/slides/slide6.xml" Id="Rf53f18649aaf40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48f4839f42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8e1f99e2a04d54" /><Relationship Type="http://schemas.openxmlformats.org/officeDocument/2006/relationships/notesMaster" Target="/ppt/notesMasters/notesMaster1.xml" Id="R83a55b39e37c4c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d349a8131d4434" /><Relationship Type="http://schemas.openxmlformats.org/officeDocument/2006/relationships/notesMaster" Target="/ppt/notesMasters/notesMaster1.xml" Id="R11f20286f8fc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cff72890da44d6" /><Relationship Type="http://schemas.openxmlformats.org/officeDocument/2006/relationships/notesMaster" Target="/ppt/notesMasters/notesMaster1.xml" Id="Rdf871d2a469940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73db7eb834864" /><Relationship Type="http://schemas.openxmlformats.org/officeDocument/2006/relationships/notesMaster" Target="/ppt/notesMasters/notesMaster1.xml" Id="Rf58d5daa459348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46a00a4cdb4ee8" /><Relationship Type="http://schemas.openxmlformats.org/officeDocument/2006/relationships/notesMaster" Target="/ppt/notesMasters/notesMaster1.xml" Id="R27dd8517417648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65546ca31a4d99" /><Relationship Type="http://schemas.openxmlformats.org/officeDocument/2006/relationships/notesMaster" Target="/ppt/notesMasters/notesMaster1.xml" Id="Rbdcfa6a0e9cd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¹Completed / total demand is a portfolio snapshot share, not a monthly delivery rate. Totals are arithmetic sums of reported platform portfolios, without demand-ID deduplication. 98/285=34.4%. Other states: 24 new demand, 4 baseline 0, 24 dropped. Volumes remain separate because currency and cross-platform overlap are unspecified. Source health labels are Green for all platforms. Management priorities are analytical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Planned outages/deployments: IB 5, MB 10. Planned downtime: IB 2h50m, MB 3h15m. Unplanned outages: MB 1. The source reports ~48 hours of intermittent degradation and successful mitigation, not 48 hours of total downtime. Infrastructure: MB CPU 7.97%, memory 35.64%, storage 66.10%. IB CPU 5.01%, memory 52.87%, storage 50.17%. DR available yes, tested, environment readiness validated and recovery procedures confirmed. Source reports healthy infrastructure and monitored reliability. SME share 9.16/16.99=53.9%.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Total demands 122. Exact September volume 3,242,716,155.49. Rounded component volumes sum to 3.24B. PF share 2.33/3.24=71.9%. Planned outages 0, unplanned outages 0, planned downtime 0 hours, unplanned downtime 0. Reliability unchanged and stable operational posture. CPU &lt;10%, memory &lt;60%, capacity healthy within operating thresholds. No DR available, upgrade planned 2027. Source target is sustain monthly processing above 3.0 billion, not a forecast. Product abbreviations preserved from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Exact September volume 1,244,030,273. Source monthly values are rounded to two decimal billions. August-to-September change (1.24/1.39-1)=-10.8%, calculated from rounded figures. July peak 1.57B, March low 0.84B. 0 planned outages, 1 unplanned outage, 0 planned downtime, 12 minutes unplanned downtime. Application server dxb01-vwp-lmsa2 stopped responding and returned Server Too Busy. Secondary server took load and prevented total environment outage. No critical incidents, one major incident, reliability monitored. CPU &lt;40%, memory &lt;25%, storage &lt;70%. Source availability 100% needs reconciliation with 12 minutes downtime.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These are selected named initiatives, not a complete list of the 98 delivered/completed items or 67 in progress. The source spells Emirati Card. LL/LG and CIF expansion not assumed. IB/MB source: Removal of Skywards Cards from Mobile Banking; 3x3 Drop 4 – Release 1 &amp; Release 2; TAB-52 – Tablet AOF Audit Requirement. FinnOne source: Field Amendment for LL and LG flags; Multiple Rate Changes service request; Supplementary Card Mobile No. Email ID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Next-review evidence: incident closure, customer impact and effectiveness of MB controls; approved pickup plan for IB/MB 27, FinnOne 29 and HFLMS 12; recovery ownership, test evidence and 2027 milestones; release dates, blockers and acceptance decisions. Demand dots each represent one reported item. Data interpretation: source labels all platforms Green. HFLMS reports 100% availability alongside 12 minutes unplanned downtime. IB/MB reports 99.9% alongside ~48 hours intermittent MB degradation. These metrics may use different denominators or service scopes. Reconcile definitions without substituting an invented availability rate. No prior-month demand snapshot, demand aging, capacity allocation, costs, benefits or dates supplied. Delivery share is a portfolio composition measure and cannot establish throughput growth, ROI or delivery efficiency. Volumes are business transaction volumes, not revenue. Summing portfolios assumes no cross-platform duplicate demand IDs and needs validation before an enterprise unique-demand total. Recommendations do not imply approved owners or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693ccc1104c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c72cabc9f4d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278bdcc6e4b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fbd4cb36444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24bf8e5d349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d59580a9b4b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D936F33-E85D-443F-A82F-463CAEA6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CCD61D-832B-44D2-8FB1-22521D55C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F90F62A-FF86-4D5C-B866-D2BC427AC6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0C58711-A737-411F-A7B9-86943BB8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AB54D1-7A95-44F3-8AC3-14CC5164CC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F656304-06D8-4C8B-84C5-F4887F4B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DF3B75-A73B-4169-95DA-366364713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722A65-2D36-4EF5-AF49-16C7FC45AF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E16FC9A-9B4B-4D32-8FCF-3E2F435E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2C4815-9171-48CC-91AE-E4CDAD76E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EF4F78-DE67-4DE4-9526-36269D8DE4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58ED92-8013-4307-AC3C-422EDDCF6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72F5608-7064-4909-AE7E-7BE6C46D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B1453E-EE7A-4FC3-B454-CE1C548E0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33B88-36D7-4A46-A913-A9C6A2E39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1be7b99f42426f" /><Relationship Type="http://schemas.openxmlformats.org/officeDocument/2006/relationships/slideLayout" Target="/ppt/slideLayouts/slideLayout1.xml" Id="Rfb2bc98f37be4143" /><Relationship Type="http://schemas.openxmlformats.org/officeDocument/2006/relationships/slideLayout" Target="/ppt/slideLayouts/slideLayout2.xml" Id="R0af9c801e0d5489a" /><Relationship Type="http://schemas.openxmlformats.org/officeDocument/2006/relationships/slideLayout" Target="/ppt/slideLayouts/slideLayout3.xml" Id="Rb97a856860954eb7" /><Relationship Type="http://schemas.openxmlformats.org/officeDocument/2006/relationships/slideLayout" Target="/ppt/slideLayouts/slideLayout4.xml" Id="R81016468e401451e" /><Relationship Type="http://schemas.openxmlformats.org/officeDocument/2006/relationships/slideLayout" Target="/ppt/slideLayouts/slideLayout5.xml" Id="Ra89751b639914e6b" /><Relationship Type="http://schemas.openxmlformats.org/officeDocument/2006/relationships/slideLayout" Target="/ppt/slideLayouts/slideLayout6.xml" Id="R015681472249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2bc98f37be4143"/>
    <p:sldLayoutId xmlns:r="http://schemas.openxmlformats.org/officeDocument/2006/relationships" id="2147483650" r:id="R0af9c801e0d5489a"/>
    <p:sldLayoutId xmlns:r="http://schemas.openxmlformats.org/officeDocument/2006/relationships" id="2147483651" r:id="Rb97a856860954eb7"/>
    <p:sldLayoutId xmlns:r="http://schemas.openxmlformats.org/officeDocument/2006/relationships" id="2147483652" r:id="R81016468e401451e"/>
    <p:sldLayoutId xmlns:r="http://schemas.openxmlformats.org/officeDocument/2006/relationships" id="2147483653" r:id="Ra89751b639914e6b"/>
    <p:sldLayoutId xmlns:r="http://schemas.openxmlformats.org/officeDocument/2006/relationships" id="2147483654" r:id="R015681472249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a28cfb9d945a6" /><Relationship Type="http://schemas.openxmlformats.org/officeDocument/2006/relationships/notesSlide" Target="/ppt/notesSlides/notesSlide1.xml" Id="R5df65869b1e448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4d959c3684f0c" /><Relationship Type="http://schemas.openxmlformats.org/officeDocument/2006/relationships/chart" Target="/ppt/slides/charts/chart1.xml" Id="R3190c9feb7ec44ea" /><Relationship Type="http://schemas.openxmlformats.org/officeDocument/2006/relationships/notesSlide" Target="/ppt/notesSlides/notesSlide2.xml" Id="R5101e1aa8edb4d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508244d1746fe" /><Relationship Type="http://schemas.openxmlformats.org/officeDocument/2006/relationships/chart" Target="/ppt/slides/charts/chart2.xml" Id="Rf03d9a1556bb4769" /><Relationship Type="http://schemas.openxmlformats.org/officeDocument/2006/relationships/notesSlide" Target="/ppt/notesSlides/notesSlide3.xml" Id="Rce5406f19535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6181b615e41e2" /><Relationship Type="http://schemas.openxmlformats.org/officeDocument/2006/relationships/chart" Target="/ppt/slides/charts/chart3.xml" Id="R614f5d3dabf840a9" /><Relationship Type="http://schemas.openxmlformats.org/officeDocument/2006/relationships/notesSlide" Target="/ppt/notesSlides/notesSlide4.xml" Id="R9d5d6249c491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9e5ad2a1544f8" /><Relationship Type="http://schemas.openxmlformats.org/officeDocument/2006/relationships/notesSlide" Target="/ppt/notesSlides/notesSlide5.xml" Id="Rb215bcfefd5b42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3c5055d614015" /><Relationship Type="http://schemas.openxmlformats.org/officeDocument/2006/relationships/notesSlide" Target="/ppt/notesSlides/notesSlide6.xml" Id="R8b97dd377ee4427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cat>
            <c:strLit>
              <c:ptCount val="2"/>
              <c:pt idx="0">
                <c:v>Retail</c:v>
              </c:pt>
              <c:pt idx="1">
                <c:v>SME</c:v>
              </c:pt>
            </c:strLit>
          </c:cat>
          <c:val>
            <c:numLit>
              <c:formatCode>0.00"B"</c:formatCode>
              <c:ptCount val="2"/>
              <c:pt idx="0">
                <c:v>7.83</c:v>
              </c:pt>
              <c:pt idx="1">
                <c:v>9.16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cat>
            <c:strLit>
              <c:ptCount val="5"/>
              <c:pt idx="0">
                <c:v>AF</c:v>
              </c:pt>
              <c:pt idx="1">
                <c:v>AF-EV</c:v>
              </c:pt>
              <c:pt idx="2">
                <c:v>CC</c:v>
              </c:pt>
              <c:pt idx="3">
                <c:v>PF</c:v>
              </c:pt>
              <c:pt idx="4">
                <c:v>SBF</c:v>
              </c:pt>
            </c:strLit>
          </c:cat>
          <c:val>
            <c:numLit>
              <c:formatCode>0.00"B"</c:formatCode>
              <c:ptCount val="5"/>
              <c:pt idx="0">
                <c:v>0.63</c:v>
              </c:pt>
              <c:pt idx="1">
                <c:v>0.02</c:v>
              </c:pt>
              <c:pt idx="2">
                <c:v>0.19</c:v>
              </c:pt>
              <c:pt idx="3">
                <c:v>2.33</c:v>
              </c:pt>
              <c:pt idx="4">
                <c:v>0.07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cat>
            <c:strLit>
              <c:ptCount val="9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</c:strLit>
          </c:cat>
          <c:val>
            <c:numLit>
              <c:formatCode>0.00"B"</c:formatCode>
              <c:ptCount val="9"/>
              <c:pt idx="0">
                <c:v>1.08</c:v>
              </c:pt>
              <c:pt idx="1">
                <c:v>1.2</c:v>
              </c:pt>
              <c:pt idx="2">
                <c:v>0.84</c:v>
              </c:pt>
              <c:pt idx="3">
                <c:v>1.1</c:v>
              </c:pt>
              <c:pt idx="4">
                <c:v>0.97</c:v>
              </c:pt>
              <c:pt idx="5">
                <c:v>1.01</c:v>
              </c:pt>
              <c:pt idx="6">
                <c:v>1.57</c:v>
              </c:pt>
              <c:pt idx="7">
                <c:v>1.39</c:v>
              </c:pt>
              <c:pt idx="8">
                <c:v>1.24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6A45BF-EFFC-4792-BA8C-05CA1ACB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1EAA0-E7AE-4EDC-BB3C-C3DDD350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Delivery progressed, with resilience gaps requiring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03155-4C7B-4404-8EDB-110C004F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Executive outcome across IB / MB, FinnOne and HFLMS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D19E-8F1E-4552-9A23-B1F731F3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87F1F-2D16-4AFF-A4F2-F86851FB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FA4BD-6CF7-40D4-A508-DD8C00CC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6A593-66D3-482B-8C4E-01530E54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D6851-4A9B-4A73-A00C-F83E41FA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A9633-CE28-4EDE-BE94-7B3264A2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5D80D-9AD8-4F04-AF10-16124BE3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81308-873E-4DA2-A5DF-C5CEB51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4E30C-F5E2-4030-8E99-BC3E498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C358D-F172-4511-8591-9970DF1C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reported demands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51FDA-0CED-4CE2-8173-901653F7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2316F-4B8D-4914-A97C-028FC4AE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75965-BEF3-4AD7-AA49-66CC4EF5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E4282-CA8D-46E5-966B-179392D6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backlog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C0B66-4ADA-4359-A59C-CDDA3047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7BB22-BA91-4CF8-BF37-1A484A2D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98D2F-F616-4AA5-91BB-C876F9D0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457B4-DE7A-47D1-8397-A5532F78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233AA-17C2-44BE-9286-14561515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7BC40-4535-4F6F-BEF8-E45D6EAB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85D0A-C182-46AC-BE68-873748C3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 / 113  (22.1%)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4AD46-8618-472E-ACA8-59167FC4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18DCA-5B3B-4DF7-9CE8-A431B23F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16.99B volume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8A0D1-32D6-4EAF-A14F-CD8AF169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99.9% availability   •   DR Tested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F78369-FB62-4277-A689-514BAA82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A749A-CE23-4FA2-B6F7-44ACB185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5AB868-083C-4ECD-B812-97311384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50 / 122  (41.0%)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352EAD-1D7F-4E56-983F-2FB48B01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17018-82F2-4D18-8422-5C21F151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3.24B volume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4BB3C8-5900-4719-B44E-D584D882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C7825F-8641-4B71-B67E-F3DF3CE5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C4815A-B271-48CC-A4E3-8221FDC3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3ED4E7-B058-4761-983E-F5C87AD3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23 / 50  (46.0%)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911C97-FCE5-4A1B-9F31-589B2F0F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9B1525-D8DB-451C-9B79-C2DEC550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1.24B volume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3B2778-C0ED-4763-8631-8F1E6A2E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85036C-F715-4499-8C3F-71ED600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Management focus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DA7D44-7C1A-4247-84FA-27C5FC0F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MB incident controls and backlog capacity need attention. FinnOne and HFLMS require interim recovery controls before the 2027 DR upgrades.</a:t>
            </a:r>
          </a:p>
        </p:txBody>
      </p:sp>
    </p:spTree>
    <p:extLst>
      <p:ext uri="{BB962C8B-B14F-4D97-AF65-F5344CB8AC3E}">
        <p14:creationId xmlns:p14="http://schemas.microsoft.com/office/powerpoint/2010/main" val="1813155696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55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15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15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550"/>
                </p:stCondLst>
                <p:childTnLst>
                  <p:par>
                    <p:cTn id="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65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55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550"/>
                </p:stCondLst>
                <p:childTnLst>
                  <p:par>
                    <p:cTn id="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55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55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55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delay="550"/>
                </p:stCondLst>
                <p:childTnLst>
                  <p:par>
                    <p:cTn id="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6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delay="550"/>
                </p:stCondLst>
                <p:childTnLst>
                  <p:par>
                    <p:cTn id="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" dur="65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delay="700"/>
                </p:stCondLst>
                <p:childTnLst>
                  <p:par>
                    <p:cTn id="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" dur="6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delay="700"/>
                </p:stCondLst>
                <p:childTnLst>
                  <p:par>
                    <p:cTn id="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65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delay="700"/>
                </p:stCondLst>
                <p:childTnLst>
                  <p:par>
                    <p:cTn id="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" dur="65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delay="700"/>
                </p:stCondLst>
                <p:childTnLst>
                  <p:par>
                    <p:cTn id="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" dur="65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delay="850"/>
                </p:stCondLst>
                <p:childTnLst>
                  <p:par>
                    <p:cTn id="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" dur="65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delay="850"/>
                </p:stCondLst>
                <p:childTnLst>
                  <p:par>
                    <p:cTn id="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" dur="65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delay="850"/>
                </p:stCondLst>
                <p:childTnLst>
                  <p:par>
                    <p:cTn id="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3" dur="65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delay="850"/>
                </p:stCondLst>
                <p:childTnLst>
                  <p:par>
                    <p:cTn id="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7" dur="65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delay="950"/>
                </p:stCondLst>
                <p:childTnLst>
                  <p:par>
                    <p:cTn id="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1" dur="65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delay="950"/>
                </p:stCondLst>
                <p:childTnLst>
                  <p:par>
                    <p:cTn id="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5" dur="65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delay="950"/>
                </p:stCondLst>
                <p:childTnLst>
                  <p:par>
                    <p:cTn id="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9" dur="65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0" fill="hold">
                <p:stCondLst>
                  <p:cond delay="950"/>
                </p:stCondLst>
                <p:childTnLst>
                  <p:par>
                    <p:cTn id="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3" dur="65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4" fill="hold">
                <p:stCondLst>
                  <p:cond delay="950"/>
                </p:stCondLst>
                <p:childTnLst>
                  <p:par>
                    <p:cTn id="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7" dur="65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8" fill="hold">
                <p:stCondLst>
                  <p:cond delay="950"/>
                </p:stCondLst>
                <p:childTnLst>
                  <p:par>
                    <p:cTn id="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65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2" fill="hold">
                <p:stCondLst>
                  <p:cond delay="950"/>
                </p:stCondLst>
                <p:childTnLst>
                  <p:par>
                    <p:cTn id="1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65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6" fill="hold">
                <p:stCondLst>
                  <p:cond delay="1100"/>
                </p:stCondLst>
                <p:childTnLst>
                  <p:par>
                    <p:cTn id="1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65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0" fill="hold">
                <p:stCondLst>
                  <p:cond delay="1100"/>
                </p:stCondLst>
                <p:childTnLst>
                  <p:par>
                    <p:cTn id="1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" dur="65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4" fill="hold">
                <p:stCondLst>
                  <p:cond delay="1100"/>
                </p:stCondLst>
                <p:childTnLst>
                  <p:par>
                    <p:cTn id="1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" dur="65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8" fill="hold">
                <p:stCondLst>
                  <p:cond delay="1100"/>
                </p:stCondLst>
                <p:childTnLst>
                  <p:par>
                    <p:cTn id="1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" dur="65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22" fill="hold">
                <p:stCondLst>
                  <p:cond delay="1100"/>
                </p:stCondLst>
                <p:childTnLst>
                  <p:par>
                    <p:cTn id="1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" dur="650" fill="hold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26" fill="hold">
                <p:stCondLst>
                  <p:cond delay="1100"/>
                </p:stCondLst>
                <p:childTnLst>
                  <p:par>
                    <p:cTn id="1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9" dur="65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30" fill="hold">
                <p:stCondLst>
                  <p:cond delay="1100"/>
                </p:stCondLst>
                <p:childTnLst>
                  <p:par>
                    <p:cTn id="1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3" dur="650" fill="hold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34" fill="hold">
                <p:stCondLst>
                  <p:cond delay="1100"/>
                </p:stCondLst>
                <p:childTnLst>
                  <p:par>
                    <p:cTn id="1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7" dur="650" fill="hold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38" fill="hold">
                <p:stCondLst>
                  <p:cond delay="1100"/>
                </p:stCondLst>
                <p:childTnLst>
                  <p:par>
                    <p:cTn id="1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1" dur="650" fill="hold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2" fill="hold">
                <p:stCondLst>
                  <p:cond delay="1100"/>
                </p:stCondLst>
                <p:childTnLst>
                  <p:par>
                    <p:cTn id="1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5" dur="650" fill="hold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6" fill="hold">
                <p:stCondLst>
                  <p:cond delay="1100"/>
                </p:stCondLst>
                <p:childTnLst>
                  <p:par>
                    <p:cTn id="1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9" dur="650" fill="hold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50" fill="hold">
                <p:stCondLst>
                  <p:cond delay="1500"/>
                </p:stCondLst>
                <p:childTnLst>
                  <p:par>
                    <p:cTn id="1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3" dur="650" fill="hold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54" fill="hold">
                <p:stCondLst>
                  <p:cond delay="1500"/>
                </p:stCondLst>
                <p:childTnLst>
                  <p:par>
                    <p:cTn id="1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7" dur="650" fill="hold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CE5BEA5-988B-40E9-BF14-E6937B7F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445A0-1699-4719-A47C-FDB6F31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IB / MB supports 16.99B in business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B2D84-D3DE-417F-ABF4-E0C2B69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Delivery continues while Mobile Banking reliability needs closer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C09D9-139E-481F-A8C4-4DDF71E6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83478-BB70-49A2-A3F5-C0ED38B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graphicFrame>
        <p:nvGraphicFramePr>
          <p:cNvPr id="146" name="Chart"/>
          <p:cNvGraphicFramePr/>
          <p:nvPr/>
        </p:nvGraphicFramePr>
        <p:xfrm>
          <a:off xmlns:a="http://schemas.openxmlformats.org/drawingml/2006/main" x="457200" y="2266950"/>
          <a:ext xmlns:a="http://schemas.openxmlformats.org/drawingml/2006/main" cx="5143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90c9feb7ec44e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CD40A-4491-4D9E-A8F0-5EAC6DFC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54% of reported volume comes from SME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617C8-2384-47C7-804B-B3527844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9ED79-723D-4402-A365-57A672CD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200FA-DD84-4146-8BC8-5D7AC279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669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260D6-1950-4D01-ADF0-F3ED0A09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F9176-18B9-47CF-BE2E-08A76959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D644B-B17D-4098-901D-9D2BC3D9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8F3EE-C07F-4215-8F6E-29136E1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3C7B4-8BBB-47F5-AE2D-E50EBB03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72595-A865-43D7-ADED-782B0100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E0A73-702D-4C14-967A-E1AC9BE5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2770E-7729-4B67-B3E1-FE7FA76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706C3-F7F2-43AF-8491-13D7EF30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D018A-F48C-42D7-805F-0FC2539D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E2169-F360-4B7E-85CE-827A08FE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2E0DC-439E-4805-9066-FF381F61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8B5E1-132F-4471-A3CE-A2486B33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E733E-543C-4D06-9E69-509D4D4F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07659-24A0-42F8-A295-2E024B1F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7B8ECF-F943-4411-863C-6650533C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3B8D52-0B64-4B15-AC4D-64BF8E8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0452A-5C89-4B2C-9A05-FBD6FE6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4FE8E-4D3E-46DE-8C6D-71123AA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057120-FBCC-4719-B897-E959D822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07F6E6-60F8-4EBE-95F1-F638EBC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D6A9F-1B7A-4892-9D78-314B8F0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056A8-06FD-4081-9CD0-231EBA89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D63167-8D02-4F7A-9D3C-ABF669B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65BEF6-D4BD-426F-A5F5-B5AE5AD9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324F60-5DFC-4502-890D-128157F4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9C2DF1-2B6F-45EE-A100-91AB5607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03FF9F-F11F-43D0-B80A-34066EF3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908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8BD781-B257-49EF-9A7A-64C8608A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497E39-31FB-4798-A192-A3E66440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FF2AE1-A0F9-4F60-A42D-F3A4D03D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E5A874-3257-41D2-8542-5D619696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CB6A09-FD8D-44A3-9CE9-2988B212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35712E-6C31-4B53-8195-F5F50D9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39326A-DFF0-4AC3-AF49-D2B2E4AC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F91F11-BC92-488F-A96D-3A993B0F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EC3D82-4A01-4D3C-8AD7-18468C6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165F46-1EDA-439B-9725-71B0AC18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B3B3F7-4CE4-43C8-93A2-6DD0006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07FE0F-E827-4A08-979C-BA779DB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D8FFCA-F5C4-45CC-8EFE-BE5E156B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5B26BF-01CC-4885-899D-B64B9237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9FBCDF-23B2-4CA9-943E-6AB4D72A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22C2EF-6B84-4CD5-B6B8-8AFF61F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9ECACF-6B63-4961-957A-D94E7A9F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E5CB7C-C06F-410A-96DB-7B14AD28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1A4254-F766-4F79-BB5A-5E741EF1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68D3F9-8192-4133-A43B-31E98424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8F8DA4-A4F7-44BA-A5D4-E3268C9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32D3A2-45D3-4051-8F85-9B18EDB0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793285-B5DE-45A3-AFD6-2B0132D5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856DF0-44B2-4B5F-9402-C375CAB8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2CF4AD-3D0A-42EA-A8A1-D435A11D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22F757-D6BD-45FB-B728-77538AC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214DEB-A440-4CEE-BC3E-074874BB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A0A037-7158-4AA8-824C-82284D17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2C47A5-A422-466B-B2E0-A8F09B4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F12E77-7C86-4D4B-8FCF-5A5A2438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00DFC6-6AD4-47DC-82FB-E3A9D74A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A2E407-D314-4BB0-AF79-1C0BDEC7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204526-5B14-4C39-AC0C-6EC7F583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CAA4BA-5EB3-400B-80CE-23362378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003DA77-4442-4A4B-B91A-FD1FAE7E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1ECC97A-D206-4AA2-9CA0-D1A21744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8C5C55D-1344-428E-BD45-B17D3D64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07A2A4-4BC7-4B8D-8132-1826817A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EDE939-6881-45F4-87D6-153B7F7C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7D8C9C-1DB5-4D0B-ABDA-C53FBB0C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E9E0149-95CD-4D73-B457-A9B27C75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1D41BC-8BD4-4671-958E-CBA89D1D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44698E3-BD6F-4D80-B104-0A4F78B9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8881C3-6F63-4C84-985E-9F68EF0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72EECD-10F4-4FC1-AF89-972C6C9F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B65B2C-DD65-479E-85D9-96E18D94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C021BED-795E-4C9F-BF63-AC98C70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6812CE-AB92-4717-BBF3-9317C5FD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5C414D8-516B-4FE7-8CD7-35975487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37F539B-38A3-432C-92D7-50788635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E1FEF76-E3FA-4C76-AD30-B1299757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C6E8CF7-5836-464A-BE75-3A1CFF25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6ACA07-C7C6-4A9A-B9F9-7D933FE3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4AD24F9-AD21-4F45-BAA1-3208B1D3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1000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D39D50C-BCE6-4EBF-8C5F-3FBDCBF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demand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9CE67A4-5561-4D1F-A95A-1F85395C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385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D27665-A493-41D7-A9EC-2E493C53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CF86BB-905D-464C-8C7B-2E90ECA0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AB13C8-5BFB-4266-B42E-F4B6262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20EBAE-2A78-40A8-B529-64E778DD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8466B19-3967-432F-A3F6-CE6F48A1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66AC86-493B-4F43-8F42-6C66114E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39FDD0-D2EA-46A0-BB72-BD680CD3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A5AF766-8AFD-47EE-8904-615F3F2C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2BD842B-65C9-4A65-88CC-8F95BD38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1599EF-10EC-4F46-B866-B3F06FA0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0499B18-B454-49E2-973B-E269E424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E8E1C3-7C0A-4C05-A070-4470F06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A58C03C-350E-4E22-ACCC-2CA41E91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65BF32E-B469-4EFB-AB2E-9BB47599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DCF618-1743-4F9B-A5D8-C6BE3B76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2AFDAB7-6D0A-4857-BBB0-1B1848BB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D9717BD-ED9E-4A2B-A19E-183CCA85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66EDE7-D48A-4963-A0A3-35C808E4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31D89E3-155C-4D82-A78E-4CD7D40B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B601662-F435-4C38-905D-58A85068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A9A9B32-53A2-477F-AAC8-2AD88170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13894A3-097C-4FF5-B656-136F7071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11334DB-E0F9-4FD2-B91A-6F27F293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6F39A7D-0920-419E-80AD-BAD1D521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C1F5AB7-BB5D-4EB1-898B-BA1ACA4C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B709BA8-2BB6-467E-B907-6000607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80AA279-FE17-408F-81FE-37BC7444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624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54F8F5-5FC6-40A1-89AD-ADF1927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34DB31F-BE6C-43CA-BB0D-1395DADE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A4E9DC7-DE1C-42C6-A314-E268094B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A3F483B-9EBF-4313-A89D-C63A578F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B9128AA-E829-4E37-BC53-1A5C738D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AD982E4-A89C-47BF-B371-54D7BEA9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5A6F3D5-24D5-4B74-BA38-D7A2B309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463A5E5-247D-4B4E-A148-478931C8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B67C7D4-90DB-4310-B7A9-2FD33A2C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6B6F912-97FE-443E-9C8E-9FF1EAA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1EFF288-165E-4566-AAA9-C25DCA51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FD2D4FB-EAF1-4071-88F4-E9E948A6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3737FEE-7318-43A3-8865-10F3CD0E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29CA7D1-5890-4718-BF51-910FFBE0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47DD947-8F53-4D08-8474-E861BC78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113 demands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80CACE7-93D0-4974-927C-DF5A7553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99.9% availability</a:t>
            </a:r>
          </a:p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DR tested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8D519D1-75E7-472F-9EA2-764D14E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433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MB: 6 major + 1 minor incidents</a:t>
            </a:r>
          </a:p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IB: 2 minor incidents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6B42CB1-2D9B-4E47-9747-8F9FAD0C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Operational outcome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234DE64-2037-483F-8C8F-0A68072B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00725"/>
            <a:ext cx="881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15 planned deployments. Service continuity maintained during ~48 hours of intermittent MB degradation attributed to DDoS threshold exceedance.</a:t>
            </a:r>
          </a:p>
        </p:txBody>
      </p:sp>
    </p:spTree>
    <p:extLst>
      <p:ext uri="{BB962C8B-B14F-4D97-AF65-F5344CB8AC3E}">
        <p14:creationId xmlns:p14="http://schemas.microsoft.com/office/powerpoint/2010/main" val="1370192649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55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15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15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550"/>
                </p:stCondLst>
                <p:childTnLst>
                  <p:par>
                    <p:cTn id="15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17" dur="650" fill="hold"/>
                            <p:tgtEl>
                              <p:spTgt spid="14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95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700"/>
                </p:stCondLst>
                <p:childTnLst>
                  <p:par>
                    <p:cTn id="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70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70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70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delay="700"/>
                </p:stCondLst>
                <p:childTnLst>
                  <p:par>
                    <p:cTn id="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6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delay="700"/>
                </p:stCondLst>
                <p:childTnLst>
                  <p:par>
                    <p:cTn id="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" dur="65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delay="700"/>
                </p:stCondLst>
                <p:childTnLst>
                  <p:par>
                    <p:cTn id="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" dur="6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delay="700"/>
                </p:stCondLst>
                <p:childTnLst>
                  <p:par>
                    <p:cTn id="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65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delay="700"/>
                </p:stCondLst>
                <p:childTnLst>
                  <p:par>
                    <p:cTn id="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" dur="65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delay="700"/>
                </p:stCondLst>
                <p:childTnLst>
                  <p:par>
                    <p:cTn id="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" dur="65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delay="700"/>
                </p:stCondLst>
                <p:childTnLst>
                  <p:par>
                    <p:cTn id="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" dur="65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delay="700"/>
                </p:stCondLst>
                <p:childTnLst>
                  <p:par>
                    <p:cTn id="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" dur="65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delay="700"/>
                </p:stCondLst>
                <p:childTnLst>
                  <p:par>
                    <p:cTn id="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3" dur="65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delay="700"/>
                </p:stCondLst>
                <p:childTnLst>
                  <p:par>
                    <p:cTn id="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7" dur="65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delay="700"/>
                </p:stCondLst>
                <p:childTnLst>
                  <p:par>
                    <p:cTn id="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1" dur="65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delay="700"/>
                </p:stCondLst>
                <p:childTnLst>
                  <p:par>
                    <p:cTn id="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5" dur="65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delay="700"/>
                </p:stCondLst>
                <p:childTnLst>
                  <p:par>
                    <p:cTn id="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9" dur="65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0" fill="hold">
                <p:stCondLst>
                  <p:cond delay="700"/>
                </p:stCondLst>
                <p:childTnLst>
                  <p:par>
                    <p:cTn id="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3" dur="65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4" fill="hold">
                <p:stCondLst>
                  <p:cond delay="700"/>
                </p:stCondLst>
                <p:childTnLst>
                  <p:par>
                    <p:cTn id="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7" dur="65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8" fill="hold">
                <p:stCondLst>
                  <p:cond delay="700"/>
                </p:stCondLst>
                <p:childTnLst>
                  <p:par>
                    <p:cTn id="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65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2" fill="hold">
                <p:stCondLst>
                  <p:cond delay="700"/>
                </p:stCondLst>
                <p:childTnLst>
                  <p:par>
                    <p:cTn id="1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65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6" fill="hold">
                <p:stCondLst>
                  <p:cond delay="700"/>
                </p:stCondLst>
                <p:childTnLst>
                  <p:par>
                    <p:cTn id="1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65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0" fill="hold">
                <p:stCondLst>
                  <p:cond delay="700"/>
                </p:stCondLst>
                <p:childTnLst>
                  <p:par>
                    <p:cTn id="1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" dur="65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4" fill="hold">
                <p:stCondLst>
                  <p:cond delay="700"/>
                </p:stCondLst>
                <p:childTnLst>
                  <p:par>
                    <p:cTn id="1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" dur="65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8" fill="hold">
                <p:stCondLst>
                  <p:cond delay="700"/>
                </p:stCondLst>
                <p:childTnLst>
                  <p:par>
                    <p:cTn id="1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" dur="65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22" fill="hold">
                <p:stCondLst>
                  <p:cond delay="700"/>
                </p:stCondLst>
                <p:childTnLst>
                  <p:par>
                    <p:cTn id="1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" dur="650" fill="hold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26" fill="hold">
                <p:stCondLst>
                  <p:cond delay="700"/>
                </p:stCondLst>
                <p:childTnLst>
                  <p:par>
                    <p:cTn id="1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9" dur="65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30" fill="hold">
                <p:stCondLst>
                  <p:cond delay="700"/>
                </p:stCondLst>
                <p:childTnLst>
                  <p:par>
                    <p:cTn id="1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3" dur="650" fill="hold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34" fill="hold">
                <p:stCondLst>
                  <p:cond delay="700"/>
                </p:stCondLst>
                <p:childTnLst>
                  <p:par>
                    <p:cTn id="1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7" dur="650" fill="hold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38" fill="hold">
                <p:stCondLst>
                  <p:cond delay="700"/>
                </p:stCondLst>
                <p:childTnLst>
                  <p:par>
                    <p:cTn id="1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1" dur="650" fill="hold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2" fill="hold">
                <p:stCondLst>
                  <p:cond delay="700"/>
                </p:stCondLst>
                <p:childTnLst>
                  <p:par>
                    <p:cTn id="1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5" dur="650" fill="hold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6" fill="hold">
                <p:stCondLst>
                  <p:cond delay="700"/>
                </p:stCondLst>
                <p:childTnLst>
                  <p:par>
                    <p:cTn id="1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9" dur="650" fill="hold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50" fill="hold">
                <p:stCondLst>
                  <p:cond delay="700"/>
                </p:stCondLst>
                <p:childTnLst>
                  <p:par>
                    <p:cTn id="1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3" dur="650" fill="hold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54" fill="hold">
                <p:stCondLst>
                  <p:cond delay="700"/>
                </p:stCondLst>
                <p:childTnLst>
                  <p:par>
                    <p:cTn id="1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7" dur="650" fill="hold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58" fill="hold">
                <p:stCondLst>
                  <p:cond delay="700"/>
                </p:stCondLst>
                <p:childTnLst>
                  <p:par>
                    <p:cTn id="1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1" dur="650" fill="hold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62" fill="hold">
                <p:stCondLst>
                  <p:cond delay="700"/>
                </p:stCondLst>
                <p:childTnLst>
                  <p:par>
                    <p:cTn id="1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5" dur="650" fill="hold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66" fill="hold">
                <p:stCondLst>
                  <p:cond delay="700"/>
                </p:stCondLst>
                <p:childTnLst>
                  <p:par>
                    <p:cTn id="1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9" dur="650" fill="hold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70" fill="hold">
                <p:stCondLst>
                  <p:cond delay="700"/>
                </p:stCondLst>
                <p:childTnLst>
                  <p:par>
                    <p:cTn id="1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3" dur="650" fill="hold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74" fill="hold">
                <p:stCondLst>
                  <p:cond delay="700"/>
                </p:stCondLst>
                <p:childTnLst>
                  <p:par>
                    <p:cTn id="1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7" dur="650" fill="hold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78" fill="hold">
                <p:stCondLst>
                  <p:cond delay="700"/>
                </p:stCondLst>
                <p:childTnLst>
                  <p:par>
                    <p:cTn id="1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1" dur="650" fill="hold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2" fill="hold">
                <p:stCondLst>
                  <p:cond delay="700"/>
                </p:stCondLst>
                <p:childTnLst>
                  <p:par>
                    <p:cTn id="1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5" dur="650" fill="hold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6" fill="hold">
                <p:stCondLst>
                  <p:cond delay="700"/>
                </p:stCondLst>
                <p:childTnLst>
                  <p:par>
                    <p:cTn id="1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9" dur="650" fill="hold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90" fill="hold">
                <p:stCondLst>
                  <p:cond delay="700"/>
                </p:stCondLst>
                <p:childTnLst>
                  <p:par>
                    <p:cTn id="1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3" dur="650" fill="hold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94" fill="hold">
                <p:stCondLst>
                  <p:cond delay="700"/>
                </p:stCondLst>
                <p:childTnLst>
                  <p:par>
                    <p:cTn id="1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7" dur="650" fill="hold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98" fill="hold">
                <p:stCondLst>
                  <p:cond delay="700"/>
                </p:stCondLst>
                <p:childTnLst>
                  <p:par>
                    <p:cTn id="1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1" dur="650" fill="hold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02" fill="hold">
                <p:stCondLst>
                  <p:cond delay="700"/>
                </p:stCondLst>
                <p:childTnLst>
                  <p:par>
                    <p:cTn id="2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5" dur="650" fill="hold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06" fill="hold">
                <p:stCondLst>
                  <p:cond delay="700"/>
                </p:stCondLst>
                <p:childTnLst>
                  <p:par>
                    <p:cTn id="2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9" dur="650" fill="hold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10" fill="hold">
                <p:stCondLst>
                  <p:cond delay="700"/>
                </p:stCondLst>
                <p:childTnLst>
                  <p:par>
                    <p:cTn id="2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3" dur="650" fill="hold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14" fill="hold">
                <p:stCondLst>
                  <p:cond delay="700"/>
                </p:stCondLst>
                <p:childTnLst>
                  <p:par>
                    <p:cTn id="2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7" dur="650" fill="hold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18" fill="hold">
                <p:stCondLst>
                  <p:cond delay="700"/>
                </p:stCondLst>
                <p:childTnLst>
                  <p:par>
                    <p:cTn id="2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1" dur="650" fill="hold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2" fill="hold">
                <p:stCondLst>
                  <p:cond delay="700"/>
                </p:stCondLst>
                <p:childTnLst>
                  <p:par>
                    <p:cTn id="2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5" dur="650" fill="hold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6" fill="hold">
                <p:stCondLst>
                  <p:cond delay="700"/>
                </p:stCondLst>
                <p:childTnLst>
                  <p:par>
                    <p:cTn id="2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9" dur="650" fill="hold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30" fill="hold">
                <p:stCondLst>
                  <p:cond delay="700"/>
                </p:stCondLst>
                <p:childTnLst>
                  <p:par>
                    <p:cTn id="2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3" dur="650" fill="hold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34" fill="hold">
                <p:stCondLst>
                  <p:cond delay="700"/>
                </p:stCondLst>
                <p:childTnLst>
                  <p:par>
                    <p:cTn id="2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7" dur="650" fill="hold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38" fill="hold">
                <p:stCondLst>
                  <p:cond delay="700"/>
                </p:stCondLst>
                <p:childTnLst>
                  <p:par>
                    <p:cTn id="2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1" dur="650" fill="hold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42" fill="hold">
                <p:stCondLst>
                  <p:cond delay="700"/>
                </p:stCondLst>
                <p:childTnLst>
                  <p:par>
                    <p:cTn id="2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5" dur="650" fill="hold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46" fill="hold">
                <p:stCondLst>
                  <p:cond delay="700"/>
                </p:stCondLst>
                <p:childTnLst>
                  <p:par>
                    <p:cTn id="2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9" dur="650" fill="hold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50" fill="hold">
                <p:stCondLst>
                  <p:cond delay="1100"/>
                </p:stCondLst>
                <p:childTnLst>
                  <p:par>
                    <p:cTn id="2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3" dur="650" fill="hold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54" fill="hold">
                <p:stCondLst>
                  <p:cond delay="1100"/>
                </p:stCondLst>
                <p:childTnLst>
                  <p:par>
                    <p:cTn id="2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7" dur="650" fill="hold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58" fill="hold">
                <p:stCondLst>
                  <p:cond delay="1100"/>
                </p:stCondLst>
                <p:childTnLst>
                  <p:par>
                    <p:cTn id="2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1" dur="650" fill="hold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2" fill="hold">
                <p:stCondLst>
                  <p:cond delay="1100"/>
                </p:stCondLst>
                <p:childTnLst>
                  <p:par>
                    <p:cTn id="2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5" dur="650" fill="hold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6" fill="hold">
                <p:stCondLst>
                  <p:cond delay="1100"/>
                </p:stCondLst>
                <p:childTnLst>
                  <p:par>
                    <p:cTn id="2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9" dur="650" fill="hold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70" fill="hold">
                <p:stCondLst>
                  <p:cond delay="1100"/>
                </p:stCondLst>
                <p:childTnLst>
                  <p:par>
                    <p:cTn id="2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3" dur="650" fill="hold"/>
                            <p:tgtEl>
                              <p:spTgt spid="7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74" fill="hold">
                <p:stCondLst>
                  <p:cond delay="1100"/>
                </p:stCondLst>
                <p:childTnLst>
                  <p:par>
                    <p:cTn id="2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7" dur="650" fill="hold"/>
                            <p:tgtEl>
                              <p:spTgt spid="7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78" fill="hold">
                <p:stCondLst>
                  <p:cond delay="1100"/>
                </p:stCondLst>
                <p:childTnLst>
                  <p:par>
                    <p:cTn id="2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1" dur="650" fill="hold"/>
                            <p:tgtEl>
                              <p:spTgt spid="7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82" fill="hold">
                <p:stCondLst>
                  <p:cond delay="1100"/>
                </p:stCondLst>
                <p:childTnLst>
                  <p:par>
                    <p:cTn id="2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5" dur="650" fill="hold"/>
                            <p:tgtEl>
                              <p:spTgt spid="7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86" fill="hold">
                <p:stCondLst>
                  <p:cond delay="1100"/>
                </p:stCondLst>
                <p:childTnLst>
                  <p:par>
                    <p:cTn id="2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9" dur="650" fill="hold"/>
                            <p:tgtEl>
                              <p:spTgt spid="7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90" fill="hold">
                <p:stCondLst>
                  <p:cond delay="1100"/>
                </p:stCondLst>
                <p:childTnLst>
                  <p:par>
                    <p:cTn id="2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3" dur="650" fill="hold"/>
                            <p:tgtEl>
                              <p:spTgt spid="7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94" fill="hold">
                <p:stCondLst>
                  <p:cond delay="1100"/>
                </p:stCondLst>
                <p:childTnLst>
                  <p:par>
                    <p:cTn id="2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7" dur="650" fill="hold"/>
                            <p:tgtEl>
                              <p:spTgt spid="7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98" fill="hold">
                <p:stCondLst>
                  <p:cond delay="1100"/>
                </p:stCondLst>
                <p:childTnLst>
                  <p:par>
                    <p:cTn id="2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1" dur="650" fill="hold"/>
                            <p:tgtEl>
                              <p:spTgt spid="7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2" fill="hold">
                <p:stCondLst>
                  <p:cond delay="1100"/>
                </p:stCondLst>
                <p:childTnLst>
                  <p:par>
                    <p:cTn id="3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5" dur="650" fill="hold"/>
                            <p:tgtEl>
                              <p:spTgt spid="7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6" fill="hold">
                <p:stCondLst>
                  <p:cond delay="1100"/>
                </p:stCondLst>
                <p:childTnLst>
                  <p:par>
                    <p:cTn id="3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9" dur="650" fill="hold"/>
                            <p:tgtEl>
                              <p:spTgt spid="7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10" fill="hold">
                <p:stCondLst>
                  <p:cond delay="1100"/>
                </p:stCondLst>
                <p:childTnLst>
                  <p:par>
                    <p:cTn id="3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3" dur="650" fill="hold"/>
                            <p:tgtEl>
                              <p:spTgt spid="8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14" fill="hold">
                <p:stCondLst>
                  <p:cond delay="1100"/>
                </p:stCondLst>
                <p:childTnLst>
                  <p:par>
                    <p:cTn id="3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7" dur="650" fill="hold"/>
                            <p:tgtEl>
                              <p:spTgt spid="8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18" fill="hold">
                <p:stCondLst>
                  <p:cond delay="1100"/>
                </p:stCondLst>
                <p:childTnLst>
                  <p:par>
                    <p:cTn id="3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1" dur="650" fill="hold"/>
                            <p:tgtEl>
                              <p:spTgt spid="8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22" fill="hold">
                <p:stCondLst>
                  <p:cond delay="1100"/>
                </p:stCondLst>
                <p:childTnLst>
                  <p:par>
                    <p:cTn id="3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5" dur="650" fill="hold"/>
                            <p:tgtEl>
                              <p:spTgt spid="8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26" fill="hold">
                <p:stCondLst>
                  <p:cond delay="1100"/>
                </p:stCondLst>
                <p:childTnLst>
                  <p:par>
                    <p:cTn id="3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9" dur="650" fill="hold"/>
                            <p:tgtEl>
                              <p:spTgt spid="8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30" fill="hold">
                <p:stCondLst>
                  <p:cond delay="1100"/>
                </p:stCondLst>
                <p:childTnLst>
                  <p:par>
                    <p:cTn id="3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3" dur="650" fill="hold"/>
                            <p:tgtEl>
                              <p:spTgt spid="8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34" fill="hold">
                <p:stCondLst>
                  <p:cond delay="1100"/>
                </p:stCondLst>
                <p:childTnLst>
                  <p:par>
                    <p:cTn id="3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7" dur="650" fill="hold"/>
                            <p:tgtEl>
                              <p:spTgt spid="8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38" fill="hold">
                <p:stCondLst>
                  <p:cond delay="1100"/>
                </p:stCondLst>
                <p:childTnLst>
                  <p:par>
                    <p:cTn id="3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1" dur="650" fill="hold"/>
                            <p:tgtEl>
                              <p:spTgt spid="8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2" fill="hold">
                <p:stCondLst>
                  <p:cond delay="1100"/>
                </p:stCondLst>
                <p:childTnLst>
                  <p:par>
                    <p:cTn id="3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5" dur="650" fill="hold"/>
                            <p:tgtEl>
                              <p:spTgt spid="8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6" fill="hold">
                <p:stCondLst>
                  <p:cond delay="1100"/>
                </p:stCondLst>
                <p:childTnLst>
                  <p:par>
                    <p:cTn id="3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9" dur="650" fill="hold"/>
                            <p:tgtEl>
                              <p:spTgt spid="8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50" fill="hold">
                <p:stCondLst>
                  <p:cond delay="1100"/>
                </p:stCondLst>
                <p:childTnLst>
                  <p:par>
                    <p:cTn id="3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3" dur="650" fill="hold"/>
                            <p:tgtEl>
                              <p:spTgt spid="9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54" fill="hold">
                <p:stCondLst>
                  <p:cond delay="1100"/>
                </p:stCondLst>
                <p:childTnLst>
                  <p:par>
                    <p:cTn id="3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7" dur="650" fill="hold"/>
                            <p:tgtEl>
                              <p:spTgt spid="9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58" fill="hold">
                <p:stCondLst>
                  <p:cond delay="1100"/>
                </p:stCondLst>
                <p:childTnLst>
                  <p:par>
                    <p:cTn id="3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1" dur="650" fill="hold"/>
                            <p:tgtEl>
                              <p:spTgt spid="9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62" fill="hold">
                <p:stCondLst>
                  <p:cond delay="1100"/>
                </p:stCondLst>
                <p:childTnLst>
                  <p:par>
                    <p:cTn id="3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5" dur="650" fill="hold"/>
                            <p:tgtEl>
                              <p:spTgt spid="9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66" fill="hold">
                <p:stCondLst>
                  <p:cond delay="1100"/>
                </p:stCondLst>
                <p:childTnLst>
                  <p:par>
                    <p:cTn id="3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9" dur="650" fill="hold"/>
                            <p:tgtEl>
                              <p:spTgt spid="9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70" fill="hold">
                <p:stCondLst>
                  <p:cond delay="1100"/>
                </p:stCondLst>
                <p:childTnLst>
                  <p:par>
                    <p:cTn id="3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3" dur="650" fill="hold"/>
                            <p:tgtEl>
                              <p:spTgt spid="9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74" fill="hold">
                <p:stCondLst>
                  <p:cond delay="1100"/>
                </p:stCondLst>
                <p:childTnLst>
                  <p:par>
                    <p:cTn id="3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7" dur="650" fill="hold"/>
                            <p:tgtEl>
                              <p:spTgt spid="9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78" fill="hold">
                <p:stCondLst>
                  <p:cond delay="1100"/>
                </p:stCondLst>
                <p:childTnLst>
                  <p:par>
                    <p:cTn id="3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1" dur="650" fill="hold"/>
                            <p:tgtEl>
                              <p:spTgt spid="9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2" fill="hold">
                <p:stCondLst>
                  <p:cond delay="1100"/>
                </p:stCondLst>
                <p:childTnLst>
                  <p:par>
                    <p:cTn id="3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5" dur="650" fill="hold"/>
                            <p:tgtEl>
                              <p:spTgt spid="9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6" fill="hold">
                <p:stCondLst>
                  <p:cond delay="1100"/>
                </p:stCondLst>
                <p:childTnLst>
                  <p:par>
                    <p:cTn id="3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9" dur="650" fill="hold"/>
                            <p:tgtEl>
                              <p:spTgt spid="9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90" fill="hold">
                <p:stCondLst>
                  <p:cond delay="1100"/>
                </p:stCondLst>
                <p:childTnLst>
                  <p:par>
                    <p:cTn id="3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3" dur="650" fill="hold"/>
                            <p:tgtEl>
                              <p:spTgt spid="10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94" fill="hold">
                <p:stCondLst>
                  <p:cond delay="1100"/>
                </p:stCondLst>
                <p:childTnLst>
                  <p:par>
                    <p:cTn id="3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7" dur="650" fill="hold"/>
                            <p:tgtEl>
                              <p:spTgt spid="10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98" fill="hold">
                <p:stCondLst>
                  <p:cond delay="1100"/>
                </p:stCondLst>
                <p:childTnLst>
                  <p:par>
                    <p:cTn id="3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1" dur="650" fill="hold"/>
                            <p:tgtEl>
                              <p:spTgt spid="10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02" fill="hold">
                <p:stCondLst>
                  <p:cond delay="1100"/>
                </p:stCondLst>
                <p:childTnLst>
                  <p:par>
                    <p:cTn id="4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5" dur="650" fill="hold"/>
                            <p:tgtEl>
                              <p:spTgt spid="10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06" fill="hold">
                <p:stCondLst>
                  <p:cond delay="1100"/>
                </p:stCondLst>
                <p:childTnLst>
                  <p:par>
                    <p:cTn id="4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9" dur="650" fill="hold"/>
                            <p:tgtEl>
                              <p:spTgt spid="10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10" fill="hold">
                <p:stCondLst>
                  <p:cond delay="1100"/>
                </p:stCondLst>
                <p:childTnLst>
                  <p:par>
                    <p:cTn id="4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3" dur="650" fill="hold"/>
                            <p:tgtEl>
                              <p:spTgt spid="10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14" fill="hold">
                <p:stCondLst>
                  <p:cond delay="1100"/>
                </p:stCondLst>
                <p:childTnLst>
                  <p:par>
                    <p:cTn id="4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7" dur="650" fill="hold"/>
                            <p:tgtEl>
                              <p:spTgt spid="10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18" fill="hold">
                <p:stCondLst>
                  <p:cond delay="1100"/>
                </p:stCondLst>
                <p:childTnLst>
                  <p:par>
                    <p:cTn id="4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1" dur="650" fill="hold"/>
                            <p:tgtEl>
                              <p:spTgt spid="10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2" fill="hold">
                <p:stCondLst>
                  <p:cond delay="1100"/>
                </p:stCondLst>
                <p:childTnLst>
                  <p:par>
                    <p:cTn id="4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5" dur="650" fill="hold"/>
                            <p:tgtEl>
                              <p:spTgt spid="10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6" fill="hold">
                <p:stCondLst>
                  <p:cond delay="1100"/>
                </p:stCondLst>
                <p:childTnLst>
                  <p:par>
                    <p:cTn id="4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9" dur="650" fill="hold"/>
                            <p:tgtEl>
                              <p:spTgt spid="10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30" fill="hold">
                <p:stCondLst>
                  <p:cond delay="1100"/>
                </p:stCondLst>
                <p:childTnLst>
                  <p:par>
                    <p:cTn id="4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3" dur="650" fill="hold"/>
                            <p:tgtEl>
                              <p:spTgt spid="1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34" fill="hold">
                <p:stCondLst>
                  <p:cond delay="1100"/>
                </p:stCondLst>
                <p:childTnLst>
                  <p:par>
                    <p:cTn id="4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7" dur="650" fill="hold"/>
                            <p:tgtEl>
                              <p:spTgt spid="1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38" fill="hold">
                <p:stCondLst>
                  <p:cond delay="1100"/>
                </p:stCondLst>
                <p:childTnLst>
                  <p:par>
                    <p:cTn id="4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1" dur="650" fill="hold"/>
                            <p:tgtEl>
                              <p:spTgt spid="1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42" fill="hold">
                <p:stCondLst>
                  <p:cond delay="1100"/>
                </p:stCondLst>
                <p:childTnLst>
                  <p:par>
                    <p:cTn id="4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5" dur="650" fill="hold"/>
                            <p:tgtEl>
                              <p:spTgt spid="1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46" fill="hold">
                <p:stCondLst>
                  <p:cond delay="1100"/>
                </p:stCondLst>
                <p:childTnLst>
                  <p:par>
                    <p:cTn id="4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9" dur="650" fill="hold"/>
                            <p:tgtEl>
                              <p:spTgt spid="1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50" fill="hold">
                <p:stCondLst>
                  <p:cond delay="1100"/>
                </p:stCondLst>
                <p:childTnLst>
                  <p:par>
                    <p:cTn id="4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3" dur="650" fill="hold"/>
                            <p:tgtEl>
                              <p:spTgt spid="1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54" fill="hold">
                <p:stCondLst>
                  <p:cond delay="1100"/>
                </p:stCondLst>
                <p:childTnLst>
                  <p:par>
                    <p:cTn id="4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7" dur="650" fill="hold"/>
                            <p:tgtEl>
                              <p:spTgt spid="1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58" fill="hold">
                <p:stCondLst>
                  <p:cond delay="1100"/>
                </p:stCondLst>
                <p:childTnLst>
                  <p:par>
                    <p:cTn id="4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1" dur="650" fill="hold"/>
                            <p:tgtEl>
                              <p:spTgt spid="1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2" fill="hold">
                <p:stCondLst>
                  <p:cond delay="1100"/>
                </p:stCondLst>
                <p:childTnLst>
                  <p:par>
                    <p:cTn id="4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5" dur="650" fill="hold"/>
                            <p:tgtEl>
                              <p:spTgt spid="1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6" fill="hold">
                <p:stCondLst>
                  <p:cond delay="1100"/>
                </p:stCondLst>
                <p:childTnLst>
                  <p:par>
                    <p:cTn id="4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9" dur="650" fill="hold"/>
                            <p:tgtEl>
                              <p:spTgt spid="1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70" fill="hold">
                <p:stCondLst>
                  <p:cond delay="1100"/>
                </p:stCondLst>
                <p:childTnLst>
                  <p:par>
                    <p:cTn id="4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3" dur="650" fill="hold"/>
                            <p:tgtEl>
                              <p:spTgt spid="1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74" fill="hold">
                <p:stCondLst>
                  <p:cond delay="1100"/>
                </p:stCondLst>
                <p:childTnLst>
                  <p:par>
                    <p:cTn id="4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7" dur="650" fill="hold"/>
                            <p:tgtEl>
                              <p:spTgt spid="1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78" fill="hold">
                <p:stCondLst>
                  <p:cond delay="1100"/>
                </p:stCondLst>
                <p:childTnLst>
                  <p:par>
                    <p:cTn id="4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1" dur="650" fill="hold"/>
                            <p:tgtEl>
                              <p:spTgt spid="1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82" fill="hold">
                <p:stCondLst>
                  <p:cond delay="1100"/>
                </p:stCondLst>
                <p:childTnLst>
                  <p:par>
                    <p:cTn id="4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5" dur="650" fill="hold"/>
                            <p:tgtEl>
                              <p:spTgt spid="1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86" fill="hold">
                <p:stCondLst>
                  <p:cond delay="1100"/>
                </p:stCondLst>
                <p:childTnLst>
                  <p:par>
                    <p:cTn id="4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9" dur="650" fill="hold"/>
                            <p:tgtEl>
                              <p:spTgt spid="1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90" fill="hold">
                <p:stCondLst>
                  <p:cond delay="1100"/>
                </p:stCondLst>
                <p:childTnLst>
                  <p:par>
                    <p:cTn id="4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3" dur="650" fill="hold"/>
                            <p:tgtEl>
                              <p:spTgt spid="1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94" fill="hold">
                <p:stCondLst>
                  <p:cond delay="1100"/>
                </p:stCondLst>
                <p:childTnLst>
                  <p:par>
                    <p:cTn id="4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7" dur="650" fill="hold"/>
                            <p:tgtEl>
                              <p:spTgt spid="1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98" fill="hold">
                <p:stCondLst>
                  <p:cond delay="1100"/>
                </p:stCondLst>
                <p:childTnLst>
                  <p:par>
                    <p:cTn id="4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1" dur="650" fill="hold"/>
                            <p:tgtEl>
                              <p:spTgt spid="1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2" fill="hold">
                <p:stCondLst>
                  <p:cond delay="1100"/>
                </p:stCondLst>
                <p:childTnLst>
                  <p:par>
                    <p:cTn id="5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5" dur="650" fill="hold"/>
                            <p:tgtEl>
                              <p:spTgt spid="1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6" fill="hold">
                <p:stCondLst>
                  <p:cond delay="1100"/>
                </p:stCondLst>
                <p:childTnLst>
                  <p:par>
                    <p:cTn id="5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9" dur="650" fill="hold"/>
                            <p:tgtEl>
                              <p:spTgt spid="1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10" fill="hold">
                <p:stCondLst>
                  <p:cond delay="1100"/>
                </p:stCondLst>
                <p:childTnLst>
                  <p:par>
                    <p:cTn id="5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3" dur="650" fill="hold"/>
                            <p:tgtEl>
                              <p:spTgt spid="1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14" fill="hold">
                <p:stCondLst>
                  <p:cond delay="1100"/>
                </p:stCondLst>
                <p:childTnLst>
                  <p:par>
                    <p:cTn id="5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7" dur="650" fill="hold"/>
                            <p:tgtEl>
                              <p:spTgt spid="1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18" fill="hold">
                <p:stCondLst>
                  <p:cond delay="1100"/>
                </p:stCondLst>
                <p:childTnLst>
                  <p:par>
                    <p:cTn id="5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1" dur="650" fill="hold"/>
                            <p:tgtEl>
                              <p:spTgt spid="1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22" fill="hold">
                <p:stCondLst>
                  <p:cond delay="1100"/>
                </p:stCondLst>
                <p:childTnLst>
                  <p:par>
                    <p:cTn id="5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5" dur="650" fill="hold"/>
                            <p:tgtEl>
                              <p:spTgt spid="1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26" fill="hold">
                <p:stCondLst>
                  <p:cond delay="1100"/>
                </p:stCondLst>
                <p:childTnLst>
                  <p:par>
                    <p:cTn id="5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9" dur="650" fill="hold"/>
                            <p:tgtEl>
                              <p:spTgt spid="1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30" fill="hold">
                <p:stCondLst>
                  <p:cond delay="1100"/>
                </p:stCondLst>
                <p:childTnLst>
                  <p:par>
                    <p:cTn id="5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3" dur="650" fill="hold"/>
                            <p:tgtEl>
                              <p:spTgt spid="13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34" fill="hold">
                <p:stCondLst>
                  <p:cond delay="850"/>
                </p:stCondLst>
                <p:childTnLst>
                  <p:par>
                    <p:cTn id="5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7" dur="650" fill="hold"/>
                            <p:tgtEl>
                              <p:spTgt spid="13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38" fill="hold">
                <p:stCondLst>
                  <p:cond delay="850"/>
                </p:stCondLst>
                <p:childTnLst>
                  <p:par>
                    <p:cTn id="5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1" dur="650" fill="hold"/>
                            <p:tgtEl>
                              <p:spTgt spid="13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2" fill="hold">
                <p:stCondLst>
                  <p:cond delay="1250"/>
                </p:stCondLst>
                <p:childTnLst>
                  <p:par>
                    <p:cTn id="5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5" dur="650" fill="hold"/>
                            <p:tgtEl>
                              <p:spTgt spid="13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6" fill="hold">
                <p:stCondLst>
                  <p:cond delay="1500"/>
                </p:stCondLst>
                <p:childTnLst>
                  <p:par>
                    <p:cTn id="5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9" dur="650" fill="hold"/>
                            <p:tgtEl>
                              <p:spTgt spid="1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50" fill="hold">
                <p:stCondLst>
                  <p:cond delay="1500"/>
                </p:stCondLst>
                <p:childTnLst>
                  <p:par>
                    <p:cTn id="5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3" dur="650" fill="hold"/>
                            <p:tgtEl>
                              <p:spTgt spid="14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193D668-0E9E-4B44-94EB-28C61D2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275A7-E03A-4E59-92A6-5F634E4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FinnOne combines 50 completed demands with zero outages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DF8C-727D-43CC-9C0F-1012BEE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3.24B reported September volume, with PF contributing approximately 72%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048FB-519D-4283-A508-9E386B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BFB3A-5FE4-4276-AFCC-D497CC9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153" name="Chart"/>
          <p:cNvGraphicFramePr/>
          <p:nvPr/>
        </p:nvGraphicFramePr>
        <p:xfrm>
          <a:off xmlns:a="http://schemas.openxmlformats.org/drawingml/2006/main" x="457200" y="22098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3d9a1556bb476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6CF02-F3CB-4122-9DDA-BDBADF80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AD60B-E772-4117-8B0F-6B4712E7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41FC0-5737-44B9-A555-0E8BEF6C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574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A82AD-9EA7-4CA1-856C-5152483C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D808F-B58F-4CC4-AEF2-68E0CD66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FB245-8E32-420D-920A-F5E286B9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692A6-65AC-494B-80D1-C4E7BEB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ACF51-8883-45E0-92CF-156C77FE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49912-F815-40F0-AC0C-620B98B7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A3DA9-64CB-4A83-A71A-A829E7BA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BD73C-9F6D-41BA-862C-04694A8A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46995-114A-45DD-A82E-AEFF256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C89D0-E15D-47CD-AFF9-DF75CC7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393B6-E012-47A4-85DE-084C1D8F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ABCBC-A75F-4FBF-8175-F2506F3F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97297-F157-4B1E-9EC1-EB73A444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A4891-00BC-47DF-825C-743977E8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D7C97-FE93-4915-82A1-D9013B4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9FE36-DADB-4D61-A63A-58EBCAA3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B297E-3818-4BD6-B662-E700495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361B0-78E2-4EFC-9DF6-540804BC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C093AF-5872-43A4-A956-C63224E6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98F74-5EED-4C6C-A570-2FCD761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9514E-1129-4E86-8456-79BFD3F0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4561B-A9E7-4134-BA8D-F97895D0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B76D01-A7AC-4E62-9A4A-896DB63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00B045-4EF0-47CC-B078-684B4BA7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99BBA9-A33C-4975-919F-A90B6E89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EAC5BA-7601-4BFA-B804-40EC8547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3D1B27-3C9C-492E-B75F-DCD91AAE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DDF6C9-A5F5-4C3E-AE74-C25F10C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013BA6-0288-49F5-91FA-9A877E41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E9A94D-F19D-443C-978A-2D02CBC9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C9719A-3DBA-46E3-9B9D-2C15B824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1081AC-1F4E-4356-9613-BB738980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F8808E-4E55-4CA0-834D-D93F35E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28A722-FD68-469D-994C-CE36C7AD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F404D4-9040-4DD0-B37A-08A27D9D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D67BBD-4013-4198-969C-679FC2FE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9E1EE2-5CC8-4F94-8B81-55406322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9F9883-803D-49E7-871B-59EF6DE7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7883CE-490C-4E2F-8055-E4CAEECC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A5E6B4-4A8D-409B-8C48-F109EF67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CF91EC-68C0-4D64-8E31-7A1D3586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1395C5-E840-4632-B535-433F4D4E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0AD765-E85A-4BC7-A6F3-14F2C9F2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6001CE-632A-4E9B-A040-C74CF623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E6B488-5918-4123-A0A3-306B9237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2201F6-9EA5-4CDB-9C1E-BE1397B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D71378-F0EC-42BC-A83F-772F4572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A69C20-D8AA-4BA0-9276-6CB0DE7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BD84C0-BBEB-4B22-AFE9-97C1E7CE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6F5B0F-B137-44C6-991E-5A3B1F3C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1700A6-68D6-49D4-B812-0C1107C3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5272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BC5185-214C-4ADE-937C-FA43A5EA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8130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7AB5D6-6ADB-498B-8FA8-D94B5987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813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EFFAE2-0CBE-4D93-8592-E4C7634E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952BB8-C00E-4A84-9BA1-E82686AD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9DBABE-3EDE-42B4-9D7A-9F18FB0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0EEF77-18E7-40D3-9185-E678536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AA600F-5F98-4538-A808-05AC1460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BA0C17-6105-424E-B9B9-5B114361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FCE790-C147-4A52-A1D2-50771C94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509262-5478-4862-BDFA-79481DAA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1E25E5-76F7-4B50-9E25-99B63918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AB42FC-B910-4FCD-8756-83C69646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3D722A-175A-4036-94C7-7B5E5644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9F5FE2-E03D-4554-A3CC-7AC8243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AC4007-AD5A-4455-83D2-293D7361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7DCCED-9650-4271-9E5D-D4368B8D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DA8628-7D80-4B97-A9CD-C63B3B50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6AC1DFB-3E13-43F7-90F8-31C2F07B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D6AC516-7D5C-44A7-8F1F-981BC77B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D3E9F71-9544-4309-B8DC-3A0EB709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BF2EB9-B1F1-49E1-A079-768DDAA8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891ED2E-2D48-478B-8E6B-3E936184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9E1F27B-E60C-43FE-9352-750CB2C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375EA18-3326-49E4-B349-7E3AD5B4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D178DD1-85E1-4F05-B19F-32CA5B14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8905AF-A323-414C-B148-2CE936B8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711989-EA52-4200-8CA1-6CD98202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5585B2-1E77-424C-B0A6-6CF8837E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1D0422-DAB2-481C-9824-491CFF51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09752BE-B487-4498-9535-95F3547A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C265C5-B3E8-4F85-8151-FAFCBC5F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14EA187-454B-4335-8D81-E8DB0953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77225C-0AE9-4586-842F-A12684A5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051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012405-51CF-4D3E-AF7F-EC072421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3051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716F0D-E5C5-4F82-8D82-C986B4B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108DEF9-1C88-48E2-8FA1-C4A3B3C9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A723F9B-DE41-40F4-A41E-EB7BC995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14C621-FE47-4302-B582-1E421436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46BBE10-0802-4435-86A7-AC77B4E5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5CE171A-4F1B-4F65-A638-8407C9D1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9C22D0D-C68C-4220-B19C-C3286BCC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7E06E47-2A16-418A-B4C0-69B9093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1CF3B8-671B-4936-84FF-215FAC18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999C392-8E9C-4282-9E8A-1FAEC915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9C18BBF-855E-4E2D-A81B-347A191A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F6CB736-CE1B-45B9-93C7-B79FC37B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518F9E-8879-43EE-B985-448CBE7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B7AB32F-075A-417F-9D26-698B6F8D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FB0B648-236A-4BEB-BD50-5A758ED1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E388344-ED44-4E50-945E-D3FAF69A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9441A73-8B6E-4012-8F08-07486CFA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CB44D07-17D6-45A4-A721-31BB8ADC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68777E7-2640-446E-BE6A-D18C15D2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08D058E-1245-4B51-BED4-F3440F94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8861611-BF8F-41A2-943D-D5D46DD5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A9A8042-9560-4015-BCE0-87372557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55DDA44-5BA1-4E7E-8581-0F39AD86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09944C5-446F-4976-8AB2-A6BA6A96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9418049-6860-431B-B5F5-B953F79E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4E9C366-290F-41E5-A7A7-EF90691D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A1C83AD-C1E3-44E5-B3DE-FB4164E3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8C5F7C0-C457-4867-8301-1015B620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E0B0602-A638-4FB0-9EC9-67BAE8AB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FB2754A-8958-4DE9-AA53-8FA28D36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67D1124-43E1-4DB2-A527-23E3FEA7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2905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Baseline 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71AD944-8208-4364-AF51-E72AF4C2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8290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DF45ED2-AE9E-4F56-A428-7F2FC893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D23B991-1BF9-4D1D-8D83-8B96BD08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9580793-776A-4B6B-856F-CF3C6D9F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E931D92-2B53-413B-B84E-0F8610B0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C585A63-B912-491D-B49F-89BFE0C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F0C8CD4-4254-4071-85C9-BAF2E986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529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86A4AA5-A3FF-478A-862B-C9058C47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3529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C7932FA-928B-4ADB-B23E-554D816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95DC04F-CABD-45EF-9E9A-6254EBF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8E538D3-F9E5-4E49-A3BA-9E2E931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BBC8D2D-61D0-48B5-BFEF-809829C9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2311022-03CF-47B4-BD1E-A2D899EA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81BCF17-F552-4112-BA23-11819BA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821E09E-F15E-425E-87EB-F6CF09D5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EF041AB-414B-4AD9-BEA6-0732B54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4581BCD-1865-4C1C-B888-6A3B5F2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C452BFE-45D7-404E-AE52-CCA13C63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77ABE14-B1CE-48E5-93A3-857E183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24,981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5968B24-635D-4DDC-AEE9-F65B8E5F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transaction count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606DE56-1552-4D69-B9E5-6407042A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340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100% availability</a:t>
            </a:r>
          </a:p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No critical or major incidents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3FD59B9-18D5-43A7-B316-17323A8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887593746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55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15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15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550"/>
                </p:stCondLst>
                <p:childTnLst>
                  <p:par>
                    <p:cTn id="15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17" dur="650" fill="hold"/>
                            <p:tgtEl>
                              <p:spTgt spid="15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70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700"/>
                </p:stCondLst>
                <p:childTnLst>
                  <p:par>
                    <p:cTn id="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85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70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70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delay="700"/>
                </p:stCondLst>
                <p:childTnLst>
                  <p:par>
                    <p:cTn id="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6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delay="700"/>
                </p:stCondLst>
                <p:childTnLst>
                  <p:par>
                    <p:cTn id="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" dur="65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delay="700"/>
                </p:stCondLst>
                <p:childTnLst>
                  <p:par>
                    <p:cTn id="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" dur="6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delay="700"/>
                </p:stCondLst>
                <p:childTnLst>
                  <p:par>
                    <p:cTn id="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65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delay="700"/>
                </p:stCondLst>
                <p:childTnLst>
                  <p:par>
                    <p:cTn id="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" dur="65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delay="700"/>
                </p:stCondLst>
                <p:childTnLst>
                  <p:par>
                    <p:cTn id="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" dur="65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delay="700"/>
                </p:stCondLst>
                <p:childTnLst>
                  <p:par>
                    <p:cTn id="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" dur="65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delay="700"/>
                </p:stCondLst>
                <p:childTnLst>
                  <p:par>
                    <p:cTn id="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" dur="65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delay="700"/>
                </p:stCondLst>
                <p:childTnLst>
                  <p:par>
                    <p:cTn id="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3" dur="65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delay="850"/>
                </p:stCondLst>
                <p:childTnLst>
                  <p:par>
                    <p:cTn id="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7" dur="65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delay="850"/>
                </p:stCondLst>
                <p:childTnLst>
                  <p:par>
                    <p:cTn id="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1" dur="65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delay="850"/>
                </p:stCondLst>
                <p:childTnLst>
                  <p:par>
                    <p:cTn id="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5" dur="65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delay="850"/>
                </p:stCondLst>
                <p:childTnLst>
                  <p:par>
                    <p:cTn id="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9" dur="65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0" fill="hold">
                <p:stCondLst>
                  <p:cond delay="850"/>
                </p:stCondLst>
                <p:childTnLst>
                  <p:par>
                    <p:cTn id="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3" dur="65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4" fill="hold">
                <p:stCondLst>
                  <p:cond delay="850"/>
                </p:stCondLst>
                <p:childTnLst>
                  <p:par>
                    <p:cTn id="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7" dur="65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8" fill="hold">
                <p:stCondLst>
                  <p:cond delay="850"/>
                </p:stCondLst>
                <p:childTnLst>
                  <p:par>
                    <p:cTn id="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65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2" fill="hold">
                <p:stCondLst>
                  <p:cond delay="850"/>
                </p:stCondLst>
                <p:childTnLst>
                  <p:par>
                    <p:cTn id="1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65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6" fill="hold">
                <p:stCondLst>
                  <p:cond delay="850"/>
                </p:stCondLst>
                <p:childTnLst>
                  <p:par>
                    <p:cTn id="1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65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0" fill="hold">
                <p:stCondLst>
                  <p:cond delay="850"/>
                </p:stCondLst>
                <p:childTnLst>
                  <p:par>
                    <p:cTn id="1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" dur="65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4" fill="hold">
                <p:stCondLst>
                  <p:cond delay="850"/>
                </p:stCondLst>
                <p:childTnLst>
                  <p:par>
                    <p:cTn id="1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" dur="65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8" fill="hold">
                <p:stCondLst>
                  <p:cond delay="850"/>
                </p:stCondLst>
                <p:childTnLst>
                  <p:par>
                    <p:cTn id="1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" dur="65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22" fill="hold">
                <p:stCondLst>
                  <p:cond delay="850"/>
                </p:stCondLst>
                <p:childTnLst>
                  <p:par>
                    <p:cTn id="1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" dur="650" fill="hold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26" fill="hold">
                <p:stCondLst>
                  <p:cond delay="850"/>
                </p:stCondLst>
                <p:childTnLst>
                  <p:par>
                    <p:cTn id="1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9" dur="65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30" fill="hold">
                <p:stCondLst>
                  <p:cond delay="850"/>
                </p:stCondLst>
                <p:childTnLst>
                  <p:par>
                    <p:cTn id="1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3" dur="650" fill="hold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34" fill="hold">
                <p:stCondLst>
                  <p:cond delay="850"/>
                </p:stCondLst>
                <p:childTnLst>
                  <p:par>
                    <p:cTn id="1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7" dur="650" fill="hold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38" fill="hold">
                <p:stCondLst>
                  <p:cond delay="850"/>
                </p:stCondLst>
                <p:childTnLst>
                  <p:par>
                    <p:cTn id="1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1" dur="650" fill="hold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2" fill="hold">
                <p:stCondLst>
                  <p:cond delay="850"/>
                </p:stCondLst>
                <p:childTnLst>
                  <p:par>
                    <p:cTn id="1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5" dur="650" fill="hold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6" fill="hold">
                <p:stCondLst>
                  <p:cond delay="850"/>
                </p:stCondLst>
                <p:childTnLst>
                  <p:par>
                    <p:cTn id="1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9" dur="650" fill="hold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50" fill="hold">
                <p:stCondLst>
                  <p:cond delay="850"/>
                </p:stCondLst>
                <p:childTnLst>
                  <p:par>
                    <p:cTn id="1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3" dur="650" fill="hold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54" fill="hold">
                <p:stCondLst>
                  <p:cond delay="850"/>
                </p:stCondLst>
                <p:childTnLst>
                  <p:par>
                    <p:cTn id="1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7" dur="650" fill="hold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58" fill="hold">
                <p:stCondLst>
                  <p:cond delay="850"/>
                </p:stCondLst>
                <p:childTnLst>
                  <p:par>
                    <p:cTn id="1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1" dur="650" fill="hold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62" fill="hold">
                <p:stCondLst>
                  <p:cond delay="850"/>
                </p:stCondLst>
                <p:childTnLst>
                  <p:par>
                    <p:cTn id="1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5" dur="650" fill="hold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66" fill="hold">
                <p:stCondLst>
                  <p:cond delay="850"/>
                </p:stCondLst>
                <p:childTnLst>
                  <p:par>
                    <p:cTn id="1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9" dur="650" fill="hold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70" fill="hold">
                <p:stCondLst>
                  <p:cond delay="850"/>
                </p:stCondLst>
                <p:childTnLst>
                  <p:par>
                    <p:cTn id="1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3" dur="650" fill="hold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74" fill="hold">
                <p:stCondLst>
                  <p:cond delay="850"/>
                </p:stCondLst>
                <p:childTnLst>
                  <p:par>
                    <p:cTn id="1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7" dur="650" fill="hold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78" fill="hold">
                <p:stCondLst>
                  <p:cond delay="850"/>
                </p:stCondLst>
                <p:childTnLst>
                  <p:par>
                    <p:cTn id="1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1" dur="650" fill="hold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2" fill="hold">
                <p:stCondLst>
                  <p:cond delay="850"/>
                </p:stCondLst>
                <p:childTnLst>
                  <p:par>
                    <p:cTn id="1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5" dur="650" fill="hold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6" fill="hold">
                <p:stCondLst>
                  <p:cond delay="850"/>
                </p:stCondLst>
                <p:childTnLst>
                  <p:par>
                    <p:cTn id="1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9" dur="650" fill="hold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90" fill="hold">
                <p:stCondLst>
                  <p:cond delay="850"/>
                </p:stCondLst>
                <p:childTnLst>
                  <p:par>
                    <p:cTn id="1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3" dur="650" fill="hold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94" fill="hold">
                <p:stCondLst>
                  <p:cond delay="850"/>
                </p:stCondLst>
                <p:childTnLst>
                  <p:par>
                    <p:cTn id="1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7" dur="650" fill="hold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98" fill="hold">
                <p:stCondLst>
                  <p:cond delay="850"/>
                </p:stCondLst>
                <p:childTnLst>
                  <p:par>
                    <p:cTn id="1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1" dur="650" fill="hold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02" fill="hold">
                <p:stCondLst>
                  <p:cond delay="850"/>
                </p:stCondLst>
                <p:childTnLst>
                  <p:par>
                    <p:cTn id="2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5" dur="650" fill="hold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06" fill="hold">
                <p:stCondLst>
                  <p:cond delay="850"/>
                </p:stCondLst>
                <p:childTnLst>
                  <p:par>
                    <p:cTn id="2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9" dur="650" fill="hold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10" fill="hold">
                <p:stCondLst>
                  <p:cond delay="850"/>
                </p:stCondLst>
                <p:childTnLst>
                  <p:par>
                    <p:cTn id="2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3" dur="650" fill="hold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14" fill="hold">
                <p:stCondLst>
                  <p:cond delay="850"/>
                </p:stCondLst>
                <p:childTnLst>
                  <p:par>
                    <p:cTn id="2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7" dur="650" fill="hold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18" fill="hold">
                <p:stCondLst>
                  <p:cond delay="850"/>
                </p:stCondLst>
                <p:childTnLst>
                  <p:par>
                    <p:cTn id="2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1" dur="650" fill="hold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2" fill="hold">
                <p:stCondLst>
                  <p:cond delay="850"/>
                </p:stCondLst>
                <p:childTnLst>
                  <p:par>
                    <p:cTn id="2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5" dur="650" fill="hold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6" fill="hold">
                <p:stCondLst>
                  <p:cond delay="850"/>
                </p:stCondLst>
                <p:childTnLst>
                  <p:par>
                    <p:cTn id="2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9" dur="650" fill="hold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30" fill="hold">
                <p:stCondLst>
                  <p:cond delay="700"/>
                </p:stCondLst>
                <p:childTnLst>
                  <p:par>
                    <p:cTn id="2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3" dur="650" fill="hold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34" fill="hold">
                <p:stCondLst>
                  <p:cond delay="700"/>
                </p:stCondLst>
                <p:childTnLst>
                  <p:par>
                    <p:cTn id="2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7" dur="650" fill="hold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38" fill="hold">
                <p:stCondLst>
                  <p:cond delay="850"/>
                </p:stCondLst>
                <p:childTnLst>
                  <p:par>
                    <p:cTn id="2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1" dur="650" fill="hold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42" fill="hold">
                <p:stCondLst>
                  <p:cond delay="700"/>
                </p:stCondLst>
                <p:childTnLst>
                  <p:par>
                    <p:cTn id="2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5" dur="650" fill="hold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46" fill="hold">
                <p:stCondLst>
                  <p:cond delay="700"/>
                </p:stCondLst>
                <p:childTnLst>
                  <p:par>
                    <p:cTn id="2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9" dur="650" fill="hold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50" fill="hold">
                <p:stCondLst>
                  <p:cond delay="700"/>
                </p:stCondLst>
                <p:childTnLst>
                  <p:par>
                    <p:cTn id="2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3" dur="650" fill="hold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54" fill="hold">
                <p:stCondLst>
                  <p:cond delay="700"/>
                </p:stCondLst>
                <p:childTnLst>
                  <p:par>
                    <p:cTn id="2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7" dur="650" fill="hold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58" fill="hold">
                <p:stCondLst>
                  <p:cond delay="700"/>
                </p:stCondLst>
                <p:childTnLst>
                  <p:par>
                    <p:cTn id="2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1" dur="650" fill="hold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2" fill="hold">
                <p:stCondLst>
                  <p:cond delay="700"/>
                </p:stCondLst>
                <p:childTnLst>
                  <p:par>
                    <p:cTn id="2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5" dur="650" fill="hold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6" fill="hold">
                <p:stCondLst>
                  <p:cond delay="700"/>
                </p:stCondLst>
                <p:childTnLst>
                  <p:par>
                    <p:cTn id="2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9" dur="650" fill="hold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70" fill="hold">
                <p:stCondLst>
                  <p:cond delay="700"/>
                </p:stCondLst>
                <p:childTnLst>
                  <p:par>
                    <p:cTn id="2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3" dur="650" fill="hold"/>
                            <p:tgtEl>
                              <p:spTgt spid="7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74" fill="hold">
                <p:stCondLst>
                  <p:cond delay="700"/>
                </p:stCondLst>
                <p:childTnLst>
                  <p:par>
                    <p:cTn id="2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7" dur="650" fill="hold"/>
                            <p:tgtEl>
                              <p:spTgt spid="7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78" fill="hold">
                <p:stCondLst>
                  <p:cond delay="700"/>
                </p:stCondLst>
                <p:childTnLst>
                  <p:par>
                    <p:cTn id="2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1" dur="650" fill="hold"/>
                            <p:tgtEl>
                              <p:spTgt spid="7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82" fill="hold">
                <p:stCondLst>
                  <p:cond delay="700"/>
                </p:stCondLst>
                <p:childTnLst>
                  <p:par>
                    <p:cTn id="2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5" dur="650" fill="hold"/>
                            <p:tgtEl>
                              <p:spTgt spid="7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86" fill="hold">
                <p:stCondLst>
                  <p:cond delay="850"/>
                </p:stCondLst>
                <p:childTnLst>
                  <p:par>
                    <p:cTn id="2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9" dur="650" fill="hold"/>
                            <p:tgtEl>
                              <p:spTgt spid="7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90" fill="hold">
                <p:stCondLst>
                  <p:cond delay="850"/>
                </p:stCondLst>
                <p:childTnLst>
                  <p:par>
                    <p:cTn id="2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3" dur="650" fill="hold"/>
                            <p:tgtEl>
                              <p:spTgt spid="7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94" fill="hold">
                <p:stCondLst>
                  <p:cond delay="850"/>
                </p:stCondLst>
                <p:childTnLst>
                  <p:par>
                    <p:cTn id="2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7" dur="650" fill="hold"/>
                            <p:tgtEl>
                              <p:spTgt spid="7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98" fill="hold">
                <p:stCondLst>
                  <p:cond delay="850"/>
                </p:stCondLst>
                <p:childTnLst>
                  <p:par>
                    <p:cTn id="2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1" dur="650" fill="hold"/>
                            <p:tgtEl>
                              <p:spTgt spid="7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2" fill="hold">
                <p:stCondLst>
                  <p:cond delay="850"/>
                </p:stCondLst>
                <p:childTnLst>
                  <p:par>
                    <p:cTn id="3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5" dur="650" fill="hold"/>
                            <p:tgtEl>
                              <p:spTgt spid="7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6" fill="hold">
                <p:stCondLst>
                  <p:cond delay="850"/>
                </p:stCondLst>
                <p:childTnLst>
                  <p:par>
                    <p:cTn id="3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9" dur="650" fill="hold"/>
                            <p:tgtEl>
                              <p:spTgt spid="7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10" fill="hold">
                <p:stCondLst>
                  <p:cond delay="850"/>
                </p:stCondLst>
                <p:childTnLst>
                  <p:par>
                    <p:cTn id="3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3" dur="650" fill="hold"/>
                            <p:tgtEl>
                              <p:spTgt spid="8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14" fill="hold">
                <p:stCondLst>
                  <p:cond delay="850"/>
                </p:stCondLst>
                <p:childTnLst>
                  <p:par>
                    <p:cTn id="3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7" dur="650" fill="hold"/>
                            <p:tgtEl>
                              <p:spTgt spid="8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18" fill="hold">
                <p:stCondLst>
                  <p:cond delay="850"/>
                </p:stCondLst>
                <p:childTnLst>
                  <p:par>
                    <p:cTn id="3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1" dur="650" fill="hold"/>
                            <p:tgtEl>
                              <p:spTgt spid="8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22" fill="hold">
                <p:stCondLst>
                  <p:cond delay="850"/>
                </p:stCondLst>
                <p:childTnLst>
                  <p:par>
                    <p:cTn id="3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5" dur="650" fill="hold"/>
                            <p:tgtEl>
                              <p:spTgt spid="8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26" fill="hold">
                <p:stCondLst>
                  <p:cond delay="850"/>
                </p:stCondLst>
                <p:childTnLst>
                  <p:par>
                    <p:cTn id="3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9" dur="650" fill="hold"/>
                            <p:tgtEl>
                              <p:spTgt spid="8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30" fill="hold">
                <p:stCondLst>
                  <p:cond delay="850"/>
                </p:stCondLst>
                <p:childTnLst>
                  <p:par>
                    <p:cTn id="3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3" dur="650" fill="hold"/>
                            <p:tgtEl>
                              <p:spTgt spid="8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34" fill="hold">
                <p:stCondLst>
                  <p:cond delay="850"/>
                </p:stCondLst>
                <p:childTnLst>
                  <p:par>
                    <p:cTn id="3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7" dur="650" fill="hold"/>
                            <p:tgtEl>
                              <p:spTgt spid="8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38" fill="hold">
                <p:stCondLst>
                  <p:cond delay="850"/>
                </p:stCondLst>
                <p:childTnLst>
                  <p:par>
                    <p:cTn id="3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1" dur="650" fill="hold"/>
                            <p:tgtEl>
                              <p:spTgt spid="8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2" fill="hold">
                <p:stCondLst>
                  <p:cond delay="850"/>
                </p:stCondLst>
                <p:childTnLst>
                  <p:par>
                    <p:cTn id="3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5" dur="650" fill="hold"/>
                            <p:tgtEl>
                              <p:spTgt spid="8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6" fill="hold">
                <p:stCondLst>
                  <p:cond delay="850"/>
                </p:stCondLst>
                <p:childTnLst>
                  <p:par>
                    <p:cTn id="3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9" dur="650" fill="hold"/>
                            <p:tgtEl>
                              <p:spTgt spid="8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50" fill="hold">
                <p:stCondLst>
                  <p:cond delay="850"/>
                </p:stCondLst>
                <p:childTnLst>
                  <p:par>
                    <p:cTn id="3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3" dur="650" fill="hold"/>
                            <p:tgtEl>
                              <p:spTgt spid="9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54" fill="hold">
                <p:stCondLst>
                  <p:cond delay="850"/>
                </p:stCondLst>
                <p:childTnLst>
                  <p:par>
                    <p:cTn id="3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7" dur="650" fill="hold"/>
                            <p:tgtEl>
                              <p:spTgt spid="9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58" fill="hold">
                <p:stCondLst>
                  <p:cond delay="700"/>
                </p:stCondLst>
                <p:childTnLst>
                  <p:par>
                    <p:cTn id="3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1" dur="650" fill="hold"/>
                            <p:tgtEl>
                              <p:spTgt spid="9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62" fill="hold">
                <p:stCondLst>
                  <p:cond delay="700"/>
                </p:stCondLst>
                <p:childTnLst>
                  <p:par>
                    <p:cTn id="3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5" dur="650" fill="hold"/>
                            <p:tgtEl>
                              <p:spTgt spid="9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66" fill="hold">
                <p:stCondLst>
                  <p:cond delay="850"/>
                </p:stCondLst>
                <p:childTnLst>
                  <p:par>
                    <p:cTn id="3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9" dur="650" fill="hold"/>
                            <p:tgtEl>
                              <p:spTgt spid="9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70" fill="hold">
                <p:stCondLst>
                  <p:cond delay="1100"/>
                </p:stCondLst>
                <p:childTnLst>
                  <p:par>
                    <p:cTn id="3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3" dur="650" fill="hold"/>
                            <p:tgtEl>
                              <p:spTgt spid="9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74" fill="hold">
                <p:stCondLst>
                  <p:cond delay="1100"/>
                </p:stCondLst>
                <p:childTnLst>
                  <p:par>
                    <p:cTn id="3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7" dur="650" fill="hold"/>
                            <p:tgtEl>
                              <p:spTgt spid="9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78" fill="hold">
                <p:stCondLst>
                  <p:cond delay="1100"/>
                </p:stCondLst>
                <p:childTnLst>
                  <p:par>
                    <p:cTn id="3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1" dur="650" fill="hold"/>
                            <p:tgtEl>
                              <p:spTgt spid="9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2" fill="hold">
                <p:stCondLst>
                  <p:cond delay="1100"/>
                </p:stCondLst>
                <p:childTnLst>
                  <p:par>
                    <p:cTn id="3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5" dur="650" fill="hold"/>
                            <p:tgtEl>
                              <p:spTgt spid="9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6" fill="hold">
                <p:stCondLst>
                  <p:cond delay="1100"/>
                </p:stCondLst>
                <p:childTnLst>
                  <p:par>
                    <p:cTn id="3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9" dur="650" fill="hold"/>
                            <p:tgtEl>
                              <p:spTgt spid="9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90" fill="hold">
                <p:stCondLst>
                  <p:cond delay="1100"/>
                </p:stCondLst>
                <p:childTnLst>
                  <p:par>
                    <p:cTn id="3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3" dur="650" fill="hold"/>
                            <p:tgtEl>
                              <p:spTgt spid="10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94" fill="hold">
                <p:stCondLst>
                  <p:cond delay="1100"/>
                </p:stCondLst>
                <p:childTnLst>
                  <p:par>
                    <p:cTn id="3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7" dur="650" fill="hold"/>
                            <p:tgtEl>
                              <p:spTgt spid="10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98" fill="hold">
                <p:stCondLst>
                  <p:cond delay="1100"/>
                </p:stCondLst>
                <p:childTnLst>
                  <p:par>
                    <p:cTn id="3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1" dur="650" fill="hold"/>
                            <p:tgtEl>
                              <p:spTgt spid="10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02" fill="hold">
                <p:stCondLst>
                  <p:cond delay="1100"/>
                </p:stCondLst>
                <p:childTnLst>
                  <p:par>
                    <p:cTn id="4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5" dur="650" fill="hold"/>
                            <p:tgtEl>
                              <p:spTgt spid="10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06" fill="hold">
                <p:stCondLst>
                  <p:cond delay="1100"/>
                </p:stCondLst>
                <p:childTnLst>
                  <p:par>
                    <p:cTn id="4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9" dur="650" fill="hold"/>
                            <p:tgtEl>
                              <p:spTgt spid="10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10" fill="hold">
                <p:stCondLst>
                  <p:cond delay="1100"/>
                </p:stCondLst>
                <p:childTnLst>
                  <p:par>
                    <p:cTn id="4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3" dur="650" fill="hold"/>
                            <p:tgtEl>
                              <p:spTgt spid="10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14" fill="hold">
                <p:stCondLst>
                  <p:cond delay="1250"/>
                </p:stCondLst>
                <p:childTnLst>
                  <p:par>
                    <p:cTn id="4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7" dur="650" fill="hold"/>
                            <p:tgtEl>
                              <p:spTgt spid="10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18" fill="hold">
                <p:stCondLst>
                  <p:cond delay="1250"/>
                </p:stCondLst>
                <p:childTnLst>
                  <p:par>
                    <p:cTn id="4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1" dur="650" fill="hold"/>
                            <p:tgtEl>
                              <p:spTgt spid="10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2" fill="hold">
                <p:stCondLst>
                  <p:cond delay="1250"/>
                </p:stCondLst>
                <p:childTnLst>
                  <p:par>
                    <p:cTn id="4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5" dur="650" fill="hold"/>
                            <p:tgtEl>
                              <p:spTgt spid="10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6" fill="hold">
                <p:stCondLst>
                  <p:cond delay="1250"/>
                </p:stCondLst>
                <p:childTnLst>
                  <p:par>
                    <p:cTn id="4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9" dur="650" fill="hold"/>
                            <p:tgtEl>
                              <p:spTgt spid="10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30" fill="hold">
                <p:stCondLst>
                  <p:cond delay="1250"/>
                </p:stCondLst>
                <p:childTnLst>
                  <p:par>
                    <p:cTn id="4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3" dur="650" fill="hold"/>
                            <p:tgtEl>
                              <p:spTgt spid="1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34" fill="hold">
                <p:stCondLst>
                  <p:cond delay="1250"/>
                </p:stCondLst>
                <p:childTnLst>
                  <p:par>
                    <p:cTn id="4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7" dur="650" fill="hold"/>
                            <p:tgtEl>
                              <p:spTgt spid="1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38" fill="hold">
                <p:stCondLst>
                  <p:cond delay="1250"/>
                </p:stCondLst>
                <p:childTnLst>
                  <p:par>
                    <p:cTn id="4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1" dur="650" fill="hold"/>
                            <p:tgtEl>
                              <p:spTgt spid="1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42" fill="hold">
                <p:stCondLst>
                  <p:cond delay="1250"/>
                </p:stCondLst>
                <p:childTnLst>
                  <p:par>
                    <p:cTn id="4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5" dur="650" fill="hold"/>
                            <p:tgtEl>
                              <p:spTgt spid="1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46" fill="hold">
                <p:stCondLst>
                  <p:cond delay="1250"/>
                </p:stCondLst>
                <p:childTnLst>
                  <p:par>
                    <p:cTn id="4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9" dur="650" fill="hold"/>
                            <p:tgtEl>
                              <p:spTgt spid="1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50" fill="hold">
                <p:stCondLst>
                  <p:cond delay="1250"/>
                </p:stCondLst>
                <p:childTnLst>
                  <p:par>
                    <p:cTn id="4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3" dur="650" fill="hold"/>
                            <p:tgtEl>
                              <p:spTgt spid="1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54" fill="hold">
                <p:stCondLst>
                  <p:cond delay="1250"/>
                </p:stCondLst>
                <p:childTnLst>
                  <p:par>
                    <p:cTn id="4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7" dur="650" fill="hold"/>
                            <p:tgtEl>
                              <p:spTgt spid="1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58" fill="hold">
                <p:stCondLst>
                  <p:cond delay="1250"/>
                </p:stCondLst>
                <p:childTnLst>
                  <p:par>
                    <p:cTn id="4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1" dur="650" fill="hold"/>
                            <p:tgtEl>
                              <p:spTgt spid="1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2" fill="hold">
                <p:stCondLst>
                  <p:cond delay="1250"/>
                </p:stCondLst>
                <p:childTnLst>
                  <p:par>
                    <p:cTn id="4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5" dur="650" fill="hold"/>
                            <p:tgtEl>
                              <p:spTgt spid="1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6" fill="hold">
                <p:stCondLst>
                  <p:cond delay="1250"/>
                </p:stCondLst>
                <p:childTnLst>
                  <p:par>
                    <p:cTn id="4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9" dur="650" fill="hold"/>
                            <p:tgtEl>
                              <p:spTgt spid="1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70" fill="hold">
                <p:stCondLst>
                  <p:cond delay="1250"/>
                </p:stCondLst>
                <p:childTnLst>
                  <p:par>
                    <p:cTn id="4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3" dur="650" fill="hold"/>
                            <p:tgtEl>
                              <p:spTgt spid="1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74" fill="hold">
                <p:stCondLst>
                  <p:cond delay="1250"/>
                </p:stCondLst>
                <p:childTnLst>
                  <p:par>
                    <p:cTn id="4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7" dur="650" fill="hold"/>
                            <p:tgtEl>
                              <p:spTgt spid="1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78" fill="hold">
                <p:stCondLst>
                  <p:cond delay="1250"/>
                </p:stCondLst>
                <p:childTnLst>
                  <p:par>
                    <p:cTn id="4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1" dur="650" fill="hold"/>
                            <p:tgtEl>
                              <p:spTgt spid="1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82" fill="hold">
                <p:stCondLst>
                  <p:cond delay="1250"/>
                </p:stCondLst>
                <p:childTnLst>
                  <p:par>
                    <p:cTn id="4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5" dur="650" fill="hold"/>
                            <p:tgtEl>
                              <p:spTgt spid="1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86" fill="hold">
                <p:stCondLst>
                  <p:cond delay="1100"/>
                </p:stCondLst>
                <p:childTnLst>
                  <p:par>
                    <p:cTn id="4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9" dur="650" fill="hold"/>
                            <p:tgtEl>
                              <p:spTgt spid="1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90" fill="hold">
                <p:stCondLst>
                  <p:cond delay="1100"/>
                </p:stCondLst>
                <p:childTnLst>
                  <p:par>
                    <p:cTn id="4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3" dur="650" fill="hold"/>
                            <p:tgtEl>
                              <p:spTgt spid="1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94" fill="hold">
                <p:stCondLst>
                  <p:cond delay="1100"/>
                </p:stCondLst>
                <p:childTnLst>
                  <p:par>
                    <p:cTn id="4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7" dur="650" fill="hold"/>
                            <p:tgtEl>
                              <p:spTgt spid="1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98" fill="hold">
                <p:stCondLst>
                  <p:cond delay="1100"/>
                </p:stCondLst>
                <p:childTnLst>
                  <p:par>
                    <p:cTn id="4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1" dur="650" fill="hold"/>
                            <p:tgtEl>
                              <p:spTgt spid="1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2" fill="hold">
                <p:stCondLst>
                  <p:cond delay="1100"/>
                </p:stCondLst>
                <p:childTnLst>
                  <p:par>
                    <p:cTn id="5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5" dur="650" fill="hold"/>
                            <p:tgtEl>
                              <p:spTgt spid="1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6" fill="hold">
                <p:stCondLst>
                  <p:cond delay="1100"/>
                </p:stCondLst>
                <p:childTnLst>
                  <p:par>
                    <p:cTn id="5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9" dur="650" fill="hold"/>
                            <p:tgtEl>
                              <p:spTgt spid="1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10" fill="hold">
                <p:stCondLst>
                  <p:cond delay="1100"/>
                </p:stCondLst>
                <p:childTnLst>
                  <p:par>
                    <p:cTn id="5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3" dur="650" fill="hold"/>
                            <p:tgtEl>
                              <p:spTgt spid="1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14" fill="hold">
                <p:stCondLst>
                  <p:cond delay="1100"/>
                </p:stCondLst>
                <p:childTnLst>
                  <p:par>
                    <p:cTn id="5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7" dur="650" fill="hold"/>
                            <p:tgtEl>
                              <p:spTgt spid="1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18" fill="hold">
                <p:stCondLst>
                  <p:cond delay="1250"/>
                </p:stCondLst>
                <p:childTnLst>
                  <p:par>
                    <p:cTn id="5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1" dur="650" fill="hold"/>
                            <p:tgtEl>
                              <p:spTgt spid="1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22" fill="hold">
                <p:stCondLst>
                  <p:cond delay="1100"/>
                </p:stCondLst>
                <p:childTnLst>
                  <p:par>
                    <p:cTn id="5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5" dur="650" fill="hold"/>
                            <p:tgtEl>
                              <p:spTgt spid="1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26" fill="hold">
                <p:stCondLst>
                  <p:cond delay="1100"/>
                </p:stCondLst>
                <p:childTnLst>
                  <p:par>
                    <p:cTn id="5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9" dur="650" fill="hold"/>
                            <p:tgtEl>
                              <p:spTgt spid="13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30" fill="hold">
                <p:stCondLst>
                  <p:cond delay="1100"/>
                </p:stCondLst>
                <p:childTnLst>
                  <p:par>
                    <p:cTn id="5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3" dur="650" fill="hold"/>
                            <p:tgtEl>
                              <p:spTgt spid="13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34" fill="hold">
                <p:stCondLst>
                  <p:cond delay="1100"/>
                </p:stCondLst>
                <p:childTnLst>
                  <p:par>
                    <p:cTn id="5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7" dur="650" fill="hold"/>
                            <p:tgtEl>
                              <p:spTgt spid="13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38" fill="hold">
                <p:stCondLst>
                  <p:cond delay="1100"/>
                </p:stCondLst>
                <p:childTnLst>
                  <p:par>
                    <p:cTn id="5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1" dur="650" fill="hold"/>
                            <p:tgtEl>
                              <p:spTgt spid="13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2" fill="hold">
                <p:stCondLst>
                  <p:cond delay="1100"/>
                </p:stCondLst>
                <p:childTnLst>
                  <p:par>
                    <p:cTn id="5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5" dur="650" fill="hold"/>
                            <p:tgtEl>
                              <p:spTgt spid="1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6" fill="hold">
                <p:stCondLst>
                  <p:cond delay="1100"/>
                </p:stCondLst>
                <p:childTnLst>
                  <p:par>
                    <p:cTn id="5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9" dur="650" fill="hold"/>
                            <p:tgtEl>
                              <p:spTgt spid="14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50" fill="hold">
                <p:stCondLst>
                  <p:cond delay="1100"/>
                </p:stCondLst>
                <p:childTnLst>
                  <p:par>
                    <p:cTn id="5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3" dur="650" fill="hold"/>
                            <p:tgtEl>
                              <p:spTgt spid="14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54" fill="hold">
                <p:stCondLst>
                  <p:cond delay="1100"/>
                </p:stCondLst>
                <p:childTnLst>
                  <p:par>
                    <p:cTn id="5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7" dur="650" fill="hold"/>
                            <p:tgtEl>
                              <p:spTgt spid="14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58" fill="hold">
                <p:stCondLst>
                  <p:cond delay="1100"/>
                </p:stCondLst>
                <p:childTnLst>
                  <p:par>
                    <p:cTn id="5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1" dur="650" fill="hold"/>
                            <p:tgtEl>
                              <p:spTgt spid="14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62" fill="hold">
                <p:stCondLst>
                  <p:cond delay="950"/>
                </p:stCondLst>
                <p:childTnLst>
                  <p:par>
                    <p:cTn id="5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5" dur="650" fill="hold"/>
                            <p:tgtEl>
                              <p:spTgt spid="14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66" fill="hold">
                <p:stCondLst>
                  <p:cond delay="1500"/>
                </p:stCondLst>
                <p:childTnLst>
                  <p:par>
                    <p:cTn id="5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9" dur="650" fill="hold"/>
                            <p:tgtEl>
                              <p:spTgt spid="14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70" fill="hold">
                <p:stCondLst>
                  <p:cond delay="1500"/>
                </p:stCondLst>
                <p:childTnLst>
                  <p:par>
                    <p:cTn id="5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3" dur="650" fill="hold"/>
                            <p:tgtEl>
                              <p:spTgt spid="14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74" fill="hold">
                <p:stCondLst>
                  <p:cond delay="1650"/>
                </p:stCondLst>
                <p:childTnLst>
                  <p:par>
                    <p:cTn id="5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7" dur="650" fill="hold"/>
                            <p:tgtEl>
                              <p:spTgt spid="14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56A2F-F7EA-43A2-83C5-8ED1085E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7EFF2-A1F1-46FA-AFFA-5B16A0EB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HFLMS maintained continuity through secondary-server failover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4983B-BCE8-4184-97FC-3B1CD9E6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23 completed demands. September volume eased 10.8% from August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82F07-A30F-4565-988F-BBF0E04E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A6EFA-BAB2-414B-835D-BF1D95A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723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4f5d3dabf840a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68703-51E2-4B1C-9DDA-16D27E3A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1.24B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2423-0209-429C-89A9-13EC3314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774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0FB74-19F2-49AF-90B8-1A5C5A06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50 demands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23 completed   /   15 in progress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12 backlog   /   0 baseline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B5B2A-0BAB-441E-8B7F-6414FC23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 major incident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12 minutes unplanned downtime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3C4B1-526C-4FDB-AEAE-7CA6A478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1103023689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55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15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15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550"/>
                </p:stCondLst>
                <p:childTnLst>
                  <p:par>
                    <p:cTn id="15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17" dur="65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70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700"/>
                </p:stCondLst>
                <p:childTnLst>
                  <p:par>
                    <p:cTn id="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110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150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110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66DF7A-6868-4C78-B945-2ABFB172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C3791-D80A-422A-90DE-E170AAF5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The delivery pipeline spans releases, controls and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9E9F4-C784-4835-BB94-683DDA9E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Selected initiatives reported in September. Pipeline stages guide the next management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6B78C-B4F8-4466-8B11-1D031F4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D7DEB-3034-449D-8CC7-D820D7DB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55D69-61AD-4672-8DF0-E27B63B1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DCA49-6994-4FB6-9595-6F578CD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9C4E0-F349-4905-B149-93083F0D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FA969-88E5-4AF4-B617-DD6E0CA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Skywards cards removal from MB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3x3 Drop 4 – Releases 1 &amp;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TAB-52 – Tablet AOF audit 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76029-B46F-4559-A916-62FB118E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518AB-C72C-442C-BF81-4BE841A2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cost enhancements – SIT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SWIFT GPI – Regression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Input Validations – Development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EFMS Upgrade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Emirati Card – SIT / UAT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A5C5F-8EB5-4BEE-A6A8-3F1D46A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36F53-6A3C-45BB-9153-9298EE44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5C633-4B27-4380-91C1-A8A204F6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E95D4-5087-4339-BB83-23642929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LL / LG flag field amendment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Multiple Rate Changes service request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Supplementary Card mobile number / email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B8C62-27C3-409F-9EC1-F45714C0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D3592-4A8B-4B9D-9BD1-A3A36CF5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RTA Integration – Design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PDC Remittance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for PDC –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F61FD-FF33-4CBE-A8F0-C722EBEE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7DE08-B6BA-478A-AE5C-2E1ADA4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07EFB-AA21-4C89-BF15-BA94586D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B0229-4253-40A6-8424-4AB8470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No named live initiatives supplied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25D1F-D9F1-4995-8200-6DFE72DF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73A10E-1B30-45E3-877F-7DF266F5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HF48 Forward Ijara Freehold Phase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Dedup logic controls in customer onboarding*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Duplicate CIF: linkage of closed customer*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EC3EB-9D32-4193-9095-FCDD75C4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* HFLMS + Core Banking. Source gives no stage for these initiatives. Names and abbreviations retain the source terminology.</a:t>
            </a:r>
          </a:p>
        </p:txBody>
      </p:sp>
    </p:spTree>
    <p:extLst>
      <p:ext uri="{BB962C8B-B14F-4D97-AF65-F5344CB8AC3E}">
        <p14:creationId xmlns:p14="http://schemas.microsoft.com/office/powerpoint/2010/main" val="1068769941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55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15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15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550"/>
                </p:stCondLst>
                <p:childTnLst>
                  <p:par>
                    <p:cTn id="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65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55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550"/>
                </p:stCondLst>
                <p:childTnLst>
                  <p:par>
                    <p:cTn id="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55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95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95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delay="550"/>
                </p:stCondLst>
                <p:childTnLst>
                  <p:par>
                    <p:cTn id="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6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delay="700"/>
                </p:stCondLst>
                <p:childTnLst>
                  <p:par>
                    <p:cTn id="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" dur="65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delay="700"/>
                </p:stCondLst>
                <p:childTnLst>
                  <p:par>
                    <p:cTn id="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" dur="6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delay="700"/>
                </p:stCondLst>
                <p:childTnLst>
                  <p:par>
                    <p:cTn id="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65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delay="1100"/>
                </p:stCondLst>
                <p:childTnLst>
                  <p:par>
                    <p:cTn id="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" dur="65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delay="1100"/>
                </p:stCondLst>
                <p:childTnLst>
                  <p:par>
                    <p:cTn id="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" dur="65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delay="700"/>
                </p:stCondLst>
                <p:childTnLst>
                  <p:par>
                    <p:cTn id="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" dur="65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delay="700"/>
                </p:stCondLst>
                <p:childTnLst>
                  <p:par>
                    <p:cTn id="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" dur="65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delay="700"/>
                </p:stCondLst>
                <p:childTnLst>
                  <p:par>
                    <p:cTn id="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3" dur="65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delay="700"/>
                </p:stCondLst>
                <p:childTnLst>
                  <p:par>
                    <p:cTn id="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7" dur="65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delay="1100"/>
                </p:stCondLst>
                <p:childTnLst>
                  <p:par>
                    <p:cTn id="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1" dur="65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delay="1100"/>
                </p:stCondLst>
                <p:childTnLst>
                  <p:par>
                    <p:cTn id="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5" dur="65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delay="1500"/>
                </p:stCondLst>
                <p:childTnLst>
                  <p:par>
                    <p:cTn id="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9" dur="65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0A5A5-ECF5-4E34-961D-555579C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53601-9EC8-4FCE-AB71-ECE72361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Management priorities: capacity and recovery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034EA-59DE-4C93-8CD7-E57A68DA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Recommended management actions based on September 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5FE0B-2447-4F52-8E04-CF1C9A37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B25A8-81DB-4111-BB51-FEF32B94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687AB-554D-4F3B-AC6F-4EF15025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F27E1-E4C6-4B98-90A8-D9134876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088F7-4044-452D-8C49-8E2232AB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F640D-6A4C-4BED-95F7-DC619235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the DDoS threshold event and mitigation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71FD0-E23D-4026-9D14-215DF137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0D4EC-28BC-46FF-A14B-9DDE84D8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27F93-9690-4C6D-A4C0-DA260E25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Backlog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BDC87-D20E-4383-BFE8-7372BE3F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Prioritize 68 backlog items across the three portfolios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D4489-D382-4925-B612-6A773FE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7A97B-979D-4260-BAEF-A4231A79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87717-96A8-440D-BCF3-2E876FA9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Recovery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5B9C8-253F-445D-9866-06DEAA56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Agree interim recovery controls for FinnOne and HFLMS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105B4-99A9-43E7-8650-6B5380CC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38764-737D-48EF-9D74-15EAEE2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E19A9-3B5D-4CD2-A903-520B3057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Delivery progression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E7567-101C-4AE8-9B10-447EA41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readiness of SIT, UAT and regression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875D2-1580-4933-9B7B-22428320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Infrastructure has reported headroom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6D462-1EA2-41FE-B36D-8F02913A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E42CA-CD12-4E4F-9F21-3BE5ADB0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/ IB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A3FE5-EE09-4DBD-BA94-F8DAAC7C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7.97% / 5.01%   Memory 35.64% / 52.87%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A50DE-2754-452E-8EF4-36673B23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66.10% / 50.17%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EBF62-2670-4784-8433-A0E92EB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06D86-BE2D-4A16-BB3F-3150316A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FinnOne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CF082A-0F90-44DC-8BF0-05962CC0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&lt;10%   Memory &lt;60%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67E0F6-F4E9-4CF3-8D48-AD6C4C93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Not supplied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E80FD-352C-4E36-85FF-D8E28233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85E467-43D4-4FD0-BA68-14741FC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HFLMS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9184BA-CA22-4C2C-AD89-64C34740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&lt;40%   Memory &lt;25%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B9C479-A498-45C3-86AA-D5B05401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&lt;70%</a:t>
            </a:r>
          </a:p>
        </p:txBody>
      </p:sp>
    </p:spTree>
    <p:extLst>
      <p:ext uri="{BB962C8B-B14F-4D97-AF65-F5344CB8AC3E}">
        <p14:creationId xmlns:p14="http://schemas.microsoft.com/office/powerpoint/2010/main" val="794334114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55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15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15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550"/>
                </p:stCondLst>
                <p:childTnLst>
                  <p:par>
                    <p:cTn id="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65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55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550"/>
                </p:stCondLst>
                <p:childTnLst>
                  <p:par>
                    <p:cTn id="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55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70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70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delay="700"/>
                </p:stCondLst>
                <p:childTnLst>
                  <p:par>
                    <p:cTn id="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6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delay="700"/>
                </p:stCondLst>
                <p:childTnLst>
                  <p:par>
                    <p:cTn id="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" dur="65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delay="950"/>
                </p:stCondLst>
                <p:childTnLst>
                  <p:par>
                    <p:cTn id="4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" dur="6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delay="950"/>
                </p:stCondLst>
                <p:childTnLst>
                  <p:par>
                    <p:cTn id="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65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delay="950"/>
                </p:stCondLst>
                <p:childTnLst>
                  <p:par>
                    <p:cTn id="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" dur="65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delay="950"/>
                </p:stCondLst>
                <p:childTnLst>
                  <p:par>
                    <p:cTn id="5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" dur="65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delay="1100"/>
                </p:stCondLst>
                <p:childTnLst>
                  <p:par>
                    <p:cTn id="6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" dur="65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delay="1100"/>
                </p:stCondLst>
                <p:childTnLst>
                  <p:par>
                    <p:cTn id="6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" dur="65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delay="1100"/>
                </p:stCondLst>
                <p:childTnLst>
                  <p:par>
                    <p:cTn id="7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3" dur="65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delay="1100"/>
                </p:stCondLst>
                <p:childTnLst>
                  <p:par>
                    <p:cTn id="7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7" dur="65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delay="950"/>
                </p:stCondLst>
                <p:childTnLst>
                  <p:par>
                    <p:cTn id="7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1" dur="65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delay="950"/>
                </p:stCondLst>
                <p:childTnLst>
                  <p:par>
                    <p:cTn id="8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5" dur="65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delay="950"/>
                </p:stCondLst>
                <p:childTnLst>
                  <p:par>
                    <p:cTn id="8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9" dur="65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0" fill="hold">
                <p:stCondLst>
                  <p:cond delay="1500"/>
                </p:stCondLst>
                <p:childTnLst>
                  <p:par>
                    <p:cTn id="9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3" dur="65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4" fill="hold">
                <p:stCondLst>
                  <p:cond delay="1500"/>
                </p:stCondLst>
                <p:childTnLst>
                  <p:par>
                    <p:cTn id="9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7" dur="65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98" fill="hold">
                <p:stCondLst>
                  <p:cond delay="950"/>
                </p:stCondLst>
                <p:childTnLst>
                  <p:par>
                    <p:cTn id="9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" dur="65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2" fill="hold">
                <p:stCondLst>
                  <p:cond delay="1100"/>
                </p:stCondLst>
                <p:childTnLst>
                  <p:par>
                    <p:cTn id="10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" dur="65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6" fill="hold">
                <p:stCondLst>
                  <p:cond delay="1650"/>
                </p:stCondLst>
                <p:childTnLst>
                  <p:par>
                    <p:cTn id="10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650" fill="hold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0" fill="hold">
                <p:stCondLst>
                  <p:cond delay="1650"/>
                </p:stCondLst>
                <p:childTnLst>
                  <p:par>
                    <p:cTn id="1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3" dur="650" fill="hold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4" fill="hold">
                <p:stCondLst>
                  <p:cond delay="1100"/>
                </p:stCondLst>
                <p:childTnLst>
                  <p:par>
                    <p:cTn id="1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" dur="650" fill="hold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8" fill="hold">
                <p:stCondLst>
                  <p:cond delay="1100"/>
                </p:stCondLst>
                <p:childTnLst>
                  <p:par>
                    <p:cTn id="1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" dur="65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22" fill="hold">
                <p:stCondLst>
                  <p:cond delay="1650"/>
                </p:stCondLst>
                <p:childTnLst>
                  <p:par>
                    <p:cTn id="1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" dur="650" fill="hold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26" fill="hold">
                <p:stCondLst>
                  <p:cond delay="1650"/>
                </p:stCondLst>
                <p:childTnLst>
                  <p:par>
                    <p:cTn id="1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9" dur="650" fill="hold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2026-10-05T14:01:31.2780000Z</dcterms:created>
  <dcterms:modified xsi:type="dcterms:W3CDTF">2026-10-05T14:01:31.2780000Z</dcterms:modified>
</coreProperties>
</file>