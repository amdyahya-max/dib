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72fb672b9c4771" /><Relationship Type="http://schemas.openxmlformats.org/officeDocument/2006/relationships/extended-properties" Target="/docProps/app.xml" Id="R207a0bf5ec5a4e97" /><Relationship Type="http://schemas.openxmlformats.org/officeDocument/2006/relationships/officeDocument" Target="/ppt/presentation.xml" Id="R9a12c64a780c43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99fe4cae914527"/>
  </p:sldMasterIdLst>
  <p:notesMasterIdLst>
    <p:notesMasterId xmlns:r="http://schemas.openxmlformats.org/officeDocument/2006/relationships" r:id="Rf737c35b842e40d7"/>
  </p:notesMasterIdLst>
  <p:sldIdLst>
    <p:sldId xmlns:r="http://schemas.openxmlformats.org/officeDocument/2006/relationships" id="256" r:id="R11f59ce90749419f"/>
    <p:sldId xmlns:r="http://schemas.openxmlformats.org/officeDocument/2006/relationships" id="257" r:id="Re9c38f562b124b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673c66040e4519" /><Relationship Type="http://schemas.openxmlformats.org/officeDocument/2006/relationships/slideMaster" Target="/ppt/slideMasters/slideMaster1.xml" Id="R1999fe4cae914527" /><Relationship Type="http://schemas.openxmlformats.org/officeDocument/2006/relationships/notesMaster" Target="/ppt/notesMasters/notesMaster1.xml" Id="Rf737c35b842e40d7" /><Relationship Type="http://schemas.openxmlformats.org/officeDocument/2006/relationships/presProps" Target="/ppt/presProps.xml" Id="R02eb8ea8d35a4117" /><Relationship Type="http://schemas.openxmlformats.org/officeDocument/2006/relationships/tableStyles" Target="/ppt/tableStyles.xml" Id="R772e11f93d224a61" /><Relationship Type="http://schemas.openxmlformats.org/officeDocument/2006/relationships/slide" Target="/ppt/slides/slide1.xml" Id="R11f59ce90749419f" /><Relationship Type="http://schemas.openxmlformats.org/officeDocument/2006/relationships/slide" Target="/ppt/slides/slide2.xml" Id="Re9c38f562b124b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9ade1936e34a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99444" dir="4398045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99444" dir="4398045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4b0b2b4a384ced" /><Relationship Type="http://schemas.openxmlformats.org/officeDocument/2006/relationships/notesMaster" Target="/ppt/notesMasters/notesMaster1.xml" Id="Rf676211d676147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c7b9236f464e38" /><Relationship Type="http://schemas.openxmlformats.org/officeDocument/2006/relationships/notesMaster" Target="/ppt/notesMasters/notesMaster1.xml" Id="R899b5d2a1d074f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image IMG_052BE086-5BE9-4B9F-A784-9D139EFE2FE7.jpeg. Metrics used: 142 total demands, 126 vertical, 16 supporting, 93 Consumer Banking - Cards, 12 GBO - Cards, 21 remaining vertical demands, 82 assignments, 65 active demands, 8 overloaded, peak capacity 760%. Calculated value: 93 / 126 = 73.8%, shown as 74%. The overload percentages are reproduced as stated in the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image IMG_052BE086-5BE9-4B9F-A784-9D139EFE2FE7.jpeg. Lifecycle counts transcribed from the visible status groups: Backlog 18, Intake and Qualification 9, Delivery Commitment 38, Delivered 28, Paused or Exited 23. Monthly outcomes visible in the source: Apr 0, May 5, Jun 0, Jul 4, Aug 5, Sep 4, totaling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3dead38cb743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50fcdf51ff4c88" /><Relationship Type="http://schemas.openxmlformats.org/officeDocument/2006/relationships/slideLayout" Target="/ppt/slideLayouts/slideLayout1.xml" Id="R99aa3768d49f40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aa3768d49f40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99444" dir="4398045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99444" dir="4398045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7a2c5d4914cef" /><Relationship Type="http://schemas.openxmlformats.org/officeDocument/2006/relationships/chart" Target="/ppt/slides/charts/chart1.xml" Id="R2d567d3b1f10419b" /><Relationship Type="http://schemas.openxmlformats.org/officeDocument/2006/relationships/notesSlide" Target="/ppt/notesSlides/notesSlide1.xml" Id="Rb658fb35c12e43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8de8b4fe9435e" /><Relationship Type="http://schemas.openxmlformats.org/officeDocument/2006/relationships/chart" Target="/ppt/slides/charts/chart2.xml" Id="Rc699a8295bd44fb6" /><Relationship Type="http://schemas.openxmlformats.org/officeDocument/2006/relationships/notesSlide" Target="/ppt/notesSlides/notesSlide2.xml" Id="R11bd87b6abaf4ad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Capacity load</c:v>
          </c:tx>
          <c:spPr>
            <a:solidFill xmlns:a="http://schemas.openxmlformats.org/drawingml/2006/main">
              <a:srgbClr val="A7434A"/>
            </a:solidFill>
            <a:ln xmlns:a="http://schemas.openxmlformats.org/drawingml/2006/main" w="0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rgbClr val="E6B654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A7434A"/>
              </a:solidFill>
              <a:ln xmlns:a="http://schemas.openxmlformats.org/drawingml/2006/main" w="0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A7434A"/>
              </a:solidFill>
              <a:ln xmlns:a="http://schemas.openxmlformats.org/drawingml/2006/main" w="0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A7434A"/>
              </a:solidFill>
              <a:ln xmlns:a="http://schemas.openxmlformats.org/drawingml/2006/main" w="0">
                <a:noFill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A7434A"/>
              </a:solidFill>
              <a:ln xmlns:a="http://schemas.openxmlformats.org/drawingml/2006/main" w="0">
                <a:noFill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A7434A"/>
              </a:solidFill>
              <a:ln xmlns:a="http://schemas.openxmlformats.org/drawingml/2006/main" w="0">
                <a:noFill/>
              </a:ln>
            </c:spPr>
          </c:dPt>
          <c:dPt>
            <c:idx val="6"/>
            <c:invertIfNegative val="0"/>
            <c:spPr>
              <a:solidFill xmlns:a="http://schemas.openxmlformats.org/drawingml/2006/main">
                <a:srgbClr val="A7434A"/>
              </a:solidFill>
              <a:ln xmlns:a="http://schemas.openxmlformats.org/drawingml/2006/main" w="0">
                <a:noFill/>
              </a:ln>
            </c:spPr>
          </c:dPt>
          <c:dPt>
            <c:idx val="7"/>
            <c:invertIfNegative val="0"/>
            <c:spPr>
              <a:solidFill xmlns:a="http://schemas.openxmlformats.org/drawingml/2006/main">
                <a:srgbClr val="A7434A"/>
              </a:solidFill>
              <a:ln xmlns:a="http://schemas.openxmlformats.org/drawingml/2006/main" w="0">
                <a:noFill/>
              </a:ln>
            </c:spPr>
          </c:dPt>
          <c:cat>
            <c:strLit>
              <c:ptCount val="8"/>
              <c:pt idx="0">
                <c:v>Habibur Rahman</c:v>
              </c:pt>
              <c:pt idx="1">
                <c:v>Farhan Ijaz</c:v>
              </c:pt>
              <c:pt idx="2">
                <c:v>Leo Philip Kumar</c:v>
              </c:pt>
              <c:pt idx="3">
                <c:v>Hesham Moftah</c:v>
              </c:pt>
              <c:pt idx="4">
                <c:v>Tarek M. AbdelAziz</c:v>
              </c:pt>
              <c:pt idx="5">
                <c:v>Ashraf S. Ansari</c:v>
              </c:pt>
              <c:pt idx="6">
                <c:v>Syed M. Hassan</c:v>
              </c:pt>
              <c:pt idx="7">
                <c:v>Godwin Manuel</c:v>
              </c:pt>
            </c:strLit>
          </c:cat>
          <c:val>
            <c:numLit>
              <c:formatCode>0%</c:formatCode>
              <c:ptCount val="8"/>
              <c:pt idx="0">
                <c:v>7.6</c:v>
              </c:pt>
              <c:pt idx="1">
                <c:v>5.4</c:v>
              </c:pt>
              <c:pt idx="2">
                <c:v>3.9</c:v>
              </c:pt>
              <c:pt idx="3">
                <c:v>3.5</c:v>
              </c:pt>
              <c:pt idx="4">
                <c:v>3.3</c:v>
              </c:pt>
              <c:pt idx="5">
                <c:v>2.7</c:v>
              </c:pt>
              <c:pt idx="6">
                <c:v>1.3</c:v>
              </c:pt>
              <c:pt idx="7">
                <c:v>1.2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7A2E35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84A43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Delivered</c:v>
          </c:tx>
          <c:spPr>
            <a:solidFill xmlns:a="http://schemas.openxmlformats.org/drawingml/2006/main">
              <a:srgbClr val="00A77B"/>
            </a:solidFill>
            <a:ln xmlns:a="http://schemas.openxmlformats.org/drawingml/2006/main" w="0">
              <a:noFill/>
            </a:ln>
          </c:spPr>
          <c:cat>
            <c:strLit>
              <c:ptCount val="6"/>
              <c:pt idx="0">
                <c:v>APR</c:v>
              </c:pt>
              <c:pt idx="1">
                <c:v>MAY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5</c:v>
              </c:pt>
              <c:pt idx="2">
                <c:v>0</c:v>
              </c:pt>
              <c:pt idx="3">
                <c:v>4</c:v>
              </c:pt>
              <c:pt idx="4">
                <c:v>5</c:v>
              </c:pt>
              <c:pt idx="5">
                <c:v>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0B5F4B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47B74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</c:chartSpace>
</file>

<file path=ppt/slides/slide1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71B1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4" name="">
            <a:extLst>
              <a:ext uri="{FF2B5EF4-FFF2-40B4-BE49-F238E27FC236}">
                <ns2:creationId id="{5F531E7D-F1FD-49F0-A48A-43CE4C1FE16B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75" b="1">
                <a:solidFill>
                  <a:srgbClr val="E6B65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6B654"/>
                </a:solidFill>
                <a:latin typeface="Aptos"/>
                <a:ea typeface="Aptos"/>
                <a:cs typeface="Aptos"/>
              </a:rPr>
              <a:t>CARDS PORTFOLIO | DEMAND AND CAPACITY</a:t>
            </a:r>
          </a:p>
        </p:txBody>
      </p:sp>
      <p:sp>
        <p:nvSpPr>
          <p:cNvPr id="2" name="">
            <a:extLst>
              <a:ext uri="{FF2B5EF4-FFF2-40B4-BE49-F238E27FC236}">
                <ns2:creationId id="{BFE39135-56F0-4967-854C-6F0CA70A3DC2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775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142 demands across the Cards portfolio</a:t>
            </a:r>
          </a:p>
        </p:txBody>
      </p:sp>
      <p:sp>
        <p:nvSpPr>
          <p:cNvPr id="3" name="">
            <a:extLst>
              <a:ext uri="{FF2B5EF4-FFF2-40B4-BE49-F238E27FC236}">
                <ns2:creationId id="{976D08D1-926C-475B-8539-F54355390B36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00" b="0">
                <a:solidFill>
                  <a:srgbClr val="A8C0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C0B8"/>
                </a:solidFill>
                <a:latin typeface="Aptos"/>
                <a:ea typeface="Aptos"/>
                <a:cs typeface="Aptos"/>
              </a:rPr>
              <a:t>93 of 126 vertical demands sit in Consumer Banking - Cards. There are 82 assignments across 65 active demands.</a:t>
            </a:r>
          </a:p>
        </p:txBody>
      </p:sp>
      <p:sp>
        <p:nvSpPr>
          <p:cNvPr id="4" name="">
            <a:extLst>
              <a:ext uri="{FF2B5EF4-FFF2-40B4-BE49-F238E27FC236}">
                <ns2:creationId id="{382DBD19-9293-449D-9A37-63445F4531B3}"/>
              </a:ext>
            </a:extLst>
          </p:cNvPr>
          <p:cNvSpPr>
            <a:spLocks noGrp="1"/>
          </p:cNvSpPr>
          <p:nvPr/>
        </p:nvSpPr>
        <p:spPr>
          <a:xfrm>
            <a:off x="11258550" y="4000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975" b="1">
                <a:solidFill>
                  <a:srgbClr val="A8C0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C0B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anim-demand-total">
            <a:extLst>
              <a:ext uri="{FF2B5EF4-FFF2-40B4-BE49-F238E27FC236}">
                <ns2:creationId id="{C7970995-FD7A-4FFE-BC49-E1F3A842384F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3181350" cy="3524250"/>
          </a:xfrm>
          <a:prstGeom prst="roundRect">
            <a:avLst>
              <a:gd name="adj" fmla="val 4790"/>
            </a:avLst>
          </a:prstGeom>
          <a:gradFill>
            <a:gsLst>
              <a:gs pos="0">
                <a:srgbClr val="0E3C32"/>
              </a:gs>
              <a:gs pos="100000">
                <a:srgbClr val="102A27"/>
              </a:gs>
            </a:gsLst>
            <a:lin ang="2100000"/>
          </a:gradFill>
          <a:ln w="9525">
            <a:solidFill>
              <a:srgbClr val="285148"/>
            </a:solidFill>
            <a:prstDash val="solid"/>
          </a:ln>
        </p:spPr>
        <p:style>
          <a:lnRef idx="0"/>
          <a:fillRef idx="0"/>
          <a:effectRef idx="10"/>
          <a:fontRef idx="major"/>
        </p:style>
      </p:sp>
      <p:sp>
        <p:nvSpPr>
          <p:cNvPr id="6" name="metric-total">
            <a:extLst>
              <a:ext uri="{FF2B5EF4-FFF2-40B4-BE49-F238E27FC236}">
                <ns2:creationId id="{ADFA434F-EDC8-459E-9B82-284322F6A889}"/>
              </a:ext>
            </a:extLst>
          </p:cNvPr>
          <p:cNvSpPr>
            <a:spLocks noGrp="1"/>
          </p:cNvSpPr>
          <p:nvPr/>
        </p:nvSpPr>
        <p:spPr>
          <a:xfrm>
            <a:off x="800100" y="1866900"/>
            <a:ext cx="16764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4950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142</a:t>
            </a:r>
          </a:p>
        </p:txBody>
      </p:sp>
      <p:sp>
        <p:nvSpPr>
          <p:cNvPr id="7" name="">
            <a:extLst>
              <a:ext uri="{FF2B5EF4-FFF2-40B4-BE49-F238E27FC236}">
                <ns2:creationId id="{44C96CF7-E751-42F2-B327-995C94DFFD46}"/>
              </a:ext>
            </a:extLst>
          </p:cNvPr>
          <p:cNvSpPr>
            <a:spLocks noGrp="1"/>
          </p:cNvSpPr>
          <p:nvPr/>
        </p:nvSpPr>
        <p:spPr>
          <a:xfrm>
            <a:off x="800100" y="2743200"/>
            <a:ext cx="1352550" cy="266700"/>
          </a:xfrm>
          <a:prstGeom prst="roundRect">
            <a:avLst>
              <a:gd name="adj" fmla="val 50000"/>
            </a:avLst>
          </a:prstGeom>
          <a:solidFill>
            <a:srgbClr val="00A77B"/>
          </a:solidFill>
          <a:ln w="0">
            <a:noFill/>
          </a:ln>
        </p:spPr>
        <p:txBody>
          <a:bodyPr lIns="57150" tIns="19050" rIns="57150" bIns="19050" anchor="ctr">
            <a:normAutofit fontScale="100000"/>
          </a:bodyPr>
          <a:lstStyle/>
          <a:p>
            <a:pPr algn="ctr">
              <a:defRPr sz="900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TOTAL DEMANDS</a:t>
            </a:r>
          </a:p>
        </p:txBody>
      </p:sp>
      <p:sp>
        <p:nvSpPr>
          <p:cNvPr id="8" name="">
            <a:extLst>
              <a:ext uri="{FF2B5EF4-FFF2-40B4-BE49-F238E27FC236}">
                <ns2:creationId id="{2B3072B6-0D20-4D78-96CE-E31412B7C85E}"/>
              </a:ext>
            </a:extLst>
          </p:cNvPr>
          <p:cNvSpPr>
            <a:spLocks noGrp="1"/>
          </p:cNvSpPr>
          <p:nvPr/>
        </p:nvSpPr>
        <p:spPr>
          <a:xfrm>
            <a:off x="800100" y="3257550"/>
            <a:ext cx="1066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550" b="1">
                <a:solidFill>
                  <a:srgbClr val="54D6B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54D6B2"/>
                </a:solidFill>
                <a:latin typeface="Aptos"/>
                <a:ea typeface="Aptos"/>
                <a:cs typeface="Aptos"/>
              </a:rPr>
              <a:t>89%</a:t>
            </a:r>
          </a:p>
        </p:txBody>
      </p:sp>
      <p:sp>
        <p:nvSpPr>
          <p:cNvPr id="9" name="">
            <a:extLst>
              <a:ext uri="{FF2B5EF4-FFF2-40B4-BE49-F238E27FC236}">
                <ns2:creationId id="{16C06D2A-F7AC-4130-844E-A28FEB815FB7}"/>
              </a:ext>
            </a:extLst>
          </p:cNvPr>
          <p:cNvSpPr>
            <a:spLocks noGrp="1"/>
          </p:cNvSpPr>
          <p:nvPr/>
        </p:nvSpPr>
        <p:spPr>
          <a:xfrm>
            <a:off x="800100" y="378142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A8C0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C0B8"/>
                </a:solidFill>
                <a:latin typeface="Aptos"/>
                <a:ea typeface="Aptos"/>
                <a:cs typeface="Aptos"/>
              </a:rPr>
              <a:t>vertical demand</a:t>
            </a:r>
          </a:p>
        </p:txBody>
      </p:sp>
      <p:sp>
        <p:nvSpPr>
          <p:cNvPr id="10" name="">
            <a:extLst>
              <a:ext uri="{FF2B5EF4-FFF2-40B4-BE49-F238E27FC236}">
                <ns2:creationId id="{298D737B-FB79-4936-8D3C-643B4A3457BB}"/>
              </a:ext>
            </a:extLst>
          </p:cNvPr>
          <p:cNvSpPr>
            <a:spLocks noGrp="1"/>
          </p:cNvSpPr>
          <p:nvPr/>
        </p:nvSpPr>
        <p:spPr>
          <a:xfrm>
            <a:off x="2543175" y="3324225"/>
            <a:ext cx="762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875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126</a:t>
            </a:r>
          </a:p>
        </p:txBody>
      </p:sp>
      <p:sp>
        <p:nvSpPr>
          <p:cNvPr id="11" name="">
            <a:extLst>
              <a:ext uri="{FF2B5EF4-FFF2-40B4-BE49-F238E27FC236}">
                <ns2:creationId id="{1472D759-EB0C-4892-A9AF-0DC3083FF237}"/>
              </a:ext>
            </a:extLst>
          </p:cNvPr>
          <p:cNvSpPr>
            <a:spLocks noGrp="1"/>
          </p:cNvSpPr>
          <p:nvPr/>
        </p:nvSpPr>
        <p:spPr>
          <a:xfrm>
            <a:off x="2543175" y="3714750"/>
            <a:ext cx="762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900" b="0">
                <a:solidFill>
                  <a:srgbClr val="A8C0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C0B8"/>
                </a:solidFill>
                <a:latin typeface="Aptos"/>
                <a:ea typeface="Aptos"/>
                <a:cs typeface="Aptos"/>
              </a:rPr>
              <a:t>items</a:t>
            </a:r>
          </a:p>
        </p:txBody>
      </p:sp>
      <p:sp>
        <p:nvSpPr>
          <p:cNvPr id="12" name="">
            <a:extLst>
              <a:ext uri="{FF2B5EF4-FFF2-40B4-BE49-F238E27FC236}">
                <ns2:creationId id="{9538AFB6-7B14-4D17-A103-A4AEEE0E4DC0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2686050" cy="190500"/>
          </a:xfrm>
          <a:prstGeom prst="roundRect">
            <a:avLst>
              <a:gd name="adj" fmla="val 50000"/>
            </a:avLst>
          </a:prstGeom>
          <a:solidFill>
            <a:srgbClr val="173E37"/>
          </a:solidFill>
          <a:ln w="0">
            <a:noFill/>
          </a:ln>
        </p:spPr>
      </p:sp>
      <p:sp>
        <p:nvSpPr>
          <p:cNvPr id="13" name="">
            <a:extLst>
              <a:ext uri="{FF2B5EF4-FFF2-40B4-BE49-F238E27FC236}">
                <ns2:creationId id="{D26535EA-A139-48D0-9F53-1ABA8F789C76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2381250" cy="190500"/>
          </a:xfrm>
          <a:prstGeom prst="roundRect">
            <a:avLst>
              <a:gd name="adj" fmla="val 50000"/>
            </a:avLst>
          </a:prstGeom>
          <a:solidFill>
            <a:srgbClr val="54D6B2"/>
          </a:solidFill>
          <a:ln w="0">
            <a:noFill/>
          </a:ln>
        </p:spPr>
      </p:sp>
      <p:sp>
        <p:nvSpPr>
          <p:cNvPr id="14" name="">
            <a:extLst>
              <a:ext uri="{FF2B5EF4-FFF2-40B4-BE49-F238E27FC236}">
                <ns2:creationId id="{6733335D-CDB5-42F9-8C74-3BB47DBFE444}"/>
              </a:ext>
            </a:extLst>
          </p:cNvPr>
          <p:cNvSpPr>
            <a:spLocks noGrp="1"/>
          </p:cNvSpPr>
          <p:nvPr/>
        </p:nvSpPr>
        <p:spPr>
          <a:xfrm>
            <a:off x="3181350" y="4229100"/>
            <a:ext cx="304800" cy="190500"/>
          </a:xfrm>
          <a:prstGeom prst="roundRect">
            <a:avLst>
              <a:gd name="adj" fmla="val 50000"/>
            </a:avLst>
          </a:prstGeom>
          <a:solidFill>
            <a:srgbClr val="E6B654"/>
          </a:solidFill>
          <a:ln w="0">
            <a:noFill/>
          </a:ln>
        </p:spPr>
      </p:sp>
      <p:sp>
        <p:nvSpPr>
          <p:cNvPr id="15" name="">
            <a:extLst>
              <a:ext uri="{FF2B5EF4-FFF2-40B4-BE49-F238E27FC236}">
                <ns2:creationId id="{FA36FA13-45D5-4ECA-8BEF-2DB1A3BBE9BA}"/>
              </a:ext>
            </a:extLst>
          </p:cNvPr>
          <p:cNvSpPr>
            <a:spLocks noGrp="1"/>
          </p:cNvSpPr>
          <p:nvPr/>
        </p:nvSpPr>
        <p:spPr>
          <a:xfrm>
            <a:off x="800100" y="4514850"/>
            <a:ext cx="12192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54D6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4D6B2"/>
                </a:solidFill>
                <a:latin typeface="Aptos"/>
                <a:ea typeface="Aptos"/>
                <a:cs typeface="Aptos"/>
              </a:rPr>
              <a:t>126 vertical</a:t>
            </a:r>
          </a:p>
        </p:txBody>
      </p:sp>
      <p:sp>
        <p:nvSpPr>
          <p:cNvPr id="16" name="">
            <a:extLst>
              <a:ext uri="{FF2B5EF4-FFF2-40B4-BE49-F238E27FC236}">
                <ns2:creationId id="{A465FBF2-7FF9-4211-B592-B13BEB22BA82}"/>
              </a:ext>
            </a:extLst>
          </p:cNvPr>
          <p:cNvSpPr>
            <a:spLocks noGrp="1"/>
          </p:cNvSpPr>
          <p:nvPr/>
        </p:nvSpPr>
        <p:spPr>
          <a:xfrm>
            <a:off x="2133600" y="4514850"/>
            <a:ext cx="1352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900" b="1">
                <a:solidFill>
                  <a:srgbClr val="E6B6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6B654"/>
                </a:solidFill>
                <a:latin typeface="Aptos"/>
                <a:ea typeface="Aptos"/>
                <a:cs typeface="Aptos"/>
              </a:rPr>
              <a:t>16 supporting</a:t>
            </a:r>
          </a:p>
        </p:txBody>
      </p:sp>
      <p:sp>
        <p:nvSpPr>
          <p:cNvPr id="17" name="anim-demand-concentration">
            <a:extLst>
              <a:ext uri="{FF2B5EF4-FFF2-40B4-BE49-F238E27FC236}">
                <ns2:creationId id="{912E63F6-89DF-4DE7-B2CE-F9452478341C}"/>
              </a:ext>
            </a:extLst>
          </p:cNvPr>
          <p:cNvSpPr>
            <a:spLocks noGrp="1"/>
          </p:cNvSpPr>
          <p:nvPr/>
        </p:nvSpPr>
        <p:spPr>
          <a:xfrm>
            <a:off x="3943350" y="1676400"/>
            <a:ext cx="2781300" cy="3524250"/>
          </a:xfrm>
          <a:prstGeom prst="roundRect">
            <a:avLst>
              <a:gd name="adj" fmla="val 5479"/>
            </a:avLst>
          </a:prstGeom>
          <a:solidFill>
            <a:srgbClr val="10332C"/>
          </a:solidFill>
          <a:ln w="9525">
            <a:solidFill>
              <a:srgbClr val="285148"/>
            </a:solidFill>
            <a:prstDash val="solid"/>
          </a:ln>
        </p:spPr>
        <p:style>
          <a:lnRef idx="0"/>
          <a:fillRef idx="0"/>
          <a:effectRef idx="11"/>
          <a:fontRef idx="major"/>
        </p:style>
      </p:sp>
      <p:sp>
        <p:nvSpPr>
          <p:cNvPr id="18" name="">
            <a:extLst>
              <a:ext uri="{FF2B5EF4-FFF2-40B4-BE49-F238E27FC236}">
                <ns2:creationId id="{D007BFC9-727A-42AC-BAC6-33E40AB6EA8A}"/>
              </a:ext>
            </a:extLst>
          </p:cNvPr>
          <p:cNvSpPr>
            <a:spLocks noGrp="1"/>
          </p:cNvSpPr>
          <p:nvPr/>
        </p:nvSpPr>
        <p:spPr>
          <a:xfrm>
            <a:off x="4191000" y="1924050"/>
            <a:ext cx="2247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75" b="1">
                <a:solidFill>
                  <a:srgbClr val="E6B65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6B654"/>
                </a:solidFill>
                <a:latin typeface="Aptos"/>
                <a:ea typeface="Aptos"/>
                <a:cs typeface="Aptos"/>
              </a:rPr>
              <a:t>WHERE DEMAND SITS</a:t>
            </a:r>
          </a:p>
        </p:txBody>
      </p:sp>
      <p:sp>
        <p:nvSpPr>
          <p:cNvPr id="19" name="">
            <a:extLst>
              <a:ext uri="{FF2B5EF4-FFF2-40B4-BE49-F238E27FC236}">
                <ns2:creationId id="{3C2D1894-CEF6-42D8-AC60-1FB33B3396FB}"/>
              </a:ext>
            </a:extLst>
          </p:cNvPr>
          <p:cNvSpPr>
            <a:spLocks noGrp="1"/>
          </p:cNvSpPr>
          <p:nvPr/>
        </p:nvSpPr>
        <p:spPr>
          <a:xfrm>
            <a:off x="4191000" y="2286000"/>
            <a:ext cx="12192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850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74%</a:t>
            </a:r>
          </a:p>
        </p:txBody>
      </p:sp>
      <p:sp>
        <p:nvSpPr>
          <p:cNvPr id="20" name="">
            <a:extLst>
              <a:ext uri="{FF2B5EF4-FFF2-40B4-BE49-F238E27FC236}">
                <ns2:creationId id="{0823FDE4-FBAC-4636-8F7C-99ABE09DCB56}"/>
              </a:ext>
            </a:extLst>
          </p:cNvPr>
          <p:cNvSpPr>
            <a:spLocks noGrp="1"/>
          </p:cNvSpPr>
          <p:nvPr/>
        </p:nvSpPr>
        <p:spPr>
          <a:xfrm>
            <a:off x="4191000" y="2819400"/>
            <a:ext cx="21526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00" b="1">
                <a:solidFill>
                  <a:srgbClr val="A8C0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8C0B8"/>
                </a:solidFill>
                <a:latin typeface="Aptos"/>
                <a:ea typeface="Aptos"/>
                <a:cs typeface="Aptos"/>
              </a:rPr>
              <a:t>of vertical demand sits in</a:t>
            </a:r>
          </a:p>
          <a:p>
            <a:pPr algn="l">
              <a:defRPr sz="1200" b="1">
                <a:solidFill>
                  <a:srgbClr val="A8C0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8C0B8"/>
                </a:solidFill>
                <a:latin typeface="Aptos"/>
                <a:ea typeface="Aptos"/>
                <a:cs typeface="Aptos"/>
              </a:rPr>
              <a:t>Consumer Banking - Cards</a:t>
            </a:r>
          </a:p>
        </p:txBody>
      </p:sp>
      <p:sp>
        <p:nvSpPr>
          <p:cNvPr id="21" name="">
            <a:extLst>
              <a:ext uri="{FF2B5EF4-FFF2-40B4-BE49-F238E27FC236}">
                <ns2:creationId id="{8B517439-2753-4D42-8B65-EB52D530FBE4}"/>
              </a:ext>
            </a:extLst>
          </p:cNvPr>
          <p:cNvSpPr>
            <a:spLocks noGrp="1"/>
          </p:cNvSpPr>
          <p:nvPr/>
        </p:nvSpPr>
        <p:spPr>
          <a:xfrm>
            <a:off x="4191000" y="3581400"/>
            <a:ext cx="15811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Consumer Banking - Cards</a:t>
            </a:r>
          </a:p>
        </p:txBody>
      </p:sp>
      <p:sp>
        <p:nvSpPr>
          <p:cNvPr id="22" name="">
            <a:extLst>
              <a:ext uri="{FF2B5EF4-FFF2-40B4-BE49-F238E27FC236}">
                <ns2:creationId id="{2CE16385-D842-4387-97BD-5732BB38F584}"/>
              </a:ext>
            </a:extLst>
          </p:cNvPr>
          <p:cNvSpPr>
            <a:spLocks noGrp="1"/>
          </p:cNvSpPr>
          <p:nvPr/>
        </p:nvSpPr>
        <p:spPr>
          <a:xfrm>
            <a:off x="5905500" y="358140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975" b="1">
                <a:solidFill>
                  <a:srgbClr val="00A7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77B"/>
                </a:solidFill>
                <a:latin typeface="Aptos"/>
                <a:ea typeface="Aptos"/>
                <a:cs typeface="Aptos"/>
              </a:rPr>
              <a:t>93</a:t>
            </a:r>
          </a:p>
        </p:txBody>
      </p:sp>
      <p:sp>
        <p:nvSpPr>
          <p:cNvPr id="23" name="">
            <a:extLst>
              <a:ext uri="{FF2B5EF4-FFF2-40B4-BE49-F238E27FC236}">
                <ns2:creationId id="{19431A96-D1A8-433F-B34B-928274217B57}"/>
              </a:ext>
            </a:extLst>
          </p:cNvPr>
          <p:cNvSpPr>
            <a:spLocks noGrp="1"/>
          </p:cNvSpPr>
          <p:nvPr/>
        </p:nvSpPr>
        <p:spPr>
          <a:xfrm>
            <a:off x="4191000" y="3810000"/>
            <a:ext cx="2171700" cy="95250"/>
          </a:xfrm>
          <a:prstGeom prst="roundRect">
            <a:avLst>
              <a:gd name="adj" fmla="val 50000"/>
            </a:avLst>
          </a:prstGeom>
          <a:solidFill>
            <a:srgbClr val="1A4A40"/>
          </a:solidFill>
          <a:ln w="0">
            <a:noFill/>
          </a:ln>
        </p:spPr>
      </p:sp>
      <p:sp>
        <p:nvSpPr>
          <p:cNvPr id="24" name="">
            <a:extLst>
              <a:ext uri="{FF2B5EF4-FFF2-40B4-BE49-F238E27FC236}">
                <ns2:creationId id="{E8BCAE19-B68D-41AB-8977-CF71A144E1D0}"/>
              </a:ext>
            </a:extLst>
          </p:cNvPr>
          <p:cNvSpPr>
            <a:spLocks noGrp="1"/>
          </p:cNvSpPr>
          <p:nvPr/>
        </p:nvSpPr>
        <p:spPr>
          <a:xfrm>
            <a:off x="4191000" y="3810000"/>
            <a:ext cx="2171700" cy="95250"/>
          </a:xfrm>
          <a:prstGeom prst="roundRect">
            <a:avLst>
              <a:gd name="adj" fmla="val 50000"/>
            </a:avLst>
          </a:prstGeom>
          <a:solidFill>
            <a:srgbClr val="00A77B"/>
          </a:solidFill>
          <a:ln w="0">
            <a:noFill/>
          </a:ln>
        </p:spPr>
      </p:sp>
      <p:sp>
        <p:nvSpPr>
          <p:cNvPr id="25" name="">
            <a:extLst>
              <a:ext uri="{FF2B5EF4-FFF2-40B4-BE49-F238E27FC236}">
                <ns2:creationId id="{73B4E426-8609-473C-8340-71F0DEC06A9B}"/>
              </a:ext>
            </a:extLst>
          </p:cNvPr>
          <p:cNvSpPr>
            <a:spLocks noGrp="1"/>
          </p:cNvSpPr>
          <p:nvPr/>
        </p:nvSpPr>
        <p:spPr>
          <a:xfrm>
            <a:off x="4191000" y="4086225"/>
            <a:ext cx="15811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GBO - Cards</a:t>
            </a:r>
          </a:p>
        </p:txBody>
      </p:sp>
      <p:sp>
        <p:nvSpPr>
          <p:cNvPr id="26" name="">
            <a:extLst>
              <a:ext uri="{FF2B5EF4-FFF2-40B4-BE49-F238E27FC236}">
                <ns2:creationId id="{65729F84-63D6-4996-A0ED-9C4448C91872}"/>
              </a:ext>
            </a:extLst>
          </p:cNvPr>
          <p:cNvSpPr>
            <a:spLocks noGrp="1"/>
          </p:cNvSpPr>
          <p:nvPr/>
        </p:nvSpPr>
        <p:spPr>
          <a:xfrm>
            <a:off x="5905500" y="4086225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975" b="1">
                <a:solidFill>
                  <a:srgbClr val="4CB8D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CB8D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7" name="">
            <a:extLst>
              <a:ext uri="{FF2B5EF4-FFF2-40B4-BE49-F238E27FC236}">
                <ns2:creationId id="{9234A872-903B-4049-AFD3-85645DDD2F9D}"/>
              </a:ext>
            </a:extLst>
          </p:cNvPr>
          <p:cNvSpPr>
            <a:spLocks noGrp="1"/>
          </p:cNvSpPr>
          <p:nvPr/>
        </p:nvSpPr>
        <p:spPr>
          <a:xfrm>
            <a:off x="4191000" y="4314825"/>
            <a:ext cx="2171700" cy="95250"/>
          </a:xfrm>
          <a:prstGeom prst="roundRect">
            <a:avLst>
              <a:gd name="adj" fmla="val 50000"/>
            </a:avLst>
          </a:prstGeom>
          <a:solidFill>
            <a:srgbClr val="1A4A40"/>
          </a:solidFill>
          <a:ln w="0">
            <a:noFill/>
          </a:ln>
        </p:spPr>
      </p:sp>
      <p:sp>
        <p:nvSpPr>
          <p:cNvPr id="28" name="">
            <a:extLst>
              <a:ext uri="{FF2B5EF4-FFF2-40B4-BE49-F238E27FC236}">
                <ns2:creationId id="{15C1E4F9-C72F-4418-B9EB-BA595696E028}"/>
              </a:ext>
            </a:extLst>
          </p:cNvPr>
          <p:cNvSpPr>
            <a:spLocks noGrp="1"/>
          </p:cNvSpPr>
          <p:nvPr/>
        </p:nvSpPr>
        <p:spPr>
          <a:xfrm>
            <a:off x="4191000" y="4314825"/>
            <a:ext cx="280219" cy="95250"/>
          </a:xfrm>
          <a:prstGeom prst="roundRect">
            <a:avLst>
              <a:gd name="adj" fmla="val 50000"/>
            </a:avLst>
          </a:prstGeom>
          <a:solidFill>
            <a:srgbClr val="4CB8D7"/>
          </a:solidFill>
          <a:ln w="0">
            <a:noFill/>
          </a:ln>
        </p:spPr>
      </p:sp>
      <p:sp>
        <p:nvSpPr>
          <p:cNvPr id="29" name="">
            <a:extLst>
              <a:ext uri="{FF2B5EF4-FFF2-40B4-BE49-F238E27FC236}">
                <ns2:creationId id="{23985C63-4E4A-4C04-B537-4E4C72BB89F5}"/>
              </a:ext>
            </a:extLst>
          </p:cNvPr>
          <p:cNvSpPr>
            <a:spLocks noGrp="1"/>
          </p:cNvSpPr>
          <p:nvPr/>
        </p:nvSpPr>
        <p:spPr>
          <a:xfrm>
            <a:off x="4191000" y="4591050"/>
            <a:ext cx="15811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Other departments</a:t>
            </a:r>
          </a:p>
        </p:txBody>
      </p:sp>
      <p:sp>
        <p:nvSpPr>
          <p:cNvPr id="30" name="">
            <a:extLst>
              <a:ext uri="{FF2B5EF4-FFF2-40B4-BE49-F238E27FC236}">
                <ns2:creationId id="{EA7BC6E3-B353-492B-971D-B90F56FA80DD}"/>
              </a:ext>
            </a:extLst>
          </p:cNvPr>
          <p:cNvSpPr>
            <a:spLocks noGrp="1"/>
          </p:cNvSpPr>
          <p:nvPr/>
        </p:nvSpPr>
        <p:spPr>
          <a:xfrm>
            <a:off x="5905500" y="45910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975" b="1">
                <a:solidFill>
                  <a:srgbClr val="E6B65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6B654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1" name="">
            <a:extLst>
              <a:ext uri="{FF2B5EF4-FFF2-40B4-BE49-F238E27FC236}">
                <ns2:creationId id="{7C89FA55-64AA-4A5E-BA85-7B37FB0B2C78}"/>
              </a:ext>
            </a:extLst>
          </p:cNvPr>
          <p:cNvSpPr>
            <a:spLocks noGrp="1"/>
          </p:cNvSpPr>
          <p:nvPr/>
        </p:nvSpPr>
        <p:spPr>
          <a:xfrm>
            <a:off x="4191000" y="4819650"/>
            <a:ext cx="2171700" cy="95250"/>
          </a:xfrm>
          <a:prstGeom prst="roundRect">
            <a:avLst>
              <a:gd name="adj" fmla="val 50000"/>
            </a:avLst>
          </a:prstGeom>
          <a:solidFill>
            <a:srgbClr val="1A4A40"/>
          </a:solidFill>
          <a:ln w="0">
            <a:noFill/>
          </a:ln>
        </p:spPr>
      </p:sp>
      <p:sp>
        <p:nvSpPr>
          <p:cNvPr id="32" name="">
            <a:extLst>
              <a:ext uri="{FF2B5EF4-FFF2-40B4-BE49-F238E27FC236}">
                <ns2:creationId id="{45E79204-FBDA-4BBB-A25D-1DB2A82FC543}"/>
              </a:ext>
            </a:extLst>
          </p:cNvPr>
          <p:cNvSpPr>
            <a:spLocks noGrp="1"/>
          </p:cNvSpPr>
          <p:nvPr/>
        </p:nvSpPr>
        <p:spPr>
          <a:xfrm>
            <a:off x="4191000" y="4819650"/>
            <a:ext cx="490384" cy="95250"/>
          </a:xfrm>
          <a:prstGeom prst="roundRect">
            <a:avLst>
              <a:gd name="adj" fmla="val 50000"/>
            </a:avLst>
          </a:prstGeom>
          <a:solidFill>
            <a:srgbClr val="E6B654"/>
          </a:solidFill>
          <a:ln w="0">
            <a:noFill/>
          </a:ln>
        </p:spPr>
      </p:sp>
      <p:sp>
        <p:nvSpPr>
          <p:cNvPr id="33" name="capacity-surface">
            <a:extLst>
              <a:ext uri="{FF2B5EF4-FFF2-40B4-BE49-F238E27FC236}">
                <ns2:creationId id="{FF277D67-EC97-4FC3-8FA3-D24417B37649}"/>
              </a:ext>
            </a:extLst>
          </p:cNvPr>
          <p:cNvSpPr>
            <a:spLocks noGrp="1"/>
          </p:cNvSpPr>
          <p:nvPr/>
        </p:nvSpPr>
        <p:spPr>
          <a:xfrm>
            <a:off x="6934200" y="1676400"/>
            <a:ext cx="4705350" cy="3524250"/>
          </a:xfrm>
          <a:prstGeom prst="roundRect">
            <a:avLst>
              <a:gd name="adj" fmla="val 4324"/>
            </a:avLst>
          </a:prstGeom>
          <a:solidFill>
            <a:srgbClr val="F5F3EE"/>
          </a:solidFill>
          <a:ln w="9525">
            <a:solidFill>
              <a:srgbClr val="D8DED9"/>
            </a:solidFill>
            <a:prstDash val="solid"/>
          </a:ln>
        </p:spPr>
        <p:style>
          <a:lnRef idx="0"/>
          <a:fillRef idx="0"/>
          <a:effectRef idx="11"/>
          <a:fontRef idx="major"/>
        </p:style>
      </p:sp>
      <p:sp>
        <p:nvSpPr>
          <p:cNvPr id="34" name="">
            <a:extLst>
              <a:ext uri="{FF2B5EF4-FFF2-40B4-BE49-F238E27FC236}">
                <ns2:creationId id="{8E320E2E-E8A7-414B-8E15-B0D0F19175D7}"/>
              </a:ext>
            </a:extLst>
          </p:cNvPr>
          <p:cNvSpPr>
            <a:spLocks noGrp="1"/>
          </p:cNvSpPr>
          <p:nvPr/>
        </p:nvSpPr>
        <p:spPr>
          <a:xfrm>
            <a:off x="7162800" y="1857375"/>
            <a:ext cx="1771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75" b="1">
                <a:solidFill>
                  <a:srgbClr val="4064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0645C"/>
                </a:solidFill>
                <a:latin typeface="Aptos"/>
                <a:ea typeface="Aptos"/>
                <a:cs typeface="Aptos"/>
              </a:rPr>
              <a:t>CAPACITY LOAD</a:t>
            </a:r>
          </a:p>
        </p:txBody>
      </p:sp>
      <p:sp>
        <p:nvSpPr>
          <p:cNvPr id="35" name="">
            <a:extLst>
              <a:ext uri="{FF2B5EF4-FFF2-40B4-BE49-F238E27FC236}">
                <ns2:creationId id="{5665D93B-1FBC-499F-AD88-5D785394FB52}"/>
              </a:ext>
            </a:extLst>
          </p:cNvPr>
          <p:cNvSpPr>
            <a:spLocks noGrp="1"/>
          </p:cNvSpPr>
          <p:nvPr/>
        </p:nvSpPr>
        <p:spPr>
          <a:xfrm>
            <a:off x="9963150" y="1847850"/>
            <a:ext cx="1409700" cy="266700"/>
          </a:xfrm>
          <a:prstGeom prst="roundRect">
            <a:avLst>
              <a:gd name="adj" fmla="val 50000"/>
            </a:avLst>
          </a:prstGeom>
          <a:solidFill>
            <a:srgbClr val="A7434A"/>
          </a:solidFill>
          <a:ln w="0">
            <a:noFill/>
          </a:ln>
        </p:spPr>
        <p:txBody>
          <a:bodyPr lIns="57150" tIns="19050" rIns="57150" bIns="19050" anchor="ctr">
            <a:normAutofit fontScale="100000"/>
          </a:bodyPr>
          <a:lstStyle/>
          <a:p>
            <a:pPr algn="ctr">
              <a:defRPr sz="900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8 OVERLOADED</a:t>
            </a:r>
          </a:p>
        </p:txBody>
      </p:sp>
      <p:graphicFrame>
        <p:nvGraphicFramePr>
          <p:cNvPr id="79" name="Chart"/>
          <p:cNvGraphicFramePr/>
          <p:nvPr/>
        </p:nvGraphicFramePr>
        <p:xfrm>
          <a:off x="7105650" y="2171700"/>
          <a:ext cx="4267200" cy="2609850"/>
        </p:xfrm>
        <a:graphic>
          <a:graphicData uri="http://schemas.openxmlformats.org/drawingml/2006/chart">
            <ns3:chart r:id="R2d567d3b1f10419b"/>
          </a:graphicData>
        </a:graphic>
      </p:graphicFrame>
      <p:sp>
        <p:nvSpPr>
          <p:cNvPr id="37" name="">
            <a:extLst>
              <a:ext uri="{FF2B5EF4-FFF2-40B4-BE49-F238E27FC236}">
                <ns2:creationId id="{7D0E7E2A-3D21-40FB-9E86-FAB2056465A5}"/>
              </a:ext>
            </a:extLst>
          </p:cNvPr>
          <p:cNvSpPr>
            <a:spLocks noGrp="1"/>
          </p:cNvSpPr>
          <p:nvPr/>
        </p:nvSpPr>
        <p:spPr>
          <a:xfrm>
            <a:off x="7162800" y="4838700"/>
            <a:ext cx="27241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40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0645C"/>
                </a:solidFill>
                <a:latin typeface="Aptos"/>
                <a:ea typeface="Aptos"/>
                <a:cs typeface="Aptos"/>
              </a:rPr>
              <a:t>82 assignments across 65 active demands</a:t>
            </a:r>
          </a:p>
        </p:txBody>
      </p:sp>
      <p:sp>
        <p:nvSpPr>
          <p:cNvPr id="38" name="">
            <a:extLst>
              <a:ext uri="{FF2B5EF4-FFF2-40B4-BE49-F238E27FC236}">
                <ns2:creationId id="{D6E75978-8E12-4587-BC65-0A7A538D4ACA}"/>
              </a:ext>
            </a:extLst>
          </p:cNvPr>
          <p:cNvSpPr>
            <a:spLocks noGrp="1"/>
          </p:cNvSpPr>
          <p:nvPr/>
        </p:nvSpPr>
        <p:spPr>
          <a:xfrm>
            <a:off x="10077450" y="4838700"/>
            <a:ext cx="1295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900" b="1">
                <a:solidFill>
                  <a:srgbClr val="A74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434A"/>
                </a:solidFill>
                <a:latin typeface="Aptos"/>
                <a:ea typeface="Aptos"/>
                <a:cs typeface="Aptos"/>
              </a:rPr>
              <a:t>Peak: 760%</a:t>
            </a:r>
          </a:p>
        </p:txBody>
      </p:sp>
      <p:sp>
        <p:nvSpPr>
          <p:cNvPr id="39" name="anim-insight-band">
            <a:extLst>
              <a:ext uri="{FF2B5EF4-FFF2-40B4-BE49-F238E27FC236}">
                <ns2:creationId id="{9920EDC8-8203-4AAD-BA28-E186167F2873}"/>
              </a:ext>
            </a:extLst>
          </p:cNvPr>
          <p:cNvSpPr>
            <a:spLocks noGrp="1"/>
          </p:cNvSpPr>
          <p:nvPr/>
        </p:nvSpPr>
        <p:spPr>
          <a:xfrm>
            <a:off x="552450" y="5429250"/>
            <a:ext cx="11087100" cy="933450"/>
          </a:xfrm>
          <a:prstGeom prst="roundRect">
            <a:avLst>
              <a:gd name="adj" fmla="val 16327"/>
            </a:avLst>
          </a:prstGeom>
          <a:gradFill>
            <a:gsLst>
              <a:gs pos="0">
                <a:srgbClr val="0D8A69"/>
              </a:gs>
              <a:gs pos="100000">
                <a:srgbClr val="235C52"/>
              </a:gs>
            </a:gsLst>
            <a:lin ang="0"/>
          </a:gradFill>
          <a:ln w="0">
            <a:noFill/>
          </a:ln>
        </p:spPr>
      </p:sp>
      <p:sp>
        <p:nvSpPr>
          <p:cNvPr id="40" name="">
            <a:extLst>
              <a:ext uri="{FF2B5EF4-FFF2-40B4-BE49-F238E27FC236}">
                <ns2:creationId id="{8A6DEA81-1C30-4BAA-9DDB-871AE29A65D7}"/>
              </a:ext>
            </a:extLst>
          </p:cNvPr>
          <p:cNvSpPr>
            <a:spLocks noGrp="1"/>
          </p:cNvSpPr>
          <p:nvPr/>
        </p:nvSpPr>
        <p:spPr>
          <a:xfrm>
            <a:off x="800100" y="5619750"/>
            <a:ext cx="1809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D8FFF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FFF1"/>
                </a:solidFill>
                <a:latin typeface="Aptos"/>
                <a:ea typeface="Aptos"/>
                <a:cs typeface="Aptos"/>
              </a:rPr>
              <a:t>PORTFOLIO SNAPSHOT</a:t>
            </a:r>
          </a:p>
        </p:txBody>
      </p:sp>
      <p:sp>
        <p:nvSpPr>
          <p:cNvPr id="41" name="">
            <a:extLst>
              <a:ext uri="{FF2B5EF4-FFF2-40B4-BE49-F238E27FC236}">
                <ns2:creationId id="{2D2F59FB-1D46-4C6C-AA11-F50778670DFA}"/>
              </a:ext>
            </a:extLst>
          </p:cNvPr>
          <p:cNvSpPr>
            <a:spLocks noGrp="1"/>
          </p:cNvSpPr>
          <p:nvPr/>
        </p:nvSpPr>
        <p:spPr>
          <a:xfrm>
            <a:off x="800100" y="5876925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4226"/>
          </a:bodyPr>
          <a:lstStyle/>
          <a:p>
            <a:pPr algn="l">
              <a:defRPr sz="1575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Consumer Banking - Cards holds 74% of vertical demand. Eight specialists are above 100% capacity.</a:t>
            </a:r>
          </a:p>
        </p:txBody>
      </p:sp>
      <p:sp>
        <p:nvSpPr>
          <p:cNvPr id="42" name="">
            <a:extLst>
              <a:ext uri="{FF2B5EF4-FFF2-40B4-BE49-F238E27FC236}">
                <ns2:creationId id="{9605B52D-EBDE-4DEB-8B56-19566CC0F357}"/>
              </a:ext>
            </a:extLst>
          </p:cNvPr>
          <p:cNvSpPr>
            <a:spLocks noGrp="1"/>
          </p:cNvSpPr>
          <p:nvPr/>
        </p:nvSpPr>
        <p:spPr>
          <a:xfrm>
            <a:off x="9372600" y="5781675"/>
            <a:ext cx="2019300" cy="266700"/>
          </a:xfrm>
          <a:prstGeom prst="roundRect">
            <a:avLst>
              <a:gd name="adj" fmla="val 50000"/>
            </a:avLst>
          </a:prstGeom>
          <a:solidFill>
            <a:srgbClr val="073F34"/>
          </a:solidFill>
          <a:ln w="0">
            <a:noFill/>
          </a:ln>
        </p:spPr>
        <p:txBody>
          <a:bodyPr lIns="57150" tIns="19050" rIns="57150" bIns="19050" anchor="ctr">
            <a:normAutofit fontScale="100000"/>
          </a:bodyPr>
          <a:lstStyle/>
          <a:p>
            <a:pPr algn="ctr">
              <a:defRPr sz="900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PEAK CAPACITY: 760%</a:t>
            </a:r>
          </a:p>
        </p:txBody>
      </p:sp>
      <p:sp>
        <p:nvSpPr>
          <p:cNvPr id="43" name="">
            <a:extLst>
              <a:ext uri="{FF2B5EF4-FFF2-40B4-BE49-F238E27FC236}">
                <ns2:creationId id="{56C74024-463C-4C11-9314-87FB99A25279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11096625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0">
                <a:solidFill>
                  <a:srgbClr val="7591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59188"/>
                </a:solidFill>
                <a:latin typeface="Aptos"/>
                <a:ea typeface="Aptos"/>
                <a:cs typeface="Aptos"/>
              </a:rPr>
              <a:t>Source: user-provided Cards portfolio view. Capacity percentages and demand counts transcribed from the supplied image.</a:t>
            </a:r>
          </a:p>
        </p:txBody>
      </p:sp>
    </p:spTree>
    <p:extLst>
      <p:ext uri="{BB962C8B-B14F-4D97-AF65-F5344CB8AC3E}">
        <ns5:creationId val="1131672839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6" dur="4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7" dur="4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8" dur="4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9" dur="4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0" dur="45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1" dur="45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2" dur="45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3" dur="45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4" dur="45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5" dur="45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6" dur="45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9" dur="45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20" dur="45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21" dur="45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22" dur="45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23" dur="45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24" dur="45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25" dur="45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26" dur="45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27" dur="45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28" dur="45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29" dur="45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30" dur="450" fill="hold"/>
                                  <p:tgtEl>
                                    <p:spTgt spid="28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31" dur="450" fill="hold"/>
                                  <p:tgtEl>
                                    <p:spTgt spid="29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32" dur="450" fill="hold"/>
                                  <p:tgtEl>
                                    <p:spTgt spid="30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33" dur="45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34" dur="45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7" dur="45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38" dur="45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39" dur="45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40" dur="450" fill="hold"/>
                                  <p:tgtEl>
                                    <p:spTgt spid="79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41" dur="450" fill="hold"/>
                                  <p:tgtEl>
                                    <p:spTgt spid="37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42" dur="45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5" dur="450" fill="hold"/>
                                  <p:tgtEl>
                                    <p:spTgt spid="39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46" dur="450" fill="hold"/>
                                  <p:tgtEl>
                                    <p:spTgt spid="40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47" dur="450" fill="hold"/>
                                  <p:tgtEl>
                                    <p:spTgt spid="41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48" dur="450" fill="hold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8" name="">
            <a:extLst>
              <a:ext uri="{FF2B5EF4-FFF2-40B4-BE49-F238E27FC236}">
                <ns2:creationId id="{7E75D36F-EB8A-431B-8ADF-FAA6E7BF2E4D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75" b="1">
                <a:solidFill>
                  <a:srgbClr val="8A65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6526"/>
                </a:solidFill>
                <a:latin typeface="Aptos"/>
                <a:ea typeface="Aptos"/>
                <a:cs typeface="Aptos"/>
              </a:rPr>
              <a:t>CARDS PORTFOLIO | LIFECYCLE VIEW</a:t>
            </a:r>
          </a:p>
        </p:txBody>
      </p:sp>
      <p:sp>
        <p:nvSpPr>
          <p:cNvPr id="2" name="">
            <a:extLst>
              <a:ext uri="{FF2B5EF4-FFF2-40B4-BE49-F238E27FC236}">
                <ns2:creationId id="{25C452D9-8A21-49CC-8E06-AC0D40D6FCFD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775" b="1">
                <a:solidFill>
                  <a:srgbClr val="0B2D26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B2D26"/>
                </a:solidFill>
                <a:latin typeface="Aptos"/>
                <a:ea typeface="Aptos"/>
                <a:cs typeface="Aptos"/>
              </a:rPr>
              <a:t>Portfolio lifecycle and recent delivery</a:t>
            </a:r>
          </a:p>
        </p:txBody>
      </p:sp>
      <p:sp>
        <p:nvSpPr>
          <p:cNvPr id="3" name="">
            <a:extLst>
              <a:ext uri="{FF2B5EF4-FFF2-40B4-BE49-F238E27FC236}">
                <ns2:creationId id="{7154615A-83DA-4FFA-BCB5-F90AB0829AA9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00" b="0">
                <a:solidFill>
                  <a:srgbClr val="5F75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56F"/>
                </a:solidFill>
                <a:latin typeface="Aptos"/>
                <a:ea typeface="Aptos"/>
                <a:cs typeface="Aptos"/>
              </a:rPr>
              <a:t>18 backlog, 9 intake, 38 in Delivery Commitment, 28 delivered, and 23 paused or exited.</a:t>
            </a:r>
          </a:p>
        </p:txBody>
      </p:sp>
      <p:sp>
        <p:nvSpPr>
          <p:cNvPr id="4" name="">
            <a:extLst>
              <a:ext uri="{FF2B5EF4-FFF2-40B4-BE49-F238E27FC236}">
                <ns2:creationId id="{AEF13175-4F19-47DA-B4EE-156D6A8C9D1E}"/>
              </a:ext>
            </a:extLst>
          </p:cNvPr>
          <p:cNvSpPr>
            <a:spLocks noGrp="1"/>
          </p:cNvSpPr>
          <p:nvPr/>
        </p:nvSpPr>
        <p:spPr>
          <a:xfrm>
            <a:off x="11258550" y="4000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975" b="1">
                <a:solidFill>
                  <a:srgbClr val="7790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7908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anim-decision-ribbon">
            <a:extLst>
              <a:ext uri="{FF2B5EF4-FFF2-40B4-BE49-F238E27FC236}">
                <ns2:creationId id="{A440438B-6029-42C4-9A4D-7CC1A803CE29}"/>
              </a:ext>
            </a:extLst>
          </p:cNvPr>
          <p:cNvSpPr>
            <a:spLocks noGrp="1"/>
          </p:cNvSpPr>
          <p:nvPr/>
        </p:nvSpPr>
        <p:spPr>
          <a:xfrm>
            <a:off x="552450" y="1609725"/>
            <a:ext cx="11087100" cy="590550"/>
          </a:xfrm>
          <a:prstGeom prst="roundRect">
            <a:avLst>
              <a:gd name="adj" fmla="val 25806"/>
            </a:avLst>
          </a:prstGeom>
          <a:gradFill>
            <a:gsLst>
              <a:gs pos="0">
                <a:srgbClr val="0C4F41"/>
              </a:gs>
              <a:gs pos="100000">
                <a:srgbClr val="0A2E29"/>
              </a:gs>
            </a:gsLst>
            <a:lin ang="0"/>
          </a:gra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AFC2CA8B-366B-409A-AA0D-3CF25FF081D7}"/>
              </a:ext>
            </a:extLst>
          </p:cNvPr>
          <p:cNvSpPr>
            <a:spLocks noGrp="1"/>
          </p:cNvSpPr>
          <p:nvPr/>
        </p:nvSpPr>
        <p:spPr>
          <a:xfrm>
            <a:off x="781050" y="1781175"/>
            <a:ext cx="16764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defRPr sz="900" b="1">
                <a:solidFill>
                  <a:srgbClr val="E6B6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6B654"/>
                </a:solidFill>
                <a:latin typeface="Aptos"/>
                <a:ea typeface="Aptos"/>
                <a:cs typeface="Aptos"/>
              </a:rPr>
              <a:t>CURRENT POSITION</a:t>
            </a:r>
          </a:p>
        </p:txBody>
      </p:sp>
      <p:sp>
        <p:nvSpPr>
          <p:cNvPr id="7" name="">
            <a:extLst>
              <a:ext uri="{FF2B5EF4-FFF2-40B4-BE49-F238E27FC236}">
                <ns2:creationId id="{3DAEC25A-3389-476A-A504-D630B4AC3868}"/>
              </a:ext>
            </a:extLst>
          </p:cNvPr>
          <p:cNvSpPr>
            <a:spLocks noGrp="1"/>
          </p:cNvSpPr>
          <p:nvPr/>
        </p:nvSpPr>
        <p:spPr>
          <a:xfrm>
            <a:off x="2514600" y="1743075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defRPr sz="1575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38 in Delivery Commitment and 28 shown as delivered</a:t>
            </a:r>
          </a:p>
        </p:txBody>
      </p:sp>
      <p:sp>
        <p:nvSpPr>
          <p:cNvPr id="8" name="">
            <a:extLst>
              <a:ext uri="{FF2B5EF4-FFF2-40B4-BE49-F238E27FC236}">
                <ns2:creationId id="{28B2A9D4-3189-4F83-81F1-2477B7BCE315}"/>
              </a:ext>
            </a:extLst>
          </p:cNvPr>
          <p:cNvSpPr>
            <a:spLocks noGrp="1"/>
          </p:cNvSpPr>
          <p:nvPr/>
        </p:nvSpPr>
        <p:spPr>
          <a:xfrm>
            <a:off x="9620250" y="1771650"/>
            <a:ext cx="1771650" cy="266700"/>
          </a:xfrm>
          <a:prstGeom prst="roundRect">
            <a:avLst>
              <a:gd name="adj" fmla="val 50000"/>
            </a:avLst>
          </a:prstGeom>
          <a:solidFill>
            <a:srgbClr val="00A77B"/>
          </a:solidFill>
          <a:ln w="0">
            <a:noFill/>
          </a:ln>
        </p:spPr>
        <p:txBody>
          <a:bodyPr lIns="57150" tIns="19050" rIns="57150" bIns="19050" anchor="ctr">
            <a:normAutofit fontScale="100000"/>
          </a:bodyPr>
          <a:lstStyle/>
          <a:p>
            <a:pPr algn="ctr">
              <a:defRPr sz="900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18 DELIVERED APR-SEP</a:t>
            </a:r>
          </a:p>
        </p:txBody>
      </p:sp>
      <p:sp>
        <p:nvSpPr>
          <p:cNvPr id="9" name="">
            <a:extLst>
              <a:ext uri="{FF2B5EF4-FFF2-40B4-BE49-F238E27FC236}">
                <ns2:creationId id="{9C104337-B5A8-4B13-9D4B-6C81584F074F}"/>
              </a:ext>
            </a:extLst>
          </p:cNvPr>
          <p:cNvSpPr>
            <a:spLocks noGrp="1"/>
          </p:cNvSpPr>
          <p:nvPr/>
        </p:nvSpPr>
        <p:spPr>
          <a:xfrm>
            <a:off x="552450" y="2486025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75" b="1">
                <a:solidFill>
                  <a:srgbClr val="8A65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6526"/>
                </a:solidFill>
                <a:latin typeface="Aptos"/>
                <a:ea typeface="Aptos"/>
                <a:cs typeface="Aptos"/>
              </a:rPr>
              <a:t>VISIBLE LIFECYCLE WORKLOAD</a:t>
            </a:r>
          </a:p>
        </p:txBody>
      </p:sp>
      <p:sp>
        <p:nvSpPr>
          <p:cNvPr id="10" name="">
            <a:extLst>
              <a:ext uri="{FF2B5EF4-FFF2-40B4-BE49-F238E27FC236}">
                <ns2:creationId id="{0B08BF91-7D08-4417-A9C7-4766AEE44E07}"/>
              </a:ext>
            </a:extLst>
          </p:cNvPr>
          <p:cNvSpPr>
            <a:spLocks noGrp="1"/>
          </p:cNvSpPr>
          <p:nvPr/>
        </p:nvSpPr>
        <p:spPr>
          <a:xfrm>
            <a:off x="552450" y="27432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F75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56F"/>
                </a:solidFill>
                <a:latin typeface="Aptos"/>
                <a:ea typeface="Aptos"/>
                <a:cs typeface="Aptos"/>
              </a:rPr>
              <a:t>Counts shown by lifecycle group</a:t>
            </a:r>
          </a:p>
        </p:txBody>
      </p:sp>
      <p:sp>
        <p:nvSpPr>
          <p:cNvPr id="11" name="anim-flow-gate">
            <a:extLst>
              <a:ext uri="{FF2B5EF4-FFF2-40B4-BE49-F238E27FC236}">
                <ns2:creationId id="{59BE0DEA-86F6-4061-9785-34D0D6781627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2171700" cy="1428750"/>
          </a:xfrm>
          <a:prstGeom prst="roundRect">
            <a:avLst>
              <a:gd name="adj" fmla="val 10667"/>
            </a:avLst>
          </a:prstGeom>
          <a:solidFill>
            <a:srgbClr val="F0E8F2"/>
          </a:solidFill>
          <a:ln w="14288">
            <a:solidFill>
              <a:srgbClr val="704A79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FF8C1D1B-20FB-4E1F-997F-A2744739A9EC}"/>
              </a:ext>
            </a:extLst>
          </p:cNvPr>
          <p:cNvSpPr>
            <a:spLocks noGrp="1"/>
          </p:cNvSpPr>
          <p:nvPr/>
        </p:nvSpPr>
        <p:spPr>
          <a:xfrm>
            <a:off x="723900" y="3295650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704A79"/>
          </a:solidFill>
          <a:ln w="0">
            <a:noFill/>
          </a:ln>
        </p:spPr>
      </p:sp>
      <p:sp>
        <p:nvSpPr>
          <p:cNvPr id="13" name="">
            <a:extLst>
              <a:ext uri="{FF2B5EF4-FFF2-40B4-BE49-F238E27FC236}">
                <ns2:creationId id="{58EB7E1E-2985-48BB-89E7-C24DADC72568}"/>
              </a:ext>
            </a:extLst>
          </p:cNvPr>
          <p:cNvSpPr>
            <a:spLocks noGrp="1"/>
          </p:cNvSpPr>
          <p:nvPr/>
        </p:nvSpPr>
        <p:spPr>
          <a:xfrm>
            <a:off x="723900" y="3295650"/>
            <a:ext cx="6286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defRPr sz="2025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14" name="">
            <a:extLst>
              <a:ext uri="{FF2B5EF4-FFF2-40B4-BE49-F238E27FC236}">
                <ns2:creationId id="{5CD9389A-1556-4D13-B33F-77FDA267E850}"/>
              </a:ext>
            </a:extLst>
          </p:cNvPr>
          <p:cNvSpPr>
            <a:spLocks noGrp="1"/>
          </p:cNvSpPr>
          <p:nvPr/>
        </p:nvSpPr>
        <p:spPr>
          <a:xfrm>
            <a:off x="1428750" y="3295650"/>
            <a:ext cx="1181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defRPr sz="1200" b="1">
                <a:solidFill>
                  <a:srgbClr val="173E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E37"/>
                </a:solidFill>
                <a:latin typeface="Aptos"/>
                <a:ea typeface="Aptos"/>
                <a:cs typeface="Aptos"/>
              </a:rPr>
              <a:t>Backlog + intake</a:t>
            </a:r>
          </a:p>
        </p:txBody>
      </p:sp>
      <p:sp>
        <p:nvSpPr>
          <p:cNvPr id="15" name="">
            <a:extLst>
              <a:ext uri="{FF2B5EF4-FFF2-40B4-BE49-F238E27FC236}">
                <ns2:creationId id="{AA7F19D9-9D51-4718-A7EC-10898991887C}"/>
              </a:ext>
            </a:extLst>
          </p:cNvPr>
          <p:cNvSpPr>
            <a:spLocks noGrp="1"/>
          </p:cNvSpPr>
          <p:nvPr/>
        </p:nvSpPr>
        <p:spPr>
          <a:xfrm>
            <a:off x="723900" y="4076700"/>
            <a:ext cx="18288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75" b="1">
                <a:solidFill>
                  <a:srgbClr val="50686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06862"/>
                </a:solidFill>
                <a:latin typeface="Aptos"/>
                <a:ea typeface="Aptos"/>
                <a:cs typeface="Aptos"/>
              </a:rPr>
              <a:t>18 backlog + 9 intake</a:t>
            </a:r>
          </a:p>
        </p:txBody>
      </p:sp>
      <p:sp>
        <p:nvSpPr>
          <p:cNvPr id="16" name="anim-flow-commit">
            <a:extLst>
              <a:ext uri="{FF2B5EF4-FFF2-40B4-BE49-F238E27FC236}">
                <ns2:creationId id="{4F65FBDF-3119-44BA-9EA0-34FA9BC4AF4C}"/>
              </a:ext>
            </a:extLst>
          </p:cNvPr>
          <p:cNvSpPr>
            <a:spLocks noGrp="1"/>
          </p:cNvSpPr>
          <p:nvPr/>
        </p:nvSpPr>
        <p:spPr>
          <a:xfrm>
            <a:off x="2933700" y="3105150"/>
            <a:ext cx="2171700" cy="1428750"/>
          </a:xfrm>
          <a:prstGeom prst="roundRect">
            <a:avLst>
              <a:gd name="adj" fmla="val 10667"/>
            </a:avLst>
          </a:prstGeom>
          <a:solidFill>
            <a:srgbClr val="E5F3F6"/>
          </a:solidFill>
          <a:ln w="14288">
            <a:solidFill>
              <a:srgbClr val="2B89A3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02E3A682-3E1F-464D-BA99-050FF2DAFABF}"/>
              </a:ext>
            </a:extLst>
          </p:cNvPr>
          <p:cNvSpPr>
            <a:spLocks noGrp="1"/>
          </p:cNvSpPr>
          <p:nvPr/>
        </p:nvSpPr>
        <p:spPr>
          <a:xfrm>
            <a:off x="3105150" y="3295650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2B89A3"/>
          </a:solidFill>
          <a:ln w="0">
            <a:noFill/>
          </a:ln>
        </p:spPr>
      </p:sp>
      <p:sp>
        <p:nvSpPr>
          <p:cNvPr id="18" name="">
            <a:extLst>
              <a:ext uri="{FF2B5EF4-FFF2-40B4-BE49-F238E27FC236}">
                <ns2:creationId id="{5A58E0E2-2ACE-458C-A545-9AE262FE1F1B}"/>
              </a:ext>
            </a:extLst>
          </p:cNvPr>
          <p:cNvSpPr>
            <a:spLocks noGrp="1"/>
          </p:cNvSpPr>
          <p:nvPr/>
        </p:nvSpPr>
        <p:spPr>
          <a:xfrm>
            <a:off x="3105150" y="3295650"/>
            <a:ext cx="6286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defRPr sz="2025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  <p:sp>
        <p:nvSpPr>
          <p:cNvPr id="19" name="">
            <a:extLst>
              <a:ext uri="{FF2B5EF4-FFF2-40B4-BE49-F238E27FC236}">
                <ns2:creationId id="{BBD8F06F-0F9F-4689-A0E7-246B9A889596}"/>
              </a:ext>
            </a:extLst>
          </p:cNvPr>
          <p:cNvSpPr>
            <a:spLocks noGrp="1"/>
          </p:cNvSpPr>
          <p:nvPr/>
        </p:nvSpPr>
        <p:spPr>
          <a:xfrm>
            <a:off x="3810000" y="3295650"/>
            <a:ext cx="1181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defRPr sz="1200" b="1">
                <a:solidFill>
                  <a:srgbClr val="173E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E37"/>
                </a:solidFill>
                <a:latin typeface="Aptos"/>
                <a:ea typeface="Aptos"/>
                <a:cs typeface="Aptos"/>
              </a:rPr>
              <a:t>Delivery</a:t>
            </a:r>
          </a:p>
          <a:p>
            <a:pPr algn="l">
              <a:defRPr sz="1200" b="1">
                <a:solidFill>
                  <a:srgbClr val="173E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E37"/>
                </a:solidFill>
                <a:latin typeface="Aptos"/>
                <a:ea typeface="Aptos"/>
                <a:cs typeface="Aptos"/>
              </a:rPr>
              <a:t>commitment</a:t>
            </a:r>
          </a:p>
        </p:txBody>
      </p:sp>
      <p:sp>
        <p:nvSpPr>
          <p:cNvPr id="20" name="">
            <a:extLst>
              <a:ext uri="{FF2B5EF4-FFF2-40B4-BE49-F238E27FC236}">
                <ns2:creationId id="{5EDA219A-A150-4005-86A8-19E4EDED3620}"/>
              </a:ext>
            </a:extLst>
          </p:cNvPr>
          <p:cNvSpPr>
            <a:spLocks noGrp="1"/>
          </p:cNvSpPr>
          <p:nvPr/>
        </p:nvSpPr>
        <p:spPr>
          <a:xfrm>
            <a:off x="3105150" y="4076700"/>
            <a:ext cx="18288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75" b="1">
                <a:solidFill>
                  <a:srgbClr val="50686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06862"/>
                </a:solidFill>
                <a:latin typeface="Aptos"/>
                <a:ea typeface="Aptos"/>
                <a:cs typeface="Aptos"/>
              </a:rPr>
              <a:t>19 Baseline 0 + 19 Baseline 1</a:t>
            </a:r>
          </a:p>
        </p:txBody>
      </p:sp>
      <p:sp>
        <p:nvSpPr>
          <p:cNvPr id="21" name="anim-flow-deliver">
            <a:extLst>
              <a:ext uri="{FF2B5EF4-FFF2-40B4-BE49-F238E27FC236}">
                <ns2:creationId id="{CC2EB8B0-8D96-4452-8AC0-D0DCD586F36C}"/>
              </a:ext>
            </a:extLst>
          </p:cNvPr>
          <p:cNvSpPr>
            <a:spLocks noGrp="1"/>
          </p:cNvSpPr>
          <p:nvPr/>
        </p:nvSpPr>
        <p:spPr>
          <a:xfrm>
            <a:off x="5314950" y="3105150"/>
            <a:ext cx="2171700" cy="1428750"/>
          </a:xfrm>
          <a:prstGeom prst="roundRect">
            <a:avLst>
              <a:gd name="adj" fmla="val 10667"/>
            </a:avLst>
          </a:prstGeom>
          <a:solidFill>
            <a:srgbClr val="E3F2EC"/>
          </a:solidFill>
          <a:ln w="14288">
            <a:solidFill>
              <a:srgbClr val="177C61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254ADAB6-84CB-41B5-A7E7-30CC17C0D2A8}"/>
              </a:ext>
            </a:extLst>
          </p:cNvPr>
          <p:cNvSpPr>
            <a:spLocks noGrp="1"/>
          </p:cNvSpPr>
          <p:nvPr/>
        </p:nvSpPr>
        <p:spPr>
          <a:xfrm>
            <a:off x="5486400" y="3295650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177C61"/>
          </a:solidFill>
          <a:ln w="0">
            <a:noFill/>
          </a:ln>
        </p:spPr>
      </p:sp>
      <p:sp>
        <p:nvSpPr>
          <p:cNvPr id="23" name="">
            <a:extLst>
              <a:ext uri="{FF2B5EF4-FFF2-40B4-BE49-F238E27FC236}">
                <ns2:creationId id="{D523E7F1-B7F2-432D-8B72-6029F3F148AD}"/>
              </a:ext>
            </a:extLst>
          </p:cNvPr>
          <p:cNvSpPr>
            <a:spLocks noGrp="1"/>
          </p:cNvSpPr>
          <p:nvPr/>
        </p:nvSpPr>
        <p:spPr>
          <a:xfrm>
            <a:off x="5486400" y="3295650"/>
            <a:ext cx="6286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defRPr sz="2025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4" name="">
            <a:extLst>
              <a:ext uri="{FF2B5EF4-FFF2-40B4-BE49-F238E27FC236}">
                <ns2:creationId id="{AFA3F900-83F7-4F83-BA28-5A9F3E84CA8E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1181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defRPr sz="1200" b="1">
                <a:solidFill>
                  <a:srgbClr val="173E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E37"/>
                </a:solidFill>
                <a:latin typeface="Aptos"/>
                <a:ea typeface="Aptos"/>
                <a:cs typeface="Aptos"/>
              </a:rPr>
              <a:t>Delivered</a:t>
            </a:r>
          </a:p>
        </p:txBody>
      </p:sp>
      <p:sp>
        <p:nvSpPr>
          <p:cNvPr id="25" name="">
            <a:extLst>
              <a:ext uri="{FF2B5EF4-FFF2-40B4-BE49-F238E27FC236}">
                <ns2:creationId id="{A9BBEA73-8101-4ED0-9D65-71F747617278}"/>
              </a:ext>
            </a:extLst>
          </p:cNvPr>
          <p:cNvSpPr>
            <a:spLocks noGrp="1"/>
          </p:cNvSpPr>
          <p:nvPr/>
        </p:nvSpPr>
        <p:spPr>
          <a:xfrm>
            <a:off x="5486400" y="4076700"/>
            <a:ext cx="18288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75" b="1">
                <a:solidFill>
                  <a:srgbClr val="50686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06862"/>
                </a:solidFill>
                <a:latin typeface="Aptos"/>
                <a:ea typeface="Aptos"/>
                <a:cs typeface="Aptos"/>
              </a:rPr>
              <a:t>Completed items shown</a:t>
            </a:r>
          </a:p>
        </p:txBody>
      </p:sp>
      <p:sp>
        <p:nvSpPr>
          <p:cNvPr id="26" name="">
            <a:extLst>
              <a:ext uri="{FF2B5EF4-FFF2-40B4-BE49-F238E27FC236}">
                <ns2:creationId id="{BAEEDF29-210D-4858-A2B8-2B8E258A5646}"/>
              </a:ext>
            </a:extLst>
          </p:cNvPr>
          <p:cNvSpPr>
            <a:spLocks noGrp="1"/>
          </p:cNvSpPr>
          <p:nvPr/>
        </p:nvSpPr>
        <p:spPr>
          <a:xfrm>
            <a:off x="2714625" y="3581400"/>
            <a:ext cx="228600" cy="457200"/>
          </a:xfrm>
          <a:prstGeom prst="chevron">
            <a:avLst/>
          </a:prstGeom>
          <a:solidFill>
            <a:srgbClr val="B4C7C0"/>
          </a:solidFill>
          <a:ln w="0">
            <a:noFill/>
          </a:ln>
        </p:spPr>
      </p:sp>
      <p:sp>
        <p:nvSpPr>
          <p:cNvPr id="27" name="">
            <a:extLst>
              <a:ext uri="{FF2B5EF4-FFF2-40B4-BE49-F238E27FC236}">
                <ns2:creationId id="{3DBAA853-DCCD-4532-8192-8AA0C20DB0E0}"/>
              </a:ext>
            </a:extLst>
          </p:cNvPr>
          <p:cNvSpPr>
            <a:spLocks noGrp="1"/>
          </p:cNvSpPr>
          <p:nvPr/>
        </p:nvSpPr>
        <p:spPr>
          <a:xfrm>
            <a:off x="5095875" y="3581400"/>
            <a:ext cx="228600" cy="457200"/>
          </a:xfrm>
          <a:prstGeom prst="chevron">
            <a:avLst/>
          </a:prstGeom>
          <a:solidFill>
            <a:srgbClr val="B4C7C0"/>
          </a:solidFill>
          <a:ln w="0">
            <a:noFill/>
          </a:ln>
        </p:spPr>
      </p:sp>
      <p:sp>
        <p:nvSpPr>
          <p:cNvPr id="28" name="anim-flow-exit">
            <a:extLst>
              <a:ext uri="{FF2B5EF4-FFF2-40B4-BE49-F238E27FC236}">
                <ns2:creationId id="{1812A551-A6B7-439C-8077-8BBF1E007527}"/>
              </a:ext>
            </a:extLst>
          </p:cNvPr>
          <p:cNvSpPr>
            <a:spLocks noGrp="1"/>
          </p:cNvSpPr>
          <p:nvPr/>
        </p:nvSpPr>
        <p:spPr>
          <a:xfrm>
            <a:off x="552450" y="4705350"/>
            <a:ext cx="6934200" cy="552450"/>
          </a:xfrm>
          <a:prstGeom prst="roundRect">
            <a:avLst>
              <a:gd name="adj" fmla="val 20690"/>
            </a:avLst>
          </a:prstGeom>
          <a:solidFill>
            <a:srgbClr val="ECEAE4"/>
          </a:solidFill>
          <a:ln w="9525">
            <a:solidFill>
              <a:srgbClr val="C8C4BA"/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760C42C1-8B5B-4508-821A-D640332406CF}"/>
              </a:ext>
            </a:extLst>
          </p:cNvPr>
          <p:cNvSpPr>
            <a:spLocks noGrp="1"/>
          </p:cNvSpPr>
          <p:nvPr/>
        </p:nvSpPr>
        <p:spPr>
          <a:xfrm>
            <a:off x="742950" y="4810125"/>
            <a:ext cx="533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defRPr sz="1650" b="1">
                <a:solidFill>
                  <a:srgbClr val="5E636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E636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30" name="">
            <a:extLst>
              <a:ext uri="{FF2B5EF4-FFF2-40B4-BE49-F238E27FC236}">
                <ns2:creationId id="{1CC09E54-636A-47EE-A68C-0529C8277CEC}"/>
              </a:ext>
            </a:extLst>
          </p:cNvPr>
          <p:cNvSpPr>
            <a:spLocks noGrp="1"/>
          </p:cNvSpPr>
          <p:nvPr/>
        </p:nvSpPr>
        <p:spPr>
          <a:xfrm>
            <a:off x="1352550" y="4810125"/>
            <a:ext cx="1657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defRPr sz="1200" b="1">
                <a:solidFill>
                  <a:srgbClr val="354A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54A45"/>
                </a:solidFill>
                <a:latin typeface="Aptos"/>
                <a:ea typeface="Aptos"/>
                <a:cs typeface="Aptos"/>
              </a:rPr>
              <a:t>Paused or exited</a:t>
            </a:r>
          </a:p>
        </p:txBody>
      </p:sp>
      <p:sp>
        <p:nvSpPr>
          <p:cNvPr id="31" name="">
            <a:extLst>
              <a:ext uri="{FF2B5EF4-FFF2-40B4-BE49-F238E27FC236}">
                <ns2:creationId id="{602558B9-73B2-4BC7-B666-3A1C602BB91A}"/>
              </a:ext>
            </a:extLst>
          </p:cNvPr>
          <p:cNvSpPr>
            <a:spLocks noGrp="1"/>
          </p:cNvSpPr>
          <p:nvPr/>
        </p:nvSpPr>
        <p:spPr>
          <a:xfrm>
            <a:off x="3028950" y="4810125"/>
            <a:ext cx="4171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defRPr sz="1050" b="0">
                <a:solidFill>
                  <a:srgbClr val="6473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36E"/>
                </a:solidFill>
                <a:latin typeface="Aptos"/>
                <a:ea typeface="Aptos"/>
                <a:cs typeface="Aptos"/>
              </a:rPr>
              <a:t>On hold 13 + Cancelled 10 + Dropped 0</a:t>
            </a:r>
          </a:p>
        </p:txBody>
      </p:sp>
      <p:sp>
        <p:nvSpPr>
          <p:cNvPr id="32" name="anim-actions-panel">
            <a:extLst>
              <a:ext uri="{FF2B5EF4-FFF2-40B4-BE49-F238E27FC236}">
                <ns2:creationId id="{93FA7AF9-EF22-4A78-826D-D7989724E68F}"/>
              </a:ext>
            </a:extLst>
          </p:cNvPr>
          <p:cNvSpPr>
            <a:spLocks noGrp="1"/>
          </p:cNvSpPr>
          <p:nvPr/>
        </p:nvSpPr>
        <p:spPr>
          <a:xfrm>
            <a:off x="7829550" y="2486025"/>
            <a:ext cx="3810000" cy="2771775"/>
          </a:xfrm>
          <a:prstGeom prst="roundRect">
            <a:avLst>
              <a:gd name="adj" fmla="val 5498"/>
            </a:avLst>
          </a:prstGeom>
          <a:solidFill>
            <a:srgbClr val="0B2D26"/>
          </a:solidFill>
          <a:ln w="0">
            <a:noFill/>
          </a:ln>
        </p:spPr>
        <p:style>
          <a:lnRef idx="0"/>
          <a:fillRef idx="0"/>
          <a:effectRef idx="11"/>
          <a:fontRef idx="major"/>
        </p:style>
      </p:sp>
      <p:sp>
        <p:nvSpPr>
          <p:cNvPr id="33" name="">
            <a:extLst>
              <a:ext uri="{FF2B5EF4-FFF2-40B4-BE49-F238E27FC236}">
                <ns2:creationId id="{031D9A85-C4A0-4F3F-B298-32A56FAB5ABB}"/>
              </a:ext>
            </a:extLst>
          </p:cNvPr>
          <p:cNvSpPr>
            <a:spLocks noGrp="1"/>
          </p:cNvSpPr>
          <p:nvPr/>
        </p:nvSpPr>
        <p:spPr>
          <a:xfrm>
            <a:off x="8077200" y="2714625"/>
            <a:ext cx="228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75" b="1">
                <a:solidFill>
                  <a:srgbClr val="E6B65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6B654"/>
                </a:solidFill>
                <a:latin typeface="Aptos"/>
                <a:ea typeface="Aptos"/>
                <a:cs typeface="Aptos"/>
              </a:rPr>
              <a:t>LIFECYCLE DISTRIBUTION</a:t>
            </a:r>
          </a:p>
        </p:txBody>
      </p:sp>
      <p:sp>
        <p:nvSpPr>
          <p:cNvPr id="34" name="">
            <a:extLst>
              <a:ext uri="{FF2B5EF4-FFF2-40B4-BE49-F238E27FC236}">
                <ns2:creationId id="{C2AA64D6-BD0D-4840-9565-3EEB1134C47F}"/>
              </a:ext>
            </a:extLst>
          </p:cNvPr>
          <p:cNvSpPr>
            <a:spLocks noGrp="1"/>
          </p:cNvSpPr>
          <p:nvPr/>
        </p:nvSpPr>
        <p:spPr>
          <a:xfrm>
            <a:off x="8077200" y="31051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16483E"/>
          </a:solidFill>
          <a:ln w="0">
            <a:noFill/>
          </a:ln>
        </p:spPr>
      </p:sp>
      <p:sp>
        <p:nvSpPr>
          <p:cNvPr id="35" name="">
            <a:extLst>
              <a:ext uri="{FF2B5EF4-FFF2-40B4-BE49-F238E27FC236}">
                <ns2:creationId id="{170B225C-F727-4BA4-A0B3-59A73419F355}"/>
              </a:ext>
            </a:extLst>
          </p:cNvPr>
          <p:cNvSpPr>
            <a:spLocks noGrp="1"/>
          </p:cNvSpPr>
          <p:nvPr/>
        </p:nvSpPr>
        <p:spPr>
          <a:xfrm>
            <a:off x="8077200" y="310515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defRPr sz="900" b="1">
                <a:solidFill>
                  <a:srgbClr val="54D6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4D6B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6" name="">
            <a:extLst>
              <a:ext uri="{FF2B5EF4-FFF2-40B4-BE49-F238E27FC236}">
                <ns2:creationId id="{A8E484CE-1635-4352-BE7E-A44FFC729295}"/>
              </a:ext>
            </a:extLst>
          </p:cNvPr>
          <p:cNvSpPr>
            <a:spLocks noGrp="1"/>
          </p:cNvSpPr>
          <p:nvPr/>
        </p:nvSpPr>
        <p:spPr>
          <a:xfrm>
            <a:off x="8610600" y="3095625"/>
            <a:ext cx="2724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125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Early stages</a:t>
            </a:r>
          </a:p>
        </p:txBody>
      </p:sp>
      <p:sp>
        <p:nvSpPr>
          <p:cNvPr id="37" name="">
            <a:extLst>
              <a:ext uri="{FF2B5EF4-FFF2-40B4-BE49-F238E27FC236}">
                <ns2:creationId id="{9757D25B-E8ED-467C-85EF-AB2EC13100A7}"/>
              </a:ext>
            </a:extLst>
          </p:cNvPr>
          <p:cNvSpPr>
            <a:spLocks noGrp="1"/>
          </p:cNvSpPr>
          <p:nvPr/>
        </p:nvSpPr>
        <p:spPr>
          <a:xfrm>
            <a:off x="8610600" y="3333750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0">
                <a:solidFill>
                  <a:srgbClr val="A8C0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C0B8"/>
                </a:solidFill>
                <a:latin typeface="Aptos"/>
                <a:ea typeface="Aptos"/>
                <a:cs typeface="Aptos"/>
              </a:rPr>
              <a:t>27 demands</a:t>
            </a:r>
          </a:p>
        </p:txBody>
      </p:sp>
      <p:sp>
        <p:nvSpPr>
          <p:cNvPr id="38" name="">
            <a:extLst>
              <a:ext uri="{FF2B5EF4-FFF2-40B4-BE49-F238E27FC236}">
                <ns2:creationId id="{12C4CCAA-9025-4A34-869E-DDC4695147BE}"/>
              </a:ext>
            </a:extLst>
          </p:cNvPr>
          <p:cNvSpPr>
            <a:spLocks noGrp="1"/>
          </p:cNvSpPr>
          <p:nvPr/>
        </p:nvSpPr>
        <p:spPr>
          <a:xfrm>
            <a:off x="8077200" y="36576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16483E"/>
          </a:solidFill>
          <a:ln w="0">
            <a:noFill/>
          </a:ln>
        </p:spPr>
      </p:sp>
      <p:sp>
        <p:nvSpPr>
          <p:cNvPr id="39" name="">
            <a:extLst>
              <a:ext uri="{FF2B5EF4-FFF2-40B4-BE49-F238E27FC236}">
                <ns2:creationId id="{E6751315-5EB1-4CA3-9CF2-EE5B58A14D32}"/>
              </a:ext>
            </a:extLst>
          </p:cNvPr>
          <p:cNvSpPr>
            <a:spLocks noGrp="1"/>
          </p:cNvSpPr>
          <p:nvPr/>
        </p:nvSpPr>
        <p:spPr>
          <a:xfrm>
            <a:off x="8077200" y="365760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defRPr sz="900" b="1">
                <a:solidFill>
                  <a:srgbClr val="54D6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4D6B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0" name="">
            <a:extLst>
              <a:ext uri="{FF2B5EF4-FFF2-40B4-BE49-F238E27FC236}">
                <ns2:creationId id="{EBE2016E-F17D-4158-980E-3F3B9C89F2AA}"/>
              </a:ext>
            </a:extLst>
          </p:cNvPr>
          <p:cNvSpPr>
            <a:spLocks noGrp="1"/>
          </p:cNvSpPr>
          <p:nvPr/>
        </p:nvSpPr>
        <p:spPr>
          <a:xfrm>
            <a:off x="8610600" y="3648075"/>
            <a:ext cx="2724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125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Delivery Commitment</a:t>
            </a:r>
          </a:p>
        </p:txBody>
      </p:sp>
      <p:sp>
        <p:nvSpPr>
          <p:cNvPr id="41" name="">
            <a:extLst>
              <a:ext uri="{FF2B5EF4-FFF2-40B4-BE49-F238E27FC236}">
                <ns2:creationId id="{86DF7EA6-6303-4C7B-A0E4-FDFB03920E45}"/>
              </a:ext>
            </a:extLst>
          </p:cNvPr>
          <p:cNvSpPr>
            <a:spLocks noGrp="1"/>
          </p:cNvSpPr>
          <p:nvPr/>
        </p:nvSpPr>
        <p:spPr>
          <a:xfrm>
            <a:off x="8610600" y="3886200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0">
                <a:solidFill>
                  <a:srgbClr val="A8C0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C0B8"/>
                </a:solidFill>
                <a:latin typeface="Aptos"/>
                <a:ea typeface="Aptos"/>
                <a:cs typeface="Aptos"/>
              </a:rPr>
              <a:t>38 demands</a:t>
            </a:r>
          </a:p>
        </p:txBody>
      </p:sp>
      <p:sp>
        <p:nvSpPr>
          <p:cNvPr id="42" name="">
            <a:extLst>
              <a:ext uri="{FF2B5EF4-FFF2-40B4-BE49-F238E27FC236}">
                <ns2:creationId id="{CAB69DF4-9B14-4C04-A8D8-23B91CA8B1F8}"/>
              </a:ext>
            </a:extLst>
          </p:cNvPr>
          <p:cNvSpPr>
            <a:spLocks noGrp="1"/>
          </p:cNvSpPr>
          <p:nvPr/>
        </p:nvSpPr>
        <p:spPr>
          <a:xfrm>
            <a:off x="8077200" y="42100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16483E"/>
          </a:solidFill>
          <a:ln w="0">
            <a:noFill/>
          </a:ln>
        </p:spPr>
      </p:sp>
      <p:sp>
        <p:nvSpPr>
          <p:cNvPr id="43" name="">
            <a:extLst>
              <a:ext uri="{FF2B5EF4-FFF2-40B4-BE49-F238E27FC236}">
                <ns2:creationId id="{D8AE4A89-DA5E-46A4-936E-028D4F66B99A}"/>
              </a:ext>
            </a:extLst>
          </p:cNvPr>
          <p:cNvSpPr>
            <a:spLocks noGrp="1"/>
          </p:cNvSpPr>
          <p:nvPr/>
        </p:nvSpPr>
        <p:spPr>
          <a:xfrm>
            <a:off x="8077200" y="421005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defRPr sz="900" b="1">
                <a:solidFill>
                  <a:srgbClr val="54D6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4D6B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4" name="">
            <a:extLst>
              <a:ext uri="{FF2B5EF4-FFF2-40B4-BE49-F238E27FC236}">
                <ns2:creationId id="{E3BFC786-850C-4D09-8FAE-D19013B6C969}"/>
              </a:ext>
            </a:extLst>
          </p:cNvPr>
          <p:cNvSpPr>
            <a:spLocks noGrp="1"/>
          </p:cNvSpPr>
          <p:nvPr/>
        </p:nvSpPr>
        <p:spPr>
          <a:xfrm>
            <a:off x="8610600" y="4200525"/>
            <a:ext cx="2724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125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Delivered</a:t>
            </a:r>
          </a:p>
        </p:txBody>
      </p:sp>
      <p:sp>
        <p:nvSpPr>
          <p:cNvPr id="45" name="">
            <a:extLst>
              <a:ext uri="{FF2B5EF4-FFF2-40B4-BE49-F238E27FC236}">
                <ns2:creationId id="{A20CC97C-33FC-43F5-94B9-639831B723F2}"/>
              </a:ext>
            </a:extLst>
          </p:cNvPr>
          <p:cNvSpPr>
            <a:spLocks noGrp="1"/>
          </p:cNvSpPr>
          <p:nvPr/>
        </p:nvSpPr>
        <p:spPr>
          <a:xfrm>
            <a:off x="8610600" y="4438650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0">
                <a:solidFill>
                  <a:srgbClr val="A8C0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C0B8"/>
                </a:solidFill>
                <a:latin typeface="Aptos"/>
                <a:ea typeface="Aptos"/>
                <a:cs typeface="Aptos"/>
              </a:rPr>
              <a:t>28 demands</a:t>
            </a:r>
          </a:p>
        </p:txBody>
      </p:sp>
      <p:sp>
        <p:nvSpPr>
          <p:cNvPr id="46" name="">
            <a:extLst>
              <a:ext uri="{FF2B5EF4-FFF2-40B4-BE49-F238E27FC236}">
                <ns2:creationId id="{A3E4C569-F21C-4E08-94CE-E206D0494980}"/>
              </a:ext>
            </a:extLst>
          </p:cNvPr>
          <p:cNvSpPr>
            <a:spLocks noGrp="1"/>
          </p:cNvSpPr>
          <p:nvPr/>
        </p:nvSpPr>
        <p:spPr>
          <a:xfrm>
            <a:off x="8077200" y="47625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16483E"/>
          </a:solidFill>
          <a:ln w="0">
            <a:noFill/>
          </a:ln>
        </p:spPr>
      </p:sp>
      <p:sp>
        <p:nvSpPr>
          <p:cNvPr id="47" name="">
            <a:extLst>
              <a:ext uri="{FF2B5EF4-FFF2-40B4-BE49-F238E27FC236}">
                <ns2:creationId id="{3E80B3B4-0BD2-48F3-80D7-BDF0B74EE054}"/>
              </a:ext>
            </a:extLst>
          </p:cNvPr>
          <p:cNvSpPr>
            <a:spLocks noGrp="1"/>
          </p:cNvSpPr>
          <p:nvPr/>
        </p:nvSpPr>
        <p:spPr>
          <a:xfrm>
            <a:off x="8077200" y="476250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defRPr sz="900" b="1">
                <a:solidFill>
                  <a:srgbClr val="54D6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4D6B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8" name="">
            <a:extLst>
              <a:ext uri="{FF2B5EF4-FFF2-40B4-BE49-F238E27FC236}">
                <ns2:creationId id="{A8D14509-B74D-456B-9349-9E83FCBD37BC}"/>
              </a:ext>
            </a:extLst>
          </p:cNvPr>
          <p:cNvSpPr>
            <a:spLocks noGrp="1"/>
          </p:cNvSpPr>
          <p:nvPr/>
        </p:nvSpPr>
        <p:spPr>
          <a:xfrm>
            <a:off x="8610600" y="4752975"/>
            <a:ext cx="2724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125" b="1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BF8"/>
                </a:solidFill>
                <a:latin typeface="Aptos"/>
                <a:ea typeface="Aptos"/>
                <a:cs typeface="Aptos"/>
              </a:rPr>
              <a:t>Paused or exited</a:t>
            </a:r>
          </a:p>
        </p:txBody>
      </p:sp>
      <p:sp>
        <p:nvSpPr>
          <p:cNvPr id="49" name="">
            <a:extLst>
              <a:ext uri="{FF2B5EF4-FFF2-40B4-BE49-F238E27FC236}">
                <ns2:creationId id="{A1FE874E-E7EA-45A7-8BAC-4B92E41556BF}"/>
              </a:ext>
            </a:extLst>
          </p:cNvPr>
          <p:cNvSpPr>
            <a:spLocks noGrp="1"/>
          </p:cNvSpPr>
          <p:nvPr/>
        </p:nvSpPr>
        <p:spPr>
          <a:xfrm>
            <a:off x="8610600" y="4991100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0">
                <a:solidFill>
                  <a:srgbClr val="A8C0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C0B8"/>
                </a:solidFill>
                <a:latin typeface="Aptos"/>
                <a:ea typeface="Aptos"/>
                <a:cs typeface="Aptos"/>
              </a:rPr>
              <a:t>23 demands</a:t>
            </a:r>
          </a:p>
        </p:txBody>
      </p:sp>
      <p:sp>
        <p:nvSpPr>
          <p:cNvPr id="50" name="delivery-chart-surface">
            <a:extLst>
              <a:ext uri="{FF2B5EF4-FFF2-40B4-BE49-F238E27FC236}">
                <ns2:creationId id="{F0B44814-0A18-4A14-AC91-1EA7F8FEE0CB}"/>
              </a:ext>
            </a:extLst>
          </p:cNvPr>
          <p:cNvSpPr>
            <a:spLocks noGrp="1"/>
          </p:cNvSpPr>
          <p:nvPr/>
        </p:nvSpPr>
        <p:spPr>
          <a:xfrm>
            <a:off x="552450" y="5486400"/>
            <a:ext cx="73342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BE1DD"/>
            </a:solidFill>
            <a:prstDash val="solid"/>
          </a:ln>
        </p:spPr>
      </p:sp>
      <p:sp>
        <p:nvSpPr>
          <p:cNvPr id="51" name="">
            <a:extLst>
              <a:ext uri="{FF2B5EF4-FFF2-40B4-BE49-F238E27FC236}">
                <ns2:creationId id="{2F00D7AB-20AD-4971-B584-B415A9AA023E}"/>
              </a:ext>
            </a:extLst>
          </p:cNvPr>
          <p:cNvSpPr>
            <a:spLocks noGrp="1"/>
          </p:cNvSpPr>
          <p:nvPr/>
        </p:nvSpPr>
        <p:spPr>
          <a:xfrm>
            <a:off x="742950" y="561975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5871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16A"/>
                </a:solidFill>
                <a:latin typeface="Aptos"/>
                <a:ea typeface="Aptos"/>
                <a:cs typeface="Aptos"/>
              </a:rPr>
              <a:t>DELIVERY RHYTHM</a:t>
            </a:r>
          </a:p>
        </p:txBody>
      </p:sp>
      <p:sp>
        <p:nvSpPr>
          <p:cNvPr id="52" name="">
            <a:extLst>
              <a:ext uri="{FF2B5EF4-FFF2-40B4-BE49-F238E27FC236}">
                <ns2:creationId id="{47DFC90D-F1E1-44BC-82D8-2A2BCB941CA7}"/>
              </a:ext>
            </a:extLst>
          </p:cNvPr>
          <p:cNvSpPr>
            <a:spLocks noGrp="1"/>
          </p:cNvSpPr>
          <p:nvPr/>
        </p:nvSpPr>
        <p:spPr>
          <a:xfrm>
            <a:off x="742950" y="584835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131"/>
          </a:bodyPr>
          <a:lstStyle/>
          <a:p>
            <a:pPr algn="l">
              <a:defRPr sz="1350" b="1">
                <a:solidFill>
                  <a:srgbClr val="123F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F35"/>
                </a:solidFill>
                <a:latin typeface="Aptos"/>
                <a:ea typeface="Aptos"/>
                <a:cs typeface="Aptos"/>
              </a:rPr>
              <a:t>18 delivered across Apr-Sep</a:t>
            </a:r>
          </a:p>
        </p:txBody>
      </p:sp>
      <p:graphicFrame>
        <p:nvGraphicFramePr>
          <p:cNvPr id="110" name="Chart"/>
          <p:cNvGraphicFramePr/>
          <p:nvPr/>
        </p:nvGraphicFramePr>
        <p:xfrm>
          <a:off x="3124200" y="5572125"/>
          <a:ext cx="4552950" cy="685800"/>
        </p:xfrm>
        <a:graphic>
          <a:graphicData uri="http://schemas.openxmlformats.org/drawingml/2006/chart">
            <ns3:chart r:id="Rc699a8295bd44fb6"/>
          </a:graphicData>
        </a:graphic>
      </p:graphicFrame>
      <p:sp>
        <p:nvSpPr>
          <p:cNvPr id="54" name="anim-outcome">
            <a:extLst>
              <a:ext uri="{FF2B5EF4-FFF2-40B4-BE49-F238E27FC236}">
                <ns2:creationId id="{A2B1A77B-DDF3-4CFD-A6F1-4265A48F7907}"/>
              </a:ext>
            </a:extLst>
          </p:cNvPr>
          <p:cNvSpPr>
            <a:spLocks noGrp="1"/>
          </p:cNvSpPr>
          <p:nvPr/>
        </p:nvSpPr>
        <p:spPr>
          <a:xfrm>
            <a:off x="8096250" y="5486400"/>
            <a:ext cx="3543300" cy="876300"/>
          </a:xfrm>
          <a:prstGeom prst="roundRect">
            <a:avLst>
              <a:gd name="adj" fmla="val 13043"/>
            </a:avLst>
          </a:prstGeom>
          <a:solidFill>
            <a:srgbClr val="E6B654"/>
          </a:solidFill>
          <a:ln w="0">
            <a:noFill/>
          </a:ln>
        </p:spPr>
      </p:sp>
      <p:sp>
        <p:nvSpPr>
          <p:cNvPr id="55" name="">
            <a:extLst>
              <a:ext uri="{FF2B5EF4-FFF2-40B4-BE49-F238E27FC236}">
                <ns2:creationId id="{65C13B74-52B2-415A-B4EE-4A95E118861B}"/>
              </a:ext>
            </a:extLst>
          </p:cNvPr>
          <p:cNvSpPr>
            <a:spLocks noGrp="1"/>
          </p:cNvSpPr>
          <p:nvPr/>
        </p:nvSpPr>
        <p:spPr>
          <a:xfrm>
            <a:off x="8324850" y="5619750"/>
            <a:ext cx="16573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513B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13B12"/>
                </a:solidFill>
                <a:latin typeface="Aptos"/>
                <a:ea typeface="Aptos"/>
                <a:cs typeface="Aptos"/>
              </a:rPr>
              <a:t>PORTFOLIO TOTAL</a:t>
            </a:r>
          </a:p>
        </p:txBody>
      </p:sp>
      <p:sp>
        <p:nvSpPr>
          <p:cNvPr id="56" name="">
            <a:extLst>
              <a:ext uri="{FF2B5EF4-FFF2-40B4-BE49-F238E27FC236}">
                <ns2:creationId id="{1B480BBF-CCBE-4011-8D26-1E0371C2570D}"/>
              </a:ext>
            </a:extLst>
          </p:cNvPr>
          <p:cNvSpPr>
            <a:spLocks noGrp="1"/>
          </p:cNvSpPr>
          <p:nvPr/>
        </p:nvSpPr>
        <p:spPr>
          <a:xfrm>
            <a:off x="8324850" y="5867400"/>
            <a:ext cx="3028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2636"/>
          </a:bodyPr>
          <a:lstStyle/>
          <a:p>
            <a:pPr algn="l">
              <a:defRPr sz="1350" b="1">
                <a:solidFill>
                  <a:srgbClr val="2E2D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2D21"/>
                </a:solidFill>
                <a:latin typeface="Aptos"/>
                <a:ea typeface="Aptos"/>
                <a:cs typeface="Aptos"/>
              </a:rPr>
              <a:t>142 demands: 126 vertical and 16 supporting</a:t>
            </a:r>
          </a:p>
        </p:txBody>
      </p:sp>
      <p:sp>
        <p:nvSpPr>
          <p:cNvPr id="57" name="">
            <a:extLst>
              <a:ext uri="{FF2B5EF4-FFF2-40B4-BE49-F238E27FC236}">
                <ns2:creationId id="{8D070B91-C092-49C7-BFD1-BDB2F444E8DB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11096625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0">
                <a:solidFill>
                  <a:srgbClr val="7591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59188"/>
                </a:solidFill>
                <a:latin typeface="Aptos"/>
                <a:ea typeface="Aptos"/>
                <a:cs typeface="Aptos"/>
              </a:rPr>
              <a:t>Lifecycle counts and monthly delivery figures are reproduced from the supplied Cards portfolio view.</a:t>
            </a:r>
          </a:p>
        </p:txBody>
      </p:sp>
    </p:spTree>
    <p:extLst>
      <p:ext uri="{BB962C8B-B14F-4D97-AF65-F5344CB8AC3E}">
        <ns5:creationId val="1920119483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6" dur="4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7" dur="4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8" dur="4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45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2" dur="45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3" dur="45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4" dur="45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5" dur="45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6" dur="45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7" dur="45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45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21" dur="45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22" dur="45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23" dur="45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24" dur="45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25" dur="45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8" dur="45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29" dur="45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30" dur="45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31" dur="45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4" dur="450" fill="hold"/>
                                  <p:tgtEl>
                                    <p:spTgt spid="28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35" dur="450" fill="hold"/>
                                  <p:tgtEl>
                                    <p:spTgt spid="29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36" dur="450" fill="hold"/>
                                  <p:tgtEl>
                                    <p:spTgt spid="30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37" dur="45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0" dur="45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41" dur="45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42" dur="45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43" dur="45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44" dur="450" fill="hold"/>
                                  <p:tgtEl>
                                    <p:spTgt spid="36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45" dur="450" fill="hold"/>
                                  <p:tgtEl>
                                    <p:spTgt spid="37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46" dur="45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47" dur="450" fill="hold"/>
                                  <p:tgtEl>
                                    <p:spTgt spid="39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48" dur="450" fill="hold"/>
                                  <p:tgtEl>
                                    <p:spTgt spid="40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49" dur="450" fill="hold"/>
                                  <p:tgtEl>
                                    <p:spTgt spid="41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50" dur="450" fill="hold"/>
                                  <p:tgtEl>
                                    <p:spTgt spid="42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51" dur="450" fill="hold"/>
                                  <p:tgtEl>
                                    <p:spTgt spid="43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52" dur="450" fill="hold"/>
                                  <p:tgtEl>
                                    <p:spTgt spid="44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53" dur="450" fill="hold"/>
                                  <p:tgtEl>
                                    <p:spTgt spid="45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54" dur="450" fill="hold"/>
                                  <p:tgtEl>
                                    <p:spTgt spid="46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55" dur="450" fill="hold"/>
                                  <p:tgtEl>
                                    <p:spTgt spid="47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56" dur="450" fill="hold"/>
                                  <p:tgtEl>
                                    <p:spTgt spid="48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57" dur="450" fill="hold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0" dur="450" fill="hold"/>
                                  <p:tgtEl>
                                    <p:spTgt spid="50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61" dur="450" fill="hold"/>
                                  <p:tgtEl>
                                    <p:spTgt spid="51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62" dur="450" fill="hold"/>
                                  <p:tgtEl>
                                    <p:spTgt spid="52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63" dur="450" fill="hold"/>
                                  <p:tgtEl>
                                    <p:spTgt spid="1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6" dur="450" fill="hold"/>
                                  <p:tgtEl>
                                    <p:spTgt spid="54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67" dur="450" fill="hold"/>
                                  <p:tgtEl>
                                    <p:spTgt spid="55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68" dur="450" fill="hold"/>
                                  <p:tgtEl>
                                    <p:spTgt spid="5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99444" dir="4398045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99444" dir="4398045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2026-09-17T14:15:23.9170000Z</dcterms:created>
  <dcterms:modified xsi:type="dcterms:W3CDTF">2026-09-17T14:15:23.9170000Z</dcterms:modified>
</coreProperties>
</file>