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4d2e48699b4770" /><Relationship Type="http://schemas.openxmlformats.org/officeDocument/2006/relationships/extended-properties" Target="/docProps/app.xml" Id="R8ced0bfda3864382" /><Relationship Type="http://schemas.openxmlformats.org/officeDocument/2006/relationships/officeDocument" Target="/ppt/presentation.xml" Id="R390177fe57d24f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f9964290e04f36"/>
  </p:sldMasterIdLst>
  <p:notesMasterIdLst>
    <p:notesMasterId xmlns:r="http://schemas.openxmlformats.org/officeDocument/2006/relationships" r:id="Rf16b6be0372f4845"/>
  </p:notesMasterIdLst>
  <p:sldIdLst>
    <p:sldId xmlns:r="http://schemas.openxmlformats.org/officeDocument/2006/relationships" id="256" r:id="Ra25d071a914a4088"/>
    <p:sldId xmlns:r="http://schemas.openxmlformats.org/officeDocument/2006/relationships" id="257" r:id="Rd593a0dacada4657"/>
    <p:sldId xmlns:r="http://schemas.openxmlformats.org/officeDocument/2006/relationships" id="258" r:id="R3754982c0a254f32"/>
    <p:sldId xmlns:r="http://schemas.openxmlformats.org/officeDocument/2006/relationships" id="259" r:id="R13499e6c71444fb5"/>
    <p:sldId xmlns:r="http://schemas.openxmlformats.org/officeDocument/2006/relationships" id="260" r:id="Rc3646e84086049e2"/>
    <p:sldId xmlns:r="http://schemas.openxmlformats.org/officeDocument/2006/relationships" id="261" r:id="R4be50ac8fed24441"/>
    <p:sldId xmlns:r="http://schemas.openxmlformats.org/officeDocument/2006/relationships" id="262" r:id="R88b3d950d48546ab"/>
    <p:sldId xmlns:r="http://schemas.openxmlformats.org/officeDocument/2006/relationships" id="263" r:id="Rb7b9408323fb44ec"/>
    <p:sldId xmlns:r="http://schemas.openxmlformats.org/officeDocument/2006/relationships" id="264" r:id="R7a61479f859242e6"/>
    <p:sldId xmlns:r="http://schemas.openxmlformats.org/officeDocument/2006/relationships" id="265" r:id="Rfa772ea746084e0a"/>
    <p:sldId xmlns:r="http://schemas.openxmlformats.org/officeDocument/2006/relationships" id="266" r:id="Ra60b8f690cf24a55"/>
    <p:sldId xmlns:r="http://schemas.openxmlformats.org/officeDocument/2006/relationships" id="267" r:id="R760bd1dc1c4342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87cf4f3c994ec9" /><Relationship Type="http://schemas.openxmlformats.org/officeDocument/2006/relationships/slideMaster" Target="/ppt/slideMasters/slideMaster1.xml" Id="R51f9964290e04f36" /><Relationship Type="http://schemas.openxmlformats.org/officeDocument/2006/relationships/notesMaster" Target="/ppt/notesMasters/notesMaster1.xml" Id="Rf16b6be0372f4845" /><Relationship Type="http://schemas.openxmlformats.org/officeDocument/2006/relationships/presProps" Target="/ppt/presProps.xml" Id="R1f22bca00dd6424d" /><Relationship Type="http://schemas.openxmlformats.org/officeDocument/2006/relationships/tableStyles" Target="/ppt/tableStyles.xml" Id="Ra142fd3ea7be4ff2" /><Relationship Type="http://schemas.openxmlformats.org/officeDocument/2006/relationships/slide" Target="/ppt/slides/slide1.xml" Id="Ra25d071a914a4088" /><Relationship Type="http://schemas.openxmlformats.org/officeDocument/2006/relationships/slide" Target="/ppt/slides/slide2.xml" Id="Rd593a0dacada4657" /><Relationship Type="http://schemas.openxmlformats.org/officeDocument/2006/relationships/slide" Target="/ppt/slides/slide3.xml" Id="R3754982c0a254f32" /><Relationship Type="http://schemas.openxmlformats.org/officeDocument/2006/relationships/slide" Target="/ppt/slides/slide4.xml" Id="R13499e6c71444fb5" /><Relationship Type="http://schemas.openxmlformats.org/officeDocument/2006/relationships/slide" Target="/ppt/slides/slide5.xml" Id="Rc3646e84086049e2" /><Relationship Type="http://schemas.openxmlformats.org/officeDocument/2006/relationships/slide" Target="/ppt/slides/slide6.xml" Id="R4be50ac8fed24441" /><Relationship Type="http://schemas.openxmlformats.org/officeDocument/2006/relationships/slide" Target="/ppt/slides/slide7.xml" Id="R88b3d950d48546ab" /><Relationship Type="http://schemas.openxmlformats.org/officeDocument/2006/relationships/slide" Target="/ppt/slides/slide8.xml" Id="Rb7b9408323fb44ec" /><Relationship Type="http://schemas.openxmlformats.org/officeDocument/2006/relationships/slide" Target="/ppt/slides/slide9.xml" Id="R7a61479f859242e6" /><Relationship Type="http://schemas.openxmlformats.org/officeDocument/2006/relationships/slide" Target="/ppt/slides/slide10.xml" Id="Rfa772ea746084e0a" /><Relationship Type="http://schemas.openxmlformats.org/officeDocument/2006/relationships/slide" Target="/ppt/slides/slide11.xml" Id="Ra60b8f690cf24a55" /><Relationship Type="http://schemas.openxmlformats.org/officeDocument/2006/relationships/slide" Target="/ppt/slides/slide12.xml" Id="R760bd1dc1c4342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cfb61815a542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9b5f39a1544cd3" /><Relationship Type="http://schemas.openxmlformats.org/officeDocument/2006/relationships/notesMaster" Target="/ppt/notesMasters/notesMaster1.xml" Id="Rb427d49364e942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8665f4a27a47a6" /><Relationship Type="http://schemas.openxmlformats.org/officeDocument/2006/relationships/notesMaster" Target="/ppt/notesMasters/notesMaster1.xml" Id="R51baba24318142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fb9fda4da94193" /><Relationship Type="http://schemas.openxmlformats.org/officeDocument/2006/relationships/notesMaster" Target="/ppt/notesMasters/notesMaster1.xml" Id="R1e6fc87c4a4e4d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a5e141a30b49ed" /><Relationship Type="http://schemas.openxmlformats.org/officeDocument/2006/relationships/notesMaster" Target="/ppt/notesMasters/notesMaster1.xml" Id="Rd31b8688e7f64d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4dcc017f3f4776" /><Relationship Type="http://schemas.openxmlformats.org/officeDocument/2006/relationships/notesMaster" Target="/ppt/notesMasters/notesMaster1.xml" Id="R36de70756c3846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c7de6bd47742e3" /><Relationship Type="http://schemas.openxmlformats.org/officeDocument/2006/relationships/notesMaster" Target="/ppt/notesMasters/notesMaster1.xml" Id="Rbf8213593c1d48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603e80aa6f4fa3" /><Relationship Type="http://schemas.openxmlformats.org/officeDocument/2006/relationships/notesMaster" Target="/ppt/notesMasters/notesMaster1.xml" Id="R09521b9b5a9b4c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b0f7785c6d4f13" /><Relationship Type="http://schemas.openxmlformats.org/officeDocument/2006/relationships/notesMaster" Target="/ppt/notesMasters/notesMaster1.xml" Id="R4729eee1c87547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45bf9140224afc" /><Relationship Type="http://schemas.openxmlformats.org/officeDocument/2006/relationships/notesMaster" Target="/ppt/notesMasters/notesMaster1.xml" Id="R53758b6b726c47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027c95a10448eb" /><Relationship Type="http://schemas.openxmlformats.org/officeDocument/2006/relationships/notesMaster" Target="/ppt/notesMasters/notesMaster1.xml" Id="Rccb29424cabd4a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51443d38764999" /><Relationship Type="http://schemas.openxmlformats.org/officeDocument/2006/relationships/notesMaster" Target="/ppt/notesMasters/notesMaster1.xml" Id="R08107d7e160d49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cf5e2e74894942" /><Relationship Type="http://schemas.openxmlformats.org/officeDocument/2006/relationships/notesMaster" Target="/ppt/notesMasters/notesMaster1.xml" Id="R1b1698be737345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¹Completed / total demand is a portfolio snapshot share, not a monthly delivery rate. Totals are arithmetic sums of reported platform portfolios, without demand-ID deduplication. 98/285=34.4%. Other states: 24 new demand, 4 baseline 0, 24 dropped. Volumes remain separate because currency and cross-platform overlap are unspecified. Source health labels are Green for all platforms. Management priorities are analytical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Planned outages/deployments: IB 5, MB 10. Planned downtime: IB 2h50m, MB 3h15m. Unplanned outages: MB 1. The source reports ~48 hours of intermittent degradation and successful mitigation, not 48 hours of total downtime. Infrastructure: MB CPU 7.97%, memory 35.64%, storage 66.10%. IB CPU 5.01%, memory 52.87%, storage 50.17%. DR available yes, tested, environment readiness validated and recovery procedures confirmed. Source reports healthy infrastructure and monitored reliability. SME share 9.16/16.99=53.9%.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Total demands 122. Exact September volume 3,242,716,155.49. Rounded component volumes sum to 3.24B. PF share 2.33/3.24=71.9%. Planned outages 0, unplanned outages 0, planned downtime 0 hours, unplanned downtime 0. Reliability unchanged and stable operational posture. CPU &lt;10%, memory &lt;60%, capacity healthy within operating thresholds. No DR available, upgrade planned 2027. Source target is sustain monthly processing above 3.0 billion, not a forecast. Product abbreviations preserved from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Exact September volume 1,244,030,273. Source monthly values are rounded to two decimal billions. August-to-September change (1.24/1.39-1)=-10.8%, calculated from rounded figures. July peak 1.57B, March low 0.84B. 0 planned outages, 1 unplanned outage, 0 planned downtime, 12 minutes unplanned downtime. Application server dxb01-vwp-lmsa2 stopped responding and returned Server Too Busy. Secondary server took load and prevented total environment outage. No critical incidents, one major incident, reliability monitored. CPU &lt;40%, memory &lt;25%, storage &lt;70%. Source availability 100% needs reconciliation with 12 minutes downtime.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These are selected named initiatives, not a complete list of the 98 delivered/completed items or 67 in progress. The source spells Emirati Card. LL/LG and CIF expansion not assumed. IB/MB source: Removal of Skywards Cards from Mobile Banking; 3x3 Drop 4 – Release 1 &amp; Release 2; TAB-52 – Tablet AOF Audit Requirement. FinnOne source: Field Amendment for LL and LG flags; Multiple Rate Changes service request; Supplementary Card Mobile No. Email ID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Next-review evidence: incident closure, customer impact and effectiveness of MB controls; approved pickup plan for IB/MB 27, FinnOne 29 and HFLMS 12; recovery ownership, test evidence and 2027 milestones; release dates, blockers and acceptance decisions. Demand dots each represent one reported item. Data interpretation: source labels all platforms Green. HFLMS reports 100% availability alongside 12 minutes unplanned downtime. IB/MB reports 99.9% alongside ~48 hours intermittent MB degradation. These metrics may use different denominators or service scopes. Reconcile definitions without substituting an invented availability rate. No prior-month demand snapshot, demand aging, capacity allocation, costs, benefits or dates supplied. Delivery share is a portfolio composition measure and cannot establish throughput growth, ROI or delivery efficiency. Volumes are business transaction volumes, not revenue. Summing portfolios assumes no cross-platform duplicate demand IDs and needs validation before an enterprise unique-demand total. Recommendations do not imply approved owners or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AF executive summary attachment IMG_212267D2-D987-4FA7-B317-11571926A8EA.jpeg. Four solution-finalization items reported but only three named. Adding Guarantor has DMGT without number in source. Source reports 18 stage-counted initiatives (4+4+2+2+2+4), not independently deduplicated. DMGT-2583 is listed under development and planned 30 September 2026. DMGT-2480 and DMGT-2384 planned 4 October 2026. Dates are plans, not confirmed releases.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AF milestone attachment IMG_132B2BF3-1BBD-49BB-988F-03F6F88E03FC.jpeg. Historical achievements span Sep 2025 to Aug 2026, not September 2026 deliveries. Original source names and abbreviations retained where definitions are not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AF milestone attachment IMG_132B2BF3-1BBD-49BB-988F-03F6F88E03FC.jpeg. Historical achievements span Sep 2025 to Aug 2026, not September 2026 deliveries. Original source names and abbreviations retained where definitions are not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PF executive summary IMG_607B2DBC-EFD7-4E54-BD48-3BCC7F4B5C7E.jpeg. Six solution-design demand IDs DMGT-83,49,1336,2557,1708,1021; one development DMGT-91, one UAT DMGT-106, one business sign-off DMGT-56, three backlog and eight open-point tracking entries. Do not add all counts to platform demand totals. DMGT-91 appears in both AF and PF source descriptions, requiring cross-squad scope confirmation before unique-demand reporting. DMGT-56 planned 4 October. PF milestone source also lists it under Oct 2026 achievements, but actual delivery is not confirmed by the September executive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PF milestone attachment IMG_39D9293F-3361-4130-92C4-5BCE6DCF44B9.jpeg and PF executive summary. DMGT-56 shown under Oct 2026 in milestone sheet and planned 4 Oct in September summary. It is kept planned until confirmation. Historical data does not supply Dec 2025, Mar 2026 or May 2026 milestones. Source abbreviations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PF milestone attachment IMG_39D9293F-3361-4130-92C4-5BCE6DCF44B9.jpeg and PF executive summary. DMGT-56 shown under Oct 2026 in milestone sheet and planned 4 Oct in September summary. It is kept planned until confirmation. Historical data does not supply Dec 2025, Mar 2026 or May 2026 milestones. Source abbreviations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ff818d0dad47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5e2175d074b4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08b2d40aa745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f5d23154d451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bb0b97f7548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86a42ba44f43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22411B8-E972-4B88-9594-9443C750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C47D80B-DC9D-4506-8A34-C020BF575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2AD959E-7390-4144-8AA6-F83FDB675B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21BA973-851F-408D-AA42-16BC5AAF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0082084-5563-4A82-9713-BEC8FE9FDA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5330DCD-EADB-4B1A-8F9E-09B97D68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64045EE-8DF5-40A6-8601-2A3499A76C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1192647-7F21-4CD6-BE09-335D27093B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1CA5E51-7F78-4DE5-A60B-4169B0DD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711DB6-6C3C-4EA7-9A5C-BBAE700731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974492B-C7F2-482D-A883-6DB3A8A873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C89358D-C4E5-428D-A4F5-4355D39A96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951EA27-4C91-428B-9A47-FBC6761C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D274525-BD81-466B-8FDE-E0A8510BEA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BDF6DD-3A58-4A01-BA03-B9867DC95D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74bdc5aea84c92" /><Relationship Type="http://schemas.openxmlformats.org/officeDocument/2006/relationships/slideLayout" Target="/ppt/slideLayouts/slideLayout1.xml" Id="R3b163a4e3dbc4845" /><Relationship Type="http://schemas.openxmlformats.org/officeDocument/2006/relationships/slideLayout" Target="/ppt/slideLayouts/slideLayout2.xml" Id="R0632cab9b45c4d6e" /><Relationship Type="http://schemas.openxmlformats.org/officeDocument/2006/relationships/slideLayout" Target="/ppt/slideLayouts/slideLayout3.xml" Id="Rf40951cddb3d4726" /><Relationship Type="http://schemas.openxmlformats.org/officeDocument/2006/relationships/slideLayout" Target="/ppt/slideLayouts/slideLayout4.xml" Id="Rcaf8c17999ba444a" /><Relationship Type="http://schemas.openxmlformats.org/officeDocument/2006/relationships/slideLayout" Target="/ppt/slideLayouts/slideLayout5.xml" Id="R951b40b42e464946" /><Relationship Type="http://schemas.openxmlformats.org/officeDocument/2006/relationships/slideLayout" Target="/ppt/slideLayouts/slideLayout6.xml" Id="R3a9da8cfe11b4c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163a4e3dbc4845"/>
    <p:sldLayoutId xmlns:r="http://schemas.openxmlformats.org/officeDocument/2006/relationships" id="2147483650" r:id="R0632cab9b45c4d6e"/>
    <p:sldLayoutId xmlns:r="http://schemas.openxmlformats.org/officeDocument/2006/relationships" id="2147483651" r:id="Rf40951cddb3d4726"/>
    <p:sldLayoutId xmlns:r="http://schemas.openxmlformats.org/officeDocument/2006/relationships" id="2147483652" r:id="Rcaf8c17999ba444a"/>
    <p:sldLayoutId xmlns:r="http://schemas.openxmlformats.org/officeDocument/2006/relationships" id="2147483653" r:id="R951b40b42e464946"/>
    <p:sldLayoutId xmlns:r="http://schemas.openxmlformats.org/officeDocument/2006/relationships" id="2147483654" r:id="R3a9da8cfe11b4c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2697135cda4dcf" /><Relationship Type="http://schemas.openxmlformats.org/officeDocument/2006/relationships/notesSlide" Target="/ppt/notesSlides/notesSlide1.xml" Id="R60cc462e6e164f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3cae8d31124dff" /><Relationship Type="http://schemas.openxmlformats.org/officeDocument/2006/relationships/chart" Target="/ppt/slides/charts/chart1.xml" Id="R765e0104a68d4757" /><Relationship Type="http://schemas.openxmlformats.org/officeDocument/2006/relationships/notesSlide" Target="/ppt/notesSlides/notesSlide2.xml" Id="Rc3c4b909b8514d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51794a46c54c48" /><Relationship Type="http://schemas.openxmlformats.org/officeDocument/2006/relationships/chart" Target="/ppt/slides/charts/chart2.xml" Id="R27aee83b210d4346" /><Relationship Type="http://schemas.openxmlformats.org/officeDocument/2006/relationships/notesSlide" Target="/ppt/notesSlides/notesSlide3.xml" Id="R000189b32fdb48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f8a23877224dc2" /><Relationship Type="http://schemas.openxmlformats.org/officeDocument/2006/relationships/chart" Target="/ppt/slides/charts/chart3.xml" Id="R85f7f8b6c21f45d4" /><Relationship Type="http://schemas.openxmlformats.org/officeDocument/2006/relationships/notesSlide" Target="/ppt/notesSlides/notesSlide4.xml" Id="Rb776ebcb2c274b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cabd2983747e9" /><Relationship Type="http://schemas.openxmlformats.org/officeDocument/2006/relationships/notesSlide" Target="/ppt/notesSlides/notesSlide5.xml" Id="R6e4a9c7aac884b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024085ab0646f0" /><Relationship Type="http://schemas.openxmlformats.org/officeDocument/2006/relationships/notesSlide" Target="/ppt/notesSlides/notesSlide6.xml" Id="Ra503098ca82f4c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a82d65aa8d40a6" /><Relationship Type="http://schemas.openxmlformats.org/officeDocument/2006/relationships/notesSlide" Target="/ppt/notesSlides/notesSlide7.xml" Id="R3ac631221e194d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57fef6a8d04ab0" /><Relationship Type="http://schemas.openxmlformats.org/officeDocument/2006/relationships/notesSlide" Target="/ppt/notesSlides/notesSlide8.xml" Id="R3782cff31e0f41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dc4e4210bf4710" /><Relationship Type="http://schemas.openxmlformats.org/officeDocument/2006/relationships/notesSlide" Target="/ppt/notesSlides/notesSlide9.xml" Id="R38fafa3b9c1147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eed34e14b340cc" /><Relationship Type="http://schemas.openxmlformats.org/officeDocument/2006/relationships/notesSlide" Target="/ppt/notesSlides/notesSlide10.xml" Id="R08585236a23944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e6598fbed4424d" /><Relationship Type="http://schemas.openxmlformats.org/officeDocument/2006/relationships/notesSlide" Target="/ppt/notesSlides/notesSlide11.xml" Id="R8bbf4a3dc2b246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fbb5145a5049fe" /><Relationship Type="http://schemas.openxmlformats.org/officeDocument/2006/relationships/notesSlide" Target="/ppt/notesSlides/notesSlide12.xml" Id="R021a0105d368488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087F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cat>
            <c:strLit>
              <c:ptCount val="2"/>
              <c:pt idx="0">
                <c:v>Retail</c:v>
              </c:pt>
              <c:pt idx="1">
                <c:v>SME</c:v>
              </c:pt>
            </c:strLit>
          </c:cat>
          <c:val>
            <c:numLit>
              <c:formatCode>0.00"B"</c:formatCode>
              <c:ptCount val="2"/>
              <c:pt idx="0">
                <c:v>7.83</c:v>
              </c:pt>
              <c:pt idx="1">
                <c:v>9.16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3A4B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9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BEF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087F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167D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DA82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E57495"/>
              </a:solidFill>
            </c:spPr>
          </c:dPt>
          <c:cat>
            <c:strLit>
              <c:ptCount val="5"/>
              <c:pt idx="0">
                <c:v>AF</c:v>
              </c:pt>
              <c:pt idx="1">
                <c:v>AF-EV</c:v>
              </c:pt>
              <c:pt idx="2">
                <c:v>CC</c:v>
              </c:pt>
              <c:pt idx="3">
                <c:v>PF</c:v>
              </c:pt>
              <c:pt idx="4">
                <c:v>SBF</c:v>
              </c:pt>
            </c:strLit>
          </c:cat>
          <c:val>
            <c:numLit>
              <c:formatCode>0.00"B"</c:formatCode>
              <c:ptCount val="5"/>
              <c:pt idx="0">
                <c:v>0.63</c:v>
              </c:pt>
              <c:pt idx="1">
                <c:v>0.02</c:v>
              </c:pt>
              <c:pt idx="2">
                <c:v>0.19</c:v>
              </c:pt>
              <c:pt idx="3">
                <c:v>2.33</c:v>
              </c:pt>
              <c:pt idx="4">
                <c:v>0.07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3A4B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9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BEF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087F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167D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DA82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E57495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9167D3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EDA82D"/>
              </a:solidFill>
            </c:spPr>
          </c:dPt>
          <c:cat>
            <c:strLit>
              <c:ptCount val="9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</c:strLit>
          </c:cat>
          <c:val>
            <c:numLit>
              <c:formatCode>0.00"B"</c:formatCode>
              <c:ptCount val="9"/>
              <c:pt idx="0">
                <c:v>1.08</c:v>
              </c:pt>
              <c:pt idx="1">
                <c:v>1.2</c:v>
              </c:pt>
              <c:pt idx="2">
                <c:v>0.84</c:v>
              </c:pt>
              <c:pt idx="3">
                <c:v>1.1</c:v>
              </c:pt>
              <c:pt idx="4">
                <c:v>0.97</c:v>
              </c:pt>
              <c:pt idx="5">
                <c:v>1.01</c:v>
              </c:pt>
              <c:pt idx="6">
                <c:v>1.57</c:v>
              </c:pt>
              <c:pt idx="7">
                <c:v>1.39</c:v>
              </c:pt>
              <c:pt idx="8">
                <c:v>1.24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3A4B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9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BEF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E195B9-0019-468E-9342-63D2C20D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D73C3-AA82-4A40-AEEA-20DCC637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Delivery progressed, with resilience gaps requiring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03DF0-F87B-4274-954B-2C78DD21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Executive outcome across IB / MB, FinnOne and HFLMS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4C937-46F5-4A2D-A81E-EEB76F82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2DC2F-EB25-42F8-BEF3-2D9902CB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FE4D3-78D9-4B90-A48D-1B7971BF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ADE03-80E6-41C3-8747-4D4070CC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50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F1038-90C4-4B41-8BF5-CE5A067D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96EFB-B7E3-4F94-8733-E2FC6F69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3594E-FD5C-44C6-B277-FC75C565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955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D8EE1-8EAF-4E26-BCDF-72FC7544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86000"/>
            <a:ext cx="50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1057D-B30A-45F8-8BDF-8E631F62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81225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285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566825-0825-46AF-AE17-0D8CC614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reported demands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EDC82-A549-4A35-A7D0-514704A8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32C45-EE4C-44AF-A3F0-8944D029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50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813791-82E8-4553-ACE9-15BEE315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81225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68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16DAA-5F6C-49E3-9D2C-69E51F20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backlog items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7AA9E0-A46A-4E1F-88DA-56E2D45B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B33CC-F2BC-477D-83D6-4B623265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50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CA4640-716E-4F7E-8D67-4632F337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81225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67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0485FD-433D-401D-B42C-A0F8CED8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57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9D84B5-5BAF-4200-9CA1-B10829A8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36576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B0DF0C-C8E8-4574-BC24-6ABB4D67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◉  IB / MB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A3B8B3-C86F-449B-9B27-FFF72876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29075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25 / 113  (22.1%)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9282A1-4C6A-4829-8C1C-40CBB685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91025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D51130-5BB1-440E-BDCA-A8873729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958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16.99B volume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21E4B5-F766-435A-86EA-8F732465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7682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99.9% availability   •   DR Tested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2D97FE-C62B-4776-9ACA-65AF2047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76625"/>
            <a:ext cx="36576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BC8473-4C9A-4DD5-9F9C-C545D578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◆  FinnOne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0A8985-E08F-476F-86B6-7B46C3F9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29075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50 / 122  (41.0%)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A83FCD-A587-4A72-B593-E85A5133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91025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7258B5-4B30-43FB-8244-1881498F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958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3.24B volume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6FA399-8B64-4DAD-99B0-33A23855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7682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100% availability   •   DR Unavailable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76A401-FBAC-4ADF-B593-E8F6609B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76625"/>
            <a:ext cx="36576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A49404-922A-4140-8F83-F76FE6A3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195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⌂  HFLMS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567105-1337-4B96-9443-93C00A34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29075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23 / 50  (46.0%)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33D15B-8286-4324-8895-22E3097E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91025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DF7A29-4233-4540-9A86-54C0CD4C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958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1.24B volume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3D441B-B23F-4A48-BDEA-2AC487AF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7682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100% availability   •   DR Unavailable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0C817E-690F-4AC3-A98C-D67D09B0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483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Management focus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9521E6-F5FE-491F-B3E1-39C0B5E0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19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MB incident controls and backlog capacity need attention. FinnOne and HFLMS require interim recovery controls before the 2027 DR upgrades.</a:t>
            </a:r>
          </a:p>
        </p:txBody>
      </p:sp>
    </p:spTree>
    <p:extLst>
      <p:ext uri="{BB962C8B-B14F-4D97-AF65-F5344CB8AC3E}">
        <p14:creationId xmlns:p14="http://schemas.microsoft.com/office/powerpoint/2010/main" val="502261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B84F956-029F-4AF2-AD8C-017610FD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E5053-446F-461A-B0BE-17FFCA9A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IB / MB supports 16.99B in business volume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79F49-05B9-4D67-B308-A2463078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Delivery continues while Mobile Banking reliability needs closer oversight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B383D-B1D6-4427-8D85-B54EB4D5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B53B9-8C60-47FD-9886-2D60951A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graphicFrame>
        <p:nvGraphicFramePr>
          <p:cNvPr id="146" name="Chart"/>
          <p:cNvGraphicFramePr/>
          <p:nvPr/>
        </p:nvGraphicFramePr>
        <p:xfrm>
          <a:off xmlns:a="http://schemas.openxmlformats.org/drawingml/2006/main" x="457200" y="2266950"/>
          <a:ext xmlns:a="http://schemas.openxmlformats.org/drawingml/2006/main" cx="51435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5e0104a68d475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D38C4-E5AB-42A6-A3A4-9BFEE471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54% of reported volume comes from SME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248E9-AFE2-4202-97B1-3449D432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38375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15910-9B3C-44E7-A90A-DFC87F76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Delivered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B947C-D00C-4479-80A9-3BCB5223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669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83637-888F-4421-B982-E3FD4215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55701A-09F2-4393-AEFA-194DF223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F4C04-22DC-4440-AF60-9D42622B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943F2-264B-46AC-B4D1-48729319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9DC82-5FA4-4AE2-859E-6344CDD1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932AE-C911-4161-9568-BDDDCBF7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77E5E-5EEA-4753-8025-9E0A4B12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48F465-71F3-4704-B088-D962A679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756E8-FD3D-47C5-BCDC-05F22458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FBC79-4027-4529-9973-38B0A24F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2A710-1AD2-4BCD-BEAA-D8E0C546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7A4BA9-2CE5-44EE-9BE3-28D99EA2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6458F-6A0F-49D6-9DD6-898B470D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8AEFD6-3F2D-4390-8C45-887D408C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E911E-03A4-490C-A34E-71535317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41B115-7CC5-4376-B1D7-98480DBC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B53B81-83C4-455C-8425-DFF0F412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F53452-9B47-4FC0-9363-FC0A62F9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80BA53-B527-4FDF-8AC5-E35093DD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965C60-3F11-4EB4-A755-38C0E3B9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BBB521-BBE3-48FA-984E-BD7842FE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72011A-C024-4DF2-8F78-F7898562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AF5CD5-FDC3-46D8-9273-001E39BD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EA9714-021C-493F-9595-6A641211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817569-36EA-4273-9FBF-6CAD6624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7B13D3-CB01-4D44-91EB-E58C52C6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62250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38FBB3-AA33-464C-A06B-0DE5B1A6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E37CB6-E905-43DC-AEDA-BBBC2762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908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75A8FB-AE82-4FFB-B52C-6A431ADC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E47823-3511-46E6-869D-4B000CDA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4D1C77-6340-466D-949D-6835DED4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96AE43-7C63-4A92-B15F-ED65D73E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37DE99-9202-45E8-9AA1-8743848B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AC809D-AA6E-436D-A8B7-537E6EB8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28CBC0-000A-449F-B4A4-CFC84391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5E16ED-A1DD-4BA4-902C-12086815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E9C8D2-E8C3-4C16-94D9-472BE914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45A103-29DA-45DE-A56D-8F3502F5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9ABB48-63FA-4AD0-B104-965FC4C9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FA43B5-7B29-431F-9E33-E6DB334D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E29732-200F-4612-B1CF-0AABE00A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737D6B-B132-4ADC-9AA7-F7117CD9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51F97E4-69C5-4EFF-82A7-AFC47FB7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C9FB875-A6C8-4317-AA42-69C11681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34713F-D700-4DFA-9D36-E2BB20B0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CC194D-D289-4477-8CC7-D584CBA8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AAE0AF4-B0FC-4403-AB65-49472AF7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213A6AC-4AFD-4EE8-AD20-D85F4D22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751EBE-9577-4DAB-842D-82C108BF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16AFF4A-FAF0-4E6A-962F-F3B8CC82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01BBEC3-F2EB-43A8-B7EF-7C704412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CED6D90-E937-43E6-8281-4CC8D3AE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86125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10C1383-BBA1-4282-91D5-888FB245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Backlog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5D357F-60F9-428C-8490-F586C4A6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147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6BEFE53-3008-46C9-9751-2DF57527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98EEE81-BBA6-4CC6-9302-AE17768A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69C48D9-3E77-4347-8023-915F2DE4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5AA47B7-CB05-45DA-8588-AA5FF3B0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28841FD-36C9-4DBF-A804-C2698489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D4D47DB-5A1A-4DB2-A1B8-2CB4AF8C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A6D4594-01F2-499C-8504-4B47783A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AAEC7EF-749B-4B66-8891-69E17758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FC523E3-C813-4BA3-BDED-438CDC17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6795A16-DC5D-4C93-B929-0A1B8182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9D6089A-CFE6-4BD6-A28B-DCE3FBCE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6408571-1BB4-4987-938F-28767845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E9C8DD6-359C-490C-8503-9208936A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3BC40BF-1706-42E9-B388-75368F2E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B9EAF31-55CF-4BD3-BC8B-66947C64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CBF33C6-8581-4AAB-AABE-26BFD888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67E1E14-5E49-440D-844D-1805C2E4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197BC3C-D1D7-4574-8D20-7D27E392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19D456B-03AD-4D36-8DB1-59E5BB0A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572FDA9-C725-47EB-B6CB-0AE0CFE9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C8F862D-8C83-4CBC-9D62-A166844A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E2BB3F0-A74B-489E-B1DC-5B77CA25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8DE1A41-2B82-4BC8-8D50-1845079A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58BA2C1-2711-407C-95AB-7C19AA53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7661BA0-789D-47BE-ACD1-6537D88C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3326F5-B3C9-42A0-9C12-D694F13E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8831408-E11B-46F9-8D92-5D2B8148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2E96133-9051-409F-B449-73CC2E48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10000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7A46FAC-8FF4-4F2B-BCA6-193013BB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385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New demand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7252703-98B8-4B20-837A-D8A485F6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8385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E96A352-EF11-40C0-93E2-F46505F9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05D03BD-2F67-4A2C-BECF-E1EF274D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90BC32E-7265-45E9-B0BC-9B0374CE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49A2DEA-3665-4662-B2A2-F71A15A3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656E6A9-80B0-440F-8F56-C22B8427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3DBAF4C-6F86-46F4-A934-70BCD904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20D4A3D-30D8-4389-957E-6617AAD7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8142F8A-22C1-4C52-9F72-BA4AC775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115D6C3-9E56-43E4-91B3-057025D0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A427CD1-641E-4719-872A-38FB6DFC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BE3F1D3-5498-4947-A13B-F1385468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C7F1570-C3C3-49F0-8B29-1080585C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6A67849-FC30-4E90-B99E-A30EE537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1F6513A-BDF3-4F2D-A002-6724BE63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08E53D9-91B0-4343-947E-A6009DAA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7874A15-38E0-4907-BA37-D79FBC25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D0385C0-F57B-4678-BA27-2AFEF872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C4A0196-AC46-4AF7-ABA5-C727EA5F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BE2CB9E-E54D-4BC8-9469-488E35F9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7CC17E1-7398-4B7A-A9E7-D2095AE6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AF23DAC-A935-4B5D-86BC-2F57274A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6D827DF-0E58-4B79-A64C-0789793A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190CFBC-4539-4A6C-B9F4-918A4E3E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5B83456-3919-4B87-8717-897079C5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22CCC8E-02B8-426E-B3B6-921F2188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33875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CEAF0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24EE37B-4479-4A62-84E4-B48ED2B1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Dropped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2376E5C-1255-4DFF-BBCC-C9A01250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3624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D456720-F252-40D5-B801-BEE6D59F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EF283A8-7D2E-455B-8754-0C7D7B50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E631977-CDD3-48EB-B71A-3F3DDBA2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05A400E-D520-4757-96C2-961C0141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D7C9211-4591-4B66-A7C9-19EE21CB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CA0529C-5363-4A52-8C8F-2CCAEF9F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5396A03-007A-4EE9-BA79-9184B380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B8344FB-7444-4D30-82A8-4DF0F224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05E8924-AF03-4788-AFCD-679F4BB1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5E020F9-913A-46BE-8C2F-E0F4CA7A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E226DDF-EB0C-4A6F-832E-CECBB5B7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F6DBD24-13E6-48C8-96FA-56AB4ED5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280E1F9-CF55-445F-8FCA-FE14CBB2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B19E381-69E6-4A52-B17E-2F560BD6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9CEB006-23B8-482C-BE48-C6DB2EB4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6695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113 demands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710B205-2DEB-4129-8AC6-BDDB9707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813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99.9% availability</a:t>
            </a:r>
          </a:p>
          <a:p xmlns:a="http://schemas.openxmlformats.org/drawingml/2006/main">
            <a:pPr>
              <a:def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DR tested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971FE7A-9121-4D42-8243-55EE8C82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4332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MB: 6 major + 1 minor incidents</a:t>
            </a:r>
          </a:p>
          <a:p xmlns:a="http://schemas.openxmlformats.org/drawingml/2006/main">
            <a:pPr>
              <a:defRPr sz="1575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IB: 2 minor incidents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6E647F8-B464-426A-B372-D470C15C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48350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Operational outcome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4063133-295C-4717-88AD-E17FE00F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800725"/>
            <a:ext cx="881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15 planned deployments. Service continuity maintained during ~48 hours of intermittent MB degradation attributed to DDoS threshold exceedance.</a:t>
            </a:r>
          </a:p>
        </p:txBody>
      </p:sp>
    </p:spTree>
    <p:extLst>
      <p:ext uri="{BB962C8B-B14F-4D97-AF65-F5344CB8AC3E}">
        <p14:creationId xmlns:p14="http://schemas.microsoft.com/office/powerpoint/2010/main" val="1092667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C7D273F-8353-49D8-8497-1193EC77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FBCD4-9A06-4BEE-8150-D622564E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FinnOne combines 50 completed demands with zero outages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0F6DD-BC72-462A-AA10-80126AC8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3.24B reported September volume, with PF contributing approximately 72%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B2AAA-FE4A-4B61-B31B-69D69D15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F683F-85EA-4423-B086-AD9AA626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graphicFrame>
        <p:nvGraphicFramePr>
          <p:cNvPr id="153" name="Chart"/>
          <p:cNvGraphicFramePr/>
          <p:nvPr/>
        </p:nvGraphicFramePr>
        <p:xfrm>
          <a:off xmlns:a="http://schemas.openxmlformats.org/drawingml/2006/main" x="457200" y="2209800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aee83b210d434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478BA-3DB1-4621-A133-66DAC938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0B607-75E1-4B73-A921-86D0F3D5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5742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Completed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B6F1D-1A26-4693-8DC8-68460952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574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AC2E9-FEBE-47CF-9DB2-CA86341A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0AEF1-C9AF-49E3-9A43-B0F92DFA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5E625-2999-4470-9089-60CA7840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AEBB9-7062-4FCA-BFD8-DFA1BF71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5661F-0B0A-471F-AFD1-2EE7DDB6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54F1C-D921-4462-81D4-E407B170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D2A05B-364D-4692-A32A-AFBE62C4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9BC9E-670E-4CC7-A7DC-4E6250FB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00C35-48C9-43EF-8602-E822CC43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49AEA5-EE07-4690-A4FA-C47A7836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7BFF5-D9A8-4375-9794-E819EDC5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433475-772B-4F8B-94C1-6D791875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053CD4-2EE0-4C0B-9348-DC4818A8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8E316-EB06-482E-B5CE-0FBE7551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DA6FFC-FA57-4D2E-8B8B-D80E4124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3364AC-3177-4269-8563-4902495A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424DB6-ED17-452D-97E6-A5B01E88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3B9328-A96B-465C-9796-14942B48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50167B-D962-448E-B991-FB538B25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2FEAAB-84B2-4231-8868-7EEC92FE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33ABD0-C4E5-4D80-B438-6033066D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12BF39-D830-4F2B-958B-6A48E929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54D1FB-245B-4972-8D0F-EA137010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86DD57-EDAE-4751-9799-42F81545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B7AA75-A923-4410-AB2B-E5143E73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7737A4-B3DE-4D11-A7CD-EAA6229F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6A3B73-922E-4D11-826E-28D01B8F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0641CC-4225-4F57-841B-18F1B171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E9E017-AC9D-4855-9C19-16BF59CE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03A051-D715-404A-AB82-9262B4E5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6E804A-15CC-475C-B530-D70759B6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786AF9-3962-4505-8C57-97B69FFD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F96D19-0E1A-4216-8581-6025DA74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2AEB9E-CA1E-407D-BBC0-E52D6548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F2FE4F-7162-4B41-9D9E-02F96942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E7754D-79B3-409E-A1F3-14912BA6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C7328E-0917-489A-BC7A-0624EEFC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B8215C-F6CF-4675-9BA7-83151A0D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7DAC26-CF15-44F6-8509-FAF3134B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767CDD-7DC0-4A3C-B45F-DA6D46DA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649B99-A586-415B-A33A-33D424C6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DAAFC2-7C1C-45F7-9610-812F4FAD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CF3DC1-DC66-491F-9E01-C471E508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8EBD9F-1FB3-4B9D-89BC-45D29507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733896-8F0F-4B25-955A-64E2B133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8D7A94-9C71-4E6D-A55B-D7CE6BA3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675A316-3A64-4CEC-9954-09163BED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440944E-AD0B-4387-9B92-4738B9AB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2ED5BEF-25D0-40C4-9CFB-BCBB317E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E58B5F1-F9B9-4B39-950E-DEC2D372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1E3C5A-50E2-4BFC-A28E-543B4DF9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52725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3A177E2-C4FE-4B13-9F2C-6B0DC70C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81300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744ABEE-8FB9-4978-A26A-2BB1C2FD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7813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7B2CF2B-0FDB-451E-A293-B2CA3F59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C95CEA5-4C39-4537-BBA4-4917183C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2C8E7A-AF0A-44BC-93FB-C5B7B19E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E443721-F258-43D1-B631-CA87B279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31E4008-50F2-4901-B08C-99E81BBD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616268A-C829-4109-977A-7FF057E2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0293B21-1515-47D6-8775-3F56BD05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0FB4DBF-F6D7-4BC3-BD23-572B537F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D2FF403-368B-4A58-ADA0-70A068F1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12B42AF-F8B9-405C-AA71-C87DD8D0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4AB6809-7F41-47DB-9738-D56C96A3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5A3AD6F-894D-4A6B-B1E6-147899C4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8DD2AB7-5415-49EC-B847-5216C7C1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EF0019D-899D-4862-8475-48BD21CB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57CFE07-91A0-4D33-9580-B58F3D64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AF382C5-7F51-4BF4-A27F-FA551EDC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25CF236-457B-4410-AD4E-4C432727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0FE1ECC-F4F9-484C-A4C9-388293A3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04E4EBA-8CB1-4D8E-98D7-DBE70AED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F35BF08-DE83-4039-9265-E85110B9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EFB8B7D-5321-46C8-9F1F-50230A08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B2B8F58-3CD9-4843-961E-6F1E1F52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27F8ED6-A1C1-4BF2-AF9E-36BB0C99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056A6B4-6931-44E1-ACC4-A06E8CE7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DA30FAA-003C-4657-B966-0AC8B125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60A5413-53A9-47F7-84C0-E62EDED3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9015EFB-BAE4-4472-B057-9630AE20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E90B468-61C5-45AE-90E9-056170A0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0EA6371-3190-40BA-845E-EF620D30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4211E00-D828-46A3-8FDB-8843F88E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7660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60CE7C9-DB76-447A-9EE8-6179B89B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0517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Backlog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A122243-8B20-48A8-9E48-34D4468E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3051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5BB67AD-1435-4576-9563-993C375A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D955207-1132-4F87-B72B-BBA27D69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AA19BE0-97B7-4A41-A05F-50F6ABA1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7395C38-65F4-44BF-9A2F-7FB3E213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416D206-0325-48B5-A9C9-70D660F2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296599A-BEB0-4E47-8E30-33F45B98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EAF53A5-5BAD-488A-97E2-C661E64C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849195E-DA51-4BCE-9A06-EEE5378F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04C1852-0FE2-4D34-8D5D-92131923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12A3337-4660-4B20-AC03-9CAF79D7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5AF1063-472A-481B-BA13-AC9D3B4D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7648806-29E4-46EE-BA41-715F2D04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C1A0CAD-5C58-479E-987D-0FFE7364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7A3BF18-F7B5-491E-8646-D9BB503F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5331299-28D2-48DF-961B-4119535C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5CC3E2D-55B9-4CC0-BD05-DD210409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DE0E04F-D29D-4603-9CE0-E903C4E4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BC562F8-3BDC-42BE-996A-D0CBAC19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C66B164-65A7-44EA-BDAA-0E831F1F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9AA5EFF-FA64-4F44-8B41-F8A5E120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4F09AB3-BB10-4DFF-B8D3-0616A8DE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EB3AC5F-CCC2-4B86-A717-03645290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A060D29-8A94-47F0-BAE7-8211B19F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ADAC3FF-7094-4B42-9A45-8DDFBD0E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9F223C1-FE20-4747-AB73-B2E64ECF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AE64744-EE56-4763-AD78-6DDCCD34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88A583F-FD21-4F97-AED1-13647707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64165D0-1AC0-4F38-9CF7-C24F911E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3A1DA3A-B84E-455F-81BC-E37FEC55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B0B8DBB-B882-4F2B-9904-3190B0EC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00475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E2273FF-84D2-47F5-8A50-995E6E3B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29050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Baseline 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765E4E8-0801-49B0-8F09-3C562A76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8290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F2C7363-01E3-4627-A933-C0FCB9FC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243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2B3722D-5701-45BE-AE13-6D4199D0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243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114E7FD-92CE-4471-BE6F-77569723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243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6F755FA-6D53-46C9-9248-0386E8B7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43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AB919D1-2F20-450A-BB3F-57023C1E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2435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CEAF0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7AB9D04-BD4A-467C-92D6-CC2A9E87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5292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Dropped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EF04B64-6F98-4139-A839-DDC5FD0F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3529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1709C0A-5897-45C4-AE05-FDCEB44D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8AAD8BC-78F8-47CF-84BB-C0E48AED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5F05612-F1BE-417A-999E-8D5B2384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970F07F-8025-42A6-821C-548F3AEB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1F60CF9-70C5-4393-9B40-2A95782A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9932D78-A014-4E94-8629-B8177694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89C94D6-DC4C-41C0-8787-E35F26CE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B99E3C0-D333-451B-BF5E-B8B8E738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DBCD25D-BEEE-43AC-A386-B3EC5A6F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4F996F5-F233-4F53-85FB-DFD2B5B1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DFA82EA-51D7-4771-9F48-B40AB986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24,981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8BE95EA-22C4-4329-82DD-31FCE1AF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48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transaction count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FF61376-83A1-4C2B-AFBC-6169CB49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53402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100% availability</a:t>
            </a:r>
          </a:p>
          <a:p xmlns:a="http://schemas.openxmlformats.org/drawingml/2006/main">
            <a:pPr>
              <a:defRPr sz="16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No critical or major incidents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063784A-5D51-4254-BCF1-DC9AE3CB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245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DR unavailable</a:t>
            </a:r>
          </a:p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Upgrade planned for 2027</a:t>
            </a:r>
          </a:p>
        </p:txBody>
      </p:sp>
    </p:spTree>
    <p:extLst>
      <p:ext uri="{BB962C8B-B14F-4D97-AF65-F5344CB8AC3E}">
        <p14:creationId xmlns:p14="http://schemas.microsoft.com/office/powerpoint/2010/main" val="2032534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8F3B3-F009-467E-B756-2FAD79CA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668A3-85E8-44CB-8FB8-B97E387B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HFLMS maintained continuity through secondary-server failover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A212C-2477-4D4C-83B2-8C8257FC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23 completed demands. September volume eased 10.8% from August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5BD8C-F996-4694-870C-80CEB7CF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ED963-0020-486E-A9F2-20AAB9A4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57200" y="2286000"/>
          <a:ext xmlns:a="http://schemas.openxmlformats.org/drawingml/2006/main" cx="7239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f7f8b6c21f45d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E5568-03F4-47AF-A00D-E19FCF49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1.24B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3E32AA-95CD-44AA-AA15-1F841BB3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774 transactions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D12A7-11B7-4E60-8DFF-E322578E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50 demands</a:t>
            </a:r>
          </a:p>
          <a:p xmlns:a="http://schemas.openxmlformats.org/drawingml/2006/main">
            <a:pPr>
              <a:def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23 completed   /   15 in progress</a:t>
            </a:r>
          </a:p>
          <a:p xmlns:a="http://schemas.openxmlformats.org/drawingml/2006/main">
            <a:pPr>
              <a:def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12 backlog   /   0 baseline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F1AA1-DD3E-46F4-A2E4-4EDB9413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1 major incident</a:t>
            </a:r>
          </a:p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12 minutes unplanned downtime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7E54C-456F-4AB0-BD94-7A0CDAF8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0200"/>
            <a:ext cx="3619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DR unavailable</a:t>
            </a:r>
          </a:p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Upgrade planned for 2027</a:t>
            </a:r>
          </a:p>
        </p:txBody>
      </p:sp>
    </p:spTree>
    <p:extLst>
      <p:ext uri="{BB962C8B-B14F-4D97-AF65-F5344CB8AC3E}">
        <p14:creationId xmlns:p14="http://schemas.microsoft.com/office/powerpoint/2010/main" val="17372855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1AB21B-D949-4040-B855-43935446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1AD8D-3C99-4E19-9B90-BB3661A1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The delivery pipeline spans releases, controls and integrations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38C20-AFE1-4A99-A99E-C8D082C8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Selected initiatives reported in September. Pipeline stages guide the next management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C3A9F-288A-468F-82A3-59761496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D175E-9449-46D6-A00D-CD838F1C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06950-4458-43CD-89A8-1C06801D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81225"/>
            <a:ext cx="3657600" cy="36957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B3557-EBC3-4D26-B665-5F340693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145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◉  IB / 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1FBFD-95B9-40C4-BAC8-B730955C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LIVE / DELIVERED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02069-1A9B-4CCB-BE0A-18D78C4D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Skywards cards removal from MB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3x3 Drop 4 – Releases 1 &amp; 2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TAB-52 – Tablet AOF audit requirement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4613A-FA0D-4E57-B78E-6B6D3B25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F8897-BC3B-4EFE-90E3-1CE0FCF2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148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EFR cost enhancements – SIT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SWIFT GPI – Regression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Input Validations – Development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EFMS Upgrade – UAT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Emirati Card – SIT / UAT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4017D5-33D6-4C26-A088-2F24ECCA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81225"/>
            <a:ext cx="3657600" cy="36957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AEA33-8254-411F-A6F6-BC0164E9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145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◆  FinnOne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626B2-FF00-4CE7-A858-C93EDC40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81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LIVE / DELIVERED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69C76-D2C3-4307-9398-4E1E8492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480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LL / LG flag field amendment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Multiple Rate Changes service request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Supplementary Card mobile number / email capture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986BC-5D6A-4CF9-8A6A-C40BF611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48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C170F5-3BF6-4A67-837E-5B946014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148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RTA Integration – Design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PDC Remittance – UAT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EFR for PDC – 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5F8CF-B72D-4FF5-A207-077FBD59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81225"/>
            <a:ext cx="3657600" cy="36957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8D78B2-8A9E-4666-9093-28FAA10A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145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⌂  HFLMS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CAE45D-5AAF-44FA-9B3C-C75E0FA3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LIVE / DELIVERED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FE0027-7F20-42ED-AD41-34987500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No named live initiatives supplied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B5248C-9064-40A2-8FFD-B1C0E5CF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48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CFC4FD-3018-4541-B461-6015980A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148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HF48 Forward Ijara Freehold Phase 2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Dedup logic controls in customer onboarding*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Duplicate CIF: linkage of closed customer*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5B07AA-7C0A-4156-8782-546D2BE1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05525"/>
            <a:ext cx="11277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* HFLMS + Core Banking. Source gives no stage for these initiatives. Names and abbreviations retain the source terminology.</a:t>
            </a:r>
          </a:p>
        </p:txBody>
      </p:sp>
    </p:spTree>
    <p:extLst>
      <p:ext uri="{BB962C8B-B14F-4D97-AF65-F5344CB8AC3E}">
        <p14:creationId xmlns:p14="http://schemas.microsoft.com/office/powerpoint/2010/main" val="2315904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3B1040-22F6-4D9B-8F71-AA5E42BF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04FFC-4576-4D31-8E85-27225AC3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Management priorities: capacity and recovery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EA45C-EE32-445F-B313-98FDE249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Recommended management actions based on September reporting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AAB6B-BC96-4873-AE9C-CEE439DF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2E0B4-D11D-434C-B848-40DC1E0D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81124-F032-44D9-A935-31632A0F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5543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E07AB-986E-4240-8DB2-CCD9BEA1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05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39CDE-6279-4A71-A2C5-38BA41B4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468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MB reliability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EFD69-0B08-4EC5-8584-92A71023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86050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Review the DDoS threshold event and mitigation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FB0D4-8EDA-4EB2-9DC0-DEB71D55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5543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CB827-0098-41CE-A313-DB233B8E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92B28-8FFF-423C-88BB-F79B4BE9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24100"/>
            <a:ext cx="468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Backlog capacity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2C56A-AAD9-4980-BA31-6642AFF6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86050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Prioritize 68 backlog items across the three portfolios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1B368-1C86-41F5-8B48-9EDEB5E5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2825"/>
            <a:ext cx="5543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DA70E-6917-4405-BCAD-E28A8CE3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6712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6CB5E-D92E-4E9C-8BBC-442E08C0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86175"/>
            <a:ext cx="468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Recovery exposure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AC5AEC-99A7-402F-99BE-8B113F84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048125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Agree interim recovery controls for FinnOne and HFLMS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4BE7C-0DD2-42C8-90FD-5F4B3BEF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52825"/>
            <a:ext cx="5543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996040-CA91-4DEA-BB55-97343269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ABD56C-97F5-4C50-9607-D7A1F68D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86175"/>
            <a:ext cx="468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Delivery progression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FE6FB6-DEB1-4F9D-92AB-6F6E7513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48125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Review readiness of SIT, UAT and regression items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DC675-F842-47B1-A489-C3CF206D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Infrastructure has reported headroom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6EF6A7-584A-4D91-8F39-DD6A3195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3657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2782D1-7411-4617-8491-CF0ED8A7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MB / IB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C22B1B-EE8C-467E-BDF3-0E34C04F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CPU 7.97% / 5.01%   Memory 35.64% / 52.87%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E372EC-DE7F-4DB5-804B-84E85ABF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86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Storage 66.10% / 50.17%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38E99C-4297-40AF-818E-1D1248C5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38750"/>
            <a:ext cx="3657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4CC2EA-22B4-4701-9B14-2D30CC26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14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FinnOne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B1ECA6-BE77-452A-8300-251F90D9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00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CPU &lt;10%   Memory &lt;60%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671E0C-81D6-498D-84C1-7E2E0BE1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86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Storage Not supplied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00DFE5-82F2-47C8-ADB1-F0AF35A0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38750"/>
            <a:ext cx="3657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7F154E-44BA-4A77-B921-B5CB3552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14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HFLMS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DA8CE4-B4C3-416D-9574-9BA8E93B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00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CPU &lt;40%   Memory &lt;25%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147209-AD3B-447A-B9A7-221D546E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86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Storage &lt;70%</a:t>
            </a:r>
          </a:p>
        </p:txBody>
      </p:sp>
    </p:spTree>
    <p:extLst>
      <p:ext uri="{BB962C8B-B14F-4D97-AF65-F5344CB8AC3E}">
        <p14:creationId xmlns:p14="http://schemas.microsoft.com/office/powerpoint/2010/main" val="1094895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BC82D3-80E9-4E93-9863-B24A9C58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0579A-6FA9-4914-82C0-76870FDD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AF squad: four initiatives in SIT / UAT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37008-3E83-44D8-B41A-82124314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status snapshot. Two initiatives have business sign-off.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3B341-BFE0-43C4-9A38-55ABD704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3FA5C-D45C-4DF9-84F5-0063BF1D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3BDD1-B6F6-4269-A9B0-36258C04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DA83A-9F52-4CB9-BA2D-C891C8F7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◉  4 solution finalization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20A97-909B-48CE-8A15-4467EE8D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DMGT-1325: Early settlement KFS trigger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DMGT-2063: Hybrid / country-of-origin flags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DMGT-679: Digital AECB and KFS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Fourth initiative not named in 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A955C-66D0-4543-B18A-1C1B730D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4AE73-032F-44FB-BEBE-C8433438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⚙  4 development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045FB-82DB-47B3-9E51-F21B9237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DMGT-267: Facial recognition for ETB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DMGT-1052: New Takaful products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DMGT-950: RTA Integration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DMGT-2583: AF switch to standard rates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5B7F9-6F59-442C-945B-9060EE16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D9251-CC7C-415D-8361-1BFFF65E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✓  2 SIT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C5806-431B-42B9-B60B-145A0B91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DMGT-55 / DMGT-97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Down payment and fee collection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Additional ILOE premium collection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CB498-FB2E-4D82-98C7-D295316F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2E2F7-A1F9-4064-9925-38357626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◆  2 UAT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B36D1E-0B42-49AC-93AC-A0BDC222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DMGT-91: Rate / campaign master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Adding guarantor in FinnOne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Guarantor demand ID not supplied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9C9F9-A031-4852-9CCC-144701C0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CEAF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F7BF6-864F-4E9B-AE00-D5B3A0C4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✓  2 business sign-off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18013-F8BC-4C13-BF1C-AF0C2CBA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DMGT-2480: Wataniya T&amp;C in AF ILOE consent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DMGT-2384: Early Settlement SMS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26D869-3454-49AC-89A1-5E6CDCB8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AC08A6-2D03-4AB4-A7E1-2E45ACB3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▦  4 backlog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6AB2E-18C0-47E1-8289-E4041C1C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Awaiting pickup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30 Sep planned: DMGT-2583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4 Oct planned: DMGT-2480 / DMGT-2384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Actual go-live confirmation required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6496A0-5BDA-4514-93D3-0F4AFCC1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Squad counts are reported stage counts and may overlap the platform portfolio.</a:t>
            </a:r>
          </a:p>
        </p:txBody>
      </p:sp>
    </p:spTree>
    <p:extLst>
      <p:ext uri="{BB962C8B-B14F-4D97-AF65-F5344CB8AC3E}">
        <p14:creationId xmlns:p14="http://schemas.microsoft.com/office/powerpoint/2010/main" val="19239327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E47ED7-DC47-4541-93F4-2D5412E2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20377-7DA3-432B-ACD8-A50CC142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AF delivery roadmap: September 2025–February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61626-27C7-42AB-B7E6-E734A7A3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Historical milestones listed in the AF squad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C0DE7-9B17-4414-AA86-BB3BC737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5A1CC-CDDA-4839-9D37-51D2895F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CBD31-5D21-42B4-9E1C-BA1E87B5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2B49E-06C4-42E8-B865-6911B290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Sep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727AC-5AF7-4D4A-9F5A-90635A8C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Disclosure notification for STL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97DA5-965C-41D1-A3F0-84566636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115CB-08B7-4EC9-BA85-D5A8030F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✓  Oct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5B5E6-7206-4E24-BF0C-72CB2787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Q4 rate deployment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Subvention campaign in FinnOne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4E3EF-5858-4106-8BB8-3D0A183F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53088-CD47-488C-8731-84552FCF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✓  Nov 2025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58DFA-3CB8-458C-8C0C-1FEB0B2D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Updated SLA logic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POD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Job-loss Takaful mapping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9BBA2-6296-4060-A7A1-B3611789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14733-0788-4025-B968-94D41C13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✓  Dec 2025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2F3EC-7EAB-4F38-8122-4B651CE4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Rhoon Integration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EV Tesla PF update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Ramadan-to-standard profit rate switch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IRR value modification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B1824C-F719-4521-9976-21D43B5A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CEAF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9945A-C7EB-4D6B-BF9C-7851D593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✓  Jan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1E5F27-AE37-4F29-85C3-B37C6D58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Map dealer under FD group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087593-3902-4562-9387-4DB2C0F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72BA5A-AA08-461E-9EED-9A63990D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Feb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211A2-73AE-4521-895F-3B6DC304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EMI deferment fee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AF campaign enhancement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New Ramadan rates 2026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Abu Dhabi Motors profit-rate update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4C1661-0A98-4310-BA01-B4B022D2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47975"/>
            <a:ext cx="114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8853E2-F913-4420-9C8D-F0E428C5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47975"/>
            <a:ext cx="114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BEFB4E-E25A-4990-A1F0-5F6732EA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857750"/>
            <a:ext cx="114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230A20-8D69-4277-BC95-C22ECC67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57750"/>
            <a:ext cx="114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1B353D-B3B5-416E-B40D-20C3793F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Read left to right, then continue on the next row.</a:t>
            </a:r>
          </a:p>
        </p:txBody>
      </p:sp>
    </p:spTree>
    <p:extLst>
      <p:ext uri="{BB962C8B-B14F-4D97-AF65-F5344CB8AC3E}">
        <p14:creationId xmlns:p14="http://schemas.microsoft.com/office/powerpoint/2010/main" val="2984996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DD0229-BB4B-445E-8B32-4A0B16AB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E3CE5-74B9-4BD5-A8A8-CBDACDF2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AF delivery roadmap: March–August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BD0F2-FB6E-400C-958D-49DB3151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Historical milestones listed in the AF squad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3A979-D7A9-435C-AE38-241E453E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73C11-DC1E-46ED-9CFB-BCDA18E0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5F69E-1450-4979-9C58-19B0BE3A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4F655-9DE6-4B5A-9BE5-DE73DA48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Mar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2810F-DE82-401D-B735-1EDC8DEE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Sharia terminology update in FinnOne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AF Profit Ramadan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1295D-348A-4593-AF35-F034023D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C4749-2D88-441B-AAEA-93D04458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✓  Apr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CDF96-442C-49C5-88CD-CF4F2F34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WhatsApp Dealer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Frontline employer special-rate change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Standard rate revision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1179F-0810-4E51-9CA8-E95C832D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C5932-B733-46F4-96C7-46325310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✓  May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1EBE8-D270-4D99-8C35-685DF375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Finance amount transfer: I2I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Tenure control for subvention applications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Employer rates / EAR changes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WhatsApp Disable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Golden VISA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FA7B13-5211-4C94-8F53-E37B56D1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905EAB-5D1C-4EFC-B426-51D2357B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✓  Jun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7C7410-3CA2-4EFE-A09B-3BC52068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Motorcycle field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B72608-24C7-44DF-94BD-49232DBB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CEAF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2F112F-8A08-4491-BB4A-89BEEB4D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✓  Jul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C164A7-FC36-48CF-B5C7-6AAF6B8C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ILOE premium update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Frontline campaign extension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Chassis number / flat-rate validation at PDOC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AF Summer Campaign 2026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DMGT-2372: Frontline Hero expiry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D53CCF-D37D-4617-BCD2-68B048CC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4AFF3D-0236-4D4C-8994-D3807F36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Aug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27E2AA-9CF4-46FC-AED4-5A74F58E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PGL: ILOE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PGL: POD rate issue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Tesla rate revision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746978-0739-4B30-821B-C5BCDDD9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47975"/>
            <a:ext cx="114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8C53CC-3EC0-4628-A2B7-4C32F323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47975"/>
            <a:ext cx="114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96F973-8153-411F-A98E-646C25CC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857750"/>
            <a:ext cx="114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373AAA-086C-49F7-9229-96879916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57750"/>
            <a:ext cx="114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C89485-5032-4939-88A9-99ABE50C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Read left to right, then continue on the next row.</a:t>
            </a:r>
          </a:p>
        </p:txBody>
      </p:sp>
    </p:spTree>
    <p:extLst>
      <p:ext uri="{BB962C8B-B14F-4D97-AF65-F5344CB8AC3E}">
        <p14:creationId xmlns:p14="http://schemas.microsoft.com/office/powerpoint/2010/main" val="11851413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FB4DD6-FD81-4A82-A15D-36443923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36754-4546-4BFD-B4AC-7E7D1A59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PF squad: six initiatives remain in solution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3A522-72AE-4267-A5A5-EDCF8784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status snapshot. One initiative has business sign-off.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3DC73-93F8-431A-849A-372B2719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BD757-4C9F-4C65-8D63-D82AFB1B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20A4D-4F2F-4CAD-A60C-0DFB8417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419D5-1942-4D75-AC17-774DBBEA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◉  6 solution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DA7FC-0F45-43A0-9876-61BE039A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83: RAO salary check in liability settlement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49: Early settlement methodology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1336: Early settlement KFS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2557: LC retention scheme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1708: Flexi Salary after-sales (LEAN)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1021: EFR for NTB / ETB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E7709-F8D3-4921-A6B5-74068DB2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EB932-B32E-4DA7-A013-E58D53BA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⚙  1 development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00AE9-EDE3-495A-8063-0C68D40A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DMGT-91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Business pricing updates in FinnOne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AB28C-414C-4373-9C57-8C4C2B72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9D72A-A3D4-4EDB-8BF4-44F9EE79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◆  1 UAT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A6C34-CE2C-4BE6-BD67-C4C6C817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DMGT-106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LC PDC settlement remittance to the correct account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447D7C-903D-4856-9241-CE2A7333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290999-5DB1-4A48-937D-1B8D1982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✓  1 business sign-off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B61085-9B74-4D95-BAE9-134504C8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DMGT-56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FTS enablement in all STL segments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Planned go-live: 4 October 2026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Actual release confirmation required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C863C6-4424-4D71-969A-BA646806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CEAF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919A1-0393-46D5-A116-AAE394D1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▦  3 backlog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54860D-B84C-4C49-9470-0FC79E3B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Pickup depends on delivery of the current set of demands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98F82D-444A-40C2-92C7-B6D54C14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245597-4490-4975-B45C-AAD74C2C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↻  8 open points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0CDD80-E2ED-448D-AD34-CC88C714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Tracked separately for follow-up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Treat as tracking items until demand scope and unique IDs are confirmed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1FE1B2-F920-4961-9C6D-928E4001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Solution-design numbers use the DMGT prefix. Squad counts are separate from platform totals.</a:t>
            </a:r>
          </a:p>
        </p:txBody>
      </p:sp>
    </p:spTree>
    <p:extLst>
      <p:ext uri="{BB962C8B-B14F-4D97-AF65-F5344CB8AC3E}">
        <p14:creationId xmlns:p14="http://schemas.microsoft.com/office/powerpoint/2010/main" val="15959925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5E9402-EE1F-4A28-8323-3345FD3F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5508E-88B8-47A0-8E50-2F03D3DD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PF delivery roadmap: September 2025–April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F434F-0DB7-4F5C-ACF1-4A294CC6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Historical milestones listed in the PF squad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E7E77-9A8D-4E48-86AE-C96A7785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76715-647A-4055-A230-C36F4853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FE112-51A6-4D5F-B0B3-B80A54E1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2E2D2-4551-46C7-9BC4-5841159E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Sep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76577-73A2-460A-AE05-28246832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DMGT-90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Disclosure notification in PF STL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AE563-D775-45CF-A487-361366CF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BDA92-2B86-49A5-B51A-2C364F7F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✓  Oct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070EC-AD4B-41C5-879E-81EC810B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DMGT-54: Account start date in LS cases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DMGT-94: FinnOne PF applications for People of Determination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51DB0-4DC0-40DA-9D5C-E406E506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3BE83-87B1-4F14-8941-8AA5C27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✓  Nov 2025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924BF-502E-4D81-8B81-E475FC1C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DMGT-1459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New pricing for PF products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F5559-03F6-4A35-BE1C-045737C8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ACC59-D53F-4C8B-9F29-8F8C98CB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✓  Jan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F5453-AA79-4667-A77B-0C9A3F18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DMGT-1665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PF rate change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14FF5-0618-4A10-96B7-5C5576A7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CEAF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7D4B1-72F6-41F2-9090-03315193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✓  Feb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0FF95-2A22-4184-B1EC-DC1B1D45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DMGT-81: LC rule change in FinnOne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DMGT-254: PF policy changes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9145C0-5918-4F47-AC12-F9241731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D2FEB-0B3B-4118-AFD1-8A2E6203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Apr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AF675B-D647-4D09-BFE3-A219DC34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DMGT-105: LL / LG flag field amendment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DMGT-2029: Special employer campaign pricing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DMGT-2065: Frontline employer pricing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10A5EA-0579-4F10-9F9B-7925358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47975"/>
            <a:ext cx="114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575367-89E9-41FD-B5AB-4345054A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47975"/>
            <a:ext cx="114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DC1BDC-6D0A-4923-9945-D8553E08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857750"/>
            <a:ext cx="114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D644D3-8D58-4A4C-8216-9F3118FF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57750"/>
            <a:ext cx="114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3CA456-819F-4B53-A396-D4EC60D0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Only months supplied in the source appear. October 2026 remains a planned milestone.</a:t>
            </a:r>
          </a:p>
        </p:txBody>
      </p:sp>
    </p:spTree>
    <p:extLst>
      <p:ext uri="{BB962C8B-B14F-4D97-AF65-F5344CB8AC3E}">
        <p14:creationId xmlns:p14="http://schemas.microsoft.com/office/powerpoint/2010/main" val="17475811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73D334-920C-4B38-AEC8-2CC55BFF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2320B-B351-41E2-AC38-C3880CC2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PF delivery roadmap: June–October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91FB8F-31F1-4059-9AC3-ED40F596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Historical milestones and the next planned release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64AAC-25EF-4912-9C98-51B4C6CB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B6DCF-4C7F-48A9-89F4-D1C25841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7FB9F-A092-4251-B461-939B5CA9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5C2FF-E23E-4438-A1FC-F5B6D204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Jun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6AB52-4828-4072-9D58-2F61623D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DMGT-913: Add employer pricing campaign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DMGT-2231: Additional frontline employer campaign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94E9F-51D7-4985-B4B0-73C7ED91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7D125D-2F68-475B-B0A1-E0168620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✓  Jul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4F9EB-AFD4-4D22-AD72-D9ABD00C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DMGT-2296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Extend the existing Frontline Hero campaign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A5776-02B7-42BE-A667-19E99C50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98285-6CCB-4BE4-ADE5-45DF36DC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✓  Aug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1E444-F1F2-40DC-85EB-96B731B0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DMGT-2407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LS NTML for PF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D4958-5389-485D-94AC-9D564EC6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F5473-9380-41C5-B603-1859C5E1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◷  Oct 2026 planned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B0384-8ABE-4BB7-95D2-BD00F3A6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DMGT-56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FTS in all STL segments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4 October target in September summary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Delivery confirmation pending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F46B3A-ACE7-4726-8CD7-DF880876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47975"/>
            <a:ext cx="114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CF3A6F-25C2-486B-BCA0-28FB0D1F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47975"/>
            <a:ext cx="114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3053CB-342A-4901-B448-3D1964C2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Only months supplied in the source appear. October 2026 remains a planned milestone.</a:t>
            </a:r>
          </a:p>
        </p:txBody>
      </p:sp>
    </p:spTree>
    <p:extLst>
      <p:ext uri="{BB962C8B-B14F-4D97-AF65-F5344CB8AC3E}">
        <p14:creationId xmlns:p14="http://schemas.microsoft.com/office/powerpoint/2010/main" val="1287376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2026-10-05T14:36:01.9760000Z</dcterms:created>
  <dcterms:modified xsi:type="dcterms:W3CDTF">2026-10-05T14:36:01.9760000Z</dcterms:modified>
</coreProperties>
</file>