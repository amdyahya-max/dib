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898396f831427e" /><Relationship Type="http://schemas.openxmlformats.org/officeDocument/2006/relationships/extended-properties" Target="/docProps/app.xml" Id="R0b12942ffdfa484f" /><Relationship Type="http://schemas.openxmlformats.org/officeDocument/2006/relationships/officeDocument" Target="/ppt/presentation.xml" Id="Rc22d0a8592e743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cad76f5f5b4d01"/>
  </p:sldMasterIdLst>
  <p:notesMasterIdLst>
    <p:notesMasterId xmlns:r="http://schemas.openxmlformats.org/officeDocument/2006/relationships" r:id="Rc66cd0c76add41d3"/>
  </p:notesMasterIdLst>
  <p:sldIdLst>
    <p:sldId xmlns:r="http://schemas.openxmlformats.org/officeDocument/2006/relationships" id="256" r:id="Rbf4444c466e54bae"/>
    <p:sldId xmlns:r="http://schemas.openxmlformats.org/officeDocument/2006/relationships" id="257" r:id="Rf3c574442d6b402c"/>
    <p:sldId xmlns:r="http://schemas.openxmlformats.org/officeDocument/2006/relationships" id="258" r:id="Ref71b9309257468a"/>
    <p:sldId xmlns:r="http://schemas.openxmlformats.org/officeDocument/2006/relationships" id="259" r:id="R83ff3b444dea427d"/>
    <p:sldId xmlns:r="http://schemas.openxmlformats.org/officeDocument/2006/relationships" id="260" r:id="R4acba0785e2e4275"/>
    <p:sldId xmlns:r="http://schemas.openxmlformats.org/officeDocument/2006/relationships" id="261" r:id="R9fb9ef65f766476f"/>
    <p:sldId xmlns:r="http://schemas.openxmlformats.org/officeDocument/2006/relationships" id="262" r:id="R9263cd042d2b48fa"/>
    <p:sldId xmlns:r="http://schemas.openxmlformats.org/officeDocument/2006/relationships" id="263" r:id="R19980a8a2d764410"/>
    <p:sldId xmlns:r="http://schemas.openxmlformats.org/officeDocument/2006/relationships" id="264" r:id="R5d01671551f74322"/>
    <p:sldId xmlns:r="http://schemas.openxmlformats.org/officeDocument/2006/relationships" id="265" r:id="R83eff6f2f7fa48d5"/>
    <p:sldId xmlns:r="http://schemas.openxmlformats.org/officeDocument/2006/relationships" id="266" r:id="Rd78c5b5b177c44df"/>
    <p:sldId xmlns:r="http://schemas.openxmlformats.org/officeDocument/2006/relationships" id="267" r:id="R659a58e1c89b4482"/>
    <p:sldId xmlns:r="http://schemas.openxmlformats.org/officeDocument/2006/relationships" id="268" r:id="Rd76fc836d67e4ce4"/>
    <p:sldId xmlns:r="http://schemas.openxmlformats.org/officeDocument/2006/relationships" id="269" r:id="Re94882189af94db5"/>
    <p:sldId xmlns:r="http://schemas.openxmlformats.org/officeDocument/2006/relationships" id="270" r:id="R0de460c09e5048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883c4be75d4d0f" /><Relationship Type="http://schemas.openxmlformats.org/officeDocument/2006/relationships/slideMaster" Target="/ppt/slideMasters/slideMaster1.xml" Id="R22cad76f5f5b4d01" /><Relationship Type="http://schemas.openxmlformats.org/officeDocument/2006/relationships/notesMaster" Target="/ppt/notesMasters/notesMaster1.xml" Id="Rc66cd0c76add41d3" /><Relationship Type="http://schemas.openxmlformats.org/officeDocument/2006/relationships/presProps" Target="/ppt/presProps.xml" Id="R922f3988cb004343" /><Relationship Type="http://schemas.openxmlformats.org/officeDocument/2006/relationships/tableStyles" Target="/ppt/tableStyles.xml" Id="Rcc83c4d8a59f4ae0" /><Relationship Type="http://schemas.openxmlformats.org/officeDocument/2006/relationships/slide" Target="/ppt/slides/slide1.xml" Id="Rbf4444c466e54bae" /><Relationship Type="http://schemas.openxmlformats.org/officeDocument/2006/relationships/slide" Target="/ppt/slides/slide2.xml" Id="Rf3c574442d6b402c" /><Relationship Type="http://schemas.openxmlformats.org/officeDocument/2006/relationships/slide" Target="/ppt/slides/slide3.xml" Id="Ref71b9309257468a" /><Relationship Type="http://schemas.openxmlformats.org/officeDocument/2006/relationships/slide" Target="/ppt/slides/slide4.xml" Id="R83ff3b444dea427d" /><Relationship Type="http://schemas.openxmlformats.org/officeDocument/2006/relationships/slide" Target="/ppt/slides/slide5.xml" Id="R4acba0785e2e4275" /><Relationship Type="http://schemas.openxmlformats.org/officeDocument/2006/relationships/slide" Target="/ppt/slides/slide6.xml" Id="R9fb9ef65f766476f" /><Relationship Type="http://schemas.openxmlformats.org/officeDocument/2006/relationships/slide" Target="/ppt/slides/slide7.xml" Id="R9263cd042d2b48fa" /><Relationship Type="http://schemas.openxmlformats.org/officeDocument/2006/relationships/slide" Target="/ppt/slides/slide8.xml" Id="R19980a8a2d764410" /><Relationship Type="http://schemas.openxmlformats.org/officeDocument/2006/relationships/slide" Target="/ppt/slides/slide9.xml" Id="R5d01671551f74322" /><Relationship Type="http://schemas.openxmlformats.org/officeDocument/2006/relationships/slide" Target="/ppt/slides/slide10.xml" Id="R83eff6f2f7fa48d5" /><Relationship Type="http://schemas.openxmlformats.org/officeDocument/2006/relationships/slide" Target="/ppt/slides/slide11.xml" Id="Rd78c5b5b177c44df" /><Relationship Type="http://schemas.openxmlformats.org/officeDocument/2006/relationships/slide" Target="/ppt/slides/slide12.xml" Id="R659a58e1c89b4482" /><Relationship Type="http://schemas.openxmlformats.org/officeDocument/2006/relationships/slide" Target="/ppt/slides/slide13.xml" Id="Rd76fc836d67e4ce4" /><Relationship Type="http://schemas.openxmlformats.org/officeDocument/2006/relationships/slide" Target="/ppt/slides/slide14.xml" Id="Re94882189af94db5" /><Relationship Type="http://schemas.openxmlformats.org/officeDocument/2006/relationships/slide" Target="/ppt/slides/slide15.xml" Id="R0de460c09e5048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127132d81f4b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3e1bb9338e43da" /><Relationship Type="http://schemas.openxmlformats.org/officeDocument/2006/relationships/notesMaster" Target="/ppt/notesMasters/notesMaster1.xml" Id="Rd347e9f539a54f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cfeb8578484090" /><Relationship Type="http://schemas.openxmlformats.org/officeDocument/2006/relationships/notesMaster" Target="/ppt/notesMasters/notesMaster1.xml" Id="Rf7c0b957fb6e4b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906f66c8e74258" /><Relationship Type="http://schemas.openxmlformats.org/officeDocument/2006/relationships/notesMaster" Target="/ppt/notesMasters/notesMaster1.xml" Id="R402833187d5843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501b67c824461a" /><Relationship Type="http://schemas.openxmlformats.org/officeDocument/2006/relationships/notesMaster" Target="/ppt/notesMasters/notesMaster1.xml" Id="R2b862e94939c48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4a739a18f14447" /><Relationship Type="http://schemas.openxmlformats.org/officeDocument/2006/relationships/notesMaster" Target="/ppt/notesMasters/notesMaster1.xml" Id="R3985cfa7a95d42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3dcba3a7c942ee" /><Relationship Type="http://schemas.openxmlformats.org/officeDocument/2006/relationships/notesMaster" Target="/ppt/notesMasters/notesMaster1.xml" Id="R90a3c5b31dfe48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313d22103449f2" /><Relationship Type="http://schemas.openxmlformats.org/officeDocument/2006/relationships/notesMaster" Target="/ppt/notesMasters/notesMaster1.xml" Id="R1bee89489d004c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f3409ecbf94094" /><Relationship Type="http://schemas.openxmlformats.org/officeDocument/2006/relationships/notesMaster" Target="/ppt/notesMasters/notesMaster1.xml" Id="R320e6d5e979f4e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9bd5f9c9d144c0" /><Relationship Type="http://schemas.openxmlformats.org/officeDocument/2006/relationships/notesMaster" Target="/ppt/notesMasters/notesMaster1.xml" Id="R4872b5e432e24c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04ab3c8df6431d" /><Relationship Type="http://schemas.openxmlformats.org/officeDocument/2006/relationships/notesMaster" Target="/ppt/notesMasters/notesMaster1.xml" Id="R61f0aac7250f46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bc940528414ff5" /><Relationship Type="http://schemas.openxmlformats.org/officeDocument/2006/relationships/notesMaster" Target="/ppt/notesMasters/notesMaster1.xml" Id="R7f8a328b29d740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7da5b9c0364372" /><Relationship Type="http://schemas.openxmlformats.org/officeDocument/2006/relationships/notesMaster" Target="/ppt/notesMasters/notesMaster1.xml" Id="Rae760d94b89c44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36bca73883948b1" /><Relationship Type="http://schemas.openxmlformats.org/officeDocument/2006/relationships/notesMaster" Target="/ppt/notesMasters/notesMaster1.xml" Id="Rfe0f589b2b30489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f4a369b383142ec" /><Relationship Type="http://schemas.openxmlformats.org/officeDocument/2006/relationships/notesMaster" Target="/ppt/notesMasters/notesMaster1.xml" Id="Rc74ff9397f314ec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dd394d5afa243a8" /><Relationship Type="http://schemas.openxmlformats.org/officeDocument/2006/relationships/notesMaster" Target="/ppt/notesMasters/notesMaster1.xml" Id="R327490682dc443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¹Completed / total demand is a portfolio snapshot share, not a monthly delivery rate. Totals are arithmetic sums of reported platform portfolios, without demand-ID deduplication. 98/285=34.4%. Other states: 24 new demand, 4 baseline 0, 24 dropped. Volumes remain separate because currency and cross-platform overlap are unspecified. Source health labels are Green for all platforms. Management priorities are analytical recommendations.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Planned outages/deployments: IB 5, MB 10. Planned downtime: IB 2h50m, MB 3h15m. Unplanned outages: MB 1. The source reports ~48 hours of intermittent degradation and successful mitigation, not 48 hours of total downtime. Infrastructure: MB CPU 7.97%, memory 35.64%, storage 66.10%. IB CPU 5.01%, memory 52.87%, storage 50.17%. DR available yes, tested, environment readiness validated and recovery procedures confirmed. Source reports healthy infrastructure and monitored reliability. SME share 9.16/16.99=53.9%.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Total demands 122. Exact September volume 3,242,716,155.49. Rounded component volumes sum to 3.24B. PF share 2.33/3.24=71.9%. Planned outages 0, unplanned outages 0, planned downtime 0 hours, unplanned downtime 0. Reliability unchanged and stable operational posture. CPU &lt;10%, memory &lt;60%, capacity healthy within operating thresholds. No DR available, upgrade planned 2027. Source target is sustain monthly processing above 3.0 billion, not a forecast. Product abbreviations preserved from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Exact September volume 1,244,030,273. Source monthly values are rounded to two decimal billions. August-to-September change (1.24/1.39-1)=-10.8%, calculated from rounded figures. July peak 1.57B, March low 0.84B. 0 planned outages, 1 unplanned outage, 0 planned downtime, 12 minutes unplanned downtime. Application server dxb01-vwp-lmsa2 stopped responding and returned Server Too Busy. Secondary server took load and prevented total environment outage. No critical incidents, one major incident, reliability monitored. CPU &lt;40%, memory &lt;25%, storage &lt;70%. Source availability 100% needs reconciliation with 12 minutes downtime.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These are selected named initiatives, not a complete list of the 98 delivered/completed items or 67 in progress. The source spells Emirati Card. LL/LG and CIF expansion not assumed. IB/MB source: Removal of Skywards Cards from Mobile Banking; 3x3 Drop 4 – Release 1 &amp; Release 2; TAB-52 – Tablet AOF Audit Requirement. FinnOne source: Field Amendment for LL and LG flags; Multiple Rate Changes service request; Supplementary Card Mobile No. Email ID Capture.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Next-review evidence: incident closure, customer impact and effectiveness of MB controls; approved pickup plan for IB/MB 27, FinnOne 29 and HFLMS 12; recovery ownership, test evidence and 2027 milestones; release dates, blockers and acceptance decisions. Demand dots each represent one reported item. Data interpretation: source labels all platforms Green. HFLMS reports 100% availability alongside 12 minutes unplanned downtime. IB/MB reports 99.9% alongside ~48 hours intermittent MB degradation. These metrics may use different denominators or service scopes. Reconcile definitions without substituting an invented availability rate. No prior-month demand snapshot, demand aging, capacity allocation, costs, benefits or dates supplied. Delivery share is a portfolio composition measure and cannot establish throughput growth, ROI or delivery efficiency. Volumes are business transaction volumes, not revenue. Summing portfolios assumes no cross-platform duplicate demand IDs and needs validation before an enterprise unique-demand total. Recommendations do not imply approved owners or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AF executive summary attachment IMG_212267D2-D987-4FA7-B317-11571926A8EA.jpeg. Four solution-finalization items reported but only three named. Adding Guarantor has DMGT without number in source. Source reports 18 stage-counted initiatives (4+4+2+2+2+4), not independently deduplicated. DMGT-2583 is listed under development and planned 30 September 2026. DMGT-2480 and DMGT-2384 planned 4 October 2026. Dates are plans, not confirmed releases.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AF roadmap screenshots, September 2025–February 2026 and March–August 2026. These are historical milestones, not September 2026 delivery counts. Names retained from the previously reviewed AF roadmap.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PF executive summary IMG_607B2DBC-EFD7-4E54-BD48-3BCC7F4B5C7E.jpeg. Six solution-design demand IDs DMGT-83,49,1336,2557,1708,1021; one development DMGT-91, one UAT DMGT-106, one business sign-off DMGT-56, three backlog and eight open-point tracking entries. Do not add all counts to platform demand totals. DMGT-91 appears in both AF and PF source descriptions, requiring cross-squad scope confirmation before unique-demand reporting. DMGT-56 planned 4 October. PF milestone source also lists it under Oct 2026 achievements, but actual delivery is not confirmed by the September executive summary.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PF milestone and September executive summary attachments. Historical milestone names and IDs are retained. Only supplied months appear. DMGT-56 is shown under October 2026 in the milestone source, but the September summary gives a planned 4 October go-live. Delivery remains unconfirmed. Roadmap lanes group milestones by period and are not scaled to elapsed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CRM overview IMG_29BCD58C-7D3B-40A6-96C0-6264C3E77CD5.jpeg and CRM demand-list screenshots IMG_FB9C6BDA-7B1E-4979-9011-8122DC64DB60.jpeg and IMG_EFAC1DEB-A9A4-485C-A801-7EEC6B6B5692.jpeg. Overview 35=15+16+4. Demand list agrees on entry counts: 15 Live,16 In Progress,4 Under discussion. Do not add CRM total to existing platform totals without cross-platform ID deduplication. Source reports team adequacy but supplies no utilization or allocation evidence. Counts are September reporting snapshots, not validated monthly completions. No availability percentage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CRM overview. Weekly minor incidents 28+31+34+34=127. Week4 versus Week1 is +6 incidents or +21.4%, a within-month comparison only. CIF sum 1016+11+1+214=1242. Retail share81.8%. Workflow categories may overlap and must not be summed as unique customers or transactions. Lead and opportunity counts do not establish a conversion rate or revenue benefit.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CRM demand list, Live entries. Titles condensed for readability. DMGT-1262 here explicitly denotes electronic-signature re-push in the supplied list, not cloud migration. DMGT-22 source: Millionaire ESG Saving Account, digital channel IB/MB/CRM. Supporting deliveries may also appear in other platform portfolios and must not be added without deduplication.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CRM demand-list screenshots. 9 CRM-owned in-progress entries and7 supporting. DMGT-1272 (also written DMGT 1272) appears twice with distinct titles: Input Validations - Channels/platforms (Individuals) - Five Fields, and Engagement Platform Drop2 (unica). Keep35 row-based pipeline entries until duplication is resolved. Source DMGT-1980 title CRM Staging Environment Control &amp; RTB Readiness. Source DMGT-1406 CPR Personal Data Consent Management analyzing and fixing implementation gaps/issues.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latest CRM overview cloud migration target Q3 2027, planning status. Demand list DMGT-710 under discussion. Preparation tasks and acceptance evidence are management recommendations, not source-approved milestones. All four under-discussion entries preserved. Source also assigns DMGT-1262 to a live electronic-signature item; this deck uses current attachment identifiers and does not reuse earlier memory associations.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4e7250e8ae4e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98090db6454be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54d80cc16846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bbed87674248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dce660536c49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55065db19c44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72F6BA8-B632-4AEF-BD56-D14FAA3E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D4D9CEA-C355-4187-8706-6BCBACD073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213A9B3-B70C-4E12-A818-F79B213433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94B061D-1AF3-4337-BEC7-E686ADA0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ED1107C-D557-4320-ADBA-D38F884099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E420D34-1C31-4DDD-AB9C-071B0CA7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D69E49A-33C1-431E-86E2-BA3B4BC088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D7D39DE7-62C0-4DC7-86FF-A3B43B843E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8F49707-3FE9-4D14-9A8B-D222DA6A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D5216CE-F5F1-45B6-9F66-5B154C59D7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DF08CA-F629-4CA3-B11B-5EC5C52D8F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B3BC26D-F655-42BA-83CF-47C4905B9C0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7E66636-478B-4A4C-945E-1FE9F80A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2B0B37D-E883-43E1-A5AA-5DE3D7C6A3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DE7ED8-9F8A-488A-9369-09AA5525BC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cb8fae470e4461" /><Relationship Type="http://schemas.openxmlformats.org/officeDocument/2006/relationships/slideLayout" Target="/ppt/slideLayouts/slideLayout1.xml" Id="Rc94808cfe34a4fac" /><Relationship Type="http://schemas.openxmlformats.org/officeDocument/2006/relationships/slideLayout" Target="/ppt/slideLayouts/slideLayout2.xml" Id="Rcd98b58a52474a14" /><Relationship Type="http://schemas.openxmlformats.org/officeDocument/2006/relationships/slideLayout" Target="/ppt/slideLayouts/slideLayout3.xml" Id="Rdde0423e576c4ef1" /><Relationship Type="http://schemas.openxmlformats.org/officeDocument/2006/relationships/slideLayout" Target="/ppt/slideLayouts/slideLayout4.xml" Id="Rc1d4ab123c9d4f96" /><Relationship Type="http://schemas.openxmlformats.org/officeDocument/2006/relationships/slideLayout" Target="/ppt/slideLayouts/slideLayout5.xml" Id="R8ffecd66a47348b5" /><Relationship Type="http://schemas.openxmlformats.org/officeDocument/2006/relationships/slideLayout" Target="/ppt/slideLayouts/slideLayout6.xml" Id="Ree1f20ecb88b42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4808cfe34a4fac"/>
    <p:sldLayoutId xmlns:r="http://schemas.openxmlformats.org/officeDocument/2006/relationships" id="2147483650" r:id="Rcd98b58a52474a14"/>
    <p:sldLayoutId xmlns:r="http://schemas.openxmlformats.org/officeDocument/2006/relationships" id="2147483651" r:id="Rdde0423e576c4ef1"/>
    <p:sldLayoutId xmlns:r="http://schemas.openxmlformats.org/officeDocument/2006/relationships" id="2147483652" r:id="Rc1d4ab123c9d4f96"/>
    <p:sldLayoutId xmlns:r="http://schemas.openxmlformats.org/officeDocument/2006/relationships" id="2147483653" r:id="R8ffecd66a47348b5"/>
    <p:sldLayoutId xmlns:r="http://schemas.openxmlformats.org/officeDocument/2006/relationships" id="2147483654" r:id="Ree1f20ecb88b42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97bd5e04364e42" /><Relationship Type="http://schemas.openxmlformats.org/officeDocument/2006/relationships/notesSlide" Target="/ppt/notesSlides/notesSlide1.xml" Id="R46ad04e00f3b41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622da178184460" /><Relationship Type="http://schemas.openxmlformats.org/officeDocument/2006/relationships/chart" Target="/ppt/slides/charts/chart1.xml" Id="R27a40d274fdb40aa" /><Relationship Type="http://schemas.openxmlformats.org/officeDocument/2006/relationships/notesSlide" Target="/ppt/notesSlides/notesSlide2.xml" Id="Rfbcf5d680dce45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7d46f8b10047c8" /><Relationship Type="http://schemas.openxmlformats.org/officeDocument/2006/relationships/chart" Target="/ppt/slides/charts/chart2.xml" Id="R771377bac3ec4266" /><Relationship Type="http://schemas.openxmlformats.org/officeDocument/2006/relationships/notesSlide" Target="/ppt/notesSlides/notesSlide3.xml" Id="R16cd5985118844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ddd8c3b9bc4b79" /><Relationship Type="http://schemas.openxmlformats.org/officeDocument/2006/relationships/chart" Target="/ppt/slides/charts/chart3.xml" Id="R71cca99e5024466a" /><Relationship Type="http://schemas.openxmlformats.org/officeDocument/2006/relationships/notesSlide" Target="/ppt/notesSlides/notesSlide4.xml" Id="R539eb256233d49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0c60d4e9c945e0" /><Relationship Type="http://schemas.openxmlformats.org/officeDocument/2006/relationships/notesSlide" Target="/ppt/notesSlides/notesSlide5.xml" Id="Rb3dc248c027c4d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2329882f1e4d1c" /><Relationship Type="http://schemas.openxmlformats.org/officeDocument/2006/relationships/notesSlide" Target="/ppt/notesSlides/notesSlide6.xml" Id="Rbff25727bfbd4f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1b4401402048b3" /><Relationship Type="http://schemas.openxmlformats.org/officeDocument/2006/relationships/notesSlide" Target="/ppt/notesSlides/notesSlide7.xml" Id="Ree0a767326604a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d0932ed17a4f4e" /><Relationship Type="http://schemas.openxmlformats.org/officeDocument/2006/relationships/notesSlide" Target="/ppt/notesSlides/notesSlide8.xml" Id="R91ac9b41dd9343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71ef577e7549d9" /><Relationship Type="http://schemas.openxmlformats.org/officeDocument/2006/relationships/notesSlide" Target="/ppt/notesSlides/notesSlide9.xml" Id="Rd53a2db5485e44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9053b4b48e4ba8" /><Relationship Type="http://schemas.openxmlformats.org/officeDocument/2006/relationships/notesSlide" Target="/ppt/notesSlides/notesSlide10.xml" Id="Rfe0d39c6007f4f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f3899a3f8d46af" /><Relationship Type="http://schemas.openxmlformats.org/officeDocument/2006/relationships/notesSlide" Target="/ppt/notesSlides/notesSlide11.xml" Id="R91f002c273ec41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095fb7865d4a8e" /><Relationship Type="http://schemas.openxmlformats.org/officeDocument/2006/relationships/chart" Target="/ppt/slides/charts/chart4.xml" Id="R7eabf6de84fa408c" /><Relationship Type="http://schemas.openxmlformats.org/officeDocument/2006/relationships/chart" Target="/ppt/slides/charts/chart5.xml" Id="R64881a9e8eec475f" /><Relationship Type="http://schemas.openxmlformats.org/officeDocument/2006/relationships/notesSlide" Target="/ppt/notesSlides/notesSlide12.xml" Id="Rb143d1ea5f424a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ef4c36af234c64" /><Relationship Type="http://schemas.openxmlformats.org/officeDocument/2006/relationships/notesSlide" Target="/ppt/notesSlides/notesSlide13.xml" Id="Rb145a817e68a425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2743afef394af0" /><Relationship Type="http://schemas.openxmlformats.org/officeDocument/2006/relationships/notesSlide" Target="/ppt/notesSlides/notesSlide14.xml" Id="R2b30a19bd3b847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9a07a5c8b543f5" /><Relationship Type="http://schemas.openxmlformats.org/officeDocument/2006/relationships/notesSlide" Target="/ppt/notesSlides/notesSlide15.xml" Id="R684166b175df416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Reported volume</c:v>
          </c:tx>
          <c:spPr>
            <a:solidFill xmlns:a="http://schemas.openxmlformats.org/drawingml/2006/main">
              <a:srgbClr val="087F6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6A87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58FC7"/>
              </a:solidFill>
            </c:spPr>
          </c:dPt>
          <c:cat>
            <c:strLit>
              <c:ptCount val="2"/>
              <c:pt idx="0">
                <c:v>Retail</c:v>
              </c:pt>
              <c:pt idx="1">
                <c:v>SME</c:v>
              </c:pt>
            </c:strLit>
          </c:cat>
          <c:val>
            <c:numLit>
              <c:formatCode>0.00"B"</c:formatCode>
              <c:ptCount val="2"/>
              <c:pt idx="0">
                <c:v>7.83</c:v>
              </c:pt>
              <c:pt idx="1">
                <c:v>9.16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3A4B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9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BEF"/>
              </a:solidFill>
            </a:ln>
          </c:spPr>
        </c:majorGridlines>
        <c:numFmt formatCode="0.00&quot;B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Reported volume</c:v>
          </c:tx>
          <c:spPr>
            <a:solidFill xmlns:a="http://schemas.openxmlformats.org/drawingml/2006/main">
              <a:srgbClr val="087F6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6A87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58FC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9167D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DA82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E57495"/>
              </a:solidFill>
            </c:spPr>
          </c:dPt>
          <c:cat>
            <c:strLit>
              <c:ptCount val="5"/>
              <c:pt idx="0">
                <c:v>AF</c:v>
              </c:pt>
              <c:pt idx="1">
                <c:v>AF-EV</c:v>
              </c:pt>
              <c:pt idx="2">
                <c:v>CC</c:v>
              </c:pt>
              <c:pt idx="3">
                <c:v>PF</c:v>
              </c:pt>
              <c:pt idx="4">
                <c:v>SBF</c:v>
              </c:pt>
            </c:strLit>
          </c:cat>
          <c:val>
            <c:numLit>
              <c:formatCode>0.00"B"</c:formatCode>
              <c:ptCount val="5"/>
              <c:pt idx="0">
                <c:v>0.63</c:v>
              </c:pt>
              <c:pt idx="1">
                <c:v>0.02</c:v>
              </c:pt>
              <c:pt idx="2">
                <c:v>0.19</c:v>
              </c:pt>
              <c:pt idx="3">
                <c:v>2.33</c:v>
              </c:pt>
              <c:pt idx="4">
                <c:v>0.07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3A4B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9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BEF"/>
              </a:solidFill>
            </a:ln>
          </c:spPr>
        </c:majorGridlines>
        <c:numFmt formatCode="0.00&quot;B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Reported volume</c:v>
          </c:tx>
          <c:spPr>
            <a:solidFill xmlns:a="http://schemas.openxmlformats.org/drawingml/2006/main">
              <a:srgbClr val="087F6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6A87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58FC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9167D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DA82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E57495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6A878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258FC7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9167D3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EDA82D"/>
              </a:solidFill>
            </c:spPr>
          </c:dPt>
          <c:cat>
            <c:strLit>
              <c:ptCount val="9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</c:strLit>
          </c:cat>
          <c:val>
            <c:numLit>
              <c:formatCode>0.00"B"</c:formatCode>
              <c:ptCount val="9"/>
              <c:pt idx="0">
                <c:v>1.08</c:v>
              </c:pt>
              <c:pt idx="1">
                <c:v>1.2</c:v>
              </c:pt>
              <c:pt idx="2">
                <c:v>0.84</c:v>
              </c:pt>
              <c:pt idx="3">
                <c:v>1.1</c:v>
              </c:pt>
              <c:pt idx="4">
                <c:v>0.97</c:v>
              </c:pt>
              <c:pt idx="5">
                <c:v>1.01</c:v>
              </c:pt>
              <c:pt idx="6">
                <c:v>1.57</c:v>
              </c:pt>
              <c:pt idx="7">
                <c:v>1.39</c:v>
              </c:pt>
              <c:pt idx="8">
                <c:v>1.24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3A4B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9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BEF"/>
              </a:solidFill>
            </a:ln>
          </c:spPr>
        </c:majorGridlines>
        <c:numFmt formatCode="0.00&quot;B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Reported volume</c:v>
          </c:tx>
          <c:spPr>
            <a:solidFill xmlns:a="http://schemas.openxmlformats.org/drawingml/2006/main">
              <a:srgbClr val="087F6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6A87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58FC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9167D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DA82D"/>
              </a:solidFill>
            </c:spPr>
          </c:dPt>
          <c:cat>
            <c:strLit>
              <c:ptCount val="4"/>
              <c:pt idx="0">
                <c:v>Week 1</c:v>
              </c:pt>
              <c:pt idx="1">
                <c:v>Week 2</c:v>
              </c:pt>
              <c:pt idx="2">
                <c:v>Week 3</c:v>
              </c:pt>
              <c:pt idx="3">
                <c:v>Week 4</c:v>
              </c:pt>
            </c:strLit>
          </c:cat>
          <c:val>
            <c:numLit>
              <c:formatCode>0</c:formatCode>
              <c:ptCount val="4"/>
              <c:pt idx="0">
                <c:v>28</c:v>
              </c:pt>
              <c:pt idx="1">
                <c:v>31</c:v>
              </c:pt>
              <c:pt idx="2">
                <c:v>34</c:v>
              </c:pt>
              <c:pt idx="3">
                <c:v>34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3A4B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9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BEF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Reported volume</c:v>
          </c:tx>
          <c:spPr>
            <a:solidFill xmlns:a="http://schemas.openxmlformats.org/drawingml/2006/main">
              <a:srgbClr val="087F6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6A87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58FC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9167D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DA82D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E57495"/>
              </a:solidFill>
            </c:spPr>
          </c:dPt>
          <c:cat>
            <c:strLit>
              <c:ptCount val="5"/>
              <c:pt idx="0">
                <c:v>Cases done</c:v>
              </c:pt>
              <c:pt idx="1">
                <c:v>CRAT</c:v>
              </c:pt>
              <c:pt idx="2">
                <c:v>GBO</c:v>
              </c:pt>
              <c:pt idx="3">
                <c:v>Leads</c:v>
              </c:pt>
              <c:pt idx="4">
                <c:v>Opportunities</c:v>
              </c:pt>
            </c:strLit>
          </c:cat>
          <c:val>
            <c:numLit>
              <c:formatCode>#,##0</c:formatCode>
              <c:ptCount val="5"/>
              <c:pt idx="0">
                <c:v>5544</c:v>
              </c:pt>
              <c:pt idx="1">
                <c:v>8382</c:v>
              </c:pt>
              <c:pt idx="2">
                <c:v>10028</c:v>
              </c:pt>
              <c:pt idx="3">
                <c:v>51525</c:v>
              </c:pt>
              <c:pt idx="4">
                <c:v>45465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73A4B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9D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BEF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DFF195-E19D-4C5C-8262-5049BA7B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3E660-49AE-430C-8227-F89AAE98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Delivery progressed, with resilience gaps requiring attention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45936-C2F3-4F91-809A-524A3AF8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Executive outcome across IB / MB, FinnOne and HFLMS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32D32-E723-4727-BFC2-0389AFDC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D9ADC-55BE-444A-8771-954ED053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22BC5-FFB0-4E0C-8D3F-9B5D3275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2667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99A24-DFEF-417A-B07D-ED2BCC99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504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A7CB2-4682-47C0-84E0-63FC9ADD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185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98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B51DF2-B0B7-43FA-9407-EE0BE24F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delivered / completed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93D07-0E8F-4294-BBD0-E8D17BDD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95500"/>
            <a:ext cx="2667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72CAE-9F86-4BDF-8301-7FEA5F2F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86000"/>
            <a:ext cx="504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62AF4-12B0-4C46-B46A-8A5B4209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81225"/>
            <a:ext cx="185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285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1592B-1B60-4804-AC3E-0D496A05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reported demands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5289CF-8891-4862-9296-55E897D6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2667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5F5DB-642F-4E4D-8A78-9FB6B98A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504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3061DE-610D-4D33-82AA-3659B33B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81225"/>
            <a:ext cx="185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68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7BF587-A804-494D-B1C8-9BFB66A1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backlog items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4FAC41-2E5A-426A-86C6-F7882244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2667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5D3467-7D57-44F5-8A44-15941350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86000"/>
            <a:ext cx="504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3DDEFB-E703-420C-824B-1D27F165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81225"/>
            <a:ext cx="1857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67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ED0F1C-F7EE-41BD-B64F-A283E77C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57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3892AB-EDD2-4E63-B0B6-77551705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36576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FD80C9-23CA-4D28-B9E6-21BC97BC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◉  IB / MB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A59771-F0AA-4CA7-A277-A3E8EA8A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29075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25 / 113  (22.1%)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812463-0F49-4F27-B764-32999557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91025"/>
            <a:ext cx="331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delivered / completed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AE1A57-6905-4787-8056-F83C1010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95825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16.99B volume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764614-BEDB-45AB-8843-E6D3B246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76825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99.9% availability   •   DR Tested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8DBB5E-00CF-4A41-AE18-908A74A0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76625"/>
            <a:ext cx="36576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478E37-C916-486C-B425-E9FC7E68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◆  FinnOne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6252B7-21FE-4C16-A074-DBF9309E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29075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50 / 122  (41.0%)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7D83CC-C894-4EDE-87FD-7B1B2722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91025"/>
            <a:ext cx="331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delivered / completed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88549E-6011-48E5-B62A-4923C28F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95825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3.24B volume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8158D7-6095-4353-95EF-5C6A32FF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76825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100% availability   •   DR Unavailable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568E9D-3AC7-4D56-BFFD-7772E8A9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76625"/>
            <a:ext cx="36576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474871-F06B-41EB-80C9-8004F530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195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⌂  HFLMS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176BED-5DA7-417D-9F00-51BC12D9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29075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23 / 50  (46.0%)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8A1BBD-B886-40C1-802A-D12509A7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91025"/>
            <a:ext cx="3314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delivered / completed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5691E0-4159-40A3-B94E-692E196D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95825"/>
            <a:ext cx="331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1.24B volume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37AAF6-0832-400E-9C7C-7D2C9E65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76825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100% availability   •   DR Unavailable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77625B-F0E8-4063-B1FA-9E855C54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483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Management focus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61D72A-E0E5-4BA2-9092-BBB3704C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19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MB incident controls and backlog capacity need attention. FinnOne and HFLMS require interim recovery controls before the 2027 DR upgrades.</a:t>
            </a:r>
          </a:p>
        </p:txBody>
      </p:sp>
    </p:spTree>
    <p:extLst>
      <p:ext uri="{BB962C8B-B14F-4D97-AF65-F5344CB8AC3E}">
        <p14:creationId xmlns:p14="http://schemas.microsoft.com/office/powerpoint/2010/main" val="7215327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0169D82-333C-4B34-94F6-33AF8C61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8BEF7-D0C0-44D2-A71D-AF2ABE3F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IB / MB supports 16.99B in business volume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10765-84D2-42CC-92C2-ED1064F3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Delivery continues while Mobile Banking reliability needs closer oversight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7F314-01A8-4A24-B669-4C74BF22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D0952-8442-4C75-B3DE-A99E0577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graphicFrame>
        <p:nvGraphicFramePr>
          <p:cNvPr id="146" name="Chart"/>
          <p:cNvGraphicFramePr/>
          <p:nvPr/>
        </p:nvGraphicFramePr>
        <p:xfrm>
          <a:off xmlns:a="http://schemas.openxmlformats.org/drawingml/2006/main" x="457200" y="2266950"/>
          <a:ext xmlns:a="http://schemas.openxmlformats.org/drawingml/2006/main" cx="514350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a40d274fdb40a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11C61-9341-45DA-B1AD-A79FE372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54% of reported volume comes from SME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52E2B-B4D6-4841-BC44-855BA976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38375"/>
            <a:ext cx="285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33AF0-CC4C-40D0-A3C1-3C104DFB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Delivered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85DB9-152E-4B31-A4BA-F611DD96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2669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818D8-AADB-40CD-8671-8E3B1A38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2B67E-E20D-4B73-9936-60943EAB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E8AC8-8D7C-4D47-9AF2-EDF71D8A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DFDF15-25D6-41AB-B680-527302D4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DE763-36DB-4CF8-8ECE-281ED997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F8A981-738A-4C28-B882-1DBF8ED7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64E4C3-938B-4AED-963C-677B42E0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A52C7C-C2D8-4DC9-8B60-38FB053C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C2D347-574E-4D27-A004-DD3EAC21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488073-844D-4A5F-AA7E-82416368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DF0B0A-8D3D-467D-B3F6-8FF87B45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D32692-211D-4255-8358-A4529C62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98BC09-D85A-42E5-B1A9-C14FCC7A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02BE56-FC22-477D-B7A7-1769A37D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F0CEF2-7FB2-43D6-ABE6-503641F2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D9251A-4172-4A8D-A997-35AAAE8F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199151-4724-401C-AC8D-DADF6EE0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C1658A-73E3-4093-ABD7-BFE8DAEA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55B180-A76C-4D96-A27A-E6807982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A28141-4A89-4880-A3AB-2CA197AD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1423F9-440B-4A3E-A8E8-C458B13F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8C9C1A-CC74-4BE1-B24B-CF54E8CE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F4EACE-7BC6-485A-876E-A40BE660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DD792F-FC1F-4AA3-98CA-EEC0938A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D7E446-2051-4AF5-A49F-2F2D5E7B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622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0EC0C9-6638-472A-BB36-5C9C1F85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62250"/>
            <a:ext cx="285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4E4D44-D5FF-4181-A15E-F609E02C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9082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942FBA-2556-4A66-A9BD-666933CE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7908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D7F37C-1FD7-4E09-870E-5F18CE8E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9F9568-B445-4478-AEE2-DA1F7863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EAF3BB-9DC4-403A-B519-40FC67F7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3AE83D-4163-487B-8BA1-D5209937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73AFF0-4086-4EC8-BCC9-1F4FDE9C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36D8E4-254E-4484-8ACB-1D2035C5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B063BE-1E01-445D-90FE-4520F27E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FD9F8B-76BA-44DD-93B4-62CD7B34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6CC374B-227D-4668-A8CD-C10591A3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8D731E-803C-4764-BC6D-76A583AC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19637D-0C87-463D-A76E-39572082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2AC8E3-F768-4EC9-8A69-DE50898D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3C1397-44C8-4693-8428-EC3569F2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30C0FD-854E-4F60-A37C-11A9D908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5C8032E-7F0C-4842-8877-D049F488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777775D-965D-484E-8C32-ED7403BC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D824ED4-20A0-48D9-A589-70F17117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F880BF2-2083-411D-BFC5-80CAE79F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A1E27C2-EC5D-4AA6-9B5D-C571B345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4923A3F-55DE-4032-8D48-426AE062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11028D9-DBB1-4C62-A340-38658405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AED30D6-4C06-4725-88C5-E8A145E0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D443C31-413D-46DD-8231-99ABCF4B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861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9B86A6F-D3A1-4774-9938-5A56308B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86125"/>
            <a:ext cx="285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4EB12BB-BC4E-422A-91FF-0E20484B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1470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Backlog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CE03C55-5DA9-4780-B116-55423636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31470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743FFBF-372A-4D4E-A956-2A06823B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61E0FC1-FDB5-48A4-9CC8-B0DEC806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43173A7-772C-457F-B442-434EB47B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7B8D8D8-C3E9-410E-BB64-587E14C6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390D037-705D-412E-9D93-6B239CA8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98644C1-A63C-4919-9974-AAD07640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8E9521E-703A-420A-8DAC-32512480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2ED31BE-BB04-4664-B21B-2F284F0C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3161A7C-CB52-4326-8EDE-74ED16AB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FD495D2-E753-4F7C-9122-409CC9BB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3C98050-B0B7-4A2E-BBC6-603CC35D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C878461-F3CD-412A-AEA1-7407F4F3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45C21F7-6E5F-4D55-8C37-378A2509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729A03A-0788-47EA-BC7E-2CB7C834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B8050AB-1D77-402C-9968-5927C36B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1D86A28-C6ED-480D-B9EF-EBB0C8DC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FDA44EF-954A-43FA-A2D9-542B2756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8F7D92F-1E7F-47A2-9BDE-264C7396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49A65EA-76E3-4B65-A1DE-F255D33F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B6CA438-428D-42FA-9B19-67AA9AB5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10AA7DC-5168-479B-AD50-22E91D8D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EDA89C8-8503-4EA7-B254-6DF637FF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4DAFE2A-C380-4EF9-B6DC-E4D08DAA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4208834-5B44-46CF-9C6F-A7282923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C4FC5CC-9B62-44DD-BE79-B128FDFB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2966EA1-3E34-4603-89A8-34A2B1AE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A004DA4-DC21-4DAB-A490-6A3D4491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099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7823D0E-3759-4358-8C1C-CD919715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810000"/>
            <a:ext cx="285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6681967-220B-4658-A1E4-DAA683EC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38575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New demand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B710CBB-47CE-4A85-84D2-788AFB28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8385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69C7049-70A0-4B8F-A01F-BF16EBDA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EC15255-3EC3-473E-A6BF-3B7C00F5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ACE8363-8600-42FC-9D34-E488FCAC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98EB91A-A666-4237-A658-AD2C413E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26A217D-4164-4553-AE31-184F710B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B85C176-07F8-401F-9C69-02D38482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43AE38B-4819-4F63-9CB0-5A4C7F67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75BBF6E-81EF-4D2B-AEF9-BBF59E1D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A50BA44-AC88-4949-91AD-CB065DA9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BFEBF06-7E14-468F-A55D-BF4641B2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4F947D9-2DE8-4B45-9A41-B7BCEAA0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7C98179-AD5B-486B-BE88-4FC44086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A6F8BCC-5DA6-4FEF-A81E-83565D3E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15704EC-1CE2-402E-8FF9-24FCAEA1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A7D90C6-213B-461A-BD36-2D636DEC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171300E-EC49-44B0-8417-CCE09819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304D439-2EAB-4D7D-9F1F-F463AE30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4558DC9-30CD-42AB-83E0-DC34CC88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AB8E80A-719C-49D1-ACDF-78925C4D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5ACCB23-4458-473E-B2CA-968F9FBB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9D6D0B5-68B7-4AAD-940A-A3BB1B3E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94803A3-86C8-42EA-AB70-DFC0EA78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74E3327-7CFB-4DCC-87B1-85544452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5EAF2DD-B3E3-4BF9-9529-9A02569C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338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B61B6BF-4C09-4CF4-8227-47CBF919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33875"/>
            <a:ext cx="2857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CEAF0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3B6C88C-966A-4DB4-9DAE-738F9EC7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Dropped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24D6D68-0FBF-4254-A36D-D974FEF8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3624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353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D35373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308D784-6AF8-4126-9A47-18D034C9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CFB5D4E-8490-4013-9A3B-A51CE54C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283B3FC-5647-4D7F-BBA9-553549A4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288A603-CF3C-485A-83C1-9BB7931E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ED56464-30D4-4C1D-8ABC-23843DEC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895B64A-FCB8-4DF7-AB68-535C2591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D4AD01A-685F-4114-B3B0-A0D64CA6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C314D09-A0B3-4236-A39E-4EB5B668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3CA6F6E0-543B-41EF-993A-58E7C8B8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BA519FE-9749-4CB7-932D-D27713BA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254088F-BF92-441F-B81F-62A70680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EBBFD3B-69D3-426A-968A-F94DD489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5C74514-3912-4DDA-BE98-9E870E47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0B32DDD-0613-49CD-8190-3A97F9E0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577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09EA492-8BE3-4813-86DA-D87FF205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66950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113 demands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8BDCE33-B0ED-433A-9F69-91DB3F6C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813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99.9% availability</a:t>
            </a:r>
          </a:p>
          <a:p xmlns:a="http://schemas.openxmlformats.org/drawingml/2006/main">
            <a:pPr>
              <a:def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DR tested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2F47C50-EF23-4A23-947B-115A2180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4332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MB: 6 major + 1 minor incidents</a:t>
            </a:r>
          </a:p>
          <a:p xmlns:a="http://schemas.openxmlformats.org/drawingml/2006/main">
            <a:pPr>
              <a:defRPr sz="1575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IB: 2 minor incidents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9304586-61A6-44C5-9796-9C53710B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48350"/>
            <a:ext cx="238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Operational outcome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4A144C9-4C96-4B6D-86DE-DE18DF0C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800725"/>
            <a:ext cx="881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15 planned deployments. Service continuity maintained during ~48 hours of intermittent MB degradation attributed to DDoS threshold exceedance.</a:t>
            </a:r>
          </a:p>
        </p:txBody>
      </p:sp>
    </p:spTree>
    <p:extLst>
      <p:ext uri="{BB962C8B-B14F-4D97-AF65-F5344CB8AC3E}">
        <p14:creationId xmlns:p14="http://schemas.microsoft.com/office/powerpoint/2010/main" val="157520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67E4B59-F915-4690-927A-37565F50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D00AE-EE8F-47F2-9461-E004F4B1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FinnOne combines 50 completed demands with zero outages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244BD-82DA-4EFB-9A6A-CA0DAFD7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3.24B reported September volume, with PF contributing approximately 72%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4EA08-C4A0-42F4-8548-3D7788E6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93803-0EDB-4E97-8A47-B8C9F8C9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graphicFrame>
        <p:nvGraphicFramePr>
          <p:cNvPr id="153" name="Chart"/>
          <p:cNvGraphicFramePr/>
          <p:nvPr/>
        </p:nvGraphicFramePr>
        <p:xfrm>
          <a:off xmlns:a="http://schemas.openxmlformats.org/drawingml/2006/main" x="457200" y="2209800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1377bac3ec426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1856D-6CD5-4F91-BDC7-7BEDB27A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28850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DA0FE-E368-4531-A838-2B516FCF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257425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Completed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81C5B-B7B0-4C12-9D48-743D923D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574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1F000-879B-4DF5-97B9-6E5ABD1E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DA71C-75F8-489F-BE40-F94425F6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8102D-CD1A-48C2-8129-929C96F5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132C6-9454-46CE-97B0-45666235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47C909-9CF2-493F-8109-4414EAB1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5D627-B1A7-44B9-A125-F4FB79F3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E8710F-D14A-4E17-AD12-F79D72E3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20EEE-0659-49CB-83AE-3F7566DE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778D15-8986-4BDB-8328-0FFBC1A2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3F746A-9125-43D8-97F7-E7D7B111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1ACB26-3F6E-464F-8DCB-0E409C3C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34C47B-0BF7-46DA-B45E-69744839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946106-6B81-4AE1-A2F1-8D914B6C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E0AEC2-D212-4C28-887A-6EBA8793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E2F455-C727-4E01-87A6-A1E38DC7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A47A2C-6849-4D36-89EC-E790809F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322505-5ED8-41EF-9900-E6922C29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40E0C1-5503-4D7D-B0CC-C807AB60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678A21-43C4-4435-B190-FD09B8A0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7B176C-9B07-4CB8-838E-DCE95F5A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30862A-4129-477B-A2D6-185BC54C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4A1D6A-91AB-42F5-91B5-5F74577D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9D6059-3A3D-4096-9125-CE772DB3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F6D79F-DEFC-4E14-AF2D-8E88E325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4EA78C-51BC-484D-98DF-0264C727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224CFD-C77E-41C4-A826-C737CD4B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FFCA18-C7CB-451D-8B09-D6FABAA1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8BFF48-A67E-46F0-8BB4-D6E820DD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F70C1F-6EA4-46A5-B222-30A316F0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D34E70-2369-4741-AB6D-BF313E91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6826D3-B998-4B69-B398-BFE54784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C01B37-1B34-4B4A-AE3F-7CF376FC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1BC7C3-F856-41F6-BA31-EC554933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CA560E-5046-4333-ABC7-F4D40E52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EDCFCD-F6D0-4D74-B88B-B6BB5391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1254E7D-254B-4CA3-9323-68D2FE9A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BCEBEC-64F1-4579-9334-4D01A2E6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E26091F-B823-4ED4-880A-2A1401D7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8BCD45-7EE5-4F85-A8E1-FCEA15B0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C6497D-0663-44F8-820F-E4F09BF0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9FCB49-F705-49A5-B721-731FC480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756E8D-4258-47A1-982F-4FB218F6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6D24E14-5F81-4683-8210-F5C5700C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5DDF00A-97B5-4E63-83FE-4E981126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BED087-8A54-4C97-9E17-32243362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06CA9A1-DD59-4A9A-A82C-691223CB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84808F6-A6E3-4018-B97A-C0D161A8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E8132AB-889A-41B1-8DB9-1DD56118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9F5A016-0E0B-4698-82EA-9EC010FB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7C211D6-6828-4A86-9B2D-2E566832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527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F68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7C16F55-CD64-4AA9-893C-9E67E290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52725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5BF44A6-5217-4213-AB44-A71A2EE4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81300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3561AAC-900E-43F1-996C-767C732B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78130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1F0CCE6-B53F-4A10-9FDE-4985DDB6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0DE1DAF-B28F-4ADC-8C45-6D82791E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2454447-2181-4323-B738-9B982164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DE153FA-192E-456D-93E2-1592D716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D7EA2E7-FBAE-4B5F-919E-12CAF567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4FFE81C-0680-4141-8FAF-6FD57F2A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2FC06B8-7F5B-44D5-A08C-CEA96B8E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433DF12-843D-4E13-945C-F57F06CC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87267DA-B8BD-49A3-9747-F759BD39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81D94B7-DB46-47A1-8AD9-B14CF18F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3E8B0D3-DCE5-4831-B7A4-F6A7612E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A89C7A1-8620-4BE9-ACDC-BACA4072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E27753C-BEF0-4A9A-8AEE-25636BAB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D7D04DD-1BED-48B6-B46E-EEE5B7A7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08B4692-F15F-4FEA-8B36-08FB9DFA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3BC0B26-C821-4FD8-AC0C-594F013A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EDC98A4-D309-4345-9C82-7589F08D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756FAD8-5EB7-4CAA-B357-E92C280C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4492AFB-6E4A-47EC-BCD5-D2EA685D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8CC8174-90B2-4815-AB47-5D8E2508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F124DB6-7C9C-4A91-9D32-C6BCDFFE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FDEDDC1-6B77-4A73-A595-E9611F06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CA03751-11D4-4C8D-9C11-9A870AE9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7F0F183-569D-4298-8A43-292E9B03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0FFF8E7-F7C9-4341-9907-9CF2B248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9DE0BE7-0ECB-40E2-9EEA-451465C2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C062629-5B2B-4F0B-B33A-4D9D9984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FB9F2D5-B78C-4BAF-A914-F63959BF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08AF0B4-DCC3-4B13-976C-101B4102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7657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8C2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3D96F0B-C3A6-42F3-8B85-8C030435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76600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6C89A39-158B-4378-A1ED-02173471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05175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Backlog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15FC180-3EB9-47F9-AC40-4E31533E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3051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C740193-2965-4D73-B358-8A458F85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531D47C-7E4C-43EF-89CA-FD6FC5F5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231C6AB-5487-4671-8872-C0E0D858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A28B205-B650-47F9-95CF-5C727235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DE9109E-1BF7-4396-B547-B0E4BC21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8C8FB36-178A-49D7-915D-5292E6FE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D44B51A-4B7C-4A54-A558-296E0F47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8515075-E6EE-4166-9A2B-184E4A8B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82BB056-C050-4CE1-AB69-A41B0EFB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7D1EC12-D132-478D-8B3F-D1B79712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B659A7C-9A16-43BD-ACC6-2488A069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5F820F4-BF92-4B96-90A6-26A52524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FE27BB1-5026-45B2-8378-C67120CB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DDE9B4B-23B7-43A0-8013-791FF580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DADCF0B-22BA-4291-9025-2C61CECE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3E26D14-4DC9-4FC1-8B34-46D3CCB4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55C26DF-3D4D-4A77-82E0-2CE53062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FBC8C43-1D8C-4DF5-BF98-FA5CA19F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5C839DE-E899-4149-8C6A-7B627AF2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BB4655F-FF84-44F6-830A-EE0DE9C2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8207623-4BD1-4ED3-94D5-5355FF98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8F85DE4-D6A8-42D4-AF05-839D5957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40EEE2A-F332-41F4-81A7-5D9B7B89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4A8C7E2-4A36-4C09-B2AF-07483589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63541EF-D4BD-4101-B715-5261B807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A343E5C-C417-4791-B1FF-8B2470A5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6B3C475-4C2C-408C-8C46-96713B78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B5CB21D-3313-47F8-B4FC-4C45C84B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9B88D56-BB59-4490-A2C0-09FE4367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0045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5BC5"/>
          </a:solidFill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3800EDE-E863-4CEA-A213-5D327C13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00475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AC7B745-2B79-4E33-AF53-E990198A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29050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Baseline 0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9AEEF4C-A161-4CF0-9C62-EB5F929C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8290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149136C-FF9D-4862-AA6D-C88FABC1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1243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66B7FF5-25F5-401E-89CB-856F479E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243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46BB362-7125-40C4-9E98-93C7F973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243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E948A8C-2EC1-4153-8883-EE8ACF5B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24325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7D16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9235ABD-C17E-4BBF-9991-EAFB4341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24350"/>
            <a:ext cx="3810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CEAF0"/>
          </a:solidFill>
          <a:ln xmlns:a="http://schemas.openxmlformats.org/drawingml/2006/main" w="0">
            <a:noFill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61E617B-F85A-4D46-8575-65BC74AA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52925"/>
            <a:ext cx="302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Dropped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A9EEECF-98E8-46F8-85EC-799A54A5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3529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3537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D35373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4DAD1F8-AEB8-4322-9459-D52EFBB7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CE6D506-7BBC-46A9-A6B8-4127F8C8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7D9650D-0CA9-4D8A-A420-53DF1BF2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1524CB5-DBC1-4889-94F6-59490041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B6AE2B7-E6A0-4488-B9C8-B7C4757B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2629A2D-3694-40B1-99B3-65F6A7B6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7DEF3CE-D502-46E3-92C7-17C6B784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CBE1DAF-43B7-42D5-9CA0-85840145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F499B69-5828-4429-9A76-265897B1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AA779BB-C5F0-4CEA-9DFC-EB8C96A4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48200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5373"/>
          </a:solidFill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BF14EEF-B22F-4020-8D4B-F364D259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24,981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F3DF977-5E13-4BCB-99C1-ECF2AA15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48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transaction count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8B811E2-D0FE-4FE0-B4DD-1733DEF5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534025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100% availability</a:t>
            </a:r>
          </a:p>
          <a:p xmlns:a="http://schemas.openxmlformats.org/drawingml/2006/main">
            <a:pPr>
              <a:defRPr sz="16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No critical or major incidents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0F796D2-A306-425C-95E6-3AC77217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2450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DR unavailable</a:t>
            </a:r>
          </a:p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Upgrade planned for 2027</a:t>
            </a:r>
          </a:p>
        </p:txBody>
      </p:sp>
    </p:spTree>
    <p:extLst>
      <p:ext uri="{BB962C8B-B14F-4D97-AF65-F5344CB8AC3E}">
        <p14:creationId xmlns:p14="http://schemas.microsoft.com/office/powerpoint/2010/main" val="10045936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FCB3A-66CE-4525-87A6-330F7378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6D941D-C559-465D-B965-70F193AB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HFLMS maintained continuity through secondary-server failover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0DADD-3E6D-4458-A83B-2C696455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23 completed demands. September volume eased 10.8% from August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CAD73-85BC-49EE-B072-BE545AE1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F1718-E7C7-435E-AE0A-B91ED25A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57200" y="2286000"/>
          <a:ext xmlns:a="http://schemas.openxmlformats.org/drawingml/2006/main" cx="7239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cca99e5024466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C7A25-4D8A-4D6F-A551-821CAA7D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1.24B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72AC9-75E3-4BE8-8A0D-04922DCC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86075"/>
            <a:ext cx="352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774 transactions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068F25-AF4C-4309-BF07-6D02C9E8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50 demands</a:t>
            </a:r>
          </a:p>
          <a:p xmlns:a="http://schemas.openxmlformats.org/drawingml/2006/main">
            <a:pPr>
              <a:def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23 completed   /   15 in progress</a:t>
            </a:r>
          </a:p>
          <a:p xmlns:a="http://schemas.openxmlformats.org/drawingml/2006/main">
            <a:pPr>
              <a:def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12 backlog   /   0 baseline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08FE1-6607-43AA-A0A1-9C9A6E57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523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1 major incident</a:t>
            </a:r>
          </a:p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12 minutes unplanned downtime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19C88-E09A-4872-8BD6-F791F139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0200"/>
            <a:ext cx="3619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DR unavailable</a:t>
            </a:r>
          </a:p>
          <a:p xmlns:a="http://schemas.openxmlformats.org/drawingml/2006/main">
            <a:pPr>
              <a:def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Upgrade planned for 2027</a:t>
            </a:r>
          </a:p>
        </p:txBody>
      </p:sp>
    </p:spTree>
    <p:extLst>
      <p:ext uri="{BB962C8B-B14F-4D97-AF65-F5344CB8AC3E}">
        <p14:creationId xmlns:p14="http://schemas.microsoft.com/office/powerpoint/2010/main" val="6718354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81A11B-FF35-4016-ADEF-2F36B8F8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E3706-A440-4413-A706-1CB647CC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The delivery pipeline spans releases, controls and integrations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15DBF-4070-4774-8BF3-D0CA85F4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Selected initiatives reported in September. Pipeline stages guide the next management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853DB-0712-4C75-A9A4-2EA6B90A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0FADF-6F94-40EA-8777-EF7401DF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147FD-E772-4806-9A03-84EC33E9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81225"/>
            <a:ext cx="3657600" cy="36957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EDFEA-1570-4C1E-B927-1CC09F55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145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◉  IB / MB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C157E-AA18-4D55-83C8-25BB4FB6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813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LIVE / DELIVERED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1BDD0-237D-4B3F-B6A3-9520F155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Skywards cards removal from MB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3x3 Drop 4 – Releases 1 &amp; 2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TAB-52 – Tablet AOF audit requirement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124CF-A39A-4D5C-849C-DA1D29DE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48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1E6F7-28EC-4838-9C54-E2662F1D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14850"/>
            <a:ext cx="3333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EFR cost enhancements – SIT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SWIFT GPI – Regression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Input Validations – Development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EFMS Upgrade – UAT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Emirati Card – SIT / UAT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387C6C-91C4-4DFA-9444-E0302C55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81225"/>
            <a:ext cx="3657600" cy="36957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BD981C-EA57-4FAC-BD3C-9CD67219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145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◆  FinnOne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05AAA7-7180-48B1-A3F4-A2FE1907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813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LIVE / DELIVERED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61904-3215-4786-8E6E-3DCC4777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480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LL / LG flag field amendment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Multiple Rate Changes service request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Supplementary Card mobile number / email capture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A77244-F59D-449E-933E-9E8A8C27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48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466DCF-954C-482F-8A6B-82D614C8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14850"/>
            <a:ext cx="3333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RTA Integration – Design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PDC Remittance – UAT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EFR for PDC – Design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C911C9-44B1-4C85-8637-8FDE93F5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81225"/>
            <a:ext cx="3657600" cy="36957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EF182-F40F-45B1-8842-EDB7438C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1457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⌂  HFLMS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72ADC3-B436-4084-9F13-B5584D2E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813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LIVE / DELIVERED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CF3403-1551-4B78-9FB0-779EA35A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No named live initiatives supplied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D10E57-C834-43C7-AD43-A96B6594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48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3B1798-B049-40BA-8289-B27A8F90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14850"/>
            <a:ext cx="3333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HF48 Forward Ijara Freehold Phase 2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Dedup logic controls in customer onboarding*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Duplicate CIF: linkage of closed customer*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769E7E-BD75-4F74-9630-D1CC8706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05525"/>
            <a:ext cx="11277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* HFLMS + Core Banking. Source gives no stage for these initiatives. Names and abbreviations retain the source terminology.</a:t>
            </a:r>
          </a:p>
        </p:txBody>
      </p:sp>
    </p:spTree>
    <p:extLst>
      <p:ext uri="{BB962C8B-B14F-4D97-AF65-F5344CB8AC3E}">
        <p14:creationId xmlns:p14="http://schemas.microsoft.com/office/powerpoint/2010/main" val="866483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013CB1-D1B2-490C-A365-A3992A6F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9954E-C601-4235-B6C0-AC855CF2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Management priorities: capacity and recovery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0C4EF-5CAE-4897-BCFE-57B21CB0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Recommended management actions based on September reporting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E35F2-9616-4A4E-8F62-485DD730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76D01-233B-4B96-901C-7AA053E7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093AE-5312-4627-AE70-59D8CB80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55435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F0D0C-68B0-4C4F-AADA-741FB7CB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050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!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3ABB2-5B99-4940-9F1A-CE1B726E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24100"/>
            <a:ext cx="468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MB reliability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F4A867-03CB-4F08-A1B9-F62D262F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86050"/>
            <a:ext cx="5257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Review the DDoS threshold event and mitigation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E64C4-16C6-44FE-8F05-D2ABC7FD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55435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7A100-B1B0-455E-AD3C-50B8FF77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050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A1569D-B08D-481D-BE10-AAE8400B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24100"/>
            <a:ext cx="468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Backlog capacity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3299DB-FA04-47DC-88DD-2C48032A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86050"/>
            <a:ext cx="5257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Prioritize 68 backlog items across the three portfolios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54E001-80B2-4BCC-BC87-7F448365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52825"/>
            <a:ext cx="55435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7B584-D32F-4620-B465-727F59C2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66712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430EE6-4B54-433B-9C25-25485D97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86175"/>
            <a:ext cx="468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Recovery exposure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624A9C-2057-48A7-8B7B-ED882E2F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048125"/>
            <a:ext cx="5257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Agree interim recovery controls for FinnOne and HFLMS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35EF81-396A-4342-BF0F-D8F39023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52825"/>
            <a:ext cx="55435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5F934A-3124-464E-87D6-E529619F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67125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641626-572F-402C-910A-B616210B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86175"/>
            <a:ext cx="468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Delivery progression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84B63C-55C0-4709-AA60-9FB0BE8B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48125"/>
            <a:ext cx="5257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Review readiness of SIT, UAT and regression items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72B8CC-EE7B-43C9-8579-3012B85A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Infrastructure has reported headroom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BAD70A-1902-4B89-ADF3-1EEC163B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0"/>
            <a:ext cx="3657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2CAABC-2BA2-4EEC-A3DA-15F8990A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MB / IB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3BC456-D812-4D16-929A-8F9C7317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CPU 7.97% / 5.01%   Memory 35.64% / 52.87%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42E70D-B40A-4F31-A49A-1F98C2FA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86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Storage 66.10% / 50.17%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6992EF-333A-439E-A45C-D1D2733E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38750"/>
            <a:ext cx="3657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439C43-A1B1-40B9-BB3C-25AF2C12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14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FinnOne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4EE7DF-9C5A-456B-9BB3-4478DCD0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00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CPU &lt;10%   Memory &lt;60%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7A4E6D-E6F7-4950-B176-75672908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86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Storage Not supplied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CF2122-214D-4878-8D34-77072E01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38750"/>
            <a:ext cx="36576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09BC1D-05AE-4EE6-8B67-C6F4788A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14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HFLMS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042DE2-A9A5-4D44-8050-4C949712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00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CPU &lt;40%   Memory &lt;25%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665579-6E94-4855-9514-79FA2888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886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Storage &lt;70%</a:t>
            </a:r>
          </a:p>
        </p:txBody>
      </p:sp>
    </p:spTree>
    <p:extLst>
      <p:ext uri="{BB962C8B-B14F-4D97-AF65-F5344CB8AC3E}">
        <p14:creationId xmlns:p14="http://schemas.microsoft.com/office/powerpoint/2010/main" val="14399239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A8C49D-68F3-471E-AB74-B125EAD5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1810B-5D0C-4B60-96D4-C3668551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AF squad: four initiatives in SIT / UAT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FFB74-C19A-45A9-BC44-DF368C39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status snapshot. Two initiatives have business sign-off.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1C998-1600-478E-A2D5-8C46E9CE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5D986-3068-48D8-86D4-B9B96867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DF9BA-4045-49A1-83F4-07EDCED7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6848C-A954-4BCD-9784-074E029D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◉  4 solution finalization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CE36B-FEC9-42B8-A4F8-F0B993D0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DMGT-1325: Early settlement KFS trigger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DMGT-2063: Hybrid / country-of-origin flags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DMGT-679: Digital AECB and KFS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Fourth initiative not named in 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7A3F5-6023-4C67-AA29-28820B01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7E4F9A-2BBA-435D-A609-E1DCAB08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⚙  4 development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4538E4-0E2F-4B76-AFC9-7C3CCE6B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DMGT-267: Facial recognition for ETB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DMGT-1052: New Takaful products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DMGT-950: RTA Integration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DMGT-2583: AF switch to standard rates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8F8B8-39AB-4E9B-BEE3-3089949C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78338F-CC72-441B-AA2F-6C55428E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✓  2 SIT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8E2C8-E812-443E-B0A8-AAE4C46A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DMGT-55 / DMGT-97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Down payment and fee collection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Additional ILOE premium collection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4C953-DB2F-49F6-87FF-FA131832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D8898-1F7C-4010-8D59-4E9BA22F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◆  2 UAT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2ED2F-4401-4E8F-8930-92EBD01A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DMGT-91: Rate / campaign master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Adding guarantor in FinnOne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Guarantor demand ID not supplied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C0EA81-0A6B-4B45-A516-413A8BCC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CEAF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632367-1BAA-4AAD-9F6A-3B18930B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353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D35373"/>
                </a:solidFill>
                <a:latin typeface="DejaVu Sans"/>
                <a:ea typeface="DejaVu Sans"/>
                <a:cs typeface="DejaVu Sans"/>
              </a:rPr>
              <a:t>✓  2 business sign-off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5543C6-56E9-4F7C-A604-1F8D9DFC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DMGT-2480: Wataniya T&amp;C in AF ILOE consent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DMGT-2384: Early Settlement SMS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B4EDD5-C069-4B39-A3D7-7808C7F9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ADE1C4-FFA0-4626-9CFD-486CB266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▦  4 backlog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4C5CDD-53CA-47C9-98A5-77948BAB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Awaiting pickup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30 Sep planned: DMGT-2583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4 Oct planned: DMGT-2480 / DMGT-2384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Actual go-live confirmation required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F31C6A-6219-4CFD-8500-D2731C79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Squad counts are reported stage counts and may overlap the platform portfolio.</a:t>
            </a:r>
          </a:p>
        </p:txBody>
      </p:sp>
    </p:spTree>
    <p:extLst>
      <p:ext uri="{BB962C8B-B14F-4D97-AF65-F5344CB8AC3E}">
        <p14:creationId xmlns:p14="http://schemas.microsoft.com/office/powerpoint/2010/main" val="2634183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C61728-8140-47D2-B214-F33539CF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C1CF4-DAAB-47CA-91EE-CE2704D4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AF delivery timeline: September 2025–August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E2BE1-D61F-43B5-884E-41ADD64D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Twelve months of milestones. Read across each row, then continue below.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5C3A5-59F5-415A-8D2B-2349A8C9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8C9DC-2FD4-47B2-AC01-ABA97CDC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453E4-237B-41E1-8BE1-D0CBE492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2705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D0404-25AA-4E9F-A3D9-BED14A22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✓  Sep 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03721-2CB5-4D08-835E-5519D13F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Disclosure notification for STL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95498-F6E1-4888-B270-00DF0662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43175"/>
            <a:ext cx="15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CCE1A-10C3-4599-9ECC-1EB21C1A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47875"/>
            <a:ext cx="2705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0915D-C2D1-4DFC-8DD8-17519D61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14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✓  Oct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52067-7BF4-49FC-943A-C61D925B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2887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Q4 rate deployment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Subvention campaign in FinnOne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89339-84A3-42AA-881C-F8C2F8A0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543175"/>
            <a:ext cx="15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BC8B6-917E-41C3-A084-9FA4BFEF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47875"/>
            <a:ext cx="2705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0F397-2827-4886-AACA-81969AB6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✓  Nov 2025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AD19C0-0092-46E8-92DD-6252A164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Updated SLA logic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POD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Job-loss Takaful mapping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CEABE7-D917-49C3-9633-ED095CE7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543175"/>
            <a:ext cx="15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E433B-0127-4620-8DDE-517F02CD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47875"/>
            <a:ext cx="2705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44D722-CA00-486F-B58F-B86C2CFA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14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✓  Dec 2025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5AC70B-B2C1-401C-9621-6EC5158B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2887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Rhoon Integration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EV Tesla PF update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Ramadan-to-standard profit rate switch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IRR value modification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7B434F-1BA7-4516-B993-CA797DB9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2705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A85660-C470-4227-9F89-983EAF8B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353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D35373"/>
                </a:solidFill>
                <a:latin typeface="DejaVu Sans"/>
                <a:ea typeface="DejaVu Sans"/>
                <a:cs typeface="DejaVu Sans"/>
              </a:rPr>
              <a:t>✓  Jan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5147BE-32B9-4898-9333-D1DC503F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Map dealer under FD group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0DF3C2-3547-408A-8CF6-F672BD8E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971925"/>
            <a:ext cx="15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2F3B9D-16F4-47D5-B150-8E7EBB0F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76625"/>
            <a:ext cx="2705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C21689-5ABE-42ED-A7ED-72BB5E23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43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✓  Feb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9CCAD0-3727-403D-A283-E24B0052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5762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EMI deferment fee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AF campaign enhancement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New Ramadan rates 2026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Abu Dhabi Motors profit-rate update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600779-EC6A-4511-8B84-63E4DFD8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971925"/>
            <a:ext cx="15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74147C-B034-473C-9895-A04513BE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76625"/>
            <a:ext cx="2705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B5E726-D636-43B3-AFF0-B739150B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✓  Mar 2026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1F4A7A-54A3-4428-A5E3-020453A5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Sharia terminology update in FinnOne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AF Profit Ramadan Rate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EB5BB4-B065-4506-9A27-98D32033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971925"/>
            <a:ext cx="15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0132D5-C9CD-4F67-97A2-78B9FCCF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76625"/>
            <a:ext cx="2705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07E5B6-BC2F-47D7-B24D-4C1AB514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43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✓  Apr 2026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827D35-0E2E-4028-846E-B3E784DD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5762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WhatsApp Dealer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Frontline employer special-rate change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Standard rate revision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D917FB-D9FA-401E-B27E-FC0F7BC6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2705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15BD7E-5779-4DE0-97E2-6F6C14D2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72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✓  May 2026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C83671-EB88-4103-B217-D9924FD6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Finance amount transfer: I2I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Tenure control for subvention applications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Employer rates / EAR changes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WhatsApp Disable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Golden VISA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E6FE53-8CF0-4A09-A543-DEE56084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400675"/>
            <a:ext cx="15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20BBB1-6AE1-4840-B566-DFBFC271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05375"/>
            <a:ext cx="2705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5DBF01-7862-4EAD-96EB-C97CD542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72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3537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D35373"/>
                </a:solidFill>
                <a:latin typeface="DejaVu Sans"/>
                <a:ea typeface="DejaVu Sans"/>
                <a:cs typeface="DejaVu Sans"/>
              </a:rPr>
              <a:t>✓  Jun 2026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21B451-7222-4A0D-987B-B9431B48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8637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Motorcycle field validation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058187-1C43-45C3-8B32-FFD31384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5400675"/>
            <a:ext cx="15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FE599C-08DA-461F-9D54-38086CE3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05375"/>
            <a:ext cx="2705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170682-FE56-4978-A420-E6C5BD4C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72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✓  Jul 2026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C9FE13-1F39-430B-8B2A-13B43BF5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8637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ILOE premium update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Frontline campaign extension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Chassis number / flat-rate validation at PDOC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AF Summer Campaign 2026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DMGT-2372: Frontline Hero expiry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0E366D-EEAD-41A9-B507-D87267E1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400675"/>
            <a:ext cx="15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A81492-A7E7-4972-A934-83816804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05375"/>
            <a:ext cx="27051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E66208-0754-4100-8C83-9E86AB4C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72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✓  Aug 2026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C6A230-B8BA-4758-841B-43D7E7E6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86375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PGL: ILOE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PGL: POD rate issue</a:t>
            </a:r>
          </a:p>
          <a:p xmlns:a="http://schemas.openxmlformats.org/drawingml/2006/main">
            <a:pPr>
              <a:def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013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Tesla rate revision</a:t>
            </a:r>
          </a:p>
        </p:txBody>
      </p:sp>
    </p:spTree>
    <p:extLst>
      <p:ext uri="{BB962C8B-B14F-4D97-AF65-F5344CB8AC3E}">
        <p14:creationId xmlns:p14="http://schemas.microsoft.com/office/powerpoint/2010/main" val="15811770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705891-D069-4289-A002-E0CBCD2D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E494B-38F1-4F80-9998-8DB30A84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PF squad: six initiatives remain in solution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ED0F0-4969-44B4-933C-8BEBB46C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status snapshot. One initiative has business sign-off.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E9B1D-A4AF-40F8-8B80-6B75DA82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9E59F-3718-479E-B1AE-BF6F1863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16A96-5068-466C-875E-3271DBD5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625B6-BADC-4FAE-B1A2-A58B6D86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◉  6 solution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7A4E4-9546-4285-9650-09988850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83: RAO salary check in liability settlement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49: Early settlement methodology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1336: Early settlement KFS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2557: LC retention scheme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1708: Flexi Salary after-sales (LEAN)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1021: EFR for NTB / ETB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AB55E-3465-43D1-B24D-861A80DD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0E4A3C-EA62-41F9-9296-C56B4C38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⚙  1 development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35946-2877-4BA5-B8C3-1947597D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DMGT-91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Business pricing updates in FinnOne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80A17-B9F2-401A-8CBE-1F6CD755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43125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0C3D0-00F1-44CD-80CC-97BFA85F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669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◆  1 UAT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66CE9-CF5B-4298-9D51-F99F7D5B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6700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DMGT-106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LC PDC settlement remittance to the correct account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704D5-6763-4F6D-BBEF-C0E535FA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D9050-28A7-463C-AFE0-2DCF773B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✓  1 business sign-off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5F3868-8228-46DF-86D8-69834FDE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DMGT-56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FTS enablement in all STL segments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Planned go-live: 4 October 2026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Actual release confirmation required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6493CD-0351-4CB7-BF94-28D4A676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CEAF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B46F8E-3E8C-48AF-AECA-2A1B2F59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3537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D35373"/>
                </a:solidFill>
                <a:latin typeface="DejaVu Sans"/>
                <a:ea typeface="DejaVu Sans"/>
                <a:cs typeface="DejaVu Sans"/>
              </a:rPr>
              <a:t>▦  3 backlog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E36537-EC68-443D-A38E-16D40DC3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Pickup depends on delivery of the current set of demands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C13095-E059-4165-8AC6-B75322B9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52900"/>
            <a:ext cx="3657600" cy="1857375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3F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742CC4-0DB7-4ECB-8057-54E58C9F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767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↻  8 open points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AA50A3-A7EE-4CF7-9F1D-6E6D20C0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676775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Tracked separately for follow-up</a:t>
            </a:r>
          </a:p>
          <a:p xmlns:a="http://schemas.openxmlformats.org/drawingml/2006/main">
            <a:pPr>
              <a:def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Treat as tracking items until demand scope and unique IDs are confirmed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D575FE-0AF2-4DE2-B464-4ADCD64E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Solution-design numbers use the DMGT prefix. Squad counts are separate from platform totals.</a:t>
            </a:r>
          </a:p>
        </p:txBody>
      </p:sp>
    </p:spTree>
    <p:extLst>
      <p:ext uri="{BB962C8B-B14F-4D97-AF65-F5344CB8AC3E}">
        <p14:creationId xmlns:p14="http://schemas.microsoft.com/office/powerpoint/2010/main" val="5702105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AA8B9CA-EA7A-4331-B517-06356599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C9079-82C8-4104-8069-BEC5E32A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PF delivery timeline: September 2025–October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70609-1D68-4C2C-8D30-3F6853F1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Milestone lanes show completed work and the next planned release.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C8C5F-8AAF-4B25-A7CC-832ABDF7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F6C74-50A5-49B5-966B-7E85EFC7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B29CC-2DD5-47E2-B4FE-55D587C7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1104900" cy="13335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DF3E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7A7FF-C70A-4B9F-9DBF-C91E07EA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19075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2025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82AD4-C0DC-4293-893D-4B3A9912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581275"/>
            <a:ext cx="94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✓ Completed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A6F28-4E21-4353-9446-FC3DAAF8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47875"/>
            <a:ext cx="24193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82011-7DD8-4344-9599-3EA1E093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2407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✓  Sep 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86E5F-276C-4893-8E8F-B7352C00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57450"/>
            <a:ext cx="2228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DMGT-90</a:t>
            </a:r>
          </a:p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Disclosure notification in PF STL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41FF3-302D-4067-A3D7-D24055EA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543175"/>
            <a:ext cx="104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5C330-5A60-456F-A85C-BCDEA143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47875"/>
            <a:ext cx="24193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DEDC08-BFDF-4DAD-9DC1-F7B43253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2407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✓  Oct 2025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30F1D1-2D04-4D77-82AC-6B81CE97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57450"/>
            <a:ext cx="2228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DMGT-54: Account start date in LS cases</a:t>
            </a:r>
          </a:p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DMGT-94: FinnOne PF applications for People of Determination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B67328-B2FD-4455-8CB9-42FBBD52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543175"/>
            <a:ext cx="104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E42749-C580-4206-8CEE-E8672CD9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47875"/>
            <a:ext cx="24193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AC8E50-5E31-4C1D-8EF6-59F3B326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2407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✓  Nov 2025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104D2A-2791-4D7B-9F67-74977D4B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57450"/>
            <a:ext cx="2228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DMGT-1459</a:t>
            </a:r>
          </a:p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New pricing for PF products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3D5C1C-36C5-4C9C-986E-6EFD3C77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1104900" cy="13335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FEFF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FBCF56-8BBC-475D-8E61-9369BC3A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61950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657792-2C50-4BA7-8130-0DF831C4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10025"/>
            <a:ext cx="94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✓ Completed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51654B-3A60-4ABE-AB72-D6284027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24193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68465D-BBC6-4F43-AAF2-0419B752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5282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✓  Jan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C677A2-9CA2-4484-BEDC-145A95C3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86200"/>
            <a:ext cx="2228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DMGT-1665</a:t>
            </a:r>
          </a:p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PF rate change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5AA838-C6D8-48C6-AD9D-F9A7A4F3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71925"/>
            <a:ext cx="104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2F2B4F-AB22-4773-87D1-811D277A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76625"/>
            <a:ext cx="24193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CD238D-AA49-4B7E-8AEC-1DDE4E1E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5282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✓  Feb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C31AC3-6A6B-4646-AFAF-DD02E84F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86200"/>
            <a:ext cx="2228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DMGT-81: LC rule change in FinnOne</a:t>
            </a:r>
          </a:p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DMGT-254: PF policy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0EF41D-E0CB-45C3-ABCB-6AE2F9EE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971925"/>
            <a:ext cx="104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5B8A6C-1C8D-4FEE-9F1B-BE9FF8E8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76625"/>
            <a:ext cx="24193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82D2FF-A308-4D93-A247-93FD83C9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5282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✓  Apr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7694F9-08B1-45B0-B049-713A360E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86200"/>
            <a:ext cx="2228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DMGT-105: LL / LG flag field amendment</a:t>
            </a:r>
          </a:p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DMGT-2029: Special employer campaign pricing</a:t>
            </a:r>
          </a:p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DMGT-2065: Frontline employer pricing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344873-AD99-4702-BE4F-9F473B98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1104900" cy="13335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FE7F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C2590C-7CD0-4CA1-8334-A1D50D7F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048250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2026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750A16-B661-49FC-A663-D5210D12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438775"/>
            <a:ext cx="942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✓ Completed</a:t>
            </a:r>
          </a:p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◷ Planned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3A3FBF-5FC0-48CE-B779-DBCC0972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05375"/>
            <a:ext cx="24193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651AB3-76EA-4760-8BB6-2FE69AC5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8157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✓  Jun 2026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D700EB-9FB2-462B-B137-A3BBE07B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14950"/>
            <a:ext cx="2228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DMGT-913: Add employer pricing campaign</a:t>
            </a:r>
          </a:p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DMGT-2231: Additional frontline employer campaign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3ED663-8521-4C4B-BBA4-1CEF9FA8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400675"/>
            <a:ext cx="104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719169-09DD-4345-9CD0-F5412BF8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905375"/>
            <a:ext cx="24193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478915-D026-452F-9E4F-EA4A403B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8157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✓  Jul 2026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A8131A-D882-46C1-9C32-22313AAE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14950"/>
            <a:ext cx="2228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DMGT-2296</a:t>
            </a:r>
          </a:p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Extend the existing Frontline Hero campaign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49D823-3333-4D7A-906D-549893F7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400675"/>
            <a:ext cx="104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4140AC4-CE7F-43D5-8F9A-AF586218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05375"/>
            <a:ext cx="24193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E86945-6A44-494E-968E-19F9217E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8157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✓  Aug 2026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54D162-6D61-425F-9B6D-3E188841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314950"/>
            <a:ext cx="2228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DMGT-2407</a:t>
            </a:r>
          </a:p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LS NTML for PF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F5B8CF0-B843-4717-97F7-D1D7F35E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5400675"/>
            <a:ext cx="104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DB44CA-FB18-452E-81A7-0E7CCEBF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905375"/>
            <a:ext cx="24193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1D7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89DB1D-10FA-4735-947D-5B6E5B92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81575"/>
            <a:ext cx="2228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F6D12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BF6D12"/>
                </a:solidFill>
                <a:latin typeface="DejaVu Sans"/>
                <a:ea typeface="DejaVu Sans"/>
                <a:cs typeface="DejaVu Sans"/>
              </a:rPr>
              <a:t>◷  Oct 2026 planned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88AFED-4286-4DC6-8F13-FE753E0A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314950"/>
            <a:ext cx="22288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DMGT-56</a:t>
            </a:r>
          </a:p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FTS in all STL segments</a:t>
            </a:r>
          </a:p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4 October target in September summary</a:t>
            </a:r>
          </a:p>
          <a:p xmlns:a="http://schemas.openxmlformats.org/drawingml/2006/main">
            <a:pPr>
              <a:def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Delivery confirmation pending</a:t>
            </a:r>
          </a:p>
        </p:txBody>
      </p:sp>
    </p:spTree>
    <p:extLst>
      <p:ext uri="{BB962C8B-B14F-4D97-AF65-F5344CB8AC3E}">
        <p14:creationId xmlns:p14="http://schemas.microsoft.com/office/powerpoint/2010/main" val="6944631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817F7F-870E-431D-A701-0E9A87ED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C1247-AD22-4945-A054-75976D36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CRM delivers 15 items with no reported outages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48DB4-6429-4CD7-9D6A-06FFABD2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executive outcome. Reliability remains green, with a minor-incident workload to monitor.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7D98ED-8749-4104-B8DD-ACDD812E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928D3-FDD9-473C-9DA4-DDDD90BF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0FFE1-9132-4142-8A29-AA52BF82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26670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01F26-F0FC-44AC-BCC2-1376929C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19325"/>
            <a:ext cx="2333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48FA30-BE7F-4CAE-B3B6-810D7702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28925"/>
            <a:ext cx="2352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pipeline entries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8E4C8-B14B-4DEF-9706-4421EE49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95500"/>
            <a:ext cx="26670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AAD46-9C4D-4F18-B34A-87F6DF65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19325"/>
            <a:ext cx="2333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29BD1-5D9B-451D-B990-3BA37D90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28925"/>
            <a:ext cx="2352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live / delivered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56C7C-9407-42D4-89FF-AB314A41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26670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2D5021-BA13-43BC-BCDE-F11D62CA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19325"/>
            <a:ext cx="2333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5FB2AA-C866-4E0F-9CC9-FCC66F48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28925"/>
            <a:ext cx="2352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1353C1-8D16-44E8-81CF-EEDBA795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26670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D52C1-B3F5-4882-A27F-6132F9CD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19325"/>
            <a:ext cx="2333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8B4FE7-19FA-4124-AEEA-D9166084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28925"/>
            <a:ext cx="2352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under discussion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23BA26-0EDC-4536-A9E5-8956017E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05200"/>
            <a:ext cx="3657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5403F5-21FA-401C-A8EE-B84F5545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331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✓  Service continuity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D090F0-3283-47C5-83A3-5665260C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33147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0 planned or unplanned outages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0 major incidents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127 minor incidents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DR available and tested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B75ABA-5618-462B-B800-F057CD01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05200"/>
            <a:ext cx="3657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BB01DF-C1B6-410F-872A-195933DD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38550"/>
            <a:ext cx="331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♙  Customer activity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227627-0E9D-4C41-B6B2-5C80B2B9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14800"/>
            <a:ext cx="33147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1,242 CIF records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51,525 leads created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45,465 opportunities created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5,544 cases completed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8A61A5-78C1-470F-9769-04D2D09A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05200"/>
            <a:ext cx="3657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1F81D1-F7D8-445C-A99F-616B8B96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8550"/>
            <a:ext cx="331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☁  Cloud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7DBEB2-77E0-48B5-9948-89FB47BD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14800"/>
            <a:ext cx="33147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Planning / under discussion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Q3 2027 target in latest overview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10 team members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Source reports adequate staffing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422508-4465-4EFA-90EA-9B26B40B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Management focus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4022E-E152-4A77-8380-DC0C8792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667375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Track minor-incident drivers, progress the 16 delivery entries and agree the cloud migration approach.</a:t>
            </a:r>
          </a:p>
        </p:txBody>
      </p:sp>
    </p:spTree>
    <p:extLst>
      <p:ext uri="{BB962C8B-B14F-4D97-AF65-F5344CB8AC3E}">
        <p14:creationId xmlns:p14="http://schemas.microsoft.com/office/powerpoint/2010/main" val="13070370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CABED9-9FC5-45CD-AB4B-D3061D1A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EBAF4-2274-4D7A-AB93-428F56F4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CRM supports customer onboarding and sales activity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424E3-6612-42E1-A0D2-BA5DFA33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Workflow volumes are separate activity measures. Weekly incidents total 127, all minor.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745C9-666B-4BC3-85C5-C02412A0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03DC1-5BAC-4B6F-B118-28BC0D23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A6589-C24B-4459-AEE9-EC36553B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Weekly minor incidents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457200" y="2495550"/>
          <a:ext xmlns:a="http://schemas.openxmlformats.org/drawingml/2006/main" cx="5048250" cy="2419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abf6de84fa408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6044B-CE7C-46ED-9D00-694C901C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Workflow activity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096000" y="2495550"/>
          <a:ext xmlns:a="http://schemas.openxmlformats.org/drawingml/2006/main" cx="5638800" cy="2419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881a9e8eec475f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BBE736-F966-4A59-A342-7EC2BDDC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33975"/>
            <a:ext cx="1114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1,242 CIF records in September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5F20E-A3D3-4304-A0A5-77D43722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0225"/>
            <a:ext cx="2667000" cy="676275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48EB3-A57A-4845-8C57-D92B7510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054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♙  Retail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06CFA-CF7F-4607-B281-470370E4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2371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1,016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065A31-E9F9-467A-86E5-190C1DB1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10225"/>
            <a:ext cx="2667000" cy="676275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02A713-C888-430C-BB2A-91DB0FF0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7054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◆  Corporate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5DE01-2047-4C31-89D0-DEBBA113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962650"/>
            <a:ext cx="2371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107DD5-AB93-4D46-A3E1-60840C76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10225"/>
            <a:ext cx="2667000" cy="676275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528B32-83DC-4B4B-BEAA-A35B1F8E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7054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▣  Escrow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124AE2-7841-4AA6-94A2-D8774C7A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62650"/>
            <a:ext cx="2371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73E497-43CB-45E6-9CEB-D4082C8B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610225"/>
            <a:ext cx="2667000" cy="676275"/>
          </a:xfrm>
          <a:prstGeom xmlns:a="http://schemas.openxmlformats.org/drawingml/2006/main" prst="roundRect">
            <a:avLst>
              <a:gd name="adj" fmla="val 16901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F570FB-B042-4C2A-99D1-471640E5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7054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◉  BBU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1E4924-686B-4775-A088-0163AC1D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962650"/>
            <a:ext cx="2371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214</a:t>
            </a:r>
          </a:p>
        </p:txBody>
      </p:sp>
    </p:spTree>
    <p:extLst>
      <p:ext uri="{BB962C8B-B14F-4D97-AF65-F5344CB8AC3E}">
        <p14:creationId xmlns:p14="http://schemas.microsoft.com/office/powerpoint/2010/main" val="10086642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DA5577-8116-4CEA-9ACD-E3F978E5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B5E4E-041F-4954-96A9-6D351317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CRM live delivery spans controls and customer workflows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37F0A-AFF1-4A77-B20D-F8446382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15 live entries: 7 CRM-owned and 8 supporting, as labelled in the demand 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1501E-D839-4051-804C-12D7039F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A0D9C-6557-4E89-8EAE-DBE23555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870D4-47C9-4BA3-B167-D521C82E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5543550" cy="4114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F4467-A044-49A7-9866-2866ABC2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520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✓  CRM-owned delivery (7)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AD158-B9C4-4B2B-913E-59BB2A8D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5200650" cy="3400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DMGT-1352: CPR bulk personal-data consent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DIBITP-163: CRM data archival setup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DMGT-304: Fax indemnity flag modification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DMGT-719: Auto-closure enhancement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DMGT-1262: Electronic-signature re-push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from CRM / Tablet / Mobile Banking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DMGT-1222: Aggregator sales channel for CRAT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DMGT-1364: Email upon complaint closure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1B1B5-3E78-47FA-B26C-ECDB8F19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5543550" cy="4114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6DE30-2B04-46D7-8B84-D596857E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520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✓  Supporting delivery (8)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98B5F-AE41-4119-A554-4E3A869F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43200"/>
            <a:ext cx="5200650" cy="3400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DMGT-125: Digital Salam Contract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DMGT-1567: SA-10 additional currencies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DMGT-951: FinnOne PDC automation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DIBITP-2747: Kafka Event Hub upgrade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DMGT-22: Millionaire ESG Saving Account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DMGT-1334: KYC Phase 2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DMGT-929: FATCA / CRS controls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DMGT-1506: 3DS CB Mandate for KONY</a:t>
            </a:r>
          </a:p>
        </p:txBody>
      </p:sp>
    </p:spTree>
    <p:extLst>
      <p:ext uri="{BB962C8B-B14F-4D97-AF65-F5344CB8AC3E}">
        <p14:creationId xmlns:p14="http://schemas.microsoft.com/office/powerpoint/2010/main" val="14209982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66B8F-C497-453A-A69B-EECA6798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4B16D-8C22-47F5-926A-3551C381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CRM execution covers compliance, security and integrations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A3858-ADA3-4822-A302-390CB770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16 in-progress entries: 9 CRM-owned and 7 supporting.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88ACB-C3E9-469B-9E1D-D9218794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331D0-E9FE-4A7C-BA12-1310AD6F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3939C-D96E-4396-80FC-5C002A84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5543550" cy="4114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7E60D-70FB-4719-8EEB-B04E3A44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520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⚙  CRM-owned execution (9)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5D9F4-C69B-4819-A05D-67A39410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5200650" cy="3400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DMGT-1244: Investment Banking onboarding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DMGT-28: CDD / EDD automation for asset IR cases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DMGT-714: Customer 360 statements / blacklist flag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DMGT-1453: Email-to-case conversion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DMGT-1345: HNWI / client class / investment risk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DMGT-976: FinnOne integration with Tesla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DMGT-1980: Staging controls / RTB readiness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DMGT-1406: CPR implementation gap fixes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DMGT-1598: CRM security fix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90A10-7861-49AA-8623-A1F8323D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5543550" cy="4114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9F303-4906-4A0F-9C67-E8530F37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520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⚙  Supporting execution (7)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8F1BA-753C-4CF0-96FF-B7013419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43200"/>
            <a:ext cx="5200650" cy="3400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AIG: A-Ignite support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DMGT-1020: Onboarding dedupe controls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DMGT-960: E-Invoice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DMGT-1680: New Emirati Covered Card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DMGT-1842: EFR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DMGT-1272: Five-field input validation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DMGT-1272: Engagement Platform Drop 2 (Unica)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Two different entries share DMGT-1272.</a:t>
            </a:r>
          </a:p>
          <a:p xmlns:a="http://schemas.openxmlformats.org/drawingml/2006/main">
            <a:pPr>
              <a:def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Confirm identity before unique-demand reporting.</a:t>
            </a:r>
          </a:p>
        </p:txBody>
      </p:sp>
    </p:spTree>
    <p:extLst>
      <p:ext uri="{BB962C8B-B14F-4D97-AF65-F5344CB8AC3E}">
        <p14:creationId xmlns:p14="http://schemas.microsoft.com/office/powerpoint/2010/main" val="16905712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D9FEC0-CC9A-4FB6-B64D-A34E4C80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77EF5-7EA3-4357-9CCF-A3F0A6FB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CRM cloud migration needs a defined execution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E74C8-A755-4B08-BA63-CCE6C2FA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Latest overview targets Q3 2027. The demand list records cloud migration as under discussion.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DDAC7-DC0A-4BAB-9186-9EEE8D76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September 2026   •   Source: supplied platform and squad reports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BB8D8-2169-4852-AEF2-378567D4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B150F-A279-49E6-89D7-D4AC8905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36576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644A7-1E89-4445-9591-44E413BE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◉ 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27FF0-F76D-41DD-B2D1-9CC5452C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Planning / discussion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A701B-04C0-4BCD-A9B5-165213FE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Agree scope, dependencies</a:t>
            </a:r>
          </a:p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and migration approach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F80BF-B5B3-4D13-AE6A-13DC0053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90825"/>
            <a:ext cx="11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2630E0-3528-48D2-B7C7-46886F25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33600"/>
            <a:ext cx="36576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9D418-5E87-4998-A581-649B1E84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764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⚙  Preparation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8487C-8675-4AF8-8851-BD164237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43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Readiness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2E7C4D-38DF-421F-98D0-D1EFF11A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90875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Define recovery, testing</a:t>
            </a:r>
          </a:p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and cutover acceptance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6B3776-5E52-460C-9580-1EA8DCCA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90825"/>
            <a:ext cx="11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16205A-C0DD-4F5F-B887-3D59607C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33600"/>
            <a:ext cx="36576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0C7FC8-F1DA-4834-AB23-FB87FECF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764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☁  Q3 2027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351C11-1F7D-401E-A0B7-40EC1EFE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Source target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279DA0-D9FD-495E-8782-C9F59462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90875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Prepare for execution</a:t>
            </a:r>
          </a:p>
          <a:p xmlns:a="http://schemas.openxmlformats.org/drawingml/2006/main">
            <a:pPr>
              <a:def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647B89"/>
                </a:solidFill>
                <a:latin typeface="DejaVu Sans"/>
                <a:ea typeface="DejaVu Sans"/>
                <a:cs typeface="DejaVu Sans"/>
              </a:rPr>
              <a:t>Confirm baseline and dates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B96A96-897A-435A-8981-E1D83513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38625"/>
            <a:ext cx="1123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Four entries under discussion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5892EE-1C1C-4DEF-88EA-790A84C9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72025"/>
            <a:ext cx="2667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6F6F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C5DAC9-C02C-4503-AF71-376AB010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958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7F68"/>
                </a:solidFill>
                <a:latin typeface="DejaVu Sans"/>
                <a:ea typeface="DejaVu Sans"/>
                <a:cs typeface="DejaVu Sans"/>
              </a:rPr>
              <a:t>☁  DMGT-710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887DFC-FF24-4F5C-AA1B-225B9361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2438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CRM migration to cloud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0DF7ED-E5E6-40F2-9387-D932682D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72025"/>
            <a:ext cx="2667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8F3F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E5BF59-9F74-4DE4-AD83-EAC2A13F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958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688C2"/>
                </a:solidFill>
                <a:latin typeface="DejaVu Sans"/>
                <a:ea typeface="DejaVu Sans"/>
                <a:cs typeface="DejaVu Sans"/>
              </a:rPr>
              <a:t>✉  DMGT-1154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A4E60F-1C33-4B2E-8090-6DF99177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34000"/>
            <a:ext cx="2438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Complaint management transformation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7E5326-F1CB-40FD-8492-2E78A6C6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72025"/>
            <a:ext cx="2667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0EAF9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5498D9-3606-4CF0-872E-CC7F4639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958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875BC5"/>
                </a:solidFill>
                <a:latin typeface="DejaVu Sans"/>
                <a:ea typeface="DejaVu Sans"/>
                <a:cs typeface="DejaVu Sans"/>
              </a:rPr>
              <a:t>◉  DMGT-2336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6AC9B7-48AC-4AAB-AB80-E35F7021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34000"/>
            <a:ext cx="2438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Fraud / dispute workflows</a:t>
            </a:r>
          </a:p>
          <a:p xmlns:a="http://schemas.openxmlformats.org/drawingml/2006/main">
            <a:pPr>
              <a:def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Accounts and cards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FB6E23-41D1-4BF1-B78C-54D62FBB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72025"/>
            <a:ext cx="2667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3479BD-B810-4644-9D89-C8318B42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958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CC7D16"/>
                </a:solidFill>
                <a:latin typeface="DejaVu Sans"/>
                <a:ea typeface="DejaVu Sans"/>
                <a:cs typeface="DejaVu Sans"/>
              </a:rPr>
              <a:t>↗  DMGT-752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ECF0C0-8E3B-4BB7-B0B1-D70EC521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334000"/>
            <a:ext cx="2438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A4B"/>
                </a:solidFill>
                <a:latin typeface="DejaVu Sans"/>
                <a:ea typeface="DejaVu Sans"/>
                <a:cs typeface="DejaVu Sans"/>
              </a:rPr>
              <a:t>Remittance workflow automation</a:t>
            </a:r>
          </a:p>
        </p:txBody>
      </p:sp>
    </p:spTree>
    <p:extLst>
      <p:ext uri="{BB962C8B-B14F-4D97-AF65-F5344CB8AC3E}">
        <p14:creationId xmlns:p14="http://schemas.microsoft.com/office/powerpoint/2010/main" val="10341133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2026-10-05T15:11:09.0890000Z</dcterms:created>
  <dcterms:modified xsi:type="dcterms:W3CDTF">2026-10-05T15:11:09.0900000Z</dcterms:modified>
</coreProperties>
</file>