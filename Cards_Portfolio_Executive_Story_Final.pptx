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3a6398231b449f" /><Relationship Type="http://schemas.openxmlformats.org/officeDocument/2006/relationships/extended-properties" Target="/docProps/app.xml" Id="R05585ffd26b14695" /><Relationship Type="http://schemas.openxmlformats.org/officeDocument/2006/relationships/officeDocument" Target="/ppt/presentation.xml" Id="R999d984f6e9b49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c72d777e8f41e9"/>
  </p:sldMasterIdLst>
  <p:notesMasterIdLst>
    <p:notesMasterId xmlns:r="http://schemas.openxmlformats.org/officeDocument/2006/relationships" r:id="R9ea7551e60844fdf"/>
  </p:notesMasterIdLst>
  <p:sldIdLst>
    <p:sldId xmlns:r="http://schemas.openxmlformats.org/officeDocument/2006/relationships" id="256" r:id="R78db0f606e7448c2"/>
    <p:sldId xmlns:r="http://schemas.openxmlformats.org/officeDocument/2006/relationships" id="257" r:id="R0d1d6d9dd35f4a4a"/>
    <p:sldId xmlns:r="http://schemas.openxmlformats.org/officeDocument/2006/relationships" id="258" r:id="Rfa5ec0af2669456a"/>
    <p:sldId xmlns:r="http://schemas.openxmlformats.org/officeDocument/2006/relationships" id="259" r:id="R90c3ca646a894cf4"/>
    <p:sldId xmlns:r="http://schemas.openxmlformats.org/officeDocument/2006/relationships" id="260" r:id="R8977592154644d26"/>
    <p:sldId xmlns:r="http://schemas.openxmlformats.org/officeDocument/2006/relationships" id="261" r:id="R390902f34ebd43bb"/>
    <p:sldId xmlns:r="http://schemas.openxmlformats.org/officeDocument/2006/relationships" id="262" r:id="R33e3d51bff4c4615"/>
    <p:sldId xmlns:r="http://schemas.openxmlformats.org/officeDocument/2006/relationships" id="263" r:id="R95634618593d4d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fdda9d9b244170" /><Relationship Type="http://schemas.openxmlformats.org/officeDocument/2006/relationships/slideMaster" Target="/ppt/slideMasters/slideMaster1.xml" Id="Rddc72d777e8f41e9" /><Relationship Type="http://schemas.openxmlformats.org/officeDocument/2006/relationships/notesMaster" Target="/ppt/notesMasters/notesMaster1.xml" Id="R9ea7551e60844fdf" /><Relationship Type="http://schemas.openxmlformats.org/officeDocument/2006/relationships/presProps" Target="/ppt/presProps.xml" Id="R8defd8a6dec547e4" /><Relationship Type="http://schemas.openxmlformats.org/officeDocument/2006/relationships/tableStyles" Target="/ppt/tableStyles.xml" Id="Re37222df8d8042c3" /><Relationship Type="http://schemas.openxmlformats.org/officeDocument/2006/relationships/slide" Target="/ppt/slides/slide1.xml" Id="R78db0f606e7448c2" /><Relationship Type="http://schemas.openxmlformats.org/officeDocument/2006/relationships/slide" Target="/ppt/slides/slide2.xml" Id="R0d1d6d9dd35f4a4a" /><Relationship Type="http://schemas.openxmlformats.org/officeDocument/2006/relationships/slide" Target="/ppt/slides/slide3.xml" Id="Rfa5ec0af2669456a" /><Relationship Type="http://schemas.openxmlformats.org/officeDocument/2006/relationships/slide" Target="/ppt/slides/slide4.xml" Id="R90c3ca646a894cf4" /><Relationship Type="http://schemas.openxmlformats.org/officeDocument/2006/relationships/slide" Target="/ppt/slides/slide5.xml" Id="R8977592154644d26" /><Relationship Type="http://schemas.openxmlformats.org/officeDocument/2006/relationships/slide" Target="/ppt/slides/slide6.xml" Id="R390902f34ebd43bb" /><Relationship Type="http://schemas.openxmlformats.org/officeDocument/2006/relationships/slide" Target="/ppt/slides/slide7.xml" Id="R33e3d51bff4c4615" /><Relationship Type="http://schemas.openxmlformats.org/officeDocument/2006/relationships/slide" Target="/ppt/slides/slide8.xml" Id="R95634618593d4d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ca89fcef294b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b72af2327048a7" /><Relationship Type="http://schemas.openxmlformats.org/officeDocument/2006/relationships/notesMaster" Target="/ppt/notesMasters/notesMaster1.xml" Id="R7b9dfc633b8741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1d4db74bc24355" /><Relationship Type="http://schemas.openxmlformats.org/officeDocument/2006/relationships/notesMaster" Target="/ppt/notesMasters/notesMaster1.xml" Id="R1a16471554334c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1a5b69274c403f" /><Relationship Type="http://schemas.openxmlformats.org/officeDocument/2006/relationships/notesMaster" Target="/ppt/notesMasters/notesMaster1.xml" Id="R4531b86a37c64a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1fe9a277f148e3" /><Relationship Type="http://schemas.openxmlformats.org/officeDocument/2006/relationships/notesMaster" Target="/ppt/notesMasters/notesMaster1.xml" Id="R0b03c34e731743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68c821af7a4af0" /><Relationship Type="http://schemas.openxmlformats.org/officeDocument/2006/relationships/notesMaster" Target="/ppt/notesMasters/notesMaster1.xml" Id="Rfd3fcad32b974a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f35bed1a5e45ca" /><Relationship Type="http://schemas.openxmlformats.org/officeDocument/2006/relationships/notesMaster" Target="/ppt/notesMasters/notesMaster1.xml" Id="R0fa91fefe07840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f24a0563514711" /><Relationship Type="http://schemas.openxmlformats.org/officeDocument/2006/relationships/notesMaster" Target="/ppt/notesMasters/notesMaster1.xml" Id="Rbebedc1f631048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4024ea466046a3" /><Relationship Type="http://schemas.openxmlformats.org/officeDocument/2006/relationships/notesMaster" Target="/ppt/notesMasters/notesMaster1.xml" Id="R7bed40215a0742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IMG_052BE086-5BE9-4B9F-A784-9D139EFE2FE7.jpeg, user-provided Cards portfolio screenshot.</a:t>
            </a:r>
          </a:p>
          <a:p xmlns:a="http://schemas.openxmlformats.org/drawingml/2006/main">
            <a:r>
              <a:t>VERIFIED: 142 total demands; 18 go-lives from April to September 2025; monthly go-lives Apr 0, May 5, Jun 0, Jul 4, Aug 5, Sep 4; 82 assignments; 65 active demands; 8 overloaded owners; 760% peak capacity load.</a:t>
            </a:r>
          </a:p>
          <a:p xmlns:a="http://schemas.openxmlformats.org/drawingml/2006/main">
            <a:r>
              <a:t>DERIVED: None displayed.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NARRATIVE: The slide opens with the completed delivery outcome, then provides portfolio scale and capacity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IMG_052BE086-5BE9-4B9F-A784-9D139EFE2FE7.jpeg, user-provided Cards portfolio screenshot.</a:t>
            </a:r>
          </a:p>
          <a:p xmlns:a="http://schemas.openxmlformats.org/drawingml/2006/main">
            <a:r>
              <a:t>VERIFIED: 126 vertical demands; 16 supporting demands; 142 total demands; Consumer Banking Cards 93; GBO Cards 12; Digital Banking 4; Information Security Architecture 4; remaining eight departments 13 in total.</a:t>
            </a:r>
          </a:p>
          <a:p xmlns:a="http://schemas.openxmlformats.org/drawingml/2006/main">
            <a:r>
              <a:t>DERIVED: 93 / 126 = 73.8%, displayed as 74%; 126 - 93 = 33 demands across the remaining 11 departments; 16 / 142 = 11.3%.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DATA QUALITY: The department boxes reconcile to 126. The source caption appears to state 125, so the slide uses the reconciled box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IMG_052BE086-5BE9-4B9F-A784-9D139EFE2FE7.jpeg and the hidden master dataset in master_data.json.</a:t>
            </a:r>
          </a:p>
          <a:p xmlns:a="http://schemas.openxmlformats.org/drawingml/2006/main">
            <a:r>
              <a:t>VERIFIED: Project key DMGT-1356; project name VALU - Visa Account Updater; actual go-live 6 September 2025.</a:t>
            </a:r>
          </a:p>
          <a:p xmlns:a="http://schemas.openxmlformats.org/drawingml/2006/main">
            <a:r>
              <a:t>DERIVED: 100% delivered, inferred from the project's inclusion in the completed go-live list.</a:t>
            </a:r>
          </a:p>
          <a:p xmlns:a="http://schemas.openxmlformats.org/drawingml/2006/main">
            <a:r>
              <a:t>SIMULATED: Outcome statement; processing reduced from two days to same business day; manual touchpoints reduced from five to two; 96% automated validation; milestone dates Scope 10 Apr, Plan 22 May, Develop 10 Jul, ITQA 31 Jul and UAT 14 Aug.</a:t>
            </a:r>
          </a:p>
          <a:p xmlns:a="http://schemas.openxmlformats.org/drawingml/2006/main">
            <a:r>
              <a:t>NARRATIVE: The slide presents the completed project outcome, followed by illustrative benefit evidence and the milestone path to the verified go-live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IMG_052BE086-5BE9-4B9F-A784-9D139EFE2FE7.jpeg and the hidden master dataset in master_data.json.</a:t>
            </a:r>
          </a:p>
          <a:p xmlns:a="http://schemas.openxmlformats.org/drawingml/2006/main">
            <a:r>
              <a:t>VERIFIED: Project key DMGT-1954; project name Cards Embossing and Destination Report Writing; actual go-live 9 August 2025.</a:t>
            </a:r>
          </a:p>
          <a:p xmlns:a="http://schemas.openxmlformats.org/drawingml/2006/main">
            <a:r>
              <a:t>DERIVED: 100% delivered, inferred from the project's inclusion in the completed go-live list.</a:t>
            </a:r>
          </a:p>
          <a:p xmlns:a="http://schemas.openxmlformats.org/drawingml/2006/main">
            <a:r>
              <a:t>SIMULATED: Six reports consolidated into one output; preparation time reduced from four hours to 45 minutes; destination-data accuracy increased to 98%; all before-and-after descriptions.</a:t>
            </a:r>
          </a:p>
          <a:p xmlns:a="http://schemas.openxmlformats.org/drawingml/2006/main">
            <a:r>
              <a:t>NARRATIVE: The slide compares the previous reporting effort with the delivered consolidated output and closes with the verified production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IMG_052BE086-5BE9-4B9F-A784-9D139EFE2FE7.jpeg and the hidden master dataset in master_data.json.</a:t>
            </a:r>
          </a:p>
          <a:p xmlns:a="http://schemas.openxmlformats.org/drawingml/2006/main">
            <a:r>
              <a:t>VERIFIED: Project key DMGT-2013; project name MP Server Upgrade - Production and DR; actual go-live 6 July 2025.</a:t>
            </a:r>
          </a:p>
          <a:p xmlns:a="http://schemas.openxmlformats.org/drawingml/2006/main">
            <a:r>
              <a:t>DERIVED: 100% delivered, inferred from the project's inclusion in the completed go-live list.</a:t>
            </a:r>
          </a:p>
          <a:p xmlns:a="http://schemas.openxmlformats.org/drawingml/2006/main">
            <a:r>
              <a:t>SIMULATED: Production and DR delivered on one coordinated path; processing headroom increased by 30%; Production milestones Plan 2 Apr, Build 15 May and ITQA 12 Jun; DR milestones Plan 2 Apr, Recovery 22 May and Failover 16 Jun; production and recovery environments completed together.</a:t>
            </a:r>
          </a:p>
          <a:p xmlns:a="http://schemas.openxmlformats.org/drawingml/2006/main">
            <a:r>
              <a:t>NARRATIVE: The two delivery lanes show Production and DR advancing in parallel before converging on the verified go-live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IMG_052BE086-5BE9-4B9F-A784-9D139EFE2FE7.jpeg and the hidden master dataset in master_data.json.</a:t>
            </a:r>
          </a:p>
          <a:p xmlns:a="http://schemas.openxmlformats.org/drawingml/2006/main">
            <a:r>
              <a:t>VERIFIED: Project key DMGT-584; project name CPR Audit Findings - LPC Fees; actual go-live 12 August 2025.</a:t>
            </a:r>
          </a:p>
          <a:p xmlns:a="http://schemas.openxmlformats.org/drawingml/2006/main">
            <a:r>
              <a:t>DERIVED: 100% delivered, inferred from the project's inclusion in the completed go-live list.</a:t>
            </a:r>
          </a:p>
          <a:p xmlns:a="http://schemas.openxmlformats.org/drawingml/2006/main">
            <a:r>
              <a:t>SIMULATED: Five fee scenarios aligned to one control flow; manual checks reduced from six to two; evidence-pack preparation reduced from three hours to 45 minutes; all control standardisation descriptions.</a:t>
            </a:r>
          </a:p>
          <a:p xmlns:a="http://schemas.openxmlformats.org/drawingml/2006/main">
            <a:r>
              <a:t>NARRATIVE: Five fee scenarios converge into one standardised control flow, with the reduced manual checking and evidence preparation shown as measurable illustrative benefits.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IMG_052BE086-5BE9-4B9F-A784-9D139EFE2FE7.jpeg, user-provided Cards portfolio screenshot.</a:t>
            </a:r>
          </a:p>
          <a:p xmlns:a="http://schemas.openxmlformats.org/drawingml/2006/main">
            <a:r>
              <a:t>VERIFIED: 18 total go-lives from April to September 2025; monthly go-lives Apr 0, May 5, Jun 0, Jul 4, Aug 5 and Sep 4; DMGT-2013 go-live 6 Jul; DMGT-1954 go-live 9 Aug; DMGT-584 go-live 12 Aug; DMGT-1356 go-live 6 Sep.</a:t>
            </a:r>
          </a:p>
          <a:p xmlns:a="http://schemas.openxmlformats.org/drawingml/2006/main">
            <a:r>
              <a:t>DERIVED: May and August jointly identified as the peak months because each has the highest monthly total of five.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NARRATIVE: The editable monthly chart shows the delivery curve, while the lower strip locates the four featured project outcomes within the verified portfolio timeline.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IMG_052BE086-5BE9-4B9F-A784-9D139EFE2FE7.jpeg, user-provided Cards portfolio screenshot.</a:t>
            </a:r>
          </a:p>
          <a:p xmlns:a="http://schemas.openxmlformats.org/drawingml/2006/main">
            <a:r>
              <a:t>VERIFIED: 18 total go-lives; 142 total demands; DMGT-2013 MP Server Upgrade - Production and DR live 6 Jul 2025; DMGT-1954 Cards Embossing and Destination Report Writing live 9 Aug 2025; DMGT-584 CPR Audit Findings - LPC Fees live 12 Aug 2025; DMGT-1356 VALU - Visa Account Updater live 6 Sep 2025.</a:t>
            </a:r>
          </a:p>
          <a:p xmlns:a="http://schemas.openxmlformats.org/drawingml/2006/main">
            <a:r>
              <a:t>DERIVED: Four featured outcomes, counted from the four verified project entries presented in Slides 3 to 6.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NARRATIVE: The closing slide restates portfolio scale and delivery volume, then consolidates the four featured projects into one production-outcome strip.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de638cf6a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4240034d1f47f4" /><Relationship Type="http://schemas.openxmlformats.org/officeDocument/2006/relationships/slideLayout" Target="/ppt/slideLayouts/slideLayout1.xml" Id="Rc415782c89134d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15782c89134d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98dff76124e48" /><Relationship Type="http://schemas.openxmlformats.org/officeDocument/2006/relationships/chart" Target="/ppt/slides/charts/chart1.xml" Id="R471e8fa576094238" /><Relationship Type="http://schemas.openxmlformats.org/officeDocument/2006/relationships/notesSlide" Target="/ppt/notesSlides/notesSlide1.xml" Id="Rc9c962a7626a44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8533c1ced4560" /><Relationship Type="http://schemas.openxmlformats.org/officeDocument/2006/relationships/notesSlide" Target="/ppt/notesSlides/notesSlide2.xml" Id="R026ac152bc5f42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7d805f65c48b1" /><Relationship Type="http://schemas.openxmlformats.org/officeDocument/2006/relationships/notesSlide" Target="/ppt/notesSlides/notesSlide3.xml" Id="Re83403b76beb4e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72d9004b0415a" /><Relationship Type="http://schemas.openxmlformats.org/officeDocument/2006/relationships/notesSlide" Target="/ppt/notesSlides/notesSlide4.xml" Id="Rf5d5daa457ea44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c5851e35d46d0" /><Relationship Type="http://schemas.openxmlformats.org/officeDocument/2006/relationships/notesSlide" Target="/ppt/notesSlides/notesSlide5.xml" Id="Rcdc6a8370dee49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51b6e28b94977" /><Relationship Type="http://schemas.openxmlformats.org/officeDocument/2006/relationships/notesSlide" Target="/ppt/notesSlides/notesSlide6.xml" Id="R7b09a609dc7d47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bcee0d82445c2" /><Relationship Type="http://schemas.openxmlformats.org/officeDocument/2006/relationships/chart" Target="/ppt/slides/charts/chart2.xml" Id="Rf2d093697d624c2b" /><Relationship Type="http://schemas.openxmlformats.org/officeDocument/2006/relationships/notesSlide" Target="/ppt/notesSlides/notesSlide7.xml" Id="R96787bc0b0c146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c5f889cff4d41" /><Relationship Type="http://schemas.openxmlformats.org/officeDocument/2006/relationships/notesSlide" Target="/ppt/notesSlides/notesSlide8.xml" Id="Ra52a5bfffbdf4a1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Go-lives</c:v>
          </c:tx>
          <c:spPr>
            <a:solidFill xmlns:a="http://schemas.openxmlformats.org/drawingml/2006/main">
              <a:srgbClr val="004C3F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DCE9E4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58A32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DCE9E4"/>
              </a:solidFill>
              <a:ln xmlns:a="http://schemas.openxmlformats.org/drawingml/2006/main" w="0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004C3F"/>
              </a:solidFill>
              <a:ln xmlns:a="http://schemas.openxmlformats.org/drawingml/2006/main" w="0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B58A32"/>
              </a:solidFill>
              <a:ln xmlns:a="http://schemas.openxmlformats.org/drawingml/2006/main" w="0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004C3F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0</c:v>
                </c:pt>
                <c:pt idx="3">
                  <c:v>4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D2926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Go-lives</c:v>
          </c:tx>
          <c:spPr>
            <a:solidFill xmlns:a="http://schemas.openxmlformats.org/drawingml/2006/main">
              <a:srgbClr val="004C3F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DCE9E4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58A32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DCE9E4"/>
              </a:solidFill>
              <a:ln xmlns:a="http://schemas.openxmlformats.org/drawingml/2006/main" w="0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004C3F"/>
              </a:solidFill>
              <a:ln xmlns:a="http://schemas.openxmlformats.org/drawingml/2006/main" w="0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B58A32"/>
              </a:solidFill>
              <a:ln xmlns:a="http://schemas.openxmlformats.org/drawingml/2006/main" w="0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004C3F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0</c:v>
                </c:pt>
                <c:pt idx="3">
                  <c:v>4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D2926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edge">
            <a:extLst xmlns:a="http://schemas.openxmlformats.org/drawingml/2006/main">
              <a:ext uri="{FF2B5EF4-FFF2-40B4-BE49-F238E27FC236}">
                <a16:creationId xmlns:a16="http://schemas.microsoft.com/office/drawing/2014/main" id="{610495C2-A4E8-4AC3-A7CD-7FA5C6C6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D0ECF40A-4ECE-4E12-9B9F-8C7EC66E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CE16EC06-DB96-4DC1-95C8-05C0B95E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CARDS PORTFOLIO</a:t>
            </a:r>
          </a:p>
        </p:txBody>
      </p:sp>
      <p:sp>
        <p:nvSpPr>
          <p:cNvPr id="4" name="cio-brief">
            <a:extLst xmlns:a="http://schemas.openxmlformats.org/drawingml/2006/main">
              <a:ext uri="{FF2B5EF4-FFF2-40B4-BE49-F238E27FC236}">
                <a16:creationId xmlns:a16="http://schemas.microsoft.com/office/drawing/2014/main" id="{EB4D4069-0501-4D0E-9A98-661C3123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CIO BRIEF</a:t>
            </a:r>
          </a:p>
        </p:txBody>
      </p:sp>
      <p:sp>
        <p:nvSpPr>
          <p:cNvPr id="5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A9B4E1AB-590D-4B15-A5F2-EFC476F4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62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18 go-lives delivered across a 142-demand Cards portfolio</a:t>
            </a:r>
          </a:p>
        </p:txBody>
      </p:sp>
      <p:sp>
        <p:nvSpPr>
          <p:cNvPr id="6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C9B8BAEE-FCCE-4299-9E7F-EFBA5F79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April to September 2025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2EDE66B-24EC-4316-BA00-C092E1BD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8" name="morph-outcome-number">
            <a:extLst xmlns:a="http://schemas.openxmlformats.org/drawingml/2006/main">
              <a:ext uri="{FF2B5EF4-FFF2-40B4-BE49-F238E27FC236}">
                <a16:creationId xmlns:a16="http://schemas.microsoft.com/office/drawing/2014/main" id="{27C1624B-560A-4276-8A63-0C13403F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049"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81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9" name="morph-outcome-label">
            <a:extLst xmlns:a="http://schemas.openxmlformats.org/drawingml/2006/main">
              <a:ext uri="{FF2B5EF4-FFF2-40B4-BE49-F238E27FC236}">
                <a16:creationId xmlns:a16="http://schemas.microsoft.com/office/drawing/2014/main" id="{3B831C85-A41C-47D8-9422-CF09A592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GO-LIVES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880D7-F64E-4125-8191-E141D349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Delivered across six months</a:t>
            </a:r>
          </a:p>
        </p:txBody>
      </p:sp>
      <p:sp>
        <p:nvSpPr>
          <p:cNvPr id="11" name="opening-summary">
            <a:extLst xmlns:a="http://schemas.openxmlformats.org/drawingml/2006/main">
              <a:ext uri="{FF2B5EF4-FFF2-40B4-BE49-F238E27FC236}">
                <a16:creationId xmlns:a16="http://schemas.microsoft.com/office/drawing/2014/main" id="{B4724247-C720-4BE2-9E48-3361CFDF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Delivery activity produced 18 go-lives while 82 assignments supported 65 active demands.</a:t>
            </a:r>
          </a:p>
        </p:txBody>
      </p:sp>
      <p:sp>
        <p:nvSpPr>
          <p:cNvPr id="12" name="morph-kpi-rail">
            <a:extLst xmlns:a="http://schemas.openxmlformats.org/drawingml/2006/main">
              <a:ext uri="{FF2B5EF4-FFF2-40B4-BE49-F238E27FC236}">
                <a16:creationId xmlns:a16="http://schemas.microsoft.com/office/drawing/2014/main" id="{823B5255-A446-445C-864A-C8FB8B71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742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kpi-divider-1">
            <a:extLst xmlns:a="http://schemas.openxmlformats.org/drawingml/2006/main">
              <a:ext uri="{FF2B5EF4-FFF2-40B4-BE49-F238E27FC236}">
                <a16:creationId xmlns:a16="http://schemas.microsoft.com/office/drawing/2014/main" id="{F6D53A3D-DA54-47F5-BA49-6DBB20F8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19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4" name="kpi-divider-2">
            <a:extLst xmlns:a="http://schemas.openxmlformats.org/drawingml/2006/main">
              <a:ext uri="{FF2B5EF4-FFF2-40B4-BE49-F238E27FC236}">
                <a16:creationId xmlns:a16="http://schemas.microsoft.com/office/drawing/2014/main" id="{D1B19511-2E64-4AF4-B346-76D6CEBE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90800"/>
            <a:ext cx="19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5" name="morph-kpi-demands">
            <a:extLst xmlns:a="http://schemas.openxmlformats.org/drawingml/2006/main">
              <a:ext uri="{FF2B5EF4-FFF2-40B4-BE49-F238E27FC236}">
                <a16:creationId xmlns:a16="http://schemas.microsoft.com/office/drawing/2014/main" id="{705C1194-4BF4-44E5-AF59-6C108045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27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F60C2-7220-4CB8-A981-62D8B52B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00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TOTAL DEMANDS</a:t>
            </a:r>
          </a:p>
        </p:txBody>
      </p:sp>
      <p:sp>
        <p:nvSpPr>
          <p:cNvPr id="17" name="morph-kpi-assignments">
            <a:extLst xmlns:a="http://schemas.openxmlformats.org/drawingml/2006/main">
              <a:ext uri="{FF2B5EF4-FFF2-40B4-BE49-F238E27FC236}">
                <a16:creationId xmlns:a16="http://schemas.microsoft.com/office/drawing/2014/main" id="{A7F87089-76E3-4B01-8F4E-EC736E50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527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0D3EC-B234-4D4C-B036-48039025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ASSIGNMENTS</a:t>
            </a:r>
          </a:p>
        </p:txBody>
      </p:sp>
      <p:sp>
        <p:nvSpPr>
          <p:cNvPr id="19" name="morph-kpi-overload">
            <a:extLst xmlns:a="http://schemas.openxmlformats.org/drawingml/2006/main">
              <a:ext uri="{FF2B5EF4-FFF2-40B4-BE49-F238E27FC236}">
                <a16:creationId xmlns:a16="http://schemas.microsoft.com/office/drawing/2014/main" id="{C9D1C3C1-B716-41FE-A6CB-13BD9757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527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13A3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913A3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44C97-55EC-4617-A48E-4331AF10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OVERLOADED OWNERS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C2024-D460-449E-BFB4-49AE9EFC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671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Peak capacity load</a:t>
            </a:r>
          </a:p>
        </p:txBody>
      </p:sp>
      <p:sp>
        <p:nvSpPr>
          <p:cNvPr id="22" name="morph-peak-load">
            <a:extLst xmlns:a="http://schemas.openxmlformats.org/drawingml/2006/main">
              <a:ext uri="{FF2B5EF4-FFF2-40B4-BE49-F238E27FC236}">
                <a16:creationId xmlns:a16="http://schemas.microsoft.com/office/drawing/2014/main" id="{AD10F040-9A91-415B-995B-D91D8F50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9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913A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13A35"/>
                </a:solidFill>
                <a:latin typeface="Aptos"/>
                <a:ea typeface="Aptos"/>
                <a:cs typeface="Aptos"/>
              </a:rPr>
              <a:t>760%</a:t>
            </a:r>
          </a:p>
        </p:txBody>
      </p:sp>
      <p:sp>
        <p:nvSpPr>
          <p:cNvPr id="23" name="delivery-surface">
            <a:extLst xmlns:a="http://schemas.openxmlformats.org/drawingml/2006/main">
              <a:ext uri="{FF2B5EF4-FFF2-40B4-BE49-F238E27FC236}">
                <a16:creationId xmlns:a16="http://schemas.microsoft.com/office/drawing/2014/main" id="{6A21EFBC-C414-4426-B46D-D47BDA69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7429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6EB41-8FAD-42F4-AF34-0DC6612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00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MONTHLY GO-LIVES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828F7-D9F4-44CD-9DF5-9E66EEA6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100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18 total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4362450" y="4695825"/>
          <a:ext xmlns:a="http://schemas.openxmlformats.org/drawingml/2006/main" cx="6858000" cy="1219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1e8fa576094238"/>
          </a:graphicData>
        </a:graphic>
      </p:graphicFrame>
      <p:sp>
        <p:nvSpPr>
          <p:cNvPr id="2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B91CFB9-BBD7-4E99-B2DE-38EEAD92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screenshot. All displayed figures are verified from the source.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A5B8F-7412-4D3C-844B-4E73DD05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80587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rand-edge">
            <a:extLst xmlns:a="http://schemas.openxmlformats.org/drawingml/2006/main">
              <a:ext uri="{FF2B5EF4-FFF2-40B4-BE49-F238E27FC236}">
                <a16:creationId xmlns:a16="http://schemas.microsoft.com/office/drawing/2014/main" id="{B8B51D43-9312-42CC-899A-9E7B64D5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9CA1A53C-849E-42AE-B482-AF94265F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C6C85436-31D7-462B-8EB6-CED1993D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CARDS PORTFOLIO</a:t>
            </a:r>
          </a:p>
        </p:txBody>
      </p:sp>
      <p:sp>
        <p:nvSpPr>
          <p:cNvPr id="4" name="cio-brief">
            <a:extLst xmlns:a="http://schemas.openxmlformats.org/drawingml/2006/main">
              <a:ext uri="{FF2B5EF4-FFF2-40B4-BE49-F238E27FC236}">
                <a16:creationId xmlns:a16="http://schemas.microsoft.com/office/drawing/2014/main" id="{EBCB2C37-F332-4E90-9B8B-9F8E7F2C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CIO BRIEF</a:t>
            </a:r>
          </a:p>
        </p:txBody>
      </p:sp>
      <p:sp>
        <p:nvSpPr>
          <p:cNvPr id="5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2DF603A3-B2CE-490B-82A4-DF253935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93 of 126 vertical demands sit in Consumer Banking Cards</a:t>
            </a:r>
          </a:p>
        </p:txBody>
      </p:sp>
      <p:sp>
        <p:nvSpPr>
          <p:cNvPr id="6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A937A251-4B8C-4BD2-8E89-CE37329E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The remaining 33 demands span 11 departments. A further 16 demands support the portfolio.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006E63-8379-4C23-B481-FDA74BD0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21657-5CA8-499E-A524-3FE63036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12 DEPARTMENTS, 126 VERTICAL DEMANDS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04380-D523-4628-931B-5602940A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81225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SUPPORTING VIEW</a:t>
            </a:r>
          </a:p>
        </p:txBody>
      </p:sp>
      <p:sp>
        <p:nvSpPr>
          <p:cNvPr id="10" name="morph-kpi-rail">
            <a:extLst xmlns:a="http://schemas.openxmlformats.org/drawingml/2006/main">
              <a:ext uri="{FF2B5EF4-FFF2-40B4-BE49-F238E27FC236}">
                <a16:creationId xmlns:a16="http://schemas.microsoft.com/office/drawing/2014/main" id="{337BC448-C6D1-4C34-BC16-D1B102E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628650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1" name="morph-outcome-number">
            <a:extLst xmlns:a="http://schemas.openxmlformats.org/drawingml/2006/main">
              <a:ext uri="{FF2B5EF4-FFF2-40B4-BE49-F238E27FC236}">
                <a16:creationId xmlns:a16="http://schemas.microsoft.com/office/drawing/2014/main" id="{6238F235-211B-4330-B760-21D72414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241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93</a:t>
            </a:r>
          </a:p>
        </p:txBody>
      </p:sp>
      <p:sp>
        <p:nvSpPr>
          <p:cNvPr id="12" name="morph-outcome-label">
            <a:extLst xmlns:a="http://schemas.openxmlformats.org/drawingml/2006/main">
              <a:ext uri="{FF2B5EF4-FFF2-40B4-BE49-F238E27FC236}">
                <a16:creationId xmlns:a16="http://schemas.microsoft.com/office/drawing/2014/main" id="{AC4FDC69-597F-4272-9E59-1220B925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CONSUMER BANKING CARDS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29D0E-72A4-4B13-B745-A9588401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74% of vertical demand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408DB-0015-43A3-A89C-15285D17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BE6"/>
                </a:solidFill>
                <a:latin typeface="Aptos"/>
                <a:ea typeface="Aptos"/>
                <a:cs typeface="Aptos"/>
              </a:rPr>
              <a:t>The department holds the largest concentration in the vertical demand view.</a:t>
            </a:r>
          </a:p>
        </p:txBody>
      </p:sp>
      <p:sp>
        <p:nvSpPr>
          <p:cNvPr id="15" name="dept-gbo">
            <a:extLst xmlns:a="http://schemas.openxmlformats.org/drawingml/2006/main">
              <a:ext uri="{FF2B5EF4-FFF2-40B4-BE49-F238E27FC236}">
                <a16:creationId xmlns:a16="http://schemas.microsoft.com/office/drawing/2014/main" id="{1E41644A-2FA5-4CE4-975D-3859BC6A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71725"/>
            <a:ext cx="21717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C6F1B-B05A-4531-AB68-84486793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431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3AEFF-B9EB-422E-8A44-D89C039E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575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GBO CARDS</a:t>
            </a:r>
          </a:p>
        </p:txBody>
      </p:sp>
      <p:sp>
        <p:nvSpPr>
          <p:cNvPr id="18" name="dept-digital">
            <a:extLst xmlns:a="http://schemas.openxmlformats.org/drawingml/2006/main">
              <a:ext uri="{FF2B5EF4-FFF2-40B4-BE49-F238E27FC236}">
                <a16:creationId xmlns:a16="http://schemas.microsoft.com/office/drawing/2014/main" id="{7421E52E-7F38-420E-97D4-D88C26BE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05225"/>
            <a:ext cx="1028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BE528-D31D-49BF-9C4D-18CB0C48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C2ED1-5A80-4EE6-AA41-83436C3C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005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DIGITAL</a:t>
            </a:r>
          </a:p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BANKING</a:t>
            </a:r>
          </a:p>
        </p:txBody>
      </p:sp>
      <p:sp>
        <p:nvSpPr>
          <p:cNvPr id="21" name="dept-security">
            <a:extLst xmlns:a="http://schemas.openxmlformats.org/drawingml/2006/main">
              <a:ext uri="{FF2B5EF4-FFF2-40B4-BE49-F238E27FC236}">
                <a16:creationId xmlns:a16="http://schemas.microsoft.com/office/drawing/2014/main" id="{68F98AE5-C215-4764-AD24-AB0B7EDA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05225"/>
            <a:ext cx="1028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271DC-2CC4-492C-9D26-99E8C976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290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F1347-6C83-4171-91FA-A0C7595E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8147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INFO SECURITY</a:t>
            </a:r>
          </a:p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4" name="dept-other">
            <a:extLst xmlns:a="http://schemas.openxmlformats.org/drawingml/2006/main">
              <a:ext uri="{FF2B5EF4-FFF2-40B4-BE49-F238E27FC236}">
                <a16:creationId xmlns:a16="http://schemas.microsoft.com/office/drawing/2014/main" id="{EA1E6C1B-40A2-44EB-8EAF-A1EB05CC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95825"/>
            <a:ext cx="21717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2B7C93-90CA-43A2-B032-74CAA42E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38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69A87-8A1D-416A-A2A0-EB6698F0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8958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623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8 OTHER DEPARTMENTS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65CEA-1CE6-44F0-A3D4-6B05A4F3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863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ATM/CDM, risk, technology, call centre, compliance and data governance</a:t>
            </a:r>
          </a:p>
        </p:txBody>
      </p:sp>
      <p:sp>
        <p:nvSpPr>
          <p:cNvPr id="28" name="supporting-demand-panel">
            <a:extLst xmlns:a="http://schemas.openxmlformats.org/drawingml/2006/main">
              <a:ext uri="{FF2B5EF4-FFF2-40B4-BE49-F238E27FC236}">
                <a16:creationId xmlns:a16="http://schemas.microsoft.com/office/drawing/2014/main" id="{8FC109DD-FCDD-4CF4-8AB7-A189632F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71725"/>
            <a:ext cx="2047875" cy="34480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58A3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146B4-2C9F-4D05-9BB6-31ECAD29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241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3DC14-1219-486D-A004-52653C5D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5718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SUPPORTING</a:t>
            </a:r>
          </a:p>
          <a:p xmlns:a="http://schemas.openxmlformats.org/drawingml/2006/main">
            <a:pPr algn="ctr">
              <a:defRPr sz="13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DEMANDS</a:t>
            </a:r>
          </a:p>
        </p:txBody>
      </p:sp>
      <p:sp>
        <p:nvSpPr>
          <p:cNvPr id="31" name="support-divider">
            <a:extLst xmlns:a="http://schemas.openxmlformats.org/drawingml/2006/main">
              <a:ext uri="{FF2B5EF4-FFF2-40B4-BE49-F238E27FC236}">
                <a16:creationId xmlns:a16="http://schemas.microsoft.com/office/drawing/2014/main" id="{CC1A5FC7-2ACB-4028-8656-D02E5997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672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98DB30-72DE-42C9-AF84-4E95D17E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4958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11.3%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5DBBDB-AADA-46EC-B447-72B426A9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010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of 142 total demands</a:t>
            </a:r>
          </a:p>
        </p:txBody>
      </p:sp>
      <p:sp>
        <p:nvSpPr>
          <p:cNvPr id="3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E4F8D72-B056-4C5E-8CDC-673D58CF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screenshot. Department boxes reconcile to 126 vertical demands.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04F44F-8174-48E1-97D3-A9BCCEC7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0261374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brand-edge">
            <a:extLst xmlns:a="http://schemas.openxmlformats.org/drawingml/2006/main">
              <a:ext uri="{FF2B5EF4-FFF2-40B4-BE49-F238E27FC236}">
                <a16:creationId xmlns:a16="http://schemas.microsoft.com/office/drawing/2014/main" id="{4A915A94-2CC6-436D-B043-ADA572F0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F66582D3-8795-4056-AA3D-68E8ECD1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C4E5CF7-FE6D-4E3E-931E-9C167DC0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PROJECT OUTCOME</a:t>
            </a:r>
          </a:p>
        </p:txBody>
      </p:sp>
      <p:sp>
        <p:nvSpPr>
          <p:cNvPr id="4" name="cio-brief">
            <a:extLst xmlns:a="http://schemas.openxmlformats.org/drawingml/2006/main">
              <a:ext uri="{FF2B5EF4-FFF2-40B4-BE49-F238E27FC236}">
                <a16:creationId xmlns:a16="http://schemas.microsoft.com/office/drawing/2014/main" id="{1F62D187-8445-4667-90FE-5ACE38D6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CIO BRIEF</a:t>
            </a:r>
          </a:p>
        </p:txBody>
      </p:sp>
      <p:sp>
        <p:nvSpPr>
          <p:cNvPr id="5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6E9737BE-A326-4680-8E07-E81380FD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Visa account updates moved to a controlled digital workflow</a:t>
            </a:r>
          </a:p>
        </p:txBody>
      </p:sp>
      <p:sp>
        <p:nvSpPr>
          <p:cNvPr id="6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B9A58B9E-97A8-4F41-A8F8-E29F86EC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DMGT-1356  |  VALU — Visa Account Updater  |  Go-live 6 September 2025</a:t>
            </a:r>
          </a:p>
        </p:txBody>
      </p:sp>
      <p:sp>
        <p:nvSpPr>
          <p:cNvPr id="7" name="illustrative-tag">
            <a:extLst xmlns:a="http://schemas.openxmlformats.org/drawingml/2006/main">
              <a:ext uri="{FF2B5EF4-FFF2-40B4-BE49-F238E27FC236}">
                <a16:creationId xmlns:a16="http://schemas.microsoft.com/office/drawing/2014/main" id="{C7958115-083A-4F92-B44F-F69049D6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19250"/>
            <a:ext cx="1924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DF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ILLUSTRATIVE OUTCOME DATA</a:t>
            </a:r>
          </a:p>
        </p:txBody>
      </p:sp>
      <p:sp>
        <p:nvSpPr>
          <p:cNvPr id="8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83C62BD-C0E1-4393-A768-7C571691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9" name="morph-kpi-rail">
            <a:extLst xmlns:a="http://schemas.openxmlformats.org/drawingml/2006/main">
              <a:ext uri="{FF2B5EF4-FFF2-40B4-BE49-F238E27FC236}">
                <a16:creationId xmlns:a16="http://schemas.microsoft.com/office/drawing/2014/main" id="{6DAA58EA-C84F-4A0C-A8B0-0BCF425A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68DAB-FB32-49D2-B982-2CA20F22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DMGT-1356</a:t>
            </a:r>
          </a:p>
        </p:txBody>
      </p:sp>
      <p:sp>
        <p:nvSpPr>
          <p:cNvPr id="11" name="morph-outcome-number">
            <a:extLst xmlns:a="http://schemas.openxmlformats.org/drawingml/2006/main">
              <a:ext uri="{FF2B5EF4-FFF2-40B4-BE49-F238E27FC236}">
                <a16:creationId xmlns:a16="http://schemas.microsoft.com/office/drawing/2014/main" id="{C09918FF-03F6-4323-AAA2-A03E6D88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2" name="morph-outcome-label">
            <a:extLst xmlns:a="http://schemas.openxmlformats.org/drawingml/2006/main">
              <a:ext uri="{FF2B5EF4-FFF2-40B4-BE49-F238E27FC236}">
                <a16:creationId xmlns:a16="http://schemas.microsoft.com/office/drawing/2014/main" id="{152AC032-D295-4367-936B-EEC239C0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13" name="hero-divider">
            <a:extLst xmlns:a="http://schemas.openxmlformats.org/drawingml/2006/main">
              <a:ext uri="{FF2B5EF4-FFF2-40B4-BE49-F238E27FC236}">
                <a16:creationId xmlns:a16="http://schemas.microsoft.com/office/drawing/2014/main" id="{24021C5E-B6AD-4588-8B39-FD83B876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287C4-43F0-4D44-AB0C-E1CC762B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GO-LIVE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E1C0A-7F9D-4E13-945A-C6F8FED0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958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 SEP 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9E7A1-71F9-441A-8233-2EB6D23D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BE6"/>
                </a:solidFill>
                <a:latin typeface="Aptos"/>
                <a:ea typeface="Aptos"/>
                <a:cs typeface="Aptos"/>
              </a:rPr>
              <a:t>A controlled digital workflow now carries Visa account updates through the delivered solution.</a:t>
            </a:r>
          </a:p>
        </p:txBody>
      </p:sp>
      <p:sp>
        <p:nvSpPr>
          <p:cNvPr id="17" name="benefit-rail">
            <a:extLst xmlns:a="http://schemas.openxmlformats.org/drawingml/2006/main">
              <a:ext uri="{FF2B5EF4-FFF2-40B4-BE49-F238E27FC236}">
                <a16:creationId xmlns:a16="http://schemas.microsoft.com/office/drawing/2014/main" id="{F2C15A5F-F8A3-4177-996B-382A9A94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67627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4DB76-5F86-47F4-BC0E-070C6B48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24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ILLUSTRATIVE BENEFITS</a:t>
            </a:r>
          </a:p>
        </p:txBody>
      </p:sp>
      <p:sp>
        <p:nvSpPr>
          <p:cNvPr id="19" name="benefit-divider-1">
            <a:extLst xmlns:a="http://schemas.openxmlformats.org/drawingml/2006/main">
              <a:ext uri="{FF2B5EF4-FFF2-40B4-BE49-F238E27FC236}">
                <a16:creationId xmlns:a16="http://schemas.microsoft.com/office/drawing/2014/main" id="{728A3D19-11CF-457B-85E7-8B5B1495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0" name="benefit-divider-2">
            <a:extLst xmlns:a="http://schemas.openxmlformats.org/drawingml/2006/main">
              <a:ext uri="{FF2B5EF4-FFF2-40B4-BE49-F238E27FC236}">
                <a16:creationId xmlns:a16="http://schemas.microsoft.com/office/drawing/2014/main" id="{B731289D-B5EA-4DC7-8FEB-5DBA44C5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7655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0BE18-AF0E-4219-9033-4DAF3431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432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SAME DAY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68928-2536-421C-839A-F24CFF9C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19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processing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C03D7-1089-49B8-B17D-55738B26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52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from 2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EAC3B-6AA0-478F-87DD-FC70264F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860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4625B-9E47-49BA-A64F-4B1740D4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194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manual touchpoints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FF6ED-A902-4D5A-87D2-21974ADC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052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from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EB63C-144E-414D-BCDB-16C0BF9B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860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96%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61E58-D477-4B73-A10F-6A7ABCB1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194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automated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7C4792-758E-45C1-9DEE-48B995E9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0522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of update requests</a:t>
            </a:r>
          </a:p>
        </p:txBody>
      </p:sp>
      <p:sp>
        <p:nvSpPr>
          <p:cNvPr id="30" name="milestone-surface">
            <a:extLst xmlns:a="http://schemas.openxmlformats.org/drawingml/2006/main">
              <a:ext uri="{FF2B5EF4-FFF2-40B4-BE49-F238E27FC236}">
                <a16:creationId xmlns:a16="http://schemas.microsoft.com/office/drawing/2014/main" id="{7F5C0F6D-79E1-4892-AA85-730923A1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48175"/>
            <a:ext cx="67627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32DC1-F017-4D5D-823B-99621C4B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291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ILLUSTRATIVE DELIVERY MILESTONES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67066A-3C91-47D8-B698-1EAF07F0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291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Actual go-live</a:t>
            </a:r>
          </a:p>
        </p:txBody>
      </p:sp>
      <p:sp>
        <p:nvSpPr>
          <p:cNvPr id="33" name="milestone-line">
            <a:extLst xmlns:a="http://schemas.openxmlformats.org/drawingml/2006/main">
              <a:ext uri="{FF2B5EF4-FFF2-40B4-BE49-F238E27FC236}">
                <a16:creationId xmlns:a16="http://schemas.microsoft.com/office/drawing/2014/main" id="{A5312FF4-8407-4E5B-BCC5-A464106D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0175"/>
            <a:ext cx="542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34" name="milestone-node-scope">
            <a:extLst xmlns:a="http://schemas.openxmlformats.org/drawingml/2006/main">
              <a:ext uri="{FF2B5EF4-FFF2-40B4-BE49-F238E27FC236}">
                <a16:creationId xmlns:a16="http://schemas.microsoft.com/office/drawing/2014/main" id="{83F92148-5793-4D99-A786-11A82C1D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143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8778CD-381B-44A6-818C-E47179A6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39115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404C20-0FD3-4590-8C22-C47EBDDC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102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10 APR</a:t>
            </a:r>
          </a:p>
        </p:txBody>
      </p:sp>
      <p:sp>
        <p:nvSpPr>
          <p:cNvPr id="37" name="milestone-node-plan">
            <a:extLst xmlns:a="http://schemas.openxmlformats.org/drawingml/2006/main">
              <a:ext uri="{FF2B5EF4-FFF2-40B4-BE49-F238E27FC236}">
                <a16:creationId xmlns:a16="http://schemas.microsoft.com/office/drawing/2014/main" id="{39313ECC-78BE-4282-96EA-6117D900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143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F509C3-0B11-4A20-B800-C77155B4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9115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1AD7C6-1D99-40E2-BB30-E0E986BC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102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22 MAY</a:t>
            </a:r>
          </a:p>
        </p:txBody>
      </p:sp>
      <p:sp>
        <p:nvSpPr>
          <p:cNvPr id="40" name="milestone-node-develop">
            <a:extLst xmlns:a="http://schemas.openxmlformats.org/drawingml/2006/main">
              <a:ext uri="{FF2B5EF4-FFF2-40B4-BE49-F238E27FC236}">
                <a16:creationId xmlns:a16="http://schemas.microsoft.com/office/drawing/2014/main" id="{BC174C1F-A1EC-406F-91D4-BF2764C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43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60E053-40CD-49B0-AFE6-F05912AD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468BFF-0361-44E2-B6F3-AA66C0D7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102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10 JUL</a:t>
            </a:r>
          </a:p>
        </p:txBody>
      </p:sp>
      <p:sp>
        <p:nvSpPr>
          <p:cNvPr id="43" name="milestone-node-itqa">
            <a:extLst xmlns:a="http://schemas.openxmlformats.org/drawingml/2006/main">
              <a:ext uri="{FF2B5EF4-FFF2-40B4-BE49-F238E27FC236}">
                <a16:creationId xmlns:a16="http://schemas.microsoft.com/office/drawing/2014/main" id="{F5D062EF-5312-4E2F-B9BA-B8C10F78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43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662FF3-4267-43DC-BC36-E843A71F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9115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ITQA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B95069-A96D-4B32-BF46-5246A9A9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102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31 JUL</a:t>
            </a:r>
          </a:p>
        </p:txBody>
      </p:sp>
      <p:sp>
        <p:nvSpPr>
          <p:cNvPr id="46" name="milestone-node-uat">
            <a:extLst xmlns:a="http://schemas.openxmlformats.org/drawingml/2006/main">
              <a:ext uri="{FF2B5EF4-FFF2-40B4-BE49-F238E27FC236}">
                <a16:creationId xmlns:a16="http://schemas.microsoft.com/office/drawing/2014/main" id="{24DDEAA0-2F34-43DE-94FF-B977CAE9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143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AE411D-9F0D-40F6-9B91-53AEE99F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9115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UAT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E50E9B-F614-4BD3-9FC2-279FD651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102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14 AUG</a:t>
            </a:r>
          </a:p>
        </p:txBody>
      </p:sp>
      <p:sp>
        <p:nvSpPr>
          <p:cNvPr id="49" name="milestone-node-live">
            <a:extLst xmlns:a="http://schemas.openxmlformats.org/drawingml/2006/main">
              <a:ext uri="{FF2B5EF4-FFF2-40B4-BE49-F238E27FC236}">
                <a16:creationId xmlns:a16="http://schemas.microsoft.com/office/drawing/2014/main" id="{C9086E99-2356-4CF5-BB25-334E2355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143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E11BFF-E050-419D-9C0E-5957CE63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9115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B77FEC-45F0-4BFA-9F6D-CFA2F059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6102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06 SEP</a:t>
            </a:r>
          </a:p>
        </p:txBody>
      </p:sp>
      <p:sp>
        <p:nvSpPr>
          <p:cNvPr id="5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A8CDDC5-DDB1-4391-B1C3-0F3243D4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Illustrative data based on prior portfolio reporting patterns — not actual performance.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2E5418-5356-476C-A3D3-6BFD793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7384989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rand-edge">
            <a:extLst xmlns:a="http://schemas.openxmlformats.org/drawingml/2006/main">
              <a:ext uri="{FF2B5EF4-FFF2-40B4-BE49-F238E27FC236}">
                <a16:creationId xmlns:a16="http://schemas.microsoft.com/office/drawing/2014/main" id="{092B68FE-9075-4D63-BAE6-EE6552D7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C63A788B-646A-40CD-A1D6-348AA16B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1746866-FB1C-4DD8-90C3-5A335F5F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PROJECT OUTCOME</a:t>
            </a:r>
          </a:p>
        </p:txBody>
      </p:sp>
      <p:sp>
        <p:nvSpPr>
          <p:cNvPr id="4" name="cio-brief">
            <a:extLst xmlns:a="http://schemas.openxmlformats.org/drawingml/2006/main">
              <a:ext uri="{FF2B5EF4-FFF2-40B4-BE49-F238E27FC236}">
                <a16:creationId xmlns:a16="http://schemas.microsoft.com/office/drawing/2014/main" id="{CD07C610-EFB2-4D99-A587-1631AB1F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CIO BRIEF</a:t>
            </a:r>
          </a:p>
        </p:txBody>
      </p:sp>
      <p:sp>
        <p:nvSpPr>
          <p:cNvPr id="5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3912601A-51BC-490A-9B12-E270FA7C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Six embossing reports consolidated into one operational output</a:t>
            </a:r>
          </a:p>
        </p:txBody>
      </p:sp>
      <p:sp>
        <p:nvSpPr>
          <p:cNvPr id="6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1B66DA56-594E-4037-924F-85FF1E07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847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DMGT-1954  |  Cards Embossing and Destination Report Writing  |  Go-live 9 August 2025</a:t>
            </a:r>
          </a:p>
        </p:txBody>
      </p:sp>
      <p:sp>
        <p:nvSpPr>
          <p:cNvPr id="7" name="illustrative-tag">
            <a:extLst xmlns:a="http://schemas.openxmlformats.org/drawingml/2006/main">
              <a:ext uri="{FF2B5EF4-FFF2-40B4-BE49-F238E27FC236}">
                <a16:creationId xmlns:a16="http://schemas.microsoft.com/office/drawing/2014/main" id="{717CA979-D595-4930-A58D-92E5DFE2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619250"/>
            <a:ext cx="210502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DF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ILLUSTRATIVE COMPARISON</a:t>
            </a:r>
          </a:p>
        </p:txBody>
      </p:sp>
      <p:sp>
        <p:nvSpPr>
          <p:cNvPr id="8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3432133-13BE-4A30-9A3E-EF4D6DF2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9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68FB7328-5A55-4ECE-9197-60601B28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000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CEFEB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131AE-3B21-4994-A3B6-2263AA02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5B407-C7FA-4E7D-B592-1C865724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14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2E590-46C3-46A0-89B3-AE8E62DE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62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SEPARATE REPORTS</a:t>
            </a:r>
          </a:p>
        </p:txBody>
      </p:sp>
      <p:sp>
        <p:nvSpPr>
          <p:cNvPr id="13" name="before-divider">
            <a:extLst xmlns:a="http://schemas.openxmlformats.org/drawingml/2006/main">
              <a:ext uri="{FF2B5EF4-FFF2-40B4-BE49-F238E27FC236}">
                <a16:creationId xmlns:a16="http://schemas.microsoft.com/office/drawing/2014/main" id="{8B0AED16-64BD-4EA4-A8F1-33E2AC81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FC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45A35-0E52-4DF2-A9BF-19EAE48A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4 HOURS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DFA35-00BA-4F7B-AF13-AD5D8F1F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report preparation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17B7C-A42C-4D4F-9066-2F41B7F5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Multiple files and destination checks</a:t>
            </a:r>
          </a:p>
        </p:txBody>
      </p:sp>
      <p:sp>
        <p:nvSpPr>
          <p:cNvPr id="17" name="comparison-bridge">
            <a:extLst xmlns:a="http://schemas.openxmlformats.org/drawingml/2006/main">
              <a:ext uri="{FF2B5EF4-FFF2-40B4-BE49-F238E27FC236}">
                <a16:creationId xmlns:a16="http://schemas.microsoft.com/office/drawing/2014/main" id="{5D3E8F8E-6A26-4563-9256-E62014B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76600"/>
            <a:ext cx="11049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62A43-71BA-42B9-9F2D-2B11BD3D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80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9" name="morph-kpi-rail">
            <a:extLst xmlns:a="http://schemas.openxmlformats.org/drawingml/2006/main">
              <a:ext uri="{FF2B5EF4-FFF2-40B4-BE49-F238E27FC236}">
                <a16:creationId xmlns:a16="http://schemas.microsoft.com/office/drawing/2014/main" id="{230A549E-FCC8-46D4-8DB4-3D702DEE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54102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C3281-76EE-4D4F-A3A0-7618EF6B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21" name="morph-outcome-number">
            <a:extLst xmlns:a="http://schemas.openxmlformats.org/drawingml/2006/main">
              <a:ext uri="{FF2B5EF4-FFF2-40B4-BE49-F238E27FC236}">
                <a16:creationId xmlns:a16="http://schemas.microsoft.com/office/drawing/2014/main" id="{4A14E960-8266-4480-ADE6-2F98331E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67025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morph-outcome-label">
            <a:extLst xmlns:a="http://schemas.openxmlformats.org/drawingml/2006/main">
              <a:ext uri="{FF2B5EF4-FFF2-40B4-BE49-F238E27FC236}">
                <a16:creationId xmlns:a16="http://schemas.microsoft.com/office/drawing/2014/main" id="{CEE896AB-DCDC-4334-BD66-0B6E86E7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527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CONSOLIDATED OUTPUT</a:t>
            </a:r>
          </a:p>
        </p:txBody>
      </p:sp>
      <p:sp>
        <p:nvSpPr>
          <p:cNvPr id="23" name="after-divider">
            <a:extLst xmlns:a="http://schemas.openxmlformats.org/drawingml/2006/main">
              <a:ext uri="{FF2B5EF4-FFF2-40B4-BE49-F238E27FC236}">
                <a16:creationId xmlns:a16="http://schemas.microsoft.com/office/drawing/2014/main" id="{F610B930-0353-4CED-9FB5-01613FEA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684B8-EF79-4F99-AA2C-677F76DF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45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45AE1-ADE1-42F7-8F87-890B80ED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BE6"/>
                </a:solidFill>
                <a:latin typeface="Aptos"/>
                <a:ea typeface="Aptos"/>
                <a:cs typeface="Aptos"/>
              </a:rPr>
              <a:t>report preparation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88855-F40B-42BC-9EDE-75926297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98%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0B402-CCE9-4A0B-AB33-189446DB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95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BE6"/>
                </a:solidFill>
                <a:latin typeface="Aptos"/>
                <a:ea typeface="Aptos"/>
                <a:cs typeface="Aptos"/>
              </a:rPr>
              <a:t>destination-data accuracy</a:t>
            </a:r>
          </a:p>
        </p:txBody>
      </p:sp>
      <p:sp>
        <p:nvSpPr>
          <p:cNvPr id="28" name="progress-strip">
            <a:extLst xmlns:a="http://schemas.openxmlformats.org/drawingml/2006/main">
              <a:ext uri="{FF2B5EF4-FFF2-40B4-BE49-F238E27FC236}">
                <a16:creationId xmlns:a16="http://schemas.microsoft.com/office/drawing/2014/main" id="{4033E10B-D061-4D39-B769-CFC45AA6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AFD8EA-1331-4F1C-ABD8-F7134B4E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483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06533A-87F8-476F-8AB7-0AA1C05B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245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31" name="progress-divider-1">
            <a:extLst xmlns:a="http://schemas.openxmlformats.org/drawingml/2006/main">
              <a:ext uri="{FF2B5EF4-FFF2-40B4-BE49-F238E27FC236}">
                <a16:creationId xmlns:a16="http://schemas.microsoft.com/office/drawing/2014/main" id="{F4AC85DA-0849-4F9B-A04B-BC006FD4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292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35D7BF-A1E0-4DF6-994B-4F141508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4387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ACTUAL GO-LIVE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29FE8C-C413-4E85-A3A5-C408C27B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38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9 AUG 2025</a:t>
            </a:r>
          </a:p>
        </p:txBody>
      </p:sp>
      <p:sp>
        <p:nvSpPr>
          <p:cNvPr id="34" name="progress-divider-2">
            <a:extLst xmlns:a="http://schemas.openxmlformats.org/drawingml/2006/main">
              <a:ext uri="{FF2B5EF4-FFF2-40B4-BE49-F238E27FC236}">
                <a16:creationId xmlns:a16="http://schemas.microsoft.com/office/drawing/2014/main" id="{73BB3B3C-FEBE-485C-AF42-7BC6D87A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292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F2B85B-A8B8-4BFE-8FE3-C425D0EA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387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BA40BE-A9DF-4F36-9A53-8CEA4072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38800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Six reports consolidated into one operational output</a:t>
            </a:r>
          </a:p>
        </p:txBody>
      </p:sp>
      <p:sp>
        <p:nvSpPr>
          <p:cNvPr id="3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7951E46-796C-4A0A-9C96-8543283B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Illustrative data based on prior portfolio reporting patterns — not actual performance.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E00187-9B29-49CC-B34B-85FE49CD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7670204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brand-edge">
            <a:extLst xmlns:a="http://schemas.openxmlformats.org/drawingml/2006/main">
              <a:ext uri="{FF2B5EF4-FFF2-40B4-BE49-F238E27FC236}">
                <a16:creationId xmlns:a16="http://schemas.microsoft.com/office/drawing/2014/main" id="{3D302E69-AFE6-47F6-92C9-5133352C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B8D6E6CC-B756-41C2-95EE-FFF3F6CA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F6EDE95-EAAA-4BDE-8854-83A589E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PROJECT PROGRESS</a:t>
            </a:r>
          </a:p>
        </p:txBody>
      </p:sp>
      <p:sp>
        <p:nvSpPr>
          <p:cNvPr id="4" name="cio-brief">
            <a:extLst xmlns:a="http://schemas.openxmlformats.org/drawingml/2006/main">
              <a:ext uri="{FF2B5EF4-FFF2-40B4-BE49-F238E27FC236}">
                <a16:creationId xmlns:a16="http://schemas.microsoft.com/office/drawing/2014/main" id="{4F5E6D00-355E-4912-9480-9C5024B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CIO BRIEF</a:t>
            </a:r>
          </a:p>
        </p:txBody>
      </p:sp>
      <p:sp>
        <p:nvSpPr>
          <p:cNvPr id="5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CD625B5F-A144-403D-9E44-07070D74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Production and DR upgrades converged on one 6 July go-live</a:t>
            </a:r>
          </a:p>
        </p:txBody>
      </p:sp>
      <p:sp>
        <p:nvSpPr>
          <p:cNvPr id="6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43A84C9A-B050-4AB8-AE98-04DE2D17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DMGT-2013  |  MP Server Upgrade — Production and DR  |  Go-live 6 July 2025</a:t>
            </a:r>
          </a:p>
        </p:txBody>
      </p:sp>
      <p:sp>
        <p:nvSpPr>
          <p:cNvPr id="7" name="illustrative-tag">
            <a:extLst xmlns:a="http://schemas.openxmlformats.org/drawingml/2006/main">
              <a:ext uri="{FF2B5EF4-FFF2-40B4-BE49-F238E27FC236}">
                <a16:creationId xmlns:a16="http://schemas.microsoft.com/office/drawing/2014/main" id="{B0AECC99-39A7-42F4-A2C7-6C988275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619250"/>
            <a:ext cx="197167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DF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ILLUSTRATIVE DELIVERY PATH</a:t>
            </a:r>
          </a:p>
        </p:txBody>
      </p:sp>
      <p:sp>
        <p:nvSpPr>
          <p:cNvPr id="8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14B3211-8F72-4545-AF65-23344397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9" name="morph-kpi-rail">
            <a:extLst xmlns:a="http://schemas.openxmlformats.org/drawingml/2006/main">
              <a:ext uri="{FF2B5EF4-FFF2-40B4-BE49-F238E27FC236}">
                <a16:creationId xmlns:a16="http://schemas.microsoft.com/office/drawing/2014/main" id="{585F6CF1-AC13-4C27-939C-D5429292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000375" cy="3619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0" name="morph-outcome-number">
            <a:extLst xmlns:a="http://schemas.openxmlformats.org/drawingml/2006/main">
              <a:ext uri="{FF2B5EF4-FFF2-40B4-BE49-F238E27FC236}">
                <a16:creationId xmlns:a16="http://schemas.microsoft.com/office/drawing/2014/main" id="{8ACF20AD-2750-4CE2-8C55-26B108FF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1" name="morph-outcome-label">
            <a:extLst xmlns:a="http://schemas.openxmlformats.org/drawingml/2006/main">
              <a:ext uri="{FF2B5EF4-FFF2-40B4-BE49-F238E27FC236}">
                <a16:creationId xmlns:a16="http://schemas.microsoft.com/office/drawing/2014/main" id="{D220A8D3-F522-4C7F-AF01-2AF0A40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337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12" name="slide5-hero-divider-1">
            <a:extLst xmlns:a="http://schemas.openxmlformats.org/drawingml/2006/main">
              <a:ext uri="{FF2B5EF4-FFF2-40B4-BE49-F238E27FC236}">
                <a16:creationId xmlns:a16="http://schemas.microsoft.com/office/drawing/2014/main" id="{B6DAF71F-9B01-4E01-B3F0-6A377B25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42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3664A-D7A6-4C65-9A00-8533F551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+30%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E13D2-6C5B-45B9-9DFD-907F3A66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BE6"/>
                </a:solidFill>
                <a:latin typeface="Aptos"/>
                <a:ea typeface="Aptos"/>
                <a:cs typeface="Aptos"/>
              </a:rPr>
              <a:t>processing headroom</a:t>
            </a:r>
          </a:p>
        </p:txBody>
      </p:sp>
      <p:sp>
        <p:nvSpPr>
          <p:cNvPr id="15" name="slide5-hero-divider-2">
            <a:extLst xmlns:a="http://schemas.openxmlformats.org/drawingml/2006/main">
              <a:ext uri="{FF2B5EF4-FFF2-40B4-BE49-F238E27FC236}">
                <a16:creationId xmlns:a16="http://schemas.microsoft.com/office/drawing/2014/main" id="{B1F57390-93DE-4A16-BB16-032C8AFD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242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5674D-56B0-46AE-BDD8-B6A17280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ACTUAL GO-LIVE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87321-7539-47E3-9536-5CAF2A43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14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 JUL 2025</a:t>
            </a:r>
          </a:p>
        </p:txBody>
      </p:sp>
      <p:sp>
        <p:nvSpPr>
          <p:cNvPr id="18" name="dual-track-surface">
            <a:extLst xmlns:a="http://schemas.openxmlformats.org/drawingml/2006/main">
              <a:ext uri="{FF2B5EF4-FFF2-40B4-BE49-F238E27FC236}">
                <a16:creationId xmlns:a16="http://schemas.microsoft.com/office/drawing/2014/main" id="{806E9F03-0035-4E30-8484-8BAFFDC7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75247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C3025-2617-4147-8C09-15D07230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PARALLEL DELIVERY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61888-D1E4-43F8-A34A-0DE55DBC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52700"/>
            <a:ext cx="3514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Both environments reached the same production 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CAF49-C370-4739-8783-F5AFBD67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22" name="production-line">
            <a:extLst xmlns:a="http://schemas.openxmlformats.org/drawingml/2006/main">
              <a:ext uri="{FF2B5EF4-FFF2-40B4-BE49-F238E27FC236}">
                <a16:creationId xmlns:a16="http://schemas.microsoft.com/office/drawing/2014/main" id="{F9621AE7-AB75-4275-B732-37180622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24225"/>
            <a:ext cx="542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23" name="production-plan">
            <a:extLst xmlns:a="http://schemas.openxmlformats.org/drawingml/2006/main">
              <a:ext uri="{FF2B5EF4-FFF2-40B4-BE49-F238E27FC236}">
                <a16:creationId xmlns:a16="http://schemas.microsoft.com/office/drawing/2014/main" id="{D5471359-D570-458C-A744-A68688B6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B2C8B-D16F-4613-B6E7-934AEE6A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33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C3537-4477-4694-BF0F-23856AE9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433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02 APR</a:t>
            </a:r>
          </a:p>
        </p:txBody>
      </p:sp>
      <p:sp>
        <p:nvSpPr>
          <p:cNvPr id="26" name="production-build">
            <a:extLst xmlns:a="http://schemas.openxmlformats.org/drawingml/2006/main">
              <a:ext uri="{FF2B5EF4-FFF2-40B4-BE49-F238E27FC236}">
                <a16:creationId xmlns:a16="http://schemas.microsoft.com/office/drawing/2014/main" id="{1644C81E-F165-4AF3-B29C-4E896153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B5F477-4AA6-4E7B-AABE-F97DB965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33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BEA55-D830-4C48-B11E-57C27C5B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433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15 MAY</a:t>
            </a:r>
          </a:p>
        </p:txBody>
      </p:sp>
      <p:sp>
        <p:nvSpPr>
          <p:cNvPr id="29" name="production-itqa">
            <a:extLst xmlns:a="http://schemas.openxmlformats.org/drawingml/2006/main">
              <a:ext uri="{FF2B5EF4-FFF2-40B4-BE49-F238E27FC236}">
                <a16:creationId xmlns:a16="http://schemas.microsoft.com/office/drawing/2014/main" id="{39C075F9-118D-4279-A1FD-9FC5B7BF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A54F59-B1F7-4947-8529-0245D427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33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ITQA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F14F0F-74C7-47CD-90CA-86204D54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433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12 JUN</a:t>
            </a:r>
          </a:p>
        </p:txBody>
      </p:sp>
      <p:sp>
        <p:nvSpPr>
          <p:cNvPr id="32" name="production-live">
            <a:extLst xmlns:a="http://schemas.openxmlformats.org/drawingml/2006/main">
              <a:ext uri="{FF2B5EF4-FFF2-40B4-BE49-F238E27FC236}">
                <a16:creationId xmlns:a16="http://schemas.microsoft.com/office/drawing/2014/main" id="{2C238D19-96DA-44F5-BD51-9981CBB3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775B24-06E0-47E2-A151-CFCB1565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337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C0AD3B-93D6-4048-A170-C7A6D8F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433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06 JUL</a:t>
            </a:r>
          </a:p>
        </p:txBody>
      </p:sp>
      <p:sp>
        <p:nvSpPr>
          <p:cNvPr id="35" name="lane-divider">
            <a:extLst xmlns:a="http://schemas.openxmlformats.org/drawingml/2006/main">
              <a:ext uri="{FF2B5EF4-FFF2-40B4-BE49-F238E27FC236}">
                <a16:creationId xmlns:a16="http://schemas.microsoft.com/office/drawing/2014/main" id="{70B656DD-16FD-460E-94C0-BD076286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529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61F23C-E6B6-455D-B432-D12FF187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910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6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DISASTER RECOVERY</a:t>
            </a:r>
          </a:p>
        </p:txBody>
      </p:sp>
      <p:sp>
        <p:nvSpPr>
          <p:cNvPr id="37" name="dr-line">
            <a:extLst xmlns:a="http://schemas.openxmlformats.org/drawingml/2006/main">
              <a:ext uri="{FF2B5EF4-FFF2-40B4-BE49-F238E27FC236}">
                <a16:creationId xmlns:a16="http://schemas.microsoft.com/office/drawing/2014/main" id="{CD726AA3-8368-4D0F-AD9F-315B3A6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24400"/>
            <a:ext cx="542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38" name="dr-plan">
            <a:extLst xmlns:a="http://schemas.openxmlformats.org/drawingml/2006/main">
              <a:ext uri="{FF2B5EF4-FFF2-40B4-BE49-F238E27FC236}">
                <a16:creationId xmlns:a16="http://schemas.microsoft.com/office/drawing/2014/main" id="{C6EF73FE-B0C3-4D23-AA98-F00B783E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5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263EB-6B55-4FC1-B2EE-6B8C5293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933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B8CE2B-BF7B-4685-A38C-B812D547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435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02 APR</a:t>
            </a:r>
          </a:p>
        </p:txBody>
      </p:sp>
      <p:sp>
        <p:nvSpPr>
          <p:cNvPr id="41" name="dr-recovery">
            <a:extLst xmlns:a="http://schemas.openxmlformats.org/drawingml/2006/main">
              <a:ext uri="{FF2B5EF4-FFF2-40B4-BE49-F238E27FC236}">
                <a16:creationId xmlns:a16="http://schemas.microsoft.com/office/drawing/2014/main" id="{EB434642-BB63-47FB-8981-D82CEC6E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65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DC7B60-0D95-43AF-B4FB-8D8286AE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33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4FBEC9-D705-401D-8364-E2264A2E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435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22 MAY</a:t>
            </a:r>
          </a:p>
        </p:txBody>
      </p:sp>
      <p:sp>
        <p:nvSpPr>
          <p:cNvPr id="44" name="dr-failover">
            <a:extLst xmlns:a="http://schemas.openxmlformats.org/drawingml/2006/main">
              <a:ext uri="{FF2B5EF4-FFF2-40B4-BE49-F238E27FC236}">
                <a16:creationId xmlns:a16="http://schemas.microsoft.com/office/drawing/2014/main" id="{F06833A0-2475-46C8-B388-0D1BB346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5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592094-D1A6-443B-9C3E-FBC27E66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933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FAILOVER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C702D5-D31E-4B66-9146-B93F9B93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16 JUN</a:t>
            </a:r>
          </a:p>
        </p:txBody>
      </p:sp>
      <p:sp>
        <p:nvSpPr>
          <p:cNvPr id="47" name="dr-live">
            <a:extLst xmlns:a="http://schemas.openxmlformats.org/drawingml/2006/main">
              <a:ext uri="{FF2B5EF4-FFF2-40B4-BE49-F238E27FC236}">
                <a16:creationId xmlns:a16="http://schemas.microsoft.com/office/drawing/2014/main" id="{5F3246B2-3D22-44E7-A74E-591DCE09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5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C2DE36-9071-43F8-BBC2-4012D2AC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9339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A9038F-9A8D-4D89-A7D2-BFC7F73D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06 JUL</a:t>
            </a:r>
          </a:p>
        </p:txBody>
      </p:sp>
      <p:sp>
        <p:nvSpPr>
          <p:cNvPr id="50" name="shared-live-line">
            <a:extLst xmlns:a="http://schemas.openxmlformats.org/drawingml/2006/main">
              <a:ext uri="{FF2B5EF4-FFF2-40B4-BE49-F238E27FC236}">
                <a16:creationId xmlns:a16="http://schemas.microsoft.com/office/drawing/2014/main" id="{10A46967-459F-4E05-B6BD-FD19CDEC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35280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DCAB89-C620-427B-8902-FCE7E17B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6260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Production and recovery environments completed together</a:t>
            </a:r>
          </a:p>
        </p:txBody>
      </p:sp>
      <p:sp>
        <p:nvSpPr>
          <p:cNvPr id="5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F1ACF57-1550-40B2-8ABC-A0AC950E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Illustrative data based on prior portfolio reporting patterns — not actual performance.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B0CA3A-5ECE-4559-BD4A-B6322EA6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9003293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brand-edge">
            <a:extLst xmlns:a="http://schemas.openxmlformats.org/drawingml/2006/main">
              <a:ext uri="{FF2B5EF4-FFF2-40B4-BE49-F238E27FC236}">
                <a16:creationId xmlns:a16="http://schemas.microsoft.com/office/drawing/2014/main" id="{BA66BE04-7644-4D11-B46D-79AA87C8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048414C9-5075-4E39-82CF-9605365B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CDEFD9A6-862F-4F75-B340-243BED1A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PROJECT OUTCOME</a:t>
            </a:r>
          </a:p>
        </p:txBody>
      </p:sp>
      <p:sp>
        <p:nvSpPr>
          <p:cNvPr id="4" name="cio-brief">
            <a:extLst xmlns:a="http://schemas.openxmlformats.org/drawingml/2006/main">
              <a:ext uri="{FF2B5EF4-FFF2-40B4-BE49-F238E27FC236}">
                <a16:creationId xmlns:a16="http://schemas.microsoft.com/office/drawing/2014/main" id="{EBA7D0EE-347A-470D-BC76-35BD5B3C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CIO BRIEF</a:t>
            </a:r>
          </a:p>
        </p:txBody>
      </p:sp>
      <p:sp>
        <p:nvSpPr>
          <p:cNvPr id="5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0EF5EDF9-127F-414A-A0DD-C4993C63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2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Five LPC fee scenarios aligned to one controlled process</a:t>
            </a:r>
          </a:p>
        </p:txBody>
      </p:sp>
      <p:sp>
        <p:nvSpPr>
          <p:cNvPr id="6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FA011D7B-4DED-475E-AEED-B64E7A8C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DMGT-584  |  CPR Audit Findings — LPC Fees  |  Go-live 12 August 2025</a:t>
            </a:r>
          </a:p>
        </p:txBody>
      </p:sp>
      <p:sp>
        <p:nvSpPr>
          <p:cNvPr id="7" name="illustrative-tag">
            <a:extLst xmlns:a="http://schemas.openxmlformats.org/drawingml/2006/main">
              <a:ext uri="{FF2B5EF4-FFF2-40B4-BE49-F238E27FC236}">
                <a16:creationId xmlns:a16="http://schemas.microsoft.com/office/drawing/2014/main" id="{76AB8E52-FFBB-465B-B4E5-D4E89C9F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619250"/>
            <a:ext cx="193357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DF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ILLUSTRATIVE CONTROL DATA</a:t>
            </a:r>
          </a:p>
        </p:txBody>
      </p:sp>
      <p:sp>
        <p:nvSpPr>
          <p:cNvPr id="8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BB4A4D8-0D44-473D-84A6-922FE7B7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9" name="control-outcome-surface">
            <a:extLst xmlns:a="http://schemas.openxmlformats.org/drawingml/2006/main">
              <a:ext uri="{FF2B5EF4-FFF2-40B4-BE49-F238E27FC236}">
                <a16:creationId xmlns:a16="http://schemas.microsoft.com/office/drawing/2014/main" id="{CAFB0EA3-F97E-45E4-BC65-6991F50B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85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68C3D-AA79-4FD0-AB1C-4809B1FB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CONTROL STANDARDISATION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1CA8B-C796-4C49-A819-E54ABD2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5 FEE SCENARIOS</a:t>
            </a:r>
          </a:p>
        </p:txBody>
      </p:sp>
      <p:sp>
        <p:nvSpPr>
          <p:cNvPr id="12" name="fee-scenario-1">
            <a:extLst xmlns:a="http://schemas.openxmlformats.org/drawingml/2006/main">
              <a:ext uri="{FF2B5EF4-FFF2-40B4-BE49-F238E27FC236}">
                <a16:creationId xmlns:a16="http://schemas.microsoft.com/office/drawing/2014/main" id="{B362B23C-99BD-42AB-B738-5B2C936C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8618D-C3A1-4453-A7FB-5FCD8C29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fee-scenario-line-1">
            <a:extLst xmlns:a="http://schemas.openxmlformats.org/drawingml/2006/main">
              <a:ext uri="{FF2B5EF4-FFF2-40B4-BE49-F238E27FC236}">
                <a16:creationId xmlns:a16="http://schemas.microsoft.com/office/drawing/2014/main" id="{DCBF6AC9-28EA-430A-AB2D-E6C6A816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05175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15" name="fee-scenario-2">
            <a:extLst xmlns:a="http://schemas.openxmlformats.org/drawingml/2006/main">
              <a:ext uri="{FF2B5EF4-FFF2-40B4-BE49-F238E27FC236}">
                <a16:creationId xmlns:a16="http://schemas.microsoft.com/office/drawing/2014/main" id="{0B0E640C-218E-4D06-A601-2423335D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3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35A39-77C7-42DE-8FBC-CDB1B36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fee-scenario-line-2">
            <a:extLst xmlns:a="http://schemas.openxmlformats.org/drawingml/2006/main">
              <a:ext uri="{FF2B5EF4-FFF2-40B4-BE49-F238E27FC236}">
                <a16:creationId xmlns:a16="http://schemas.microsoft.com/office/drawing/2014/main" id="{7F6A5034-8D6C-416C-ABD7-71580140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18" name="fee-scenario-3">
            <a:extLst xmlns:a="http://schemas.openxmlformats.org/drawingml/2006/main">
              <a:ext uri="{FF2B5EF4-FFF2-40B4-BE49-F238E27FC236}">
                <a16:creationId xmlns:a16="http://schemas.microsoft.com/office/drawing/2014/main" id="{D18C5A04-0879-43A8-BDD9-17B6872A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CA982-6071-4352-AA0D-D945460F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fee-scenario-line-3">
            <a:extLst xmlns:a="http://schemas.openxmlformats.org/drawingml/2006/main">
              <a:ext uri="{FF2B5EF4-FFF2-40B4-BE49-F238E27FC236}">
                <a16:creationId xmlns:a16="http://schemas.microsoft.com/office/drawing/2014/main" id="{AE715094-BF94-4E01-B30E-68DC92B9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71925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21" name="fee-scenario-4">
            <a:extLst xmlns:a="http://schemas.openxmlformats.org/drawingml/2006/main">
              <a:ext uri="{FF2B5EF4-FFF2-40B4-BE49-F238E27FC236}">
                <a16:creationId xmlns:a16="http://schemas.microsoft.com/office/drawing/2014/main" id="{CE3FD7F9-BD4A-4CB8-9ED4-52277A19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00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F59CB1-2331-4917-B54A-36F38510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38625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fee-scenario-line-4">
            <a:extLst xmlns:a="http://schemas.openxmlformats.org/drawingml/2006/main">
              <a:ext uri="{FF2B5EF4-FFF2-40B4-BE49-F238E27FC236}">
                <a16:creationId xmlns:a16="http://schemas.microsoft.com/office/drawing/2014/main" id="{15EC6247-1069-46FF-8AF5-BFFEDD0A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24" name="fee-scenario-5">
            <a:extLst xmlns:a="http://schemas.openxmlformats.org/drawingml/2006/main">
              <a:ext uri="{FF2B5EF4-FFF2-40B4-BE49-F238E27FC236}">
                <a16:creationId xmlns:a16="http://schemas.microsoft.com/office/drawing/2014/main" id="{9E1B1F96-DAA8-45CD-8FE2-505EC7E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D9147-7B50-40C5-889E-FCA0C6B9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fee-scenario-line-5">
            <a:extLst xmlns:a="http://schemas.openxmlformats.org/drawingml/2006/main">
              <a:ext uri="{FF2B5EF4-FFF2-40B4-BE49-F238E27FC236}">
                <a16:creationId xmlns:a16="http://schemas.microsoft.com/office/drawing/2014/main" id="{FBE543CE-2036-4C3F-A654-AB685E54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38675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</p:sp>
      <p:sp>
        <p:nvSpPr>
          <p:cNvPr id="27" name="control-spine">
            <a:extLst xmlns:a="http://schemas.openxmlformats.org/drawingml/2006/main">
              <a:ext uri="{FF2B5EF4-FFF2-40B4-BE49-F238E27FC236}">
                <a16:creationId xmlns:a16="http://schemas.microsoft.com/office/drawing/2014/main" id="{BCCB66A0-531B-4B9C-BA5C-8D4C6E7B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38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8" name="control-bridge">
            <a:extLst xmlns:a="http://schemas.openxmlformats.org/drawingml/2006/main">
              <a:ext uri="{FF2B5EF4-FFF2-40B4-BE49-F238E27FC236}">
                <a16:creationId xmlns:a16="http://schemas.microsoft.com/office/drawing/2014/main" id="{EF52D41E-8B32-4180-B754-EF46778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719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9" name="morph-kpi-rail">
            <a:extLst xmlns:a="http://schemas.openxmlformats.org/drawingml/2006/main">
              <a:ext uri="{FF2B5EF4-FFF2-40B4-BE49-F238E27FC236}">
                <a16:creationId xmlns:a16="http://schemas.microsoft.com/office/drawing/2014/main" id="{3006EF74-C56B-40C1-A243-AC77B57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3143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30" name="morph-outcome-number">
            <a:extLst xmlns:a="http://schemas.openxmlformats.org/drawingml/2006/main">
              <a:ext uri="{FF2B5EF4-FFF2-40B4-BE49-F238E27FC236}">
                <a16:creationId xmlns:a16="http://schemas.microsoft.com/office/drawing/2014/main" id="{C3542A5D-10C1-421B-9E72-D1A10DC2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morph-outcome-label">
            <a:extLst xmlns:a="http://schemas.openxmlformats.org/drawingml/2006/main">
              <a:ext uri="{FF2B5EF4-FFF2-40B4-BE49-F238E27FC236}">
                <a16:creationId xmlns:a16="http://schemas.microsoft.com/office/drawing/2014/main" id="{10B5D234-13F5-4979-871C-6165062C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32" name="control-block-divider">
            <a:extLst xmlns:a="http://schemas.openxmlformats.org/drawingml/2006/main">
              <a:ext uri="{FF2B5EF4-FFF2-40B4-BE49-F238E27FC236}">
                <a16:creationId xmlns:a16="http://schemas.microsoft.com/office/drawing/2014/main" id="{844C29D0-E8A4-4E25-B367-A7B6C50C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0025"/>
            <a:ext cx="2533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9BDBBC-9C76-416D-BCBD-C20C463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386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STANDARDISED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5D6FAF-8912-40BD-BF6A-5F803EAF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3390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BE6"/>
                </a:solidFill>
                <a:latin typeface="Aptos"/>
                <a:ea typeface="Aptos"/>
                <a:cs typeface="Aptos"/>
              </a:rPr>
              <a:t>across defined fee scenarios</a:t>
            </a:r>
          </a:p>
        </p:txBody>
      </p:sp>
      <p:sp>
        <p:nvSpPr>
          <p:cNvPr id="35" name="manual-checks-box">
            <a:extLst xmlns:a="http://schemas.openxmlformats.org/drawingml/2006/main">
              <a:ext uri="{FF2B5EF4-FFF2-40B4-BE49-F238E27FC236}">
                <a16:creationId xmlns:a16="http://schemas.microsoft.com/office/drawing/2014/main" id="{E35A8C1B-D251-44D2-964C-6FCB9E2F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2000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3C560B-0CB8-47FF-9B7A-D392C77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33725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F60EC9-9328-4024-BE9F-3CD5E8CF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52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MANUAL CHECKS</a:t>
            </a:r>
          </a:p>
        </p:txBody>
      </p:sp>
      <p:sp>
        <p:nvSpPr>
          <p:cNvPr id="38" name="manual-divider">
            <a:extLst xmlns:a="http://schemas.openxmlformats.org/drawingml/2006/main">
              <a:ext uri="{FF2B5EF4-FFF2-40B4-BE49-F238E27FC236}">
                <a16:creationId xmlns:a16="http://schemas.microsoft.com/office/drawing/2014/main" id="{C8E11237-EF2F-42D6-9A76-0ED9C041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2432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A9328B-97A9-4A8D-84D3-D810FB0D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434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reduced from 6</a:t>
            </a:r>
          </a:p>
        </p:txBody>
      </p:sp>
      <p:sp>
        <p:nvSpPr>
          <p:cNvPr id="40" name="evidence-time-box">
            <a:extLst xmlns:a="http://schemas.openxmlformats.org/drawingml/2006/main">
              <a:ext uri="{FF2B5EF4-FFF2-40B4-BE49-F238E27FC236}">
                <a16:creationId xmlns:a16="http://schemas.microsoft.com/office/drawing/2014/main" id="{B2FEC97E-E31A-4820-A0AF-AB8C1DFD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95600"/>
            <a:ext cx="21907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9DFC7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8B3973-102D-4498-A5F7-607DF928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337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45 MIN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47871B-6970-418B-AE78-A589D0EC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EVIDENCE PACK</a:t>
            </a:r>
          </a:p>
        </p:txBody>
      </p:sp>
      <p:sp>
        <p:nvSpPr>
          <p:cNvPr id="43" name="evidence-divider">
            <a:extLst xmlns:a="http://schemas.openxmlformats.org/drawingml/2006/main">
              <a:ext uri="{FF2B5EF4-FFF2-40B4-BE49-F238E27FC236}">
                <a16:creationId xmlns:a16="http://schemas.microsoft.com/office/drawing/2014/main" id="{4C8EA6BC-E892-458A-9DAF-631632DC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243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6A9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C34132-7322-48B7-A945-6EF8865A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434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reduced from 3 hours</a:t>
            </a:r>
          </a:p>
        </p:txBody>
      </p:sp>
      <p:sp>
        <p:nvSpPr>
          <p:cNvPr id="45" name="progress-strip">
            <a:extLst xmlns:a="http://schemas.openxmlformats.org/drawingml/2006/main">
              <a:ext uri="{FF2B5EF4-FFF2-40B4-BE49-F238E27FC236}">
                <a16:creationId xmlns:a16="http://schemas.microsoft.com/office/drawing/2014/main" id="{C123A629-1C39-42C6-9FD7-CC9E3D78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938E24-48C7-4F1A-B44A-886A6664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05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A03FE7-AF17-4F68-849C-00F4E765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8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48" name="slide6-progress-divider-1">
            <a:extLst xmlns:a="http://schemas.openxmlformats.org/drawingml/2006/main">
              <a:ext uri="{FF2B5EF4-FFF2-40B4-BE49-F238E27FC236}">
                <a16:creationId xmlns:a16="http://schemas.microsoft.com/office/drawing/2014/main" id="{92B7E04A-FC40-4351-B6BE-76CF9E8C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95925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EDA0ED-4ACC-403A-ABEE-E117E06C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768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ACTUAL GO-LIVE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52EFFA-2886-4558-A1DC-AB4B6CD3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76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12 AUG 2025</a:t>
            </a:r>
          </a:p>
        </p:txBody>
      </p:sp>
      <p:sp>
        <p:nvSpPr>
          <p:cNvPr id="51" name="slide6-progress-divider-2">
            <a:extLst xmlns:a="http://schemas.openxmlformats.org/drawingml/2006/main">
              <a:ext uri="{FF2B5EF4-FFF2-40B4-BE49-F238E27FC236}">
                <a16:creationId xmlns:a16="http://schemas.microsoft.com/office/drawing/2014/main" id="{74ED6B07-563E-4039-961E-D8132F2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95925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D61EA4-CC20-4D18-8432-F89B7BA3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768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FDD88D-7776-4DF2-8EB0-3DE71DC1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769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Five fee scenarios aligned to one control flow</a:t>
            </a:r>
          </a:p>
        </p:txBody>
      </p:sp>
      <p:sp>
        <p:nvSpPr>
          <p:cNvPr id="5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DC18807-4D7D-4CF9-990A-996904A7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Illustrative data based on prior portfolio reporting patterns — not actual performance.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CFF734-9F63-4DA4-9B6F-B67C528D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2903015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brand-edge">
            <a:extLst xmlns:a="http://schemas.openxmlformats.org/drawingml/2006/main">
              <a:ext uri="{FF2B5EF4-FFF2-40B4-BE49-F238E27FC236}">
                <a16:creationId xmlns:a16="http://schemas.microsoft.com/office/drawing/2014/main" id="{229A1239-945F-4E48-B935-34220B3B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C2571F7F-3651-4AC5-B1D6-6B91555A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91D9BBF-21A6-48EF-9F1E-A864BC2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DELIVERY PROGRESS</a:t>
            </a:r>
          </a:p>
        </p:txBody>
      </p:sp>
      <p:sp>
        <p:nvSpPr>
          <p:cNvPr id="4" name="cio-brief">
            <a:extLst xmlns:a="http://schemas.openxmlformats.org/drawingml/2006/main">
              <a:ext uri="{FF2B5EF4-FFF2-40B4-BE49-F238E27FC236}">
                <a16:creationId xmlns:a16="http://schemas.microsoft.com/office/drawing/2014/main" id="{45B62A17-9D77-4211-AC22-1B2A5273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CIO BRIEF</a:t>
            </a:r>
          </a:p>
        </p:txBody>
      </p:sp>
      <p:sp>
        <p:nvSpPr>
          <p:cNvPr id="5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D358D720-B7DA-4F62-9241-1C4BE1EC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18 go-lives delivered, with May and August reaching five each</a:t>
            </a:r>
          </a:p>
        </p:txBody>
      </p:sp>
      <p:sp>
        <p:nvSpPr>
          <p:cNvPr id="6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3E0AB25E-FF13-451C-BE6A-ED4255F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April to September 2025, verified portfolio delivery and featured project dates</a:t>
            </a:r>
          </a:p>
        </p:txBody>
      </p:sp>
      <p:sp>
        <p:nvSpPr>
          <p:cNvPr id="7" name="verified-tag">
            <a:extLst xmlns:a="http://schemas.openxmlformats.org/drawingml/2006/main">
              <a:ext uri="{FF2B5EF4-FFF2-40B4-BE49-F238E27FC236}">
                <a16:creationId xmlns:a16="http://schemas.microsoft.com/office/drawing/2014/main" id="{00D9278B-1550-42E4-8120-0AE60764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19250"/>
            <a:ext cx="1504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SOURCE VERIFIED</a:t>
            </a:r>
          </a:p>
        </p:txBody>
      </p:sp>
      <p:sp>
        <p:nvSpPr>
          <p:cNvPr id="8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6FA99F6-76D2-4177-B82C-84F604D8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9" name="delivery-curve-surface">
            <a:extLst xmlns:a="http://schemas.openxmlformats.org/drawingml/2006/main">
              <a:ext uri="{FF2B5EF4-FFF2-40B4-BE49-F238E27FC236}">
                <a16:creationId xmlns:a16="http://schemas.microsoft.com/office/drawing/2014/main" id="{838C2A55-0123-42E3-A929-6C69DAEE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79057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00F84-F033-4642-B13C-EEB75D65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MONTHLY GO-LIVES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1DEAF-9AD8-49E3-BC51-C8E942F3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52700"/>
            <a:ext cx="347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May and August were the peak delivery months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952500" y="2876550"/>
          <a:ext xmlns:a="http://schemas.openxmlformats.org/drawingml/2006/main" cx="7334250" cy="1695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d093697d624c2b"/>
          </a:graphicData>
        </a:graphic>
      </p:graphicFrame>
      <p:sp>
        <p:nvSpPr>
          <p:cNvPr id="13" name="featured-date-divider">
            <a:extLst xmlns:a="http://schemas.openxmlformats.org/drawingml/2006/main">
              <a:ext uri="{FF2B5EF4-FFF2-40B4-BE49-F238E27FC236}">
                <a16:creationId xmlns:a16="http://schemas.microsoft.com/office/drawing/2014/main" id="{6A7DD7B5-0D19-4FE5-8C87-2C8017C6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CFC0C-A439-4FE1-9DD0-767F7806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FEATURED PROJECT GO-LIVES</a:t>
            </a:r>
          </a:p>
        </p:txBody>
      </p:sp>
      <p:sp>
        <p:nvSpPr>
          <p:cNvPr id="15" name="featured-dmgt-2013">
            <a:extLst xmlns:a="http://schemas.openxmlformats.org/drawingml/2006/main">
              <a:ext uri="{FF2B5EF4-FFF2-40B4-BE49-F238E27FC236}">
                <a16:creationId xmlns:a16="http://schemas.microsoft.com/office/drawing/2014/main" id="{F0E175A0-D460-41D5-8DAF-47970D60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65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52089-A0EC-4F29-BADE-22B78599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48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06 JUL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165A8-31A5-44D6-94E3-144FF76A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673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DMGT-2013</a:t>
            </a:r>
          </a:p>
        </p:txBody>
      </p:sp>
      <p:sp>
        <p:nvSpPr>
          <p:cNvPr id="18" name="featured-dmgt-1954">
            <a:extLst xmlns:a="http://schemas.openxmlformats.org/drawingml/2006/main">
              <a:ext uri="{FF2B5EF4-FFF2-40B4-BE49-F238E27FC236}">
                <a16:creationId xmlns:a16="http://schemas.microsoft.com/office/drawing/2014/main" id="{1FB1B9CD-22E6-4D0C-A509-49CCB6E7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43500"/>
            <a:ext cx="165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DF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F1297-04E7-410E-A1C9-56F05D98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48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09 AUG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E06FB-BC1D-4E32-A2C4-5F0C0E0F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673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DMGT-1954</a:t>
            </a:r>
          </a:p>
        </p:txBody>
      </p:sp>
      <p:sp>
        <p:nvSpPr>
          <p:cNvPr id="21" name="featured-dmgt-584">
            <a:extLst xmlns:a="http://schemas.openxmlformats.org/drawingml/2006/main">
              <a:ext uri="{FF2B5EF4-FFF2-40B4-BE49-F238E27FC236}">
                <a16:creationId xmlns:a16="http://schemas.microsoft.com/office/drawing/2014/main" id="{DCCDB264-7D29-4989-9064-5B719F08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43500"/>
            <a:ext cx="165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DFC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45EAC-23FD-4F93-B545-2781046F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48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12 AUG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6FBB9-7139-4626-96D6-0CDE92E9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673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DMGT-584</a:t>
            </a:r>
          </a:p>
        </p:txBody>
      </p:sp>
      <p:sp>
        <p:nvSpPr>
          <p:cNvPr id="24" name="featured-dmgt-1356">
            <a:extLst xmlns:a="http://schemas.openxmlformats.org/drawingml/2006/main">
              <a:ext uri="{FF2B5EF4-FFF2-40B4-BE49-F238E27FC236}">
                <a16:creationId xmlns:a16="http://schemas.microsoft.com/office/drawing/2014/main" id="{D4B411B2-9668-49D6-923D-3718B4E8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43500"/>
            <a:ext cx="1657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D4C44-E4F7-4572-8DA7-0DF27B09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48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06 SEP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B93E0-62BC-4160-9B55-B3EB0FBE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673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DMGT-1356</a:t>
            </a:r>
          </a:p>
        </p:txBody>
      </p:sp>
      <p:sp>
        <p:nvSpPr>
          <p:cNvPr id="27" name="morph-kpi-rail">
            <a:extLst xmlns:a="http://schemas.openxmlformats.org/drawingml/2006/main">
              <a:ext uri="{FF2B5EF4-FFF2-40B4-BE49-F238E27FC236}">
                <a16:creationId xmlns:a16="http://schemas.microsoft.com/office/drawing/2014/main" id="{27F38659-BD65-4867-837B-D53FD421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667000" cy="3619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28" name="morph-outcome-number">
            <a:extLst xmlns:a="http://schemas.openxmlformats.org/drawingml/2006/main">
              <a:ext uri="{FF2B5EF4-FFF2-40B4-BE49-F238E27FC236}">
                <a16:creationId xmlns:a16="http://schemas.microsoft.com/office/drawing/2014/main" id="{BE0E8893-31F4-45D5-BF5D-520B552B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9" name="morph-outcome-label">
            <a:extLst xmlns:a="http://schemas.openxmlformats.org/drawingml/2006/main">
              <a:ext uri="{FF2B5EF4-FFF2-40B4-BE49-F238E27FC236}">
                <a16:creationId xmlns:a16="http://schemas.microsoft.com/office/drawing/2014/main" id="{C36F34C1-CA07-4F5A-BFC7-4FA1C9E7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19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GO-LIVES</a:t>
            </a:r>
          </a:p>
        </p:txBody>
      </p:sp>
      <p:sp>
        <p:nvSpPr>
          <p:cNvPr id="30" name="slide7-kpi-divider-1">
            <a:extLst xmlns:a="http://schemas.openxmlformats.org/drawingml/2006/main">
              <a:ext uri="{FF2B5EF4-FFF2-40B4-BE49-F238E27FC236}">
                <a16:creationId xmlns:a16="http://schemas.microsoft.com/office/drawing/2014/main" id="{0B47CE29-1852-415C-A075-79126F1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2707D7-A85F-472F-812E-24D9B241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338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77DFB4-788E-413C-A0B4-938CBFD2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005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PEAK MONTH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90F7B3-EEF1-4AF5-86A6-DC0C569F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291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EBE6"/>
                </a:solidFill>
                <a:latin typeface="Aptos"/>
                <a:ea typeface="Aptos"/>
                <a:cs typeface="Aptos"/>
              </a:rPr>
              <a:t>May and August</a:t>
            </a:r>
          </a:p>
        </p:txBody>
      </p:sp>
      <p:sp>
        <p:nvSpPr>
          <p:cNvPr id="34" name="slide7-kpi-divider-2">
            <a:extLst xmlns:a="http://schemas.openxmlformats.org/drawingml/2006/main">
              <a:ext uri="{FF2B5EF4-FFF2-40B4-BE49-F238E27FC236}">
                <a16:creationId xmlns:a16="http://schemas.microsoft.com/office/drawing/2014/main" id="{49FD62ED-B8D3-40CA-B2EF-B9CFB683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00625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D4A903-9A85-4344-9A56-C11B001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101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7B00B0-4EFE-4A50-8AAC-B8FA15B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2863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4D735C-9E3A-467A-B12A-B1FC569B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EBE6"/>
                </a:solidFill>
                <a:latin typeface="Aptos"/>
                <a:ea typeface="Aptos"/>
                <a:cs typeface="Aptos"/>
              </a:rPr>
              <a:t>Apr to Sep 2025</a:t>
            </a:r>
          </a:p>
        </p:txBody>
      </p:sp>
      <p:sp>
        <p:nvSpPr>
          <p:cNvPr id="3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1D12215-9C57-4187-8C2C-FEDF6084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screenshot. Monthly totals and featured project dates are verified.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FC943C-3FAF-4080-AA0E-692F8FB2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6331613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brand-edge">
            <a:extLst xmlns:a="http://schemas.openxmlformats.org/drawingml/2006/main">
              <a:ext uri="{FF2B5EF4-FFF2-40B4-BE49-F238E27FC236}">
                <a16:creationId xmlns:a16="http://schemas.microsoft.com/office/drawing/2014/main" id="{24D3D8FF-443E-48E0-95FB-FDB6F922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0555826B-B1DC-4883-B1E8-7C8AFE75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76AF9B5-C7C7-47F7-A8A3-05CC159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4" name="cio-brief">
            <a:extLst xmlns:a="http://schemas.openxmlformats.org/drawingml/2006/main">
              <a:ext uri="{FF2B5EF4-FFF2-40B4-BE49-F238E27FC236}">
                <a16:creationId xmlns:a16="http://schemas.microsoft.com/office/drawing/2014/main" id="{2A0D618D-7897-4002-A853-477346DA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CIO BRIEF</a:t>
            </a:r>
          </a:p>
        </p:txBody>
      </p:sp>
      <p:sp>
        <p:nvSpPr>
          <p:cNvPr id="5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6968F691-DE2D-4C5D-8B93-1FCB5892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18 go-lives delivered across 142 demands, including four featured outcomes</a:t>
            </a:r>
          </a:p>
        </p:txBody>
      </p:sp>
      <p:sp>
        <p:nvSpPr>
          <p:cNvPr id="6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7FA226EF-2DCA-4A8F-A8FD-7A0B091B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April to September 2025, source-verified portfolio delivery summary</a:t>
            </a:r>
          </a:p>
        </p:txBody>
      </p:sp>
      <p:sp>
        <p:nvSpPr>
          <p:cNvPr id="7" name="verified-tag">
            <a:extLst xmlns:a="http://schemas.openxmlformats.org/drawingml/2006/main">
              <a:ext uri="{FF2B5EF4-FFF2-40B4-BE49-F238E27FC236}">
                <a16:creationId xmlns:a16="http://schemas.microsoft.com/office/drawing/2014/main" id="{56EECC53-908C-48BA-89C3-AD1A4A54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19250"/>
            <a:ext cx="15049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SOURCE VERIFIED</a:t>
            </a:r>
          </a:p>
        </p:txBody>
      </p:sp>
      <p:sp>
        <p:nvSpPr>
          <p:cNvPr id="8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46C4F60-8267-4C6A-89CB-103600AF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9" name="morph-kpi-rail">
            <a:extLst xmlns:a="http://schemas.openxmlformats.org/drawingml/2006/main">
              <a:ext uri="{FF2B5EF4-FFF2-40B4-BE49-F238E27FC236}">
                <a16:creationId xmlns:a16="http://schemas.microsoft.com/office/drawing/2014/main" id="{97CE6C62-8C35-44C7-BEF8-F6054DD4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85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0" name="slide8-kpi-divider-1">
            <a:extLst xmlns:a="http://schemas.openxmlformats.org/drawingml/2006/main">
              <a:ext uri="{FF2B5EF4-FFF2-40B4-BE49-F238E27FC236}">
                <a16:creationId xmlns:a16="http://schemas.microsoft.com/office/drawing/2014/main" id="{6B078EA1-6CC9-4F9D-8AF6-D80DF91F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9080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1" name="slide8-kpi-divider-2">
            <a:extLst xmlns:a="http://schemas.openxmlformats.org/drawingml/2006/main">
              <a:ext uri="{FF2B5EF4-FFF2-40B4-BE49-F238E27FC236}">
                <a16:creationId xmlns:a16="http://schemas.microsoft.com/office/drawing/2014/main" id="{8E98F09E-5955-473E-9B39-0AB63615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9080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2" name="morph-outcome-number">
            <a:extLst xmlns:a="http://schemas.openxmlformats.org/drawingml/2006/main">
              <a:ext uri="{FF2B5EF4-FFF2-40B4-BE49-F238E27FC236}">
                <a16:creationId xmlns:a16="http://schemas.microsoft.com/office/drawing/2014/main" id="{6977D32A-35EF-4E9C-890B-AFA1A22E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431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3" name="morph-outcome-label">
            <a:extLst xmlns:a="http://schemas.openxmlformats.org/drawingml/2006/main">
              <a:ext uri="{FF2B5EF4-FFF2-40B4-BE49-F238E27FC236}">
                <a16:creationId xmlns:a16="http://schemas.microsoft.com/office/drawing/2014/main" id="{3853947F-7805-433D-9762-B88A6ED0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GO-LIVES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92CE7-1260-4066-B984-2ECACDD4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4317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BB657-B915-4D36-9DEB-17A11A2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TOTAL DEMANDS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97D0A-970B-4F8B-B2AF-FA6D0690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4317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C0C74-1A7C-4439-9A6B-BDB32D7C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FEATURED OUTCOMES</a:t>
            </a:r>
          </a:p>
        </p:txBody>
      </p:sp>
      <p:sp>
        <p:nvSpPr>
          <p:cNvPr id="18" name="outcome-summary-surface">
            <a:extLst xmlns:a="http://schemas.openxmlformats.org/drawingml/2006/main">
              <a:ext uri="{FF2B5EF4-FFF2-40B4-BE49-F238E27FC236}">
                <a16:creationId xmlns:a16="http://schemas.microsoft.com/office/drawing/2014/main" id="{22770B8B-1A9B-420A-8889-0478B21A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7BE7B-3DC1-488A-8446-D6F1C94E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FEATURED PROJECTS IN PRODUCTION</a:t>
            </a:r>
          </a:p>
        </p:txBody>
      </p:sp>
      <p:sp>
        <p:nvSpPr>
          <p:cNvPr id="20" name="slide8-outcome-divider-1">
            <a:extLst xmlns:a="http://schemas.openxmlformats.org/drawingml/2006/main">
              <a:ext uri="{FF2B5EF4-FFF2-40B4-BE49-F238E27FC236}">
                <a16:creationId xmlns:a16="http://schemas.microsoft.com/office/drawing/2014/main" id="{B625DC82-AB1A-47B1-977C-74C8D623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52950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21" name="slide8-outcome-divider-2">
            <a:extLst xmlns:a="http://schemas.openxmlformats.org/drawingml/2006/main">
              <a:ext uri="{FF2B5EF4-FFF2-40B4-BE49-F238E27FC236}">
                <a16:creationId xmlns:a16="http://schemas.microsoft.com/office/drawing/2014/main" id="{24D0545D-095E-4816-9A8B-91696D1D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52950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22" name="slide8-outcome-divider-3">
            <a:extLst xmlns:a="http://schemas.openxmlformats.org/drawingml/2006/main">
              <a:ext uri="{FF2B5EF4-FFF2-40B4-BE49-F238E27FC236}">
                <a16:creationId xmlns:a16="http://schemas.microsoft.com/office/drawing/2014/main" id="{CC6A4261-08A9-4C42-A17F-B2F8D80D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52950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55099-CC09-457B-AF17-10A42E69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06 JUL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31389D-87D7-42FD-9F58-07FBA9D0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57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DMGT-2013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AE293-05BA-46FE-BAEB-0B5F4261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MP Server Upgrade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Production and DR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9F24B-A28A-4C35-B7FD-C1637643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BE6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591758-CF28-4F3C-A6FB-7344881F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19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09 AUG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217D98-036E-4D8C-8ED6-07516BC4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57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DMGT-1954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0547B7-E8C4-43C0-8789-BA8DF343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Cards Embossing and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Destination Report Writing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34BEEA-3089-4923-B8FE-84D7B10A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911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BE6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739A13-DA54-4853-815A-4B0336D9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9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12 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C407C6-4C2D-4481-B584-926080E8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57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DMGT-584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4C78F-F216-4162-ACCB-B72F65E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CPR Audit Findings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LPC Fees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670825-28B9-42EE-A8DC-9B302207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911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BE6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A7D28B-299C-46CB-A14C-8287CAB1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19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06 SEP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0D2281-2A70-481D-BE83-8F5E572D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5772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9DFC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9DFC7"/>
                </a:solidFill>
                <a:latin typeface="Aptos"/>
                <a:ea typeface="Aptos"/>
                <a:cs typeface="Aptos"/>
              </a:rPr>
              <a:t>DMGT-1356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169B3B-39A0-403F-A830-A6F51B86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48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VALU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Visa Account Updater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0D66D7-6B1B-49EC-8DFA-BCD13028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911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BE6"/>
                </a:solidFill>
                <a:latin typeface="Aptos"/>
                <a:ea typeface="Aptos"/>
                <a:cs typeface="Aptos"/>
              </a:rPr>
              <a:t>LIVE</a:t>
            </a:r>
          </a:p>
        </p:txBody>
      </p:sp>
      <p:sp>
        <p:nvSpPr>
          <p:cNvPr id="3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1D3AA61-26EC-4CDD-AE51-5F07F8EB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screenshot. All displayed figures, project names and go-live dates are verified.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6A5A23-0E29-433C-AC65-16EBE299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1090062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2026-09-21T04:21:37.7730000Z</dcterms:created>
  <dcterms:modified xsi:type="dcterms:W3CDTF">2026-09-21T04:21:37.7730000Z</dcterms:modified>
</coreProperties>
</file>