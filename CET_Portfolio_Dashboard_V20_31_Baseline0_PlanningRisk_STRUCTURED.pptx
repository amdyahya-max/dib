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59784bc8274b6d" /><Relationship Type="http://schemas.openxmlformats.org/officeDocument/2006/relationships/extended-properties" Target="/docProps/app.xml" Id="Rb4a543dc912e41cb" /><Relationship Type="http://schemas.openxmlformats.org/officeDocument/2006/relationships/officeDocument" Target="/ppt/presentation.xml" Id="Rf07677e4756e48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5dca503e4140e1"/>
  </p:sldMasterIdLst>
  <p:notesMasterIdLst>
    <p:notesMasterId xmlns:r="http://schemas.openxmlformats.org/officeDocument/2006/relationships" r:id="Rf27d254a323e44d9"/>
  </p:notesMasterIdLst>
  <p:sldIdLst>
    <p:sldId xmlns:r="http://schemas.openxmlformats.org/officeDocument/2006/relationships" id="256" r:id="R5f43773caaaf4706"/>
    <p:sldId xmlns:r="http://schemas.openxmlformats.org/officeDocument/2006/relationships" id="257" r:id="R2bfca3199c874628"/>
    <p:sldId xmlns:r="http://schemas.openxmlformats.org/officeDocument/2006/relationships" id="258" r:id="R9898f61998274a11"/>
    <p:sldId xmlns:r="http://schemas.openxmlformats.org/officeDocument/2006/relationships" id="259" r:id="R610a01154ca84a30"/>
    <p:sldId xmlns:r="http://schemas.openxmlformats.org/officeDocument/2006/relationships" id="260" r:id="R29475642deb844a1"/>
    <p:sldId xmlns:r="http://schemas.openxmlformats.org/officeDocument/2006/relationships" id="261" r:id="R4e42e81fc8b94873"/>
    <p:sldId xmlns:r="http://schemas.openxmlformats.org/officeDocument/2006/relationships" id="262" r:id="R505fda0f588c4245"/>
    <p:sldId xmlns:r="http://schemas.openxmlformats.org/officeDocument/2006/relationships" id="263" r:id="R590815400de44672"/>
    <p:sldId xmlns:r="http://schemas.openxmlformats.org/officeDocument/2006/relationships" id="264" r:id="R1956e20237cf4665"/>
    <p:sldId xmlns:r="http://schemas.openxmlformats.org/officeDocument/2006/relationships" id="265" r:id="R6a5527525e0a40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4b0e1e48554e0c" /><Relationship Type="http://schemas.openxmlformats.org/officeDocument/2006/relationships/slideMaster" Target="/ppt/slideMasters/slideMaster1.xml" Id="R705dca503e4140e1" /><Relationship Type="http://schemas.openxmlformats.org/officeDocument/2006/relationships/notesMaster" Target="/ppt/notesMasters/notesMaster1.xml" Id="Rf27d254a323e44d9" /><Relationship Type="http://schemas.openxmlformats.org/officeDocument/2006/relationships/presProps" Target="/ppt/presProps.xml" Id="Ra3dfe68d4fa14da6" /><Relationship Type="http://schemas.openxmlformats.org/officeDocument/2006/relationships/tableStyles" Target="/ppt/tableStyles.xml" Id="Rbb41dd3557d74ebb" /><Relationship Type="http://schemas.openxmlformats.org/officeDocument/2006/relationships/slide" Target="/ppt/slides/slide1.xml" Id="R5f43773caaaf4706" /><Relationship Type="http://schemas.openxmlformats.org/officeDocument/2006/relationships/slide" Target="/ppt/slides/slide2.xml" Id="R2bfca3199c874628" /><Relationship Type="http://schemas.openxmlformats.org/officeDocument/2006/relationships/slide" Target="/ppt/slides/slide3.xml" Id="R9898f61998274a11" /><Relationship Type="http://schemas.openxmlformats.org/officeDocument/2006/relationships/slide" Target="/ppt/slides/slide4.xml" Id="R610a01154ca84a30" /><Relationship Type="http://schemas.openxmlformats.org/officeDocument/2006/relationships/slide" Target="/ppt/slides/slide5.xml" Id="R29475642deb844a1" /><Relationship Type="http://schemas.openxmlformats.org/officeDocument/2006/relationships/slide" Target="/ppt/slides/slide6.xml" Id="R4e42e81fc8b94873" /><Relationship Type="http://schemas.openxmlformats.org/officeDocument/2006/relationships/slide" Target="/ppt/slides/slide7.xml" Id="R505fda0f588c4245" /><Relationship Type="http://schemas.openxmlformats.org/officeDocument/2006/relationships/slide" Target="/ppt/slides/slide8.xml" Id="R590815400de44672" /><Relationship Type="http://schemas.openxmlformats.org/officeDocument/2006/relationships/slide" Target="/ppt/slides/slide9.xml" Id="R1956e20237cf4665" /><Relationship Type="http://schemas.openxmlformats.org/officeDocument/2006/relationships/slide" Target="/ppt/slides/slide10.xml" Id="R6a5527525e0a40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8a4809935240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7db03b3e0c4872" /><Relationship Type="http://schemas.openxmlformats.org/officeDocument/2006/relationships/notesMaster" Target="/ppt/notesMasters/notesMaster1.xml" Id="R4b88b0b5f65540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76415b28254529" /><Relationship Type="http://schemas.openxmlformats.org/officeDocument/2006/relationships/notesMaster" Target="/ppt/notesMasters/notesMaster1.xml" Id="R83bd3c82e09946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c938ed31034597" /><Relationship Type="http://schemas.openxmlformats.org/officeDocument/2006/relationships/notesMaster" Target="/ppt/notesMasters/notesMaster1.xml" Id="R7c5588d7896043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6e214f1be0447a" /><Relationship Type="http://schemas.openxmlformats.org/officeDocument/2006/relationships/notesMaster" Target="/ppt/notesMasters/notesMaster1.xml" Id="Re0eec6feb3574b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ee289c63e84613" /><Relationship Type="http://schemas.openxmlformats.org/officeDocument/2006/relationships/notesMaster" Target="/ppt/notesMasters/notesMaster1.xml" Id="Raa156cebbb9f47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3b02fa764a4f36" /><Relationship Type="http://schemas.openxmlformats.org/officeDocument/2006/relationships/notesMaster" Target="/ppt/notesMasters/notesMaster1.xml" Id="Raa885e9684e046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04534d6bc448ee" /><Relationship Type="http://schemas.openxmlformats.org/officeDocument/2006/relationships/notesMaster" Target="/ppt/notesMasters/notesMaster1.xml" Id="R3d162df8a78e48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3ea3c077954798" /><Relationship Type="http://schemas.openxmlformats.org/officeDocument/2006/relationships/notesMaster" Target="/ppt/notesMasters/notesMaster1.xml" Id="R5bf0690e2e4849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ef970922bd437e" /><Relationship Type="http://schemas.openxmlformats.org/officeDocument/2006/relationships/notesMaster" Target="/ppt/notesMasters/notesMaster1.xml" Id="R866e6f955bff4d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38a9b4956124925" /><Relationship Type="http://schemas.openxmlformats.org/officeDocument/2006/relationships/notesMaster" Target="/ppt/notesMasters/notesMaster1.xml" Id="Rd0459303329444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IMG_8CF6D7E4-E31F-4C6C-9E8E-7E059150168F.jpeg and IMG_9453F031-49AD-4FB5-A10C-0BBC67F65DBF.jpeg; IT strategy mapping from the user's DIB CET IT Strategy deck.</a:t>
            </a:r>
          </a:p>
          <a:p xmlns:a="http://schemas.openxmlformats.org/drawingml/2006/main">
            <a:r>
              <a:t>VERIFIED: 56 total demands; 25 completed; seven planned go-lives through January 2027. IT strategy pillars are Protect, Build and Flourish.</a:t>
            </a:r>
          </a:p>
          <a:p xmlns:a="http://schemas.openxmlformats.org/drawingml/2006/main">
            <a:r>
              <a:t>DERIVED: None displayed.</a:t>
            </a:r>
          </a:p>
          <a:p xmlns:a="http://schemas.openxmlformats.org/drawingml/2006/main">
            <a:r>
              <a:t>SIMULATED: None displayed.</a:t>
            </a:r>
          </a:p>
          <a:p xmlns:a="http://schemas.openxmlformats.org/drawingml/2006/main">
            <a:r>
              <a:t>IT STRATEGY PILLAR: Protect / Build / Flourish.</a:t>
            </a:r>
          </a:p>
          <a:p xmlns:a="http://schemas.openxmlformats.org/drawingml/2006/main">
            <a:r>
              <a:t>NARRATIVE: This presentation follows the Cards portfolio from demand mix and delivery volume into project outcomes, control delivery and the confirmed release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IMG_8CF6D7E4-E31F-4C6C-9E8E-7E059150168F.jpeg and IMG_9453F031-49AD-4FB5-A10C-0BBC67F65DBF.jpeg.</a:t>
            </a:r>
          </a:p>
          <a:p xmlns:a="http://schemas.openxmlformats.org/drawingml/2006/main">
            <a:r>
              <a:t>VERIFIED: 56 total demands; 25 completed; 15 Baseline 1; 9 Baseline 0; 7 under discussion; 32 total go-lives; 25 completed go-lives; 7 planned go-lives.</a:t>
            </a:r>
          </a:p>
          <a:p xmlns:a="http://schemas.openxmlformats.org/drawingml/2006/main">
            <a:r>
              <a:t>DERIVED: 45% completed is 25 divided by 56, rounded to the nearest whole percentage. Active baseline demand is 15 plus 9, equal to 24.</a:t>
            </a:r>
          </a:p>
          <a:p xmlns:a="http://schemas.openxmlformats.org/drawingml/2006/main">
            <a:r>
              <a:t>SIMULATED: None displayed.</a:t>
            </a:r>
          </a:p>
          <a:p xmlns:a="http://schemas.openxmlformats.org/drawingml/2006/main">
            <a:r>
              <a:t>IT STRATEGY PILLAR: Build.</a:t>
            </a:r>
          </a:p>
          <a:p xmlns:a="http://schemas.openxmlformats.org/drawingml/2006/main">
            <a:r>
              <a:t>NARRATIVE: The opening slide establishes delivery achieved, the active pipeline and the go-live scale in one 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IMG_8CF6D7E4-E31F-4C6C-9E8E-7E059150168F.jpeg.</a:t>
            </a:r>
          </a:p>
          <a:p xmlns:a="http://schemas.openxmlformats.org/drawingml/2006/main">
            <a:r>
              <a:t>VERIFIED: Status counts are Completed 25, Baseline 1 15, Baseline 0 9 and Under Discussion 7. Demand origin totals are 31 for 2025 and 25 for 2026.</a:t>
            </a:r>
          </a:p>
          <a:p xmlns:a="http://schemas.openxmlformats.org/drawingml/2006/main">
            <a:r>
              <a:t>DERIVED: 45% completed is 25 divided by 56. The 24-demand baseline pipeline is 15 plus 9.</a:t>
            </a:r>
          </a:p>
          <a:p xmlns:a="http://schemas.openxmlformats.org/drawingml/2006/main">
            <a:r>
              <a:t>SIMULATED: None displayed.</a:t>
            </a:r>
          </a:p>
          <a:p xmlns:a="http://schemas.openxmlformats.org/drawingml/2006/main">
            <a:r>
              <a:t>IT STRATEGY PILLAR: Build.</a:t>
            </a:r>
          </a:p>
          <a:p xmlns:a="http://schemas.openxmlformats.org/drawingml/2006/main">
            <a:r>
              <a:t>NARRATIVE: This slide decomposes the portfolio position by lifecycle stage and year of demand creation.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IMG_B8C720AD-BF08-4FAC-A6CA-DB10B99E906B.jpeg.</a:t>
            </a:r>
          </a:p>
          <a:p xmlns:a="http://schemas.openxmlformats.org/drawingml/2006/main">
            <a:r>
              <a:t>VERIFIED: 20 supporting demands: 7 Completed, 9 Baseline 1 and 4 Baseline 0 across 11 platforms. Platform counts are Core Banking Platform 5, Mobile Banking - Retail 4, FinOne 3 and eight other platforms with one demand each.</a:t>
            </a:r>
          </a:p>
          <a:p xmlns:a="http://schemas.openxmlformats.org/drawingml/2006/main">
            <a:r>
              <a:t>DERIVED: 35% completed is 7 divided by 20. Active baseline is 9 plus 4, equal to 13 or 65% of supporting demands. Platform counts were grouped directly from the 20 visible rows.</a:t>
            </a:r>
          </a:p>
          <a:p xmlns:a="http://schemas.openxmlformats.org/drawingml/2006/main">
            <a:r>
              <a:t>SIMULATED: None displayed.</a:t>
            </a:r>
          </a:p>
          <a:p xmlns:a="http://schemas.openxmlformats.org/drawingml/2006/main">
            <a:r>
              <a:t>IT STRATEGY PILLAR: Build.</a:t>
            </a:r>
          </a:p>
          <a:p xmlns:a="http://schemas.openxmlformats.org/drawingml/2006/main">
            <a:r>
              <a:t>NARRATIVE: The supporting portfolio extends Cards delivery across 11 platforms. Seven items are complete, while 13 remain active in Baseline 0 or Baseline 1. The largest concentrations sit in Core Banking, Mobile Banking and FinOne.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IMG_9453F031-49AD-4FB5-A10C-0BBC67F65DBF.jpeg.</a:t>
            </a:r>
          </a:p>
          <a:p xmlns:a="http://schemas.openxmlformats.org/drawingml/2006/main">
            <a:r>
              <a:t>VERIFIED: 32 total go-lives: 25 completed and 7 planned. Completed monthly counts are Jan 7, Feb 2, Mar 1, Apr 1, May 4, Jun 0, Jul 3, Aug 1, Sep 5, Oct 1, Nov 0 and Dec 0. Planned counts are Oct 3, Dec 3 and Jan 2027 1.</a:t>
            </a:r>
          </a:p>
          <a:p xmlns:a="http://schemas.openxmlformats.org/drawingml/2006/main">
            <a:r>
              <a:t>DERIVED: 78% is 25 divided by 32, rounded to the nearest whole percentage.</a:t>
            </a:r>
          </a:p>
          <a:p xmlns:a="http://schemas.openxmlformats.org/drawingml/2006/main">
            <a:r>
              <a:t>SIMULATED: None displayed.</a:t>
            </a:r>
          </a:p>
          <a:p xmlns:a="http://schemas.openxmlformats.org/drawingml/2006/main">
            <a:r>
              <a:t>IT STRATEGY PILLAR: Build.</a:t>
            </a:r>
          </a:p>
          <a:p xmlns:a="http://schemas.openxmlformats.org/drawingml/2006/main">
            <a:r>
              <a:t>NARRATIVE: The slide shows delivered volume first, then locates the seven remaining scheduled go-lives by month.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IMG_B4D6B5BE-FBEC-4715-B676-719BF6C5D496.jpeg, IMG_FEC5FBBC-CA27-48A4-A3AF-826FD80105E2.jpeg and IMG_AB07E44D-4585-4840-86BD-501E4B809AE6.jpeg.</a:t>
            </a:r>
          </a:p>
          <a:p xmlns:a="http://schemas.openxmlformats.org/drawingml/2006/main">
            <a:r>
              <a:t>VERIFIED: DMGT-993 Jaywan Mono-Badge Debit Cards completed on 26 Oct 2025. DMGT-1978 and DMGT-1979 show e-commerce transactions live with tokenization access or UAT in progress. DMGT-1305 Jaywan Visa Co-Badged Debit Cards and DMGT-1863 Jaywan Standards Uplift to V1.8 are Baseline 1 with target date 11 Dec 2026.</a:t>
            </a:r>
          </a:p>
          <a:p xmlns:a="http://schemas.openxmlformats.org/drawingml/2006/main">
            <a:r>
              <a:t>DERIVED: The programme progression groups verified Jaywan demands by delivered and current stage; no benefit values are inferred.</a:t>
            </a:r>
          </a:p>
          <a:p xmlns:a="http://schemas.openxmlformats.org/drawingml/2006/main">
            <a:r>
              <a:t>SIMULATED: None displayed.</a:t>
            </a:r>
          </a:p>
          <a:p xmlns:a="http://schemas.openxmlformats.org/drawingml/2006/main">
            <a:r>
              <a:t>IT STRATEGY PILLAR: Flourish.</a:t>
            </a:r>
          </a:p>
          <a:p xmlns:a="http://schemas.openxmlformats.org/drawingml/2006/main">
            <a:r>
              <a:t>NARRATIVE: The slide narrates the delivered Jaywan foundation and the verified expansion into co-badging, tokenization and scheme uplift.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IMG_258ABD3F-5921-4186-BE6A-7CCD9666DF47.jpeg, IMG_B8FA6345-8936-40D1-9489-976E7D3715B3.jpeg, IMG_2210AAD2-88BA-438E-96E4-0142F1AE5012.jpeg, IMG_AB07E44D-4585-4840-86BD-501E4B809AE6.jpeg and IMG_FEC5FBBC-CA27-48A4-A3AF-826FD80105E2.jpeg.</a:t>
            </a:r>
          </a:p>
          <a:p xmlns:a="http://schemas.openxmlformats.org/drawingml/2006/main">
            <a:r>
              <a:t>VERIFIED: Customer communications: DMGT-242 completed 23 Feb 2026; DMGT-144 completed 17 May 2026; DMGT-2414 completed 6 Sep 2026; DMGT-2415 is in UAT; DMGT-1266 is in UAT with target 18 Oct 2026. Revenue and propositions: DMGT-125 completed 26 Apr 2026; DMGT-1960 completed 10 May 2026; DMGT-2143 completed 6 Sep 2026; DMGT-1329 targets 23 Oct 2026; DMGT-1680 targets 6 Dec 2026; DMGT-672 targets 15 Jan 2027.</a:t>
            </a:r>
          </a:p>
          <a:p xmlns:a="http://schemas.openxmlformats.org/drawingml/2006/main">
            <a:r>
              <a:t>DERIVED: The two tracks organize verified projects by business outcome theme. No financial benefit values are inferred.</a:t>
            </a:r>
          </a:p>
          <a:p xmlns:a="http://schemas.openxmlformats.org/drawingml/2006/main">
            <a:r>
              <a:t>SIMULATED: None displayed.</a:t>
            </a:r>
          </a:p>
          <a:p xmlns:a="http://schemas.openxmlformats.org/drawingml/2006/main">
            <a:r>
              <a:t>IT STRATEGY PILLAR: Flourish.</a:t>
            </a:r>
          </a:p>
          <a:p xmlns:a="http://schemas.openxmlformats.org/drawingml/2006/main">
            <a:r>
              <a:t>NARRATIVE: The slide shows how delivered customer communications connect to UAT work and scheduled proposition releases.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IMG_B4D6B5BE-FBEC-4715-B676-719BF6C5D496.jpeg, IMG_258ABD3F-5921-4186-BE6A-7CCD9666DF47.jpeg, IMG_B8FA6345-8936-40D1-9489-976E7D3715B3.jpeg and IMG_69F75D47-98CE-4A3A-B11C-84351EC9E8F3.jpeg.</a:t>
            </a:r>
          </a:p>
          <a:p xmlns:a="http://schemas.openxmlformats.org/drawingml/2006/main">
            <a:r>
              <a:t>VERIFIED: Six completed audit or regulatory deliveries shown: DMGT-993 on 26 Oct 2025; DMGT-1307 on 25 Jan 2026; DMGT-982 on 15 Mar 2026; DMGT-1091 and DMGT-984 on 17 May 2026; DMGT-1780 on 3 Sep 2026. Current control pipeline examples are DMGT-2345, DMGT-1570 and DMGT-651.</a:t>
            </a:r>
          </a:p>
          <a:p xmlns:a="http://schemas.openxmlformats.org/drawingml/2006/main">
            <a:r>
              <a:t>DERIVED: Two audit items and four regulatory items are counted from the verified demand segment classifications shown in the screenshots.</a:t>
            </a:r>
          </a:p>
          <a:p xmlns:a="http://schemas.openxmlformats.org/drawingml/2006/main">
            <a:r>
              <a:t>SIMULATED: None displayed.</a:t>
            </a:r>
          </a:p>
          <a:p xmlns:a="http://schemas.openxmlformats.org/drawingml/2006/main">
            <a:r>
              <a:t>IT STRATEGY PILLAR: Protect.</a:t>
            </a:r>
          </a:p>
          <a:p xmlns:a="http://schemas.openxmlformats.org/drawingml/2006/main">
            <a:r>
              <a:t>NARRATIVE: The slide consolidates completed control outcomes and three verified items still in planning or delivery.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IMG_9453F031-49AD-4FB5-A10C-0BBC67F65DBF.jpeg plus IMG_FEC5FBBC-CA27-48A4-A3AF-826FD80105E2.jpeg, IMG_AB07E44D-4585-4840-86BD-501E4B809AE6.jpeg, IMG_69F75D47-98CE-4A3A-B11C-84351EC9E8F3.jpeg and IMG_2210AAD2-88BA-438E-96E4-0142F1AE5012.jpeg.</a:t>
            </a:r>
          </a:p>
          <a:p xmlns:a="http://schemas.openxmlformats.org/drawingml/2006/main">
            <a:r>
              <a:t>VERIFIED: The seven planned go-lives reconcile to the pivot: 3 in Oct 2026, 3 in Dec 2026 and 1 in Jan 2027. The named projects and target dates are DMGT-2162 10 Oct; DMGT-1266 18 Oct; DMGT-1329 23 Oct; DMGT-1680 6 Dec; DMGT-1305 and DMGT-1863 11 Dec; DMGT-672 15 Jan 2027.</a:t>
            </a:r>
          </a:p>
          <a:p xmlns:a="http://schemas.openxmlformats.org/drawingml/2006/main">
            <a:r>
              <a:t>DERIVED: The roadmap aligns the seven named project dates to the monthly planned counts in the consolidated go-live pivot.</a:t>
            </a:r>
          </a:p>
          <a:p xmlns:a="http://schemas.openxmlformats.org/drawingml/2006/main">
            <a:r>
              <a:t>SIMULATED: None displayed.</a:t>
            </a:r>
          </a:p>
          <a:p xmlns:a="http://schemas.openxmlformats.org/drawingml/2006/main">
            <a:r>
              <a:t>IT STRATEGY PILLAR: Build.</a:t>
            </a:r>
          </a:p>
          <a:p xmlns:a="http://schemas.openxmlformats.org/drawingml/2006/main">
            <a:r>
              <a:t>NARRATIVE: The slide converts the monthly plan into a named executive delivery roadmap.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IMG_8CF6D7E4-E31F-4C6C-9E8E-7E059150168F.jpeg, IMG_9453F031-49AD-4FB5-A10C-0BBC67F65DBF.jpeg and project screenshots supporting the seven planned releases.</a:t>
            </a:r>
          </a:p>
          <a:p xmlns:a="http://schemas.openxmlformats.org/drawingml/2006/main">
            <a:r>
              <a:t>VERIFIED: 56 total demands; 25 completed; 15 Baseline 1; 9 Baseline 0; 7 under discussion; 25 completed go-lives; 7 planned go-lives; final named target is DMGT-672 Credit Shield enrolment on 15 Jan 2027.</a:t>
            </a:r>
          </a:p>
          <a:p xmlns:a="http://schemas.openxmlformats.org/drawingml/2006/main">
            <a:r>
              <a:t>DERIVED: 24 active baseline demands is 15 plus 9. 45% completed is 25 divided by 56, rounded to the nearest whole percentage.</a:t>
            </a:r>
          </a:p>
          <a:p xmlns:a="http://schemas.openxmlformats.org/drawingml/2006/main">
            <a:r>
              <a:t>SIMULATED: None displayed.</a:t>
            </a:r>
          </a:p>
          <a:p xmlns:a="http://schemas.openxmlformats.org/drawingml/2006/main">
            <a:r>
              <a:t>IT STRATEGY PILLAR: Flourish.</a:t>
            </a:r>
          </a:p>
          <a:p xmlns:a="http://schemas.openxmlformats.org/drawingml/2006/main">
            <a:r>
              <a:t>NARRATIVE: The closing slide restates the delivery position and the confirmed horizon of the forward plan without adding recommendations.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9f0b3568c045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2dea3e4bbd4062" /><Relationship Type="http://schemas.openxmlformats.org/officeDocument/2006/relationships/slideLayout" Target="/ppt/slideLayouts/slideLayout1.xml" Id="R735c24e6611c42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5c24e6611c42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e8505aa96444a3" /><Relationship Type="http://schemas.openxmlformats.org/officeDocument/2006/relationships/image" Target="/ppt/media/image.png" Id="Rfbbea8b7b2b0497e" /><Relationship Type="http://schemas.openxmlformats.org/officeDocument/2006/relationships/image" Target="/ppt/media/image.svg" Id="R969964c8c20348b2" /><Relationship Type="http://schemas.openxmlformats.org/officeDocument/2006/relationships/image" Target="/ppt/media/image2.png" Id="Rb84f22d148ed4d73" /><Relationship Type="http://schemas.openxmlformats.org/officeDocument/2006/relationships/image" Target="/ppt/media/image2.svg" Id="Raf2572e1e3ed4ade" /><Relationship Type="http://schemas.openxmlformats.org/officeDocument/2006/relationships/image" Target="/ppt/media/image3.png" Id="R2094c3231a264461" /><Relationship Type="http://schemas.openxmlformats.org/officeDocument/2006/relationships/image" Target="/ppt/media/image3.svg" Id="R6f9e01568c1345e3" /><Relationship Type="http://schemas.openxmlformats.org/officeDocument/2006/relationships/notesSlide" Target="/ppt/notesSlides/notesSlide1.xml" Id="R292350c4bf524c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9aa76ce0104961" /><Relationship Type="http://schemas.openxmlformats.org/officeDocument/2006/relationships/image" Target="/ppt/media/image4.png" Id="R6508c68f9c4d4ce4" /><Relationship Type="http://schemas.openxmlformats.org/officeDocument/2006/relationships/image" Target="/ppt/media/image4.svg" Id="R12589b5063ff4df6" /><Relationship Type="http://schemas.openxmlformats.org/officeDocument/2006/relationships/notesSlide" Target="/ppt/notesSlides/notesSlide2.xml" Id="R6a9254c9f34041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2a4bf80f604878" /><Relationship Type="http://schemas.openxmlformats.org/officeDocument/2006/relationships/image" Target="/ppt/media/image5.png" Id="R84ca8868c1f149ef" /><Relationship Type="http://schemas.openxmlformats.org/officeDocument/2006/relationships/image" Target="/ppt/media/image5.svg" Id="Rd761c468b00a4ff7" /><Relationship Type="http://schemas.openxmlformats.org/officeDocument/2006/relationships/chart" Target="/ppt/slides/charts/chart1.xml" Id="R430775e52fab440b" /><Relationship Type="http://schemas.openxmlformats.org/officeDocument/2006/relationships/notesSlide" Target="/ppt/notesSlides/notesSlide3.xml" Id="R3448ff8896fb4a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d2f9c3397f44a4" /><Relationship Type="http://schemas.openxmlformats.org/officeDocument/2006/relationships/image" Target="/ppt/media/image6.png" Id="Rcd1165766b1a4e2b" /><Relationship Type="http://schemas.openxmlformats.org/officeDocument/2006/relationships/image" Target="/ppt/media/image6.svg" Id="Rcf2ece28db1645b1" /><Relationship Type="http://schemas.openxmlformats.org/officeDocument/2006/relationships/chart" Target="/ppt/slides/charts/chart2.xml" Id="R46560d4f3d1e4993" /><Relationship Type="http://schemas.openxmlformats.org/officeDocument/2006/relationships/notesSlide" Target="/ppt/notesSlides/notesSlide4.xml" Id="R44f3dcfb2ca944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55367b3fee42cd" /><Relationship Type="http://schemas.openxmlformats.org/officeDocument/2006/relationships/image" Target="/ppt/media/image7.png" Id="R4f0701fdfea24316" /><Relationship Type="http://schemas.openxmlformats.org/officeDocument/2006/relationships/image" Target="/ppt/media/image7.svg" Id="Rb1eff52d888d4347" /><Relationship Type="http://schemas.openxmlformats.org/officeDocument/2006/relationships/chart" Target="/ppt/slides/charts/chart3.xml" Id="R0c3cfb9ff4144ecc" /><Relationship Type="http://schemas.openxmlformats.org/officeDocument/2006/relationships/notesSlide" Target="/ppt/notesSlides/notesSlide5.xml" Id="R1352138b3c9248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a8301d9384927" /><Relationship Type="http://schemas.openxmlformats.org/officeDocument/2006/relationships/image" Target="/ppt/media/image8.png" Id="Rfeae15171ffa4fb3" /><Relationship Type="http://schemas.openxmlformats.org/officeDocument/2006/relationships/image" Target="/ppt/media/image8.svg" Id="R9b206e20341c45dd" /><Relationship Type="http://schemas.openxmlformats.org/officeDocument/2006/relationships/notesSlide" Target="/ppt/notesSlides/notesSlide6.xml" Id="Ra8d6f90aeadf4d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b684cb4371402d" /><Relationship Type="http://schemas.openxmlformats.org/officeDocument/2006/relationships/image" Target="/ppt/media/image9.png" Id="R06a5983e053c482e" /><Relationship Type="http://schemas.openxmlformats.org/officeDocument/2006/relationships/image" Target="/ppt/media/image9.svg" Id="Rdfe32684d5404a53" /><Relationship Type="http://schemas.openxmlformats.org/officeDocument/2006/relationships/notesSlide" Target="/ppt/notesSlides/notesSlide7.xml" Id="R3f422f7da0574f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84db73901f4fd6" /><Relationship Type="http://schemas.openxmlformats.org/officeDocument/2006/relationships/image" Target="/ppt/media/image10.png" Id="Rb510f9a7d3e64b33" /><Relationship Type="http://schemas.openxmlformats.org/officeDocument/2006/relationships/image" Target="/ppt/media/image10.svg" Id="R5fd298aefc0241ae" /><Relationship Type="http://schemas.openxmlformats.org/officeDocument/2006/relationships/notesSlide" Target="/ppt/notesSlides/notesSlide8.xml" Id="R6db5fa9c358741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086ff9dfa44522" /><Relationship Type="http://schemas.openxmlformats.org/officeDocument/2006/relationships/image" Target="/ppt/media/image11.png" Id="R60d3c257670c4c9d" /><Relationship Type="http://schemas.openxmlformats.org/officeDocument/2006/relationships/image" Target="/ppt/media/image11.svg" Id="R8ac51d09ae9c4070" /><Relationship Type="http://schemas.openxmlformats.org/officeDocument/2006/relationships/notesSlide" Target="/ppt/notesSlides/notesSlide9.xml" Id="Rd4add196c03c4d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70267d54974e77" /><Relationship Type="http://schemas.openxmlformats.org/officeDocument/2006/relationships/image" Target="/ppt/media/image12.png" Id="Rb6cc073321a84567" /><Relationship Type="http://schemas.openxmlformats.org/officeDocument/2006/relationships/image" Target="/ppt/media/image12.svg" Id="R25af5e3d9ca94ba8" /><Relationship Type="http://schemas.openxmlformats.org/officeDocument/2006/relationships/notesSlide" Target="/ppt/notesSlides/notesSlide10.xml" Id="R285dfec60a584bc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Demands</c:v>
          </c:tx>
          <c:spPr>
            <a:solidFill xmlns:a="http://schemas.openxmlformats.org/drawingml/2006/main">
              <a:srgbClr val="004C3F"/>
            </a:solidFill>
            <a:ln xmlns:a="http://schemas.openxmlformats.org/drawingml/2006/main" w="0">
              <a:noFill/>
            </a:ln>
          </c:spPr>
          <c:dPt>
            <c:idx val="0"/>
            <c:invertIfNegative val="0"/>
            <c:spPr>
              <a:solidFill xmlns:a="http://schemas.openxmlformats.org/drawingml/2006/main">
                <a:srgbClr val="07352E"/>
              </a:solidFill>
              <a:ln xmlns:a="http://schemas.openxmlformats.org/drawingml/2006/main" w="0">
                <a:noFill/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B58A32"/>
              </a:solidFill>
              <a:ln xmlns:a="http://schemas.openxmlformats.org/drawingml/2006/main" w="0">
                <a:noFill/>
              </a:ln>
            </c:spPr>
          </c:dPt>
          <c:cat>
            <c:numRef>
              <c:f>'Chart Data'!$A$2:$A$3</c:f>
              <c:numCache>
                <c:formatCode>General</c:formatCode>
                <c:ptCount val="2"/>
                <c:pt idx="0">
                  <c:v>2025</c:v>
                </c:pt>
                <c:pt idx="1">
                  <c:v>2026</c:v>
                </c:pt>
              </c:numCache>
            </c:num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31</c:v>
                </c:pt>
                <c:pt idx="1">
                  <c:v>25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D2926"/>
                  </a:solidFill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35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5"/>
      </c:valAx>
      <c:spPr>
        <a:ln xmlns:a="http://schemas.openxmlformats.org/drawingml/2006/main" w="0">
          <a:noFill/>
        </a:ln>
      </c:spPr>
    </c:plotArea>
    <c:plotVisOnly val="1"/>
  </c:chart>
  <c:spPr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Demands</c:v>
          </c:tx>
          <c:spPr>
            <a:solidFill xmlns:a="http://schemas.openxmlformats.org/drawingml/2006/main">
              <a:srgbClr val="004C3F"/>
            </a:solidFill>
            <a:ln xmlns:a="http://schemas.openxmlformats.org/drawingml/2006/main" w="0">
              <a:noFill/>
            </a:ln>
          </c:spPr>
          <c:dPt>
            <c:idx val="0"/>
            <c:invertIfNegative val="0"/>
            <c:spPr>
              <a:solidFill xmlns:a="http://schemas.openxmlformats.org/drawingml/2006/main">
                <a:srgbClr val="07352E"/>
              </a:solidFill>
              <a:ln xmlns:a="http://schemas.openxmlformats.org/drawingml/2006/main" w="0">
                <a:noFill/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2F7668"/>
              </a:solidFill>
              <a:ln xmlns:a="http://schemas.openxmlformats.org/drawingml/2006/main" w="0">
                <a:noFill/>
              </a:ln>
            </c:spPr>
          </c:dPt>
          <c:dPt>
            <c:idx val="2"/>
            <c:invertIfNegative val="0"/>
            <c:spPr>
              <a:solidFill xmlns:a="http://schemas.openxmlformats.org/drawingml/2006/main">
                <a:srgbClr val="B58A32"/>
              </a:solidFill>
              <a:ln xmlns:a="http://schemas.openxmlformats.org/drawingml/2006/main" w="0">
                <a:noFill/>
              </a:ln>
            </c:spPr>
          </c:dPt>
          <c:dPt>
            <c:idx val="3"/>
            <c:invertIfNegative val="0"/>
            <c:spPr>
              <a:solidFill xmlns:a="http://schemas.openxmlformats.org/drawingml/2006/main">
                <a:srgbClr val="35768A"/>
              </a:solidFill>
              <a:ln xmlns:a="http://schemas.openxmlformats.org/drawingml/2006/main" w="0">
                <a:noFill/>
              </a:ln>
            </c:spPr>
          </c:dPt>
          <c:cat>
            <c:strRef>
              <c:f>'Chart Data'!$A$2:$A$5</c:f>
              <c:strCache>
                <c:ptCount val="4"/>
                <c:pt idx="0">
                  <c:v>Core Banking</c:v>
                </c:pt>
                <c:pt idx="1">
                  <c:v>Mobile Banking</c:v>
                </c:pt>
                <c:pt idx="2">
                  <c:v>FinOne</c:v>
                </c:pt>
                <c:pt idx="3">
                  <c:v>Other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D2926"/>
                  </a:solidFill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  <c:spPr>
        <a:ln xmlns:a="http://schemas.openxmlformats.org/drawingml/2006/main" w="0">
          <a:noFill/>
        </a:ln>
      </c:spPr>
    </c:plotArea>
    <c:plotVisOnly val="1"/>
  </c:chart>
  <c:spPr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stacked"/>
        <c:varyColors val="0"/>
        <c:ser>
          <c:idx val="0"/>
          <c:order val="0"/>
          <c:tx>
            <c:v>Completed</c:v>
          </c:tx>
          <c:spPr>
            <a:solidFill xmlns:a="http://schemas.openxmlformats.org/drawingml/2006/main">
              <a:srgbClr val="07352E"/>
            </a:solidFill>
            <a:ln xmlns:a="http://schemas.openxmlformats.org/drawingml/2006/main" w="0">
              <a:noFill/>
            </a:ln>
          </c:spPr>
          <c:cat>
            <c:strRef>
              <c:f>'Chart Data'!$A$2:$A$13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7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4</c:v>
                </c:pt>
                <c:pt idx="5">
                  <c:v>0</c:v>
                </c:pt>
                <c:pt idx="6">
                  <c:v>3</c:v>
                </c:pt>
                <c:pt idx="7">
                  <c:v>1</c:v>
                </c:pt>
                <c:pt idx="8">
                  <c:v>5</c:v>
                </c:pt>
                <c:pt idx="9">
                  <c:v>1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v>Planned</c:v>
          </c:tx>
          <c:spPr>
            <a:solidFill xmlns:a="http://schemas.openxmlformats.org/drawingml/2006/main">
              <a:srgbClr val="B58A32"/>
            </a:solidFill>
            <a:ln xmlns:a="http://schemas.openxmlformats.org/drawingml/2006/main" w="0">
              <a:noFill/>
            </a:ln>
          </c:spPr>
          <c:cat>
            <c:strRef>
              <c:f>'Chart Data'!$C$2:$C$13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'Chart Data'!$D$2:$D$13</c:f>
              <c:numCache>
                <c:formatCode>General</c:formatCode>
                <c:ptCount val="12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3</c:v>
                </c:pt>
                <c:pt idx="10">
                  <c:v>0</c:v>
                </c:pt>
                <c:pt idx="11">
                  <c:v>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9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1"/>
      </c:valAx>
      <c:spPr>
        <a:ln xmlns:a="http://schemas.openxmlformats.org/drawingml/2006/main" w="0">
          <a:noFill/>
        </a:ln>
      </c:spPr>
    </c:plotArea>
    <c:plotVisOnly val="1"/>
  </c:chart>
  <c:spPr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35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cover-gold-rule">
            <a:extLst xmlns:a="http://schemas.openxmlformats.org/drawingml/2006/main">
              <a:ext uri="{FF2B5EF4-FFF2-40B4-BE49-F238E27FC236}">
                <a16:creationId xmlns:a16="http://schemas.microsoft.com/office/drawing/2014/main" id="{9A66C30B-0A42-4158-AAB1-66201E24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200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28BF06CA-E9F5-4658-B106-1E03B180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FE5C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FE5CF"/>
                </a:solidFill>
                <a:latin typeface="Aptos"/>
                <a:ea typeface="Aptos"/>
                <a:cs typeface="Aptos"/>
              </a:rPr>
              <a:t>CARDS PORTFOLIO 2026</a:t>
            </a:r>
          </a:p>
        </p:txBody>
      </p:sp>
      <p:sp>
        <p:nvSpPr>
          <p:cNvPr id="3" name="morph-headline">
            <a:extLst xmlns:a="http://schemas.openxmlformats.org/drawingml/2006/main">
              <a:ext uri="{FF2B5EF4-FFF2-40B4-BE49-F238E27FC236}">
                <a16:creationId xmlns:a16="http://schemas.microsoft.com/office/drawing/2014/main" id="{9EF2B456-7C25-490D-BDBD-0F7F8E45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From portfolio demand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 customer delivery</a:t>
            </a:r>
          </a:p>
        </p:txBody>
      </p:sp>
      <p:sp>
        <p:nvSpPr>
          <p:cNvPr id="4" name="cover-position">
            <a:extLst xmlns:a="http://schemas.openxmlformats.org/drawingml/2006/main">
              <a:ext uri="{FF2B5EF4-FFF2-40B4-BE49-F238E27FC236}">
                <a16:creationId xmlns:a16="http://schemas.microsoft.com/office/drawing/2014/main" id="{29D0C7E1-01C3-4FF3-BC86-CBBB07FB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CE9E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CE9E4"/>
                </a:solidFill>
                <a:latin typeface="Aptos"/>
                <a:ea typeface="Aptos"/>
                <a:cs typeface="Aptos"/>
              </a:rPr>
              <a:t>56 demands with 25 completed and seven planned go-lives through January 2027</a:t>
            </a:r>
          </a:p>
        </p:txBody>
      </p:sp>
      <p:sp>
        <p:nvSpPr>
          <p:cNvPr id="5" name="cover-card-back">
            <a:extLst xmlns:a="http://schemas.openxmlformats.org/drawingml/2006/main">
              <a:ext uri="{FF2B5EF4-FFF2-40B4-BE49-F238E27FC236}">
                <a16:creationId xmlns:a16="http://schemas.microsoft.com/office/drawing/2014/main" id="{19678E00-1F53-49D2-97D3-968689A0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123950"/>
            <a:ext cx="2724150" cy="1714500"/>
          </a:xfrm>
          <a:prstGeom xmlns:a="http://schemas.openxmlformats.org/drawingml/2006/main" prst="roundRect">
            <a:avLst>
              <a:gd name="adj" fmla="val 666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6A8B83"/>
            </a:solidFill>
            <a:prstDash val="solid"/>
          </a:ln>
        </p:spPr>
      </p:sp>
      <p:sp>
        <p:nvSpPr>
          <p:cNvPr id="6" name="cover-card-mid">
            <a:extLst xmlns:a="http://schemas.openxmlformats.org/drawingml/2006/main">
              <a:ext uri="{FF2B5EF4-FFF2-40B4-BE49-F238E27FC236}">
                <a16:creationId xmlns:a16="http://schemas.microsoft.com/office/drawing/2014/main" id="{64A03554-0176-491C-A0C5-C8DDB33A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19250"/>
            <a:ext cx="2724150" cy="1714500"/>
          </a:xfrm>
          <a:prstGeom xmlns:a="http://schemas.openxmlformats.org/drawingml/2006/main" prst="roundRect">
            <a:avLst>
              <a:gd name="adj" fmla="val 666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B58A32"/>
            </a:solidFill>
            <a:prstDash val="solid"/>
          </a:ln>
        </p:spPr>
      </p:sp>
      <p:sp>
        <p:nvSpPr>
          <p:cNvPr id="7" name="cover-card-front">
            <a:extLst xmlns:a="http://schemas.openxmlformats.org/drawingml/2006/main">
              <a:ext uri="{FF2B5EF4-FFF2-40B4-BE49-F238E27FC236}">
                <a16:creationId xmlns:a16="http://schemas.microsoft.com/office/drawing/2014/main" id="{93AA3D31-3712-46C2-8585-9310362F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14550"/>
            <a:ext cx="27241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04C3F"/>
          </a:solidFill>
          <a:ln xmlns:a="http://schemas.openxmlformats.org/drawingml/2006/main" w="19050">
            <a:solidFill>
              <a:srgbClr val="EFE5CF"/>
            </a:solidFill>
            <a:prstDash val="solid"/>
          </a:ln>
        </p:spPr>
      </p:sp>
      <p:sp>
        <p:nvSpPr>
          <p:cNvPr id="8" name="cover-chip">
            <a:extLst xmlns:a="http://schemas.openxmlformats.org/drawingml/2006/main">
              <a:ext uri="{FF2B5EF4-FFF2-40B4-BE49-F238E27FC236}">
                <a16:creationId xmlns:a16="http://schemas.microsoft.com/office/drawing/2014/main" id="{3871095A-D9D2-470E-9F57-B024020E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52700"/>
            <a:ext cx="52387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9" name="morph-primary-number">
            <a:extLst xmlns:a="http://schemas.openxmlformats.org/drawingml/2006/main">
              <a:ext uri="{FF2B5EF4-FFF2-40B4-BE49-F238E27FC236}">
                <a16:creationId xmlns:a16="http://schemas.microsoft.com/office/drawing/2014/main" id="{9CD1E87C-0B26-4A06-B6E0-E5B362CD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28875"/>
            <a:ext cx="114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DEC632-B508-40F0-9A28-B4F0F77F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861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FE5C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FE5CF"/>
                </a:solidFill>
                <a:latin typeface="Aptos"/>
                <a:ea typeface="Aptos"/>
                <a:cs typeface="Aptos"/>
              </a:rPr>
              <a:t>DELIVERED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4A9DBB-D76F-45DD-A285-02DEFCA1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0290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DCE9E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CE9E4"/>
                </a:solidFill>
                <a:latin typeface="Aptos"/>
                <a:ea typeface="Aptos"/>
                <a:cs typeface="Aptos"/>
              </a:rPr>
              <a:t>23 SEPTEMBER 2026</a:t>
            </a:r>
          </a:p>
        </p:txBody>
      </p:sp>
      <p:sp>
        <p:nvSpPr>
          <p:cNvPr id="12" name="cover-divider">
            <a:extLst xmlns:a="http://schemas.openxmlformats.org/drawingml/2006/main">
              <a:ext uri="{FF2B5EF4-FFF2-40B4-BE49-F238E27FC236}">
                <a16:creationId xmlns:a16="http://schemas.microsoft.com/office/drawing/2014/main" id="{42BCD396-FAFD-4013-9441-8464BA91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B63"/>
          </a:solidFill>
          <a:ln xmlns:a="http://schemas.openxmlformats.org/drawingml/2006/main" w="0">
            <a:noFill/>
          </a:ln>
        </p:spPr>
      </p:sp>
      <p:sp>
        <p:nvSpPr>
          <p:cNvPr id="13" name="cover-protect-circle">
            <a:extLst xmlns:a="http://schemas.openxmlformats.org/drawingml/2006/main">
              <a:ext uri="{FF2B5EF4-FFF2-40B4-BE49-F238E27FC236}">
                <a16:creationId xmlns:a16="http://schemas.microsoft.com/office/drawing/2014/main" id="{D8187031-558F-46F9-BDB0-4107EFC8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768A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bea8b7b2b0497e">
            <a:extLst>
              <a:ext uri="{96DAC541-7B7A-43D3-8B79-37D633B846F1}">
                <asvg:svgBlip xmlns:asvg="http://schemas.microsoft.com/office/drawing/2016/SVG/main" r:embed="R969964c8c20348b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0575" y="53244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67FA12-C98E-4920-91FA-EFC8EB46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1911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FE5C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FE5CF"/>
                </a:solidFill>
                <a:latin typeface="Aptos"/>
                <a:ea typeface="Aptos"/>
                <a:cs typeface="Aptos"/>
              </a:rPr>
              <a:t>PROTECT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163959-AAF2-49CC-B3A2-5D256022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483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Secure delivery and controls</a:t>
            </a:r>
          </a:p>
        </p:txBody>
      </p:sp>
      <p:sp>
        <p:nvSpPr>
          <p:cNvPr id="17" name="cover-build-circle">
            <a:extLst xmlns:a="http://schemas.openxmlformats.org/drawingml/2006/main">
              <a:ext uri="{FF2B5EF4-FFF2-40B4-BE49-F238E27FC236}">
                <a16:creationId xmlns:a16="http://schemas.microsoft.com/office/drawing/2014/main" id="{1ECE20AD-CA1F-42A1-81FC-5577D50C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2197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4f22d148ed4d73">
            <a:extLst>
              <a:ext uri="{96DAC541-7B7A-43D3-8B79-37D633B846F1}">
                <asvg:svgBlip xmlns:asvg="http://schemas.microsoft.com/office/drawing/2016/SVG/main" r:embed="Raf2572e1e3ed4ad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05225" y="53244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B43F32-3665-4810-BFF2-27080548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1911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FE5C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FE5CF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82F951-FE59-4C33-904A-45E21BA7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483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Portfolio execution and capability</a:t>
            </a:r>
          </a:p>
        </p:txBody>
      </p:sp>
      <p:sp>
        <p:nvSpPr>
          <p:cNvPr id="21" name="cover-flourish-circle">
            <a:extLst xmlns:a="http://schemas.openxmlformats.org/drawingml/2006/main">
              <a:ext uri="{FF2B5EF4-FFF2-40B4-BE49-F238E27FC236}">
                <a16:creationId xmlns:a16="http://schemas.microsoft.com/office/drawing/2014/main" id="{731A5D5D-5C75-4C9C-B54F-F72BB690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2197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668"/>
          </a:solidFill>
          <a:ln xmlns:a="http://schemas.openxmlformats.org/drawingml/2006/main" w="0">
            <a:noFill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94c3231a264461">
            <a:extLst>
              <a:ext uri="{96DAC541-7B7A-43D3-8B79-37D633B846F1}">
                <asvg:svgBlip xmlns:asvg="http://schemas.microsoft.com/office/drawing/2016/SVG/main" r:embed="R6f9e01568c1345e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19875" y="53244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EA14D1-2A20-4978-9E2A-F4ED5D74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1911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FE5C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FE5CF"/>
                </a:solidFill>
                <a:latin typeface="Aptos"/>
                <a:ea typeface="Aptos"/>
                <a:cs typeface="Aptos"/>
              </a:rPr>
              <a:t>FLOURISH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C81D3F-566B-40B3-8442-2064ED10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4483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Customer journeys and propositions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0C1067-22CD-4563-8656-80098586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FE5C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FE5C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414370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brand-edge">
            <a:extLst xmlns:a="http://schemas.openxmlformats.org/drawingml/2006/main">
              <a:ext uri="{FF2B5EF4-FFF2-40B4-BE49-F238E27FC236}">
                <a16:creationId xmlns:a16="http://schemas.microsoft.com/office/drawing/2014/main" id="{182AEEE5-5A62-4A3F-B8AB-FC1E32E4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2" name="top-gold-rule">
            <a:extLst xmlns:a="http://schemas.openxmlformats.org/drawingml/2006/main">
              <a:ext uri="{FF2B5EF4-FFF2-40B4-BE49-F238E27FC236}">
                <a16:creationId xmlns:a16="http://schemas.microsoft.com/office/drawing/2014/main" id="{7D77DDF1-D6FF-4F42-A4AA-9B62208E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2499F1B8-D12A-4A67-BA00-426A3107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CARDS PORTFOLIO</a:t>
            </a:r>
          </a:p>
        </p:txBody>
      </p:sp>
      <p:sp>
        <p:nvSpPr>
          <p:cNvPr id="4" name="strategy-build-tag">
            <a:extLst xmlns:a="http://schemas.openxmlformats.org/drawingml/2006/main">
              <a:ext uri="{FF2B5EF4-FFF2-40B4-BE49-F238E27FC236}">
                <a16:creationId xmlns:a16="http://schemas.microsoft.com/office/drawing/2014/main" id="{D6A96A62-F6EE-46BC-AE4D-C703D166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1000"/>
            <a:ext cx="1428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08c68f9c4d4ce4">
            <a:extLst>
              <a:ext uri="{96DAC541-7B7A-43D3-8B79-37D633B846F1}">
                <asvg:svgBlip xmlns:asvg="http://schemas.microsoft.com/office/drawing/2016/SVG/main" r:embed="R12589b5063ff4df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29850" y="4572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A1F44A-ED94-4CC4-B658-6CEE9AB2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66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7" name="morph-headline">
            <a:extLst xmlns:a="http://schemas.openxmlformats.org/drawingml/2006/main">
              <a:ext uri="{FF2B5EF4-FFF2-40B4-BE49-F238E27FC236}">
                <a16:creationId xmlns:a16="http://schemas.microsoft.com/office/drawing/2014/main" id="{2632F8A6-1255-4776-87B7-56E7285B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952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25 demands delivered across a 56-demand Cards portfolio</a:t>
            </a:r>
          </a:p>
        </p:txBody>
      </p:sp>
      <p:sp>
        <p:nvSpPr>
          <p:cNvPr id="8" name="reporting-period">
            <a:extLst xmlns:a="http://schemas.openxmlformats.org/drawingml/2006/main">
              <a:ext uri="{FF2B5EF4-FFF2-40B4-BE49-F238E27FC236}">
                <a16:creationId xmlns:a16="http://schemas.microsoft.com/office/drawing/2014/main" id="{CB3C5368-7EBE-42AD-8C1E-2BC7C318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Consolidated portfolio position at 23 September 2026</a:t>
            </a:r>
          </a:p>
        </p:txBody>
      </p:sp>
      <p:sp>
        <p:nvSpPr>
          <p:cNvPr id="9" name="header-rule">
            <a:extLst xmlns:a="http://schemas.openxmlformats.org/drawingml/2006/main">
              <a:ext uri="{FF2B5EF4-FFF2-40B4-BE49-F238E27FC236}">
                <a16:creationId xmlns:a16="http://schemas.microsoft.com/office/drawing/2014/main" id="{C344112E-C487-45A9-A6FF-D5B35963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1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A584C1D6-98EF-4777-B47F-3EFF4C6C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Source: user-provided Cards portfolio screenshots. Data basis is identified in speaker notes.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24309C-5788-40B4-A9F5-9D2A09E2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morph-primary-number">
            <a:extLst xmlns:a="http://schemas.openxmlformats.org/drawingml/2006/main">
              <a:ext uri="{FF2B5EF4-FFF2-40B4-BE49-F238E27FC236}">
                <a16:creationId xmlns:a16="http://schemas.microsoft.com/office/drawing/2014/main" id="{23144AB2-71A4-4567-B3F4-A94DDEA3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238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750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750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B0B7BE-6AF9-4AE9-8BCB-5FCD6860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COMPLETED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99B640-78C0-46E7-AA5F-575AFA00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45% of the portfolio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2C816D-60ED-4DE0-97B8-1D0CE429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295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The portfolio combines completed delivery with 24 demands in Baseline 0 or 1 and seven under discussion.</a:t>
            </a:r>
          </a:p>
        </p:txBody>
      </p:sp>
      <p:sp>
        <p:nvSpPr>
          <p:cNvPr id="16" name="morph-kpi-band">
            <a:extLst xmlns:a="http://schemas.openxmlformats.org/drawingml/2006/main">
              <a:ext uri="{FF2B5EF4-FFF2-40B4-BE49-F238E27FC236}">
                <a16:creationId xmlns:a16="http://schemas.microsoft.com/office/drawing/2014/main" id="{0D7FAFB7-8BEB-47B2-8BD1-4E4FE010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305050"/>
            <a:ext cx="76009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17" name="kpi-div-1">
            <a:extLst xmlns:a="http://schemas.openxmlformats.org/drawingml/2006/main">
              <a:ext uri="{FF2B5EF4-FFF2-40B4-BE49-F238E27FC236}">
                <a16:creationId xmlns:a16="http://schemas.microsoft.com/office/drawing/2014/main" id="{DF9D53C6-D954-466A-A5EA-2A6F42DC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52700"/>
            <a:ext cx="190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18" name="kpi-div-2">
            <a:extLst xmlns:a="http://schemas.openxmlformats.org/drawingml/2006/main">
              <a:ext uri="{FF2B5EF4-FFF2-40B4-BE49-F238E27FC236}">
                <a16:creationId xmlns:a16="http://schemas.microsoft.com/office/drawing/2014/main" id="{C04E0C84-E2AB-4480-8926-559ADC0E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52700"/>
            <a:ext cx="190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19" name="morph-active-number">
            <a:extLst xmlns:a="http://schemas.openxmlformats.org/drawingml/2006/main">
              <a:ext uri="{FF2B5EF4-FFF2-40B4-BE49-F238E27FC236}">
                <a16:creationId xmlns:a16="http://schemas.microsoft.com/office/drawing/2014/main" id="{80E68E24-9AB8-4335-AA2A-645C79D7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543175"/>
            <a:ext cx="180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13FF1C-42EC-49A6-8836-C0758DDB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1623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ACTIVE BASELINE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C9067A-3943-481D-8C18-2D5D4CD1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4290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15 B1 + 9 B0</a:t>
            </a:r>
          </a:p>
        </p:txBody>
      </p:sp>
      <p:sp>
        <p:nvSpPr>
          <p:cNvPr id="22" name="morph-discussion-number">
            <a:extLst xmlns:a="http://schemas.openxmlformats.org/drawingml/2006/main">
              <a:ext uri="{FF2B5EF4-FFF2-40B4-BE49-F238E27FC236}">
                <a16:creationId xmlns:a16="http://schemas.microsoft.com/office/drawing/2014/main" id="{9C7FD613-A288-4833-9440-6589C90D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543175"/>
            <a:ext cx="180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35768A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35768A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05CECD-AD2D-4DA9-84C2-1378B109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1623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UNDER DISCUSSION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DF3B59-9D76-4370-A87A-1D9F5E74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4290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Technology review</a:t>
            </a:r>
          </a:p>
        </p:txBody>
      </p:sp>
      <p:sp>
        <p:nvSpPr>
          <p:cNvPr id="25" name="morph-golives-number">
            <a:extLst xmlns:a="http://schemas.openxmlformats.org/drawingml/2006/main">
              <a:ext uri="{FF2B5EF4-FFF2-40B4-BE49-F238E27FC236}">
                <a16:creationId xmlns:a16="http://schemas.microsoft.com/office/drawing/2014/main" id="{FCC960EA-A17E-42D0-9EC4-945CB2B2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543175"/>
            <a:ext cx="180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76111B-10C9-43F5-A4C2-A55DF591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1623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GO-LIVES TRACKED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AB7A3D-53A8-4A7E-A486-0D9F94B4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4290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25 completed + 7 planned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7AAB9F-3D5A-4E15-8008-EA7763E1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2386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PORTFOLIO LIFECYCLE</a:t>
            </a:r>
          </a:p>
        </p:txBody>
      </p:sp>
      <p:sp>
        <p:nvSpPr>
          <p:cNvPr id="29" name="morph-status-0">
            <a:extLst xmlns:a="http://schemas.openxmlformats.org/drawingml/2006/main">
              <a:ext uri="{FF2B5EF4-FFF2-40B4-BE49-F238E27FC236}">
                <a16:creationId xmlns:a16="http://schemas.microsoft.com/office/drawing/2014/main" id="{DDD20624-64DD-4977-B48B-9581EA56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543425"/>
            <a:ext cx="3393281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9F0B3B-541A-49B3-88F0-DB2CC3C6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667250"/>
            <a:ext cx="339328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31" name="morph-status-1">
            <a:extLst xmlns:a="http://schemas.openxmlformats.org/drawingml/2006/main">
              <a:ext uri="{FF2B5EF4-FFF2-40B4-BE49-F238E27FC236}">
                <a16:creationId xmlns:a16="http://schemas.microsoft.com/office/drawing/2014/main" id="{BA1631F1-EFB8-4C79-BB98-36930C93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581" y="4543425"/>
            <a:ext cx="2035969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2F7668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3C8F4B-04CA-40BE-A3BA-EFF5D94B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581" y="4667250"/>
            <a:ext cx="203596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3" name="morph-status-2">
            <a:extLst xmlns:a="http://schemas.openxmlformats.org/drawingml/2006/main">
              <a:ext uri="{FF2B5EF4-FFF2-40B4-BE49-F238E27FC236}">
                <a16:creationId xmlns:a16="http://schemas.microsoft.com/office/drawing/2014/main" id="{73136FF0-5959-44AC-8AEF-77DCEF58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543425"/>
            <a:ext cx="1221581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24ABA9-DE89-42B3-A52A-185DF7B1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67250"/>
            <a:ext cx="122158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35" name="morph-status-3">
            <a:extLst xmlns:a="http://schemas.openxmlformats.org/drawingml/2006/main">
              <a:ext uri="{FF2B5EF4-FFF2-40B4-BE49-F238E27FC236}">
                <a16:creationId xmlns:a16="http://schemas.microsoft.com/office/drawing/2014/main" id="{BBD8577A-6F42-480C-B7A2-15E74992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5131" y="4543425"/>
            <a:ext cx="950119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35768A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27EA1E-AB23-4DC8-973F-6881F577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5131" y="4667250"/>
            <a:ext cx="95011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6DE0868-8526-463C-859B-2D728731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181600"/>
            <a:ext cx="339328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Completed 25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3D5830-62F7-49EC-A165-D6FA03E3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581" y="5181600"/>
            <a:ext cx="2035969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Baseline 1 15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1151A3-55A6-4C17-BCED-D5589D34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181600"/>
            <a:ext cx="122158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Baseline 0 9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1FA1D6C-E981-4A9D-9376-9F70E074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5131" y="5181600"/>
            <a:ext cx="950119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Under discussion 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0A6C49-341C-4375-A00C-C49FFA71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65785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56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E57353B-BD56-4F6E-8F05-3D241449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010275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TOTAL DEMANDS</a:t>
            </a:r>
          </a:p>
        </p:txBody>
      </p:sp>
    </p:spTree>
    <p:extLst>
      <p:ext uri="{BB962C8B-B14F-4D97-AF65-F5344CB8AC3E}">
        <p14:creationId xmlns:p14="http://schemas.microsoft.com/office/powerpoint/2010/main" val="960082777"/>
      </p:ext>
    </p:extLst>
  </p:cSld>
  <mc:AlternateContent xmlns:mc="http://schemas.openxmlformats.org/markup-compatibility/2006">
    <mc:Choice xmlns:p159="http://schemas.microsoft.com/office/powerpoint/2015/09/main" Requires="p159">
      <p:transition spd="med" advClick="1">
        <p159:morph option="byObject"/>
      </p:transition>
    </mc:Choice>
    <mc:Fallback>
      <p:transition spd="med" advClick="1">
        <p:fade/>
      </p:transition>
    </mc:Fallback>
  </mc:AlternateContent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brand-edge">
            <a:extLst xmlns:a="http://schemas.openxmlformats.org/drawingml/2006/main">
              <a:ext uri="{FF2B5EF4-FFF2-40B4-BE49-F238E27FC236}">
                <a16:creationId xmlns:a16="http://schemas.microsoft.com/office/drawing/2014/main" id="{41FD6315-D3C9-4DA0-803B-0CD73FCB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2" name="top-gold-rule">
            <a:extLst xmlns:a="http://schemas.openxmlformats.org/drawingml/2006/main">
              <a:ext uri="{FF2B5EF4-FFF2-40B4-BE49-F238E27FC236}">
                <a16:creationId xmlns:a16="http://schemas.microsoft.com/office/drawing/2014/main" id="{F54D9791-FB93-4501-BBA0-F70FAF24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4FDCCF04-52D7-4C03-A5C1-8447DA46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PORTFOLIO COMPOSITION</a:t>
            </a:r>
          </a:p>
        </p:txBody>
      </p:sp>
      <p:sp>
        <p:nvSpPr>
          <p:cNvPr id="4" name="strategy-build-tag">
            <a:extLst xmlns:a="http://schemas.openxmlformats.org/drawingml/2006/main">
              <a:ext uri="{FF2B5EF4-FFF2-40B4-BE49-F238E27FC236}">
                <a16:creationId xmlns:a16="http://schemas.microsoft.com/office/drawing/2014/main" id="{01E63D6F-26A3-4E71-8D6A-B47B3115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1000"/>
            <a:ext cx="1428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ca8868c1f149ef">
            <a:extLst>
              <a:ext uri="{96DAC541-7B7A-43D3-8B79-37D633B846F1}">
                <asvg:svgBlip xmlns:asvg="http://schemas.microsoft.com/office/drawing/2016/SVG/main" r:embed="Rd761c468b00a4ff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29850" y="4572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15E39E-EF59-4835-B93E-B50E0D00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66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7" name="morph-headline">
            <a:extLst xmlns:a="http://schemas.openxmlformats.org/drawingml/2006/main">
              <a:ext uri="{FF2B5EF4-FFF2-40B4-BE49-F238E27FC236}">
                <a16:creationId xmlns:a16="http://schemas.microsoft.com/office/drawing/2014/main" id="{60F2FAE2-4832-4AB9-9889-BA7C369F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952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Completed delivery represents 45% of the portfolio</a:t>
            </a:r>
          </a:p>
        </p:txBody>
      </p:sp>
      <p:sp>
        <p:nvSpPr>
          <p:cNvPr id="8" name="reporting-period">
            <a:extLst xmlns:a="http://schemas.openxmlformats.org/drawingml/2006/main">
              <a:ext uri="{FF2B5EF4-FFF2-40B4-BE49-F238E27FC236}">
                <a16:creationId xmlns:a16="http://schemas.microsoft.com/office/drawing/2014/main" id="{C1C9EF06-D5DD-4876-A846-2D67EC30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Status distribution and demand origin</a:t>
            </a:r>
          </a:p>
        </p:txBody>
      </p:sp>
      <p:sp>
        <p:nvSpPr>
          <p:cNvPr id="9" name="header-rule">
            <a:extLst xmlns:a="http://schemas.openxmlformats.org/drawingml/2006/main">
              <a:ext uri="{FF2B5EF4-FFF2-40B4-BE49-F238E27FC236}">
                <a16:creationId xmlns:a16="http://schemas.microsoft.com/office/drawing/2014/main" id="{7A91553B-EC9D-4113-BFA4-971C4050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1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A5407DC-6512-49CA-BA5C-FD4E0E10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Source: user-provided Cards portfolio screenshots. Data basis is identified in speaker notes.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DD6B64-8B02-49FB-8CAD-5462630C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76BFEA-ECE5-4644-B30F-D9D8F06A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STATUS MIX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DC3185-AA99-4142-BE0E-FF0084A6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Completed</a:t>
            </a:r>
          </a:p>
        </p:txBody>
      </p:sp>
      <p:sp>
        <p:nvSpPr>
          <p:cNvPr id="14" name="status-track-0">
            <a:extLst xmlns:a="http://schemas.openxmlformats.org/drawingml/2006/main">
              <a:ext uri="{FF2B5EF4-FFF2-40B4-BE49-F238E27FC236}">
                <a16:creationId xmlns:a16="http://schemas.microsoft.com/office/drawing/2014/main" id="{5D1FBF01-6F9B-476A-9F3A-A9CF09E5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657475"/>
            <a:ext cx="40957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15" name="morph-status-0">
            <a:extLst xmlns:a="http://schemas.openxmlformats.org/drawingml/2006/main">
              <a:ext uri="{FF2B5EF4-FFF2-40B4-BE49-F238E27FC236}">
                <a16:creationId xmlns:a16="http://schemas.microsoft.com/office/drawing/2014/main" id="{FF6825AE-25FF-4EC2-B5DE-F3588365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657475"/>
            <a:ext cx="40957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FCB810-15B3-479B-A76E-47C363D9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0032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07352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352E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A04BCC-6795-4CAF-8A8F-C1DAB979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Baseline 1</a:t>
            </a:r>
          </a:p>
        </p:txBody>
      </p:sp>
      <p:sp>
        <p:nvSpPr>
          <p:cNvPr id="18" name="status-track-1">
            <a:extLst xmlns:a="http://schemas.openxmlformats.org/drawingml/2006/main">
              <a:ext uri="{FF2B5EF4-FFF2-40B4-BE49-F238E27FC236}">
                <a16:creationId xmlns:a16="http://schemas.microsoft.com/office/drawing/2014/main" id="{504740CA-996D-4B77-B09B-31A91536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352800"/>
            <a:ext cx="40957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19" name="morph-status-1">
            <a:extLst xmlns:a="http://schemas.openxmlformats.org/drawingml/2006/main">
              <a:ext uri="{FF2B5EF4-FFF2-40B4-BE49-F238E27FC236}">
                <a16:creationId xmlns:a16="http://schemas.microsoft.com/office/drawing/2014/main" id="{2A86FE74-2BBA-46B9-A9AB-00DC506A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352800"/>
            <a:ext cx="24574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F766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4F4D6C-EF06-43F0-B6EF-15119122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956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2F766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F7668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7C2D75-4638-4940-B518-E1AEF539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Baseline 0</a:t>
            </a:r>
          </a:p>
        </p:txBody>
      </p:sp>
      <p:sp>
        <p:nvSpPr>
          <p:cNvPr id="22" name="status-track-2">
            <a:extLst xmlns:a="http://schemas.openxmlformats.org/drawingml/2006/main">
              <a:ext uri="{FF2B5EF4-FFF2-40B4-BE49-F238E27FC236}">
                <a16:creationId xmlns:a16="http://schemas.microsoft.com/office/drawing/2014/main" id="{AFC34B02-1334-45BA-92B3-9F4B0558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048125"/>
            <a:ext cx="40957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23" name="morph-status-2">
            <a:extLst xmlns:a="http://schemas.openxmlformats.org/drawingml/2006/main">
              <a:ext uri="{FF2B5EF4-FFF2-40B4-BE49-F238E27FC236}">
                <a16:creationId xmlns:a16="http://schemas.microsoft.com/office/drawing/2014/main" id="{1127E0DB-5718-45FD-B84D-7CA17E54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048125"/>
            <a:ext cx="147447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0A947C-1B81-4591-97A7-9738A673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909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1FE36E-1F73-4307-82EF-53EAC73A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Under discussion</a:t>
            </a:r>
          </a:p>
        </p:txBody>
      </p:sp>
      <p:sp>
        <p:nvSpPr>
          <p:cNvPr id="26" name="status-track-3">
            <a:extLst xmlns:a="http://schemas.openxmlformats.org/drawingml/2006/main">
              <a:ext uri="{FF2B5EF4-FFF2-40B4-BE49-F238E27FC236}">
                <a16:creationId xmlns:a16="http://schemas.microsoft.com/office/drawing/2014/main" id="{68A9460F-0C5D-4B2C-8A06-A1319835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743450"/>
            <a:ext cx="40957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27" name="morph-status-3">
            <a:extLst xmlns:a="http://schemas.openxmlformats.org/drawingml/2006/main">
              <a:ext uri="{FF2B5EF4-FFF2-40B4-BE49-F238E27FC236}">
                <a16:creationId xmlns:a16="http://schemas.microsoft.com/office/drawing/2014/main" id="{B6A0F890-06E2-469C-B5CA-0C1F6A90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743450"/>
            <a:ext cx="114681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35768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A8E37D-8060-44AE-B031-20C3E11E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863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35768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35768A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9" name="morph-active-number">
            <a:extLst xmlns:a="http://schemas.openxmlformats.org/drawingml/2006/main">
              <a:ext uri="{FF2B5EF4-FFF2-40B4-BE49-F238E27FC236}">
                <a16:creationId xmlns:a16="http://schemas.microsoft.com/office/drawing/2014/main" id="{215D6C65-6A8C-4580-81B5-2B633FD5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571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24 demands remain in Baseline 0 or Baseline 1</a:t>
            </a:r>
          </a:p>
        </p:txBody>
      </p:sp>
      <p:sp>
        <p:nvSpPr>
          <p:cNvPr id="30" name="year-surface">
            <a:extLst xmlns:a="http://schemas.openxmlformats.org/drawingml/2006/main">
              <a:ext uri="{FF2B5EF4-FFF2-40B4-BE49-F238E27FC236}">
                <a16:creationId xmlns:a16="http://schemas.microsoft.com/office/drawing/2014/main" id="{624A0642-C8A7-4714-947C-4074FADD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38375"/>
            <a:ext cx="4171950" cy="3752850"/>
          </a:xfrm>
          <a:prstGeom xmlns:a="http://schemas.openxmlformats.org/drawingml/2006/main" prst="roundRect">
            <a:avLst>
              <a:gd name="adj" fmla="val 30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1F2EA2-43B3-4E9D-856A-29AE385B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574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DEMANDS CREATED BY YEAR</a:t>
            </a:r>
          </a:p>
        </p:txBody>
      </p:sp>
      <p:graphicFrame>
        <p:nvGraphicFramePr>
          <p:cNvPr id="69" name="Chart"/>
          <p:cNvGraphicFramePr/>
          <p:nvPr/>
        </p:nvGraphicFramePr>
        <p:xfrm>
          <a:off xmlns:a="http://schemas.openxmlformats.org/drawingml/2006/main" x="7658100" y="2876550"/>
          <a:ext xmlns:a="http://schemas.openxmlformats.org/drawingml/2006/main" cx="342900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30775e52fab440b"/>
          </a:graphicData>
        </a:graphic>
      </p:graphicFrame>
      <p:sp>
        <p:nvSpPr>
          <p:cNvPr id="33" name="year-rule">
            <a:extLst xmlns:a="http://schemas.openxmlformats.org/drawingml/2006/main">
              <a:ext uri="{FF2B5EF4-FFF2-40B4-BE49-F238E27FC236}">
                <a16:creationId xmlns:a16="http://schemas.microsoft.com/office/drawing/2014/main" id="{569428DB-9265-47A3-9F07-CD55401C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21970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C6E059-986C-4010-96D9-6386D9F8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410200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352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7352E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7E3A34-D482-4CBC-8E43-C2573A8B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4768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2025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4CA377-3ACC-4E80-9530-B4C6DEAB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410200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36EA74-6201-410B-A2E4-BAA6404B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4768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9179133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brand-edge">
            <a:extLst xmlns:a="http://schemas.openxmlformats.org/drawingml/2006/main">
              <a:ext uri="{FF2B5EF4-FFF2-40B4-BE49-F238E27FC236}">
                <a16:creationId xmlns:a16="http://schemas.microsoft.com/office/drawing/2014/main" id="{E4F2B0CD-6DE5-4D9E-96F0-8379E4A4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2" name="top-gold-rule">
            <a:extLst xmlns:a="http://schemas.openxmlformats.org/drawingml/2006/main">
              <a:ext uri="{FF2B5EF4-FFF2-40B4-BE49-F238E27FC236}">
                <a16:creationId xmlns:a16="http://schemas.microsoft.com/office/drawing/2014/main" id="{CEFCEBF6-E735-44D7-AE8B-B5B569F3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4F5854B4-A34F-4732-BAD6-77DD159D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SUPPORTING PORTFOLIO</a:t>
            </a:r>
          </a:p>
        </p:txBody>
      </p:sp>
      <p:sp>
        <p:nvSpPr>
          <p:cNvPr id="4" name="strategy-build-tag">
            <a:extLst xmlns:a="http://schemas.openxmlformats.org/drawingml/2006/main">
              <a:ext uri="{FF2B5EF4-FFF2-40B4-BE49-F238E27FC236}">
                <a16:creationId xmlns:a16="http://schemas.microsoft.com/office/drawing/2014/main" id="{4A6C3884-BF5A-4B38-AF70-6980E93A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1000"/>
            <a:ext cx="1428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1165766b1a4e2b">
            <a:extLst>
              <a:ext uri="{96DAC541-7B7A-43D3-8B79-37D633B846F1}">
                <asvg:svgBlip xmlns:asvg="http://schemas.microsoft.com/office/drawing/2016/SVG/main" r:embed="Rcf2ece28db1645b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29850" y="4572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573A4A-E7C3-4C47-AC97-4BC45C19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66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7" name="morph-headline">
            <a:extLst xmlns:a="http://schemas.openxmlformats.org/drawingml/2006/main">
              <a:ext uri="{FF2B5EF4-FFF2-40B4-BE49-F238E27FC236}">
                <a16:creationId xmlns:a16="http://schemas.microsoft.com/office/drawing/2014/main" id="{2535942B-5740-4302-B9DD-E229CB27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952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20 supporting demands extend delivery across 11 platforms</a:t>
            </a:r>
          </a:p>
        </p:txBody>
      </p:sp>
      <p:sp>
        <p:nvSpPr>
          <p:cNvPr id="8" name="reporting-period">
            <a:extLst xmlns:a="http://schemas.openxmlformats.org/drawingml/2006/main">
              <a:ext uri="{FF2B5EF4-FFF2-40B4-BE49-F238E27FC236}">
                <a16:creationId xmlns:a16="http://schemas.microsoft.com/office/drawing/2014/main" id="{DC636B10-7FDC-45A0-B4AB-1B2D5AC0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Seven completed with 13 demands active in Baseline 0 or Baseline 1</a:t>
            </a:r>
          </a:p>
        </p:txBody>
      </p:sp>
      <p:sp>
        <p:nvSpPr>
          <p:cNvPr id="9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EEE34D2-4D2F-4F25-8553-7F9E28D1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1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B24A7085-314E-4AA9-8A75-55299867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Source: user-provided Cards portfolio screenshots. Data basis is identified in speaker notes.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30FB13-F5CB-45FB-9EEF-D8115DF1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2" name="supporting-primary">
            <a:extLst xmlns:a="http://schemas.openxmlformats.org/drawingml/2006/main">
              <a:ext uri="{FF2B5EF4-FFF2-40B4-BE49-F238E27FC236}">
                <a16:creationId xmlns:a16="http://schemas.microsoft.com/office/drawing/2014/main" id="{2D1EA29A-F716-4EA7-B9A9-779D5749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476500" cy="3524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</p:sp>
      <p:sp>
        <p:nvSpPr>
          <p:cNvPr id="13" name="morph-primary-number">
            <a:extLst xmlns:a="http://schemas.openxmlformats.org/drawingml/2006/main">
              <a:ext uri="{FF2B5EF4-FFF2-40B4-BE49-F238E27FC236}">
                <a16:creationId xmlns:a16="http://schemas.microsoft.com/office/drawing/2014/main" id="{10E17FF1-3CC7-48AE-BE1B-51B26816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28900"/>
            <a:ext cx="1619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537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540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C941BF-B8EC-48B0-BF28-95C35B76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7662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SUPPORTING DEMANDS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DB3A08-55D4-4FC9-B1CF-2D06DEEA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9100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CE9E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CE9E4"/>
                </a:solidFill>
                <a:latin typeface="Aptos"/>
                <a:ea typeface="Aptos"/>
                <a:cs typeface="Aptos"/>
              </a:rPr>
              <a:t>11 platforms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26FB25-CEEA-4ACD-BE4F-D412B5B8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Delivery spans core banking, mobile, FinOne and eight additional platforms.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69EF71-B691-4F1F-AF8A-21E95E20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05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LIFECYCLE POSITION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F193AF-139C-4D28-9CF9-E751F79B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Completed</a:t>
            </a:r>
          </a:p>
        </p:txBody>
      </p:sp>
      <p:sp>
        <p:nvSpPr>
          <p:cNvPr id="19" name="support-track-0">
            <a:extLst xmlns:a="http://schemas.openxmlformats.org/drawingml/2006/main">
              <a:ext uri="{FF2B5EF4-FFF2-40B4-BE49-F238E27FC236}">
                <a16:creationId xmlns:a16="http://schemas.microsoft.com/office/drawing/2014/main" id="{5D51D9D0-8E6C-416F-B039-9A373369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695575"/>
            <a:ext cx="2857500" cy="219075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20" name="support-fill-0">
            <a:extLst xmlns:a="http://schemas.openxmlformats.org/drawingml/2006/main">
              <a:ext uri="{FF2B5EF4-FFF2-40B4-BE49-F238E27FC236}">
                <a16:creationId xmlns:a16="http://schemas.microsoft.com/office/drawing/2014/main" id="{A55631E8-72AA-4042-8613-35BFB454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695575"/>
            <a:ext cx="2222500" cy="219075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FFA5F7-8034-4DCB-A994-413B647F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6289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735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352E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AEB8AD-8957-408C-A3FF-2289856A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667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35%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5667E6-76D1-4723-A45F-8F6BC029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33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Baseline 1</a:t>
            </a:r>
          </a:p>
        </p:txBody>
      </p:sp>
      <p:sp>
        <p:nvSpPr>
          <p:cNvPr id="24" name="support-track-1">
            <a:extLst xmlns:a="http://schemas.openxmlformats.org/drawingml/2006/main">
              <a:ext uri="{FF2B5EF4-FFF2-40B4-BE49-F238E27FC236}">
                <a16:creationId xmlns:a16="http://schemas.microsoft.com/office/drawing/2014/main" id="{17921940-0ABA-40CE-B489-DBF0D3CE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43275"/>
            <a:ext cx="2857500" cy="219075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25" name="support-fill-1">
            <a:extLst xmlns:a="http://schemas.openxmlformats.org/drawingml/2006/main">
              <a:ext uri="{FF2B5EF4-FFF2-40B4-BE49-F238E27FC236}">
                <a16:creationId xmlns:a16="http://schemas.microsoft.com/office/drawing/2014/main" id="{83E09FB7-26C0-4FFA-BB68-CF5A264C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43275"/>
            <a:ext cx="2857500" cy="219075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2F766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92EA51-4D05-427E-B74A-F5014D43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2766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2F766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F7668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401668-D9CF-483D-9BE8-994757F3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314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45%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5187F3-D06F-479C-8896-66F15004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814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Baseline 0</a:t>
            </a:r>
          </a:p>
        </p:txBody>
      </p:sp>
      <p:sp>
        <p:nvSpPr>
          <p:cNvPr id="29" name="support-track-2">
            <a:extLst xmlns:a="http://schemas.openxmlformats.org/drawingml/2006/main">
              <a:ext uri="{FF2B5EF4-FFF2-40B4-BE49-F238E27FC236}">
                <a16:creationId xmlns:a16="http://schemas.microsoft.com/office/drawing/2014/main" id="{25BC2511-548A-4C6F-AC6D-6698F81C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990975"/>
            <a:ext cx="2857500" cy="219075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30" name="support-fill-2">
            <a:extLst xmlns:a="http://schemas.openxmlformats.org/drawingml/2006/main">
              <a:ext uri="{FF2B5EF4-FFF2-40B4-BE49-F238E27FC236}">
                <a16:creationId xmlns:a16="http://schemas.microsoft.com/office/drawing/2014/main" id="{59E1D2E3-1A3B-4A95-AC58-69DFD985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990975"/>
            <a:ext cx="1270000" cy="219075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58E003-FD45-45A4-AE43-C7B5099C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9243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870585-04EB-42C5-8105-776B80B4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9624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33" name="support-active-band">
            <a:extLst xmlns:a="http://schemas.openxmlformats.org/drawingml/2006/main">
              <a:ext uri="{FF2B5EF4-FFF2-40B4-BE49-F238E27FC236}">
                <a16:creationId xmlns:a16="http://schemas.microsoft.com/office/drawing/2014/main" id="{9E58A130-5BB6-49A6-8CFF-0F081CE8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676775"/>
            <a:ext cx="5305425" cy="1152525"/>
          </a:xfrm>
          <a:prstGeom xmlns:a="http://schemas.openxmlformats.org/drawingml/2006/main" prst="roundRect">
            <a:avLst>
              <a:gd name="adj" fmla="val 9917"/>
            </a:avLst>
          </a:prstGeom>
          <a:solidFill xmlns:a="http://schemas.openxmlformats.org/drawingml/2006/main">
            <a:srgbClr val="EFE5CF"/>
          </a:solidFill>
          <a:ln xmlns:a="http://schemas.openxmlformats.org/drawingml/2006/main" w="0">
            <a:noFill/>
          </a:ln>
        </p:spPr>
      </p:sp>
      <p:sp>
        <p:nvSpPr>
          <p:cNvPr id="34" name="morph-active-number">
            <a:extLst xmlns:a="http://schemas.openxmlformats.org/drawingml/2006/main">
              <a:ext uri="{FF2B5EF4-FFF2-40B4-BE49-F238E27FC236}">
                <a16:creationId xmlns:a16="http://schemas.microsoft.com/office/drawing/2014/main" id="{C4A04781-98CF-4B8F-B5F7-CBFC4639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857750"/>
            <a:ext cx="876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73381D-7C0A-415E-9C00-A2456856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863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ACTIVE BASELINE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E6D32F-BF06-4AE0-8E29-3B4B0F2E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162550"/>
            <a:ext cx="3762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65% of supporting demands are in Baseline 0 or Baseline 1</a:t>
            </a:r>
          </a:p>
        </p:txBody>
      </p:sp>
      <p:sp>
        <p:nvSpPr>
          <p:cNvPr id="37" name="support-platform-surface">
            <a:extLst xmlns:a="http://schemas.openxmlformats.org/drawingml/2006/main">
              <a:ext uri="{FF2B5EF4-FFF2-40B4-BE49-F238E27FC236}">
                <a16:creationId xmlns:a16="http://schemas.microsoft.com/office/drawing/2014/main" id="{4D1231A8-E36C-47C2-9589-0050D809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05050"/>
            <a:ext cx="2400300" cy="3524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5D756D-8332-413D-A835-9FA123E9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336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PLATFORM MIX</a:t>
            </a:r>
          </a:p>
        </p:txBody>
      </p:sp>
      <p:graphicFrame>
        <p:nvGraphicFramePr>
          <p:cNvPr id="79" name="Chart"/>
          <p:cNvGraphicFramePr/>
          <p:nvPr/>
        </p:nvGraphicFramePr>
        <p:xfrm>
          <a:off xmlns:a="http://schemas.openxmlformats.org/drawingml/2006/main" x="9334500" y="2914650"/>
          <a:ext xmlns:a="http://schemas.openxmlformats.org/drawingml/2006/main" cx="1952625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6560d4f3d1e4993"/>
          </a:graphicData>
        </a:graphic>
      </p:graphicFrame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9DC894-ABF1-4ED5-BDBF-3E3E4FD9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4102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Other = eight platforms with one demand each</a:t>
            </a:r>
          </a:p>
        </p:txBody>
      </p:sp>
    </p:spTree>
    <p:extLst>
      <p:ext uri="{BB962C8B-B14F-4D97-AF65-F5344CB8AC3E}">
        <p14:creationId xmlns:p14="http://schemas.microsoft.com/office/powerpoint/2010/main" val="138599046"/>
      </p:ext>
    </p:extLst>
  </p:cSld>
  <mc:AlternateContent xmlns:mc="http://schemas.openxmlformats.org/markup-compatibility/2006">
    <mc:Choice xmlns:p159="http://schemas.microsoft.com/office/powerpoint/2015/09/main" Requires="p159">
      <p:transition spd="med" advClick="1">
        <p159:morph option="byObject"/>
      </p:transition>
    </mc:Choice>
    <mc:Fallback>
      <p:transition spd="med" advClick="1">
        <p:fade/>
      </p:transition>
    </mc:Fallback>
  </mc:AlternateContent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brand-edge">
            <a:extLst xmlns:a="http://schemas.openxmlformats.org/drawingml/2006/main">
              <a:ext uri="{FF2B5EF4-FFF2-40B4-BE49-F238E27FC236}">
                <a16:creationId xmlns:a16="http://schemas.microsoft.com/office/drawing/2014/main" id="{AD8B0137-913B-4C0B-9618-A43E7501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2" name="top-gold-rule">
            <a:extLst xmlns:a="http://schemas.openxmlformats.org/drawingml/2006/main">
              <a:ext uri="{FF2B5EF4-FFF2-40B4-BE49-F238E27FC236}">
                <a16:creationId xmlns:a16="http://schemas.microsoft.com/office/drawing/2014/main" id="{D3A31886-3723-40BE-9F62-E2856028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649D29E0-F44D-4620-93A0-4D900EA8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GO-LIVE ACHIEVEMENT</a:t>
            </a:r>
          </a:p>
        </p:txBody>
      </p:sp>
      <p:sp>
        <p:nvSpPr>
          <p:cNvPr id="4" name="strategy-build-tag">
            <a:extLst xmlns:a="http://schemas.openxmlformats.org/drawingml/2006/main">
              <a:ext uri="{FF2B5EF4-FFF2-40B4-BE49-F238E27FC236}">
                <a16:creationId xmlns:a16="http://schemas.microsoft.com/office/drawing/2014/main" id="{AD24F5F9-8B77-4744-8A69-BFCCE48A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1000"/>
            <a:ext cx="1428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0701fdfea24316">
            <a:extLst>
              <a:ext uri="{96DAC541-7B7A-43D3-8B79-37D633B846F1}">
                <asvg:svgBlip xmlns:asvg="http://schemas.microsoft.com/office/drawing/2016/SVG/main" r:embed="Rb1eff52d888d434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29850" y="4572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6FB1A6-A1ED-4F98-A63F-383983C0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66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7" name="morph-headline">
            <a:extLst xmlns:a="http://schemas.openxmlformats.org/drawingml/2006/main">
              <a:ext uri="{FF2B5EF4-FFF2-40B4-BE49-F238E27FC236}">
                <a16:creationId xmlns:a16="http://schemas.microsoft.com/office/drawing/2014/main" id="{BEFD18AD-7EF6-487E-84C8-7CFEBE44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952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25 go-lives completed, with seven scheduled through January 2027</a:t>
            </a:r>
          </a:p>
        </p:txBody>
      </p:sp>
      <p:sp>
        <p:nvSpPr>
          <p:cNvPr id="8" name="reporting-period">
            <a:extLst xmlns:a="http://schemas.openxmlformats.org/drawingml/2006/main">
              <a:ext uri="{FF2B5EF4-FFF2-40B4-BE49-F238E27FC236}">
                <a16:creationId xmlns:a16="http://schemas.microsoft.com/office/drawing/2014/main" id="{6281DF6E-5819-4BB7-8A41-738A03E6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Monthly go-live profile across 2025 to 2027</a:t>
            </a:r>
          </a:p>
        </p:txBody>
      </p:sp>
      <p:sp>
        <p:nvSpPr>
          <p:cNvPr id="9" name="header-rule">
            <a:extLst xmlns:a="http://schemas.openxmlformats.org/drawingml/2006/main">
              <a:ext uri="{FF2B5EF4-FFF2-40B4-BE49-F238E27FC236}">
                <a16:creationId xmlns:a16="http://schemas.microsoft.com/office/drawing/2014/main" id="{6E40E4D3-B06B-4B6D-9D29-03AB1E01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1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DBD6B744-25FD-4DAA-871B-72367AAD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Source: user-provided Cards portfolio screenshots. Data basis is identified in speaker notes.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E79CBC-A9FF-456A-BB98-CA14D992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2" name="morph-primary-number">
            <a:extLst xmlns:a="http://schemas.openxmlformats.org/drawingml/2006/main">
              <a:ext uri="{FF2B5EF4-FFF2-40B4-BE49-F238E27FC236}">
                <a16:creationId xmlns:a16="http://schemas.microsoft.com/office/drawing/2014/main" id="{08F498F4-9A6D-4A66-AE63-1F4444AE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7C2E58-B8D8-4503-BDB9-DDA4BEDB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COMPLETED GO-LIVES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028EF1-3CA1-437F-8248-77D18EE4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78% of 32 tracked</a:t>
            </a:r>
          </a:p>
        </p:txBody>
      </p:sp>
      <p:sp>
        <p:nvSpPr>
          <p:cNvPr id="15" name="morph-golives-number">
            <a:extLst xmlns:a="http://schemas.openxmlformats.org/drawingml/2006/main">
              <a:ext uri="{FF2B5EF4-FFF2-40B4-BE49-F238E27FC236}">
                <a16:creationId xmlns:a16="http://schemas.microsoft.com/office/drawing/2014/main" id="{6A11D62D-3DF0-494E-B466-8CEA8B2B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A51F28-7F72-4ABB-B762-39B36E57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53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PLANNED GO-LIVES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CDCC05-F1C6-4DA0-B64D-D9CB6FF5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Oct, Dec and Jan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8EFC4D-952C-4271-9BBB-8B05C9D1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2333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The forward plan groups three releases in October, three in December and one in January 2027.</a:t>
            </a:r>
          </a:p>
        </p:txBody>
      </p:sp>
      <p:sp>
        <p:nvSpPr>
          <p:cNvPr id="19" name="go-live-chart-surface">
            <a:extLst xmlns:a="http://schemas.openxmlformats.org/drawingml/2006/main">
              <a:ext uri="{FF2B5EF4-FFF2-40B4-BE49-F238E27FC236}">
                <a16:creationId xmlns:a16="http://schemas.microsoft.com/office/drawing/2014/main" id="{59B0F270-7E63-40B3-BDA8-04D9F00A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47900"/>
            <a:ext cx="8267700" cy="3762375"/>
          </a:xfrm>
          <a:prstGeom xmlns:a="http://schemas.openxmlformats.org/drawingml/2006/main" prst="roundRect">
            <a:avLst>
              <a:gd name="adj" fmla="val 30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CF8A65-38D9-42E3-81C0-4A4B00EF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574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GO-LIVES BY MONTH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BF8524-C081-4043-9ACD-BF86C56C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57450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Completed</a:t>
            </a:r>
          </a:p>
        </p:txBody>
      </p:sp>
      <p:sp>
        <p:nvSpPr>
          <p:cNvPr id="22" name="legend-completed">
            <a:extLst xmlns:a="http://schemas.openxmlformats.org/drawingml/2006/main">
              <a:ext uri="{FF2B5EF4-FFF2-40B4-BE49-F238E27FC236}">
                <a16:creationId xmlns:a16="http://schemas.microsoft.com/office/drawing/2014/main" id="{B7E8538B-9059-41D7-8CA7-782159C0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765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EB0522-4E90-4CA7-985A-D201F3D1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574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Planned</a:t>
            </a:r>
          </a:p>
        </p:txBody>
      </p:sp>
      <p:sp>
        <p:nvSpPr>
          <p:cNvPr id="24" name="legend-planned">
            <a:extLst xmlns:a="http://schemas.openxmlformats.org/drawingml/2006/main">
              <a:ext uri="{FF2B5EF4-FFF2-40B4-BE49-F238E27FC236}">
                <a16:creationId xmlns:a16="http://schemas.microsoft.com/office/drawing/2014/main" id="{065F8414-CD17-4227-99FF-458A2603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4765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graphicFrame>
        <p:nvGraphicFramePr>
          <p:cNvPr id="57" name="Chart"/>
          <p:cNvGraphicFramePr/>
          <p:nvPr/>
        </p:nvGraphicFramePr>
        <p:xfrm>
          <a:off xmlns:a="http://schemas.openxmlformats.org/drawingml/2006/main" x="3505200" y="2781300"/>
          <a:ext xmlns:a="http://schemas.openxmlformats.org/drawingml/2006/main" cx="7715250" cy="2495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c3cfb9ff4144ecc"/>
          </a:graphicData>
        </a:graphic>
      </p:graphicFrame>
      <p:sp>
        <p:nvSpPr>
          <p:cNvPr id="26" name="wave-line">
            <a:extLst xmlns:a="http://schemas.openxmlformats.org/drawingml/2006/main">
              <a:ext uri="{FF2B5EF4-FFF2-40B4-BE49-F238E27FC236}">
                <a16:creationId xmlns:a16="http://schemas.microsoft.com/office/drawing/2014/main" id="{214A6D3A-8F20-409C-89DF-8B2BB934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476875"/>
            <a:ext cx="752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AD778D-737D-48A0-AC4E-AC10AE37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6197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OCT 2026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B87A9B-3991-4C9B-81C2-5C605A0E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6197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3 planned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88A503-E64B-4373-8FA4-453CFE57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6197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DEC 2026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6C6547-F432-4A6B-BF62-DD4E0971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197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3 planned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56F339-01EE-4BE0-A000-52933B4F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6197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JAN 2027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55C159-19DE-4356-B7E1-0B95EF8A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6197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1 planned</a:t>
            </a:r>
          </a:p>
        </p:txBody>
      </p:sp>
    </p:spTree>
    <p:extLst>
      <p:ext uri="{BB962C8B-B14F-4D97-AF65-F5344CB8AC3E}">
        <p14:creationId xmlns:p14="http://schemas.microsoft.com/office/powerpoint/2010/main" val="405455300"/>
      </p:ext>
    </p:extLst>
  </p:cSld>
  <mc:AlternateContent xmlns:mc="http://schemas.openxmlformats.org/markup-compatibility/2006">
    <mc:Choice xmlns:p159="http://schemas.microsoft.com/office/powerpoint/2015/09/main" Requires="p159">
      <p:transition spd="med" advClick="1">
        <p159:morph option="byObject"/>
      </p:transition>
    </mc:Choice>
    <mc:Fallback>
      <p:transition spd="med" advClick="1">
        <p:fade/>
      </p:transition>
    </mc:Fallback>
  </mc:AlternateContent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brand-edge">
            <a:extLst xmlns:a="http://schemas.openxmlformats.org/drawingml/2006/main">
              <a:ext uri="{FF2B5EF4-FFF2-40B4-BE49-F238E27FC236}">
                <a16:creationId xmlns:a16="http://schemas.microsoft.com/office/drawing/2014/main" id="{94B29735-DBED-4DA4-8CF2-4E439453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2" name="top-gold-rule">
            <a:extLst xmlns:a="http://schemas.openxmlformats.org/drawingml/2006/main">
              <a:ext uri="{FF2B5EF4-FFF2-40B4-BE49-F238E27FC236}">
                <a16:creationId xmlns:a16="http://schemas.microsoft.com/office/drawing/2014/main" id="{32BEC4B7-3076-4C53-9C6A-7BCECD82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E0F8A2E9-187B-4605-9A74-7D4D49F6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PROJECT OUTCOME</a:t>
            </a:r>
          </a:p>
        </p:txBody>
      </p:sp>
      <p:sp>
        <p:nvSpPr>
          <p:cNvPr id="4" name="strategy-flourish-tag">
            <a:extLst xmlns:a="http://schemas.openxmlformats.org/drawingml/2006/main">
              <a:ext uri="{FF2B5EF4-FFF2-40B4-BE49-F238E27FC236}">
                <a16:creationId xmlns:a16="http://schemas.microsoft.com/office/drawing/2014/main" id="{A5407B6A-17DE-4C57-BA19-C62639B3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1000"/>
            <a:ext cx="1428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ae15171ffa4fb3">
            <a:extLst>
              <a:ext uri="{96DAC541-7B7A-43D3-8B79-37D633B846F1}">
                <asvg:svgBlip xmlns:asvg="http://schemas.microsoft.com/office/drawing/2016/SVG/main" r:embed="R9b206e20341c45d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29850" y="4572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71832D-E89D-40EC-BB9F-052F7CB1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66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FLOURISH</a:t>
            </a:r>
          </a:p>
        </p:txBody>
      </p:sp>
      <p:sp>
        <p:nvSpPr>
          <p:cNvPr id="7" name="morph-headline">
            <a:extLst xmlns:a="http://schemas.openxmlformats.org/drawingml/2006/main">
              <a:ext uri="{FF2B5EF4-FFF2-40B4-BE49-F238E27FC236}">
                <a16:creationId xmlns:a16="http://schemas.microsoft.com/office/drawing/2014/main" id="{B0DC760D-5F5A-43C3-B7FE-36E1ED15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952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Jaywan progressed from mono-badge launch to co-badging, tokenization and standards uplift</a:t>
            </a:r>
          </a:p>
        </p:txBody>
      </p:sp>
      <p:sp>
        <p:nvSpPr>
          <p:cNvPr id="8" name="reporting-period">
            <a:extLst xmlns:a="http://schemas.openxmlformats.org/drawingml/2006/main">
              <a:ext uri="{FF2B5EF4-FFF2-40B4-BE49-F238E27FC236}">
                <a16:creationId xmlns:a16="http://schemas.microsoft.com/office/drawing/2014/main" id="{CB4CF718-EA38-4D56-BC82-4F2E2A4E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Verified delivery stages across the Jaywan programme</a:t>
            </a:r>
          </a:p>
        </p:txBody>
      </p:sp>
      <p:sp>
        <p:nvSpPr>
          <p:cNvPr id="9" name="header-rule">
            <a:extLst xmlns:a="http://schemas.openxmlformats.org/drawingml/2006/main">
              <a:ext uri="{FF2B5EF4-FFF2-40B4-BE49-F238E27FC236}">
                <a16:creationId xmlns:a16="http://schemas.microsoft.com/office/drawing/2014/main" id="{C73E7A23-4C14-43A7-9DF9-07E827DD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1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68A2989-2979-47BE-AB34-A23AEDF4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Source: user-provided Cards portfolio screenshots. Data basis is identified in speaker notes.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430694-A48E-4603-8E06-AA74F6AB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12" name="jaywan-foundation">
            <a:extLst xmlns:a="http://schemas.openxmlformats.org/drawingml/2006/main">
              <a:ext uri="{FF2B5EF4-FFF2-40B4-BE49-F238E27FC236}">
                <a16:creationId xmlns:a16="http://schemas.microsoft.com/office/drawing/2014/main" id="{A56C27CD-D539-45A9-A336-E939EC6A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571750" cy="34956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DB3F18-BB85-4CBF-839E-86292F35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527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FE5C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FE5CF"/>
                </a:solidFill>
                <a:latin typeface="Aptos"/>
                <a:ea typeface="Aptos"/>
                <a:cs typeface="Aptos"/>
              </a:rPr>
              <a:t>LIVE FOUNDATION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A07E9A-7423-4EA4-86F5-0E7798E8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81325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91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26 OCT</a:t>
            </a:r>
          </a:p>
          <a:p xmlns:a="http://schemas.openxmlformats.org/drawingml/2006/main">
            <a:pPr algn="l">
              <a:defRPr sz="285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2025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A3175A-0CFE-42E0-81CF-B19D98C5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33825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Jaywan Mono-Badge Debit Cards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CB77D4-A4A2-4382-A331-B6D40E55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291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CE9E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CE9E4"/>
                </a:solidFill>
                <a:latin typeface="Aptos"/>
                <a:ea typeface="Aptos"/>
                <a:cs typeface="Aptos"/>
              </a:rPr>
              <a:t>DMGT-993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AEA501-198A-4CFC-AA53-C64108D1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863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Completed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081E13-7E47-4117-857D-60D7C653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241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PROGRAMME PROGRESSION</a:t>
            </a:r>
          </a:p>
        </p:txBody>
      </p:sp>
      <p:sp>
        <p:nvSpPr>
          <p:cNvPr id="19" name="morph-jaywan-line">
            <a:extLst xmlns:a="http://schemas.openxmlformats.org/drawingml/2006/main">
              <a:ext uri="{FF2B5EF4-FFF2-40B4-BE49-F238E27FC236}">
                <a16:creationId xmlns:a16="http://schemas.microsoft.com/office/drawing/2014/main" id="{1B9EEC98-FC7A-45E5-99F3-4EEB1F92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95650"/>
            <a:ext cx="7200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20" name="jaywan-0-dot">
            <a:extLst xmlns:a="http://schemas.openxmlformats.org/drawingml/2006/main">
              <a:ext uri="{FF2B5EF4-FFF2-40B4-BE49-F238E27FC236}">
                <a16:creationId xmlns:a16="http://schemas.microsoft.com/office/drawing/2014/main" id="{FD83CA16-7085-4FC5-982C-A9F0868D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194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DAA99D-B81C-4F0F-9999-5A5AB26F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448050"/>
            <a:ext cx="1714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MAR 2026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EA1955-FB23-4EA3-94F2-5829AAD8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6766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E-commerce live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CE1715-A17D-432B-8F06-8CCD8064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114800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DMGT-1978 / 1979</a:t>
            </a:r>
          </a:p>
        </p:txBody>
      </p:sp>
      <p:sp>
        <p:nvSpPr>
          <p:cNvPr id="24" name="jaywan-1-dot">
            <a:extLst xmlns:a="http://schemas.openxmlformats.org/drawingml/2006/main">
              <a:ext uri="{FF2B5EF4-FFF2-40B4-BE49-F238E27FC236}">
                <a16:creationId xmlns:a16="http://schemas.microsoft.com/office/drawing/2014/main" id="{A1FD211F-804E-4145-9802-BDDD35C3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194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3ECD39-73AB-4C1F-91CF-2998CB51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48050"/>
            <a:ext cx="1714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CURRENT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6EC41F-F514-4FBB-8857-FB0A6A9B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6766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Tokenization UAT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7B1FCA-349D-494C-B82B-CEE5CCBE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114800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Integration in progress</a:t>
            </a:r>
          </a:p>
        </p:txBody>
      </p:sp>
      <p:sp>
        <p:nvSpPr>
          <p:cNvPr id="28" name="jaywan-2-dot">
            <a:extLst xmlns:a="http://schemas.openxmlformats.org/drawingml/2006/main">
              <a:ext uri="{FF2B5EF4-FFF2-40B4-BE49-F238E27FC236}">
                <a16:creationId xmlns:a16="http://schemas.microsoft.com/office/drawing/2014/main" id="{C49ABC54-3C4F-4062-896F-BDA29F8D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194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17F533-9B5C-45B9-AC9C-30103421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48050"/>
            <a:ext cx="1714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11 DEC 2026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F7A4D5-C3BD-44F4-84C4-AA689689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766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Visa co-badged card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18DD1F-A1C3-4F91-8AAC-EDD2A805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114800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Baseline 1</a:t>
            </a:r>
          </a:p>
        </p:txBody>
      </p:sp>
      <p:sp>
        <p:nvSpPr>
          <p:cNvPr id="32" name="jaywan-3-dot">
            <a:extLst xmlns:a="http://schemas.openxmlformats.org/drawingml/2006/main">
              <a:ext uri="{FF2B5EF4-FFF2-40B4-BE49-F238E27FC236}">
                <a16:creationId xmlns:a16="http://schemas.microsoft.com/office/drawing/2014/main" id="{21740023-90CC-421D-8DCB-A5914A5B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194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C3DE58-F11A-4A0B-9B4E-33DC2D74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448050"/>
            <a:ext cx="1714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11 DEC 2026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2A0A31-AAEC-431A-8A34-73510A97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6766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Standards uplift V1.8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7B4DFB-4B89-45E7-A754-74052A9C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114800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Baseline 1</a:t>
            </a:r>
          </a:p>
        </p:txBody>
      </p:sp>
      <p:sp>
        <p:nvSpPr>
          <p:cNvPr id="36" name="jaywan-ribbon">
            <a:extLst xmlns:a="http://schemas.openxmlformats.org/drawingml/2006/main">
              <a:ext uri="{FF2B5EF4-FFF2-40B4-BE49-F238E27FC236}">
                <a16:creationId xmlns:a16="http://schemas.microsoft.com/office/drawing/2014/main" id="{E870D817-0218-4C35-937A-82D2B808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953000"/>
            <a:ext cx="7886700" cy="82867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DF4F1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24F68F-ECC0-431E-A972-267620DF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625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ISSUANCE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08242E5-0B20-4F51-AFD5-5335D762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816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Mono-badge live, with co-badged card in Baseline 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5510D0-BEEF-4BE5-9CE3-FA599D57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1625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DIGITAL PAYMENT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195718-AF88-4409-9299-4C3C0EC2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3816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E-commerce live, with tokenization progressing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84F918B-AD2A-4DF6-AD2C-34335559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1625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SCHEME READINESS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1A6F46B-225B-4018-A1D8-9FAD9CCB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38162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Standards uplift targets 11 December</a:t>
            </a:r>
          </a:p>
        </p:txBody>
      </p:sp>
    </p:spTree>
    <p:extLst>
      <p:ext uri="{BB962C8B-B14F-4D97-AF65-F5344CB8AC3E}">
        <p14:creationId xmlns:p14="http://schemas.microsoft.com/office/powerpoint/2010/main" val="7741351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brand-edge">
            <a:extLst xmlns:a="http://schemas.openxmlformats.org/drawingml/2006/main">
              <a:ext uri="{FF2B5EF4-FFF2-40B4-BE49-F238E27FC236}">
                <a16:creationId xmlns:a16="http://schemas.microsoft.com/office/drawing/2014/main" id="{57EDD626-C571-41B5-AADF-96C42287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2" name="top-gold-rule">
            <a:extLst xmlns:a="http://schemas.openxmlformats.org/drawingml/2006/main">
              <a:ext uri="{FF2B5EF4-FFF2-40B4-BE49-F238E27FC236}">
                <a16:creationId xmlns:a16="http://schemas.microsoft.com/office/drawing/2014/main" id="{491575FC-8D72-4FF0-889D-EFC94978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E0E8617A-BDD0-499F-8829-F264B008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DELIVERY OUTCOMES</a:t>
            </a:r>
          </a:p>
        </p:txBody>
      </p:sp>
      <p:sp>
        <p:nvSpPr>
          <p:cNvPr id="4" name="strategy-flourish-tag">
            <a:extLst xmlns:a="http://schemas.openxmlformats.org/drawingml/2006/main">
              <a:ext uri="{FF2B5EF4-FFF2-40B4-BE49-F238E27FC236}">
                <a16:creationId xmlns:a16="http://schemas.microsoft.com/office/drawing/2014/main" id="{14198F72-FE9C-4CBF-8D2D-359EAF65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1000"/>
            <a:ext cx="1428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a5983e053c482e">
            <a:extLst>
              <a:ext uri="{96DAC541-7B7A-43D3-8B79-37D633B846F1}">
                <asvg:svgBlip xmlns:asvg="http://schemas.microsoft.com/office/drawing/2016/SVG/main" r:embed="Rdfe32684d5404a5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29850" y="4572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208AF2-1608-453F-AA66-2626F155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66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FLOURISH</a:t>
            </a:r>
          </a:p>
        </p:txBody>
      </p:sp>
      <p:sp>
        <p:nvSpPr>
          <p:cNvPr id="7" name="morph-headline">
            <a:extLst xmlns:a="http://schemas.openxmlformats.org/drawingml/2006/main">
              <a:ext uri="{FF2B5EF4-FFF2-40B4-BE49-F238E27FC236}">
                <a16:creationId xmlns:a16="http://schemas.microsoft.com/office/drawing/2014/main" id="{24DB8AD4-9B24-4E32-9082-0D52BAFF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952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Messaging and pricing changes span live delivery, UAT and scheduled go-lives</a:t>
            </a:r>
          </a:p>
        </p:txBody>
      </p:sp>
      <p:sp>
        <p:nvSpPr>
          <p:cNvPr id="8" name="reporting-period">
            <a:extLst xmlns:a="http://schemas.openxmlformats.org/drawingml/2006/main">
              <a:ext uri="{FF2B5EF4-FFF2-40B4-BE49-F238E27FC236}">
                <a16:creationId xmlns:a16="http://schemas.microsoft.com/office/drawing/2014/main" id="{02684133-DB22-4B52-A201-2B321F60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Two delivery tracks across customer communications and revenue propositions</a:t>
            </a:r>
          </a:p>
        </p:txBody>
      </p:sp>
      <p:sp>
        <p:nvSpPr>
          <p:cNvPr id="9" name="header-rule">
            <a:extLst xmlns:a="http://schemas.openxmlformats.org/drawingml/2006/main">
              <a:ext uri="{FF2B5EF4-FFF2-40B4-BE49-F238E27FC236}">
                <a16:creationId xmlns:a16="http://schemas.microsoft.com/office/drawing/2014/main" id="{8D014517-8281-4CB6-9818-02A01F1C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1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7ED35B2-274C-4D9B-A87C-1A3DC2AD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Source: user-provided Cards portfolio screenshots. Data basis is identified in speaker notes.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FE1D44-2EEA-4E53-A07A-A0173DE0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FFCDFD-A00B-462D-B305-38BA3D0B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CUSTOMER COMMUNICATIONS</a:t>
            </a:r>
          </a:p>
        </p:txBody>
      </p:sp>
      <p:sp>
        <p:nvSpPr>
          <p:cNvPr id="13" name="track-1-line">
            <a:extLst xmlns:a="http://schemas.openxmlformats.org/drawingml/2006/main">
              <a:ext uri="{FF2B5EF4-FFF2-40B4-BE49-F238E27FC236}">
                <a16:creationId xmlns:a16="http://schemas.microsoft.com/office/drawing/2014/main" id="{7D6E37E9-65C0-46A1-8D32-6AF57A7C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24200"/>
            <a:ext cx="10401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14" name="comms-0-dot">
            <a:extLst xmlns:a="http://schemas.openxmlformats.org/drawingml/2006/main">
              <a:ext uri="{FF2B5EF4-FFF2-40B4-BE49-F238E27FC236}">
                <a16:creationId xmlns:a16="http://schemas.microsoft.com/office/drawing/2014/main" id="{455A57AB-235A-4589-816F-6A676E55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5EF227-BF3D-4A68-8300-909A95BA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1809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23 FEB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E79705-218A-431A-96BE-6AA027C0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International currency SMS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F47140-4587-4734-923F-2743C3A4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1809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Completed</a:t>
            </a:r>
          </a:p>
        </p:txBody>
      </p:sp>
      <p:sp>
        <p:nvSpPr>
          <p:cNvPr id="18" name="comms-1-dot">
            <a:extLst xmlns:a="http://schemas.openxmlformats.org/drawingml/2006/main">
              <a:ext uri="{FF2B5EF4-FFF2-40B4-BE49-F238E27FC236}">
                <a16:creationId xmlns:a16="http://schemas.microsoft.com/office/drawing/2014/main" id="{FACD58AF-8DBE-485E-A530-0F31C1C9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480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61A1F5-0BA1-4CC8-BCF9-B777A57F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76600"/>
            <a:ext cx="1809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17 MAY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532BAA-2A5D-4FF3-8E78-99A9BED9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052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Failed transaction SMS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B7B3FA-2FA2-4BA2-A422-DD95AFE2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943350"/>
            <a:ext cx="1809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Completed</a:t>
            </a:r>
          </a:p>
        </p:txBody>
      </p:sp>
      <p:sp>
        <p:nvSpPr>
          <p:cNvPr id="22" name="comms-2-dot">
            <a:extLst xmlns:a="http://schemas.openxmlformats.org/drawingml/2006/main">
              <a:ext uri="{FF2B5EF4-FFF2-40B4-BE49-F238E27FC236}">
                <a16:creationId xmlns:a16="http://schemas.microsoft.com/office/drawing/2014/main" id="{CE382718-DC24-4055-9CEA-7C4CA06B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480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7B67FD-DB20-44F3-9D67-8C7EB314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276600"/>
            <a:ext cx="1809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06 SEP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2BEFE2-7B81-414C-8F21-9F384AA1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052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Declined SMS enhancement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57EA9B-592D-4A1E-A4BB-9255613F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943350"/>
            <a:ext cx="1809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Completed</a:t>
            </a:r>
          </a:p>
        </p:txBody>
      </p:sp>
      <p:sp>
        <p:nvSpPr>
          <p:cNvPr id="26" name="comms-3-dot">
            <a:extLst xmlns:a="http://schemas.openxmlformats.org/drawingml/2006/main">
              <a:ext uri="{FF2B5EF4-FFF2-40B4-BE49-F238E27FC236}">
                <a16:creationId xmlns:a16="http://schemas.microsoft.com/office/drawing/2014/main" id="{3DCB553C-5C48-4B9B-A9B3-29B977A8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480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5DFB09-77E1-462F-A5D0-728EB059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76600"/>
            <a:ext cx="1809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UAT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EE9309-EA31-4DA3-A148-A713C2D4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052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Wrong expiry-date SMS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CE6343-4B7B-4A12-AC56-5D665880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43350"/>
            <a:ext cx="1809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Baseline 1</a:t>
            </a:r>
          </a:p>
        </p:txBody>
      </p:sp>
      <p:sp>
        <p:nvSpPr>
          <p:cNvPr id="30" name="comms-4-dot">
            <a:extLst xmlns:a="http://schemas.openxmlformats.org/drawingml/2006/main">
              <a:ext uri="{FF2B5EF4-FFF2-40B4-BE49-F238E27FC236}">
                <a16:creationId xmlns:a16="http://schemas.microsoft.com/office/drawing/2014/main" id="{AF95F886-519C-4F31-8828-2420933A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480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674D83-3E75-4AB8-81E7-73CFB24F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276600"/>
            <a:ext cx="1285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18 OCT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8907C1-8577-4954-A46C-B7DD0AE0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505200"/>
            <a:ext cx="1285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Statement generation SMS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53EE2B-DBC6-408E-8837-85553BE3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943350"/>
            <a:ext cx="1285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UAT target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7505A0-1371-470F-8706-1EDEC730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REVENUE AND CARD PROPOSITIONS</a:t>
            </a:r>
          </a:p>
        </p:txBody>
      </p:sp>
      <p:sp>
        <p:nvSpPr>
          <p:cNvPr id="35" name="track-2-line">
            <a:extLst xmlns:a="http://schemas.openxmlformats.org/drawingml/2006/main">
              <a:ext uri="{FF2B5EF4-FFF2-40B4-BE49-F238E27FC236}">
                <a16:creationId xmlns:a16="http://schemas.microsoft.com/office/drawing/2014/main" id="{5B6989F8-0D49-4C2B-A87B-D94954E5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91150"/>
            <a:ext cx="10401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36" name="revenue-0-dot">
            <a:extLst xmlns:a="http://schemas.openxmlformats.org/drawingml/2006/main">
              <a:ext uri="{FF2B5EF4-FFF2-40B4-BE49-F238E27FC236}">
                <a16:creationId xmlns:a16="http://schemas.microsoft.com/office/drawing/2014/main" id="{AE6F8529-632C-4BB1-B3ED-23FFB5B4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149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FD54E2-76AE-4F44-9BCD-DA543E6A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43550"/>
            <a:ext cx="1666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26 APR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BB612B-3C3B-47E6-817E-DFCB1898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1666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Digital Salam renewal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C688424-F52F-4446-9C4B-544C4369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1030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Completed</a:t>
            </a:r>
          </a:p>
        </p:txBody>
      </p:sp>
      <p:sp>
        <p:nvSpPr>
          <p:cNvPr id="40" name="revenue-1-dot">
            <a:extLst xmlns:a="http://schemas.openxmlformats.org/drawingml/2006/main">
              <a:ext uri="{FF2B5EF4-FFF2-40B4-BE49-F238E27FC236}">
                <a16:creationId xmlns:a16="http://schemas.microsoft.com/office/drawing/2014/main" id="{E463EE40-48CC-4EC3-8CD9-44A84512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149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AA7831-A670-4ED7-9F4F-E7A8C346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543550"/>
            <a:ext cx="1666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10 MAY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0E14C68-CE72-4270-80ED-1739732B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772150"/>
            <a:ext cx="1666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ENR pricing increase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E2B3CE6-FB55-469F-8850-CBBA138C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21030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Completed</a:t>
            </a:r>
          </a:p>
        </p:txBody>
      </p:sp>
      <p:sp>
        <p:nvSpPr>
          <p:cNvPr id="44" name="revenue-2-dot">
            <a:extLst xmlns:a="http://schemas.openxmlformats.org/drawingml/2006/main">
              <a:ext uri="{FF2B5EF4-FFF2-40B4-BE49-F238E27FC236}">
                <a16:creationId xmlns:a16="http://schemas.microsoft.com/office/drawing/2014/main" id="{0F802F2B-7B55-4786-8F23-7CEF932C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149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D4928D6-B9D7-4138-9912-49066CED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543550"/>
            <a:ext cx="1666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06 SEP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75CEFD4-3362-405B-84B1-2A8A131C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772150"/>
            <a:ext cx="1666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Quasi-cash advance fee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F672819-7581-447B-9115-044BAA2E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621030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Completed</a:t>
            </a:r>
          </a:p>
        </p:txBody>
      </p:sp>
      <p:sp>
        <p:nvSpPr>
          <p:cNvPr id="48" name="revenue-3-dot">
            <a:extLst xmlns:a="http://schemas.openxmlformats.org/drawingml/2006/main">
              <a:ext uri="{FF2B5EF4-FFF2-40B4-BE49-F238E27FC236}">
                <a16:creationId xmlns:a16="http://schemas.microsoft.com/office/drawing/2014/main" id="{5BC71157-05A5-452C-B297-1E4E5CAC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149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652D72D-E221-41B8-BF38-4FEAE9D7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543550"/>
            <a:ext cx="1666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23 OCT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94EE3F2-F7EE-420D-B662-D24C4046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772150"/>
            <a:ext cx="1666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ENR pricing change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9D8506C-E8B4-4932-B03C-737775C3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621030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Planned go-live</a:t>
            </a:r>
          </a:p>
        </p:txBody>
      </p:sp>
      <p:sp>
        <p:nvSpPr>
          <p:cNvPr id="52" name="revenue-4-dot">
            <a:extLst xmlns:a="http://schemas.openxmlformats.org/drawingml/2006/main">
              <a:ext uri="{FF2B5EF4-FFF2-40B4-BE49-F238E27FC236}">
                <a16:creationId xmlns:a16="http://schemas.microsoft.com/office/drawing/2014/main" id="{7B03CF33-6F28-46D1-974A-C55810F1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149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1BA77E6-E8B8-4463-98E7-796EBEE3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543550"/>
            <a:ext cx="1666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06 DEC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1801922-9E93-4F7B-A4B8-5EFA7C73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772150"/>
            <a:ext cx="1666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Emirati covered card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FFF8E3B-6332-4467-8C13-5F480B2A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21030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Planned go-live</a:t>
            </a:r>
          </a:p>
        </p:txBody>
      </p:sp>
      <p:sp>
        <p:nvSpPr>
          <p:cNvPr id="56" name="revenue-5-dot">
            <a:extLst xmlns:a="http://schemas.openxmlformats.org/drawingml/2006/main">
              <a:ext uri="{FF2B5EF4-FFF2-40B4-BE49-F238E27FC236}">
                <a16:creationId xmlns:a16="http://schemas.microsoft.com/office/drawing/2014/main" id="{8ECB037D-BE2D-4F51-9CC3-0A58DF64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3149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E252EBC-BC8E-4F65-859D-C17BF966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543550"/>
            <a:ext cx="952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15 JAN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9B4043A-0772-4505-9569-CA742651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77215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Credit Shield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6C40A70-670A-4CD9-BB5A-B500E63C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210300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2027 plan</a:t>
            </a:r>
          </a:p>
        </p:txBody>
      </p:sp>
    </p:spTree>
    <p:extLst>
      <p:ext uri="{BB962C8B-B14F-4D97-AF65-F5344CB8AC3E}">
        <p14:creationId xmlns:p14="http://schemas.microsoft.com/office/powerpoint/2010/main" val="1847411119"/>
      </p:ext>
    </p:extLst>
  </p:cSld>
  <mc:AlternateContent xmlns:mc="http://schemas.openxmlformats.org/markup-compatibility/2006">
    <mc:Choice xmlns:p159="http://schemas.microsoft.com/office/powerpoint/2015/09/main" Requires="p159">
      <p:transition spd="med" advClick="1">
        <p159:morph option="byObject"/>
      </p:transition>
    </mc:Choice>
    <mc:Fallback>
      <p:transition spd="med" advClick="1">
        <p:fade/>
      </p:transition>
    </mc:Fallback>
  </mc:AlternateContent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brand-edge">
            <a:extLst xmlns:a="http://schemas.openxmlformats.org/drawingml/2006/main">
              <a:ext uri="{FF2B5EF4-FFF2-40B4-BE49-F238E27FC236}">
                <a16:creationId xmlns:a16="http://schemas.microsoft.com/office/drawing/2014/main" id="{DE0FE861-8789-4F0F-98B5-8562E884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2" name="top-gold-rule">
            <a:extLst xmlns:a="http://schemas.openxmlformats.org/drawingml/2006/main">
              <a:ext uri="{FF2B5EF4-FFF2-40B4-BE49-F238E27FC236}">
                <a16:creationId xmlns:a16="http://schemas.microsoft.com/office/drawing/2014/main" id="{3BF81914-03A7-458D-9BE7-01C02C38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7583820F-F7E8-4F4F-9863-C0130D6E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CONTROL OUTCOME</a:t>
            </a:r>
          </a:p>
        </p:txBody>
      </p:sp>
      <p:sp>
        <p:nvSpPr>
          <p:cNvPr id="4" name="strategy-protect-tag">
            <a:extLst xmlns:a="http://schemas.openxmlformats.org/drawingml/2006/main">
              <a:ext uri="{FF2B5EF4-FFF2-40B4-BE49-F238E27FC236}">
                <a16:creationId xmlns:a16="http://schemas.microsoft.com/office/drawing/2014/main" id="{60FB2BFE-2A1E-4F3D-B09C-9213344E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1000"/>
            <a:ext cx="1428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10f9a7d3e64b33">
            <a:extLst>
              <a:ext uri="{96DAC541-7B7A-43D3-8B79-37D633B846F1}">
                <asvg:svgBlip xmlns:asvg="http://schemas.microsoft.com/office/drawing/2016/SVG/main" r:embed="R5fd298aefc0241a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29850" y="4572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6A076A-DE0A-4C11-AEA1-FB9A4D9D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66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PROTECT</a:t>
            </a:r>
          </a:p>
        </p:txBody>
      </p:sp>
      <p:sp>
        <p:nvSpPr>
          <p:cNvPr id="7" name="morph-headline">
            <a:extLst xmlns:a="http://schemas.openxmlformats.org/drawingml/2006/main">
              <a:ext uri="{FF2B5EF4-FFF2-40B4-BE49-F238E27FC236}">
                <a16:creationId xmlns:a16="http://schemas.microsoft.com/office/drawing/2014/main" id="{D634BD35-78F7-4FBF-A473-E74499C0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952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Six audit and regulatory deliveries entered production across Cards platforms</a:t>
            </a:r>
          </a:p>
        </p:txBody>
      </p:sp>
      <p:sp>
        <p:nvSpPr>
          <p:cNvPr id="8" name="reporting-period">
            <a:extLst xmlns:a="http://schemas.openxmlformats.org/drawingml/2006/main">
              <a:ext uri="{FF2B5EF4-FFF2-40B4-BE49-F238E27FC236}">
                <a16:creationId xmlns:a16="http://schemas.microsoft.com/office/drawing/2014/main" id="{69C8D1FD-9F8D-4543-A47A-B3A0B289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Completed control-related delivery from October 2025 to September 2026</a:t>
            </a:r>
          </a:p>
        </p:txBody>
      </p:sp>
      <p:sp>
        <p:nvSpPr>
          <p:cNvPr id="9" name="header-rule">
            <a:extLst xmlns:a="http://schemas.openxmlformats.org/drawingml/2006/main">
              <a:ext uri="{FF2B5EF4-FFF2-40B4-BE49-F238E27FC236}">
                <a16:creationId xmlns:a16="http://schemas.microsoft.com/office/drawing/2014/main" id="{C79E9B97-18A1-4ABB-8D38-FA7F2D94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1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A66D69D-6B43-47D8-AC61-91DB1F0B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Source: user-provided Cards portfolio screenshots. Data basis is identified in speaker notes.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4D1F78-0930-47D4-883F-51DAD259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12" name="control-number-block">
            <a:extLst xmlns:a="http://schemas.openxmlformats.org/drawingml/2006/main">
              <a:ext uri="{FF2B5EF4-FFF2-40B4-BE49-F238E27FC236}">
                <a16:creationId xmlns:a16="http://schemas.microsoft.com/office/drawing/2014/main" id="{51DBF782-CDDA-4C3B-A289-0EB6A086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333625" cy="3581400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</p:sp>
      <p:sp>
        <p:nvSpPr>
          <p:cNvPr id="13" name="morph-primary-number">
            <a:extLst xmlns:a="http://schemas.openxmlformats.org/drawingml/2006/main">
              <a:ext uri="{FF2B5EF4-FFF2-40B4-BE49-F238E27FC236}">
                <a16:creationId xmlns:a16="http://schemas.microsoft.com/office/drawing/2014/main" id="{ED8762F7-4BC0-4159-89F3-EC2092B6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1428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109"/>
          </a:bodyPr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690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BA6562-B0F3-4B06-8059-38F87723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766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 DELIVERIES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5282D9-D3AA-47AF-97D4-4B9E1D9E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05300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E9E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CE9E4"/>
                </a:solidFill>
                <a:latin typeface="Aptos"/>
                <a:ea typeface="Aptos"/>
                <a:cs typeface="Aptos"/>
              </a:rPr>
              <a:t>2 audit items</a:t>
            </a:r>
          </a:p>
          <a:p xmlns:a="http://schemas.openxmlformats.org/drawingml/2006/main">
            <a:pPr algn="l">
              <a:defRPr sz="1350" b="1">
                <a:solidFill>
                  <a:srgbClr val="DCE9E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CE9E4"/>
                </a:solidFill>
                <a:latin typeface="Aptos"/>
                <a:ea typeface="Aptos"/>
                <a:cs typeface="Aptos"/>
              </a:rPr>
              <a:t>4 regulatory items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0C596B-943F-446C-85C1-082756E0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91125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Production dates span 26 October 2025 to 3 September 2026.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51A91B-E914-42C1-B88E-4BEA5279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431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CONTROL DELIVERY TIMELINE</a:t>
            </a:r>
          </a:p>
        </p:txBody>
      </p:sp>
      <p:sp>
        <p:nvSpPr>
          <p:cNvPr id="18" name="morph-control-line">
            <a:extLst xmlns:a="http://schemas.openxmlformats.org/drawingml/2006/main">
              <a:ext uri="{FF2B5EF4-FFF2-40B4-BE49-F238E27FC236}">
                <a16:creationId xmlns:a16="http://schemas.microsoft.com/office/drawing/2014/main" id="{5D691636-F115-4311-8F43-06FD648F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48050"/>
            <a:ext cx="7620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19" name="control-0-dot">
            <a:extLst xmlns:a="http://schemas.openxmlformats.org/drawingml/2006/main">
              <a:ext uri="{FF2B5EF4-FFF2-40B4-BE49-F238E27FC236}">
                <a16:creationId xmlns:a16="http://schemas.microsoft.com/office/drawing/2014/main" id="{DD470A7E-5EC2-4012-8DDF-BFF6D575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718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213736-857D-44AA-96D3-19681753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00450"/>
            <a:ext cx="1381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26 OCT 25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D446F3-B31A-4C36-850F-B5903FE0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290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Jaywan mono-badge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4B35F3-94BC-4D39-A7FF-27D28C7B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267200"/>
            <a:ext cx="1381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Regulatory</a:t>
            </a:r>
          </a:p>
        </p:txBody>
      </p:sp>
      <p:sp>
        <p:nvSpPr>
          <p:cNvPr id="23" name="control-1-dot">
            <a:extLst xmlns:a="http://schemas.openxmlformats.org/drawingml/2006/main">
              <a:ext uri="{FF2B5EF4-FFF2-40B4-BE49-F238E27FC236}">
                <a16:creationId xmlns:a16="http://schemas.microsoft.com/office/drawing/2014/main" id="{B81E562A-ED9D-4D24-B01A-9CC1E3D1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718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1AF9A5-D3DB-472A-A122-1F4B53A5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00450"/>
            <a:ext cx="1285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25 JAN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4B14F5-1B7B-409E-A95E-5C3F3250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29050"/>
            <a:ext cx="1285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New fee code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9B2675-D638-473E-92D3-CAA57A7C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267200"/>
            <a:ext cx="1285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27" name="control-2-dot">
            <a:extLst xmlns:a="http://schemas.openxmlformats.org/drawingml/2006/main">
              <a:ext uri="{FF2B5EF4-FFF2-40B4-BE49-F238E27FC236}">
                <a16:creationId xmlns:a16="http://schemas.microsoft.com/office/drawing/2014/main" id="{29B5F032-F507-488A-8F87-7F1A9042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718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A583B5-3644-40E9-B356-E26E32FB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00450"/>
            <a:ext cx="1381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15 MAR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01C8F3-8F39-4AE5-BDB7-4AFEBF53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290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DPD statement fix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972E79-0309-4A48-A13B-DF89F0B9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67200"/>
            <a:ext cx="1381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Regulatory</a:t>
            </a:r>
          </a:p>
        </p:txBody>
      </p:sp>
      <p:sp>
        <p:nvSpPr>
          <p:cNvPr id="31" name="control-3-dot">
            <a:extLst xmlns:a="http://schemas.openxmlformats.org/drawingml/2006/main">
              <a:ext uri="{FF2B5EF4-FFF2-40B4-BE49-F238E27FC236}">
                <a16:creationId xmlns:a16="http://schemas.microsoft.com/office/drawing/2014/main" id="{66B6D81A-01F2-4893-94B6-F5238DE2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718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509CC6-1551-43A1-A042-D80EEB1F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00450"/>
            <a:ext cx="1285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17 MAY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4E1619-5C69-44C4-938A-0155F0DD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29050"/>
            <a:ext cx="1285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PIN counter reset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A7DE4F-5214-4A67-A313-857F8A0E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67200"/>
            <a:ext cx="1285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35" name="control-4-dot">
            <a:extLst xmlns:a="http://schemas.openxmlformats.org/drawingml/2006/main">
              <a:ext uri="{FF2B5EF4-FFF2-40B4-BE49-F238E27FC236}">
                <a16:creationId xmlns:a16="http://schemas.microsoft.com/office/drawing/2014/main" id="{8E3111F8-AC41-414F-AE66-AB1B5112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3718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383654-00DD-422C-838D-3DF08057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600450"/>
            <a:ext cx="1143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17 MAY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BB6E17-2720-4423-8A64-04974A0C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82905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LPC fees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3630E5-AF41-41CF-B5DC-376622DD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26720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Regulatory</a:t>
            </a:r>
          </a:p>
        </p:txBody>
      </p:sp>
      <p:sp>
        <p:nvSpPr>
          <p:cNvPr id="39" name="control-5-dot">
            <a:extLst xmlns:a="http://schemas.openxmlformats.org/drawingml/2006/main">
              <a:ext uri="{FF2B5EF4-FFF2-40B4-BE49-F238E27FC236}">
                <a16:creationId xmlns:a16="http://schemas.microsoft.com/office/drawing/2014/main" id="{DD3F121F-EC09-492B-A1B9-5D0F1D43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718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BD60BA6-DB80-4740-B6C7-053910D1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00450"/>
            <a:ext cx="1009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03 SEP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90E1BDD-0E8C-4D55-BCA5-F39AC2B6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829050"/>
            <a:ext cx="1009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Visa clearing exchange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74EB9B-CFC3-4837-B7E3-5CD52AB2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267200"/>
            <a:ext cx="1009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Regulatory</a:t>
            </a:r>
          </a:p>
        </p:txBody>
      </p:sp>
      <p:sp>
        <p:nvSpPr>
          <p:cNvPr id="43" name="control-foot">
            <a:extLst xmlns:a="http://schemas.openxmlformats.org/drawingml/2006/main">
              <a:ext uri="{FF2B5EF4-FFF2-40B4-BE49-F238E27FC236}">
                <a16:creationId xmlns:a16="http://schemas.microsoft.com/office/drawing/2014/main" id="{9C82B1BC-DFF1-49A1-AB2C-9BF0A199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124450"/>
            <a:ext cx="81343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FE5CF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6D5C48B-BC23-4E92-8116-812FC7F1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3054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CURRENT CONTROL PIPELINE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19921CD-BCB4-42BF-A9F8-29B6E2B6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55307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POS and ATM report changes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A17BF2A-9167-4650-9714-1550F1FF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53075"/>
            <a:ext cx="233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Fraud-prevention data elements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A51B860-C699-4BA9-AE1F-3C6D701A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553075"/>
            <a:ext cx="233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Loyalty database server upgrade</a:t>
            </a:r>
          </a:p>
        </p:txBody>
      </p:sp>
    </p:spTree>
    <p:extLst>
      <p:ext uri="{BB962C8B-B14F-4D97-AF65-F5344CB8AC3E}">
        <p14:creationId xmlns:p14="http://schemas.microsoft.com/office/powerpoint/2010/main" val="1316064795"/>
      </p:ext>
    </p:extLst>
  </p:cSld>
  <mc:AlternateContent xmlns:mc="http://schemas.openxmlformats.org/markup-compatibility/2006">
    <mc:Choice xmlns:p159="http://schemas.microsoft.com/office/powerpoint/2015/09/main" Requires="p159">
      <p:transition spd="med" advClick="1">
        <p159:morph option="byObject"/>
      </p:transition>
    </mc:Choice>
    <mc:Fallback>
      <p:transition spd="med" advClick="1">
        <p:fade/>
      </p:transition>
    </mc:Fallback>
  </mc:AlternateContent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brand-edge">
            <a:extLst xmlns:a="http://schemas.openxmlformats.org/drawingml/2006/main">
              <a:ext uri="{FF2B5EF4-FFF2-40B4-BE49-F238E27FC236}">
                <a16:creationId xmlns:a16="http://schemas.microsoft.com/office/drawing/2014/main" id="{22578C60-B563-470C-91EF-492C5BAC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2" name="top-gold-rule">
            <a:extLst xmlns:a="http://schemas.openxmlformats.org/drawingml/2006/main">
              <a:ext uri="{FF2B5EF4-FFF2-40B4-BE49-F238E27FC236}">
                <a16:creationId xmlns:a16="http://schemas.microsoft.com/office/drawing/2014/main" id="{01B334DE-207A-4F38-854D-2599079B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E45E8D04-6436-4B89-B9D3-D09C5720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DELIVERY ROADMAP</a:t>
            </a:r>
          </a:p>
        </p:txBody>
      </p:sp>
      <p:sp>
        <p:nvSpPr>
          <p:cNvPr id="4" name="strategy-build-tag">
            <a:extLst xmlns:a="http://schemas.openxmlformats.org/drawingml/2006/main">
              <a:ext uri="{FF2B5EF4-FFF2-40B4-BE49-F238E27FC236}">
                <a16:creationId xmlns:a16="http://schemas.microsoft.com/office/drawing/2014/main" id="{988EDB2F-BDE5-41BA-9C86-D417619D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1000"/>
            <a:ext cx="1428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d3c257670c4c9d">
            <a:extLst>
              <a:ext uri="{96DAC541-7B7A-43D3-8B79-37D633B846F1}">
                <asvg:svgBlip xmlns:asvg="http://schemas.microsoft.com/office/drawing/2016/SVG/main" r:embed="R8ac51d09ae9c407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29850" y="4572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DFC662-6C35-4F72-BE1E-CDFAC956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66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7" name="morph-headline">
            <a:extLst xmlns:a="http://schemas.openxmlformats.org/drawingml/2006/main">
              <a:ext uri="{FF2B5EF4-FFF2-40B4-BE49-F238E27FC236}">
                <a16:creationId xmlns:a16="http://schemas.microsoft.com/office/drawing/2014/main" id="{8931D8B7-48DC-47DA-9791-D4235098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952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Seven planned go-lives concentrate in October, December and January</a:t>
            </a:r>
          </a:p>
        </p:txBody>
      </p:sp>
      <p:sp>
        <p:nvSpPr>
          <p:cNvPr id="8" name="reporting-period">
            <a:extLst xmlns:a="http://schemas.openxmlformats.org/drawingml/2006/main">
              <a:ext uri="{FF2B5EF4-FFF2-40B4-BE49-F238E27FC236}">
                <a16:creationId xmlns:a16="http://schemas.microsoft.com/office/drawing/2014/main" id="{618696D1-59A3-4414-A040-109CFFDA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Named forward releases through 15 January 2027</a:t>
            </a:r>
          </a:p>
        </p:txBody>
      </p:sp>
      <p:sp>
        <p:nvSpPr>
          <p:cNvPr id="9" name="header-rule">
            <a:extLst xmlns:a="http://schemas.openxmlformats.org/drawingml/2006/main">
              <a:ext uri="{FF2B5EF4-FFF2-40B4-BE49-F238E27FC236}">
                <a16:creationId xmlns:a16="http://schemas.microsoft.com/office/drawing/2014/main" id="{3D4623C2-5E69-47F8-8CB9-6F6DCFA4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1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DFCF0648-78CD-4791-9A8E-17132C55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Source: user-provided Cards portfolio screenshots. Data basis is identified in speaker notes.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987715-C1A2-4902-8A08-6A06ADAA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2" name="morph-roadmap-line">
            <a:extLst xmlns:a="http://schemas.openxmlformats.org/drawingml/2006/main">
              <a:ext uri="{FF2B5EF4-FFF2-40B4-BE49-F238E27FC236}">
                <a16:creationId xmlns:a16="http://schemas.microsoft.com/office/drawing/2014/main" id="{9D23AA06-88D7-429F-9349-93BC3E83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0400"/>
            <a:ext cx="1009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13" name="roadmap-month-0">
            <a:extLst xmlns:a="http://schemas.openxmlformats.org/drawingml/2006/main">
              <a:ext uri="{FF2B5EF4-FFF2-40B4-BE49-F238E27FC236}">
                <a16:creationId xmlns:a16="http://schemas.microsoft.com/office/drawing/2014/main" id="{14BCFD39-34DB-4106-BC7E-5FA3D758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EFC9E2-638F-43AB-B169-B9E59970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249CFC-15D2-4FC8-A8AA-59CF8480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OCTOBER 2026</a:t>
            </a:r>
          </a:p>
        </p:txBody>
      </p:sp>
      <p:sp>
        <p:nvSpPr>
          <p:cNvPr id="16" name="roadmap-month-1">
            <a:extLst xmlns:a="http://schemas.openxmlformats.org/drawingml/2006/main">
              <a:ext uri="{FF2B5EF4-FFF2-40B4-BE49-F238E27FC236}">
                <a16:creationId xmlns:a16="http://schemas.microsoft.com/office/drawing/2014/main" id="{7B8BB370-3788-4818-BD8F-E4D19ED4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28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082DA1-FEAE-4B89-B9B9-C8FA0617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051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466875-47EB-4206-983C-7A0E6C53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71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DECEMBER 2026</a:t>
            </a:r>
          </a:p>
        </p:txBody>
      </p:sp>
      <p:sp>
        <p:nvSpPr>
          <p:cNvPr id="19" name="roadmap-month-2">
            <a:extLst xmlns:a="http://schemas.openxmlformats.org/drawingml/2006/main">
              <a:ext uri="{FF2B5EF4-FFF2-40B4-BE49-F238E27FC236}">
                <a16:creationId xmlns:a16="http://schemas.microsoft.com/office/drawing/2014/main" id="{17E6E66F-71CA-4FA2-A0B4-2DD66D63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28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504E06-7668-4D70-92A8-E41E8F03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051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2DB7FC-FBFF-4E60-A8AA-A6055E29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JANUARY 2027</a:t>
            </a:r>
          </a:p>
        </p:txBody>
      </p:sp>
      <p:sp>
        <p:nvSpPr>
          <p:cNvPr id="22" name="roadmap-card-0">
            <a:extLst xmlns:a="http://schemas.openxmlformats.org/drawingml/2006/main">
              <a:ext uri="{FF2B5EF4-FFF2-40B4-BE49-F238E27FC236}">
                <a16:creationId xmlns:a16="http://schemas.microsoft.com/office/drawing/2014/main" id="{A9825BD7-3D7D-4C93-B6F7-F53CF9A4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3000375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327425-A2CC-49AD-B8C0-4D1FC98E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385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10 OCT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0805EE-510E-4F26-AA20-75D086B5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838575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DMGT-2162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34455A-9047-410A-9E38-C9254004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57650"/>
            <a:ext cx="2714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Central Bank STFP file automation</a:t>
            </a:r>
          </a:p>
        </p:txBody>
      </p:sp>
      <p:sp>
        <p:nvSpPr>
          <p:cNvPr id="26" name="roadmap-card-1">
            <a:extLst xmlns:a="http://schemas.openxmlformats.org/drawingml/2006/main">
              <a:ext uri="{FF2B5EF4-FFF2-40B4-BE49-F238E27FC236}">
                <a16:creationId xmlns:a16="http://schemas.microsoft.com/office/drawing/2014/main" id="{78165D65-9491-4BE7-9D35-4A560C52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14850"/>
            <a:ext cx="3000375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E031A7-0F39-4EF6-A9A6-B3921DEB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386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18 OCT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D6CAAB-0DCA-4027-9E70-F98650AE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638675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DMGT-1266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2B468B-DF49-47B1-932F-6218ABF2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57750"/>
            <a:ext cx="2714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Covered Card statement SMS</a:t>
            </a:r>
          </a:p>
        </p:txBody>
      </p:sp>
      <p:sp>
        <p:nvSpPr>
          <p:cNvPr id="30" name="roadmap-card-2">
            <a:extLst xmlns:a="http://schemas.openxmlformats.org/drawingml/2006/main">
              <a:ext uri="{FF2B5EF4-FFF2-40B4-BE49-F238E27FC236}">
                <a16:creationId xmlns:a16="http://schemas.microsoft.com/office/drawing/2014/main" id="{14C1DAC9-1581-490C-8D23-E0F1C45C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14950"/>
            <a:ext cx="3000375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3550B5-8CB9-4891-B5FF-975E2BF1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387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23 OCT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FF8290-542E-4199-BEBA-81595966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438775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DMGT-1329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9A626D-216F-4C11-9ABB-A3F7EB75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57850"/>
            <a:ext cx="2714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ENR pricing change</a:t>
            </a:r>
          </a:p>
        </p:txBody>
      </p:sp>
      <p:sp>
        <p:nvSpPr>
          <p:cNvPr id="34" name="roadmap-card-3">
            <a:extLst xmlns:a="http://schemas.openxmlformats.org/drawingml/2006/main">
              <a:ext uri="{FF2B5EF4-FFF2-40B4-BE49-F238E27FC236}">
                <a16:creationId xmlns:a16="http://schemas.microsoft.com/office/drawing/2014/main" id="{BF51DC11-BAD8-4990-9B8D-15C35457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14750"/>
            <a:ext cx="3000375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493800-1D6B-4F96-9981-C98A2748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385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06 DEC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F8169A-BB28-402E-B999-B28184E8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838575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DMGT-1680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D59699-34AD-40AD-B743-E0BAAFBA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57650"/>
            <a:ext cx="2714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New Emirati Covered Card</a:t>
            </a:r>
          </a:p>
        </p:txBody>
      </p:sp>
      <p:sp>
        <p:nvSpPr>
          <p:cNvPr id="38" name="roadmap-card-4">
            <a:extLst xmlns:a="http://schemas.openxmlformats.org/drawingml/2006/main">
              <a:ext uri="{FF2B5EF4-FFF2-40B4-BE49-F238E27FC236}">
                <a16:creationId xmlns:a16="http://schemas.microsoft.com/office/drawing/2014/main" id="{379E6C2E-B7EA-4F87-BFBB-8E661FDA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14850"/>
            <a:ext cx="3000375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8CC194-2C47-4972-AC17-CAA0D47A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386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11 DEC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98C88DA-DE5F-47E8-82BF-673F5A76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638675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DMGT-1305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23D08A2-D346-448D-B95D-8EE44484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57750"/>
            <a:ext cx="2714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Jaywan Visa co-badged debit card</a:t>
            </a:r>
          </a:p>
        </p:txBody>
      </p:sp>
      <p:sp>
        <p:nvSpPr>
          <p:cNvPr id="42" name="roadmap-card-5">
            <a:extLst xmlns:a="http://schemas.openxmlformats.org/drawingml/2006/main">
              <a:ext uri="{FF2B5EF4-FFF2-40B4-BE49-F238E27FC236}">
                <a16:creationId xmlns:a16="http://schemas.microsoft.com/office/drawing/2014/main" id="{1829E551-D0BE-4EB2-BFE4-F72380A2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314950"/>
            <a:ext cx="3000375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035C94D-2710-443A-88BA-F286DAD1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4387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11 DEC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C518ACF-9E3C-49F9-84CC-BB70BC61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438775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DMGT-1863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8FD0A6E-B2BD-49FF-A2C0-A09D1917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657850"/>
            <a:ext cx="2714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Jaywan standards uplift V1.8</a:t>
            </a:r>
          </a:p>
        </p:txBody>
      </p:sp>
      <p:sp>
        <p:nvSpPr>
          <p:cNvPr id="46" name="roadmap-card-6">
            <a:extLst xmlns:a="http://schemas.openxmlformats.org/drawingml/2006/main">
              <a:ext uri="{FF2B5EF4-FFF2-40B4-BE49-F238E27FC236}">
                <a16:creationId xmlns:a16="http://schemas.microsoft.com/office/drawing/2014/main" id="{993B7AAA-032E-4344-985B-6B4CC84E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14800"/>
            <a:ext cx="3000375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0AFD5FD-C84B-4BFF-86FD-9D0DB200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38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15 JAN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4F3D1FC-DFEB-4CDF-81F8-33968539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238625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DMGT-672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FA4D73D-ACB7-40B3-AA32-6782750A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57700"/>
            <a:ext cx="2714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Credit Shield enrolment</a:t>
            </a:r>
          </a:p>
        </p:txBody>
      </p:sp>
    </p:spTree>
    <p:extLst>
      <p:ext uri="{BB962C8B-B14F-4D97-AF65-F5344CB8AC3E}">
        <p14:creationId xmlns:p14="http://schemas.microsoft.com/office/powerpoint/2010/main" val="11444451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brand-edge">
            <a:extLst xmlns:a="http://schemas.openxmlformats.org/drawingml/2006/main">
              <a:ext uri="{FF2B5EF4-FFF2-40B4-BE49-F238E27FC236}">
                <a16:creationId xmlns:a16="http://schemas.microsoft.com/office/drawing/2014/main" id="{ABB1F367-C153-42F5-A403-BCC52776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2" name="top-gold-rule">
            <a:extLst xmlns:a="http://schemas.openxmlformats.org/drawingml/2006/main">
              <a:ext uri="{FF2B5EF4-FFF2-40B4-BE49-F238E27FC236}">
                <a16:creationId xmlns:a16="http://schemas.microsoft.com/office/drawing/2014/main" id="{320780C4-8767-41D6-8E90-1163F301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727EF4BE-C0B7-4D67-ADF3-E5254666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EXECUTIVE SYNTHESIS</a:t>
            </a:r>
          </a:p>
        </p:txBody>
      </p:sp>
      <p:sp>
        <p:nvSpPr>
          <p:cNvPr id="4" name="strategy-flourish-tag">
            <a:extLst xmlns:a="http://schemas.openxmlformats.org/drawingml/2006/main">
              <a:ext uri="{FF2B5EF4-FFF2-40B4-BE49-F238E27FC236}">
                <a16:creationId xmlns:a16="http://schemas.microsoft.com/office/drawing/2014/main" id="{B306595A-227F-4671-8C42-0C06F067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1000"/>
            <a:ext cx="1428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cc073321a84567">
            <a:extLst>
              <a:ext uri="{96DAC541-7B7A-43D3-8B79-37D633B846F1}">
                <asvg:svgBlip xmlns:asvg="http://schemas.microsoft.com/office/drawing/2016/SVG/main" r:embed="R25af5e3d9ca94ba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29850" y="4572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C41D4-628D-4B50-A34D-1E1628B1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66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FLOURISH</a:t>
            </a:r>
          </a:p>
        </p:txBody>
      </p:sp>
      <p:sp>
        <p:nvSpPr>
          <p:cNvPr id="7" name="morph-headline">
            <a:extLst xmlns:a="http://schemas.openxmlformats.org/drawingml/2006/main">
              <a:ext uri="{FF2B5EF4-FFF2-40B4-BE49-F238E27FC236}">
                <a16:creationId xmlns:a16="http://schemas.microsoft.com/office/drawing/2014/main" id="{3D0675D0-F556-4FBA-8B2A-7B772868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952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Delivery stands at 25 completed, 24 active baseline and seven under discussion</a:t>
            </a:r>
          </a:p>
        </p:txBody>
      </p:sp>
      <p:sp>
        <p:nvSpPr>
          <p:cNvPr id="8" name="reporting-period">
            <a:extLst xmlns:a="http://schemas.openxmlformats.org/drawingml/2006/main">
              <a:ext uri="{FF2B5EF4-FFF2-40B4-BE49-F238E27FC236}">
                <a16:creationId xmlns:a16="http://schemas.microsoft.com/office/drawing/2014/main" id="{6F3608A2-AD59-4F69-A160-A26E24A3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Current portfolio position and confirmed forward go-live plan</a:t>
            </a:r>
          </a:p>
        </p:txBody>
      </p:sp>
      <p:sp>
        <p:nvSpPr>
          <p:cNvPr id="9" name="header-rule">
            <a:extLst xmlns:a="http://schemas.openxmlformats.org/drawingml/2006/main">
              <a:ext uri="{FF2B5EF4-FFF2-40B4-BE49-F238E27FC236}">
                <a16:creationId xmlns:a16="http://schemas.microsoft.com/office/drawing/2014/main" id="{1579F9CD-5529-4912-B851-0B2CD3A7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1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AA41692C-DC28-439C-9912-1F924A5D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Source: user-provided Cards portfolio screenshots. Data basis is identified in speaker notes.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C48003-D5B8-4119-BF87-4FA8E45F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2" name="morph-kpi-band">
            <a:extLst xmlns:a="http://schemas.openxmlformats.org/drawingml/2006/main">
              <a:ext uri="{FF2B5EF4-FFF2-40B4-BE49-F238E27FC236}">
                <a16:creationId xmlns:a16="http://schemas.microsoft.com/office/drawing/2014/main" id="{750C696D-A932-4895-8E12-1271C653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394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13" name="sum-div-1">
            <a:extLst xmlns:a="http://schemas.openxmlformats.org/drawingml/2006/main">
              <a:ext uri="{FF2B5EF4-FFF2-40B4-BE49-F238E27FC236}">
                <a16:creationId xmlns:a16="http://schemas.microsoft.com/office/drawing/2014/main" id="{6A436D62-72A8-45FD-B277-FD211324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71750"/>
            <a:ext cx="19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14" name="sum-div-2">
            <a:extLst xmlns:a="http://schemas.openxmlformats.org/drawingml/2006/main">
              <a:ext uri="{FF2B5EF4-FFF2-40B4-BE49-F238E27FC236}">
                <a16:creationId xmlns:a16="http://schemas.microsoft.com/office/drawing/2014/main" id="{8CE0389B-B174-4824-93CA-08CF1466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71750"/>
            <a:ext cx="19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15" name="sum-div-3">
            <a:extLst xmlns:a="http://schemas.openxmlformats.org/drawingml/2006/main">
              <a:ext uri="{FF2B5EF4-FFF2-40B4-BE49-F238E27FC236}">
                <a16:creationId xmlns:a16="http://schemas.microsoft.com/office/drawing/2014/main" id="{44FD8080-8CF4-4A1F-92D3-9983557D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71750"/>
            <a:ext cx="19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96B2ED-456B-4B9B-B0F9-DD776E8A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56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FBEB7F-0C28-4B8D-9AFF-44B846D5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099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TOTAL DEMANDS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F5CD9F-226F-4EA3-841B-188A1EB8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7662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2025 and 2026 origin</a:t>
            </a:r>
          </a:p>
        </p:txBody>
      </p:sp>
      <p:sp>
        <p:nvSpPr>
          <p:cNvPr id="19" name="morph-primary-number">
            <a:extLst xmlns:a="http://schemas.openxmlformats.org/drawingml/2006/main">
              <a:ext uri="{FF2B5EF4-FFF2-40B4-BE49-F238E27FC236}">
                <a16:creationId xmlns:a16="http://schemas.microsoft.com/office/drawing/2014/main" id="{FC2A41C0-5F2D-4917-8CD6-24A2865D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9080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249A06-870D-4C7B-AAE9-4A9AC7C4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099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COMPLETED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D0A1F3-63A3-46CC-A5FF-D8661717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7662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45% of portfolio</a:t>
            </a:r>
          </a:p>
        </p:txBody>
      </p:sp>
      <p:sp>
        <p:nvSpPr>
          <p:cNvPr id="22" name="morph-active-number">
            <a:extLst xmlns:a="http://schemas.openxmlformats.org/drawingml/2006/main">
              <a:ext uri="{FF2B5EF4-FFF2-40B4-BE49-F238E27FC236}">
                <a16:creationId xmlns:a16="http://schemas.microsoft.com/office/drawing/2014/main" id="{6A201B42-01CB-4E98-8B56-78FC9EEC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9080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4AEF80-7682-4188-B394-692B703F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099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ACTIVE BASELINE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729E51-F8F1-4912-9347-1BF67DB1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7662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15 B1 + 9 B0</a:t>
            </a:r>
          </a:p>
        </p:txBody>
      </p:sp>
      <p:sp>
        <p:nvSpPr>
          <p:cNvPr id="25" name="morph-discussion-number">
            <a:extLst xmlns:a="http://schemas.openxmlformats.org/drawingml/2006/main">
              <a:ext uri="{FF2B5EF4-FFF2-40B4-BE49-F238E27FC236}">
                <a16:creationId xmlns:a16="http://schemas.microsoft.com/office/drawing/2014/main" id="{9457B789-62D5-4A92-A54D-6FAA13F9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9080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35768A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35768A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950AE1-543D-4AC8-9670-FD3E4124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099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UNDER DISCUSSION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7CF72C-83CC-420F-B1BB-7109B04C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7662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Technology review</a:t>
            </a:r>
          </a:p>
        </p:txBody>
      </p:sp>
      <p:sp>
        <p:nvSpPr>
          <p:cNvPr id="28" name="summary-runway">
            <a:extLst xmlns:a="http://schemas.openxmlformats.org/drawingml/2006/main">
              <a:ext uri="{FF2B5EF4-FFF2-40B4-BE49-F238E27FC236}">
                <a16:creationId xmlns:a16="http://schemas.microsoft.com/office/drawing/2014/main" id="{39EAE3E7-7CFD-424B-A4EA-FB86D971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8394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DF39FB-CD37-40D5-81E8-D7EC28A1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577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FE5C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FE5CF"/>
                </a:solidFill>
                <a:latin typeface="Aptos"/>
                <a:ea typeface="Aptos"/>
                <a:cs typeface="Aptos"/>
              </a:rPr>
              <a:t>DELIVERED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D9541D-E334-4396-BDFF-C56CCDE4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24400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124501-A4D1-4AF1-902E-EBEE041A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673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completed go-lives</a:t>
            </a:r>
          </a:p>
        </p:txBody>
      </p:sp>
      <p:sp>
        <p:nvSpPr>
          <p:cNvPr id="32" name="summary-div-1">
            <a:extLst xmlns:a="http://schemas.openxmlformats.org/drawingml/2006/main">
              <a:ext uri="{FF2B5EF4-FFF2-40B4-BE49-F238E27FC236}">
                <a16:creationId xmlns:a16="http://schemas.microsoft.com/office/drawing/2014/main" id="{DC12C509-BE25-45E4-8A9B-1CD5C11C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76750"/>
            <a:ext cx="190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B63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2988B9-889F-4DCB-81E6-CAC7014A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457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FE5C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FE5CF"/>
                </a:solidFill>
                <a:latin typeface="Aptos"/>
                <a:ea typeface="Aptos"/>
                <a:cs typeface="Aptos"/>
              </a:rPr>
              <a:t>CURRENT DELIVERY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913A12-0107-4D6E-A20B-49074618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724400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923B24-54E9-417C-870F-A2B3049E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2673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demands in Baseline 0 or 1</a:t>
            </a:r>
          </a:p>
        </p:txBody>
      </p:sp>
      <p:sp>
        <p:nvSpPr>
          <p:cNvPr id="36" name="summary-div-2">
            <a:extLst xmlns:a="http://schemas.openxmlformats.org/drawingml/2006/main">
              <a:ext uri="{FF2B5EF4-FFF2-40B4-BE49-F238E27FC236}">
                <a16:creationId xmlns:a16="http://schemas.microsoft.com/office/drawing/2014/main" id="{0C1A734C-0934-44B7-B1E2-AA6928F9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76750"/>
            <a:ext cx="190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B63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826AB1-7343-47A5-B230-9DA67A2B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577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FE5C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FE5CF"/>
                </a:solidFill>
                <a:latin typeface="Aptos"/>
                <a:ea typeface="Aptos"/>
                <a:cs typeface="Aptos"/>
              </a:rPr>
              <a:t>FORWARD PLAN</a:t>
            </a:r>
          </a:p>
        </p:txBody>
      </p:sp>
      <p:sp>
        <p:nvSpPr>
          <p:cNvPr id="38" name="morph-golives-number">
            <a:extLst xmlns:a="http://schemas.openxmlformats.org/drawingml/2006/main">
              <a:ext uri="{FF2B5EF4-FFF2-40B4-BE49-F238E27FC236}">
                <a16:creationId xmlns:a16="http://schemas.microsoft.com/office/drawing/2014/main" id="{41BABE92-3AB7-413D-8992-271B386F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2440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3010B2A-0EB9-4F04-B5E5-5A350AC1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2673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planned go-lives</a:t>
            </a:r>
          </a:p>
        </p:txBody>
      </p:sp>
      <p:sp>
        <p:nvSpPr>
          <p:cNvPr id="40" name="summary-div-3">
            <a:extLst xmlns:a="http://schemas.openxmlformats.org/drawingml/2006/main">
              <a:ext uri="{FF2B5EF4-FFF2-40B4-BE49-F238E27FC236}">
                <a16:creationId xmlns:a16="http://schemas.microsoft.com/office/drawing/2014/main" id="{53F21A86-7B67-45AB-909E-49C134A0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76750"/>
            <a:ext cx="190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B63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F76B48-C92B-4431-9B58-AAB6376E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577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FE5C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FE5CF"/>
                </a:solidFill>
                <a:latin typeface="Aptos"/>
                <a:ea typeface="Aptos"/>
                <a:cs typeface="Aptos"/>
              </a:rPr>
              <a:t>LAST CONFIRMED DATE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1D3C636-BCDD-480A-A3D4-98417CF8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819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15 JAN 2027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23DB3C-B20A-43CD-AB77-58E9754E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2673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Credit Shield enrolment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61DD791-4B29-4DA5-AA46-F6BA1376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The portfolio closes with 25 completed demands and a seven-item go-live plan through 15 January 2027.</a:t>
            </a:r>
          </a:p>
        </p:txBody>
      </p:sp>
    </p:spTree>
    <p:extLst>
      <p:ext uri="{BB962C8B-B14F-4D97-AF65-F5344CB8AC3E}">
        <p14:creationId xmlns:p14="http://schemas.microsoft.com/office/powerpoint/2010/main" val="1858749640"/>
      </p:ext>
    </p:extLst>
  </p:cSld>
  <mc:AlternateContent xmlns:mc="http://schemas.openxmlformats.org/markup-compatibility/2006">
    <mc:Choice xmlns:p159="http://schemas.microsoft.com/office/powerpoint/2015/09/main" Requires="p159">
      <p:transition spd="med" advClick="1">
        <p159:morph option="byObject"/>
      </p:transition>
    </mc:Choice>
    <mc:Fallback>
      <p:transition spd="med" advClick="1"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2026-09-23T07:53:53.2290000Z</dcterms:created>
  <dcterms:modified xsi:type="dcterms:W3CDTF">2026-09-23T07:53:53.2290000Z</dcterms:modified>
</coreProperties>
</file>