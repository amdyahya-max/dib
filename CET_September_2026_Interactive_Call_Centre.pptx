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225cfb88fb4ac4" /><Relationship Type="http://schemas.openxmlformats.org/officeDocument/2006/relationships/extended-properties" Target="/docProps/app.xml" Id="R89a602a8369e4bce" /><Relationship Type="http://schemas.openxmlformats.org/officeDocument/2006/relationships/officeDocument" Target="/ppt/presentation.xml" Id="R4e43dfa3cfe64dbb" /></Relationships>
</file>

<file path=ppt/presentation.xml><?xml version="1.0" encoding="utf-8"?>
<p:presentation xmlns:p="http://schemas.openxmlformats.org/presentationml/2006/main">
  <p:sldMasterIdLst>
    <p:sldMasterId xmlns:r="http://schemas.openxmlformats.org/officeDocument/2006/relationships" id="2147483648" r:id="Rd0e8ae5a0a484ebb"/>
  </p:sldMasterIdLst>
  <p:notesMasterIdLst>
    <p:notesMasterId xmlns:r="http://schemas.openxmlformats.org/officeDocument/2006/relationships" r:id="R607693c5124c420a"/>
  </p:notesMasterIdLst>
  <p:sldIdLst>
    <p:sldId xmlns:r="http://schemas.openxmlformats.org/officeDocument/2006/relationships" id="256" r:id="R21b81568e2f44e1e"/>
    <p:sldId xmlns:r="http://schemas.openxmlformats.org/officeDocument/2006/relationships" id="257" r:id="R0945372eca1544b2"/>
    <p:sldId xmlns:r="http://schemas.openxmlformats.org/officeDocument/2006/relationships" id="258" r:id="Rf5b3f3961e504c23"/>
    <p:sldId xmlns:r="http://schemas.openxmlformats.org/officeDocument/2006/relationships" id="259" r:id="R9972c572a5d44cbe"/>
    <p:sldId xmlns:r="http://schemas.openxmlformats.org/officeDocument/2006/relationships" id="260" r:id="R089943889b124de8"/>
    <p:sldId xmlns:r="http://schemas.openxmlformats.org/officeDocument/2006/relationships" id="261" r:id="R790d193eb5e049fe"/>
    <p:sldId xmlns:r="http://schemas.openxmlformats.org/officeDocument/2006/relationships" id="262" r:id="R8494fb9da92c455e"/>
    <p:sldId xmlns:r="http://schemas.openxmlformats.org/officeDocument/2006/relationships" id="263" r:id="R8990bb7e40af474c"/>
    <p:sldId xmlns:r="http://schemas.openxmlformats.org/officeDocument/2006/relationships" id="264" r:id="R23e04b89fa7a4f91"/>
    <p:sldId xmlns:r="http://schemas.openxmlformats.org/officeDocument/2006/relationships" id="265" r:id="R648c36005c6043e5"/>
    <p:sldId xmlns:r="http://schemas.openxmlformats.org/officeDocument/2006/relationships" id="266" r:id="Rc2f2579d700a41b0"/>
    <p:sldId xmlns:r="http://schemas.openxmlformats.org/officeDocument/2006/relationships" id="267" r:id="R3a43b59997f3411c"/>
    <p:sldId xmlns:r="http://schemas.openxmlformats.org/officeDocument/2006/relationships" id="268" r:id="Rab87ff686dcf45c2"/>
    <p:sldId xmlns:r="http://schemas.openxmlformats.org/officeDocument/2006/relationships" id="269" r:id="Rd096c6f3131e4059"/>
    <p:sldId xmlns:r="http://schemas.openxmlformats.org/officeDocument/2006/relationships" id="270" r:id="R61fcfe6445524f5f"/>
    <p:sldId xmlns:r="http://schemas.openxmlformats.org/officeDocument/2006/relationships" id="271" r:id="R7b50df803d17482a"/>
    <p:sldId xmlns:r="http://schemas.openxmlformats.org/officeDocument/2006/relationships" id="272" r:id="Re22f41a8506f41d0"/>
    <p:sldId xmlns:r="http://schemas.openxmlformats.org/officeDocument/2006/relationships" id="273" r:id="Rb8608865926e4f74"/>
    <p:sldId xmlns:r="http://schemas.openxmlformats.org/officeDocument/2006/relationships" id="274" r:id="R6e57b89b69694eaf"/>
    <p:sldId xmlns:r="http://schemas.openxmlformats.org/officeDocument/2006/relationships" id="275" r:id="Rc17d687b53824d8f"/>
    <p:sldId xmlns:r="http://schemas.openxmlformats.org/officeDocument/2006/relationships" id="276" r:id="R18067a69afd443a9"/>
    <p:sldId xmlns:r="http://schemas.openxmlformats.org/officeDocument/2006/relationships" id="277" r:id="R8f2c9109e9454e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2629d8218546a4" /><Relationship Type="http://schemas.openxmlformats.org/officeDocument/2006/relationships/slideMaster" Target="/ppt/slideMasters/slideMaster1.xml" Id="Rd0e8ae5a0a484ebb" /><Relationship Type="http://schemas.openxmlformats.org/officeDocument/2006/relationships/notesMaster" Target="/ppt/notesMasters/notesMaster1.xml" Id="R607693c5124c420a" /><Relationship Type="http://schemas.openxmlformats.org/officeDocument/2006/relationships/presProps" Target="/ppt/presProps.xml" Id="R2a433604de7f458c" /><Relationship Type="http://schemas.openxmlformats.org/officeDocument/2006/relationships/tableStyles" Target="/ppt/tableStyles.xml" Id="R0552a53021d74e75" /><Relationship Type="http://schemas.openxmlformats.org/officeDocument/2006/relationships/slide" Target="/ppt/slides/slide1.xml" Id="R21b81568e2f44e1e" /><Relationship Type="http://schemas.openxmlformats.org/officeDocument/2006/relationships/slide" Target="/ppt/slides/slide2.xml" Id="R0945372eca1544b2" /><Relationship Type="http://schemas.openxmlformats.org/officeDocument/2006/relationships/slide" Target="/ppt/slides/slide3.xml" Id="Rf5b3f3961e504c23" /><Relationship Type="http://schemas.openxmlformats.org/officeDocument/2006/relationships/slide" Target="/ppt/slides/slide4.xml" Id="R9972c572a5d44cbe" /><Relationship Type="http://schemas.openxmlformats.org/officeDocument/2006/relationships/slide" Target="/ppt/slides/slide5.xml" Id="R089943889b124de8" /><Relationship Type="http://schemas.openxmlformats.org/officeDocument/2006/relationships/slide" Target="/ppt/slides/slide6.xml" Id="R790d193eb5e049fe" /><Relationship Type="http://schemas.openxmlformats.org/officeDocument/2006/relationships/slide" Target="/ppt/slides/slide7.xml" Id="R8494fb9da92c455e" /><Relationship Type="http://schemas.openxmlformats.org/officeDocument/2006/relationships/slide" Target="/ppt/slides/slide8.xml" Id="R8990bb7e40af474c" /><Relationship Type="http://schemas.openxmlformats.org/officeDocument/2006/relationships/slide" Target="/ppt/slides/slide9.xml" Id="R23e04b89fa7a4f91" /><Relationship Type="http://schemas.openxmlformats.org/officeDocument/2006/relationships/slide" Target="/ppt/slides/slide10.xml" Id="R648c36005c6043e5" /><Relationship Type="http://schemas.openxmlformats.org/officeDocument/2006/relationships/slide" Target="/ppt/slides/slide11.xml" Id="Rc2f2579d700a41b0" /><Relationship Type="http://schemas.openxmlformats.org/officeDocument/2006/relationships/slide" Target="/ppt/slides/slide12.xml" Id="R3a43b59997f3411c" /><Relationship Type="http://schemas.openxmlformats.org/officeDocument/2006/relationships/slide" Target="/ppt/slides/slide13.xml" Id="Rab87ff686dcf45c2" /><Relationship Type="http://schemas.openxmlformats.org/officeDocument/2006/relationships/slide" Target="/ppt/slides/slide14.xml" Id="Rd096c6f3131e4059" /><Relationship Type="http://schemas.openxmlformats.org/officeDocument/2006/relationships/slide" Target="/ppt/slides/slide15.xml" Id="R61fcfe6445524f5f" /><Relationship Type="http://schemas.openxmlformats.org/officeDocument/2006/relationships/slide" Target="/ppt/slides/slide16.xml" Id="R7b50df803d17482a" /><Relationship Type="http://schemas.openxmlformats.org/officeDocument/2006/relationships/slide" Target="/ppt/slides/slide17.xml" Id="Re22f41a8506f41d0" /><Relationship Type="http://schemas.openxmlformats.org/officeDocument/2006/relationships/slide" Target="/ppt/slides/slide18.xml" Id="Rb8608865926e4f74" /><Relationship Type="http://schemas.openxmlformats.org/officeDocument/2006/relationships/slide" Target="/ppt/slides/slide19.xml" Id="R6e57b89b69694eaf" /><Relationship Type="http://schemas.openxmlformats.org/officeDocument/2006/relationships/slide" Target="/ppt/slides/slide20.xml" Id="Rc17d687b53824d8f" /><Relationship Type="http://schemas.openxmlformats.org/officeDocument/2006/relationships/slide" Target="/ppt/slides/slide21.xml" Id="R18067a69afd443a9" /><Relationship Type="http://schemas.openxmlformats.org/officeDocument/2006/relationships/slide" Target="/ppt/slides/slide22.xml" Id="R8f2c9109e9454e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f7eb86fd5443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52fa0f8ea2426a" /><Relationship Type="http://schemas.openxmlformats.org/officeDocument/2006/relationships/notesMaster" Target="/ppt/notesMasters/notesMaster1.xml" Id="R77502a5ccf9b42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afe6fe3db940c9" /><Relationship Type="http://schemas.openxmlformats.org/officeDocument/2006/relationships/notesMaster" Target="/ppt/notesMasters/notesMaster1.xml" Id="Rf130d1aaaca045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8f08c9d1874c62" /><Relationship Type="http://schemas.openxmlformats.org/officeDocument/2006/relationships/notesMaster" Target="/ppt/notesMasters/notesMaster1.xml" Id="Rcc77ace9b5fb43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e148df803b4367" /><Relationship Type="http://schemas.openxmlformats.org/officeDocument/2006/relationships/notesMaster" Target="/ppt/notesMasters/notesMaster1.xml" Id="R008a5ff1ba1a48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ebbdbae0cf484e" /><Relationship Type="http://schemas.openxmlformats.org/officeDocument/2006/relationships/notesMaster" Target="/ppt/notesMasters/notesMaster1.xml" Id="Rc71a927bcb3447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8e4e6d4b364180" /><Relationship Type="http://schemas.openxmlformats.org/officeDocument/2006/relationships/notesMaster" Target="/ppt/notesMasters/notesMaster1.xml" Id="R36db366d4be940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6c06b70bd847cd" /><Relationship Type="http://schemas.openxmlformats.org/officeDocument/2006/relationships/notesMaster" Target="/ppt/notesMasters/notesMaster1.xml" Id="Rca147f5414bb4d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971ec73f694b5c" /><Relationship Type="http://schemas.openxmlformats.org/officeDocument/2006/relationships/notesMaster" Target="/ppt/notesMasters/notesMaster1.xml" Id="R199acd0a1f6c4fd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7c4dbfeb0764411" /><Relationship Type="http://schemas.openxmlformats.org/officeDocument/2006/relationships/notesMaster" Target="/ppt/notesMasters/notesMaster1.xml" Id="Rc697f83f77b04c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a79b7d4b7c4bb3" /><Relationship Type="http://schemas.openxmlformats.org/officeDocument/2006/relationships/notesMaster" Target="/ppt/notesMasters/notesMaster1.xml" Id="R2672e27b9dd24f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0d0680190554d23" /><Relationship Type="http://schemas.openxmlformats.org/officeDocument/2006/relationships/notesMaster" Target="/ppt/notesMasters/notesMaster1.xml" Id="Rc07352e5288b4d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e626eb130d4f65" /><Relationship Type="http://schemas.openxmlformats.org/officeDocument/2006/relationships/notesMaster" Target="/ppt/notesMasters/notesMaster1.xml" Id="Rf1a4afac369e4e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01bd169c354341" /><Relationship Type="http://schemas.openxmlformats.org/officeDocument/2006/relationships/notesMaster" Target="/ppt/notesMasters/notesMaster1.xml" Id="Rd9ceaad5c0af40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73b36c37164309" /><Relationship Type="http://schemas.openxmlformats.org/officeDocument/2006/relationships/notesMaster" Target="/ppt/notesMasters/notesMaster1.xml" Id="Rfa89a75137fe49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d0df772cb94f69" /><Relationship Type="http://schemas.openxmlformats.org/officeDocument/2006/relationships/notesMaster" Target="/ppt/notesMasters/notesMaster1.xml" Id="R6142c58f74f344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3364bbece7c4bf2" /><Relationship Type="http://schemas.openxmlformats.org/officeDocument/2006/relationships/notesMaster" Target="/ppt/notesMasters/notesMaster1.xml" Id="R29dca585108646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dd56a023474fec" /><Relationship Type="http://schemas.openxmlformats.org/officeDocument/2006/relationships/notesMaster" Target="/ppt/notesMasters/notesMaster1.xml" Id="Rebf65588d3954f2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598e509ac3458b" /><Relationship Type="http://schemas.openxmlformats.org/officeDocument/2006/relationships/notesMaster" Target="/ppt/notesMasters/notesMaster1.xml" Id="Rbb61e4e4477b45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a0cf75450f4974" /><Relationship Type="http://schemas.openxmlformats.org/officeDocument/2006/relationships/notesMaster" Target="/ppt/notesMasters/notesMaster1.xml" Id="R68cf74a7f01945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0a17d15e5ee4dbb" /><Relationship Type="http://schemas.openxmlformats.org/officeDocument/2006/relationships/notesMaster" Target="/ppt/notesMasters/notesMaster1.xml" Id="R99ac5c5130f241a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4c08ffbb7284b30" /><Relationship Type="http://schemas.openxmlformats.org/officeDocument/2006/relationships/notesMaster" Target="/ppt/notesMasters/notesMaster1.xml" Id="Rb638b4eb59c847d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89c1ee13cfa4bbe" /><Relationship Type="http://schemas.openxmlformats.org/officeDocument/2006/relationships/notesMaster" Target="/ppt/notesMasters/notesMaster1.xml" Id="Reb8efd3833b940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¹Completed / total demand is a portfolio snapshot share, not a monthly delivery rate. Totals are arithmetic sums of reported platform portfolios, without demand-ID deduplication. 98/285=34.4%. Other states: 24 new demand, 4 baseline 0, 24 dropped. Volumes remain separate because currency and cross-platform overlap are unspecified. Source health labels are Green for all platforms. Management priorities are analytical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Planned outages/deployments: IB 5, MB 10. Planned downtime: IB 2h50m, MB 3h15m. Unplanned outages: MB 1. The source reports ~48 hours of intermittent degradation and successful mitigation, not 48 hours of total downtime. Infrastructure: MB CPU 7.97%, memory 35.64%, storage 66.10%. IB CPU 5.01%, memory 52.87%, storage 50.17%. DR available yes, tested, environment readiness validated and recovery procedures confirmed. Source reports healthy infrastructure and monitored reliability. SME share 9.16/16.99=53.9%.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Total demands 122. Exact September volume 3,242,716,155.49. Rounded component volumes sum to 3.24B. PF share 2.33/3.24=71.9%. Planned outages 0, unplanned outages 0, planned downtime 0 hours, unplanned downtime 0. Reliability unchanged and stable operational posture. CPU &lt;10%, memory &lt;60%, capacity healthy within operating thresholds. No DR available, upgrade planned 2027. Source target is sustain monthly processing above 3.0 billion, not a forecast. Product abbreviations preserved from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Exact September volume 1,244,030,273. Source monthly values are rounded to two decimal billions. August-to-September change (1.24/1.39-1)=-10.8%, calculated from rounded figures. July peak 1.57B, March low 0.84B. 0 planned outages, 1 unplanned outage, 0 planned downtime, 12 minutes unplanned downtime. Application server dxb01-vwp-lmsa2 stopped responding and returned Server Too Busy. Secondary server took load and prevented total environment outage. No critical incidents, one major incident, reliability monitored. CPU &lt;40%, memory &lt;25%, storage &lt;70%. Source availability 100% needs reconciliation with 12 minutes downtime.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These are selected named initiatives, not a complete list of the 98 delivered/completed items or 67 in progress. The source spells Emirati Card. LL/LG and CIF expansion not assumed. IB/MB source: Removal of Skywards Cards from Mobile Banking; 3x3 Drop 4 – Release 1 &amp; Release 2; TAB-52 – Tablet AOF Audit Requirement. FinnOne source: Field Amendment for LL and LG flags; Multiple Rate Changes service request; Supplementary Card Mobile No. Email ID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Next-review evidence: incident closure, customer impact and effectiveness of MB controls; approved pickup plan for IB/MB 27, FinnOne 29 and HFLMS 12; recovery ownership, test evidence and 2027 milestones; release dates, blockers and acceptance decisions. Demand dots each represent one reported item. Data interpretation: source labels all platforms Green. HFLMS reports 100% availability alongside 12 minutes unplanned downtime. IB/MB reports 99.9% alongside ~48 hours intermittent MB degradation. These metrics may use different denominators or service scopes. Reconcile definitions without substituting an invented availability rate. No prior-month demand snapshot, demand aging, capacity allocation, costs, benefits or dates supplied. Delivery share is a portfolio composition measure and cannot establish throughput growth, ROI or delivery efficiency. Volumes are business transaction volumes, not revenue. Summing portfolios assumes no cross-platform duplicate demand IDs and needs validation before an enterprise unique-demand total. Recommendations do not imply approved owners or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AF executive summary attachment IMG_212267D2-D987-4FA7-B317-11571926A8EA.jpeg. Four solution-finalization items reported but only three named. Adding Guarantor has DMGT without number in source. Source reports 18 stage-counted initiatives (4+4+2+2+2+4), not independently deduplicated. DMGT-2583 is listed under development and planned 30 September 2026. DMGT-2480 and DMGT-2384 planned 4 October 2026. Dates are plans, not confirmed releases.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AF roadmap screenshots, September 2025–February 2026 and March–August 2026. These are historical milestones, not September 2026 delivery counts. Names retained from the previously reviewed AF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PF executive summary IMG_607B2DBC-EFD7-4E54-BD48-3BCC7F4B5C7E.jpeg. Six solution-design demand IDs DMGT-83,49,1336,2557,1708,1021; one development DMGT-91, one UAT DMGT-106, one business sign-off DMGT-56, three backlog and eight open-point tracking entries. Do not add all counts to platform demand totals. DMGT-91 appears in both AF and PF source descriptions, requiring cross-squad scope confirmation before unique-demand reporting. DMGT-56 planned 4 October. PF milestone source also lists it under Oct 2026 achievements, but actual delivery is not confirmed by the September executive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PF milestone and September executive summary attachments. Historical milestone names and IDs are retained. Only supplied months appear. DMGT-56 is shown under October 2026 in the milestone source, but the September summary gives a planned 4 October go-live. Delivery remains unconfirmed. Roadmap lanes group milestones by period and are not scaled to elapsed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overview IMG_29BCD58C-7D3B-40A6-96C0-6264C3E77CD5.jpeg and CRM demand-list screenshots IMG_FB9C6BDA-7B1E-4979-9011-8122DC64DB60.jpeg and IMG_EFAC1DEB-A9A4-485C-A801-7EEC6B6B5692.jpeg. Overview 35=15+16+4. Demand list agrees on entry counts: 15 Live,16 In Progress,4 Under discussion. Do not add CRM total to existing platform totals without cross-platform ID deduplication. Source reports team adequacy but supplies no utilization or allocation evidence. Counts are September reporting snapshots, not validated monthly completions. No availability percentage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overview. Weekly minor incidents 28+31+34+34=127. Week4 versus Week1 is +6 incidents or +21.4%, a within-month comparison only. CIF sum 1016+11+1+214=1242. Retail share81.8%. Workflow categories may overlap and must not be summed as unique customers or transactions. Lead and opportunity counts do not establish a conversion rate or revenue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demand list, Live entries. Titles condensed for readability. DMGT-1262 here explicitly denotes electronic-signature re-push in the supplied list, not cloud migration. DMGT-22 source: Millionaire ESG Saving Account, digital channel IB/MB/CRM. Supporting deliveries may also appear in other platform portfolios and must not be added without deduplication.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demand-list screenshots. 9 CRM-owned in-progress entries and7 supporting. DMGT-1272 (also written DMGT 1272) appears twice with distinct titles: Input Validations - Channels/platforms (Individuals) - Five Fields, and Engagement Platform Drop2 (unica). Keep35 row-based pipeline entries until duplication is resolved. Source DMGT-1980 title CRM Staging Environment Control &amp; RTB Readiness. Source DMGT-1406 CPR Personal Data Consent Management analyzing and fixing implementation gaps/issues.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latest CRM overview cloud migration target Q3 2027, planning status. Demand list DMGT-710 under discussion. Preparation tasks and acceptance evidence are management recommendations, not source-approved milestones. All four under-discussion entries preserved. Source also assigns DMGT-1262 to a live electronic-signature item; this deck uses current attachment identifiers and does not reuse earlier memory associations.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September IVR completion increased by0.46 percentage points versus August, while call abandonment increased4.31pp. Jan–Sep overall rates69%completion31%agent transfer92%answered8%abandoned are separate source summary measures. Source September dashboard rounds to68%containment32%transfer88%answered12%abandoned. Navigation is implemented with slide hyperlinks and no entrance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September call count446482 comes from September dashboard because the monthly trend label is obscured. Monthly values sum3916195 and average435132.8; supplied summary average435117 differs slightly. Retain reported avg and flag reconciliation rather than overwrite it. Jan–Sep source3.92M rounded. Percent charts use percentage numbers70.03 not0.7003. No causal attribution supplied for abandonment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Source81withinSLA0exceed does not state treatment of3openincidents. Avoid inferring all open incidents resolved.78/81=96.3%closed3/81=3.7%open, dashboard rounds96/4. No P1 or P2, P3 73,P4 8. IVR agent transfer and agent-call totals need not share scope, so do not force reconciliation or sum call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All17activity counts transcribed from September dashboard. No unique-customer denominator supplied. Source spelling Card Last5Trans retained as Last5cardtransactions. Do not label transaction totals as revenue or uniquecalls.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All30dailyvalues transcribed. Weekendlows exist but no staffing schedule is supplied, so causes are not asserted. Peak492min72end432. 100%overallusage is source-reported and undefined, cannot infer saturation, concurrent licensingcapacity or shortage. Management recommendation: confirm denominator and peak capacity buffer.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Own demand AE Lead CT.250 platformenrichment suspended Apr26 date is reported not proof of delivered status;2171 platformenrichment closure Sep26;443 resiliency closure Jul26;1837 resiliency reviewQ42027;2147 enrichment reviewTBD. Sourceclosure statuses are not re-labelled as new September completions.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AllnumericIDs useDMGTprefix. No closuredate supplied for43. Demand types from source:1692improvedcontrols,22serviceenhancements,1707improvedcontrols,993platformenrichment,43improvedcontrols,1368serviceenhancements,1326improvedcontrols,714serviceenhancements,1680serviceenhancements,1305platformenrichment,1802serviceenhancements,1785serviceenhancements,1248serviceenhancements. Supporting IDs may duplicate other platform sections. Do not sum as enterpriseunique demands.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75fc2d903648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80def3fedc46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90dfaa9f1447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eb8a38563f45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03663ed255400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3a40cbc50643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C4535D5-172D-4FF7-A5C7-68379A3C7FA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C09F470-37BF-4113-8DF2-96A97BCB7D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3A895F04-0A78-4241-B15E-5D7F64FFFBC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5270CFC6-B540-4663-90A7-550394E0397B}"/>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F59EA26-4A0D-4627-B815-0D82635029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ADBDCDD-DAFE-4D68-8440-2B95EC5743F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8B5979E-39A8-41F6-8E5B-4CA898A2E8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31F5368-E619-434F-92AB-8E664B90FB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FF1BB18-DF70-4325-87B3-F92C1FE9B52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0DDEF7E-4FBF-4845-8595-CA48426815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EA0CE34-80B8-4EFB-AC10-50649C786E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0C5F0F6-19D2-4E78-856D-2C1F8A302C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FC17CE5-2FB5-40A6-8B98-13C49D39FD6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A7E638C-12D1-478D-AD91-B8A0443A93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7A5641E-B35E-40D8-8684-5CD5B2764F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5eb7f4cd5147cc" /><Relationship Type="http://schemas.openxmlformats.org/officeDocument/2006/relationships/slideLayout" Target="/ppt/slideLayouts/slideLayout1.xml" Id="R922302e72bee41bd" /><Relationship Type="http://schemas.openxmlformats.org/officeDocument/2006/relationships/slideLayout" Target="/ppt/slideLayouts/slideLayout2.xml" Id="R086ec0bef3a64f0d" /><Relationship Type="http://schemas.openxmlformats.org/officeDocument/2006/relationships/slideLayout" Target="/ppt/slideLayouts/slideLayout3.xml" Id="R99d842af8a6b4949" /><Relationship Type="http://schemas.openxmlformats.org/officeDocument/2006/relationships/slideLayout" Target="/ppt/slideLayouts/slideLayout4.xml" Id="R460fb279c6fa4bb3" /><Relationship Type="http://schemas.openxmlformats.org/officeDocument/2006/relationships/slideLayout" Target="/ppt/slideLayouts/slideLayout5.xml" Id="R78f2cb3fde9b479a" /><Relationship Type="http://schemas.openxmlformats.org/officeDocument/2006/relationships/slideLayout" Target="/ppt/slideLayouts/slideLayout6.xml" Id="R5d0bec6b4f8d42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2302e72bee41bd"/>
    <p:sldLayoutId xmlns:r="http://schemas.openxmlformats.org/officeDocument/2006/relationships" id="2147483650" r:id="R086ec0bef3a64f0d"/>
    <p:sldLayoutId xmlns:r="http://schemas.openxmlformats.org/officeDocument/2006/relationships" id="2147483651" r:id="R99d842af8a6b4949"/>
    <p:sldLayoutId xmlns:r="http://schemas.openxmlformats.org/officeDocument/2006/relationships" id="2147483652" r:id="R460fb279c6fa4bb3"/>
    <p:sldLayoutId xmlns:r="http://schemas.openxmlformats.org/officeDocument/2006/relationships" id="2147483653" r:id="R78f2cb3fde9b479a"/>
    <p:sldLayoutId xmlns:r="http://schemas.openxmlformats.org/officeDocument/2006/relationships" id="2147483654" r:id="R5d0bec6b4f8d42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ba4124ba774175" /><Relationship Type="http://schemas.openxmlformats.org/officeDocument/2006/relationships/notesSlide" Target="/ppt/notesSlides/notesSlide1.xml" Id="R2dc8096e81b946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3b635bd52f949b1" /><Relationship Type="http://schemas.openxmlformats.org/officeDocument/2006/relationships/chart" Target="/ppt/slides/charts/chart1.xml" Id="R3fef0cfbf2574de5" /><Relationship Type="http://schemas.openxmlformats.org/officeDocument/2006/relationships/notesSlide" Target="/ppt/notesSlides/notesSlide2.xml" Id="Raaf70282765b44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de304db622848c5" /><Relationship Type="http://schemas.openxmlformats.org/officeDocument/2006/relationships/chart" Target="/ppt/slides/charts/chart2.xml" Id="R829fa3e08f8b450b" /><Relationship Type="http://schemas.openxmlformats.org/officeDocument/2006/relationships/notesSlide" Target="/ppt/notesSlides/notesSlide3.xml" Id="Ra47801168e7544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c419f2f98a4299" /><Relationship Type="http://schemas.openxmlformats.org/officeDocument/2006/relationships/chart" Target="/ppt/slides/charts/chart3.xml" Id="Re620034ca12046eb" /><Relationship Type="http://schemas.openxmlformats.org/officeDocument/2006/relationships/notesSlide" Target="/ppt/notesSlides/notesSlide4.xml" Id="Re3648a735cae46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8147d3bc93f4d2b" /><Relationship Type="http://schemas.openxmlformats.org/officeDocument/2006/relationships/notesSlide" Target="/ppt/notesSlides/notesSlide5.xml" Id="R998073931fc7404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d826af5ea0f4cd6" /><Relationship Type="http://schemas.openxmlformats.org/officeDocument/2006/relationships/notesSlide" Target="/ppt/notesSlides/notesSlide6.xml" Id="R802709a7b0044c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e01bf801954caf" /><Relationship Type="http://schemas.openxmlformats.org/officeDocument/2006/relationships/notesSlide" Target="/ppt/notesSlides/notesSlide7.xml" Id="R6e9c3515ec8644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7f33c340c144cb4" /><Relationship Type="http://schemas.openxmlformats.org/officeDocument/2006/relationships/notesSlide" Target="/ppt/notesSlides/notesSlide8.xml" Id="Rc7dbad1f04d14c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2268ddc6ef4930" /><Relationship Type="http://schemas.openxmlformats.org/officeDocument/2006/relationships/notesSlide" Target="/ppt/notesSlides/notesSlide9.xml" Id="R0a4f847010964b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3623e4b0964c62" /><Relationship Type="http://schemas.openxmlformats.org/officeDocument/2006/relationships/notesSlide" Target="/ppt/notesSlides/notesSlide10.xml" Id="R38e17c710caa4b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066d000fb441a2" /><Relationship Type="http://schemas.openxmlformats.org/officeDocument/2006/relationships/notesSlide" Target="/ppt/notesSlides/notesSlide11.xml" Id="Rca3aab0147a740a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377fb329274f1e" /><Relationship Type="http://schemas.openxmlformats.org/officeDocument/2006/relationships/chart" Target="/ppt/slides/charts/chart4.xml" Id="Rbe6e89f3d9ef4949" /><Relationship Type="http://schemas.openxmlformats.org/officeDocument/2006/relationships/chart" Target="/ppt/slides/charts/chart5.xml" Id="R353edb2a98eb4c8c" /><Relationship Type="http://schemas.openxmlformats.org/officeDocument/2006/relationships/notesSlide" Target="/ppt/notesSlides/notesSlide12.xml" Id="Rd16e94cd024341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f2d1cfa5ce1417e" /><Relationship Type="http://schemas.openxmlformats.org/officeDocument/2006/relationships/notesSlide" Target="/ppt/notesSlides/notesSlide13.xml" Id="R4bff176432e548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772a7a1529b408c" /><Relationship Type="http://schemas.openxmlformats.org/officeDocument/2006/relationships/notesSlide" Target="/ppt/notesSlides/notesSlide14.xml" Id="Rd7e6004c4b254a5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13f0f34a46f4c43" /><Relationship Type="http://schemas.openxmlformats.org/officeDocument/2006/relationships/notesSlide" Target="/ppt/notesSlides/notesSlide15.xml" Id="Rbd0590dbc9d34f52" /></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e387a042af904e82"/><Relationship Type="http://schemas.openxmlformats.org/officeDocument/2006/relationships/notesSlide" Target="/ppt/notesSlides/notesSlide16.xml" Id="R37fe458351844814"/><Relationship Id="rIdCC17" Type="http://schemas.openxmlformats.org/officeDocument/2006/relationships/slide" Target="slide17.xml"/><Relationship Id="rIdCC18" Type="http://schemas.openxmlformats.org/officeDocument/2006/relationships/slide" Target="slide18.xml"/><Relationship Id="rIdCC19" Type="http://schemas.openxmlformats.org/officeDocument/2006/relationships/slide" Target="slide19.xml"/><Relationship Id="rIdCC20" Type="http://schemas.openxmlformats.org/officeDocument/2006/relationships/slide" Target="slide20.xml"/><Relationship Id="rIdCC21" Type="http://schemas.openxmlformats.org/officeDocument/2006/relationships/slide" Target="slide21.xml"/><Relationship Id="rIdCC22" Type="http://schemas.openxmlformats.org/officeDocument/2006/relationships/slide" Target="slide22.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ab072a13bc944ef8"/><Relationship Type="http://schemas.openxmlformats.org/officeDocument/2006/relationships/chart" Target="/ppt/slides/charts/chart6.xml" Id="R8d0a90f97b2d447e"/><Relationship Type="http://schemas.openxmlformats.org/officeDocument/2006/relationships/chart" Target="/ppt/slides/charts/chart7.xml" Id="R4764396d6bb74f10"/><Relationship Type="http://schemas.openxmlformats.org/officeDocument/2006/relationships/chart" Target="/ppt/slides/charts/chart8.xml" Id="R3d2abfe492564888"/><Relationship Type="http://schemas.openxmlformats.org/officeDocument/2006/relationships/notesSlide" Target="/ppt/notesSlides/notesSlide17.xml" Id="Rc4b6f6e23ae14d60"/><Relationship Id="rIdCC16" Type="http://schemas.openxmlformats.org/officeDocument/2006/relationships/slide" Target="slide16.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097a3c749a414ab3"/><Relationship Type="http://schemas.openxmlformats.org/officeDocument/2006/relationships/notesSlide" Target="/ppt/notesSlides/notesSlide18.xml" Id="R6d4823cb4e1840ac"/><Relationship Id="rIdCC16" Type="http://schemas.openxmlformats.org/officeDocument/2006/relationships/slide" Target="slide16.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b40a942288e64d91"/><Relationship Type="http://schemas.openxmlformats.org/officeDocument/2006/relationships/chart" Target="/ppt/slides/charts/chart9.xml" Id="R520877699e9d4bc9"/><Relationship Type="http://schemas.openxmlformats.org/officeDocument/2006/relationships/chart" Target="/ppt/slides/charts/chart10.xml" Id="Rfe88d664bdd2423c"/><Relationship Type="http://schemas.openxmlformats.org/officeDocument/2006/relationships/notesSlide" Target="/ppt/notesSlides/notesSlide19.xml" Id="Rcf7949ae55a24f85"/><Relationship Id="rIdCC16" Type="http://schemas.openxmlformats.org/officeDocument/2006/relationships/slide" Target="slide16.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fb16816c0c3a4ce8"/><Relationship Type="http://schemas.openxmlformats.org/officeDocument/2006/relationships/chart" Target="/ppt/slides/charts/chart11.xml" Id="R23813a3a315c4d0e"/><Relationship Type="http://schemas.openxmlformats.org/officeDocument/2006/relationships/notesSlide" Target="/ppt/notesSlides/notesSlide20.xml" Id="R987e1dfb4a294385"/><Relationship Id="rIdCC16" Type="http://schemas.openxmlformats.org/officeDocument/2006/relationships/slide" Target="slide16.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bcc9a59f55cb4250"/><Relationship Type="http://schemas.openxmlformats.org/officeDocument/2006/relationships/notesSlide" Target="/ppt/notesSlides/notesSlide21.xml" Id="Racd82823ffae4c99"/><Relationship Id="rIdCC16" Type="http://schemas.openxmlformats.org/officeDocument/2006/relationships/slide" Target="slide16.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83518b445af4452b"/><Relationship Type="http://schemas.openxmlformats.org/officeDocument/2006/relationships/notesSlide" Target="/ppt/notesSlides/notesSlide22.xml" Id="Ra78f52b497aa4dec"/><Relationship Id="rIdCC16" Type="http://schemas.openxmlformats.org/officeDocument/2006/relationships/slide" Target="slide16.xml"/></Relationships>
</file>

<file path=ppt/slides/charts/chart1.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cat>
            <c:strLit>
              <c:ptCount val="2"/>
              <c:pt idx="0">
                <c:v>Retail</c:v>
              </c:pt>
              <c:pt idx="1">
                <c:v>SME</c:v>
              </c:pt>
            </c:strLit>
          </c:cat>
          <c:val>
            <c:numLit>
              <c:formatCode>0.00"B"</c:formatCode>
              <c:ptCount val="2"/>
              <c:pt idx="0">
                <c:v>7.83</c:v>
              </c:pt>
              <c:pt idx="1">
                <c:v>9.16</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cat>
            <c:strLit>
              <c:ptCount val="5"/>
              <c:pt idx="0">
                <c:v>AF</c:v>
              </c:pt>
              <c:pt idx="1">
                <c:v>AF-EV</c:v>
              </c:pt>
              <c:pt idx="2">
                <c:v>CC</c:v>
              </c:pt>
              <c:pt idx="3">
                <c:v>PF</c:v>
              </c:pt>
              <c:pt idx="4">
                <c:v>SBF</c:v>
              </c:pt>
            </c:strLit>
          </c:cat>
          <c:val>
            <c:numLit>
              <c:formatCode>0.00"B"</c:formatCode>
              <c:ptCount val="5"/>
              <c:pt idx="0">
                <c:v>0.63</c:v>
              </c:pt>
              <c:pt idx="1">
                <c:v>0.02</c:v>
              </c:pt>
              <c:pt idx="2">
                <c:v>0.19</c:v>
              </c:pt>
              <c:pt idx="3">
                <c:v>2.33</c:v>
              </c:pt>
              <c:pt idx="4">
                <c:v>0.07</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dPt>
            <c:idx val="7"/>
            <c:invertIfNegative val="0"/>
            <c:spPr>
              <a:solidFill xmlns:a="http://schemas.openxmlformats.org/drawingml/2006/main">
                <a:srgbClr val="9167D3"/>
              </a:solidFill>
            </c:spPr>
          </c:dPt>
          <c:dPt>
            <c:idx val="8"/>
            <c:invertIfNegative val="0"/>
            <c:spPr>
              <a:solidFill xmlns:a="http://schemas.openxmlformats.org/drawingml/2006/main">
                <a:srgbClr val="EDA82D"/>
              </a:solidFill>
            </c:spPr>
          </c:dPt>
          <c:cat>
            <c:strLit>
              <c:ptCount val="9"/>
              <c:pt idx="0">
                <c:v>Jan</c:v>
              </c:pt>
              <c:pt idx="1">
                <c:v>Feb</c:v>
              </c:pt>
              <c:pt idx="2">
                <c:v>Mar</c:v>
              </c:pt>
              <c:pt idx="3">
                <c:v>Apr</c:v>
              </c:pt>
              <c:pt idx="4">
                <c:v>May</c:v>
              </c:pt>
              <c:pt idx="5">
                <c:v>Jun</c:v>
              </c:pt>
              <c:pt idx="6">
                <c:v>Jul</c:v>
              </c:pt>
              <c:pt idx="7">
                <c:v>Aug</c:v>
              </c:pt>
              <c:pt idx="8">
                <c:v>Sep</c:v>
              </c:pt>
            </c:strLit>
          </c:cat>
          <c:val>
            <c:numLit>
              <c:formatCode>0.00"B"</c:formatCode>
              <c:ptCount val="9"/>
              <c:pt idx="0">
                <c:v>1.08</c:v>
              </c:pt>
              <c:pt idx="1">
                <c:v>1.2</c:v>
              </c:pt>
              <c:pt idx="2">
                <c:v>0.84</c:v>
              </c:pt>
              <c:pt idx="3">
                <c:v>1.1</c:v>
              </c:pt>
              <c:pt idx="4">
                <c:v>0.97</c:v>
              </c:pt>
              <c:pt idx="5">
                <c:v>1.01</c:v>
              </c:pt>
              <c:pt idx="6">
                <c:v>1.57</c:v>
              </c:pt>
              <c:pt idx="7">
                <c:v>1.39</c:v>
              </c:pt>
              <c:pt idx="8">
                <c:v>1.24</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cat>
            <c:strLit>
              <c:ptCount val="4"/>
              <c:pt idx="0">
                <c:v>Week 1</c:v>
              </c:pt>
              <c:pt idx="1">
                <c:v>Week 2</c:v>
              </c:pt>
              <c:pt idx="2">
                <c:v>Week 3</c:v>
              </c:pt>
              <c:pt idx="3">
                <c:v>Week 4</c:v>
              </c:pt>
            </c:strLit>
          </c:cat>
          <c:val>
            <c:numLit>
              <c:formatCode>0</c:formatCode>
              <c:ptCount val="4"/>
              <c:pt idx="0">
                <c:v>28</c:v>
              </c:pt>
              <c:pt idx="1">
                <c:v>31</c:v>
              </c:pt>
              <c:pt idx="2">
                <c:v>34</c:v>
              </c:pt>
              <c:pt idx="3">
                <c:v>34</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cat>
            <c:strLit>
              <c:ptCount val="5"/>
              <c:pt idx="0">
                <c:v>Cases done</c:v>
              </c:pt>
              <c:pt idx="1">
                <c:v>CRAT</c:v>
              </c:pt>
              <c:pt idx="2">
                <c:v>GBO</c:v>
              </c:pt>
              <c:pt idx="3">
                <c:v>Leads</c:v>
              </c:pt>
              <c:pt idx="4">
                <c:v>Opportunities</c:v>
              </c:pt>
            </c:strLit>
          </c:cat>
          <c:val>
            <c:numLit>
              <c:formatCode>#,##0</c:formatCode>
              <c:ptCount val="5"/>
              <c:pt idx="0">
                <c:v>5544</c:v>
              </c:pt>
              <c:pt idx="1">
                <c:v>8382</c:v>
              </c:pt>
              <c:pt idx="2">
                <c:v>10028</c:v>
              </c:pt>
              <c:pt idx="3">
                <c:v>51525</c:v>
              </c:pt>
              <c:pt idx="4">
                <c:v>45465</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6.xml><?xml version="1.0" encoding="utf-8"?>
<c:chartSpace xmlns:c="http://schemas.openxmlformats.org/drawingml/2006/chart">
  <c:lang val="en-US"/>
  <c:chart>
    <c:plotArea>
      <c:lineChart>
        <c:grouping val="standard"/>
        <c:ser>
          <c:idx val="0"/>
          <c:order val="0"/>
          <c:tx>
            <c:v>Completion</c:v>
          </c:tx>
          <c:spPr>
            <a:ln xmlns:a="http://schemas.openxmlformats.org/drawingml/2006/main" w="28575">
              <a:solidFill>
                <a:srgbClr val="087F68"/>
              </a:solidFill>
            </a:ln>
          </c:spPr>
          <c:marker>
            <c:symbol val="circle"/>
            <c:size val="5"/>
          </c:marker>
          <c:cat>
            <c:strLit>
              <c:ptCount val="9"/>
              <c:pt idx="0">
                <c:v>Jan</c:v>
              </c:pt>
              <c:pt idx="1">
                <c:v>Feb</c:v>
              </c:pt>
              <c:pt idx="2">
                <c:v>Mar</c:v>
              </c:pt>
              <c:pt idx="3">
                <c:v>Apr</c:v>
              </c:pt>
              <c:pt idx="4">
                <c:v>May</c:v>
              </c:pt>
              <c:pt idx="5">
                <c:v>Jun</c:v>
              </c:pt>
              <c:pt idx="6">
                <c:v>Jul</c:v>
              </c:pt>
              <c:pt idx="7">
                <c:v>Aug</c:v>
              </c:pt>
              <c:pt idx="8">
                <c:v>Sep</c:v>
              </c:pt>
            </c:strLit>
          </c:cat>
          <c:val>
            <c:numLit>
              <c:formatCode>0.00"%"</c:formatCode>
              <c:ptCount val="9"/>
              <c:pt idx="0">
                <c:v>70.03</c:v>
              </c:pt>
              <c:pt idx="1">
                <c:v>70.39</c:v>
              </c:pt>
              <c:pt idx="2">
                <c:v>69.7</c:v>
              </c:pt>
              <c:pt idx="3">
                <c:v>70.64</c:v>
              </c:pt>
              <c:pt idx="4">
                <c:v>70.08</c:v>
              </c:pt>
              <c:pt idx="5">
                <c:v>68.95</c:v>
              </c:pt>
              <c:pt idx="6">
                <c:v>67.83</c:v>
              </c:pt>
              <c:pt idx="7">
                <c:v>67.99</c:v>
              </c:pt>
              <c:pt idx="8">
                <c:v>68.45</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72"/>
          <c:min val="65"/>
        </c:scaling>
        <c:delete val="0"/>
        <c:axPos val="l"/>
        <c:majorGridlines>
          <c:spPr>
            <a:ln xmlns:a="http://schemas.openxmlformats.org/drawingml/2006/main" w="9525">
              <a:solidFill>
                <a:srgbClr val="E3EBEF"/>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7.xml><?xml version="1.0" encoding="utf-8"?>
<c:chartSpace xmlns:c="http://schemas.openxmlformats.org/drawingml/2006/chart">
  <c:lang val="en-US"/>
  <c:chart>
    <c:plotArea>
      <c:lineChart>
        <c:grouping val="standard"/>
        <c:ser>
          <c:idx val="0"/>
          <c:order val="0"/>
          <c:tx>
            <c:v>Abandonment</c:v>
          </c:tx>
          <c:spPr>
            <a:ln xmlns:a="http://schemas.openxmlformats.org/drawingml/2006/main" w="28575">
              <a:solidFill>
                <a:srgbClr val="D35373"/>
              </a:solidFill>
            </a:ln>
          </c:spPr>
          <c:marker>
            <c:symbol val="circle"/>
            <c:size val="5"/>
          </c:marker>
          <c:cat>
            <c:strLit>
              <c:ptCount val="9"/>
              <c:pt idx="0">
                <c:v>Jan</c:v>
              </c:pt>
              <c:pt idx="1">
                <c:v>Feb</c:v>
              </c:pt>
              <c:pt idx="2">
                <c:v>Mar</c:v>
              </c:pt>
              <c:pt idx="3">
                <c:v>Apr</c:v>
              </c:pt>
              <c:pt idx="4">
                <c:v>May</c:v>
              </c:pt>
              <c:pt idx="5">
                <c:v>Jun</c:v>
              </c:pt>
              <c:pt idx="6">
                <c:v>Jul</c:v>
              </c:pt>
              <c:pt idx="7">
                <c:v>Aug</c:v>
              </c:pt>
              <c:pt idx="8">
                <c:v>Sep</c:v>
              </c:pt>
            </c:strLit>
          </c:cat>
          <c:val>
            <c:numLit>
              <c:formatCode>0.00"%"</c:formatCode>
              <c:ptCount val="9"/>
              <c:pt idx="0">
                <c:v>9.83</c:v>
              </c:pt>
              <c:pt idx="1">
                <c:v>8.75</c:v>
              </c:pt>
              <c:pt idx="2">
                <c:v>15.33</c:v>
              </c:pt>
              <c:pt idx="3">
                <c:v>5.31</c:v>
              </c:pt>
              <c:pt idx="4">
                <c:v>4.32</c:v>
              </c:pt>
              <c:pt idx="5">
                <c:v>5.03</c:v>
              </c:pt>
              <c:pt idx="6">
                <c:v>7.03</c:v>
              </c:pt>
              <c:pt idx="7">
                <c:v>7.46</c:v>
              </c:pt>
              <c:pt idx="8">
                <c:v>11.77</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20"/>
          <c:min val="0"/>
        </c:scaling>
        <c:delete val="0"/>
        <c:axPos val="l"/>
        <c:majorGridlines>
          <c:spPr>
            <a:ln xmlns:a="http://schemas.openxmlformats.org/drawingml/2006/main" w="9525">
              <a:solidFill>
                <a:srgbClr val="E3EBEF"/>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8.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dPt>
            <c:idx val="7"/>
            <c:invertIfNegative val="0"/>
            <c:spPr>
              <a:solidFill xmlns:a="http://schemas.openxmlformats.org/drawingml/2006/main">
                <a:srgbClr val="9167D3"/>
              </a:solidFill>
            </c:spPr>
          </c:dPt>
          <c:dPt>
            <c:idx val="8"/>
            <c:invertIfNegative val="0"/>
            <c:spPr>
              <a:solidFill xmlns:a="http://schemas.openxmlformats.org/drawingml/2006/main">
                <a:srgbClr val="EDA82D"/>
              </a:solidFill>
            </c:spPr>
          </c:dPt>
          <c:cat>
            <c:strLit>
              <c:ptCount val="9"/>
              <c:pt idx="0">
                <c:v>Jan</c:v>
              </c:pt>
              <c:pt idx="1">
                <c:v>Feb</c:v>
              </c:pt>
              <c:pt idx="2">
                <c:v>Mar</c:v>
              </c:pt>
              <c:pt idx="3">
                <c:v>Apr</c:v>
              </c:pt>
              <c:pt idx="4">
                <c:v>May</c:v>
              </c:pt>
              <c:pt idx="5">
                <c:v>Jun</c:v>
              </c:pt>
              <c:pt idx="6">
                <c:v>Jul</c:v>
              </c:pt>
              <c:pt idx="7">
                <c:v>Aug</c:v>
              </c:pt>
              <c:pt idx="8">
                <c:v>Sep</c:v>
              </c:pt>
            </c:strLit>
          </c:cat>
          <c:val>
            <c:numLit>
              <c:formatCode>#,##0</c:formatCode>
              <c:ptCount val="9"/>
              <c:pt idx="0">
                <c:v>451254</c:v>
              </c:pt>
              <c:pt idx="1">
                <c:v>394343</c:v>
              </c:pt>
              <c:pt idx="2">
                <c:v>416078</c:v>
              </c:pt>
              <c:pt idx="3">
                <c:v>454112</c:v>
              </c:pt>
              <c:pt idx="4">
                <c:v>441931</c:v>
              </c:pt>
              <c:pt idx="5">
                <c:v>438815</c:v>
              </c:pt>
              <c:pt idx="6">
                <c:v>454393</c:v>
              </c:pt>
              <c:pt idx="7">
                <c:v>423787</c:v>
              </c:pt>
              <c:pt idx="8">
                <c:v>446482</c:v>
              </c:pt>
            </c:numLit>
          </c:val>
        </c:ser>
        <c:dLbls>
          <c:txPr>
            <a:bodyPr xmlns:a="http://schemas.openxmlformats.org/drawingml/2006/main" anchorCtr="1"/>
            <a:lstStyle xmlns:a="http://schemas.openxmlformats.org/drawingml/2006/main"/>
            <a:p xmlns:a="http://schemas.openxmlformats.org/drawingml/2006/main">
              <a:pPr>
                <a:defRPr sz="90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ax val="500000"/>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B89"/>
                </a:solidFill>
                <a:latin typeface="DejaVu Sans"/>
                <a:ea typeface="DejaVu Sans"/>
                <a:cs typeface="DejaVu Sans"/>
              </a:defRPr>
            </a:pPr>
          </a:p>
        </c:txPr>
        <c:crossAx val="48650112"/>
        <c:crossBetween val="between"/>
        <c:majorUnit val="250000"/>
      </c:valAx>
    </c:plotArea>
    <c:plotVisOnly val="1"/>
  </c:chart>
</c:chartSpace>
</file>

<file path=ppt/slides/charts/chart9.xml><?xml version="1.0" encoding="utf-8"?>
<c:chartSpace xmlns:c="http://schemas.openxmlformats.org/drawingml/2006/chart">
  <c:lang val="en-US"/>
  <c:chart>
    <c:plotArea>
      <c:barChart>
        <c:barDir val="bar"/>
        <c:grouping val="clustered"/>
        <c:varyColors val="0"/>
        <c:ser>
          <c:idx val="0"/>
          <c:order val="0"/>
          <c:tx>
            <c:v>IVR transactions</c:v>
          </c:tx>
          <c:spPr>
            <a:solidFill xmlns:a="http://schemas.openxmlformats.org/drawingml/2006/main">
              <a:srgbClr val="1688C2"/>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16A878"/>
              </a:solidFill>
            </c:spPr>
          </c:dPt>
          <c:dPt>
            <c:idx val="5"/>
            <c:invertIfNegative val="0"/>
            <c:spPr>
              <a:solidFill xmlns:a="http://schemas.openxmlformats.org/drawingml/2006/main">
                <a:srgbClr val="258FC7"/>
              </a:solidFill>
            </c:spPr>
          </c:dPt>
          <c:dPt>
            <c:idx val="6"/>
            <c:invertIfNegative val="0"/>
            <c:spPr>
              <a:solidFill xmlns:a="http://schemas.openxmlformats.org/drawingml/2006/main">
                <a:srgbClr val="9167D3"/>
              </a:solidFill>
            </c:spPr>
          </c:dPt>
          <c:dPt>
            <c:idx val="7"/>
            <c:invertIfNegative val="0"/>
            <c:spPr>
              <a:solidFill xmlns:a="http://schemas.openxmlformats.org/drawingml/2006/main">
                <a:srgbClr val="EDA82D"/>
              </a:solidFill>
            </c:spPr>
          </c:dPt>
          <c:dPt>
            <c:idx val="8"/>
            <c:invertIfNegative val="0"/>
            <c:spPr>
              <a:solidFill xmlns:a="http://schemas.openxmlformats.org/drawingml/2006/main">
                <a:srgbClr val="16A878"/>
              </a:solidFill>
            </c:spPr>
          </c:dPt>
          <c:cat>
            <c:strLit>
              <c:ptCount val="9"/>
              <c:pt idx="0">
                <c:v>Utility payments</c:v>
              </c:pt>
              <c:pt idx="1">
                <c:v>Etisalat payments</c:v>
              </c:pt>
              <c:pt idx="2">
                <c:v>DU payments</c:v>
              </c:pt>
              <c:pt idx="3">
                <c:v>Salik payment</c:v>
              </c:pt>
              <c:pt idx="4">
                <c:v>Funds transfer</c:v>
              </c:pt>
              <c:pt idx="5">
                <c:v>Cheque-book request</c:v>
              </c:pt>
              <c:pt idx="6">
                <c:v>Cash on card</c:v>
              </c:pt>
              <c:pt idx="7">
                <c:v>Card payment</c:v>
              </c:pt>
              <c:pt idx="8">
                <c:v>Change card PIN</c:v>
              </c:pt>
            </c:strLit>
          </c:cat>
          <c:val>
            <c:numLit>
              <c:formatCode>General</c:formatCode>
              <c:ptCount val="9"/>
              <c:pt idx="0">
                <c:v>388</c:v>
              </c:pt>
              <c:pt idx="1">
                <c:v>1371</c:v>
              </c:pt>
              <c:pt idx="2">
                <c:v>238</c:v>
              </c:pt>
              <c:pt idx="3">
                <c:v>115</c:v>
              </c:pt>
              <c:pt idx="4">
                <c:v>1863</c:v>
              </c:pt>
              <c:pt idx="5">
                <c:v>495</c:v>
              </c:pt>
              <c:pt idx="6">
                <c:v>3</c:v>
              </c:pt>
              <c:pt idx="7">
                <c:v>114</c:v>
              </c:pt>
              <c:pt idx="8">
                <c:v>181</c:v>
              </c:pt>
            </c:numLit>
          </c:val>
        </c:ser>
        <c:dLbls>
          <c:txPr>
            <a:bodyPr xmlns:a="http://schemas.openxmlformats.org/drawingml/2006/main" anchorCtr="1"/>
            <a:lstStyle xmlns:a="http://schemas.openxmlformats.org/drawingml/2006/main"/>
            <a:p xmlns:a="http://schemas.openxmlformats.org/drawingml/2006/main">
              <a:pPr>
                <a:defRPr sz="1050">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0.xml><?xml version="1.0" encoding="utf-8"?>
<c:chartSpace xmlns:c="http://schemas.openxmlformats.org/drawingml/2006/chart">
  <c:lang val="en-US"/>
  <c:chart>
    <c:plotArea>
      <c:barChart>
        <c:barDir val="bar"/>
        <c:grouping val="clustered"/>
        <c:varyColors val="0"/>
        <c:ser>
          <c:idx val="0"/>
          <c:order val="0"/>
          <c:tx>
            <c:v>IVR transactions</c:v>
          </c:tx>
          <c:spPr>
            <a:solidFill xmlns:a="http://schemas.openxmlformats.org/drawingml/2006/main">
              <a:srgbClr val="1688C2"/>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16A878"/>
              </a:solidFill>
            </c:spPr>
          </c:dPt>
          <c:dPt>
            <c:idx val="5"/>
            <c:invertIfNegative val="0"/>
            <c:spPr>
              <a:solidFill xmlns:a="http://schemas.openxmlformats.org/drawingml/2006/main">
                <a:srgbClr val="258FC7"/>
              </a:solidFill>
            </c:spPr>
          </c:dPt>
          <c:dPt>
            <c:idx val="6"/>
            <c:invertIfNegative val="0"/>
            <c:spPr>
              <a:solidFill xmlns:a="http://schemas.openxmlformats.org/drawingml/2006/main">
                <a:srgbClr val="9167D3"/>
              </a:solidFill>
            </c:spPr>
          </c:dPt>
          <c:dPt>
            <c:idx val="7"/>
            <c:invertIfNegative val="0"/>
            <c:spPr>
              <a:solidFill xmlns:a="http://schemas.openxmlformats.org/drawingml/2006/main">
                <a:srgbClr val="EDA82D"/>
              </a:solidFill>
            </c:spPr>
          </c:dPt>
          <c:cat>
            <c:strLit>
              <c:ptCount val="8"/>
              <c:pt idx="0">
                <c:v>Last 5 card transactions</c:v>
              </c:pt>
              <c:pt idx="1">
                <c:v>Activate card</c:v>
              </c:pt>
              <c:pt idx="2">
                <c:v>Reset card PIN</c:v>
              </c:pt>
              <c:pt idx="3">
                <c:v>Lost / stolen card</c:v>
              </c:pt>
              <c:pt idx="4">
                <c:v>Reset TPIN</c:v>
              </c:pt>
              <c:pt idx="5">
                <c:v>Block TPIN</c:v>
              </c:pt>
              <c:pt idx="6">
                <c:v>Generate TPIN</c:v>
              </c:pt>
              <c:pt idx="7">
                <c:v>Change TPIN</c:v>
              </c:pt>
            </c:strLit>
          </c:cat>
          <c:val>
            <c:numLit>
              <c:formatCode>General</c:formatCode>
              <c:ptCount val="8"/>
              <c:pt idx="0">
                <c:v>1030</c:v>
              </c:pt>
              <c:pt idx="1">
                <c:v>13337</c:v>
              </c:pt>
              <c:pt idx="2">
                <c:v>4752</c:v>
              </c:pt>
              <c:pt idx="3">
                <c:v>294</c:v>
              </c:pt>
              <c:pt idx="4">
                <c:v>18146</c:v>
              </c:pt>
              <c:pt idx="5">
                <c:v>12004</c:v>
              </c:pt>
              <c:pt idx="6">
                <c:v>5871</c:v>
              </c:pt>
              <c:pt idx="7">
                <c:v>456</c:v>
              </c:pt>
            </c:numLit>
          </c:val>
        </c:ser>
        <c:dLbls>
          <c:txPr>
            <a:bodyPr xmlns:a="http://schemas.openxmlformats.org/drawingml/2006/main" anchorCtr="1"/>
            <a:lstStyle xmlns:a="http://schemas.openxmlformats.org/drawingml/2006/main"/>
            <a:p xmlns:a="http://schemas.openxmlformats.org/drawingml/2006/main">
              <a:pPr>
                <a:defRPr sz="1050">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1.xml><?xml version="1.0" encoding="utf-8"?>
<c:chartSpace xmlns:c="http://schemas.openxmlformats.org/drawingml/2006/chart">
  <c:lang val="en-US"/>
  <c:chart>
    <c:plotArea>
      <c:lineChart>
        <c:grouping val="standard"/>
        <c:ser>
          <c:idx val="0"/>
          <c:order val="0"/>
          <c:tx>
            <c:v>Agent licences</c:v>
          </c:tx>
          <c:spPr>
            <a:ln xmlns:a="http://schemas.openxmlformats.org/drawingml/2006/main" w="28575">
              <a:solidFill>
                <a:srgbClr val="1688C2"/>
              </a:solidFill>
            </a:ln>
          </c:spPr>
          <c:marker>
            <c:symbol val="circle"/>
            <c:size val="5"/>
          </c:marker>
          <c:cat>
            <c:numLit>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Lit>
          </c:cat>
          <c:val>
            <c:numLit>
              <c:formatCode>0</c:formatCode>
              <c:ptCount val="30"/>
              <c:pt idx="0">
                <c:v>427</c:v>
              </c:pt>
              <c:pt idx="1">
                <c:v>391</c:v>
              </c:pt>
              <c:pt idx="2">
                <c:v>418</c:v>
              </c:pt>
              <c:pt idx="3">
                <c:v>430</c:v>
              </c:pt>
              <c:pt idx="4">
                <c:v>328</c:v>
              </c:pt>
              <c:pt idx="5">
                <c:v>72</c:v>
              </c:pt>
              <c:pt idx="6">
                <c:v>427</c:v>
              </c:pt>
              <c:pt idx="7">
                <c:v>432</c:v>
              </c:pt>
              <c:pt idx="8">
                <c:v>433</c:v>
              </c:pt>
              <c:pt idx="9">
                <c:v>427</c:v>
              </c:pt>
              <c:pt idx="10">
                <c:v>427</c:v>
              </c:pt>
              <c:pt idx="11">
                <c:v>336</c:v>
              </c:pt>
              <c:pt idx="12">
                <c:v>106</c:v>
              </c:pt>
              <c:pt idx="13">
                <c:v>477</c:v>
              </c:pt>
              <c:pt idx="14">
                <c:v>426</c:v>
              </c:pt>
              <c:pt idx="15">
                <c:v>457</c:v>
              </c:pt>
              <c:pt idx="16">
                <c:v>457</c:v>
              </c:pt>
              <c:pt idx="17">
                <c:v>440</c:v>
              </c:pt>
              <c:pt idx="18">
                <c:v>303</c:v>
              </c:pt>
              <c:pt idx="19">
                <c:v>93</c:v>
              </c:pt>
              <c:pt idx="20">
                <c:v>441</c:v>
              </c:pt>
              <c:pt idx="21">
                <c:v>433</c:v>
              </c:pt>
              <c:pt idx="22">
                <c:v>486</c:v>
              </c:pt>
              <c:pt idx="23">
                <c:v>492</c:v>
              </c:pt>
              <c:pt idx="24">
                <c:v>468</c:v>
              </c:pt>
              <c:pt idx="25">
                <c:v>341</c:v>
              </c:pt>
              <c:pt idx="26">
                <c:v>74</c:v>
              </c:pt>
              <c:pt idx="27">
                <c:v>442</c:v>
              </c:pt>
              <c:pt idx="28">
                <c:v>447</c:v>
              </c:pt>
              <c:pt idx="29">
                <c:v>432</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550"/>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DA70021C-6681-4758-B80C-FA9AE8E34E0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94A32B77-210A-4317-8A68-39E1FCC22FD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Delivery progressed, with resilience gaps requiring attention</a:t>
            </a:r>
          </a:p>
        </p:txBody>
      </p:sp>
      <p:sp>
        <p:nvSpPr>
          <p:cNvPr id="3" name="">
            <a:extLst xmlns:a="http://schemas.openxmlformats.org/drawingml/2006/main">
              <a:ext uri="{FF2B5EF4-FFF2-40B4-BE49-F238E27FC236}">
                <a16:creationId xmlns:a16="http://schemas.microsoft.com/office/drawing/2014/main" id="{539675E8-70CF-494D-BD23-9A55F1C46364}"/>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Executive outcome across IB / MB, FinnOne and HFLMS</a:t>
            </a:r>
          </a:p>
        </p:txBody>
      </p:sp>
      <p:sp>
        <p:nvSpPr>
          <p:cNvPr id="4" name="">
            <a:extLst xmlns:a="http://schemas.openxmlformats.org/drawingml/2006/main">
              <a:ext uri="{FF2B5EF4-FFF2-40B4-BE49-F238E27FC236}">
                <a16:creationId xmlns:a16="http://schemas.microsoft.com/office/drawing/2014/main" id="{B459BE08-E1B7-43AC-A431-2401D6AA30F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2DBD72C-9173-41DD-8884-23D7952CB2E4}"/>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8E0EF685-A244-4ACD-959A-4C305D9A5B5D}"/>
              </a:ext>
            </a:extLst>
          </p:cNvPr>
          <p:cNvSpPr>
            <a:spLocks xmlns:a="http://schemas.openxmlformats.org/drawingml/2006/main" noGrp="1"/>
          </p:cNvSpPr>
          <p:nvPr/>
        </p:nvSpPr>
        <p:spPr>
          <a:xfrm xmlns:a="http://schemas.openxmlformats.org/drawingml/2006/main">
            <a:off x="457200" y="2095500"/>
            <a:ext cx="2667000" cy="1200150"/>
          </a:xfrm>
          <a:prstGeom xmlns:a="http://schemas.openxmlformats.org/drawingml/2006/main" prst="roundRect">
            <a:avLst>
              <a:gd name="adj" fmla="val 952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B33F62B-CA7C-42E8-96F4-40F1BDC03901}"/>
              </a:ext>
            </a:extLst>
          </p:cNvPr>
          <p:cNvSpPr>
            <a:spLocks xmlns:a="http://schemas.openxmlformats.org/drawingml/2006/main" noGrp="1"/>
          </p:cNvSpPr>
          <p:nvPr/>
        </p:nvSpPr>
        <p:spPr>
          <a:xfrm xmlns:a="http://schemas.openxmlformats.org/drawingml/2006/main">
            <a:off x="5905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68"/>
                </a:solidFill>
                <a:latin typeface="DejaVu Sans"/>
                <a:ea typeface="DejaVu Sans"/>
                <a:cs typeface="DejaVu Sans"/>
              </a:defRPr>
            </a:pPr>
            <a:r>
              <a:rPr sz="2850" b="1">
                <a:solidFill>
                  <a:srgbClr val="087F68"/>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96DCD262-F609-430A-BCF4-5D97046CB68A}"/>
              </a:ext>
            </a:extLst>
          </p:cNvPr>
          <p:cNvSpPr>
            <a:spLocks xmlns:a="http://schemas.openxmlformats.org/drawingml/2006/main" noGrp="1"/>
          </p:cNvSpPr>
          <p:nvPr/>
        </p:nvSpPr>
        <p:spPr>
          <a:xfrm xmlns:a="http://schemas.openxmlformats.org/drawingml/2006/main">
            <a:off x="11430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087F68"/>
                </a:solidFill>
                <a:latin typeface="DejaVu Sans"/>
                <a:ea typeface="DejaVu Sans"/>
                <a:cs typeface="DejaVu Sans"/>
              </a:defRPr>
            </a:pPr>
            <a:r>
              <a:rPr sz="4050" b="1">
                <a:solidFill>
                  <a:srgbClr val="087F68"/>
                </a:solidFill>
                <a:latin typeface="DejaVu Sans"/>
                <a:ea typeface="DejaVu Sans"/>
                <a:cs typeface="DejaVu Sans"/>
              </a:rPr>
              <a:t>98</a:t>
            </a:r>
          </a:p>
        </p:txBody>
      </p:sp>
      <p:sp>
        <p:nvSpPr>
          <p:cNvPr id="9" name="">
            <a:extLst xmlns:a="http://schemas.openxmlformats.org/drawingml/2006/main">
              <a:ext uri="{FF2B5EF4-FFF2-40B4-BE49-F238E27FC236}">
                <a16:creationId xmlns:a16="http://schemas.microsoft.com/office/drawing/2014/main" id="{7AE751DC-6418-4BFD-A46F-FBF1F93CBCFF}"/>
              </a:ext>
            </a:extLst>
          </p:cNvPr>
          <p:cNvSpPr>
            <a:spLocks xmlns:a="http://schemas.openxmlformats.org/drawingml/2006/main" noGrp="1"/>
          </p:cNvSpPr>
          <p:nvPr/>
        </p:nvSpPr>
        <p:spPr>
          <a:xfrm xmlns:a="http://schemas.openxmlformats.org/drawingml/2006/main">
            <a:off x="6096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delivered / completed</a:t>
            </a:r>
          </a:p>
        </p:txBody>
      </p:sp>
      <p:sp>
        <p:nvSpPr>
          <p:cNvPr id="10" name="">
            <a:extLst xmlns:a="http://schemas.openxmlformats.org/drawingml/2006/main">
              <a:ext uri="{FF2B5EF4-FFF2-40B4-BE49-F238E27FC236}">
                <a16:creationId xmlns:a16="http://schemas.microsoft.com/office/drawing/2014/main" id="{D3F7B34B-8992-4635-AAC8-4C8D93678C77}"/>
              </a:ext>
            </a:extLst>
          </p:cNvPr>
          <p:cNvSpPr>
            <a:spLocks xmlns:a="http://schemas.openxmlformats.org/drawingml/2006/main" noGrp="1"/>
          </p:cNvSpPr>
          <p:nvPr/>
        </p:nvSpPr>
        <p:spPr>
          <a:xfrm xmlns:a="http://schemas.openxmlformats.org/drawingml/2006/main">
            <a:off x="3314700" y="2095500"/>
            <a:ext cx="2667000" cy="1200150"/>
          </a:xfrm>
          <a:prstGeom xmlns:a="http://schemas.openxmlformats.org/drawingml/2006/main" prst="roundRect">
            <a:avLst>
              <a:gd name="adj" fmla="val 9524"/>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038309-C860-4B08-B2C7-19CA97C3CC3C}"/>
              </a:ext>
            </a:extLst>
          </p:cNvPr>
          <p:cNvSpPr>
            <a:spLocks xmlns:a="http://schemas.openxmlformats.org/drawingml/2006/main" noGrp="1"/>
          </p:cNvSpPr>
          <p:nvPr/>
        </p:nvSpPr>
        <p:spPr>
          <a:xfrm xmlns:a="http://schemas.openxmlformats.org/drawingml/2006/main">
            <a:off x="34480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88C2"/>
                </a:solidFill>
                <a:latin typeface="DejaVu Sans"/>
                <a:ea typeface="DejaVu Sans"/>
                <a:cs typeface="DejaVu Sans"/>
              </a:defRPr>
            </a:pPr>
            <a:r>
              <a:rPr sz="2850" b="1">
                <a:solidFill>
                  <a:srgbClr val="1688C2"/>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71A5AEE5-730F-4AC6-AF3D-A8B686613BD7}"/>
              </a:ext>
            </a:extLst>
          </p:cNvPr>
          <p:cNvSpPr>
            <a:spLocks xmlns:a="http://schemas.openxmlformats.org/drawingml/2006/main" noGrp="1"/>
          </p:cNvSpPr>
          <p:nvPr/>
        </p:nvSpPr>
        <p:spPr>
          <a:xfrm xmlns:a="http://schemas.openxmlformats.org/drawingml/2006/main">
            <a:off x="40005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88C2"/>
                </a:solidFill>
                <a:latin typeface="DejaVu Sans"/>
                <a:ea typeface="DejaVu Sans"/>
                <a:cs typeface="DejaVu Sans"/>
              </a:defRPr>
            </a:pPr>
            <a:r>
              <a:rPr sz="4050" b="1">
                <a:solidFill>
                  <a:srgbClr val="1688C2"/>
                </a:solidFill>
                <a:latin typeface="DejaVu Sans"/>
                <a:ea typeface="DejaVu Sans"/>
                <a:cs typeface="DejaVu Sans"/>
              </a:rPr>
              <a:t>285</a:t>
            </a:r>
          </a:p>
        </p:txBody>
      </p:sp>
      <p:sp>
        <p:nvSpPr>
          <p:cNvPr id="13" name="">
            <a:extLst xmlns:a="http://schemas.openxmlformats.org/drawingml/2006/main">
              <a:ext uri="{FF2B5EF4-FFF2-40B4-BE49-F238E27FC236}">
                <a16:creationId xmlns:a16="http://schemas.microsoft.com/office/drawing/2014/main" id="{1B4104E7-E402-469E-A03F-6DF5391C6AF5}"/>
              </a:ext>
            </a:extLst>
          </p:cNvPr>
          <p:cNvSpPr>
            <a:spLocks xmlns:a="http://schemas.openxmlformats.org/drawingml/2006/main" noGrp="1"/>
          </p:cNvSpPr>
          <p:nvPr/>
        </p:nvSpPr>
        <p:spPr>
          <a:xfrm xmlns:a="http://schemas.openxmlformats.org/drawingml/2006/main">
            <a:off x="34671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reported demands</a:t>
            </a:r>
          </a:p>
        </p:txBody>
      </p:sp>
      <p:sp>
        <p:nvSpPr>
          <p:cNvPr id="14" name="">
            <a:extLst xmlns:a="http://schemas.openxmlformats.org/drawingml/2006/main">
              <a:ext uri="{FF2B5EF4-FFF2-40B4-BE49-F238E27FC236}">
                <a16:creationId xmlns:a16="http://schemas.microsoft.com/office/drawing/2014/main" id="{194568BE-E3DB-48EF-98E7-81BB4AEEAB85}"/>
              </a:ext>
            </a:extLst>
          </p:cNvPr>
          <p:cNvSpPr>
            <a:spLocks xmlns:a="http://schemas.openxmlformats.org/drawingml/2006/main" noGrp="1"/>
          </p:cNvSpPr>
          <p:nvPr/>
        </p:nvSpPr>
        <p:spPr>
          <a:xfrm xmlns:a="http://schemas.openxmlformats.org/drawingml/2006/main">
            <a:off x="6172200" y="2095500"/>
            <a:ext cx="2667000" cy="1200150"/>
          </a:xfrm>
          <a:prstGeom xmlns:a="http://schemas.openxmlformats.org/drawingml/2006/main" prst="roundRect">
            <a:avLst>
              <a:gd name="adj" fmla="val 9524"/>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A66BE24-522D-4ADA-AC8D-64A332BB26E7}"/>
              </a:ext>
            </a:extLst>
          </p:cNvPr>
          <p:cNvSpPr>
            <a:spLocks xmlns:a="http://schemas.openxmlformats.org/drawingml/2006/main" noGrp="1"/>
          </p:cNvSpPr>
          <p:nvPr/>
        </p:nvSpPr>
        <p:spPr>
          <a:xfrm xmlns:a="http://schemas.openxmlformats.org/drawingml/2006/main">
            <a:off x="63055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875BC5"/>
                </a:solidFill>
                <a:latin typeface="DejaVu Sans"/>
                <a:ea typeface="DejaVu Sans"/>
                <a:cs typeface="DejaVu Sans"/>
              </a:defRPr>
            </a:pPr>
            <a:r>
              <a:rPr sz="2850" b="1">
                <a:solidFill>
                  <a:srgbClr val="875BC5"/>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0585E1FC-5FE2-4387-AE7D-B6E065F469F5}"/>
              </a:ext>
            </a:extLst>
          </p:cNvPr>
          <p:cNvSpPr>
            <a:spLocks xmlns:a="http://schemas.openxmlformats.org/drawingml/2006/main" noGrp="1"/>
          </p:cNvSpPr>
          <p:nvPr/>
        </p:nvSpPr>
        <p:spPr>
          <a:xfrm xmlns:a="http://schemas.openxmlformats.org/drawingml/2006/main">
            <a:off x="68580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875BC5"/>
                </a:solidFill>
                <a:latin typeface="DejaVu Sans"/>
                <a:ea typeface="DejaVu Sans"/>
                <a:cs typeface="DejaVu Sans"/>
              </a:defRPr>
            </a:pPr>
            <a:r>
              <a:rPr sz="4050" b="1">
                <a:solidFill>
                  <a:srgbClr val="875BC5"/>
                </a:solidFill>
                <a:latin typeface="DejaVu Sans"/>
                <a:ea typeface="DejaVu Sans"/>
                <a:cs typeface="DejaVu Sans"/>
              </a:rPr>
              <a:t>68</a:t>
            </a:r>
          </a:p>
        </p:txBody>
      </p:sp>
      <p:sp>
        <p:nvSpPr>
          <p:cNvPr id="17" name="">
            <a:extLst xmlns:a="http://schemas.openxmlformats.org/drawingml/2006/main">
              <a:ext uri="{FF2B5EF4-FFF2-40B4-BE49-F238E27FC236}">
                <a16:creationId xmlns:a16="http://schemas.microsoft.com/office/drawing/2014/main" id="{093AA688-1430-4A6F-A911-D2CD9BB49EB3}"/>
              </a:ext>
            </a:extLst>
          </p:cNvPr>
          <p:cNvSpPr>
            <a:spLocks xmlns:a="http://schemas.openxmlformats.org/drawingml/2006/main" noGrp="1"/>
          </p:cNvSpPr>
          <p:nvPr/>
        </p:nvSpPr>
        <p:spPr>
          <a:xfrm xmlns:a="http://schemas.openxmlformats.org/drawingml/2006/main">
            <a:off x="63246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backlog items</a:t>
            </a:r>
          </a:p>
        </p:txBody>
      </p:sp>
      <p:sp>
        <p:nvSpPr>
          <p:cNvPr id="18" name="">
            <a:extLst xmlns:a="http://schemas.openxmlformats.org/drawingml/2006/main">
              <a:ext uri="{FF2B5EF4-FFF2-40B4-BE49-F238E27FC236}">
                <a16:creationId xmlns:a16="http://schemas.microsoft.com/office/drawing/2014/main" id="{A65F1E9C-8B72-42E7-A909-DD0F3BEA0C87}"/>
              </a:ext>
            </a:extLst>
          </p:cNvPr>
          <p:cNvSpPr>
            <a:spLocks xmlns:a="http://schemas.openxmlformats.org/drawingml/2006/main" noGrp="1"/>
          </p:cNvSpPr>
          <p:nvPr/>
        </p:nvSpPr>
        <p:spPr>
          <a:xfrm xmlns:a="http://schemas.openxmlformats.org/drawingml/2006/main">
            <a:off x="9029700" y="2095500"/>
            <a:ext cx="2667000" cy="1200150"/>
          </a:xfrm>
          <a:prstGeom xmlns:a="http://schemas.openxmlformats.org/drawingml/2006/main" prst="roundRect">
            <a:avLst>
              <a:gd name="adj" fmla="val 9524"/>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7D8CBB6-8844-4ECD-8DD5-CBCA33CBA882}"/>
              </a:ext>
            </a:extLst>
          </p:cNvPr>
          <p:cNvSpPr>
            <a:spLocks xmlns:a="http://schemas.openxmlformats.org/drawingml/2006/main" noGrp="1"/>
          </p:cNvSpPr>
          <p:nvPr/>
        </p:nvSpPr>
        <p:spPr>
          <a:xfrm xmlns:a="http://schemas.openxmlformats.org/drawingml/2006/main">
            <a:off x="91630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CC7D16"/>
                </a:solidFill>
                <a:latin typeface="DejaVu Sans"/>
                <a:ea typeface="DejaVu Sans"/>
                <a:cs typeface="DejaVu Sans"/>
              </a:defRPr>
            </a:pPr>
            <a:r>
              <a:rPr sz="2850" b="1">
                <a:solidFill>
                  <a:srgbClr val="CC7D16"/>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613DE229-A7BF-4899-9CA8-497CEFD9A2AE}"/>
              </a:ext>
            </a:extLst>
          </p:cNvPr>
          <p:cNvSpPr>
            <a:spLocks xmlns:a="http://schemas.openxmlformats.org/drawingml/2006/main" noGrp="1"/>
          </p:cNvSpPr>
          <p:nvPr/>
        </p:nvSpPr>
        <p:spPr>
          <a:xfrm xmlns:a="http://schemas.openxmlformats.org/drawingml/2006/main">
            <a:off x="97155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CC7D16"/>
                </a:solidFill>
                <a:latin typeface="DejaVu Sans"/>
                <a:ea typeface="DejaVu Sans"/>
                <a:cs typeface="DejaVu Sans"/>
              </a:defRPr>
            </a:pPr>
            <a:r>
              <a:rPr sz="4050" b="1">
                <a:solidFill>
                  <a:srgbClr val="CC7D16"/>
                </a:solidFill>
                <a:latin typeface="DejaVu Sans"/>
                <a:ea typeface="DejaVu Sans"/>
                <a:cs typeface="DejaVu Sans"/>
              </a:rPr>
              <a:t>67</a:t>
            </a:r>
          </a:p>
        </p:txBody>
      </p:sp>
      <p:sp>
        <p:nvSpPr>
          <p:cNvPr id="21" name="">
            <a:extLst xmlns:a="http://schemas.openxmlformats.org/drawingml/2006/main">
              <a:ext uri="{FF2B5EF4-FFF2-40B4-BE49-F238E27FC236}">
                <a16:creationId xmlns:a16="http://schemas.microsoft.com/office/drawing/2014/main" id="{5AF3891A-684A-4B24-83BC-BC86796AB666}"/>
              </a:ext>
            </a:extLst>
          </p:cNvPr>
          <p:cNvSpPr>
            <a:spLocks xmlns:a="http://schemas.openxmlformats.org/drawingml/2006/main" noGrp="1"/>
          </p:cNvSpPr>
          <p:nvPr/>
        </p:nvSpPr>
        <p:spPr>
          <a:xfrm xmlns:a="http://schemas.openxmlformats.org/drawingml/2006/main">
            <a:off x="91821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in progress</a:t>
            </a:r>
          </a:p>
        </p:txBody>
      </p:sp>
      <p:sp>
        <p:nvSpPr>
          <p:cNvPr id="22" name="">
            <a:extLst xmlns:a="http://schemas.openxmlformats.org/drawingml/2006/main">
              <a:ext uri="{FF2B5EF4-FFF2-40B4-BE49-F238E27FC236}">
                <a16:creationId xmlns:a16="http://schemas.microsoft.com/office/drawing/2014/main" id="{14089381-5D78-4E6A-9100-7F6E85B5FCD6}"/>
              </a:ext>
            </a:extLst>
          </p:cNvPr>
          <p:cNvSpPr>
            <a:spLocks xmlns:a="http://schemas.openxmlformats.org/drawingml/2006/main" noGrp="1"/>
          </p:cNvSpPr>
          <p:nvPr/>
        </p:nvSpPr>
        <p:spPr>
          <a:xfrm xmlns:a="http://schemas.openxmlformats.org/drawingml/2006/main">
            <a:off x="457200" y="3476625"/>
            <a:ext cx="3657600" cy="1952625"/>
          </a:xfrm>
          <a:prstGeom xmlns:a="http://schemas.openxmlformats.org/drawingml/2006/main" prst="roundRect">
            <a:avLst>
              <a:gd name="adj" fmla="val 5854"/>
            </a:avLst>
          </a:prstGeom>
          <a:solidFill xmlns:a="http://schemas.openxmlformats.org/drawingml/2006/main">
            <a:srgbClr val="E6F6F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A512EF8-3DD8-4D08-9A2A-2AC52FF96B13}"/>
              </a:ext>
            </a:extLst>
          </p:cNvPr>
          <p:cNvSpPr>
            <a:spLocks xmlns:a="http://schemas.openxmlformats.org/drawingml/2006/main" noGrp="1"/>
          </p:cNvSpPr>
          <p:nvPr/>
        </p:nvSpPr>
        <p:spPr>
          <a:xfrm xmlns:a="http://schemas.openxmlformats.org/drawingml/2006/main">
            <a:off x="62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IB / MB</a:t>
            </a:r>
          </a:p>
        </p:txBody>
      </p:sp>
      <p:sp>
        <p:nvSpPr>
          <p:cNvPr id="24" name="">
            <a:extLst xmlns:a="http://schemas.openxmlformats.org/drawingml/2006/main">
              <a:ext uri="{FF2B5EF4-FFF2-40B4-BE49-F238E27FC236}">
                <a16:creationId xmlns:a16="http://schemas.microsoft.com/office/drawing/2014/main" id="{44EC1820-1372-4108-B42E-681A334E6014}"/>
              </a:ext>
            </a:extLst>
          </p:cNvPr>
          <p:cNvSpPr>
            <a:spLocks xmlns:a="http://schemas.openxmlformats.org/drawingml/2006/main" noGrp="1"/>
          </p:cNvSpPr>
          <p:nvPr/>
        </p:nvSpPr>
        <p:spPr>
          <a:xfrm xmlns:a="http://schemas.openxmlformats.org/drawingml/2006/main">
            <a:off x="62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8"/>
                </a:solidFill>
                <a:latin typeface="DejaVu Sans"/>
                <a:ea typeface="DejaVu Sans"/>
                <a:cs typeface="DejaVu Sans"/>
              </a:defRPr>
            </a:pPr>
            <a:r>
              <a:rPr sz="2025" b="1">
                <a:solidFill>
                  <a:srgbClr val="087F68"/>
                </a:solidFill>
                <a:latin typeface="DejaVu Sans"/>
                <a:ea typeface="DejaVu Sans"/>
                <a:cs typeface="DejaVu Sans"/>
              </a:rPr>
              <a:t>25 / 113  (22.1%)</a:t>
            </a:r>
          </a:p>
        </p:txBody>
      </p:sp>
      <p:sp>
        <p:nvSpPr>
          <p:cNvPr id="25" name="">
            <a:extLst xmlns:a="http://schemas.openxmlformats.org/drawingml/2006/main">
              <a:ext uri="{FF2B5EF4-FFF2-40B4-BE49-F238E27FC236}">
                <a16:creationId xmlns:a16="http://schemas.microsoft.com/office/drawing/2014/main" id="{1205505C-14F9-4034-BFAA-DC9ED60DD3CD}"/>
              </a:ext>
            </a:extLst>
          </p:cNvPr>
          <p:cNvSpPr>
            <a:spLocks xmlns:a="http://schemas.openxmlformats.org/drawingml/2006/main" noGrp="1"/>
          </p:cNvSpPr>
          <p:nvPr/>
        </p:nvSpPr>
        <p:spPr>
          <a:xfrm xmlns:a="http://schemas.openxmlformats.org/drawingml/2006/main">
            <a:off x="62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26" name="">
            <a:extLst xmlns:a="http://schemas.openxmlformats.org/drawingml/2006/main">
              <a:ext uri="{FF2B5EF4-FFF2-40B4-BE49-F238E27FC236}">
                <a16:creationId xmlns:a16="http://schemas.microsoft.com/office/drawing/2014/main" id="{10583C5E-01D5-41B0-A009-E5C267C56A0C}"/>
              </a:ext>
            </a:extLst>
          </p:cNvPr>
          <p:cNvSpPr>
            <a:spLocks xmlns:a="http://schemas.openxmlformats.org/drawingml/2006/main" noGrp="1"/>
          </p:cNvSpPr>
          <p:nvPr/>
        </p:nvSpPr>
        <p:spPr>
          <a:xfrm xmlns:a="http://schemas.openxmlformats.org/drawingml/2006/main">
            <a:off x="62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16.99B volume</a:t>
            </a:r>
          </a:p>
        </p:txBody>
      </p:sp>
      <p:sp>
        <p:nvSpPr>
          <p:cNvPr id="27" name="">
            <a:extLst xmlns:a="http://schemas.openxmlformats.org/drawingml/2006/main">
              <a:ext uri="{FF2B5EF4-FFF2-40B4-BE49-F238E27FC236}">
                <a16:creationId xmlns:a16="http://schemas.microsoft.com/office/drawing/2014/main" id="{3A3B663C-798B-4431-A144-18DDBA37BA13}"/>
              </a:ext>
            </a:extLst>
          </p:cNvPr>
          <p:cNvSpPr>
            <a:spLocks xmlns:a="http://schemas.openxmlformats.org/drawingml/2006/main" noGrp="1"/>
          </p:cNvSpPr>
          <p:nvPr/>
        </p:nvSpPr>
        <p:spPr>
          <a:xfrm xmlns:a="http://schemas.openxmlformats.org/drawingml/2006/main">
            <a:off x="62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99.9% availability   •   DR Tested</a:t>
            </a:r>
          </a:p>
        </p:txBody>
      </p:sp>
      <p:sp>
        <p:nvSpPr>
          <p:cNvPr id="28" name="">
            <a:extLst xmlns:a="http://schemas.openxmlformats.org/drawingml/2006/main">
              <a:ext uri="{FF2B5EF4-FFF2-40B4-BE49-F238E27FC236}">
                <a16:creationId xmlns:a16="http://schemas.microsoft.com/office/drawing/2014/main" id="{A45351F8-0277-4B61-9F32-231856074E75}"/>
              </a:ext>
            </a:extLst>
          </p:cNvPr>
          <p:cNvSpPr>
            <a:spLocks xmlns:a="http://schemas.openxmlformats.org/drawingml/2006/main" noGrp="1"/>
          </p:cNvSpPr>
          <p:nvPr/>
        </p:nvSpPr>
        <p:spPr>
          <a:xfrm xmlns:a="http://schemas.openxmlformats.org/drawingml/2006/main">
            <a:off x="4267200" y="3476625"/>
            <a:ext cx="3657600" cy="1952625"/>
          </a:xfrm>
          <a:prstGeom xmlns:a="http://schemas.openxmlformats.org/drawingml/2006/main" prst="roundRect">
            <a:avLst>
              <a:gd name="adj" fmla="val 5854"/>
            </a:avLst>
          </a:prstGeom>
          <a:solidFill xmlns:a="http://schemas.openxmlformats.org/drawingml/2006/main">
            <a:srgbClr val="E8F3F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45810C6-EB95-4E60-B95E-A1993E2E9AB9}"/>
              </a:ext>
            </a:extLst>
          </p:cNvPr>
          <p:cNvSpPr>
            <a:spLocks xmlns:a="http://schemas.openxmlformats.org/drawingml/2006/main" noGrp="1"/>
          </p:cNvSpPr>
          <p:nvPr/>
        </p:nvSpPr>
        <p:spPr>
          <a:xfrm xmlns:a="http://schemas.openxmlformats.org/drawingml/2006/main">
            <a:off x="443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  FinnOne</a:t>
            </a:r>
          </a:p>
        </p:txBody>
      </p:sp>
      <p:sp>
        <p:nvSpPr>
          <p:cNvPr id="30" name="">
            <a:extLst xmlns:a="http://schemas.openxmlformats.org/drawingml/2006/main">
              <a:ext uri="{FF2B5EF4-FFF2-40B4-BE49-F238E27FC236}">
                <a16:creationId xmlns:a16="http://schemas.microsoft.com/office/drawing/2014/main" id="{6550D248-5533-4F3D-B42C-E9DA131F354F}"/>
              </a:ext>
            </a:extLst>
          </p:cNvPr>
          <p:cNvSpPr>
            <a:spLocks xmlns:a="http://schemas.openxmlformats.org/drawingml/2006/main" noGrp="1"/>
          </p:cNvSpPr>
          <p:nvPr/>
        </p:nvSpPr>
        <p:spPr>
          <a:xfrm xmlns:a="http://schemas.openxmlformats.org/drawingml/2006/main">
            <a:off x="443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8C2"/>
                </a:solidFill>
                <a:latin typeface="DejaVu Sans"/>
                <a:ea typeface="DejaVu Sans"/>
                <a:cs typeface="DejaVu Sans"/>
              </a:defRPr>
            </a:pPr>
            <a:r>
              <a:rPr sz="2025" b="1">
                <a:solidFill>
                  <a:srgbClr val="1688C2"/>
                </a:solidFill>
                <a:latin typeface="DejaVu Sans"/>
                <a:ea typeface="DejaVu Sans"/>
                <a:cs typeface="DejaVu Sans"/>
              </a:rPr>
              <a:t>50 / 122  (41.0%)</a:t>
            </a:r>
          </a:p>
        </p:txBody>
      </p:sp>
      <p:sp>
        <p:nvSpPr>
          <p:cNvPr id="31" name="">
            <a:extLst xmlns:a="http://schemas.openxmlformats.org/drawingml/2006/main">
              <a:ext uri="{FF2B5EF4-FFF2-40B4-BE49-F238E27FC236}">
                <a16:creationId xmlns:a16="http://schemas.microsoft.com/office/drawing/2014/main" id="{2F54087F-373A-4210-88A5-B1427E2C2438}"/>
              </a:ext>
            </a:extLst>
          </p:cNvPr>
          <p:cNvSpPr>
            <a:spLocks xmlns:a="http://schemas.openxmlformats.org/drawingml/2006/main" noGrp="1"/>
          </p:cNvSpPr>
          <p:nvPr/>
        </p:nvSpPr>
        <p:spPr>
          <a:xfrm xmlns:a="http://schemas.openxmlformats.org/drawingml/2006/main">
            <a:off x="443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32" name="">
            <a:extLst xmlns:a="http://schemas.openxmlformats.org/drawingml/2006/main">
              <a:ext uri="{FF2B5EF4-FFF2-40B4-BE49-F238E27FC236}">
                <a16:creationId xmlns:a16="http://schemas.microsoft.com/office/drawing/2014/main" id="{6F679096-32D7-4095-863D-282A1CE55B4F}"/>
              </a:ext>
            </a:extLst>
          </p:cNvPr>
          <p:cNvSpPr>
            <a:spLocks xmlns:a="http://schemas.openxmlformats.org/drawingml/2006/main" noGrp="1"/>
          </p:cNvSpPr>
          <p:nvPr/>
        </p:nvSpPr>
        <p:spPr>
          <a:xfrm xmlns:a="http://schemas.openxmlformats.org/drawingml/2006/main">
            <a:off x="443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3.24B volume</a:t>
            </a:r>
          </a:p>
        </p:txBody>
      </p:sp>
      <p:sp>
        <p:nvSpPr>
          <p:cNvPr id="33" name="">
            <a:extLst xmlns:a="http://schemas.openxmlformats.org/drawingml/2006/main">
              <a:ext uri="{FF2B5EF4-FFF2-40B4-BE49-F238E27FC236}">
                <a16:creationId xmlns:a16="http://schemas.microsoft.com/office/drawing/2014/main" id="{2A72C352-C162-494E-B11D-542F2ADB5063}"/>
              </a:ext>
            </a:extLst>
          </p:cNvPr>
          <p:cNvSpPr>
            <a:spLocks xmlns:a="http://schemas.openxmlformats.org/drawingml/2006/main" noGrp="1"/>
          </p:cNvSpPr>
          <p:nvPr/>
        </p:nvSpPr>
        <p:spPr>
          <a:xfrm xmlns:a="http://schemas.openxmlformats.org/drawingml/2006/main">
            <a:off x="443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100% availability   •   DR Unavailable</a:t>
            </a:r>
          </a:p>
        </p:txBody>
      </p:sp>
      <p:sp>
        <p:nvSpPr>
          <p:cNvPr id="34" name="">
            <a:extLst xmlns:a="http://schemas.openxmlformats.org/drawingml/2006/main">
              <a:ext uri="{FF2B5EF4-FFF2-40B4-BE49-F238E27FC236}">
                <a16:creationId xmlns:a16="http://schemas.microsoft.com/office/drawing/2014/main" id="{FA7B94D7-3109-45EB-AC15-C41CC6D7E91D}"/>
              </a:ext>
            </a:extLst>
          </p:cNvPr>
          <p:cNvSpPr>
            <a:spLocks xmlns:a="http://schemas.openxmlformats.org/drawingml/2006/main" noGrp="1"/>
          </p:cNvSpPr>
          <p:nvPr/>
        </p:nvSpPr>
        <p:spPr>
          <a:xfrm xmlns:a="http://schemas.openxmlformats.org/drawingml/2006/main">
            <a:off x="8077200" y="3476625"/>
            <a:ext cx="3657600" cy="1952625"/>
          </a:xfrm>
          <a:prstGeom xmlns:a="http://schemas.openxmlformats.org/drawingml/2006/main" prst="roundRect">
            <a:avLst>
              <a:gd name="adj" fmla="val 5854"/>
            </a:avLst>
          </a:prstGeom>
          <a:solidFill xmlns:a="http://schemas.openxmlformats.org/drawingml/2006/main">
            <a:srgbClr val="F0EAF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BE574713-78A9-49C5-A1F2-C9C5344E3892}"/>
              </a:ext>
            </a:extLst>
          </p:cNvPr>
          <p:cNvSpPr>
            <a:spLocks xmlns:a="http://schemas.openxmlformats.org/drawingml/2006/main" noGrp="1"/>
          </p:cNvSpPr>
          <p:nvPr/>
        </p:nvSpPr>
        <p:spPr>
          <a:xfrm xmlns:a="http://schemas.openxmlformats.org/drawingml/2006/main">
            <a:off x="824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  HFLMS</a:t>
            </a:r>
          </a:p>
        </p:txBody>
      </p:sp>
      <p:sp>
        <p:nvSpPr>
          <p:cNvPr id="36" name="">
            <a:extLst xmlns:a="http://schemas.openxmlformats.org/drawingml/2006/main">
              <a:ext uri="{FF2B5EF4-FFF2-40B4-BE49-F238E27FC236}">
                <a16:creationId xmlns:a16="http://schemas.microsoft.com/office/drawing/2014/main" id="{3724FEFE-F26A-4681-838D-32A68324D2EB}"/>
              </a:ext>
            </a:extLst>
          </p:cNvPr>
          <p:cNvSpPr>
            <a:spLocks xmlns:a="http://schemas.openxmlformats.org/drawingml/2006/main" noGrp="1"/>
          </p:cNvSpPr>
          <p:nvPr/>
        </p:nvSpPr>
        <p:spPr>
          <a:xfrm xmlns:a="http://schemas.openxmlformats.org/drawingml/2006/main">
            <a:off x="824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75BC5"/>
                </a:solidFill>
                <a:latin typeface="DejaVu Sans"/>
                <a:ea typeface="DejaVu Sans"/>
                <a:cs typeface="DejaVu Sans"/>
              </a:defRPr>
            </a:pPr>
            <a:r>
              <a:rPr sz="2025" b="1">
                <a:solidFill>
                  <a:srgbClr val="875BC5"/>
                </a:solidFill>
                <a:latin typeface="DejaVu Sans"/>
                <a:ea typeface="DejaVu Sans"/>
                <a:cs typeface="DejaVu Sans"/>
              </a:rPr>
              <a:t>23 / 50  (46.0%)</a:t>
            </a:r>
          </a:p>
        </p:txBody>
      </p:sp>
      <p:sp>
        <p:nvSpPr>
          <p:cNvPr id="37" name="">
            <a:extLst xmlns:a="http://schemas.openxmlformats.org/drawingml/2006/main">
              <a:ext uri="{FF2B5EF4-FFF2-40B4-BE49-F238E27FC236}">
                <a16:creationId xmlns:a16="http://schemas.microsoft.com/office/drawing/2014/main" id="{17A32782-2E64-438D-AAE2-EBC9ABA03E8F}"/>
              </a:ext>
            </a:extLst>
          </p:cNvPr>
          <p:cNvSpPr>
            <a:spLocks xmlns:a="http://schemas.openxmlformats.org/drawingml/2006/main" noGrp="1"/>
          </p:cNvSpPr>
          <p:nvPr/>
        </p:nvSpPr>
        <p:spPr>
          <a:xfrm xmlns:a="http://schemas.openxmlformats.org/drawingml/2006/main">
            <a:off x="824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38" name="">
            <a:extLst xmlns:a="http://schemas.openxmlformats.org/drawingml/2006/main">
              <a:ext uri="{FF2B5EF4-FFF2-40B4-BE49-F238E27FC236}">
                <a16:creationId xmlns:a16="http://schemas.microsoft.com/office/drawing/2014/main" id="{AAD13496-11C3-4D70-AE6D-914073AC6486}"/>
              </a:ext>
            </a:extLst>
          </p:cNvPr>
          <p:cNvSpPr>
            <a:spLocks xmlns:a="http://schemas.openxmlformats.org/drawingml/2006/main" noGrp="1"/>
          </p:cNvSpPr>
          <p:nvPr/>
        </p:nvSpPr>
        <p:spPr>
          <a:xfrm xmlns:a="http://schemas.openxmlformats.org/drawingml/2006/main">
            <a:off x="824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1.24B volume</a:t>
            </a:r>
          </a:p>
        </p:txBody>
      </p:sp>
      <p:sp>
        <p:nvSpPr>
          <p:cNvPr id="39" name="">
            <a:extLst xmlns:a="http://schemas.openxmlformats.org/drawingml/2006/main">
              <a:ext uri="{FF2B5EF4-FFF2-40B4-BE49-F238E27FC236}">
                <a16:creationId xmlns:a16="http://schemas.microsoft.com/office/drawing/2014/main" id="{DC564954-E5D0-4515-B74A-94EEBE04DAB2}"/>
              </a:ext>
            </a:extLst>
          </p:cNvPr>
          <p:cNvSpPr>
            <a:spLocks xmlns:a="http://schemas.openxmlformats.org/drawingml/2006/main" noGrp="1"/>
          </p:cNvSpPr>
          <p:nvPr/>
        </p:nvSpPr>
        <p:spPr>
          <a:xfrm xmlns:a="http://schemas.openxmlformats.org/drawingml/2006/main">
            <a:off x="824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100% availability   •   DR Unavailable</a:t>
            </a:r>
          </a:p>
        </p:txBody>
      </p:sp>
      <p:sp>
        <p:nvSpPr>
          <p:cNvPr id="40" name="">
            <a:extLst xmlns:a="http://schemas.openxmlformats.org/drawingml/2006/main">
              <a:ext uri="{FF2B5EF4-FFF2-40B4-BE49-F238E27FC236}">
                <a16:creationId xmlns:a16="http://schemas.microsoft.com/office/drawing/2014/main" id="{BB6B1EA3-B486-4588-B7A6-313764CDC4F5}"/>
              </a:ext>
            </a:extLst>
          </p:cNvPr>
          <p:cNvSpPr>
            <a:spLocks xmlns:a="http://schemas.openxmlformats.org/drawingml/2006/main" noGrp="1"/>
          </p:cNvSpPr>
          <p:nvPr/>
        </p:nvSpPr>
        <p:spPr>
          <a:xfrm xmlns:a="http://schemas.openxmlformats.org/drawingml/2006/main">
            <a:off x="457200" y="56483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Management focus</a:t>
            </a:r>
          </a:p>
        </p:txBody>
      </p:sp>
      <p:sp>
        <p:nvSpPr>
          <p:cNvPr id="41" name="">
            <a:extLst xmlns:a="http://schemas.openxmlformats.org/drawingml/2006/main">
              <a:ext uri="{FF2B5EF4-FFF2-40B4-BE49-F238E27FC236}">
                <a16:creationId xmlns:a16="http://schemas.microsoft.com/office/drawing/2014/main" id="{7D73A2D8-3171-4BC8-BC43-E35FE0CB313D}"/>
              </a:ext>
            </a:extLst>
          </p:cNvPr>
          <p:cNvSpPr>
            <a:spLocks xmlns:a="http://schemas.openxmlformats.org/drawingml/2006/main" noGrp="1"/>
          </p:cNvSpPr>
          <p:nvPr/>
        </p:nvSpPr>
        <p:spPr>
          <a:xfrm xmlns:a="http://schemas.openxmlformats.org/drawingml/2006/main">
            <a:off x="2857500" y="56197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MB incident controls and backlog capacity need attention. FinnOne and HFLMS require interim recovery controls before the 2027 DR upgrades.</a:t>
            </a:r>
          </a:p>
        </p:txBody>
      </p:sp>
    </p:spTree>
    <p:extLst>
      <p:ext uri="{BB962C8B-B14F-4D97-AF65-F5344CB8AC3E}">
        <p14:creationId xmlns:p14="http://schemas.microsoft.com/office/powerpoint/2010/main" val="14572090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 name="">
            <a:extLst xmlns:a="http://schemas.openxmlformats.org/drawingml/2006/main">
              <a:ext uri="{FF2B5EF4-FFF2-40B4-BE49-F238E27FC236}">
                <a16:creationId xmlns:a16="http://schemas.microsoft.com/office/drawing/2014/main" id="{11D3BD59-4FA7-4FD9-96D6-C01D8584652F}"/>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723552C-2FA4-4BA7-BAAF-8DBF54D15217}"/>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IB / MB supports 16.99B in business volume</a:t>
            </a:r>
          </a:p>
        </p:txBody>
      </p:sp>
      <p:sp>
        <p:nvSpPr>
          <p:cNvPr id="3" name="">
            <a:extLst xmlns:a="http://schemas.openxmlformats.org/drawingml/2006/main">
              <a:ext uri="{FF2B5EF4-FFF2-40B4-BE49-F238E27FC236}">
                <a16:creationId xmlns:a16="http://schemas.microsoft.com/office/drawing/2014/main" id="{52EC9C29-BE5F-4B06-9C40-6901B9A897C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Delivery continues while Mobile Banking reliability needs closer oversight</a:t>
            </a:r>
          </a:p>
        </p:txBody>
      </p:sp>
      <p:sp>
        <p:nvSpPr>
          <p:cNvPr id="4" name="">
            <a:extLst xmlns:a="http://schemas.openxmlformats.org/drawingml/2006/main">
              <a:ext uri="{FF2B5EF4-FFF2-40B4-BE49-F238E27FC236}">
                <a16:creationId xmlns:a16="http://schemas.microsoft.com/office/drawing/2014/main" id="{1A11C398-6AD1-4350-838C-1D20F8C00C27}"/>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D1DE3F8F-4174-4999-8503-F1EC19568975}"/>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a:t>
            </a:r>
          </a:p>
        </p:txBody>
      </p:sp>
      <p:graphicFrame>
        <p:nvGraphicFramePr>
          <p:cNvPr id="146" name="Chart"/>
          <p:cNvGraphicFramePr/>
          <p:nvPr/>
        </p:nvGraphicFramePr>
        <p:xfrm>
          <a:off xmlns:a="http://schemas.openxmlformats.org/drawingml/2006/main" x="457200" y="2266950"/>
          <a:ext xmlns:a="http://schemas.openxmlformats.org/drawingml/2006/main" cx="5143500" cy="2762250"/>
        </p:xfrm>
        <a:graphic xmlns:a="http://schemas.openxmlformats.org/drawingml/2006/main">
          <a:graphicData uri="http://schemas.openxmlformats.org/drawingml/2006/chart">
            <c:chart xmlns:r="http://schemas.openxmlformats.org/officeDocument/2006/relationships" xmlns:c="http://schemas.openxmlformats.org/drawingml/2006/chart" r:id="R3fef0cfbf2574de5"/>
          </a:graphicData>
        </a:graphic>
      </p:graphicFrame>
      <p:sp>
        <p:nvSpPr>
          <p:cNvPr id="7" name="">
            <a:extLst xmlns:a="http://schemas.openxmlformats.org/drawingml/2006/main">
              <a:ext uri="{FF2B5EF4-FFF2-40B4-BE49-F238E27FC236}">
                <a16:creationId xmlns:a16="http://schemas.microsoft.com/office/drawing/2014/main" id="{16E0DA39-3475-4706-9B87-47CF1DE0474C}"/>
              </a:ext>
            </a:extLst>
          </p:cNvPr>
          <p:cNvSpPr>
            <a:spLocks xmlns:a="http://schemas.openxmlformats.org/drawingml/2006/main" noGrp="1"/>
          </p:cNvSpPr>
          <p:nvPr/>
        </p:nvSpPr>
        <p:spPr>
          <a:xfrm xmlns:a="http://schemas.openxmlformats.org/drawingml/2006/main">
            <a:off x="457200" y="52006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54% of reported volume comes from SME</a:t>
            </a:r>
          </a:p>
        </p:txBody>
      </p:sp>
      <p:sp>
        <p:nvSpPr>
          <p:cNvPr id="8" name="">
            <a:extLst xmlns:a="http://schemas.openxmlformats.org/drawingml/2006/main">
              <a:ext uri="{FF2B5EF4-FFF2-40B4-BE49-F238E27FC236}">
                <a16:creationId xmlns:a16="http://schemas.microsoft.com/office/drawing/2014/main" id="{3C578F7A-F0B0-4CB9-9C56-8CF71CFF7BD9}"/>
              </a:ext>
            </a:extLst>
          </p:cNvPr>
          <p:cNvSpPr>
            <a:spLocks xmlns:a="http://schemas.openxmlformats.org/drawingml/2006/main" noGrp="1"/>
          </p:cNvSpPr>
          <p:nvPr/>
        </p:nvSpPr>
        <p:spPr>
          <a:xfrm xmlns:a="http://schemas.openxmlformats.org/drawingml/2006/main">
            <a:off x="6048375" y="2238375"/>
            <a:ext cx="2857500" cy="457200"/>
          </a:xfrm>
          <a:prstGeom xmlns:a="http://schemas.openxmlformats.org/drawingml/2006/main" prst="roundRect">
            <a:avLst>
              <a:gd name="adj" fmla="val 25000"/>
            </a:avLst>
          </a:prstGeom>
          <a:solidFill xmlns:a="http://schemas.openxmlformats.org/drawingml/2006/main">
            <a:srgbClr val="E6F6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31B5E0-5028-4E99-8E00-56DFD6B5FBF8}"/>
              </a:ext>
            </a:extLst>
          </p:cNvPr>
          <p:cNvSpPr>
            <a:spLocks xmlns:a="http://schemas.openxmlformats.org/drawingml/2006/main" noGrp="1"/>
          </p:cNvSpPr>
          <p:nvPr/>
        </p:nvSpPr>
        <p:spPr>
          <a:xfrm xmlns:a="http://schemas.openxmlformats.org/drawingml/2006/main">
            <a:off x="6191250" y="226695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Delivered</a:t>
            </a:r>
          </a:p>
        </p:txBody>
      </p:sp>
      <p:sp>
        <p:nvSpPr>
          <p:cNvPr id="10" name="">
            <a:extLst xmlns:a="http://schemas.openxmlformats.org/drawingml/2006/main">
              <a:ext uri="{FF2B5EF4-FFF2-40B4-BE49-F238E27FC236}">
                <a16:creationId xmlns:a16="http://schemas.microsoft.com/office/drawing/2014/main" id="{2F7F2D02-4D49-46B0-88B6-40E458620B5A}"/>
              </a:ext>
            </a:extLst>
          </p:cNvPr>
          <p:cNvSpPr>
            <a:spLocks xmlns:a="http://schemas.openxmlformats.org/drawingml/2006/main" noGrp="1"/>
          </p:cNvSpPr>
          <p:nvPr/>
        </p:nvSpPr>
        <p:spPr>
          <a:xfrm xmlns:a="http://schemas.openxmlformats.org/drawingml/2006/main">
            <a:off x="8296275" y="22669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25</a:t>
            </a:r>
          </a:p>
        </p:txBody>
      </p:sp>
      <p:sp>
        <p:nvSpPr>
          <p:cNvPr id="11" name="">
            <a:extLst xmlns:a="http://schemas.openxmlformats.org/drawingml/2006/main">
              <a:ext uri="{FF2B5EF4-FFF2-40B4-BE49-F238E27FC236}">
                <a16:creationId xmlns:a16="http://schemas.microsoft.com/office/drawing/2014/main" id="{2B344152-5820-46E3-A6B8-3B221161F8FF}"/>
              </a:ext>
            </a:extLst>
          </p:cNvPr>
          <p:cNvSpPr>
            <a:spLocks xmlns:a="http://schemas.openxmlformats.org/drawingml/2006/main" noGrp="1"/>
          </p:cNvSpPr>
          <p:nvPr/>
        </p:nvSpPr>
        <p:spPr>
          <a:xfrm xmlns:a="http://schemas.openxmlformats.org/drawingml/2006/main">
            <a:off x="6191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34D986D-A84C-4A49-BF04-7386BBCC8AE0}"/>
              </a:ext>
            </a:extLst>
          </p:cNvPr>
          <p:cNvSpPr>
            <a:spLocks xmlns:a="http://schemas.openxmlformats.org/drawingml/2006/main" noGrp="1"/>
          </p:cNvSpPr>
          <p:nvPr/>
        </p:nvSpPr>
        <p:spPr>
          <a:xfrm xmlns:a="http://schemas.openxmlformats.org/drawingml/2006/main">
            <a:off x="6238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38F249-9CA8-4CD7-8308-59B7CFA64391}"/>
              </a:ext>
            </a:extLst>
          </p:cNvPr>
          <p:cNvSpPr>
            <a:spLocks xmlns:a="http://schemas.openxmlformats.org/drawingml/2006/main" noGrp="1"/>
          </p:cNvSpPr>
          <p:nvPr/>
        </p:nvSpPr>
        <p:spPr>
          <a:xfrm xmlns:a="http://schemas.openxmlformats.org/drawingml/2006/main">
            <a:off x="6286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58DD87E-E64C-4054-850C-842D994F4774}"/>
              </a:ext>
            </a:extLst>
          </p:cNvPr>
          <p:cNvSpPr>
            <a:spLocks xmlns:a="http://schemas.openxmlformats.org/drawingml/2006/main" noGrp="1"/>
          </p:cNvSpPr>
          <p:nvPr/>
        </p:nvSpPr>
        <p:spPr>
          <a:xfrm xmlns:a="http://schemas.openxmlformats.org/drawingml/2006/main">
            <a:off x="6334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32B51FD-850C-48D9-93DE-6E7090AE3BCD}"/>
              </a:ext>
            </a:extLst>
          </p:cNvPr>
          <p:cNvSpPr>
            <a:spLocks xmlns:a="http://schemas.openxmlformats.org/drawingml/2006/main" noGrp="1"/>
          </p:cNvSpPr>
          <p:nvPr/>
        </p:nvSpPr>
        <p:spPr>
          <a:xfrm xmlns:a="http://schemas.openxmlformats.org/drawingml/2006/main">
            <a:off x="6381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286C07F-110C-4CC9-AFBF-D7BE0619778B}"/>
              </a:ext>
            </a:extLst>
          </p:cNvPr>
          <p:cNvSpPr>
            <a:spLocks xmlns:a="http://schemas.openxmlformats.org/drawingml/2006/main" noGrp="1"/>
          </p:cNvSpPr>
          <p:nvPr/>
        </p:nvSpPr>
        <p:spPr>
          <a:xfrm xmlns:a="http://schemas.openxmlformats.org/drawingml/2006/main">
            <a:off x="6429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2D4E14F-2F3D-46AB-9518-94ECDA917AD2}"/>
              </a:ext>
            </a:extLst>
          </p:cNvPr>
          <p:cNvSpPr>
            <a:spLocks xmlns:a="http://schemas.openxmlformats.org/drawingml/2006/main" noGrp="1"/>
          </p:cNvSpPr>
          <p:nvPr/>
        </p:nvSpPr>
        <p:spPr>
          <a:xfrm xmlns:a="http://schemas.openxmlformats.org/drawingml/2006/main">
            <a:off x="6477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74E06EE-D358-48D0-95D4-8FA15FCF9D91}"/>
              </a:ext>
            </a:extLst>
          </p:cNvPr>
          <p:cNvSpPr>
            <a:spLocks xmlns:a="http://schemas.openxmlformats.org/drawingml/2006/main" noGrp="1"/>
          </p:cNvSpPr>
          <p:nvPr/>
        </p:nvSpPr>
        <p:spPr>
          <a:xfrm xmlns:a="http://schemas.openxmlformats.org/drawingml/2006/main">
            <a:off x="6524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003DA97-6C5B-441B-A144-75AF10AE496F}"/>
              </a:ext>
            </a:extLst>
          </p:cNvPr>
          <p:cNvSpPr>
            <a:spLocks xmlns:a="http://schemas.openxmlformats.org/drawingml/2006/main" noGrp="1"/>
          </p:cNvSpPr>
          <p:nvPr/>
        </p:nvSpPr>
        <p:spPr>
          <a:xfrm xmlns:a="http://schemas.openxmlformats.org/drawingml/2006/main">
            <a:off x="6572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AC7C421-7A9B-4D7D-BC89-A044E8819335}"/>
              </a:ext>
            </a:extLst>
          </p:cNvPr>
          <p:cNvSpPr>
            <a:spLocks xmlns:a="http://schemas.openxmlformats.org/drawingml/2006/main" noGrp="1"/>
          </p:cNvSpPr>
          <p:nvPr/>
        </p:nvSpPr>
        <p:spPr>
          <a:xfrm xmlns:a="http://schemas.openxmlformats.org/drawingml/2006/main">
            <a:off x="6619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A51271A-C5A4-4DFE-89E1-2395BDBC51F4}"/>
              </a:ext>
            </a:extLst>
          </p:cNvPr>
          <p:cNvSpPr>
            <a:spLocks xmlns:a="http://schemas.openxmlformats.org/drawingml/2006/main" noGrp="1"/>
          </p:cNvSpPr>
          <p:nvPr/>
        </p:nvSpPr>
        <p:spPr>
          <a:xfrm xmlns:a="http://schemas.openxmlformats.org/drawingml/2006/main">
            <a:off x="6667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67FDAF1-8B9C-44DA-8A3C-95FA10C8E5C4}"/>
              </a:ext>
            </a:extLst>
          </p:cNvPr>
          <p:cNvSpPr>
            <a:spLocks xmlns:a="http://schemas.openxmlformats.org/drawingml/2006/main" noGrp="1"/>
          </p:cNvSpPr>
          <p:nvPr/>
        </p:nvSpPr>
        <p:spPr>
          <a:xfrm xmlns:a="http://schemas.openxmlformats.org/drawingml/2006/main">
            <a:off x="6715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080CAAE-30B2-4879-8010-6C175EBDE0AC}"/>
              </a:ext>
            </a:extLst>
          </p:cNvPr>
          <p:cNvSpPr>
            <a:spLocks xmlns:a="http://schemas.openxmlformats.org/drawingml/2006/main" noGrp="1"/>
          </p:cNvSpPr>
          <p:nvPr/>
        </p:nvSpPr>
        <p:spPr>
          <a:xfrm xmlns:a="http://schemas.openxmlformats.org/drawingml/2006/main">
            <a:off x="6762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7971340-742C-4AA9-A676-C1AD1E76B69C}"/>
              </a:ext>
            </a:extLst>
          </p:cNvPr>
          <p:cNvSpPr>
            <a:spLocks xmlns:a="http://schemas.openxmlformats.org/drawingml/2006/main" noGrp="1"/>
          </p:cNvSpPr>
          <p:nvPr/>
        </p:nvSpPr>
        <p:spPr>
          <a:xfrm xmlns:a="http://schemas.openxmlformats.org/drawingml/2006/main">
            <a:off x="6810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890B3C1-88AD-48EF-9B05-B4CB8415C786}"/>
              </a:ext>
            </a:extLst>
          </p:cNvPr>
          <p:cNvSpPr>
            <a:spLocks xmlns:a="http://schemas.openxmlformats.org/drawingml/2006/main" noGrp="1"/>
          </p:cNvSpPr>
          <p:nvPr/>
        </p:nvSpPr>
        <p:spPr>
          <a:xfrm xmlns:a="http://schemas.openxmlformats.org/drawingml/2006/main">
            <a:off x="6858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E6E9DF4-78B9-4753-9079-4CA4383D787F}"/>
              </a:ext>
            </a:extLst>
          </p:cNvPr>
          <p:cNvSpPr>
            <a:spLocks xmlns:a="http://schemas.openxmlformats.org/drawingml/2006/main" noGrp="1"/>
          </p:cNvSpPr>
          <p:nvPr/>
        </p:nvSpPr>
        <p:spPr>
          <a:xfrm xmlns:a="http://schemas.openxmlformats.org/drawingml/2006/main">
            <a:off x="6905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7D52EA3-613E-4355-A94F-ED68B4FB4FCD}"/>
              </a:ext>
            </a:extLst>
          </p:cNvPr>
          <p:cNvSpPr>
            <a:spLocks xmlns:a="http://schemas.openxmlformats.org/drawingml/2006/main" noGrp="1"/>
          </p:cNvSpPr>
          <p:nvPr/>
        </p:nvSpPr>
        <p:spPr>
          <a:xfrm xmlns:a="http://schemas.openxmlformats.org/drawingml/2006/main">
            <a:off x="6953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5C76908-6541-4ED7-95AA-98B087B66705}"/>
              </a:ext>
            </a:extLst>
          </p:cNvPr>
          <p:cNvSpPr>
            <a:spLocks xmlns:a="http://schemas.openxmlformats.org/drawingml/2006/main" noGrp="1"/>
          </p:cNvSpPr>
          <p:nvPr/>
        </p:nvSpPr>
        <p:spPr>
          <a:xfrm xmlns:a="http://schemas.openxmlformats.org/drawingml/2006/main">
            <a:off x="7000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66E2255-7573-43EE-9927-9EC4E6219DD5}"/>
              </a:ext>
            </a:extLst>
          </p:cNvPr>
          <p:cNvSpPr>
            <a:spLocks xmlns:a="http://schemas.openxmlformats.org/drawingml/2006/main" noGrp="1"/>
          </p:cNvSpPr>
          <p:nvPr/>
        </p:nvSpPr>
        <p:spPr>
          <a:xfrm xmlns:a="http://schemas.openxmlformats.org/drawingml/2006/main">
            <a:off x="7048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496AF69-28FB-4BF5-BD84-85FE96B2FD7F}"/>
              </a:ext>
            </a:extLst>
          </p:cNvPr>
          <p:cNvSpPr>
            <a:spLocks xmlns:a="http://schemas.openxmlformats.org/drawingml/2006/main" noGrp="1"/>
          </p:cNvSpPr>
          <p:nvPr/>
        </p:nvSpPr>
        <p:spPr>
          <a:xfrm xmlns:a="http://schemas.openxmlformats.org/drawingml/2006/main">
            <a:off x="7096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83F2581-E1DD-4A71-8385-14702AF563C1}"/>
              </a:ext>
            </a:extLst>
          </p:cNvPr>
          <p:cNvSpPr>
            <a:spLocks xmlns:a="http://schemas.openxmlformats.org/drawingml/2006/main" noGrp="1"/>
          </p:cNvSpPr>
          <p:nvPr/>
        </p:nvSpPr>
        <p:spPr>
          <a:xfrm xmlns:a="http://schemas.openxmlformats.org/drawingml/2006/main">
            <a:off x="7143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907CAC9-733C-4854-BA05-ED6FCB41512A}"/>
              </a:ext>
            </a:extLst>
          </p:cNvPr>
          <p:cNvSpPr>
            <a:spLocks xmlns:a="http://schemas.openxmlformats.org/drawingml/2006/main" noGrp="1"/>
          </p:cNvSpPr>
          <p:nvPr/>
        </p:nvSpPr>
        <p:spPr>
          <a:xfrm xmlns:a="http://schemas.openxmlformats.org/drawingml/2006/main">
            <a:off x="7191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4C9EA8C-5A4C-4CE2-B834-20EE6973D07C}"/>
              </a:ext>
            </a:extLst>
          </p:cNvPr>
          <p:cNvSpPr>
            <a:spLocks xmlns:a="http://schemas.openxmlformats.org/drawingml/2006/main" noGrp="1"/>
          </p:cNvSpPr>
          <p:nvPr/>
        </p:nvSpPr>
        <p:spPr>
          <a:xfrm xmlns:a="http://schemas.openxmlformats.org/drawingml/2006/main">
            <a:off x="7239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852FB5DA-890B-461A-971C-5810BBC5689D}"/>
              </a:ext>
            </a:extLst>
          </p:cNvPr>
          <p:cNvSpPr>
            <a:spLocks xmlns:a="http://schemas.openxmlformats.org/drawingml/2006/main" noGrp="1"/>
          </p:cNvSpPr>
          <p:nvPr/>
        </p:nvSpPr>
        <p:spPr>
          <a:xfrm xmlns:a="http://schemas.openxmlformats.org/drawingml/2006/main">
            <a:off x="7286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BD882BC-C4BB-4D70-9D6A-44624D852B76}"/>
              </a:ext>
            </a:extLst>
          </p:cNvPr>
          <p:cNvSpPr>
            <a:spLocks xmlns:a="http://schemas.openxmlformats.org/drawingml/2006/main" noGrp="1"/>
          </p:cNvSpPr>
          <p:nvPr/>
        </p:nvSpPr>
        <p:spPr>
          <a:xfrm xmlns:a="http://schemas.openxmlformats.org/drawingml/2006/main">
            <a:off x="7334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CB5B3CA-C47F-4A23-84D1-5C6A69BE65E1}"/>
              </a:ext>
            </a:extLst>
          </p:cNvPr>
          <p:cNvSpPr>
            <a:spLocks xmlns:a="http://schemas.openxmlformats.org/drawingml/2006/main" noGrp="1"/>
          </p:cNvSpPr>
          <p:nvPr/>
        </p:nvSpPr>
        <p:spPr>
          <a:xfrm xmlns:a="http://schemas.openxmlformats.org/drawingml/2006/main">
            <a:off x="6048375" y="2762250"/>
            <a:ext cx="285750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5AB5070-BF0A-40BD-8846-6A7C2390E048}"/>
              </a:ext>
            </a:extLst>
          </p:cNvPr>
          <p:cNvSpPr>
            <a:spLocks xmlns:a="http://schemas.openxmlformats.org/drawingml/2006/main" noGrp="1"/>
          </p:cNvSpPr>
          <p:nvPr/>
        </p:nvSpPr>
        <p:spPr>
          <a:xfrm xmlns:a="http://schemas.openxmlformats.org/drawingml/2006/main">
            <a:off x="6191250" y="2790825"/>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In progress</a:t>
            </a:r>
          </a:p>
        </p:txBody>
      </p:sp>
      <p:sp>
        <p:nvSpPr>
          <p:cNvPr id="38" name="">
            <a:extLst xmlns:a="http://schemas.openxmlformats.org/drawingml/2006/main">
              <a:ext uri="{FF2B5EF4-FFF2-40B4-BE49-F238E27FC236}">
                <a16:creationId xmlns:a16="http://schemas.microsoft.com/office/drawing/2014/main" id="{FB6B8A82-614E-426B-8B8B-B3211091E25C}"/>
              </a:ext>
            </a:extLst>
          </p:cNvPr>
          <p:cNvSpPr>
            <a:spLocks xmlns:a="http://schemas.openxmlformats.org/drawingml/2006/main" noGrp="1"/>
          </p:cNvSpPr>
          <p:nvPr/>
        </p:nvSpPr>
        <p:spPr>
          <a:xfrm xmlns:a="http://schemas.openxmlformats.org/drawingml/2006/main">
            <a:off x="8296275" y="2790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23</a:t>
            </a:r>
          </a:p>
        </p:txBody>
      </p:sp>
      <p:sp>
        <p:nvSpPr>
          <p:cNvPr id="39" name="">
            <a:extLst xmlns:a="http://schemas.openxmlformats.org/drawingml/2006/main">
              <a:ext uri="{FF2B5EF4-FFF2-40B4-BE49-F238E27FC236}">
                <a16:creationId xmlns:a16="http://schemas.microsoft.com/office/drawing/2014/main" id="{95F14FEA-9175-4A8B-878B-4480ED3B8A22}"/>
              </a:ext>
            </a:extLst>
          </p:cNvPr>
          <p:cNvSpPr>
            <a:spLocks xmlns:a="http://schemas.openxmlformats.org/drawingml/2006/main" noGrp="1"/>
          </p:cNvSpPr>
          <p:nvPr/>
        </p:nvSpPr>
        <p:spPr>
          <a:xfrm xmlns:a="http://schemas.openxmlformats.org/drawingml/2006/main">
            <a:off x="6191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0EA85C8-D9F1-480C-B943-A5EA73F75F64}"/>
              </a:ext>
            </a:extLst>
          </p:cNvPr>
          <p:cNvSpPr>
            <a:spLocks xmlns:a="http://schemas.openxmlformats.org/drawingml/2006/main" noGrp="1"/>
          </p:cNvSpPr>
          <p:nvPr/>
        </p:nvSpPr>
        <p:spPr>
          <a:xfrm xmlns:a="http://schemas.openxmlformats.org/drawingml/2006/main">
            <a:off x="6238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EE6293F-F925-40BF-A84A-EA735D97C6C7}"/>
              </a:ext>
            </a:extLst>
          </p:cNvPr>
          <p:cNvSpPr>
            <a:spLocks xmlns:a="http://schemas.openxmlformats.org/drawingml/2006/main" noGrp="1"/>
          </p:cNvSpPr>
          <p:nvPr/>
        </p:nvSpPr>
        <p:spPr>
          <a:xfrm xmlns:a="http://schemas.openxmlformats.org/drawingml/2006/main">
            <a:off x="6286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BC62A7E-17A0-4482-B3C0-9984E8269289}"/>
              </a:ext>
            </a:extLst>
          </p:cNvPr>
          <p:cNvSpPr>
            <a:spLocks xmlns:a="http://schemas.openxmlformats.org/drawingml/2006/main" noGrp="1"/>
          </p:cNvSpPr>
          <p:nvPr/>
        </p:nvSpPr>
        <p:spPr>
          <a:xfrm xmlns:a="http://schemas.openxmlformats.org/drawingml/2006/main">
            <a:off x="6334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1A964A7-ED4A-4FC2-B7CE-EB3D3AF3D2BF}"/>
              </a:ext>
            </a:extLst>
          </p:cNvPr>
          <p:cNvSpPr>
            <a:spLocks xmlns:a="http://schemas.openxmlformats.org/drawingml/2006/main" noGrp="1"/>
          </p:cNvSpPr>
          <p:nvPr/>
        </p:nvSpPr>
        <p:spPr>
          <a:xfrm xmlns:a="http://schemas.openxmlformats.org/drawingml/2006/main">
            <a:off x="6381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B45E3D8-7009-4F03-8F7B-63D30FCD3CD4}"/>
              </a:ext>
            </a:extLst>
          </p:cNvPr>
          <p:cNvSpPr>
            <a:spLocks xmlns:a="http://schemas.openxmlformats.org/drawingml/2006/main" noGrp="1"/>
          </p:cNvSpPr>
          <p:nvPr/>
        </p:nvSpPr>
        <p:spPr>
          <a:xfrm xmlns:a="http://schemas.openxmlformats.org/drawingml/2006/main">
            <a:off x="6429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295F9621-172C-4F6D-B46F-C6C05DB1C81D}"/>
              </a:ext>
            </a:extLst>
          </p:cNvPr>
          <p:cNvSpPr>
            <a:spLocks xmlns:a="http://schemas.openxmlformats.org/drawingml/2006/main" noGrp="1"/>
          </p:cNvSpPr>
          <p:nvPr/>
        </p:nvSpPr>
        <p:spPr>
          <a:xfrm xmlns:a="http://schemas.openxmlformats.org/drawingml/2006/main">
            <a:off x="6477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48FF768-77EA-4601-BCBC-4456F1577520}"/>
              </a:ext>
            </a:extLst>
          </p:cNvPr>
          <p:cNvSpPr>
            <a:spLocks xmlns:a="http://schemas.openxmlformats.org/drawingml/2006/main" noGrp="1"/>
          </p:cNvSpPr>
          <p:nvPr/>
        </p:nvSpPr>
        <p:spPr>
          <a:xfrm xmlns:a="http://schemas.openxmlformats.org/drawingml/2006/main">
            <a:off x="65246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1AAC9069-919D-456F-9FB0-4EC605DE43B3}"/>
              </a:ext>
            </a:extLst>
          </p:cNvPr>
          <p:cNvSpPr>
            <a:spLocks xmlns:a="http://schemas.openxmlformats.org/drawingml/2006/main" noGrp="1"/>
          </p:cNvSpPr>
          <p:nvPr/>
        </p:nvSpPr>
        <p:spPr>
          <a:xfrm xmlns:a="http://schemas.openxmlformats.org/drawingml/2006/main">
            <a:off x="6572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C45E133-85B1-403A-B1A3-277285ECC1AE}"/>
              </a:ext>
            </a:extLst>
          </p:cNvPr>
          <p:cNvSpPr>
            <a:spLocks xmlns:a="http://schemas.openxmlformats.org/drawingml/2006/main" noGrp="1"/>
          </p:cNvSpPr>
          <p:nvPr/>
        </p:nvSpPr>
        <p:spPr>
          <a:xfrm xmlns:a="http://schemas.openxmlformats.org/drawingml/2006/main">
            <a:off x="6619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D137563-61E6-4382-BA15-56C5337DB0A2}"/>
              </a:ext>
            </a:extLst>
          </p:cNvPr>
          <p:cNvSpPr>
            <a:spLocks xmlns:a="http://schemas.openxmlformats.org/drawingml/2006/main" noGrp="1"/>
          </p:cNvSpPr>
          <p:nvPr/>
        </p:nvSpPr>
        <p:spPr>
          <a:xfrm xmlns:a="http://schemas.openxmlformats.org/drawingml/2006/main">
            <a:off x="6667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B0CCE164-1A87-4385-B3D7-4318D68B36FA}"/>
              </a:ext>
            </a:extLst>
          </p:cNvPr>
          <p:cNvSpPr>
            <a:spLocks xmlns:a="http://schemas.openxmlformats.org/drawingml/2006/main" noGrp="1"/>
          </p:cNvSpPr>
          <p:nvPr/>
        </p:nvSpPr>
        <p:spPr>
          <a:xfrm xmlns:a="http://schemas.openxmlformats.org/drawingml/2006/main">
            <a:off x="6715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DFA13A7E-7263-4371-A97B-48CFB386D0FA}"/>
              </a:ext>
            </a:extLst>
          </p:cNvPr>
          <p:cNvSpPr>
            <a:spLocks xmlns:a="http://schemas.openxmlformats.org/drawingml/2006/main" noGrp="1"/>
          </p:cNvSpPr>
          <p:nvPr/>
        </p:nvSpPr>
        <p:spPr>
          <a:xfrm xmlns:a="http://schemas.openxmlformats.org/drawingml/2006/main">
            <a:off x="6762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37FDEBC1-821E-411B-94DC-22273A6FFF5B}"/>
              </a:ext>
            </a:extLst>
          </p:cNvPr>
          <p:cNvSpPr>
            <a:spLocks xmlns:a="http://schemas.openxmlformats.org/drawingml/2006/main" noGrp="1"/>
          </p:cNvSpPr>
          <p:nvPr/>
        </p:nvSpPr>
        <p:spPr>
          <a:xfrm xmlns:a="http://schemas.openxmlformats.org/drawingml/2006/main">
            <a:off x="6810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894D7543-6713-490F-822C-F377FAF88F88}"/>
              </a:ext>
            </a:extLst>
          </p:cNvPr>
          <p:cNvSpPr>
            <a:spLocks xmlns:a="http://schemas.openxmlformats.org/drawingml/2006/main" noGrp="1"/>
          </p:cNvSpPr>
          <p:nvPr/>
        </p:nvSpPr>
        <p:spPr>
          <a:xfrm xmlns:a="http://schemas.openxmlformats.org/drawingml/2006/main">
            <a:off x="6858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8211DEA3-D2F2-49A3-9B96-3D755F2F110E}"/>
              </a:ext>
            </a:extLst>
          </p:cNvPr>
          <p:cNvSpPr>
            <a:spLocks xmlns:a="http://schemas.openxmlformats.org/drawingml/2006/main" noGrp="1"/>
          </p:cNvSpPr>
          <p:nvPr/>
        </p:nvSpPr>
        <p:spPr>
          <a:xfrm xmlns:a="http://schemas.openxmlformats.org/drawingml/2006/main">
            <a:off x="69056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35A22F0E-4E0F-44BF-B7A3-C01A82166A5B}"/>
              </a:ext>
            </a:extLst>
          </p:cNvPr>
          <p:cNvSpPr>
            <a:spLocks xmlns:a="http://schemas.openxmlformats.org/drawingml/2006/main" noGrp="1"/>
          </p:cNvSpPr>
          <p:nvPr/>
        </p:nvSpPr>
        <p:spPr>
          <a:xfrm xmlns:a="http://schemas.openxmlformats.org/drawingml/2006/main">
            <a:off x="6953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3F2FD6FE-112A-4EB2-9284-241545AFF823}"/>
              </a:ext>
            </a:extLst>
          </p:cNvPr>
          <p:cNvSpPr>
            <a:spLocks xmlns:a="http://schemas.openxmlformats.org/drawingml/2006/main" noGrp="1"/>
          </p:cNvSpPr>
          <p:nvPr/>
        </p:nvSpPr>
        <p:spPr>
          <a:xfrm xmlns:a="http://schemas.openxmlformats.org/drawingml/2006/main">
            <a:off x="7000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081B2E4-CA61-477A-8F84-BFFCAEA366D5}"/>
              </a:ext>
            </a:extLst>
          </p:cNvPr>
          <p:cNvSpPr>
            <a:spLocks xmlns:a="http://schemas.openxmlformats.org/drawingml/2006/main" noGrp="1"/>
          </p:cNvSpPr>
          <p:nvPr/>
        </p:nvSpPr>
        <p:spPr>
          <a:xfrm xmlns:a="http://schemas.openxmlformats.org/drawingml/2006/main">
            <a:off x="7048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874B64E7-66EC-4580-8409-76A976C8F5DB}"/>
              </a:ext>
            </a:extLst>
          </p:cNvPr>
          <p:cNvSpPr>
            <a:spLocks xmlns:a="http://schemas.openxmlformats.org/drawingml/2006/main" noGrp="1"/>
          </p:cNvSpPr>
          <p:nvPr/>
        </p:nvSpPr>
        <p:spPr>
          <a:xfrm xmlns:a="http://schemas.openxmlformats.org/drawingml/2006/main">
            <a:off x="7096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C438DE10-54C0-4F29-BC31-E462F1236546}"/>
              </a:ext>
            </a:extLst>
          </p:cNvPr>
          <p:cNvSpPr>
            <a:spLocks xmlns:a="http://schemas.openxmlformats.org/drawingml/2006/main" noGrp="1"/>
          </p:cNvSpPr>
          <p:nvPr/>
        </p:nvSpPr>
        <p:spPr>
          <a:xfrm xmlns:a="http://schemas.openxmlformats.org/drawingml/2006/main">
            <a:off x="7143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F34E89DC-F785-4079-BA91-50DD65220D17}"/>
              </a:ext>
            </a:extLst>
          </p:cNvPr>
          <p:cNvSpPr>
            <a:spLocks xmlns:a="http://schemas.openxmlformats.org/drawingml/2006/main" noGrp="1"/>
          </p:cNvSpPr>
          <p:nvPr/>
        </p:nvSpPr>
        <p:spPr>
          <a:xfrm xmlns:a="http://schemas.openxmlformats.org/drawingml/2006/main">
            <a:off x="7191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739F616-5C5A-4983-B0CD-F961FCB62FE3}"/>
              </a:ext>
            </a:extLst>
          </p:cNvPr>
          <p:cNvSpPr>
            <a:spLocks xmlns:a="http://schemas.openxmlformats.org/drawingml/2006/main" noGrp="1"/>
          </p:cNvSpPr>
          <p:nvPr/>
        </p:nvSpPr>
        <p:spPr>
          <a:xfrm xmlns:a="http://schemas.openxmlformats.org/drawingml/2006/main">
            <a:off x="7239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3958E76C-7222-457D-9AF1-AA0F855D675B}"/>
              </a:ext>
            </a:extLst>
          </p:cNvPr>
          <p:cNvSpPr>
            <a:spLocks xmlns:a="http://schemas.openxmlformats.org/drawingml/2006/main" noGrp="1"/>
          </p:cNvSpPr>
          <p:nvPr/>
        </p:nvSpPr>
        <p:spPr>
          <a:xfrm xmlns:a="http://schemas.openxmlformats.org/drawingml/2006/main">
            <a:off x="6048375" y="3286125"/>
            <a:ext cx="2857500" cy="457200"/>
          </a:xfrm>
          <a:prstGeom xmlns:a="http://schemas.openxmlformats.org/drawingml/2006/main" prst="roundRect">
            <a:avLst>
              <a:gd name="adj" fmla="val 25000"/>
            </a:avLst>
          </a:prstGeom>
          <a:solidFill xmlns:a="http://schemas.openxmlformats.org/drawingml/2006/main">
            <a:srgbClr val="FFF4DE"/>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7627C3F7-B347-4AF8-825F-A25FC71EB462}"/>
              </a:ext>
            </a:extLst>
          </p:cNvPr>
          <p:cNvSpPr>
            <a:spLocks xmlns:a="http://schemas.openxmlformats.org/drawingml/2006/main" noGrp="1"/>
          </p:cNvSpPr>
          <p:nvPr/>
        </p:nvSpPr>
        <p:spPr>
          <a:xfrm xmlns:a="http://schemas.openxmlformats.org/drawingml/2006/main">
            <a:off x="6191250" y="331470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Backlog</a:t>
            </a:r>
          </a:p>
        </p:txBody>
      </p:sp>
      <p:sp>
        <p:nvSpPr>
          <p:cNvPr id="64" name="">
            <a:extLst xmlns:a="http://schemas.openxmlformats.org/drawingml/2006/main">
              <a:ext uri="{FF2B5EF4-FFF2-40B4-BE49-F238E27FC236}">
                <a16:creationId xmlns:a16="http://schemas.microsoft.com/office/drawing/2014/main" id="{708BF2B0-350A-41EA-B5E0-A6BD96F0AE55}"/>
              </a:ext>
            </a:extLst>
          </p:cNvPr>
          <p:cNvSpPr>
            <a:spLocks xmlns:a="http://schemas.openxmlformats.org/drawingml/2006/main" noGrp="1"/>
          </p:cNvSpPr>
          <p:nvPr/>
        </p:nvSpPr>
        <p:spPr>
          <a:xfrm xmlns:a="http://schemas.openxmlformats.org/drawingml/2006/main">
            <a:off x="8296275" y="33147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27</a:t>
            </a:r>
          </a:p>
        </p:txBody>
      </p:sp>
      <p:sp>
        <p:nvSpPr>
          <p:cNvPr id="65" name="">
            <a:extLst xmlns:a="http://schemas.openxmlformats.org/drawingml/2006/main">
              <a:ext uri="{FF2B5EF4-FFF2-40B4-BE49-F238E27FC236}">
                <a16:creationId xmlns:a16="http://schemas.microsoft.com/office/drawing/2014/main" id="{BE6FA98C-E4D4-4017-AD54-3F70660A41FA}"/>
              </a:ext>
            </a:extLst>
          </p:cNvPr>
          <p:cNvSpPr>
            <a:spLocks xmlns:a="http://schemas.openxmlformats.org/drawingml/2006/main" noGrp="1"/>
          </p:cNvSpPr>
          <p:nvPr/>
        </p:nvSpPr>
        <p:spPr>
          <a:xfrm xmlns:a="http://schemas.openxmlformats.org/drawingml/2006/main">
            <a:off x="6191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E35649B0-8B97-4DF8-8D06-0A5D43BB48DB}"/>
              </a:ext>
            </a:extLst>
          </p:cNvPr>
          <p:cNvSpPr>
            <a:spLocks xmlns:a="http://schemas.openxmlformats.org/drawingml/2006/main" noGrp="1"/>
          </p:cNvSpPr>
          <p:nvPr/>
        </p:nvSpPr>
        <p:spPr>
          <a:xfrm xmlns:a="http://schemas.openxmlformats.org/drawingml/2006/main">
            <a:off x="6238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2116AF55-17F2-45D9-8B4F-D22A16A1147A}"/>
              </a:ext>
            </a:extLst>
          </p:cNvPr>
          <p:cNvSpPr>
            <a:spLocks xmlns:a="http://schemas.openxmlformats.org/drawingml/2006/main" noGrp="1"/>
          </p:cNvSpPr>
          <p:nvPr/>
        </p:nvSpPr>
        <p:spPr>
          <a:xfrm xmlns:a="http://schemas.openxmlformats.org/drawingml/2006/main">
            <a:off x="6286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7705A641-D5CE-4856-BDEF-216C4447A960}"/>
              </a:ext>
            </a:extLst>
          </p:cNvPr>
          <p:cNvSpPr>
            <a:spLocks xmlns:a="http://schemas.openxmlformats.org/drawingml/2006/main" noGrp="1"/>
          </p:cNvSpPr>
          <p:nvPr/>
        </p:nvSpPr>
        <p:spPr>
          <a:xfrm xmlns:a="http://schemas.openxmlformats.org/drawingml/2006/main">
            <a:off x="6334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3848380A-155F-47EE-A26F-70EB42BC2136}"/>
              </a:ext>
            </a:extLst>
          </p:cNvPr>
          <p:cNvSpPr>
            <a:spLocks xmlns:a="http://schemas.openxmlformats.org/drawingml/2006/main" noGrp="1"/>
          </p:cNvSpPr>
          <p:nvPr/>
        </p:nvSpPr>
        <p:spPr>
          <a:xfrm xmlns:a="http://schemas.openxmlformats.org/drawingml/2006/main">
            <a:off x="6381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7EDDB318-DAB7-47E7-93FB-FAEF2DC69162}"/>
              </a:ext>
            </a:extLst>
          </p:cNvPr>
          <p:cNvSpPr>
            <a:spLocks xmlns:a="http://schemas.openxmlformats.org/drawingml/2006/main" noGrp="1"/>
          </p:cNvSpPr>
          <p:nvPr/>
        </p:nvSpPr>
        <p:spPr>
          <a:xfrm xmlns:a="http://schemas.openxmlformats.org/drawingml/2006/main">
            <a:off x="6429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B6779F53-1574-4961-BF8D-43E86D6987CD}"/>
              </a:ext>
            </a:extLst>
          </p:cNvPr>
          <p:cNvSpPr>
            <a:spLocks xmlns:a="http://schemas.openxmlformats.org/drawingml/2006/main" noGrp="1"/>
          </p:cNvSpPr>
          <p:nvPr/>
        </p:nvSpPr>
        <p:spPr>
          <a:xfrm xmlns:a="http://schemas.openxmlformats.org/drawingml/2006/main">
            <a:off x="6477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3B60CB13-B9D7-4988-AE26-A102914EB596}"/>
              </a:ext>
            </a:extLst>
          </p:cNvPr>
          <p:cNvSpPr>
            <a:spLocks xmlns:a="http://schemas.openxmlformats.org/drawingml/2006/main" noGrp="1"/>
          </p:cNvSpPr>
          <p:nvPr/>
        </p:nvSpPr>
        <p:spPr>
          <a:xfrm xmlns:a="http://schemas.openxmlformats.org/drawingml/2006/main">
            <a:off x="6524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9012C0AD-1B6F-420A-A84B-F06F17170202}"/>
              </a:ext>
            </a:extLst>
          </p:cNvPr>
          <p:cNvSpPr>
            <a:spLocks xmlns:a="http://schemas.openxmlformats.org/drawingml/2006/main" noGrp="1"/>
          </p:cNvSpPr>
          <p:nvPr/>
        </p:nvSpPr>
        <p:spPr>
          <a:xfrm xmlns:a="http://schemas.openxmlformats.org/drawingml/2006/main">
            <a:off x="6572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891BAEA-6BB9-413A-9AB9-3695858AD172}"/>
              </a:ext>
            </a:extLst>
          </p:cNvPr>
          <p:cNvSpPr>
            <a:spLocks xmlns:a="http://schemas.openxmlformats.org/drawingml/2006/main" noGrp="1"/>
          </p:cNvSpPr>
          <p:nvPr/>
        </p:nvSpPr>
        <p:spPr>
          <a:xfrm xmlns:a="http://schemas.openxmlformats.org/drawingml/2006/main">
            <a:off x="6619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D7053183-C30A-4060-941A-195E9FA5D0BB}"/>
              </a:ext>
            </a:extLst>
          </p:cNvPr>
          <p:cNvSpPr>
            <a:spLocks xmlns:a="http://schemas.openxmlformats.org/drawingml/2006/main" noGrp="1"/>
          </p:cNvSpPr>
          <p:nvPr/>
        </p:nvSpPr>
        <p:spPr>
          <a:xfrm xmlns:a="http://schemas.openxmlformats.org/drawingml/2006/main">
            <a:off x="6667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AA8C784F-2798-419D-A5B7-C7086FD0701F}"/>
              </a:ext>
            </a:extLst>
          </p:cNvPr>
          <p:cNvSpPr>
            <a:spLocks xmlns:a="http://schemas.openxmlformats.org/drawingml/2006/main" noGrp="1"/>
          </p:cNvSpPr>
          <p:nvPr/>
        </p:nvSpPr>
        <p:spPr>
          <a:xfrm xmlns:a="http://schemas.openxmlformats.org/drawingml/2006/main">
            <a:off x="6715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3A8B4ECC-21C7-4739-9A18-A4AFD6EDE6A5}"/>
              </a:ext>
            </a:extLst>
          </p:cNvPr>
          <p:cNvSpPr>
            <a:spLocks xmlns:a="http://schemas.openxmlformats.org/drawingml/2006/main" noGrp="1"/>
          </p:cNvSpPr>
          <p:nvPr/>
        </p:nvSpPr>
        <p:spPr>
          <a:xfrm xmlns:a="http://schemas.openxmlformats.org/drawingml/2006/main">
            <a:off x="6762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1CB3FE01-53FE-482A-A713-1E0C6288A239}"/>
              </a:ext>
            </a:extLst>
          </p:cNvPr>
          <p:cNvSpPr>
            <a:spLocks xmlns:a="http://schemas.openxmlformats.org/drawingml/2006/main" noGrp="1"/>
          </p:cNvSpPr>
          <p:nvPr/>
        </p:nvSpPr>
        <p:spPr>
          <a:xfrm xmlns:a="http://schemas.openxmlformats.org/drawingml/2006/main">
            <a:off x="6810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75F2F31D-0C2F-4CA5-9B04-78439A8F32DA}"/>
              </a:ext>
            </a:extLst>
          </p:cNvPr>
          <p:cNvSpPr>
            <a:spLocks xmlns:a="http://schemas.openxmlformats.org/drawingml/2006/main" noGrp="1"/>
          </p:cNvSpPr>
          <p:nvPr/>
        </p:nvSpPr>
        <p:spPr>
          <a:xfrm xmlns:a="http://schemas.openxmlformats.org/drawingml/2006/main">
            <a:off x="6858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381C5D82-4836-4E14-B436-68BA973E62C1}"/>
              </a:ext>
            </a:extLst>
          </p:cNvPr>
          <p:cNvSpPr>
            <a:spLocks xmlns:a="http://schemas.openxmlformats.org/drawingml/2006/main" noGrp="1"/>
          </p:cNvSpPr>
          <p:nvPr/>
        </p:nvSpPr>
        <p:spPr>
          <a:xfrm xmlns:a="http://schemas.openxmlformats.org/drawingml/2006/main">
            <a:off x="6905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C7E942BB-C05E-4AB5-9ACD-9FCC5B7DC905}"/>
              </a:ext>
            </a:extLst>
          </p:cNvPr>
          <p:cNvSpPr>
            <a:spLocks xmlns:a="http://schemas.openxmlformats.org/drawingml/2006/main" noGrp="1"/>
          </p:cNvSpPr>
          <p:nvPr/>
        </p:nvSpPr>
        <p:spPr>
          <a:xfrm xmlns:a="http://schemas.openxmlformats.org/drawingml/2006/main">
            <a:off x="6953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2828A583-39D9-40DD-9C6B-7BFD6DBF8DE1}"/>
              </a:ext>
            </a:extLst>
          </p:cNvPr>
          <p:cNvSpPr>
            <a:spLocks xmlns:a="http://schemas.openxmlformats.org/drawingml/2006/main" noGrp="1"/>
          </p:cNvSpPr>
          <p:nvPr/>
        </p:nvSpPr>
        <p:spPr>
          <a:xfrm xmlns:a="http://schemas.openxmlformats.org/drawingml/2006/main">
            <a:off x="7000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3A48E69E-F868-4F29-A02A-6513B1CB1E08}"/>
              </a:ext>
            </a:extLst>
          </p:cNvPr>
          <p:cNvSpPr>
            <a:spLocks xmlns:a="http://schemas.openxmlformats.org/drawingml/2006/main" noGrp="1"/>
          </p:cNvSpPr>
          <p:nvPr/>
        </p:nvSpPr>
        <p:spPr>
          <a:xfrm xmlns:a="http://schemas.openxmlformats.org/drawingml/2006/main">
            <a:off x="7048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5B3D5439-046D-4FBD-BADD-A7B8A6B89ECF}"/>
              </a:ext>
            </a:extLst>
          </p:cNvPr>
          <p:cNvSpPr>
            <a:spLocks xmlns:a="http://schemas.openxmlformats.org/drawingml/2006/main" noGrp="1"/>
          </p:cNvSpPr>
          <p:nvPr/>
        </p:nvSpPr>
        <p:spPr>
          <a:xfrm xmlns:a="http://schemas.openxmlformats.org/drawingml/2006/main">
            <a:off x="7096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C382A681-623A-4471-838F-5A214BE8243C}"/>
              </a:ext>
            </a:extLst>
          </p:cNvPr>
          <p:cNvSpPr>
            <a:spLocks xmlns:a="http://schemas.openxmlformats.org/drawingml/2006/main" noGrp="1"/>
          </p:cNvSpPr>
          <p:nvPr/>
        </p:nvSpPr>
        <p:spPr>
          <a:xfrm xmlns:a="http://schemas.openxmlformats.org/drawingml/2006/main">
            <a:off x="7143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C289C7DF-36B0-419E-894C-210E421B1D5B}"/>
              </a:ext>
            </a:extLst>
          </p:cNvPr>
          <p:cNvSpPr>
            <a:spLocks xmlns:a="http://schemas.openxmlformats.org/drawingml/2006/main" noGrp="1"/>
          </p:cNvSpPr>
          <p:nvPr/>
        </p:nvSpPr>
        <p:spPr>
          <a:xfrm xmlns:a="http://schemas.openxmlformats.org/drawingml/2006/main">
            <a:off x="7191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C243B06C-0A5C-4EDF-B15C-8F5D0674343B}"/>
              </a:ext>
            </a:extLst>
          </p:cNvPr>
          <p:cNvSpPr>
            <a:spLocks xmlns:a="http://schemas.openxmlformats.org/drawingml/2006/main" noGrp="1"/>
          </p:cNvSpPr>
          <p:nvPr/>
        </p:nvSpPr>
        <p:spPr>
          <a:xfrm xmlns:a="http://schemas.openxmlformats.org/drawingml/2006/main">
            <a:off x="7239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442C3362-E7FD-483C-8B75-C242544B2E09}"/>
              </a:ext>
            </a:extLst>
          </p:cNvPr>
          <p:cNvSpPr>
            <a:spLocks xmlns:a="http://schemas.openxmlformats.org/drawingml/2006/main" noGrp="1"/>
          </p:cNvSpPr>
          <p:nvPr/>
        </p:nvSpPr>
        <p:spPr>
          <a:xfrm xmlns:a="http://schemas.openxmlformats.org/drawingml/2006/main">
            <a:off x="7286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2A8F14A4-7F90-4796-B455-AC99F9A93728}"/>
              </a:ext>
            </a:extLst>
          </p:cNvPr>
          <p:cNvSpPr>
            <a:spLocks xmlns:a="http://schemas.openxmlformats.org/drawingml/2006/main" noGrp="1"/>
          </p:cNvSpPr>
          <p:nvPr/>
        </p:nvSpPr>
        <p:spPr>
          <a:xfrm xmlns:a="http://schemas.openxmlformats.org/drawingml/2006/main">
            <a:off x="7334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6C521203-DB69-4A4D-9414-B7B02E34D485}"/>
              </a:ext>
            </a:extLst>
          </p:cNvPr>
          <p:cNvSpPr>
            <a:spLocks xmlns:a="http://schemas.openxmlformats.org/drawingml/2006/main" noGrp="1"/>
          </p:cNvSpPr>
          <p:nvPr/>
        </p:nvSpPr>
        <p:spPr>
          <a:xfrm xmlns:a="http://schemas.openxmlformats.org/drawingml/2006/main">
            <a:off x="7381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792ABD3D-D651-4D2E-9D51-752BABD1C8BF}"/>
              </a:ext>
            </a:extLst>
          </p:cNvPr>
          <p:cNvSpPr>
            <a:spLocks xmlns:a="http://schemas.openxmlformats.org/drawingml/2006/main" noGrp="1"/>
          </p:cNvSpPr>
          <p:nvPr/>
        </p:nvSpPr>
        <p:spPr>
          <a:xfrm xmlns:a="http://schemas.openxmlformats.org/drawingml/2006/main">
            <a:off x="7429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0EA5E27E-E3C9-4963-825D-B9B946FAA572}"/>
              </a:ext>
            </a:extLst>
          </p:cNvPr>
          <p:cNvSpPr>
            <a:spLocks xmlns:a="http://schemas.openxmlformats.org/drawingml/2006/main" noGrp="1"/>
          </p:cNvSpPr>
          <p:nvPr/>
        </p:nvSpPr>
        <p:spPr>
          <a:xfrm xmlns:a="http://schemas.openxmlformats.org/drawingml/2006/main">
            <a:off x="6048375" y="3810000"/>
            <a:ext cx="2857500" cy="457200"/>
          </a:xfrm>
          <a:prstGeom xmlns:a="http://schemas.openxmlformats.org/drawingml/2006/main" prst="roundRect">
            <a:avLst>
              <a:gd name="adj" fmla="val 25000"/>
            </a:avLst>
          </a:prstGeom>
          <a:solidFill xmlns:a="http://schemas.openxmlformats.org/drawingml/2006/main">
            <a:srgbClr val="F0EAF9"/>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FD8AEBC1-53A1-4600-A74E-AC03983770D8}"/>
              </a:ext>
            </a:extLst>
          </p:cNvPr>
          <p:cNvSpPr>
            <a:spLocks xmlns:a="http://schemas.openxmlformats.org/drawingml/2006/main" noGrp="1"/>
          </p:cNvSpPr>
          <p:nvPr/>
        </p:nvSpPr>
        <p:spPr>
          <a:xfrm xmlns:a="http://schemas.openxmlformats.org/drawingml/2006/main">
            <a:off x="6191250" y="3838575"/>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New demand</a:t>
            </a:r>
          </a:p>
        </p:txBody>
      </p:sp>
      <p:sp>
        <p:nvSpPr>
          <p:cNvPr id="94" name="">
            <a:extLst xmlns:a="http://schemas.openxmlformats.org/drawingml/2006/main">
              <a:ext uri="{FF2B5EF4-FFF2-40B4-BE49-F238E27FC236}">
                <a16:creationId xmlns:a16="http://schemas.microsoft.com/office/drawing/2014/main" id="{95B2CAD5-68F0-4EEA-9BAB-496442BB61CE}"/>
              </a:ext>
            </a:extLst>
          </p:cNvPr>
          <p:cNvSpPr>
            <a:spLocks xmlns:a="http://schemas.openxmlformats.org/drawingml/2006/main" noGrp="1"/>
          </p:cNvSpPr>
          <p:nvPr/>
        </p:nvSpPr>
        <p:spPr>
          <a:xfrm xmlns:a="http://schemas.openxmlformats.org/drawingml/2006/main">
            <a:off x="8296275" y="38385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24</a:t>
            </a:r>
          </a:p>
        </p:txBody>
      </p:sp>
      <p:sp>
        <p:nvSpPr>
          <p:cNvPr id="95" name="">
            <a:extLst xmlns:a="http://schemas.openxmlformats.org/drawingml/2006/main">
              <a:ext uri="{FF2B5EF4-FFF2-40B4-BE49-F238E27FC236}">
                <a16:creationId xmlns:a16="http://schemas.microsoft.com/office/drawing/2014/main" id="{228A5E32-2FCF-4C68-82F7-B9B0A9DD00AD}"/>
              </a:ext>
            </a:extLst>
          </p:cNvPr>
          <p:cNvSpPr>
            <a:spLocks xmlns:a="http://schemas.openxmlformats.org/drawingml/2006/main" noGrp="1"/>
          </p:cNvSpPr>
          <p:nvPr/>
        </p:nvSpPr>
        <p:spPr>
          <a:xfrm xmlns:a="http://schemas.openxmlformats.org/drawingml/2006/main">
            <a:off x="6191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D57BC708-3854-4B96-AD45-FBE564626FF8}"/>
              </a:ext>
            </a:extLst>
          </p:cNvPr>
          <p:cNvSpPr>
            <a:spLocks xmlns:a="http://schemas.openxmlformats.org/drawingml/2006/main" noGrp="1"/>
          </p:cNvSpPr>
          <p:nvPr/>
        </p:nvSpPr>
        <p:spPr>
          <a:xfrm xmlns:a="http://schemas.openxmlformats.org/drawingml/2006/main">
            <a:off x="6238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FAEC6E10-AF86-463E-9C97-F76299915043}"/>
              </a:ext>
            </a:extLst>
          </p:cNvPr>
          <p:cNvSpPr>
            <a:spLocks xmlns:a="http://schemas.openxmlformats.org/drawingml/2006/main" noGrp="1"/>
          </p:cNvSpPr>
          <p:nvPr/>
        </p:nvSpPr>
        <p:spPr>
          <a:xfrm xmlns:a="http://schemas.openxmlformats.org/drawingml/2006/main">
            <a:off x="6286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3F5BF0B6-0926-4F14-8D0B-2C32082EF66B}"/>
              </a:ext>
            </a:extLst>
          </p:cNvPr>
          <p:cNvSpPr>
            <a:spLocks xmlns:a="http://schemas.openxmlformats.org/drawingml/2006/main" noGrp="1"/>
          </p:cNvSpPr>
          <p:nvPr/>
        </p:nvSpPr>
        <p:spPr>
          <a:xfrm xmlns:a="http://schemas.openxmlformats.org/drawingml/2006/main">
            <a:off x="6334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53C2E8FB-5E25-4A2B-AAC6-6A06D87ED409}"/>
              </a:ext>
            </a:extLst>
          </p:cNvPr>
          <p:cNvSpPr>
            <a:spLocks xmlns:a="http://schemas.openxmlformats.org/drawingml/2006/main" noGrp="1"/>
          </p:cNvSpPr>
          <p:nvPr/>
        </p:nvSpPr>
        <p:spPr>
          <a:xfrm xmlns:a="http://schemas.openxmlformats.org/drawingml/2006/main">
            <a:off x="6381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83F2A387-C2B6-4DBF-987A-D26FF1E6F979}"/>
              </a:ext>
            </a:extLst>
          </p:cNvPr>
          <p:cNvSpPr>
            <a:spLocks xmlns:a="http://schemas.openxmlformats.org/drawingml/2006/main" noGrp="1"/>
          </p:cNvSpPr>
          <p:nvPr/>
        </p:nvSpPr>
        <p:spPr>
          <a:xfrm xmlns:a="http://schemas.openxmlformats.org/drawingml/2006/main">
            <a:off x="6429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5924D428-A27A-409E-BB97-E4651D25E9BA}"/>
              </a:ext>
            </a:extLst>
          </p:cNvPr>
          <p:cNvSpPr>
            <a:spLocks xmlns:a="http://schemas.openxmlformats.org/drawingml/2006/main" noGrp="1"/>
          </p:cNvSpPr>
          <p:nvPr/>
        </p:nvSpPr>
        <p:spPr>
          <a:xfrm xmlns:a="http://schemas.openxmlformats.org/drawingml/2006/main">
            <a:off x="6477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587A33E6-D3C3-4617-A779-76274B0DC593}"/>
              </a:ext>
            </a:extLst>
          </p:cNvPr>
          <p:cNvSpPr>
            <a:spLocks xmlns:a="http://schemas.openxmlformats.org/drawingml/2006/main" noGrp="1"/>
          </p:cNvSpPr>
          <p:nvPr/>
        </p:nvSpPr>
        <p:spPr>
          <a:xfrm xmlns:a="http://schemas.openxmlformats.org/drawingml/2006/main">
            <a:off x="6524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D399C551-5F3A-42D6-85DE-D693FE9686D2}"/>
              </a:ext>
            </a:extLst>
          </p:cNvPr>
          <p:cNvSpPr>
            <a:spLocks xmlns:a="http://schemas.openxmlformats.org/drawingml/2006/main" noGrp="1"/>
          </p:cNvSpPr>
          <p:nvPr/>
        </p:nvSpPr>
        <p:spPr>
          <a:xfrm xmlns:a="http://schemas.openxmlformats.org/drawingml/2006/main">
            <a:off x="6572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B6614895-A18A-477B-BD3B-2EA183EEE22E}"/>
              </a:ext>
            </a:extLst>
          </p:cNvPr>
          <p:cNvSpPr>
            <a:spLocks xmlns:a="http://schemas.openxmlformats.org/drawingml/2006/main" noGrp="1"/>
          </p:cNvSpPr>
          <p:nvPr/>
        </p:nvSpPr>
        <p:spPr>
          <a:xfrm xmlns:a="http://schemas.openxmlformats.org/drawingml/2006/main">
            <a:off x="6619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67FA3A50-A95F-4987-97D0-EA89596E92F4}"/>
              </a:ext>
            </a:extLst>
          </p:cNvPr>
          <p:cNvSpPr>
            <a:spLocks xmlns:a="http://schemas.openxmlformats.org/drawingml/2006/main" noGrp="1"/>
          </p:cNvSpPr>
          <p:nvPr/>
        </p:nvSpPr>
        <p:spPr>
          <a:xfrm xmlns:a="http://schemas.openxmlformats.org/drawingml/2006/main">
            <a:off x="6667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7E37E9C3-B746-4831-8423-C8AE69B58EF5}"/>
              </a:ext>
            </a:extLst>
          </p:cNvPr>
          <p:cNvSpPr>
            <a:spLocks xmlns:a="http://schemas.openxmlformats.org/drawingml/2006/main" noGrp="1"/>
          </p:cNvSpPr>
          <p:nvPr/>
        </p:nvSpPr>
        <p:spPr>
          <a:xfrm xmlns:a="http://schemas.openxmlformats.org/drawingml/2006/main">
            <a:off x="6715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EC28D601-0DFA-41BB-AFFC-DAB0FEBC35CC}"/>
              </a:ext>
            </a:extLst>
          </p:cNvPr>
          <p:cNvSpPr>
            <a:spLocks xmlns:a="http://schemas.openxmlformats.org/drawingml/2006/main" noGrp="1"/>
          </p:cNvSpPr>
          <p:nvPr/>
        </p:nvSpPr>
        <p:spPr>
          <a:xfrm xmlns:a="http://schemas.openxmlformats.org/drawingml/2006/main">
            <a:off x="6762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748456FA-F129-498C-AB48-DFB76409BEF9}"/>
              </a:ext>
            </a:extLst>
          </p:cNvPr>
          <p:cNvSpPr>
            <a:spLocks xmlns:a="http://schemas.openxmlformats.org/drawingml/2006/main" noGrp="1"/>
          </p:cNvSpPr>
          <p:nvPr/>
        </p:nvSpPr>
        <p:spPr>
          <a:xfrm xmlns:a="http://schemas.openxmlformats.org/drawingml/2006/main">
            <a:off x="6810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C3D2D60E-3208-44F9-A4EF-6499B3873986}"/>
              </a:ext>
            </a:extLst>
          </p:cNvPr>
          <p:cNvSpPr>
            <a:spLocks xmlns:a="http://schemas.openxmlformats.org/drawingml/2006/main" noGrp="1"/>
          </p:cNvSpPr>
          <p:nvPr/>
        </p:nvSpPr>
        <p:spPr>
          <a:xfrm xmlns:a="http://schemas.openxmlformats.org/drawingml/2006/main">
            <a:off x="6858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7D3A3F27-06FF-48C9-9202-DEADA1C7E937}"/>
              </a:ext>
            </a:extLst>
          </p:cNvPr>
          <p:cNvSpPr>
            <a:spLocks xmlns:a="http://schemas.openxmlformats.org/drawingml/2006/main" noGrp="1"/>
          </p:cNvSpPr>
          <p:nvPr/>
        </p:nvSpPr>
        <p:spPr>
          <a:xfrm xmlns:a="http://schemas.openxmlformats.org/drawingml/2006/main">
            <a:off x="6905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1FFD3879-59E2-48C4-BF77-5ED78C3B8D11}"/>
              </a:ext>
            </a:extLst>
          </p:cNvPr>
          <p:cNvSpPr>
            <a:spLocks xmlns:a="http://schemas.openxmlformats.org/drawingml/2006/main" noGrp="1"/>
          </p:cNvSpPr>
          <p:nvPr/>
        </p:nvSpPr>
        <p:spPr>
          <a:xfrm xmlns:a="http://schemas.openxmlformats.org/drawingml/2006/main">
            <a:off x="6953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EC3F0F81-2F06-4011-A959-12D89C2D916A}"/>
              </a:ext>
            </a:extLst>
          </p:cNvPr>
          <p:cNvSpPr>
            <a:spLocks xmlns:a="http://schemas.openxmlformats.org/drawingml/2006/main" noGrp="1"/>
          </p:cNvSpPr>
          <p:nvPr/>
        </p:nvSpPr>
        <p:spPr>
          <a:xfrm xmlns:a="http://schemas.openxmlformats.org/drawingml/2006/main">
            <a:off x="7000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0EE7159A-33A4-4544-9593-55AA946B372E}"/>
              </a:ext>
            </a:extLst>
          </p:cNvPr>
          <p:cNvSpPr>
            <a:spLocks xmlns:a="http://schemas.openxmlformats.org/drawingml/2006/main" noGrp="1"/>
          </p:cNvSpPr>
          <p:nvPr/>
        </p:nvSpPr>
        <p:spPr>
          <a:xfrm xmlns:a="http://schemas.openxmlformats.org/drawingml/2006/main">
            <a:off x="7048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0D1C3145-8EB4-40E2-A29E-32DD67CC12C0}"/>
              </a:ext>
            </a:extLst>
          </p:cNvPr>
          <p:cNvSpPr>
            <a:spLocks xmlns:a="http://schemas.openxmlformats.org/drawingml/2006/main" noGrp="1"/>
          </p:cNvSpPr>
          <p:nvPr/>
        </p:nvSpPr>
        <p:spPr>
          <a:xfrm xmlns:a="http://schemas.openxmlformats.org/drawingml/2006/main">
            <a:off x="7096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43E7D529-3B1F-4658-B2CA-4597EF6E0313}"/>
              </a:ext>
            </a:extLst>
          </p:cNvPr>
          <p:cNvSpPr>
            <a:spLocks xmlns:a="http://schemas.openxmlformats.org/drawingml/2006/main" noGrp="1"/>
          </p:cNvSpPr>
          <p:nvPr/>
        </p:nvSpPr>
        <p:spPr>
          <a:xfrm xmlns:a="http://schemas.openxmlformats.org/drawingml/2006/main">
            <a:off x="7143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82255D8E-C46F-4BCC-A2D1-5E69DAA9B61D}"/>
              </a:ext>
            </a:extLst>
          </p:cNvPr>
          <p:cNvSpPr>
            <a:spLocks xmlns:a="http://schemas.openxmlformats.org/drawingml/2006/main" noGrp="1"/>
          </p:cNvSpPr>
          <p:nvPr/>
        </p:nvSpPr>
        <p:spPr>
          <a:xfrm xmlns:a="http://schemas.openxmlformats.org/drawingml/2006/main">
            <a:off x="7191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37462812-0F54-4FEA-9D1B-675DDEA60F2F}"/>
              </a:ext>
            </a:extLst>
          </p:cNvPr>
          <p:cNvSpPr>
            <a:spLocks xmlns:a="http://schemas.openxmlformats.org/drawingml/2006/main" noGrp="1"/>
          </p:cNvSpPr>
          <p:nvPr/>
        </p:nvSpPr>
        <p:spPr>
          <a:xfrm xmlns:a="http://schemas.openxmlformats.org/drawingml/2006/main">
            <a:off x="7239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F1E55283-226E-47AA-B28A-CB94576BD9A2}"/>
              </a:ext>
            </a:extLst>
          </p:cNvPr>
          <p:cNvSpPr>
            <a:spLocks xmlns:a="http://schemas.openxmlformats.org/drawingml/2006/main" noGrp="1"/>
          </p:cNvSpPr>
          <p:nvPr/>
        </p:nvSpPr>
        <p:spPr>
          <a:xfrm xmlns:a="http://schemas.openxmlformats.org/drawingml/2006/main">
            <a:off x="7286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D1C5311B-3C99-479D-A80E-4D2BE4D5126D}"/>
              </a:ext>
            </a:extLst>
          </p:cNvPr>
          <p:cNvSpPr>
            <a:spLocks xmlns:a="http://schemas.openxmlformats.org/drawingml/2006/main" noGrp="1"/>
          </p:cNvSpPr>
          <p:nvPr/>
        </p:nvSpPr>
        <p:spPr>
          <a:xfrm xmlns:a="http://schemas.openxmlformats.org/drawingml/2006/main">
            <a:off x="6048375" y="4333875"/>
            <a:ext cx="2857500" cy="457200"/>
          </a:xfrm>
          <a:prstGeom xmlns:a="http://schemas.openxmlformats.org/drawingml/2006/main" prst="roundRect">
            <a:avLst>
              <a:gd name="adj" fmla="val 25000"/>
            </a:avLst>
          </a:prstGeom>
          <a:solidFill xmlns:a="http://schemas.openxmlformats.org/drawingml/2006/main">
            <a:srgbClr val="FCEAF0"/>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7912D354-BDB3-4FD7-91A2-06382D44F5E9}"/>
              </a:ext>
            </a:extLst>
          </p:cNvPr>
          <p:cNvSpPr>
            <a:spLocks xmlns:a="http://schemas.openxmlformats.org/drawingml/2006/main" noGrp="1"/>
          </p:cNvSpPr>
          <p:nvPr/>
        </p:nvSpPr>
        <p:spPr>
          <a:xfrm xmlns:a="http://schemas.openxmlformats.org/drawingml/2006/main">
            <a:off x="6191250" y="436245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Dropped</a:t>
            </a:r>
          </a:p>
        </p:txBody>
      </p:sp>
      <p:sp>
        <p:nvSpPr>
          <p:cNvPr id="121" name="">
            <a:extLst xmlns:a="http://schemas.openxmlformats.org/drawingml/2006/main">
              <a:ext uri="{FF2B5EF4-FFF2-40B4-BE49-F238E27FC236}">
                <a16:creationId xmlns:a16="http://schemas.microsoft.com/office/drawing/2014/main" id="{6F0F8168-00C6-4F41-8A5D-66AC7E805EE3}"/>
              </a:ext>
            </a:extLst>
          </p:cNvPr>
          <p:cNvSpPr>
            <a:spLocks xmlns:a="http://schemas.openxmlformats.org/drawingml/2006/main" noGrp="1"/>
          </p:cNvSpPr>
          <p:nvPr/>
        </p:nvSpPr>
        <p:spPr>
          <a:xfrm xmlns:a="http://schemas.openxmlformats.org/drawingml/2006/main">
            <a:off x="8296275" y="43624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14</a:t>
            </a:r>
          </a:p>
        </p:txBody>
      </p:sp>
      <p:sp>
        <p:nvSpPr>
          <p:cNvPr id="122" name="">
            <a:extLst xmlns:a="http://schemas.openxmlformats.org/drawingml/2006/main">
              <a:ext uri="{FF2B5EF4-FFF2-40B4-BE49-F238E27FC236}">
                <a16:creationId xmlns:a16="http://schemas.microsoft.com/office/drawing/2014/main" id="{9CEB9332-9FE0-4E99-942B-E1E4CFFC5BA9}"/>
              </a:ext>
            </a:extLst>
          </p:cNvPr>
          <p:cNvSpPr>
            <a:spLocks xmlns:a="http://schemas.openxmlformats.org/drawingml/2006/main" noGrp="1"/>
          </p:cNvSpPr>
          <p:nvPr/>
        </p:nvSpPr>
        <p:spPr>
          <a:xfrm xmlns:a="http://schemas.openxmlformats.org/drawingml/2006/main">
            <a:off x="61912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2508DB36-B9ED-4C5F-832B-F9ACD726A1BF}"/>
              </a:ext>
            </a:extLst>
          </p:cNvPr>
          <p:cNvSpPr>
            <a:spLocks xmlns:a="http://schemas.openxmlformats.org/drawingml/2006/main" noGrp="1"/>
          </p:cNvSpPr>
          <p:nvPr/>
        </p:nvSpPr>
        <p:spPr>
          <a:xfrm xmlns:a="http://schemas.openxmlformats.org/drawingml/2006/main">
            <a:off x="62388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A63AB4B7-33B5-41CC-AE0F-6DC00644FA7A}"/>
              </a:ext>
            </a:extLst>
          </p:cNvPr>
          <p:cNvSpPr>
            <a:spLocks xmlns:a="http://schemas.openxmlformats.org/drawingml/2006/main" noGrp="1"/>
          </p:cNvSpPr>
          <p:nvPr/>
        </p:nvSpPr>
        <p:spPr>
          <a:xfrm xmlns:a="http://schemas.openxmlformats.org/drawingml/2006/main">
            <a:off x="62865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2FE34EF1-759E-4B03-B42F-32848BC44D54}"/>
              </a:ext>
            </a:extLst>
          </p:cNvPr>
          <p:cNvSpPr>
            <a:spLocks xmlns:a="http://schemas.openxmlformats.org/drawingml/2006/main" noGrp="1"/>
          </p:cNvSpPr>
          <p:nvPr/>
        </p:nvSpPr>
        <p:spPr>
          <a:xfrm xmlns:a="http://schemas.openxmlformats.org/drawingml/2006/main">
            <a:off x="63341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546C229E-A5C9-4705-954E-479FAC794979}"/>
              </a:ext>
            </a:extLst>
          </p:cNvPr>
          <p:cNvSpPr>
            <a:spLocks xmlns:a="http://schemas.openxmlformats.org/drawingml/2006/main" noGrp="1"/>
          </p:cNvSpPr>
          <p:nvPr/>
        </p:nvSpPr>
        <p:spPr>
          <a:xfrm xmlns:a="http://schemas.openxmlformats.org/drawingml/2006/main">
            <a:off x="63817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2990E72D-45D5-4E78-90C6-6C4FD8DA6451}"/>
              </a:ext>
            </a:extLst>
          </p:cNvPr>
          <p:cNvSpPr>
            <a:spLocks xmlns:a="http://schemas.openxmlformats.org/drawingml/2006/main" noGrp="1"/>
          </p:cNvSpPr>
          <p:nvPr/>
        </p:nvSpPr>
        <p:spPr>
          <a:xfrm xmlns:a="http://schemas.openxmlformats.org/drawingml/2006/main">
            <a:off x="64293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7DA6B480-3D67-4696-A5C0-FBD1F3D7BAAC}"/>
              </a:ext>
            </a:extLst>
          </p:cNvPr>
          <p:cNvSpPr>
            <a:spLocks xmlns:a="http://schemas.openxmlformats.org/drawingml/2006/main" noGrp="1"/>
          </p:cNvSpPr>
          <p:nvPr/>
        </p:nvSpPr>
        <p:spPr>
          <a:xfrm xmlns:a="http://schemas.openxmlformats.org/drawingml/2006/main">
            <a:off x="64770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FF04EB68-8D82-45BF-AC6C-1BF1A10D7883}"/>
              </a:ext>
            </a:extLst>
          </p:cNvPr>
          <p:cNvSpPr>
            <a:spLocks xmlns:a="http://schemas.openxmlformats.org/drawingml/2006/main" noGrp="1"/>
          </p:cNvSpPr>
          <p:nvPr/>
        </p:nvSpPr>
        <p:spPr>
          <a:xfrm xmlns:a="http://schemas.openxmlformats.org/drawingml/2006/main">
            <a:off x="65246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71CD9E48-4851-43AF-813E-4BAB00AEEA14}"/>
              </a:ext>
            </a:extLst>
          </p:cNvPr>
          <p:cNvSpPr>
            <a:spLocks xmlns:a="http://schemas.openxmlformats.org/drawingml/2006/main" noGrp="1"/>
          </p:cNvSpPr>
          <p:nvPr/>
        </p:nvSpPr>
        <p:spPr>
          <a:xfrm xmlns:a="http://schemas.openxmlformats.org/drawingml/2006/main">
            <a:off x="65722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6EE2E8CE-D202-4E22-8E82-A183CAE4CA09}"/>
              </a:ext>
            </a:extLst>
          </p:cNvPr>
          <p:cNvSpPr>
            <a:spLocks xmlns:a="http://schemas.openxmlformats.org/drawingml/2006/main" noGrp="1"/>
          </p:cNvSpPr>
          <p:nvPr/>
        </p:nvSpPr>
        <p:spPr>
          <a:xfrm xmlns:a="http://schemas.openxmlformats.org/drawingml/2006/main">
            <a:off x="66198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C359485A-6356-453B-AC10-1330042A7BCE}"/>
              </a:ext>
            </a:extLst>
          </p:cNvPr>
          <p:cNvSpPr>
            <a:spLocks xmlns:a="http://schemas.openxmlformats.org/drawingml/2006/main" noGrp="1"/>
          </p:cNvSpPr>
          <p:nvPr/>
        </p:nvSpPr>
        <p:spPr>
          <a:xfrm xmlns:a="http://schemas.openxmlformats.org/drawingml/2006/main">
            <a:off x="66675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6DF07698-3DC3-442E-AF1D-B7A8B144A3FE}"/>
              </a:ext>
            </a:extLst>
          </p:cNvPr>
          <p:cNvSpPr>
            <a:spLocks xmlns:a="http://schemas.openxmlformats.org/drawingml/2006/main" noGrp="1"/>
          </p:cNvSpPr>
          <p:nvPr/>
        </p:nvSpPr>
        <p:spPr>
          <a:xfrm xmlns:a="http://schemas.openxmlformats.org/drawingml/2006/main">
            <a:off x="67151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4D28C10E-1420-4CCA-9A8A-AFEED43A47B2}"/>
              </a:ext>
            </a:extLst>
          </p:cNvPr>
          <p:cNvSpPr>
            <a:spLocks xmlns:a="http://schemas.openxmlformats.org/drawingml/2006/main" noGrp="1"/>
          </p:cNvSpPr>
          <p:nvPr/>
        </p:nvSpPr>
        <p:spPr>
          <a:xfrm xmlns:a="http://schemas.openxmlformats.org/drawingml/2006/main">
            <a:off x="67627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FF085386-A98D-4336-889F-2FDAD6E1D3B6}"/>
              </a:ext>
            </a:extLst>
          </p:cNvPr>
          <p:cNvSpPr>
            <a:spLocks xmlns:a="http://schemas.openxmlformats.org/drawingml/2006/main" noGrp="1"/>
          </p:cNvSpPr>
          <p:nvPr/>
        </p:nvSpPr>
        <p:spPr>
          <a:xfrm xmlns:a="http://schemas.openxmlformats.org/drawingml/2006/main">
            <a:off x="68103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8A750AB6-7F23-4D0F-88AB-89D47D79ED08}"/>
              </a:ext>
            </a:extLst>
          </p:cNvPr>
          <p:cNvSpPr>
            <a:spLocks xmlns:a="http://schemas.openxmlformats.org/drawingml/2006/main" noGrp="1"/>
          </p:cNvSpPr>
          <p:nvPr/>
        </p:nvSpPr>
        <p:spPr>
          <a:xfrm xmlns:a="http://schemas.openxmlformats.org/drawingml/2006/main">
            <a:off x="9286875" y="22669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68"/>
                </a:solidFill>
                <a:latin typeface="DejaVu Sans"/>
                <a:ea typeface="DejaVu Sans"/>
                <a:cs typeface="DejaVu Sans"/>
              </a:defRPr>
            </a:pPr>
            <a:r>
              <a:rPr sz="2175" b="1">
                <a:solidFill>
                  <a:srgbClr val="087F68"/>
                </a:solidFill>
                <a:latin typeface="DejaVu Sans"/>
                <a:ea typeface="DejaVu Sans"/>
                <a:cs typeface="DejaVu Sans"/>
              </a:rPr>
              <a:t>113 demands</a:t>
            </a:r>
          </a:p>
        </p:txBody>
      </p:sp>
      <p:sp>
        <p:nvSpPr>
          <p:cNvPr id="137" name="">
            <a:extLst xmlns:a="http://schemas.openxmlformats.org/drawingml/2006/main">
              <a:ext uri="{FF2B5EF4-FFF2-40B4-BE49-F238E27FC236}">
                <a16:creationId xmlns:a16="http://schemas.microsoft.com/office/drawing/2014/main" id="{F4228756-F02A-404C-8737-A43A41935294}"/>
              </a:ext>
            </a:extLst>
          </p:cNvPr>
          <p:cNvSpPr>
            <a:spLocks xmlns:a="http://schemas.openxmlformats.org/drawingml/2006/main" noGrp="1"/>
          </p:cNvSpPr>
          <p:nvPr/>
        </p:nvSpPr>
        <p:spPr>
          <a:xfrm xmlns:a="http://schemas.openxmlformats.org/drawingml/2006/main">
            <a:off x="9286875"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99.9% availability</a:t>
            </a:r>
          </a:p>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DR tested</a:t>
            </a:r>
          </a:p>
        </p:txBody>
      </p:sp>
      <p:sp>
        <p:nvSpPr>
          <p:cNvPr id="138" name="">
            <a:extLst xmlns:a="http://schemas.openxmlformats.org/drawingml/2006/main">
              <a:ext uri="{FF2B5EF4-FFF2-40B4-BE49-F238E27FC236}">
                <a16:creationId xmlns:a16="http://schemas.microsoft.com/office/drawing/2014/main" id="{7F4E2CDB-1240-4049-8858-17633FB64524}"/>
              </a:ext>
            </a:extLst>
          </p:cNvPr>
          <p:cNvSpPr>
            <a:spLocks xmlns:a="http://schemas.openxmlformats.org/drawingml/2006/main" noGrp="1"/>
          </p:cNvSpPr>
          <p:nvPr/>
        </p:nvSpPr>
        <p:spPr>
          <a:xfrm xmlns:a="http://schemas.openxmlformats.org/drawingml/2006/main">
            <a:off x="9286875" y="37433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BF6D12"/>
                </a:solidFill>
                <a:latin typeface="DejaVu Sans"/>
                <a:ea typeface="DejaVu Sans"/>
                <a:cs typeface="DejaVu Sans"/>
              </a:defRPr>
            </a:pPr>
            <a:r>
              <a:rPr sz="1575" b="1">
                <a:solidFill>
                  <a:srgbClr val="BF6D12"/>
                </a:solidFill>
                <a:latin typeface="DejaVu Sans"/>
                <a:ea typeface="DejaVu Sans"/>
                <a:cs typeface="DejaVu Sans"/>
              </a:rPr>
              <a:t>MB: 6 major + 1 minor incidents</a:t>
            </a:r>
          </a:p>
          <a:p xmlns:a="http://schemas.openxmlformats.org/drawingml/2006/main">
            <a:pPr>
              <a:defRPr sz="1575" b="1">
                <a:solidFill>
                  <a:srgbClr val="BF6D12"/>
                </a:solidFill>
                <a:latin typeface="DejaVu Sans"/>
                <a:ea typeface="DejaVu Sans"/>
                <a:cs typeface="DejaVu Sans"/>
              </a:defRPr>
            </a:pPr>
            <a:r>
              <a:rPr sz="1575" b="1">
                <a:solidFill>
                  <a:srgbClr val="BF6D12"/>
                </a:solidFill>
                <a:latin typeface="DejaVu Sans"/>
                <a:ea typeface="DejaVu Sans"/>
                <a:cs typeface="DejaVu Sans"/>
              </a:rPr>
              <a:t>IB: 2 minor incidents</a:t>
            </a:r>
          </a:p>
        </p:txBody>
      </p:sp>
      <p:sp>
        <p:nvSpPr>
          <p:cNvPr id="139" name="">
            <a:extLst xmlns:a="http://schemas.openxmlformats.org/drawingml/2006/main">
              <a:ext uri="{FF2B5EF4-FFF2-40B4-BE49-F238E27FC236}">
                <a16:creationId xmlns:a16="http://schemas.microsoft.com/office/drawing/2014/main" id="{D4C8096C-CFAA-45A1-A946-723FB54B6233}"/>
              </a:ext>
            </a:extLst>
          </p:cNvPr>
          <p:cNvSpPr>
            <a:spLocks xmlns:a="http://schemas.openxmlformats.org/drawingml/2006/main" noGrp="1"/>
          </p:cNvSpPr>
          <p:nvPr/>
        </p:nvSpPr>
        <p:spPr>
          <a:xfrm xmlns:a="http://schemas.openxmlformats.org/drawingml/2006/main">
            <a:off x="457200" y="5848350"/>
            <a:ext cx="238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Operational outcome</a:t>
            </a:r>
          </a:p>
        </p:txBody>
      </p:sp>
      <p:sp>
        <p:nvSpPr>
          <p:cNvPr id="140" name="">
            <a:extLst xmlns:a="http://schemas.openxmlformats.org/drawingml/2006/main">
              <a:ext uri="{FF2B5EF4-FFF2-40B4-BE49-F238E27FC236}">
                <a16:creationId xmlns:a16="http://schemas.microsoft.com/office/drawing/2014/main" id="{43C773BA-B472-4269-9547-589C7C7E50E1}"/>
              </a:ext>
            </a:extLst>
          </p:cNvPr>
          <p:cNvSpPr>
            <a:spLocks xmlns:a="http://schemas.openxmlformats.org/drawingml/2006/main" noGrp="1"/>
          </p:cNvSpPr>
          <p:nvPr/>
        </p:nvSpPr>
        <p:spPr>
          <a:xfrm xmlns:a="http://schemas.openxmlformats.org/drawingml/2006/main">
            <a:off x="2905125" y="5800725"/>
            <a:ext cx="8810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3A4B"/>
                </a:solidFill>
                <a:latin typeface="DejaVu Sans"/>
                <a:ea typeface="DejaVu Sans"/>
                <a:cs typeface="DejaVu Sans"/>
              </a:defRPr>
            </a:pPr>
            <a:r>
              <a:rPr sz="1575" b="0">
                <a:solidFill>
                  <a:srgbClr val="173A4B"/>
                </a:solidFill>
                <a:latin typeface="DejaVu Sans"/>
                <a:ea typeface="DejaVu Sans"/>
                <a:cs typeface="DejaVu Sans"/>
              </a:rPr>
              <a:t>15 planned deployments. Service continuity maintained during ~48 hours of intermittent MB degradation attributed to DDoS threshold exceedance.</a:t>
            </a:r>
          </a:p>
        </p:txBody>
      </p:sp>
    </p:spTree>
    <p:extLst>
      <p:ext uri="{BB962C8B-B14F-4D97-AF65-F5344CB8AC3E}">
        <p14:creationId xmlns:p14="http://schemas.microsoft.com/office/powerpoint/2010/main" val="9050686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 name="">
            <a:extLst xmlns:a="http://schemas.openxmlformats.org/drawingml/2006/main">
              <a:ext uri="{FF2B5EF4-FFF2-40B4-BE49-F238E27FC236}">
                <a16:creationId xmlns:a16="http://schemas.microsoft.com/office/drawing/2014/main" id="{3A0792C0-60A0-4406-A702-7B083800B69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F673E117-A57A-48E3-B6FA-BA1B931D0278}"/>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FinnOne combines 50 completed demands with zero outages</a:t>
            </a:r>
          </a:p>
        </p:txBody>
      </p:sp>
      <p:sp>
        <p:nvSpPr>
          <p:cNvPr id="3" name="">
            <a:extLst xmlns:a="http://schemas.openxmlformats.org/drawingml/2006/main">
              <a:ext uri="{FF2B5EF4-FFF2-40B4-BE49-F238E27FC236}">
                <a16:creationId xmlns:a16="http://schemas.microsoft.com/office/drawing/2014/main" id="{9FFD55E2-8E3B-49D6-9C44-08259B20E59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3.24B reported September volume, with PF contributing approximately 72%</a:t>
            </a:r>
          </a:p>
        </p:txBody>
      </p:sp>
      <p:sp>
        <p:nvSpPr>
          <p:cNvPr id="4" name="">
            <a:extLst xmlns:a="http://schemas.openxmlformats.org/drawingml/2006/main">
              <a:ext uri="{FF2B5EF4-FFF2-40B4-BE49-F238E27FC236}">
                <a16:creationId xmlns:a16="http://schemas.microsoft.com/office/drawing/2014/main" id="{1DDA7D24-E26A-4A3D-A4EE-6F56E8DACD53}"/>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590FD8E8-6B39-4BE2-B82D-D8AD7532A87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a:t>
            </a:r>
          </a:p>
        </p:txBody>
      </p:sp>
      <p:graphicFrame>
        <p:nvGraphicFramePr>
          <p:cNvPr id="153" name="Chart"/>
          <p:cNvGraphicFramePr/>
          <p:nvPr/>
        </p:nvGraphicFramePr>
        <p:xfrm>
          <a:off xmlns:a="http://schemas.openxmlformats.org/drawingml/2006/main" x="457200" y="22098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829fa3e08f8b450b"/>
          </a:graphicData>
        </a:graphic>
      </p:graphicFrame>
      <p:sp>
        <p:nvSpPr>
          <p:cNvPr id="7" name="">
            <a:extLst xmlns:a="http://schemas.openxmlformats.org/drawingml/2006/main">
              <a:ext uri="{FF2B5EF4-FFF2-40B4-BE49-F238E27FC236}">
                <a16:creationId xmlns:a16="http://schemas.microsoft.com/office/drawing/2014/main" id="{C0313586-ADF5-4C1B-B42B-B4CD87E1889B}"/>
              </a:ext>
            </a:extLst>
          </p:cNvPr>
          <p:cNvSpPr>
            <a:spLocks xmlns:a="http://schemas.openxmlformats.org/drawingml/2006/main" noGrp="1"/>
          </p:cNvSpPr>
          <p:nvPr/>
        </p:nvSpPr>
        <p:spPr>
          <a:xfrm xmlns:a="http://schemas.openxmlformats.org/drawingml/2006/main">
            <a:off x="7905750" y="2228850"/>
            <a:ext cx="3810000" cy="457200"/>
          </a:xfrm>
          <a:prstGeom xmlns:a="http://schemas.openxmlformats.org/drawingml/2006/main" prst="roundRect">
            <a:avLst>
              <a:gd name="adj" fmla="val 25000"/>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09C7B7E-C8E1-4DF8-94C1-A48732C998D7}"/>
              </a:ext>
            </a:extLst>
          </p:cNvPr>
          <p:cNvSpPr>
            <a:spLocks xmlns:a="http://schemas.openxmlformats.org/drawingml/2006/main" noGrp="1"/>
          </p:cNvSpPr>
          <p:nvPr/>
        </p:nvSpPr>
        <p:spPr>
          <a:xfrm xmlns:a="http://schemas.openxmlformats.org/drawingml/2006/main">
            <a:off x="8048625" y="225742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Completed</a:t>
            </a:r>
          </a:p>
        </p:txBody>
      </p:sp>
      <p:sp>
        <p:nvSpPr>
          <p:cNvPr id="9" name="">
            <a:extLst xmlns:a="http://schemas.openxmlformats.org/drawingml/2006/main">
              <a:ext uri="{FF2B5EF4-FFF2-40B4-BE49-F238E27FC236}">
                <a16:creationId xmlns:a16="http://schemas.microsoft.com/office/drawing/2014/main" id="{F2630B29-0169-4022-AA76-ED106102239A}"/>
              </a:ext>
            </a:extLst>
          </p:cNvPr>
          <p:cNvSpPr>
            <a:spLocks xmlns:a="http://schemas.openxmlformats.org/drawingml/2006/main" noGrp="1"/>
          </p:cNvSpPr>
          <p:nvPr/>
        </p:nvSpPr>
        <p:spPr>
          <a:xfrm xmlns:a="http://schemas.openxmlformats.org/drawingml/2006/main">
            <a:off x="11106150" y="22574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50</a:t>
            </a:r>
          </a:p>
        </p:txBody>
      </p:sp>
      <p:sp>
        <p:nvSpPr>
          <p:cNvPr id="10" name="">
            <a:extLst xmlns:a="http://schemas.openxmlformats.org/drawingml/2006/main">
              <a:ext uri="{FF2B5EF4-FFF2-40B4-BE49-F238E27FC236}">
                <a16:creationId xmlns:a16="http://schemas.microsoft.com/office/drawing/2014/main" id="{9FB6F3BF-F3DB-4C57-B1EB-4C556BDEE58F}"/>
              </a:ext>
            </a:extLst>
          </p:cNvPr>
          <p:cNvSpPr>
            <a:spLocks xmlns:a="http://schemas.openxmlformats.org/drawingml/2006/main" noGrp="1"/>
          </p:cNvSpPr>
          <p:nvPr/>
        </p:nvSpPr>
        <p:spPr>
          <a:xfrm xmlns:a="http://schemas.openxmlformats.org/drawingml/2006/main">
            <a:off x="8048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49199FF-629C-424F-8F6F-A040434D8139}"/>
              </a:ext>
            </a:extLst>
          </p:cNvPr>
          <p:cNvSpPr>
            <a:spLocks xmlns:a="http://schemas.openxmlformats.org/drawingml/2006/main" noGrp="1"/>
          </p:cNvSpPr>
          <p:nvPr/>
        </p:nvSpPr>
        <p:spPr>
          <a:xfrm xmlns:a="http://schemas.openxmlformats.org/drawingml/2006/main">
            <a:off x="8096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AFB4111-F887-43DD-9A6F-0D11280B46A3}"/>
              </a:ext>
            </a:extLst>
          </p:cNvPr>
          <p:cNvSpPr>
            <a:spLocks xmlns:a="http://schemas.openxmlformats.org/drawingml/2006/main" noGrp="1"/>
          </p:cNvSpPr>
          <p:nvPr/>
        </p:nvSpPr>
        <p:spPr>
          <a:xfrm xmlns:a="http://schemas.openxmlformats.org/drawingml/2006/main">
            <a:off x="8143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269EFFB-60C6-4652-9BDC-A92CC067B6C8}"/>
              </a:ext>
            </a:extLst>
          </p:cNvPr>
          <p:cNvSpPr>
            <a:spLocks xmlns:a="http://schemas.openxmlformats.org/drawingml/2006/main" noGrp="1"/>
          </p:cNvSpPr>
          <p:nvPr/>
        </p:nvSpPr>
        <p:spPr>
          <a:xfrm xmlns:a="http://schemas.openxmlformats.org/drawingml/2006/main">
            <a:off x="8191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C46B1CF-2E84-438E-A813-6A245FC9670A}"/>
              </a:ext>
            </a:extLst>
          </p:cNvPr>
          <p:cNvSpPr>
            <a:spLocks xmlns:a="http://schemas.openxmlformats.org/drawingml/2006/main" noGrp="1"/>
          </p:cNvSpPr>
          <p:nvPr/>
        </p:nvSpPr>
        <p:spPr>
          <a:xfrm xmlns:a="http://schemas.openxmlformats.org/drawingml/2006/main">
            <a:off x="8239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45F7023-66E0-46A7-A26E-686246E179E4}"/>
              </a:ext>
            </a:extLst>
          </p:cNvPr>
          <p:cNvSpPr>
            <a:spLocks xmlns:a="http://schemas.openxmlformats.org/drawingml/2006/main" noGrp="1"/>
          </p:cNvSpPr>
          <p:nvPr/>
        </p:nvSpPr>
        <p:spPr>
          <a:xfrm xmlns:a="http://schemas.openxmlformats.org/drawingml/2006/main">
            <a:off x="8286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1FF0C75-2C9E-482E-A002-F0E19EFD61B8}"/>
              </a:ext>
            </a:extLst>
          </p:cNvPr>
          <p:cNvSpPr>
            <a:spLocks xmlns:a="http://schemas.openxmlformats.org/drawingml/2006/main" noGrp="1"/>
          </p:cNvSpPr>
          <p:nvPr/>
        </p:nvSpPr>
        <p:spPr>
          <a:xfrm xmlns:a="http://schemas.openxmlformats.org/drawingml/2006/main">
            <a:off x="8334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E69374C-FADD-4E06-9F9A-3A481310DAEB}"/>
              </a:ext>
            </a:extLst>
          </p:cNvPr>
          <p:cNvSpPr>
            <a:spLocks xmlns:a="http://schemas.openxmlformats.org/drawingml/2006/main" noGrp="1"/>
          </p:cNvSpPr>
          <p:nvPr/>
        </p:nvSpPr>
        <p:spPr>
          <a:xfrm xmlns:a="http://schemas.openxmlformats.org/drawingml/2006/main">
            <a:off x="8382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EAAAB77-6458-48EF-B13B-843B8140F5B3}"/>
              </a:ext>
            </a:extLst>
          </p:cNvPr>
          <p:cNvSpPr>
            <a:spLocks xmlns:a="http://schemas.openxmlformats.org/drawingml/2006/main" noGrp="1"/>
          </p:cNvSpPr>
          <p:nvPr/>
        </p:nvSpPr>
        <p:spPr>
          <a:xfrm xmlns:a="http://schemas.openxmlformats.org/drawingml/2006/main">
            <a:off x="8429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7A5FAB-77AF-4868-8FC2-FB316FCD4160}"/>
              </a:ext>
            </a:extLst>
          </p:cNvPr>
          <p:cNvSpPr>
            <a:spLocks xmlns:a="http://schemas.openxmlformats.org/drawingml/2006/main" noGrp="1"/>
          </p:cNvSpPr>
          <p:nvPr/>
        </p:nvSpPr>
        <p:spPr>
          <a:xfrm xmlns:a="http://schemas.openxmlformats.org/drawingml/2006/main">
            <a:off x="8477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B8FEADF-44FC-4E3E-94E2-83C328C252DD}"/>
              </a:ext>
            </a:extLst>
          </p:cNvPr>
          <p:cNvSpPr>
            <a:spLocks xmlns:a="http://schemas.openxmlformats.org/drawingml/2006/main" noGrp="1"/>
          </p:cNvSpPr>
          <p:nvPr/>
        </p:nvSpPr>
        <p:spPr>
          <a:xfrm xmlns:a="http://schemas.openxmlformats.org/drawingml/2006/main">
            <a:off x="8524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17E3508-3791-4625-BB47-37FD07F17AD0}"/>
              </a:ext>
            </a:extLst>
          </p:cNvPr>
          <p:cNvSpPr>
            <a:spLocks xmlns:a="http://schemas.openxmlformats.org/drawingml/2006/main" noGrp="1"/>
          </p:cNvSpPr>
          <p:nvPr/>
        </p:nvSpPr>
        <p:spPr>
          <a:xfrm xmlns:a="http://schemas.openxmlformats.org/drawingml/2006/main">
            <a:off x="8572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2CA6DBF-B070-4448-A209-C03964510886}"/>
              </a:ext>
            </a:extLst>
          </p:cNvPr>
          <p:cNvSpPr>
            <a:spLocks xmlns:a="http://schemas.openxmlformats.org/drawingml/2006/main" noGrp="1"/>
          </p:cNvSpPr>
          <p:nvPr/>
        </p:nvSpPr>
        <p:spPr>
          <a:xfrm xmlns:a="http://schemas.openxmlformats.org/drawingml/2006/main">
            <a:off x="8620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0C8C282-387E-4505-A445-2B631D2E3915}"/>
              </a:ext>
            </a:extLst>
          </p:cNvPr>
          <p:cNvSpPr>
            <a:spLocks xmlns:a="http://schemas.openxmlformats.org/drawingml/2006/main" noGrp="1"/>
          </p:cNvSpPr>
          <p:nvPr/>
        </p:nvSpPr>
        <p:spPr>
          <a:xfrm xmlns:a="http://schemas.openxmlformats.org/drawingml/2006/main">
            <a:off x="8667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2DA4977E-D636-46AC-A27D-F9CED051A7D0}"/>
              </a:ext>
            </a:extLst>
          </p:cNvPr>
          <p:cNvSpPr>
            <a:spLocks xmlns:a="http://schemas.openxmlformats.org/drawingml/2006/main" noGrp="1"/>
          </p:cNvSpPr>
          <p:nvPr/>
        </p:nvSpPr>
        <p:spPr>
          <a:xfrm xmlns:a="http://schemas.openxmlformats.org/drawingml/2006/main">
            <a:off x="8715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ECB6FEA-4DC7-4FB1-81B7-564041295CBA}"/>
              </a:ext>
            </a:extLst>
          </p:cNvPr>
          <p:cNvSpPr>
            <a:spLocks xmlns:a="http://schemas.openxmlformats.org/drawingml/2006/main" noGrp="1"/>
          </p:cNvSpPr>
          <p:nvPr/>
        </p:nvSpPr>
        <p:spPr>
          <a:xfrm xmlns:a="http://schemas.openxmlformats.org/drawingml/2006/main">
            <a:off x="8763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97CEC72-7ED2-4D24-93D9-D6E6FF18FC0D}"/>
              </a:ext>
            </a:extLst>
          </p:cNvPr>
          <p:cNvSpPr>
            <a:spLocks xmlns:a="http://schemas.openxmlformats.org/drawingml/2006/main" noGrp="1"/>
          </p:cNvSpPr>
          <p:nvPr/>
        </p:nvSpPr>
        <p:spPr>
          <a:xfrm xmlns:a="http://schemas.openxmlformats.org/drawingml/2006/main">
            <a:off x="8810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BDFF214-70C6-49AB-AB3C-3D76BE09F960}"/>
              </a:ext>
            </a:extLst>
          </p:cNvPr>
          <p:cNvSpPr>
            <a:spLocks xmlns:a="http://schemas.openxmlformats.org/drawingml/2006/main" noGrp="1"/>
          </p:cNvSpPr>
          <p:nvPr/>
        </p:nvSpPr>
        <p:spPr>
          <a:xfrm xmlns:a="http://schemas.openxmlformats.org/drawingml/2006/main">
            <a:off x="8858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CCCFD17-E9E2-4467-86F6-886727ABAE25}"/>
              </a:ext>
            </a:extLst>
          </p:cNvPr>
          <p:cNvSpPr>
            <a:spLocks xmlns:a="http://schemas.openxmlformats.org/drawingml/2006/main" noGrp="1"/>
          </p:cNvSpPr>
          <p:nvPr/>
        </p:nvSpPr>
        <p:spPr>
          <a:xfrm xmlns:a="http://schemas.openxmlformats.org/drawingml/2006/main">
            <a:off x="8905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6DDE0D4-EFC1-4209-816E-E495CD0D0C3B}"/>
              </a:ext>
            </a:extLst>
          </p:cNvPr>
          <p:cNvSpPr>
            <a:spLocks xmlns:a="http://schemas.openxmlformats.org/drawingml/2006/main" noGrp="1"/>
          </p:cNvSpPr>
          <p:nvPr/>
        </p:nvSpPr>
        <p:spPr>
          <a:xfrm xmlns:a="http://schemas.openxmlformats.org/drawingml/2006/main">
            <a:off x="8953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773119F-9F51-4207-9611-C42FE96B7158}"/>
              </a:ext>
            </a:extLst>
          </p:cNvPr>
          <p:cNvSpPr>
            <a:spLocks xmlns:a="http://schemas.openxmlformats.org/drawingml/2006/main" noGrp="1"/>
          </p:cNvSpPr>
          <p:nvPr/>
        </p:nvSpPr>
        <p:spPr>
          <a:xfrm xmlns:a="http://schemas.openxmlformats.org/drawingml/2006/main">
            <a:off x="9001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872C412-ACE0-4445-B407-6E0CC47E2C65}"/>
              </a:ext>
            </a:extLst>
          </p:cNvPr>
          <p:cNvSpPr>
            <a:spLocks xmlns:a="http://schemas.openxmlformats.org/drawingml/2006/main" noGrp="1"/>
          </p:cNvSpPr>
          <p:nvPr/>
        </p:nvSpPr>
        <p:spPr>
          <a:xfrm xmlns:a="http://schemas.openxmlformats.org/drawingml/2006/main">
            <a:off x="9048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4EDC043-803C-4EBE-9327-D827B5B72B8E}"/>
              </a:ext>
            </a:extLst>
          </p:cNvPr>
          <p:cNvSpPr>
            <a:spLocks xmlns:a="http://schemas.openxmlformats.org/drawingml/2006/main" noGrp="1"/>
          </p:cNvSpPr>
          <p:nvPr/>
        </p:nvSpPr>
        <p:spPr>
          <a:xfrm xmlns:a="http://schemas.openxmlformats.org/drawingml/2006/main">
            <a:off x="9096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BA634E5-45EE-46B0-A294-F0736979E263}"/>
              </a:ext>
            </a:extLst>
          </p:cNvPr>
          <p:cNvSpPr>
            <a:spLocks xmlns:a="http://schemas.openxmlformats.org/drawingml/2006/main" noGrp="1"/>
          </p:cNvSpPr>
          <p:nvPr/>
        </p:nvSpPr>
        <p:spPr>
          <a:xfrm xmlns:a="http://schemas.openxmlformats.org/drawingml/2006/main">
            <a:off x="9144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AB2EDEB-E38A-4978-8202-672555306B04}"/>
              </a:ext>
            </a:extLst>
          </p:cNvPr>
          <p:cNvSpPr>
            <a:spLocks xmlns:a="http://schemas.openxmlformats.org/drawingml/2006/main" noGrp="1"/>
          </p:cNvSpPr>
          <p:nvPr/>
        </p:nvSpPr>
        <p:spPr>
          <a:xfrm xmlns:a="http://schemas.openxmlformats.org/drawingml/2006/main">
            <a:off x="9191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2AFC407-EBBD-4AF0-9757-880BDFAA9989}"/>
              </a:ext>
            </a:extLst>
          </p:cNvPr>
          <p:cNvSpPr>
            <a:spLocks xmlns:a="http://schemas.openxmlformats.org/drawingml/2006/main" noGrp="1"/>
          </p:cNvSpPr>
          <p:nvPr/>
        </p:nvSpPr>
        <p:spPr>
          <a:xfrm xmlns:a="http://schemas.openxmlformats.org/drawingml/2006/main">
            <a:off x="9239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93C8CC1-406B-440B-A043-049546A3ED3F}"/>
              </a:ext>
            </a:extLst>
          </p:cNvPr>
          <p:cNvSpPr>
            <a:spLocks xmlns:a="http://schemas.openxmlformats.org/drawingml/2006/main" noGrp="1"/>
          </p:cNvSpPr>
          <p:nvPr/>
        </p:nvSpPr>
        <p:spPr>
          <a:xfrm xmlns:a="http://schemas.openxmlformats.org/drawingml/2006/main">
            <a:off x="9286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E235D6F-F62E-43EA-BA41-E1221A6469C8}"/>
              </a:ext>
            </a:extLst>
          </p:cNvPr>
          <p:cNvSpPr>
            <a:spLocks xmlns:a="http://schemas.openxmlformats.org/drawingml/2006/main" noGrp="1"/>
          </p:cNvSpPr>
          <p:nvPr/>
        </p:nvSpPr>
        <p:spPr>
          <a:xfrm xmlns:a="http://schemas.openxmlformats.org/drawingml/2006/main">
            <a:off x="9334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0A0B238-A919-45B2-92C0-A5142A58450B}"/>
              </a:ext>
            </a:extLst>
          </p:cNvPr>
          <p:cNvSpPr>
            <a:spLocks xmlns:a="http://schemas.openxmlformats.org/drawingml/2006/main" noGrp="1"/>
          </p:cNvSpPr>
          <p:nvPr/>
        </p:nvSpPr>
        <p:spPr>
          <a:xfrm xmlns:a="http://schemas.openxmlformats.org/drawingml/2006/main">
            <a:off x="9382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D6CF286-3244-407D-90C3-B963B9920776}"/>
              </a:ext>
            </a:extLst>
          </p:cNvPr>
          <p:cNvSpPr>
            <a:spLocks xmlns:a="http://schemas.openxmlformats.org/drawingml/2006/main" noGrp="1"/>
          </p:cNvSpPr>
          <p:nvPr/>
        </p:nvSpPr>
        <p:spPr>
          <a:xfrm xmlns:a="http://schemas.openxmlformats.org/drawingml/2006/main">
            <a:off x="9429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6D1341E-63B9-4B73-91DB-40D97C7F442D}"/>
              </a:ext>
            </a:extLst>
          </p:cNvPr>
          <p:cNvSpPr>
            <a:spLocks xmlns:a="http://schemas.openxmlformats.org/drawingml/2006/main" noGrp="1"/>
          </p:cNvSpPr>
          <p:nvPr/>
        </p:nvSpPr>
        <p:spPr>
          <a:xfrm xmlns:a="http://schemas.openxmlformats.org/drawingml/2006/main">
            <a:off x="9477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CBC682B-BED9-4B6A-972A-A7D96FD03151}"/>
              </a:ext>
            </a:extLst>
          </p:cNvPr>
          <p:cNvSpPr>
            <a:spLocks xmlns:a="http://schemas.openxmlformats.org/drawingml/2006/main" noGrp="1"/>
          </p:cNvSpPr>
          <p:nvPr/>
        </p:nvSpPr>
        <p:spPr>
          <a:xfrm xmlns:a="http://schemas.openxmlformats.org/drawingml/2006/main">
            <a:off x="9525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B9CB4E0-F1AC-4D97-AE1E-48964706B2EB}"/>
              </a:ext>
            </a:extLst>
          </p:cNvPr>
          <p:cNvSpPr>
            <a:spLocks xmlns:a="http://schemas.openxmlformats.org/drawingml/2006/main" noGrp="1"/>
          </p:cNvSpPr>
          <p:nvPr/>
        </p:nvSpPr>
        <p:spPr>
          <a:xfrm xmlns:a="http://schemas.openxmlformats.org/drawingml/2006/main">
            <a:off x="9572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28B775A8-D76A-49A8-A906-A1D1B82E9F49}"/>
              </a:ext>
            </a:extLst>
          </p:cNvPr>
          <p:cNvSpPr>
            <a:spLocks xmlns:a="http://schemas.openxmlformats.org/drawingml/2006/main" noGrp="1"/>
          </p:cNvSpPr>
          <p:nvPr/>
        </p:nvSpPr>
        <p:spPr>
          <a:xfrm xmlns:a="http://schemas.openxmlformats.org/drawingml/2006/main">
            <a:off x="9620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BE263FB-13F9-46ED-BC70-B5B39095D04E}"/>
              </a:ext>
            </a:extLst>
          </p:cNvPr>
          <p:cNvSpPr>
            <a:spLocks xmlns:a="http://schemas.openxmlformats.org/drawingml/2006/main" noGrp="1"/>
          </p:cNvSpPr>
          <p:nvPr/>
        </p:nvSpPr>
        <p:spPr>
          <a:xfrm xmlns:a="http://schemas.openxmlformats.org/drawingml/2006/main">
            <a:off x="9667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055AA2AA-ECED-47B1-9ECD-97689B834815}"/>
              </a:ext>
            </a:extLst>
          </p:cNvPr>
          <p:cNvSpPr>
            <a:spLocks xmlns:a="http://schemas.openxmlformats.org/drawingml/2006/main" noGrp="1"/>
          </p:cNvSpPr>
          <p:nvPr/>
        </p:nvSpPr>
        <p:spPr>
          <a:xfrm xmlns:a="http://schemas.openxmlformats.org/drawingml/2006/main">
            <a:off x="9715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F6FCB82-97CA-49F3-9498-3A2600D28C8F}"/>
              </a:ext>
            </a:extLst>
          </p:cNvPr>
          <p:cNvSpPr>
            <a:spLocks xmlns:a="http://schemas.openxmlformats.org/drawingml/2006/main" noGrp="1"/>
          </p:cNvSpPr>
          <p:nvPr/>
        </p:nvSpPr>
        <p:spPr>
          <a:xfrm xmlns:a="http://schemas.openxmlformats.org/drawingml/2006/main">
            <a:off x="9763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26E472D2-B3BE-42F4-B7A9-C6C90AD0BB4F}"/>
              </a:ext>
            </a:extLst>
          </p:cNvPr>
          <p:cNvSpPr>
            <a:spLocks xmlns:a="http://schemas.openxmlformats.org/drawingml/2006/main" noGrp="1"/>
          </p:cNvSpPr>
          <p:nvPr/>
        </p:nvSpPr>
        <p:spPr>
          <a:xfrm xmlns:a="http://schemas.openxmlformats.org/drawingml/2006/main">
            <a:off x="9810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95A76B8-D680-49AC-B835-AADBC2172ABE}"/>
              </a:ext>
            </a:extLst>
          </p:cNvPr>
          <p:cNvSpPr>
            <a:spLocks xmlns:a="http://schemas.openxmlformats.org/drawingml/2006/main" noGrp="1"/>
          </p:cNvSpPr>
          <p:nvPr/>
        </p:nvSpPr>
        <p:spPr>
          <a:xfrm xmlns:a="http://schemas.openxmlformats.org/drawingml/2006/main">
            <a:off x="9858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18152015-5D83-4321-95C6-B2CAD3CBDC22}"/>
              </a:ext>
            </a:extLst>
          </p:cNvPr>
          <p:cNvSpPr>
            <a:spLocks xmlns:a="http://schemas.openxmlformats.org/drawingml/2006/main" noGrp="1"/>
          </p:cNvSpPr>
          <p:nvPr/>
        </p:nvSpPr>
        <p:spPr>
          <a:xfrm xmlns:a="http://schemas.openxmlformats.org/drawingml/2006/main">
            <a:off x="9906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E99ABC31-D533-442B-8567-85DA786148D8}"/>
              </a:ext>
            </a:extLst>
          </p:cNvPr>
          <p:cNvSpPr>
            <a:spLocks xmlns:a="http://schemas.openxmlformats.org/drawingml/2006/main" noGrp="1"/>
          </p:cNvSpPr>
          <p:nvPr/>
        </p:nvSpPr>
        <p:spPr>
          <a:xfrm xmlns:a="http://schemas.openxmlformats.org/drawingml/2006/main">
            <a:off x="9953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340F5E74-41B0-4F8D-B8D9-1987E894DA63}"/>
              </a:ext>
            </a:extLst>
          </p:cNvPr>
          <p:cNvSpPr>
            <a:spLocks xmlns:a="http://schemas.openxmlformats.org/drawingml/2006/main" noGrp="1"/>
          </p:cNvSpPr>
          <p:nvPr/>
        </p:nvSpPr>
        <p:spPr>
          <a:xfrm xmlns:a="http://schemas.openxmlformats.org/drawingml/2006/main">
            <a:off x="10001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B23A58DC-5EBC-4DB7-8ADB-D09AC9DE65E0}"/>
              </a:ext>
            </a:extLst>
          </p:cNvPr>
          <p:cNvSpPr>
            <a:spLocks xmlns:a="http://schemas.openxmlformats.org/drawingml/2006/main" noGrp="1"/>
          </p:cNvSpPr>
          <p:nvPr/>
        </p:nvSpPr>
        <p:spPr>
          <a:xfrm xmlns:a="http://schemas.openxmlformats.org/drawingml/2006/main">
            <a:off x="10048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AE27850A-F1D4-4AFD-9EDC-8955AF3ECE32}"/>
              </a:ext>
            </a:extLst>
          </p:cNvPr>
          <p:cNvSpPr>
            <a:spLocks xmlns:a="http://schemas.openxmlformats.org/drawingml/2006/main" noGrp="1"/>
          </p:cNvSpPr>
          <p:nvPr/>
        </p:nvSpPr>
        <p:spPr>
          <a:xfrm xmlns:a="http://schemas.openxmlformats.org/drawingml/2006/main">
            <a:off x="10096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027FBE82-5B99-4DC9-BF3D-46CD13B155F0}"/>
              </a:ext>
            </a:extLst>
          </p:cNvPr>
          <p:cNvSpPr>
            <a:spLocks xmlns:a="http://schemas.openxmlformats.org/drawingml/2006/main" noGrp="1"/>
          </p:cNvSpPr>
          <p:nvPr/>
        </p:nvSpPr>
        <p:spPr>
          <a:xfrm xmlns:a="http://schemas.openxmlformats.org/drawingml/2006/main">
            <a:off x="10144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9426904-7FAA-418A-A436-4DFAA9702BBF}"/>
              </a:ext>
            </a:extLst>
          </p:cNvPr>
          <p:cNvSpPr>
            <a:spLocks xmlns:a="http://schemas.openxmlformats.org/drawingml/2006/main" noGrp="1"/>
          </p:cNvSpPr>
          <p:nvPr/>
        </p:nvSpPr>
        <p:spPr>
          <a:xfrm xmlns:a="http://schemas.openxmlformats.org/drawingml/2006/main">
            <a:off x="10191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C92B0938-03B2-426B-8C91-C8B5D8006B0E}"/>
              </a:ext>
            </a:extLst>
          </p:cNvPr>
          <p:cNvSpPr>
            <a:spLocks xmlns:a="http://schemas.openxmlformats.org/drawingml/2006/main" noGrp="1"/>
          </p:cNvSpPr>
          <p:nvPr/>
        </p:nvSpPr>
        <p:spPr>
          <a:xfrm xmlns:a="http://schemas.openxmlformats.org/drawingml/2006/main">
            <a:off x="10239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9AD0A2F9-A32D-4AF8-AEA4-B700B722D93E}"/>
              </a:ext>
            </a:extLst>
          </p:cNvPr>
          <p:cNvSpPr>
            <a:spLocks xmlns:a="http://schemas.openxmlformats.org/drawingml/2006/main" noGrp="1"/>
          </p:cNvSpPr>
          <p:nvPr/>
        </p:nvSpPr>
        <p:spPr>
          <a:xfrm xmlns:a="http://schemas.openxmlformats.org/drawingml/2006/main">
            <a:off x="10287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BDEB3B9A-7586-483A-99BD-35D8366AC035}"/>
              </a:ext>
            </a:extLst>
          </p:cNvPr>
          <p:cNvSpPr>
            <a:spLocks xmlns:a="http://schemas.openxmlformats.org/drawingml/2006/main" noGrp="1"/>
          </p:cNvSpPr>
          <p:nvPr/>
        </p:nvSpPr>
        <p:spPr>
          <a:xfrm xmlns:a="http://schemas.openxmlformats.org/drawingml/2006/main">
            <a:off x="10334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BEE1249D-4048-48C1-AFE8-E8919EC8282F}"/>
              </a:ext>
            </a:extLst>
          </p:cNvPr>
          <p:cNvSpPr>
            <a:spLocks xmlns:a="http://schemas.openxmlformats.org/drawingml/2006/main" noGrp="1"/>
          </p:cNvSpPr>
          <p:nvPr/>
        </p:nvSpPr>
        <p:spPr>
          <a:xfrm xmlns:a="http://schemas.openxmlformats.org/drawingml/2006/main">
            <a:off x="10382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4E9B2BE5-85D3-4ACD-B913-11CCF3CE8F92}"/>
              </a:ext>
            </a:extLst>
          </p:cNvPr>
          <p:cNvSpPr>
            <a:spLocks xmlns:a="http://schemas.openxmlformats.org/drawingml/2006/main" noGrp="1"/>
          </p:cNvSpPr>
          <p:nvPr/>
        </p:nvSpPr>
        <p:spPr>
          <a:xfrm xmlns:a="http://schemas.openxmlformats.org/drawingml/2006/main">
            <a:off x="7905750" y="2752725"/>
            <a:ext cx="381000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F0ED80A-1118-49E7-8D66-10C1D692793A}"/>
              </a:ext>
            </a:extLst>
          </p:cNvPr>
          <p:cNvSpPr>
            <a:spLocks xmlns:a="http://schemas.openxmlformats.org/drawingml/2006/main" noGrp="1"/>
          </p:cNvSpPr>
          <p:nvPr/>
        </p:nvSpPr>
        <p:spPr>
          <a:xfrm xmlns:a="http://schemas.openxmlformats.org/drawingml/2006/main">
            <a:off x="8048625" y="2781300"/>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In progress</a:t>
            </a:r>
          </a:p>
        </p:txBody>
      </p:sp>
      <p:sp>
        <p:nvSpPr>
          <p:cNvPr id="62" name="">
            <a:extLst xmlns:a="http://schemas.openxmlformats.org/drawingml/2006/main">
              <a:ext uri="{FF2B5EF4-FFF2-40B4-BE49-F238E27FC236}">
                <a16:creationId xmlns:a16="http://schemas.microsoft.com/office/drawing/2014/main" id="{C3546CB5-54E0-464F-917C-06EC5D83C5D4}"/>
              </a:ext>
            </a:extLst>
          </p:cNvPr>
          <p:cNvSpPr>
            <a:spLocks xmlns:a="http://schemas.openxmlformats.org/drawingml/2006/main" noGrp="1"/>
          </p:cNvSpPr>
          <p:nvPr/>
        </p:nvSpPr>
        <p:spPr>
          <a:xfrm xmlns:a="http://schemas.openxmlformats.org/drawingml/2006/main">
            <a:off x="11106150" y="27813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29</a:t>
            </a:r>
          </a:p>
        </p:txBody>
      </p:sp>
      <p:sp>
        <p:nvSpPr>
          <p:cNvPr id="63" name="">
            <a:extLst xmlns:a="http://schemas.openxmlformats.org/drawingml/2006/main">
              <a:ext uri="{FF2B5EF4-FFF2-40B4-BE49-F238E27FC236}">
                <a16:creationId xmlns:a16="http://schemas.microsoft.com/office/drawing/2014/main" id="{439B55DB-BDF0-4FF7-83A0-6DAE46788172}"/>
              </a:ext>
            </a:extLst>
          </p:cNvPr>
          <p:cNvSpPr>
            <a:spLocks xmlns:a="http://schemas.openxmlformats.org/drawingml/2006/main" noGrp="1"/>
          </p:cNvSpPr>
          <p:nvPr/>
        </p:nvSpPr>
        <p:spPr>
          <a:xfrm xmlns:a="http://schemas.openxmlformats.org/drawingml/2006/main">
            <a:off x="8048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FAF67A97-ADEE-41BB-B216-7C79F46F03C0}"/>
              </a:ext>
            </a:extLst>
          </p:cNvPr>
          <p:cNvSpPr>
            <a:spLocks xmlns:a="http://schemas.openxmlformats.org/drawingml/2006/main" noGrp="1"/>
          </p:cNvSpPr>
          <p:nvPr/>
        </p:nvSpPr>
        <p:spPr>
          <a:xfrm xmlns:a="http://schemas.openxmlformats.org/drawingml/2006/main">
            <a:off x="8096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02232E10-935B-4120-B652-3C60C523B191}"/>
              </a:ext>
            </a:extLst>
          </p:cNvPr>
          <p:cNvSpPr>
            <a:spLocks xmlns:a="http://schemas.openxmlformats.org/drawingml/2006/main" noGrp="1"/>
          </p:cNvSpPr>
          <p:nvPr/>
        </p:nvSpPr>
        <p:spPr>
          <a:xfrm xmlns:a="http://schemas.openxmlformats.org/drawingml/2006/main">
            <a:off x="8143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DF3CFD97-6E01-40C8-A034-36D56138F7BF}"/>
              </a:ext>
            </a:extLst>
          </p:cNvPr>
          <p:cNvSpPr>
            <a:spLocks xmlns:a="http://schemas.openxmlformats.org/drawingml/2006/main" noGrp="1"/>
          </p:cNvSpPr>
          <p:nvPr/>
        </p:nvSpPr>
        <p:spPr>
          <a:xfrm xmlns:a="http://schemas.openxmlformats.org/drawingml/2006/main">
            <a:off x="8191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395BD91B-E0C0-4B0D-B9E0-8F5B86A68D70}"/>
              </a:ext>
            </a:extLst>
          </p:cNvPr>
          <p:cNvSpPr>
            <a:spLocks xmlns:a="http://schemas.openxmlformats.org/drawingml/2006/main" noGrp="1"/>
          </p:cNvSpPr>
          <p:nvPr/>
        </p:nvSpPr>
        <p:spPr>
          <a:xfrm xmlns:a="http://schemas.openxmlformats.org/drawingml/2006/main">
            <a:off x="8239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9BAEB241-16C4-4523-8BF9-7C92BE136393}"/>
              </a:ext>
            </a:extLst>
          </p:cNvPr>
          <p:cNvSpPr>
            <a:spLocks xmlns:a="http://schemas.openxmlformats.org/drawingml/2006/main" noGrp="1"/>
          </p:cNvSpPr>
          <p:nvPr/>
        </p:nvSpPr>
        <p:spPr>
          <a:xfrm xmlns:a="http://schemas.openxmlformats.org/drawingml/2006/main">
            <a:off x="8286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604185D4-DB37-4822-A79E-9BF9922672AF}"/>
              </a:ext>
            </a:extLst>
          </p:cNvPr>
          <p:cNvSpPr>
            <a:spLocks xmlns:a="http://schemas.openxmlformats.org/drawingml/2006/main" noGrp="1"/>
          </p:cNvSpPr>
          <p:nvPr/>
        </p:nvSpPr>
        <p:spPr>
          <a:xfrm xmlns:a="http://schemas.openxmlformats.org/drawingml/2006/main">
            <a:off x="8334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91AE8E0E-35DE-41F6-9538-376BCC88BFD5}"/>
              </a:ext>
            </a:extLst>
          </p:cNvPr>
          <p:cNvSpPr>
            <a:spLocks xmlns:a="http://schemas.openxmlformats.org/drawingml/2006/main" noGrp="1"/>
          </p:cNvSpPr>
          <p:nvPr/>
        </p:nvSpPr>
        <p:spPr>
          <a:xfrm xmlns:a="http://schemas.openxmlformats.org/drawingml/2006/main">
            <a:off x="8382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A9B6A90D-1629-4AF9-AD51-77F6F36FB563}"/>
              </a:ext>
            </a:extLst>
          </p:cNvPr>
          <p:cNvSpPr>
            <a:spLocks xmlns:a="http://schemas.openxmlformats.org/drawingml/2006/main" noGrp="1"/>
          </p:cNvSpPr>
          <p:nvPr/>
        </p:nvSpPr>
        <p:spPr>
          <a:xfrm xmlns:a="http://schemas.openxmlformats.org/drawingml/2006/main">
            <a:off x="8429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6BA9B865-C715-491B-B286-51A03076E7B4}"/>
              </a:ext>
            </a:extLst>
          </p:cNvPr>
          <p:cNvSpPr>
            <a:spLocks xmlns:a="http://schemas.openxmlformats.org/drawingml/2006/main" noGrp="1"/>
          </p:cNvSpPr>
          <p:nvPr/>
        </p:nvSpPr>
        <p:spPr>
          <a:xfrm xmlns:a="http://schemas.openxmlformats.org/drawingml/2006/main">
            <a:off x="8477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6EB26EB5-F1AB-46CD-8C7D-C0BF7C1E7371}"/>
              </a:ext>
            </a:extLst>
          </p:cNvPr>
          <p:cNvSpPr>
            <a:spLocks xmlns:a="http://schemas.openxmlformats.org/drawingml/2006/main" noGrp="1"/>
          </p:cNvSpPr>
          <p:nvPr/>
        </p:nvSpPr>
        <p:spPr>
          <a:xfrm xmlns:a="http://schemas.openxmlformats.org/drawingml/2006/main">
            <a:off x="8524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29784436-83F9-4792-B996-8FDE91AA914A}"/>
              </a:ext>
            </a:extLst>
          </p:cNvPr>
          <p:cNvSpPr>
            <a:spLocks xmlns:a="http://schemas.openxmlformats.org/drawingml/2006/main" noGrp="1"/>
          </p:cNvSpPr>
          <p:nvPr/>
        </p:nvSpPr>
        <p:spPr>
          <a:xfrm xmlns:a="http://schemas.openxmlformats.org/drawingml/2006/main">
            <a:off x="8572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8294153B-A808-4E2D-B9C4-2AEC34EC03C1}"/>
              </a:ext>
            </a:extLst>
          </p:cNvPr>
          <p:cNvSpPr>
            <a:spLocks xmlns:a="http://schemas.openxmlformats.org/drawingml/2006/main" noGrp="1"/>
          </p:cNvSpPr>
          <p:nvPr/>
        </p:nvSpPr>
        <p:spPr>
          <a:xfrm xmlns:a="http://schemas.openxmlformats.org/drawingml/2006/main">
            <a:off x="8620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EBA76347-41D9-4E4C-B65C-659D4F8AD379}"/>
              </a:ext>
            </a:extLst>
          </p:cNvPr>
          <p:cNvSpPr>
            <a:spLocks xmlns:a="http://schemas.openxmlformats.org/drawingml/2006/main" noGrp="1"/>
          </p:cNvSpPr>
          <p:nvPr/>
        </p:nvSpPr>
        <p:spPr>
          <a:xfrm xmlns:a="http://schemas.openxmlformats.org/drawingml/2006/main">
            <a:off x="8667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4FEE76EB-DCFB-4D1D-9C7B-6C7D6B0DE6E3}"/>
              </a:ext>
            </a:extLst>
          </p:cNvPr>
          <p:cNvSpPr>
            <a:spLocks xmlns:a="http://schemas.openxmlformats.org/drawingml/2006/main" noGrp="1"/>
          </p:cNvSpPr>
          <p:nvPr/>
        </p:nvSpPr>
        <p:spPr>
          <a:xfrm xmlns:a="http://schemas.openxmlformats.org/drawingml/2006/main">
            <a:off x="8715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254DE5FA-E3CF-40A9-B4A4-AB0FAF4FF5DD}"/>
              </a:ext>
            </a:extLst>
          </p:cNvPr>
          <p:cNvSpPr>
            <a:spLocks xmlns:a="http://schemas.openxmlformats.org/drawingml/2006/main" noGrp="1"/>
          </p:cNvSpPr>
          <p:nvPr/>
        </p:nvSpPr>
        <p:spPr>
          <a:xfrm xmlns:a="http://schemas.openxmlformats.org/drawingml/2006/main">
            <a:off x="8763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7B3E2E57-7F86-4CB4-ABB2-42B19AAE4B65}"/>
              </a:ext>
            </a:extLst>
          </p:cNvPr>
          <p:cNvSpPr>
            <a:spLocks xmlns:a="http://schemas.openxmlformats.org/drawingml/2006/main" noGrp="1"/>
          </p:cNvSpPr>
          <p:nvPr/>
        </p:nvSpPr>
        <p:spPr>
          <a:xfrm xmlns:a="http://schemas.openxmlformats.org/drawingml/2006/main">
            <a:off x="8810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CB5A08D2-8280-4A2D-A5FA-10913121FCF7}"/>
              </a:ext>
            </a:extLst>
          </p:cNvPr>
          <p:cNvSpPr>
            <a:spLocks xmlns:a="http://schemas.openxmlformats.org/drawingml/2006/main" noGrp="1"/>
          </p:cNvSpPr>
          <p:nvPr/>
        </p:nvSpPr>
        <p:spPr>
          <a:xfrm xmlns:a="http://schemas.openxmlformats.org/drawingml/2006/main">
            <a:off x="8858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08BBF0BA-F17A-4671-BBC4-6028F8A96019}"/>
              </a:ext>
            </a:extLst>
          </p:cNvPr>
          <p:cNvSpPr>
            <a:spLocks xmlns:a="http://schemas.openxmlformats.org/drawingml/2006/main" noGrp="1"/>
          </p:cNvSpPr>
          <p:nvPr/>
        </p:nvSpPr>
        <p:spPr>
          <a:xfrm xmlns:a="http://schemas.openxmlformats.org/drawingml/2006/main">
            <a:off x="8905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5C830F80-4BD2-490C-89AC-8FB463F764F4}"/>
              </a:ext>
            </a:extLst>
          </p:cNvPr>
          <p:cNvSpPr>
            <a:spLocks xmlns:a="http://schemas.openxmlformats.org/drawingml/2006/main" noGrp="1"/>
          </p:cNvSpPr>
          <p:nvPr/>
        </p:nvSpPr>
        <p:spPr>
          <a:xfrm xmlns:a="http://schemas.openxmlformats.org/drawingml/2006/main">
            <a:off x="8953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6D11B906-DAB0-4D16-B5B2-B5F2F7E489BB}"/>
              </a:ext>
            </a:extLst>
          </p:cNvPr>
          <p:cNvSpPr>
            <a:spLocks xmlns:a="http://schemas.openxmlformats.org/drawingml/2006/main" noGrp="1"/>
          </p:cNvSpPr>
          <p:nvPr/>
        </p:nvSpPr>
        <p:spPr>
          <a:xfrm xmlns:a="http://schemas.openxmlformats.org/drawingml/2006/main">
            <a:off x="9001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9C8C7E60-2386-4403-8CB4-113A1D07ECC1}"/>
              </a:ext>
            </a:extLst>
          </p:cNvPr>
          <p:cNvSpPr>
            <a:spLocks xmlns:a="http://schemas.openxmlformats.org/drawingml/2006/main" noGrp="1"/>
          </p:cNvSpPr>
          <p:nvPr/>
        </p:nvSpPr>
        <p:spPr>
          <a:xfrm xmlns:a="http://schemas.openxmlformats.org/drawingml/2006/main">
            <a:off x="9048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FE63C03A-019C-403A-B81B-75AA917ABFE8}"/>
              </a:ext>
            </a:extLst>
          </p:cNvPr>
          <p:cNvSpPr>
            <a:spLocks xmlns:a="http://schemas.openxmlformats.org/drawingml/2006/main" noGrp="1"/>
          </p:cNvSpPr>
          <p:nvPr/>
        </p:nvSpPr>
        <p:spPr>
          <a:xfrm xmlns:a="http://schemas.openxmlformats.org/drawingml/2006/main">
            <a:off x="9096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E669A640-F021-4CDA-AF67-23ADF11A282E}"/>
              </a:ext>
            </a:extLst>
          </p:cNvPr>
          <p:cNvSpPr>
            <a:spLocks xmlns:a="http://schemas.openxmlformats.org/drawingml/2006/main" noGrp="1"/>
          </p:cNvSpPr>
          <p:nvPr/>
        </p:nvSpPr>
        <p:spPr>
          <a:xfrm xmlns:a="http://schemas.openxmlformats.org/drawingml/2006/main">
            <a:off x="9144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5EFA9086-839F-4799-AAE8-BC3F3057618A}"/>
              </a:ext>
            </a:extLst>
          </p:cNvPr>
          <p:cNvSpPr>
            <a:spLocks xmlns:a="http://schemas.openxmlformats.org/drawingml/2006/main" noGrp="1"/>
          </p:cNvSpPr>
          <p:nvPr/>
        </p:nvSpPr>
        <p:spPr>
          <a:xfrm xmlns:a="http://schemas.openxmlformats.org/drawingml/2006/main">
            <a:off x="9191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90191A9C-F97E-4653-83B8-A9C6267BCADC}"/>
              </a:ext>
            </a:extLst>
          </p:cNvPr>
          <p:cNvSpPr>
            <a:spLocks xmlns:a="http://schemas.openxmlformats.org/drawingml/2006/main" noGrp="1"/>
          </p:cNvSpPr>
          <p:nvPr/>
        </p:nvSpPr>
        <p:spPr>
          <a:xfrm xmlns:a="http://schemas.openxmlformats.org/drawingml/2006/main">
            <a:off x="9239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6F8274CA-2108-4F44-8D68-78626AE3B927}"/>
              </a:ext>
            </a:extLst>
          </p:cNvPr>
          <p:cNvSpPr>
            <a:spLocks xmlns:a="http://schemas.openxmlformats.org/drawingml/2006/main" noGrp="1"/>
          </p:cNvSpPr>
          <p:nvPr/>
        </p:nvSpPr>
        <p:spPr>
          <a:xfrm xmlns:a="http://schemas.openxmlformats.org/drawingml/2006/main">
            <a:off x="9286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3F518AFF-211A-4DE0-9DBA-3DA9BEB14A52}"/>
              </a:ext>
            </a:extLst>
          </p:cNvPr>
          <p:cNvSpPr>
            <a:spLocks xmlns:a="http://schemas.openxmlformats.org/drawingml/2006/main" noGrp="1"/>
          </p:cNvSpPr>
          <p:nvPr/>
        </p:nvSpPr>
        <p:spPr>
          <a:xfrm xmlns:a="http://schemas.openxmlformats.org/drawingml/2006/main">
            <a:off x="9334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A9489580-B0C8-4F7C-A825-55C78DB96785}"/>
              </a:ext>
            </a:extLst>
          </p:cNvPr>
          <p:cNvSpPr>
            <a:spLocks xmlns:a="http://schemas.openxmlformats.org/drawingml/2006/main" noGrp="1"/>
          </p:cNvSpPr>
          <p:nvPr/>
        </p:nvSpPr>
        <p:spPr>
          <a:xfrm xmlns:a="http://schemas.openxmlformats.org/drawingml/2006/main">
            <a:off x="9382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42CBFB12-9176-406E-B15F-64B3F002836C}"/>
              </a:ext>
            </a:extLst>
          </p:cNvPr>
          <p:cNvSpPr>
            <a:spLocks xmlns:a="http://schemas.openxmlformats.org/drawingml/2006/main" noGrp="1"/>
          </p:cNvSpPr>
          <p:nvPr/>
        </p:nvSpPr>
        <p:spPr>
          <a:xfrm xmlns:a="http://schemas.openxmlformats.org/drawingml/2006/main">
            <a:off x="7905750" y="3276600"/>
            <a:ext cx="3810000" cy="457200"/>
          </a:xfrm>
          <a:prstGeom xmlns:a="http://schemas.openxmlformats.org/drawingml/2006/main" prst="roundRect">
            <a:avLst>
              <a:gd name="adj" fmla="val 25000"/>
            </a:avLst>
          </a:prstGeom>
          <a:solidFill xmlns:a="http://schemas.openxmlformats.org/drawingml/2006/main">
            <a:srgbClr val="FFF4DE"/>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A8A51588-F2EA-41AD-9F0E-821F26610CD5}"/>
              </a:ext>
            </a:extLst>
          </p:cNvPr>
          <p:cNvSpPr>
            <a:spLocks xmlns:a="http://schemas.openxmlformats.org/drawingml/2006/main" noGrp="1"/>
          </p:cNvSpPr>
          <p:nvPr/>
        </p:nvSpPr>
        <p:spPr>
          <a:xfrm xmlns:a="http://schemas.openxmlformats.org/drawingml/2006/main">
            <a:off x="8048625" y="330517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Backlog</a:t>
            </a:r>
          </a:p>
        </p:txBody>
      </p:sp>
      <p:sp>
        <p:nvSpPr>
          <p:cNvPr id="94" name="">
            <a:extLst xmlns:a="http://schemas.openxmlformats.org/drawingml/2006/main">
              <a:ext uri="{FF2B5EF4-FFF2-40B4-BE49-F238E27FC236}">
                <a16:creationId xmlns:a16="http://schemas.microsoft.com/office/drawing/2014/main" id="{CDE02DED-CCC1-4E3B-8E9B-A272DBCEA5C4}"/>
              </a:ext>
            </a:extLst>
          </p:cNvPr>
          <p:cNvSpPr>
            <a:spLocks xmlns:a="http://schemas.openxmlformats.org/drawingml/2006/main" noGrp="1"/>
          </p:cNvSpPr>
          <p:nvPr/>
        </p:nvSpPr>
        <p:spPr>
          <a:xfrm xmlns:a="http://schemas.openxmlformats.org/drawingml/2006/main">
            <a:off x="11106150" y="33051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29</a:t>
            </a:r>
          </a:p>
        </p:txBody>
      </p:sp>
      <p:sp>
        <p:nvSpPr>
          <p:cNvPr id="95" name="">
            <a:extLst xmlns:a="http://schemas.openxmlformats.org/drawingml/2006/main">
              <a:ext uri="{FF2B5EF4-FFF2-40B4-BE49-F238E27FC236}">
                <a16:creationId xmlns:a16="http://schemas.microsoft.com/office/drawing/2014/main" id="{DC251E20-DA54-4916-83E9-1F61E10CFDD5}"/>
              </a:ext>
            </a:extLst>
          </p:cNvPr>
          <p:cNvSpPr>
            <a:spLocks xmlns:a="http://schemas.openxmlformats.org/drawingml/2006/main" noGrp="1"/>
          </p:cNvSpPr>
          <p:nvPr/>
        </p:nvSpPr>
        <p:spPr>
          <a:xfrm xmlns:a="http://schemas.openxmlformats.org/drawingml/2006/main">
            <a:off x="8048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0BE1DE52-024D-44E4-9CA7-1CB489A29928}"/>
              </a:ext>
            </a:extLst>
          </p:cNvPr>
          <p:cNvSpPr>
            <a:spLocks xmlns:a="http://schemas.openxmlformats.org/drawingml/2006/main" noGrp="1"/>
          </p:cNvSpPr>
          <p:nvPr/>
        </p:nvSpPr>
        <p:spPr>
          <a:xfrm xmlns:a="http://schemas.openxmlformats.org/drawingml/2006/main">
            <a:off x="8096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B2231B95-A128-4CA7-8061-927EB27E424B}"/>
              </a:ext>
            </a:extLst>
          </p:cNvPr>
          <p:cNvSpPr>
            <a:spLocks xmlns:a="http://schemas.openxmlformats.org/drawingml/2006/main" noGrp="1"/>
          </p:cNvSpPr>
          <p:nvPr/>
        </p:nvSpPr>
        <p:spPr>
          <a:xfrm xmlns:a="http://schemas.openxmlformats.org/drawingml/2006/main">
            <a:off x="8143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8B029E3C-1B4B-4821-B389-84547B63D0F1}"/>
              </a:ext>
            </a:extLst>
          </p:cNvPr>
          <p:cNvSpPr>
            <a:spLocks xmlns:a="http://schemas.openxmlformats.org/drawingml/2006/main" noGrp="1"/>
          </p:cNvSpPr>
          <p:nvPr/>
        </p:nvSpPr>
        <p:spPr>
          <a:xfrm xmlns:a="http://schemas.openxmlformats.org/drawingml/2006/main">
            <a:off x="8191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AB28E77A-44E9-4966-9F38-29D0DF3CA224}"/>
              </a:ext>
            </a:extLst>
          </p:cNvPr>
          <p:cNvSpPr>
            <a:spLocks xmlns:a="http://schemas.openxmlformats.org/drawingml/2006/main" noGrp="1"/>
          </p:cNvSpPr>
          <p:nvPr/>
        </p:nvSpPr>
        <p:spPr>
          <a:xfrm xmlns:a="http://schemas.openxmlformats.org/drawingml/2006/main">
            <a:off x="8239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FB8CF017-035E-4699-BC48-6F2AF70DFC0D}"/>
              </a:ext>
            </a:extLst>
          </p:cNvPr>
          <p:cNvSpPr>
            <a:spLocks xmlns:a="http://schemas.openxmlformats.org/drawingml/2006/main" noGrp="1"/>
          </p:cNvSpPr>
          <p:nvPr/>
        </p:nvSpPr>
        <p:spPr>
          <a:xfrm xmlns:a="http://schemas.openxmlformats.org/drawingml/2006/main">
            <a:off x="8286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30BD1CA3-8CA7-4DEC-9D08-A83B823013F6}"/>
              </a:ext>
            </a:extLst>
          </p:cNvPr>
          <p:cNvSpPr>
            <a:spLocks xmlns:a="http://schemas.openxmlformats.org/drawingml/2006/main" noGrp="1"/>
          </p:cNvSpPr>
          <p:nvPr/>
        </p:nvSpPr>
        <p:spPr>
          <a:xfrm xmlns:a="http://schemas.openxmlformats.org/drawingml/2006/main">
            <a:off x="8334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EFBFB4EC-09DF-4351-8276-D128B398FC10}"/>
              </a:ext>
            </a:extLst>
          </p:cNvPr>
          <p:cNvSpPr>
            <a:spLocks xmlns:a="http://schemas.openxmlformats.org/drawingml/2006/main" noGrp="1"/>
          </p:cNvSpPr>
          <p:nvPr/>
        </p:nvSpPr>
        <p:spPr>
          <a:xfrm xmlns:a="http://schemas.openxmlformats.org/drawingml/2006/main">
            <a:off x="8382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3FF11FE5-FAC5-4AF8-BB06-61625B218978}"/>
              </a:ext>
            </a:extLst>
          </p:cNvPr>
          <p:cNvSpPr>
            <a:spLocks xmlns:a="http://schemas.openxmlformats.org/drawingml/2006/main" noGrp="1"/>
          </p:cNvSpPr>
          <p:nvPr/>
        </p:nvSpPr>
        <p:spPr>
          <a:xfrm xmlns:a="http://schemas.openxmlformats.org/drawingml/2006/main">
            <a:off x="8429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501BE0FF-13C6-491D-AB55-73F6D7516414}"/>
              </a:ext>
            </a:extLst>
          </p:cNvPr>
          <p:cNvSpPr>
            <a:spLocks xmlns:a="http://schemas.openxmlformats.org/drawingml/2006/main" noGrp="1"/>
          </p:cNvSpPr>
          <p:nvPr/>
        </p:nvSpPr>
        <p:spPr>
          <a:xfrm xmlns:a="http://schemas.openxmlformats.org/drawingml/2006/main">
            <a:off x="8477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FC78B34D-E317-4D17-951F-0F284A129903}"/>
              </a:ext>
            </a:extLst>
          </p:cNvPr>
          <p:cNvSpPr>
            <a:spLocks xmlns:a="http://schemas.openxmlformats.org/drawingml/2006/main" noGrp="1"/>
          </p:cNvSpPr>
          <p:nvPr/>
        </p:nvSpPr>
        <p:spPr>
          <a:xfrm xmlns:a="http://schemas.openxmlformats.org/drawingml/2006/main">
            <a:off x="8524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2068C418-8749-4C79-94BC-BA63D378D407}"/>
              </a:ext>
            </a:extLst>
          </p:cNvPr>
          <p:cNvSpPr>
            <a:spLocks xmlns:a="http://schemas.openxmlformats.org/drawingml/2006/main" noGrp="1"/>
          </p:cNvSpPr>
          <p:nvPr/>
        </p:nvSpPr>
        <p:spPr>
          <a:xfrm xmlns:a="http://schemas.openxmlformats.org/drawingml/2006/main">
            <a:off x="8572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319C8C07-C290-4626-B52C-CE6E8565FFFC}"/>
              </a:ext>
            </a:extLst>
          </p:cNvPr>
          <p:cNvSpPr>
            <a:spLocks xmlns:a="http://schemas.openxmlformats.org/drawingml/2006/main" noGrp="1"/>
          </p:cNvSpPr>
          <p:nvPr/>
        </p:nvSpPr>
        <p:spPr>
          <a:xfrm xmlns:a="http://schemas.openxmlformats.org/drawingml/2006/main">
            <a:off x="8620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7AA1F073-A7B2-4730-AF1A-01A2E36FEE02}"/>
              </a:ext>
            </a:extLst>
          </p:cNvPr>
          <p:cNvSpPr>
            <a:spLocks xmlns:a="http://schemas.openxmlformats.org/drawingml/2006/main" noGrp="1"/>
          </p:cNvSpPr>
          <p:nvPr/>
        </p:nvSpPr>
        <p:spPr>
          <a:xfrm xmlns:a="http://schemas.openxmlformats.org/drawingml/2006/main">
            <a:off x="8667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24AD75D6-C6D2-4196-9D38-E9EAED3A3C68}"/>
              </a:ext>
            </a:extLst>
          </p:cNvPr>
          <p:cNvSpPr>
            <a:spLocks xmlns:a="http://schemas.openxmlformats.org/drawingml/2006/main" noGrp="1"/>
          </p:cNvSpPr>
          <p:nvPr/>
        </p:nvSpPr>
        <p:spPr>
          <a:xfrm xmlns:a="http://schemas.openxmlformats.org/drawingml/2006/main">
            <a:off x="8715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4B55D7A0-B1B2-402D-B62C-FF1B1FB6BA3B}"/>
              </a:ext>
            </a:extLst>
          </p:cNvPr>
          <p:cNvSpPr>
            <a:spLocks xmlns:a="http://schemas.openxmlformats.org/drawingml/2006/main" noGrp="1"/>
          </p:cNvSpPr>
          <p:nvPr/>
        </p:nvSpPr>
        <p:spPr>
          <a:xfrm xmlns:a="http://schemas.openxmlformats.org/drawingml/2006/main">
            <a:off x="8763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94065914-E8CF-4BAD-BF9C-0720F7FA7BE1}"/>
              </a:ext>
            </a:extLst>
          </p:cNvPr>
          <p:cNvSpPr>
            <a:spLocks xmlns:a="http://schemas.openxmlformats.org/drawingml/2006/main" noGrp="1"/>
          </p:cNvSpPr>
          <p:nvPr/>
        </p:nvSpPr>
        <p:spPr>
          <a:xfrm xmlns:a="http://schemas.openxmlformats.org/drawingml/2006/main">
            <a:off x="8810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F75D7BF1-9336-4A7A-9E7B-D6253CEE20C9}"/>
              </a:ext>
            </a:extLst>
          </p:cNvPr>
          <p:cNvSpPr>
            <a:spLocks xmlns:a="http://schemas.openxmlformats.org/drawingml/2006/main" noGrp="1"/>
          </p:cNvSpPr>
          <p:nvPr/>
        </p:nvSpPr>
        <p:spPr>
          <a:xfrm xmlns:a="http://schemas.openxmlformats.org/drawingml/2006/main">
            <a:off x="8858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842C16A9-3749-42A7-9DDD-495E88EE7C4B}"/>
              </a:ext>
            </a:extLst>
          </p:cNvPr>
          <p:cNvSpPr>
            <a:spLocks xmlns:a="http://schemas.openxmlformats.org/drawingml/2006/main" noGrp="1"/>
          </p:cNvSpPr>
          <p:nvPr/>
        </p:nvSpPr>
        <p:spPr>
          <a:xfrm xmlns:a="http://schemas.openxmlformats.org/drawingml/2006/main">
            <a:off x="8905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1BEBEE6D-B7CF-4A44-B4DF-EA5D7902BA46}"/>
              </a:ext>
            </a:extLst>
          </p:cNvPr>
          <p:cNvSpPr>
            <a:spLocks xmlns:a="http://schemas.openxmlformats.org/drawingml/2006/main" noGrp="1"/>
          </p:cNvSpPr>
          <p:nvPr/>
        </p:nvSpPr>
        <p:spPr>
          <a:xfrm xmlns:a="http://schemas.openxmlformats.org/drawingml/2006/main">
            <a:off x="8953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0D709BF7-D054-43C5-8BA8-DA0D7ACCF277}"/>
              </a:ext>
            </a:extLst>
          </p:cNvPr>
          <p:cNvSpPr>
            <a:spLocks xmlns:a="http://schemas.openxmlformats.org/drawingml/2006/main" noGrp="1"/>
          </p:cNvSpPr>
          <p:nvPr/>
        </p:nvSpPr>
        <p:spPr>
          <a:xfrm xmlns:a="http://schemas.openxmlformats.org/drawingml/2006/main">
            <a:off x="9001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869A1368-9109-45C9-93D0-554CF3C53CF5}"/>
              </a:ext>
            </a:extLst>
          </p:cNvPr>
          <p:cNvSpPr>
            <a:spLocks xmlns:a="http://schemas.openxmlformats.org/drawingml/2006/main" noGrp="1"/>
          </p:cNvSpPr>
          <p:nvPr/>
        </p:nvSpPr>
        <p:spPr>
          <a:xfrm xmlns:a="http://schemas.openxmlformats.org/drawingml/2006/main">
            <a:off x="9048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2ADC0813-0CD6-4E08-8CA1-845A851B9CA8}"/>
              </a:ext>
            </a:extLst>
          </p:cNvPr>
          <p:cNvSpPr>
            <a:spLocks xmlns:a="http://schemas.openxmlformats.org/drawingml/2006/main" noGrp="1"/>
          </p:cNvSpPr>
          <p:nvPr/>
        </p:nvSpPr>
        <p:spPr>
          <a:xfrm xmlns:a="http://schemas.openxmlformats.org/drawingml/2006/main">
            <a:off x="9096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E7ECB517-611A-4DFC-94A2-58E37401D878}"/>
              </a:ext>
            </a:extLst>
          </p:cNvPr>
          <p:cNvSpPr>
            <a:spLocks xmlns:a="http://schemas.openxmlformats.org/drawingml/2006/main" noGrp="1"/>
          </p:cNvSpPr>
          <p:nvPr/>
        </p:nvSpPr>
        <p:spPr>
          <a:xfrm xmlns:a="http://schemas.openxmlformats.org/drawingml/2006/main">
            <a:off x="9144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91C30F25-56AB-4C04-BC11-9AFD8D178D43}"/>
              </a:ext>
            </a:extLst>
          </p:cNvPr>
          <p:cNvSpPr>
            <a:spLocks xmlns:a="http://schemas.openxmlformats.org/drawingml/2006/main" noGrp="1"/>
          </p:cNvSpPr>
          <p:nvPr/>
        </p:nvSpPr>
        <p:spPr>
          <a:xfrm xmlns:a="http://schemas.openxmlformats.org/drawingml/2006/main">
            <a:off x="9191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9B6DBD67-2AC8-4B6C-BC74-36AB00BDB63A}"/>
              </a:ext>
            </a:extLst>
          </p:cNvPr>
          <p:cNvSpPr>
            <a:spLocks xmlns:a="http://schemas.openxmlformats.org/drawingml/2006/main" noGrp="1"/>
          </p:cNvSpPr>
          <p:nvPr/>
        </p:nvSpPr>
        <p:spPr>
          <a:xfrm xmlns:a="http://schemas.openxmlformats.org/drawingml/2006/main">
            <a:off x="9239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2A5322CF-E1A3-43BF-8288-798802B3D4A3}"/>
              </a:ext>
            </a:extLst>
          </p:cNvPr>
          <p:cNvSpPr>
            <a:spLocks xmlns:a="http://schemas.openxmlformats.org/drawingml/2006/main" noGrp="1"/>
          </p:cNvSpPr>
          <p:nvPr/>
        </p:nvSpPr>
        <p:spPr>
          <a:xfrm xmlns:a="http://schemas.openxmlformats.org/drawingml/2006/main">
            <a:off x="9286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5A61B394-2A7E-43EB-975F-C707D6993391}"/>
              </a:ext>
            </a:extLst>
          </p:cNvPr>
          <p:cNvSpPr>
            <a:spLocks xmlns:a="http://schemas.openxmlformats.org/drawingml/2006/main" noGrp="1"/>
          </p:cNvSpPr>
          <p:nvPr/>
        </p:nvSpPr>
        <p:spPr>
          <a:xfrm xmlns:a="http://schemas.openxmlformats.org/drawingml/2006/main">
            <a:off x="9334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F7BE17BD-1EBF-42F5-98AA-F2AA29FF5BD3}"/>
              </a:ext>
            </a:extLst>
          </p:cNvPr>
          <p:cNvSpPr>
            <a:spLocks xmlns:a="http://schemas.openxmlformats.org/drawingml/2006/main" noGrp="1"/>
          </p:cNvSpPr>
          <p:nvPr/>
        </p:nvSpPr>
        <p:spPr>
          <a:xfrm xmlns:a="http://schemas.openxmlformats.org/drawingml/2006/main">
            <a:off x="9382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661CA198-0250-455E-A5A8-687F1D03C59A}"/>
              </a:ext>
            </a:extLst>
          </p:cNvPr>
          <p:cNvSpPr>
            <a:spLocks xmlns:a="http://schemas.openxmlformats.org/drawingml/2006/main" noGrp="1"/>
          </p:cNvSpPr>
          <p:nvPr/>
        </p:nvSpPr>
        <p:spPr>
          <a:xfrm xmlns:a="http://schemas.openxmlformats.org/drawingml/2006/main">
            <a:off x="7905750" y="3800475"/>
            <a:ext cx="3810000" cy="457200"/>
          </a:xfrm>
          <a:prstGeom xmlns:a="http://schemas.openxmlformats.org/drawingml/2006/main" prst="roundRect">
            <a:avLst>
              <a:gd name="adj" fmla="val 25000"/>
            </a:avLst>
          </a:prstGeom>
          <a:solidFill xmlns:a="http://schemas.openxmlformats.org/drawingml/2006/main">
            <a:srgbClr val="F0EAF9"/>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4E7178F2-BE60-432B-8E04-A2DC5A98E6F6}"/>
              </a:ext>
            </a:extLst>
          </p:cNvPr>
          <p:cNvSpPr>
            <a:spLocks xmlns:a="http://schemas.openxmlformats.org/drawingml/2006/main" noGrp="1"/>
          </p:cNvSpPr>
          <p:nvPr/>
        </p:nvSpPr>
        <p:spPr>
          <a:xfrm xmlns:a="http://schemas.openxmlformats.org/drawingml/2006/main">
            <a:off x="8048625" y="3829050"/>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Baseline 0</a:t>
            </a:r>
          </a:p>
        </p:txBody>
      </p:sp>
      <p:sp>
        <p:nvSpPr>
          <p:cNvPr id="126" name="">
            <a:extLst xmlns:a="http://schemas.openxmlformats.org/drawingml/2006/main">
              <a:ext uri="{FF2B5EF4-FFF2-40B4-BE49-F238E27FC236}">
                <a16:creationId xmlns:a16="http://schemas.microsoft.com/office/drawing/2014/main" id="{5B3552E0-03AF-49B5-B04E-795C679AB2B7}"/>
              </a:ext>
            </a:extLst>
          </p:cNvPr>
          <p:cNvSpPr>
            <a:spLocks xmlns:a="http://schemas.openxmlformats.org/drawingml/2006/main" noGrp="1"/>
          </p:cNvSpPr>
          <p:nvPr/>
        </p:nvSpPr>
        <p:spPr>
          <a:xfrm xmlns:a="http://schemas.openxmlformats.org/drawingml/2006/main">
            <a:off x="11106150" y="38290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4</a:t>
            </a:r>
          </a:p>
        </p:txBody>
      </p:sp>
      <p:sp>
        <p:nvSpPr>
          <p:cNvPr id="127" name="">
            <a:extLst xmlns:a="http://schemas.openxmlformats.org/drawingml/2006/main">
              <a:ext uri="{FF2B5EF4-FFF2-40B4-BE49-F238E27FC236}">
                <a16:creationId xmlns:a16="http://schemas.microsoft.com/office/drawing/2014/main" id="{FE334C06-68B6-4D00-9A9D-AB96CDB9518E}"/>
              </a:ext>
            </a:extLst>
          </p:cNvPr>
          <p:cNvSpPr>
            <a:spLocks xmlns:a="http://schemas.openxmlformats.org/drawingml/2006/main" noGrp="1"/>
          </p:cNvSpPr>
          <p:nvPr/>
        </p:nvSpPr>
        <p:spPr>
          <a:xfrm xmlns:a="http://schemas.openxmlformats.org/drawingml/2006/main">
            <a:off x="8048625"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A4C9615A-AB6A-4328-8CF0-FAF79F42FAC8}"/>
              </a:ext>
            </a:extLst>
          </p:cNvPr>
          <p:cNvSpPr>
            <a:spLocks xmlns:a="http://schemas.openxmlformats.org/drawingml/2006/main" noGrp="1"/>
          </p:cNvSpPr>
          <p:nvPr/>
        </p:nvSpPr>
        <p:spPr>
          <a:xfrm xmlns:a="http://schemas.openxmlformats.org/drawingml/2006/main">
            <a:off x="8096250"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F1E1D2C6-F8EC-4608-A984-B042C1F39838}"/>
              </a:ext>
            </a:extLst>
          </p:cNvPr>
          <p:cNvSpPr>
            <a:spLocks xmlns:a="http://schemas.openxmlformats.org/drawingml/2006/main" noGrp="1"/>
          </p:cNvSpPr>
          <p:nvPr/>
        </p:nvSpPr>
        <p:spPr>
          <a:xfrm xmlns:a="http://schemas.openxmlformats.org/drawingml/2006/main">
            <a:off x="8143875"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DC3A4D5B-73D0-4B73-8EB5-BECB0155BEA3}"/>
              </a:ext>
            </a:extLst>
          </p:cNvPr>
          <p:cNvSpPr>
            <a:spLocks xmlns:a="http://schemas.openxmlformats.org/drawingml/2006/main" noGrp="1"/>
          </p:cNvSpPr>
          <p:nvPr/>
        </p:nvSpPr>
        <p:spPr>
          <a:xfrm xmlns:a="http://schemas.openxmlformats.org/drawingml/2006/main">
            <a:off x="8191500"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EAA4A86D-9F99-4917-B3A2-400353F5433B}"/>
              </a:ext>
            </a:extLst>
          </p:cNvPr>
          <p:cNvSpPr>
            <a:spLocks xmlns:a="http://schemas.openxmlformats.org/drawingml/2006/main" noGrp="1"/>
          </p:cNvSpPr>
          <p:nvPr/>
        </p:nvSpPr>
        <p:spPr>
          <a:xfrm xmlns:a="http://schemas.openxmlformats.org/drawingml/2006/main">
            <a:off x="7905750" y="4324350"/>
            <a:ext cx="3810000" cy="457200"/>
          </a:xfrm>
          <a:prstGeom xmlns:a="http://schemas.openxmlformats.org/drawingml/2006/main" prst="roundRect">
            <a:avLst>
              <a:gd name="adj" fmla="val 25000"/>
            </a:avLst>
          </a:prstGeom>
          <a:solidFill xmlns:a="http://schemas.openxmlformats.org/drawingml/2006/main">
            <a:srgbClr val="FCEAF0"/>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E61D792E-86DD-44B4-A545-8D393BF8B9ED}"/>
              </a:ext>
            </a:extLst>
          </p:cNvPr>
          <p:cNvSpPr>
            <a:spLocks xmlns:a="http://schemas.openxmlformats.org/drawingml/2006/main" noGrp="1"/>
          </p:cNvSpPr>
          <p:nvPr/>
        </p:nvSpPr>
        <p:spPr>
          <a:xfrm xmlns:a="http://schemas.openxmlformats.org/drawingml/2006/main">
            <a:off x="8048625" y="435292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Dropped</a:t>
            </a:r>
          </a:p>
        </p:txBody>
      </p:sp>
      <p:sp>
        <p:nvSpPr>
          <p:cNvPr id="133" name="">
            <a:extLst xmlns:a="http://schemas.openxmlformats.org/drawingml/2006/main">
              <a:ext uri="{FF2B5EF4-FFF2-40B4-BE49-F238E27FC236}">
                <a16:creationId xmlns:a16="http://schemas.microsoft.com/office/drawing/2014/main" id="{8DB2A5C1-83F3-47EA-B4C9-3D9D907DAE66}"/>
              </a:ext>
            </a:extLst>
          </p:cNvPr>
          <p:cNvSpPr>
            <a:spLocks xmlns:a="http://schemas.openxmlformats.org/drawingml/2006/main" noGrp="1"/>
          </p:cNvSpPr>
          <p:nvPr/>
        </p:nvSpPr>
        <p:spPr>
          <a:xfrm xmlns:a="http://schemas.openxmlformats.org/drawingml/2006/main">
            <a:off x="11106150" y="43529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10</a:t>
            </a:r>
          </a:p>
        </p:txBody>
      </p:sp>
      <p:sp>
        <p:nvSpPr>
          <p:cNvPr id="134" name="">
            <a:extLst xmlns:a="http://schemas.openxmlformats.org/drawingml/2006/main">
              <a:ext uri="{FF2B5EF4-FFF2-40B4-BE49-F238E27FC236}">
                <a16:creationId xmlns:a16="http://schemas.microsoft.com/office/drawing/2014/main" id="{EE13B5CF-807D-4179-8BA4-2F637A2C1C55}"/>
              </a:ext>
            </a:extLst>
          </p:cNvPr>
          <p:cNvSpPr>
            <a:spLocks xmlns:a="http://schemas.openxmlformats.org/drawingml/2006/main" noGrp="1"/>
          </p:cNvSpPr>
          <p:nvPr/>
        </p:nvSpPr>
        <p:spPr>
          <a:xfrm xmlns:a="http://schemas.openxmlformats.org/drawingml/2006/main">
            <a:off x="80486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B0E38B29-D953-4A5D-B55E-4FB82A2CFADA}"/>
              </a:ext>
            </a:extLst>
          </p:cNvPr>
          <p:cNvSpPr>
            <a:spLocks xmlns:a="http://schemas.openxmlformats.org/drawingml/2006/main" noGrp="1"/>
          </p:cNvSpPr>
          <p:nvPr/>
        </p:nvSpPr>
        <p:spPr>
          <a:xfrm xmlns:a="http://schemas.openxmlformats.org/drawingml/2006/main">
            <a:off x="80962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FE18BB1E-BF1D-4E85-8BEB-4C3DDA3196CA}"/>
              </a:ext>
            </a:extLst>
          </p:cNvPr>
          <p:cNvSpPr>
            <a:spLocks xmlns:a="http://schemas.openxmlformats.org/drawingml/2006/main" noGrp="1"/>
          </p:cNvSpPr>
          <p:nvPr/>
        </p:nvSpPr>
        <p:spPr>
          <a:xfrm xmlns:a="http://schemas.openxmlformats.org/drawingml/2006/main">
            <a:off x="814387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0FEB1A36-D92C-45E2-9769-901A6F503C4E}"/>
              </a:ext>
            </a:extLst>
          </p:cNvPr>
          <p:cNvSpPr>
            <a:spLocks xmlns:a="http://schemas.openxmlformats.org/drawingml/2006/main" noGrp="1"/>
          </p:cNvSpPr>
          <p:nvPr/>
        </p:nvSpPr>
        <p:spPr>
          <a:xfrm xmlns:a="http://schemas.openxmlformats.org/drawingml/2006/main">
            <a:off x="819150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8" name="">
            <a:extLst xmlns:a="http://schemas.openxmlformats.org/drawingml/2006/main">
              <a:ext uri="{FF2B5EF4-FFF2-40B4-BE49-F238E27FC236}">
                <a16:creationId xmlns:a16="http://schemas.microsoft.com/office/drawing/2014/main" id="{8C3CDF42-247A-465B-AF07-02358ECB8A79}"/>
              </a:ext>
            </a:extLst>
          </p:cNvPr>
          <p:cNvSpPr>
            <a:spLocks xmlns:a="http://schemas.openxmlformats.org/drawingml/2006/main" noGrp="1"/>
          </p:cNvSpPr>
          <p:nvPr/>
        </p:nvSpPr>
        <p:spPr>
          <a:xfrm xmlns:a="http://schemas.openxmlformats.org/drawingml/2006/main">
            <a:off x="82391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F2958BEA-E714-4685-B8FA-239EBDDE5C78}"/>
              </a:ext>
            </a:extLst>
          </p:cNvPr>
          <p:cNvSpPr>
            <a:spLocks xmlns:a="http://schemas.openxmlformats.org/drawingml/2006/main" noGrp="1"/>
          </p:cNvSpPr>
          <p:nvPr/>
        </p:nvSpPr>
        <p:spPr>
          <a:xfrm xmlns:a="http://schemas.openxmlformats.org/drawingml/2006/main">
            <a:off x="82867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0" name="">
            <a:extLst xmlns:a="http://schemas.openxmlformats.org/drawingml/2006/main">
              <a:ext uri="{FF2B5EF4-FFF2-40B4-BE49-F238E27FC236}">
                <a16:creationId xmlns:a16="http://schemas.microsoft.com/office/drawing/2014/main" id="{B4668254-5856-4A1B-8A7D-56DD44733261}"/>
              </a:ext>
            </a:extLst>
          </p:cNvPr>
          <p:cNvSpPr>
            <a:spLocks xmlns:a="http://schemas.openxmlformats.org/drawingml/2006/main" noGrp="1"/>
          </p:cNvSpPr>
          <p:nvPr/>
        </p:nvSpPr>
        <p:spPr>
          <a:xfrm xmlns:a="http://schemas.openxmlformats.org/drawingml/2006/main">
            <a:off x="833437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D204AD93-EE8D-48D2-91EF-5707847DA672}"/>
              </a:ext>
            </a:extLst>
          </p:cNvPr>
          <p:cNvSpPr>
            <a:spLocks xmlns:a="http://schemas.openxmlformats.org/drawingml/2006/main" noGrp="1"/>
          </p:cNvSpPr>
          <p:nvPr/>
        </p:nvSpPr>
        <p:spPr>
          <a:xfrm xmlns:a="http://schemas.openxmlformats.org/drawingml/2006/main">
            <a:off x="838200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2" name="">
            <a:extLst xmlns:a="http://schemas.openxmlformats.org/drawingml/2006/main">
              <a:ext uri="{FF2B5EF4-FFF2-40B4-BE49-F238E27FC236}">
                <a16:creationId xmlns:a16="http://schemas.microsoft.com/office/drawing/2014/main" id="{3B9B58BD-B02C-40FB-9718-283E3E63D8DA}"/>
              </a:ext>
            </a:extLst>
          </p:cNvPr>
          <p:cNvSpPr>
            <a:spLocks xmlns:a="http://schemas.openxmlformats.org/drawingml/2006/main" noGrp="1"/>
          </p:cNvSpPr>
          <p:nvPr/>
        </p:nvSpPr>
        <p:spPr>
          <a:xfrm xmlns:a="http://schemas.openxmlformats.org/drawingml/2006/main">
            <a:off x="84296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3" name="">
            <a:extLst xmlns:a="http://schemas.openxmlformats.org/drawingml/2006/main">
              <a:ext uri="{FF2B5EF4-FFF2-40B4-BE49-F238E27FC236}">
                <a16:creationId xmlns:a16="http://schemas.microsoft.com/office/drawing/2014/main" id="{8F81900A-D07A-4F3D-A6B3-C9F92166058B}"/>
              </a:ext>
            </a:extLst>
          </p:cNvPr>
          <p:cNvSpPr>
            <a:spLocks xmlns:a="http://schemas.openxmlformats.org/drawingml/2006/main" noGrp="1"/>
          </p:cNvSpPr>
          <p:nvPr/>
        </p:nvSpPr>
        <p:spPr>
          <a:xfrm xmlns:a="http://schemas.openxmlformats.org/drawingml/2006/main">
            <a:off x="84772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4" name="">
            <a:extLst xmlns:a="http://schemas.openxmlformats.org/drawingml/2006/main">
              <a:ext uri="{FF2B5EF4-FFF2-40B4-BE49-F238E27FC236}">
                <a16:creationId xmlns:a16="http://schemas.microsoft.com/office/drawing/2014/main" id="{A787FFA5-97A9-4EF5-A02D-AA1E762E404B}"/>
              </a:ext>
            </a:extLst>
          </p:cNvPr>
          <p:cNvSpPr>
            <a:spLocks xmlns:a="http://schemas.openxmlformats.org/drawingml/2006/main" noGrp="1"/>
          </p:cNvSpPr>
          <p:nvPr/>
        </p:nvSpPr>
        <p:spPr>
          <a:xfrm xmlns:a="http://schemas.openxmlformats.org/drawingml/2006/main">
            <a:off x="457200" y="54673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24,981</a:t>
            </a:r>
          </a:p>
        </p:txBody>
      </p:sp>
      <p:sp>
        <p:nvSpPr>
          <p:cNvPr id="145" name="">
            <a:extLst xmlns:a="http://schemas.openxmlformats.org/drawingml/2006/main">
              <a:ext uri="{FF2B5EF4-FFF2-40B4-BE49-F238E27FC236}">
                <a16:creationId xmlns:a16="http://schemas.microsoft.com/office/drawing/2014/main" id="{A0A58EFE-38C0-4F6E-BF01-9D451AB0A019}"/>
              </a:ext>
            </a:extLst>
          </p:cNvPr>
          <p:cNvSpPr>
            <a:spLocks xmlns:a="http://schemas.openxmlformats.org/drawingml/2006/main" noGrp="1"/>
          </p:cNvSpPr>
          <p:nvPr/>
        </p:nvSpPr>
        <p:spPr>
          <a:xfrm xmlns:a="http://schemas.openxmlformats.org/drawingml/2006/main">
            <a:off x="457200" y="6048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transaction count</a:t>
            </a:r>
          </a:p>
        </p:txBody>
      </p:sp>
      <p:sp>
        <p:nvSpPr>
          <p:cNvPr id="146" name="">
            <a:extLst xmlns:a="http://schemas.openxmlformats.org/drawingml/2006/main">
              <a:ext uri="{FF2B5EF4-FFF2-40B4-BE49-F238E27FC236}">
                <a16:creationId xmlns:a16="http://schemas.microsoft.com/office/drawing/2014/main" id="{4BF62604-7ADB-4324-A271-EB633852DFCF}"/>
              </a:ext>
            </a:extLst>
          </p:cNvPr>
          <p:cNvSpPr>
            <a:spLocks xmlns:a="http://schemas.openxmlformats.org/drawingml/2006/main" noGrp="1"/>
          </p:cNvSpPr>
          <p:nvPr/>
        </p:nvSpPr>
        <p:spPr>
          <a:xfrm xmlns:a="http://schemas.openxmlformats.org/drawingml/2006/main">
            <a:off x="3286125" y="55340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100% availability</a:t>
            </a:r>
          </a:p>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No critical or major incidents</a:t>
            </a:r>
          </a:p>
        </p:txBody>
      </p:sp>
      <p:sp>
        <p:nvSpPr>
          <p:cNvPr id="147" name="">
            <a:extLst xmlns:a="http://schemas.openxmlformats.org/drawingml/2006/main">
              <a:ext uri="{FF2B5EF4-FFF2-40B4-BE49-F238E27FC236}">
                <a16:creationId xmlns:a16="http://schemas.microsoft.com/office/drawing/2014/main" id="{EF09B419-9D3B-4541-B007-214CDDDE419C}"/>
              </a:ext>
            </a:extLst>
          </p:cNvPr>
          <p:cNvSpPr>
            <a:spLocks xmlns:a="http://schemas.openxmlformats.org/drawingml/2006/main" noGrp="1"/>
          </p:cNvSpPr>
          <p:nvPr/>
        </p:nvSpPr>
        <p:spPr>
          <a:xfrm xmlns:a="http://schemas.openxmlformats.org/drawingml/2006/main">
            <a:off x="7905750" y="552450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DR unavailable</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Upgrade planned for 2027</a:t>
            </a:r>
          </a:p>
        </p:txBody>
      </p:sp>
    </p:spTree>
    <p:extLst>
      <p:ext uri="{BB962C8B-B14F-4D97-AF65-F5344CB8AC3E}">
        <p14:creationId xmlns:p14="http://schemas.microsoft.com/office/powerpoint/2010/main" val="18134267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D2E8503-BDF6-400F-9502-ABCD389BD554}"/>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EC912E31-2E30-42DF-A6BD-E200843E7FAF}"/>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HFLMS maintained continuity through secondary-server failover</a:t>
            </a:r>
          </a:p>
        </p:txBody>
      </p:sp>
      <p:sp>
        <p:nvSpPr>
          <p:cNvPr id="3" name="">
            <a:extLst xmlns:a="http://schemas.openxmlformats.org/drawingml/2006/main">
              <a:ext uri="{FF2B5EF4-FFF2-40B4-BE49-F238E27FC236}">
                <a16:creationId xmlns:a16="http://schemas.microsoft.com/office/drawing/2014/main" id="{A667B202-2C03-4D1D-ADE7-32460F8D6C19}"/>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23 completed demands. September volume eased 10.8% from August</a:t>
            </a:r>
          </a:p>
        </p:txBody>
      </p:sp>
      <p:sp>
        <p:nvSpPr>
          <p:cNvPr id="4" name="">
            <a:extLst xmlns:a="http://schemas.openxmlformats.org/drawingml/2006/main">
              <a:ext uri="{FF2B5EF4-FFF2-40B4-BE49-F238E27FC236}">
                <a16:creationId xmlns:a16="http://schemas.microsoft.com/office/drawing/2014/main" id="{21893ADE-902D-4E08-B28A-F6639C5A4D3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ABA8373-7D26-4177-836F-F6F9A9D10245}"/>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a:t>
            </a:r>
          </a:p>
        </p:txBody>
      </p:sp>
      <p:graphicFrame>
        <p:nvGraphicFramePr>
          <p:cNvPr id="17" name="Chart"/>
          <p:cNvGraphicFramePr/>
          <p:nvPr/>
        </p:nvGraphicFramePr>
        <p:xfrm>
          <a:off xmlns:a="http://schemas.openxmlformats.org/drawingml/2006/main" x="457200" y="2286000"/>
          <a:ext xmlns:a="http://schemas.openxmlformats.org/drawingml/2006/main" cx="7239000" cy="3048000"/>
        </p:xfrm>
        <a:graphic xmlns:a="http://schemas.openxmlformats.org/drawingml/2006/main">
          <a:graphicData uri="http://schemas.openxmlformats.org/drawingml/2006/chart">
            <c:chart xmlns:r="http://schemas.openxmlformats.org/officeDocument/2006/relationships" xmlns:c="http://schemas.openxmlformats.org/drawingml/2006/chart" r:id="Re620034ca12046eb"/>
          </a:graphicData>
        </a:graphic>
      </p:graphicFrame>
      <p:sp>
        <p:nvSpPr>
          <p:cNvPr id="7" name="">
            <a:extLst xmlns:a="http://schemas.openxmlformats.org/drawingml/2006/main">
              <a:ext uri="{FF2B5EF4-FFF2-40B4-BE49-F238E27FC236}">
                <a16:creationId xmlns:a16="http://schemas.microsoft.com/office/drawing/2014/main" id="{8EB47687-C493-4325-9C86-17C4EC4AF86B}"/>
              </a:ext>
            </a:extLst>
          </p:cNvPr>
          <p:cNvSpPr>
            <a:spLocks xmlns:a="http://schemas.openxmlformats.org/drawingml/2006/main" noGrp="1"/>
          </p:cNvSpPr>
          <p:nvPr/>
        </p:nvSpPr>
        <p:spPr>
          <a:xfrm xmlns:a="http://schemas.openxmlformats.org/drawingml/2006/main">
            <a:off x="8096250" y="219075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68"/>
                </a:solidFill>
                <a:latin typeface="DejaVu Sans"/>
                <a:ea typeface="DejaVu Sans"/>
                <a:cs typeface="DejaVu Sans"/>
              </a:defRPr>
            </a:pPr>
            <a:r>
              <a:rPr sz="3600" b="1">
                <a:solidFill>
                  <a:srgbClr val="087F68"/>
                </a:solidFill>
                <a:latin typeface="DejaVu Sans"/>
                <a:ea typeface="DejaVu Sans"/>
                <a:cs typeface="DejaVu Sans"/>
              </a:rPr>
              <a:t>1.24B</a:t>
            </a:r>
          </a:p>
        </p:txBody>
      </p:sp>
      <p:sp>
        <p:nvSpPr>
          <p:cNvPr id="8" name="">
            <a:extLst xmlns:a="http://schemas.openxmlformats.org/drawingml/2006/main">
              <a:ext uri="{FF2B5EF4-FFF2-40B4-BE49-F238E27FC236}">
                <a16:creationId xmlns:a16="http://schemas.microsoft.com/office/drawing/2014/main" id="{37E57E84-ABA8-4670-AF1C-F8C3A251EC99}"/>
              </a:ext>
            </a:extLst>
          </p:cNvPr>
          <p:cNvSpPr>
            <a:spLocks xmlns:a="http://schemas.openxmlformats.org/drawingml/2006/main" noGrp="1"/>
          </p:cNvSpPr>
          <p:nvPr/>
        </p:nvSpPr>
        <p:spPr>
          <a:xfrm xmlns:a="http://schemas.openxmlformats.org/drawingml/2006/main">
            <a:off x="8096250" y="2886075"/>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A4B"/>
                </a:solidFill>
                <a:latin typeface="DejaVu Sans"/>
                <a:ea typeface="DejaVu Sans"/>
                <a:cs typeface="DejaVu Sans"/>
              </a:defRPr>
            </a:pPr>
            <a:r>
              <a:rPr sz="1875" b="0">
                <a:solidFill>
                  <a:srgbClr val="173A4B"/>
                </a:solidFill>
                <a:latin typeface="DejaVu Sans"/>
                <a:ea typeface="DejaVu Sans"/>
                <a:cs typeface="DejaVu Sans"/>
              </a:rPr>
              <a:t>774 transactions</a:t>
            </a:r>
          </a:p>
        </p:txBody>
      </p:sp>
      <p:sp>
        <p:nvSpPr>
          <p:cNvPr id="9" name="">
            <a:extLst xmlns:a="http://schemas.openxmlformats.org/drawingml/2006/main">
              <a:ext uri="{FF2B5EF4-FFF2-40B4-BE49-F238E27FC236}">
                <a16:creationId xmlns:a16="http://schemas.microsoft.com/office/drawing/2014/main" id="{9638FB66-214A-4118-B376-78BE35D6CC82}"/>
              </a:ext>
            </a:extLst>
          </p:cNvPr>
          <p:cNvSpPr>
            <a:spLocks xmlns:a="http://schemas.openxmlformats.org/drawingml/2006/main" noGrp="1"/>
          </p:cNvSpPr>
          <p:nvPr/>
        </p:nvSpPr>
        <p:spPr>
          <a:xfrm xmlns:a="http://schemas.openxmlformats.org/drawingml/2006/main">
            <a:off x="8096250" y="34766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50 demands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23 completed   /   15 in progress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12 backlog   /   0 baseline 0</a:t>
            </a:r>
          </a:p>
        </p:txBody>
      </p:sp>
      <p:sp>
        <p:nvSpPr>
          <p:cNvPr id="10" name="">
            <a:extLst xmlns:a="http://schemas.openxmlformats.org/drawingml/2006/main">
              <a:ext uri="{FF2B5EF4-FFF2-40B4-BE49-F238E27FC236}">
                <a16:creationId xmlns:a16="http://schemas.microsoft.com/office/drawing/2014/main" id="{9518051A-9DBC-4499-AB05-B2DB86840E15}"/>
              </a:ext>
            </a:extLst>
          </p:cNvPr>
          <p:cNvSpPr>
            <a:spLocks xmlns:a="http://schemas.openxmlformats.org/drawingml/2006/main" noGrp="1"/>
          </p:cNvSpPr>
          <p:nvPr/>
        </p:nvSpPr>
        <p:spPr>
          <a:xfrm xmlns:a="http://schemas.openxmlformats.org/drawingml/2006/main">
            <a:off x="457200" y="5581650"/>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1 major incident</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12 minutes unplanned downtime</a:t>
            </a:r>
          </a:p>
        </p:txBody>
      </p:sp>
      <p:sp>
        <p:nvSpPr>
          <p:cNvPr id="11" name="">
            <a:extLst xmlns:a="http://schemas.openxmlformats.org/drawingml/2006/main">
              <a:ext uri="{FF2B5EF4-FFF2-40B4-BE49-F238E27FC236}">
                <a16:creationId xmlns:a16="http://schemas.microsoft.com/office/drawing/2014/main" id="{B7D953A7-3EF9-46C3-B696-B71DF72016B1}"/>
              </a:ext>
            </a:extLst>
          </p:cNvPr>
          <p:cNvSpPr>
            <a:spLocks xmlns:a="http://schemas.openxmlformats.org/drawingml/2006/main" noGrp="1"/>
          </p:cNvSpPr>
          <p:nvPr/>
        </p:nvSpPr>
        <p:spPr>
          <a:xfrm xmlns:a="http://schemas.openxmlformats.org/drawingml/2006/main">
            <a:off x="8096250" y="54102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DR unavailable</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Upgrade planned for 2027</a:t>
            </a:r>
          </a:p>
        </p:txBody>
      </p:sp>
    </p:spTree>
    <p:extLst>
      <p:ext uri="{BB962C8B-B14F-4D97-AF65-F5344CB8AC3E}">
        <p14:creationId xmlns:p14="http://schemas.microsoft.com/office/powerpoint/2010/main" val="693728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4721D9B-B216-403A-9679-9131486A1DFF}"/>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FCFC946-C2D6-4D5A-8468-32B64A03DC08}"/>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The delivery pipeline spans releases, controls and integrations</a:t>
            </a:r>
          </a:p>
        </p:txBody>
      </p:sp>
      <p:sp>
        <p:nvSpPr>
          <p:cNvPr id="3" name="">
            <a:extLst xmlns:a="http://schemas.openxmlformats.org/drawingml/2006/main">
              <a:ext uri="{FF2B5EF4-FFF2-40B4-BE49-F238E27FC236}">
                <a16:creationId xmlns:a16="http://schemas.microsoft.com/office/drawing/2014/main" id="{16DED263-7B36-4FB5-9291-AD825493BD69}"/>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Selected initiatives reported in September. Pipeline stages guide the next management review</a:t>
            </a:r>
          </a:p>
        </p:txBody>
      </p:sp>
      <p:sp>
        <p:nvSpPr>
          <p:cNvPr id="4" name="">
            <a:extLst xmlns:a="http://schemas.openxmlformats.org/drawingml/2006/main">
              <a:ext uri="{FF2B5EF4-FFF2-40B4-BE49-F238E27FC236}">
                <a16:creationId xmlns:a16="http://schemas.microsoft.com/office/drawing/2014/main" id="{DB69EEDA-3B6A-4D52-89C6-EB5554FF3CF8}"/>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5CC5DE6A-C4A5-4AD2-AE22-DBBE6CF811F8}"/>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DA140B39-5D81-4037-A013-3BDAC9D86178}"/>
              </a:ext>
            </a:extLst>
          </p:cNvPr>
          <p:cNvSpPr>
            <a:spLocks xmlns:a="http://schemas.openxmlformats.org/drawingml/2006/main" noGrp="1"/>
          </p:cNvSpPr>
          <p:nvPr/>
        </p:nvSpPr>
        <p:spPr>
          <a:xfrm xmlns:a="http://schemas.openxmlformats.org/drawingml/2006/main">
            <a:off x="457200" y="2181225"/>
            <a:ext cx="3657600" cy="3695700"/>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230AB8D-AECD-4BB7-88A5-AA84815E2CDC}"/>
              </a:ext>
            </a:extLst>
          </p:cNvPr>
          <p:cNvSpPr>
            <a:spLocks xmlns:a="http://schemas.openxmlformats.org/drawingml/2006/main" noGrp="1"/>
          </p:cNvSpPr>
          <p:nvPr/>
        </p:nvSpPr>
        <p:spPr>
          <a:xfrm xmlns:a="http://schemas.openxmlformats.org/drawingml/2006/main">
            <a:off x="61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IB / MB</a:t>
            </a:r>
          </a:p>
        </p:txBody>
      </p:sp>
      <p:sp>
        <p:nvSpPr>
          <p:cNvPr id="8" name="">
            <a:extLst xmlns:a="http://schemas.openxmlformats.org/drawingml/2006/main">
              <a:ext uri="{FF2B5EF4-FFF2-40B4-BE49-F238E27FC236}">
                <a16:creationId xmlns:a16="http://schemas.microsoft.com/office/drawing/2014/main" id="{1DA1E9D6-9ED6-4605-85CA-D6D5CB7F1B48}"/>
              </a:ext>
            </a:extLst>
          </p:cNvPr>
          <p:cNvSpPr>
            <a:spLocks xmlns:a="http://schemas.openxmlformats.org/drawingml/2006/main" noGrp="1"/>
          </p:cNvSpPr>
          <p:nvPr/>
        </p:nvSpPr>
        <p:spPr>
          <a:xfrm xmlns:a="http://schemas.openxmlformats.org/drawingml/2006/main">
            <a:off x="61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LIVE / DELIVERED</a:t>
            </a:r>
          </a:p>
        </p:txBody>
      </p:sp>
      <p:sp>
        <p:nvSpPr>
          <p:cNvPr id="9" name="">
            <a:extLst xmlns:a="http://schemas.openxmlformats.org/drawingml/2006/main">
              <a:ext uri="{FF2B5EF4-FFF2-40B4-BE49-F238E27FC236}">
                <a16:creationId xmlns:a16="http://schemas.microsoft.com/office/drawing/2014/main" id="{D984B290-1320-471C-92E9-2CCE86E1B5D2}"/>
              </a:ext>
            </a:extLst>
          </p:cNvPr>
          <p:cNvSpPr>
            <a:spLocks xmlns:a="http://schemas.openxmlformats.org/drawingml/2006/main" noGrp="1"/>
          </p:cNvSpPr>
          <p:nvPr/>
        </p:nvSpPr>
        <p:spPr>
          <a:xfrm xmlns:a="http://schemas.openxmlformats.org/drawingml/2006/main">
            <a:off x="61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Skywards cards removal from MB</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3x3 Drop 4 – Releases 1 &amp;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TAB-52 – Tablet AOF audit requirement</a:t>
            </a:r>
          </a:p>
        </p:txBody>
      </p:sp>
      <p:sp>
        <p:nvSpPr>
          <p:cNvPr id="10" name="">
            <a:extLst xmlns:a="http://schemas.openxmlformats.org/drawingml/2006/main">
              <a:ext uri="{FF2B5EF4-FFF2-40B4-BE49-F238E27FC236}">
                <a16:creationId xmlns:a16="http://schemas.microsoft.com/office/drawing/2014/main" id="{9F7739F3-DC92-4023-8EB4-03AEF9C79E1F}"/>
              </a:ext>
            </a:extLst>
          </p:cNvPr>
          <p:cNvSpPr>
            <a:spLocks xmlns:a="http://schemas.openxmlformats.org/drawingml/2006/main" noGrp="1"/>
          </p:cNvSpPr>
          <p:nvPr/>
        </p:nvSpPr>
        <p:spPr>
          <a:xfrm xmlns:a="http://schemas.openxmlformats.org/drawingml/2006/main">
            <a:off x="61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IN PROGRESS</a:t>
            </a:r>
          </a:p>
        </p:txBody>
      </p:sp>
      <p:sp>
        <p:nvSpPr>
          <p:cNvPr id="11" name="">
            <a:extLst xmlns:a="http://schemas.openxmlformats.org/drawingml/2006/main">
              <a:ext uri="{FF2B5EF4-FFF2-40B4-BE49-F238E27FC236}">
                <a16:creationId xmlns:a16="http://schemas.microsoft.com/office/drawing/2014/main" id="{620C2568-4AEA-4DF5-B9B4-B59203E0D985}"/>
              </a:ext>
            </a:extLst>
          </p:cNvPr>
          <p:cNvSpPr>
            <a:spLocks xmlns:a="http://schemas.openxmlformats.org/drawingml/2006/main" noGrp="1"/>
          </p:cNvSpPr>
          <p:nvPr/>
        </p:nvSpPr>
        <p:spPr>
          <a:xfrm xmlns:a="http://schemas.openxmlformats.org/drawingml/2006/main">
            <a:off x="61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EFR cost enhancements – SIT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SWIFT GPI – Regression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Input Validations – Development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EFMS Upgrade – UAT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Emirati Card – SIT / UAT</a:t>
            </a:r>
          </a:p>
        </p:txBody>
      </p:sp>
      <p:sp>
        <p:nvSpPr>
          <p:cNvPr id="12" name="">
            <a:extLst xmlns:a="http://schemas.openxmlformats.org/drawingml/2006/main">
              <a:ext uri="{FF2B5EF4-FFF2-40B4-BE49-F238E27FC236}">
                <a16:creationId xmlns:a16="http://schemas.microsoft.com/office/drawing/2014/main" id="{F88D0DC5-6933-46F0-9054-6166DBC40B0F}"/>
              </a:ext>
            </a:extLst>
          </p:cNvPr>
          <p:cNvSpPr>
            <a:spLocks xmlns:a="http://schemas.openxmlformats.org/drawingml/2006/main" noGrp="1"/>
          </p:cNvSpPr>
          <p:nvPr/>
        </p:nvSpPr>
        <p:spPr>
          <a:xfrm xmlns:a="http://schemas.openxmlformats.org/drawingml/2006/main">
            <a:off x="4267200" y="2181225"/>
            <a:ext cx="3657600" cy="3695700"/>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F2EC560-3180-4AE3-B26F-7519ABDC1EC6}"/>
              </a:ext>
            </a:extLst>
          </p:cNvPr>
          <p:cNvSpPr>
            <a:spLocks xmlns:a="http://schemas.openxmlformats.org/drawingml/2006/main" noGrp="1"/>
          </p:cNvSpPr>
          <p:nvPr/>
        </p:nvSpPr>
        <p:spPr>
          <a:xfrm xmlns:a="http://schemas.openxmlformats.org/drawingml/2006/main">
            <a:off x="442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FinnOne</a:t>
            </a:r>
          </a:p>
        </p:txBody>
      </p:sp>
      <p:sp>
        <p:nvSpPr>
          <p:cNvPr id="14" name="">
            <a:extLst xmlns:a="http://schemas.openxmlformats.org/drawingml/2006/main">
              <a:ext uri="{FF2B5EF4-FFF2-40B4-BE49-F238E27FC236}">
                <a16:creationId xmlns:a16="http://schemas.microsoft.com/office/drawing/2014/main" id="{AEBAA9C0-CB2E-4937-8BDD-23B2174C5814}"/>
              </a:ext>
            </a:extLst>
          </p:cNvPr>
          <p:cNvSpPr>
            <a:spLocks xmlns:a="http://schemas.openxmlformats.org/drawingml/2006/main" noGrp="1"/>
          </p:cNvSpPr>
          <p:nvPr/>
        </p:nvSpPr>
        <p:spPr>
          <a:xfrm xmlns:a="http://schemas.openxmlformats.org/drawingml/2006/main">
            <a:off x="442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8C2"/>
                </a:solidFill>
                <a:latin typeface="DejaVu Sans"/>
                <a:ea typeface="DejaVu Sans"/>
                <a:cs typeface="DejaVu Sans"/>
              </a:defRPr>
            </a:pPr>
            <a:r>
              <a:rPr sz="1125" b="1">
                <a:solidFill>
                  <a:srgbClr val="1688C2"/>
                </a:solidFill>
                <a:latin typeface="DejaVu Sans"/>
                <a:ea typeface="DejaVu Sans"/>
                <a:cs typeface="DejaVu Sans"/>
              </a:rPr>
              <a:t>LIVE / DELIVERED</a:t>
            </a:r>
          </a:p>
        </p:txBody>
      </p:sp>
      <p:sp>
        <p:nvSpPr>
          <p:cNvPr id="15" name="">
            <a:extLst xmlns:a="http://schemas.openxmlformats.org/drawingml/2006/main">
              <a:ext uri="{FF2B5EF4-FFF2-40B4-BE49-F238E27FC236}">
                <a16:creationId xmlns:a16="http://schemas.microsoft.com/office/drawing/2014/main" id="{D042A4FB-C889-4D46-B6AE-829F8C585103}"/>
              </a:ext>
            </a:extLst>
          </p:cNvPr>
          <p:cNvSpPr>
            <a:spLocks xmlns:a="http://schemas.openxmlformats.org/drawingml/2006/main" noGrp="1"/>
          </p:cNvSpPr>
          <p:nvPr/>
        </p:nvSpPr>
        <p:spPr>
          <a:xfrm xmlns:a="http://schemas.openxmlformats.org/drawingml/2006/main">
            <a:off x="442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LL / LG flag field amendment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Multiple Rate Changes service request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Supplementary Card mobile number / email capture</a:t>
            </a:r>
          </a:p>
        </p:txBody>
      </p:sp>
      <p:sp>
        <p:nvSpPr>
          <p:cNvPr id="16" name="">
            <a:extLst xmlns:a="http://schemas.openxmlformats.org/drawingml/2006/main">
              <a:ext uri="{FF2B5EF4-FFF2-40B4-BE49-F238E27FC236}">
                <a16:creationId xmlns:a16="http://schemas.microsoft.com/office/drawing/2014/main" id="{816333CF-E8C9-4C62-B64D-9E29AD0FD46B}"/>
              </a:ext>
            </a:extLst>
          </p:cNvPr>
          <p:cNvSpPr>
            <a:spLocks xmlns:a="http://schemas.openxmlformats.org/drawingml/2006/main" noGrp="1"/>
          </p:cNvSpPr>
          <p:nvPr/>
        </p:nvSpPr>
        <p:spPr>
          <a:xfrm xmlns:a="http://schemas.openxmlformats.org/drawingml/2006/main">
            <a:off x="442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8C2"/>
                </a:solidFill>
                <a:latin typeface="DejaVu Sans"/>
                <a:ea typeface="DejaVu Sans"/>
                <a:cs typeface="DejaVu Sans"/>
              </a:defRPr>
            </a:pPr>
            <a:r>
              <a:rPr sz="1125" b="1">
                <a:solidFill>
                  <a:srgbClr val="1688C2"/>
                </a:solidFill>
                <a:latin typeface="DejaVu Sans"/>
                <a:ea typeface="DejaVu Sans"/>
                <a:cs typeface="DejaVu Sans"/>
              </a:rPr>
              <a:t>IN PROGRESS</a:t>
            </a:r>
          </a:p>
        </p:txBody>
      </p:sp>
      <p:sp>
        <p:nvSpPr>
          <p:cNvPr id="17" name="">
            <a:extLst xmlns:a="http://schemas.openxmlformats.org/drawingml/2006/main">
              <a:ext uri="{FF2B5EF4-FFF2-40B4-BE49-F238E27FC236}">
                <a16:creationId xmlns:a16="http://schemas.microsoft.com/office/drawing/2014/main" id="{084A45B7-D07B-4A64-86A4-693FA8C4DDDA}"/>
              </a:ext>
            </a:extLst>
          </p:cNvPr>
          <p:cNvSpPr>
            <a:spLocks xmlns:a="http://schemas.openxmlformats.org/drawingml/2006/main" noGrp="1"/>
          </p:cNvSpPr>
          <p:nvPr/>
        </p:nvSpPr>
        <p:spPr>
          <a:xfrm xmlns:a="http://schemas.openxmlformats.org/drawingml/2006/main">
            <a:off x="442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RTA Integration – Design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PDC Remittance – UAT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EFR for PDC – Design</a:t>
            </a:r>
          </a:p>
        </p:txBody>
      </p:sp>
      <p:sp>
        <p:nvSpPr>
          <p:cNvPr id="18" name="">
            <a:extLst xmlns:a="http://schemas.openxmlformats.org/drawingml/2006/main">
              <a:ext uri="{FF2B5EF4-FFF2-40B4-BE49-F238E27FC236}">
                <a16:creationId xmlns:a16="http://schemas.microsoft.com/office/drawing/2014/main" id="{7D043A6F-E1BF-4DED-B96A-6991C2412B96}"/>
              </a:ext>
            </a:extLst>
          </p:cNvPr>
          <p:cNvSpPr>
            <a:spLocks xmlns:a="http://schemas.openxmlformats.org/drawingml/2006/main" noGrp="1"/>
          </p:cNvSpPr>
          <p:nvPr/>
        </p:nvSpPr>
        <p:spPr>
          <a:xfrm xmlns:a="http://schemas.openxmlformats.org/drawingml/2006/main">
            <a:off x="8077200" y="2181225"/>
            <a:ext cx="3657600" cy="3695700"/>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396E1F9-CF2D-4061-9336-F4C251C1BCA8}"/>
              </a:ext>
            </a:extLst>
          </p:cNvPr>
          <p:cNvSpPr>
            <a:spLocks xmlns:a="http://schemas.openxmlformats.org/drawingml/2006/main" noGrp="1"/>
          </p:cNvSpPr>
          <p:nvPr/>
        </p:nvSpPr>
        <p:spPr>
          <a:xfrm xmlns:a="http://schemas.openxmlformats.org/drawingml/2006/main">
            <a:off x="823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HFLMS</a:t>
            </a:r>
          </a:p>
        </p:txBody>
      </p:sp>
      <p:sp>
        <p:nvSpPr>
          <p:cNvPr id="20" name="">
            <a:extLst xmlns:a="http://schemas.openxmlformats.org/drawingml/2006/main">
              <a:ext uri="{FF2B5EF4-FFF2-40B4-BE49-F238E27FC236}">
                <a16:creationId xmlns:a16="http://schemas.microsoft.com/office/drawing/2014/main" id="{CB3AC6AB-BCD7-4CDE-AC05-166979DE33AB}"/>
              </a:ext>
            </a:extLst>
          </p:cNvPr>
          <p:cNvSpPr>
            <a:spLocks xmlns:a="http://schemas.openxmlformats.org/drawingml/2006/main" noGrp="1"/>
          </p:cNvSpPr>
          <p:nvPr/>
        </p:nvSpPr>
        <p:spPr>
          <a:xfrm xmlns:a="http://schemas.openxmlformats.org/drawingml/2006/main">
            <a:off x="823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875BC5"/>
                </a:solidFill>
                <a:latin typeface="DejaVu Sans"/>
                <a:ea typeface="DejaVu Sans"/>
                <a:cs typeface="DejaVu Sans"/>
              </a:defRPr>
            </a:pPr>
            <a:r>
              <a:rPr sz="1125" b="1">
                <a:solidFill>
                  <a:srgbClr val="875BC5"/>
                </a:solidFill>
                <a:latin typeface="DejaVu Sans"/>
                <a:ea typeface="DejaVu Sans"/>
                <a:cs typeface="DejaVu Sans"/>
              </a:rPr>
              <a:t>LIVE / DELIVERED</a:t>
            </a:r>
          </a:p>
        </p:txBody>
      </p:sp>
      <p:sp>
        <p:nvSpPr>
          <p:cNvPr id="21" name="">
            <a:extLst xmlns:a="http://schemas.openxmlformats.org/drawingml/2006/main">
              <a:ext uri="{FF2B5EF4-FFF2-40B4-BE49-F238E27FC236}">
                <a16:creationId xmlns:a16="http://schemas.microsoft.com/office/drawing/2014/main" id="{5BFB8CCF-1500-460F-8145-4F97897F4DA8}"/>
              </a:ext>
            </a:extLst>
          </p:cNvPr>
          <p:cNvSpPr>
            <a:spLocks xmlns:a="http://schemas.openxmlformats.org/drawingml/2006/main" noGrp="1"/>
          </p:cNvSpPr>
          <p:nvPr/>
        </p:nvSpPr>
        <p:spPr>
          <a:xfrm xmlns:a="http://schemas.openxmlformats.org/drawingml/2006/main">
            <a:off x="823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No named live initiatives supplied</a:t>
            </a:r>
          </a:p>
        </p:txBody>
      </p:sp>
      <p:sp>
        <p:nvSpPr>
          <p:cNvPr id="22" name="">
            <a:extLst xmlns:a="http://schemas.openxmlformats.org/drawingml/2006/main">
              <a:ext uri="{FF2B5EF4-FFF2-40B4-BE49-F238E27FC236}">
                <a16:creationId xmlns:a16="http://schemas.microsoft.com/office/drawing/2014/main" id="{FE32E18C-ADEC-403A-BA33-74383241C2C1}"/>
              </a:ext>
            </a:extLst>
          </p:cNvPr>
          <p:cNvSpPr>
            <a:spLocks xmlns:a="http://schemas.openxmlformats.org/drawingml/2006/main" noGrp="1"/>
          </p:cNvSpPr>
          <p:nvPr/>
        </p:nvSpPr>
        <p:spPr>
          <a:xfrm xmlns:a="http://schemas.openxmlformats.org/drawingml/2006/main">
            <a:off x="823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875BC5"/>
                </a:solidFill>
                <a:latin typeface="DejaVu Sans"/>
                <a:ea typeface="DejaVu Sans"/>
                <a:cs typeface="DejaVu Sans"/>
              </a:defRPr>
            </a:pPr>
            <a:r>
              <a:rPr sz="1125" b="1">
                <a:solidFill>
                  <a:srgbClr val="875BC5"/>
                </a:solidFill>
                <a:latin typeface="DejaVu Sans"/>
                <a:ea typeface="DejaVu Sans"/>
                <a:cs typeface="DejaVu Sans"/>
              </a:rPr>
              <a:t>IN PROGRESS</a:t>
            </a:r>
          </a:p>
        </p:txBody>
      </p:sp>
      <p:sp>
        <p:nvSpPr>
          <p:cNvPr id="23" name="">
            <a:extLst xmlns:a="http://schemas.openxmlformats.org/drawingml/2006/main">
              <a:ext uri="{FF2B5EF4-FFF2-40B4-BE49-F238E27FC236}">
                <a16:creationId xmlns:a16="http://schemas.microsoft.com/office/drawing/2014/main" id="{145A271D-950D-419D-BC7C-23643FC9A813}"/>
              </a:ext>
            </a:extLst>
          </p:cNvPr>
          <p:cNvSpPr>
            <a:spLocks xmlns:a="http://schemas.openxmlformats.org/drawingml/2006/main" noGrp="1"/>
          </p:cNvSpPr>
          <p:nvPr/>
        </p:nvSpPr>
        <p:spPr>
          <a:xfrm xmlns:a="http://schemas.openxmlformats.org/drawingml/2006/main">
            <a:off x="823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HF48 Forward Ijara Freehold Phase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Dedup logic controls in customer onboarding*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Duplicate CIF: linkage of closed customer*</a:t>
            </a:r>
          </a:p>
        </p:txBody>
      </p:sp>
      <p:sp>
        <p:nvSpPr>
          <p:cNvPr id="24" name="">
            <a:extLst xmlns:a="http://schemas.openxmlformats.org/drawingml/2006/main">
              <a:ext uri="{FF2B5EF4-FFF2-40B4-BE49-F238E27FC236}">
                <a16:creationId xmlns:a16="http://schemas.microsoft.com/office/drawing/2014/main" id="{9BFDD22A-1838-44B1-8242-7AECD395FE9E}"/>
              </a:ext>
            </a:extLst>
          </p:cNvPr>
          <p:cNvSpPr>
            <a:spLocks xmlns:a="http://schemas.openxmlformats.org/drawingml/2006/main" noGrp="1"/>
          </p:cNvSpPr>
          <p:nvPr/>
        </p:nvSpPr>
        <p:spPr>
          <a:xfrm xmlns:a="http://schemas.openxmlformats.org/drawingml/2006/main">
            <a:off x="457200" y="6105525"/>
            <a:ext cx="11277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 HFLMS + Core Banking. Source gives no stage for these initiatives. Names and abbreviations retain the source terminology.</a:t>
            </a:r>
          </a:p>
        </p:txBody>
      </p:sp>
    </p:spTree>
    <p:extLst>
      <p:ext uri="{BB962C8B-B14F-4D97-AF65-F5344CB8AC3E}">
        <p14:creationId xmlns:p14="http://schemas.microsoft.com/office/powerpoint/2010/main" val="13633313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AC93BFF-162F-4DF0-95C3-0F077795D8E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FA09DEFB-D772-4492-93B8-BDDE6163E52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Management priorities: capacity and recovery readiness</a:t>
            </a:r>
          </a:p>
        </p:txBody>
      </p:sp>
      <p:sp>
        <p:nvSpPr>
          <p:cNvPr id="3" name="">
            <a:extLst xmlns:a="http://schemas.openxmlformats.org/drawingml/2006/main">
              <a:ext uri="{FF2B5EF4-FFF2-40B4-BE49-F238E27FC236}">
                <a16:creationId xmlns:a16="http://schemas.microsoft.com/office/drawing/2014/main" id="{E761C91D-9A8A-48BB-BEE6-DC5C0AD6AC45}"/>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Recommended management actions based on September reporting</a:t>
            </a:r>
          </a:p>
        </p:txBody>
      </p:sp>
      <p:sp>
        <p:nvSpPr>
          <p:cNvPr id="4" name="">
            <a:extLst xmlns:a="http://schemas.openxmlformats.org/drawingml/2006/main">
              <a:ext uri="{FF2B5EF4-FFF2-40B4-BE49-F238E27FC236}">
                <a16:creationId xmlns:a16="http://schemas.microsoft.com/office/drawing/2014/main" id="{8BA55F56-3BE3-412C-B494-32902B30A527}"/>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17553F2-D472-4B87-B422-4F4EADFA36C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F2448A8A-7FA7-413A-9257-66DE151AB01E}"/>
              </a:ext>
            </a:extLst>
          </p:cNvPr>
          <p:cNvSpPr>
            <a:spLocks xmlns:a="http://schemas.openxmlformats.org/drawingml/2006/main" noGrp="1"/>
          </p:cNvSpPr>
          <p:nvPr/>
        </p:nvSpPr>
        <p:spPr>
          <a:xfrm xmlns:a="http://schemas.openxmlformats.org/drawingml/2006/main">
            <a:off x="457200" y="2190750"/>
            <a:ext cx="5543550" cy="1219200"/>
          </a:xfrm>
          <a:prstGeom xmlns:a="http://schemas.openxmlformats.org/drawingml/2006/main" prst="roundRect">
            <a:avLst>
              <a:gd name="adj" fmla="val 937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60282B-674E-4A06-B1F2-0F7893E00D2B}"/>
              </a:ext>
            </a:extLst>
          </p:cNvPr>
          <p:cNvSpPr>
            <a:spLocks xmlns:a="http://schemas.openxmlformats.org/drawingml/2006/main" noGrp="1"/>
          </p:cNvSpPr>
          <p:nvPr/>
        </p:nvSpPr>
        <p:spPr>
          <a:xfrm xmlns:a="http://schemas.openxmlformats.org/drawingml/2006/main">
            <a:off x="600075" y="23050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F75B7F2C-A4D6-411D-835C-9B985BD2C38F}"/>
              </a:ext>
            </a:extLst>
          </p:cNvPr>
          <p:cNvSpPr>
            <a:spLocks xmlns:a="http://schemas.openxmlformats.org/drawingml/2006/main" noGrp="1"/>
          </p:cNvSpPr>
          <p:nvPr/>
        </p:nvSpPr>
        <p:spPr>
          <a:xfrm xmlns:a="http://schemas.openxmlformats.org/drawingml/2006/main">
            <a:off x="1181100" y="23241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MB reliability</a:t>
            </a:r>
          </a:p>
        </p:txBody>
      </p:sp>
      <p:sp>
        <p:nvSpPr>
          <p:cNvPr id="9" name="">
            <a:extLst xmlns:a="http://schemas.openxmlformats.org/drawingml/2006/main">
              <a:ext uri="{FF2B5EF4-FFF2-40B4-BE49-F238E27FC236}">
                <a16:creationId xmlns:a16="http://schemas.microsoft.com/office/drawing/2014/main" id="{7070CE11-1ADC-47A8-A289-E8CC67D120CB}"/>
              </a:ext>
            </a:extLst>
          </p:cNvPr>
          <p:cNvSpPr>
            <a:spLocks xmlns:a="http://schemas.openxmlformats.org/drawingml/2006/main" noGrp="1"/>
          </p:cNvSpPr>
          <p:nvPr/>
        </p:nvSpPr>
        <p:spPr>
          <a:xfrm xmlns:a="http://schemas.openxmlformats.org/drawingml/2006/main">
            <a:off x="600075" y="268605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the DDoS threshold event and mitigation controls</a:t>
            </a:r>
          </a:p>
        </p:txBody>
      </p:sp>
      <p:sp>
        <p:nvSpPr>
          <p:cNvPr id="10" name="">
            <a:extLst xmlns:a="http://schemas.openxmlformats.org/drawingml/2006/main">
              <a:ext uri="{FF2B5EF4-FFF2-40B4-BE49-F238E27FC236}">
                <a16:creationId xmlns:a16="http://schemas.microsoft.com/office/drawing/2014/main" id="{0AC7F80E-857C-4BA4-9A3D-DBE5F5F6AE1C}"/>
              </a:ext>
            </a:extLst>
          </p:cNvPr>
          <p:cNvSpPr>
            <a:spLocks xmlns:a="http://schemas.openxmlformats.org/drawingml/2006/main" noGrp="1"/>
          </p:cNvSpPr>
          <p:nvPr/>
        </p:nvSpPr>
        <p:spPr>
          <a:xfrm xmlns:a="http://schemas.openxmlformats.org/drawingml/2006/main">
            <a:off x="6191250" y="2190750"/>
            <a:ext cx="5543550" cy="1219200"/>
          </a:xfrm>
          <a:prstGeom xmlns:a="http://schemas.openxmlformats.org/drawingml/2006/main" prst="roundRect">
            <a:avLst>
              <a:gd name="adj" fmla="val 9375"/>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2628CD5-BCFF-48BD-94EB-5419D39B023E}"/>
              </a:ext>
            </a:extLst>
          </p:cNvPr>
          <p:cNvSpPr>
            <a:spLocks xmlns:a="http://schemas.openxmlformats.org/drawingml/2006/main" noGrp="1"/>
          </p:cNvSpPr>
          <p:nvPr/>
        </p:nvSpPr>
        <p:spPr>
          <a:xfrm xmlns:a="http://schemas.openxmlformats.org/drawingml/2006/main">
            <a:off x="6334125" y="23050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8C2"/>
                </a:solidFill>
                <a:latin typeface="DejaVu Sans"/>
                <a:ea typeface="DejaVu Sans"/>
                <a:cs typeface="DejaVu Sans"/>
              </a:defRPr>
            </a:pPr>
            <a:r>
              <a:rPr sz="1950" b="1">
                <a:solidFill>
                  <a:srgbClr val="1688C2"/>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0136BF8B-3CE8-4818-81F0-364D1160BC0E}"/>
              </a:ext>
            </a:extLst>
          </p:cNvPr>
          <p:cNvSpPr>
            <a:spLocks xmlns:a="http://schemas.openxmlformats.org/drawingml/2006/main" noGrp="1"/>
          </p:cNvSpPr>
          <p:nvPr/>
        </p:nvSpPr>
        <p:spPr>
          <a:xfrm xmlns:a="http://schemas.openxmlformats.org/drawingml/2006/main">
            <a:off x="6915150" y="23241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Backlog capacity</a:t>
            </a:r>
          </a:p>
        </p:txBody>
      </p:sp>
      <p:sp>
        <p:nvSpPr>
          <p:cNvPr id="13" name="">
            <a:extLst xmlns:a="http://schemas.openxmlformats.org/drawingml/2006/main">
              <a:ext uri="{FF2B5EF4-FFF2-40B4-BE49-F238E27FC236}">
                <a16:creationId xmlns:a16="http://schemas.microsoft.com/office/drawing/2014/main" id="{6DF18067-3D15-4768-BDD4-F134D67A700C}"/>
              </a:ext>
            </a:extLst>
          </p:cNvPr>
          <p:cNvSpPr>
            <a:spLocks xmlns:a="http://schemas.openxmlformats.org/drawingml/2006/main" noGrp="1"/>
          </p:cNvSpPr>
          <p:nvPr/>
        </p:nvSpPr>
        <p:spPr>
          <a:xfrm xmlns:a="http://schemas.openxmlformats.org/drawingml/2006/main">
            <a:off x="6334125" y="268605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Prioritize 68 backlog items across the three portfolios</a:t>
            </a:r>
          </a:p>
        </p:txBody>
      </p:sp>
      <p:sp>
        <p:nvSpPr>
          <p:cNvPr id="14" name="">
            <a:extLst xmlns:a="http://schemas.openxmlformats.org/drawingml/2006/main">
              <a:ext uri="{FF2B5EF4-FFF2-40B4-BE49-F238E27FC236}">
                <a16:creationId xmlns:a16="http://schemas.microsoft.com/office/drawing/2014/main" id="{C75E93CA-AFDA-4FF2-8A62-F04F92801C5B}"/>
              </a:ext>
            </a:extLst>
          </p:cNvPr>
          <p:cNvSpPr>
            <a:spLocks xmlns:a="http://schemas.openxmlformats.org/drawingml/2006/main" noGrp="1"/>
          </p:cNvSpPr>
          <p:nvPr/>
        </p:nvSpPr>
        <p:spPr>
          <a:xfrm xmlns:a="http://schemas.openxmlformats.org/drawingml/2006/main">
            <a:off x="457200" y="3552825"/>
            <a:ext cx="5543550" cy="1219200"/>
          </a:xfrm>
          <a:prstGeom xmlns:a="http://schemas.openxmlformats.org/drawingml/2006/main" prst="roundRect">
            <a:avLst>
              <a:gd name="adj" fmla="val 9375"/>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463E894-6EAE-4759-8FAB-76D5B235804D}"/>
              </a:ext>
            </a:extLst>
          </p:cNvPr>
          <p:cNvSpPr>
            <a:spLocks xmlns:a="http://schemas.openxmlformats.org/drawingml/2006/main" noGrp="1"/>
          </p:cNvSpPr>
          <p:nvPr/>
        </p:nvSpPr>
        <p:spPr>
          <a:xfrm xmlns:a="http://schemas.openxmlformats.org/drawingml/2006/main">
            <a:off x="600075" y="36671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75BC5"/>
                </a:solidFill>
                <a:latin typeface="DejaVu Sans"/>
                <a:ea typeface="DejaVu Sans"/>
                <a:cs typeface="DejaVu Sans"/>
              </a:defRPr>
            </a:pPr>
            <a:r>
              <a:rPr sz="1950" b="1">
                <a:solidFill>
                  <a:srgbClr val="875BC5"/>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BC9032D8-C3C3-47DD-8FB7-E82BF0691D2F}"/>
              </a:ext>
            </a:extLst>
          </p:cNvPr>
          <p:cNvSpPr>
            <a:spLocks xmlns:a="http://schemas.openxmlformats.org/drawingml/2006/main" noGrp="1"/>
          </p:cNvSpPr>
          <p:nvPr/>
        </p:nvSpPr>
        <p:spPr>
          <a:xfrm xmlns:a="http://schemas.openxmlformats.org/drawingml/2006/main">
            <a:off x="1181100" y="36861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Recovery exposure</a:t>
            </a:r>
          </a:p>
        </p:txBody>
      </p:sp>
      <p:sp>
        <p:nvSpPr>
          <p:cNvPr id="17" name="">
            <a:extLst xmlns:a="http://schemas.openxmlformats.org/drawingml/2006/main">
              <a:ext uri="{FF2B5EF4-FFF2-40B4-BE49-F238E27FC236}">
                <a16:creationId xmlns:a16="http://schemas.microsoft.com/office/drawing/2014/main" id="{8417BC72-9A5F-4977-A72E-EBEDAD891DA6}"/>
              </a:ext>
            </a:extLst>
          </p:cNvPr>
          <p:cNvSpPr>
            <a:spLocks xmlns:a="http://schemas.openxmlformats.org/drawingml/2006/main" noGrp="1"/>
          </p:cNvSpPr>
          <p:nvPr/>
        </p:nvSpPr>
        <p:spPr>
          <a:xfrm xmlns:a="http://schemas.openxmlformats.org/drawingml/2006/main">
            <a:off x="600075" y="4048125"/>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Agree interim recovery controls for FinnOne and HFLMS</a:t>
            </a:r>
          </a:p>
        </p:txBody>
      </p:sp>
      <p:sp>
        <p:nvSpPr>
          <p:cNvPr id="18" name="">
            <a:extLst xmlns:a="http://schemas.openxmlformats.org/drawingml/2006/main">
              <a:ext uri="{FF2B5EF4-FFF2-40B4-BE49-F238E27FC236}">
                <a16:creationId xmlns:a16="http://schemas.microsoft.com/office/drawing/2014/main" id="{0ADF00E7-A187-4913-972E-37423BEA3409}"/>
              </a:ext>
            </a:extLst>
          </p:cNvPr>
          <p:cNvSpPr>
            <a:spLocks xmlns:a="http://schemas.openxmlformats.org/drawingml/2006/main" noGrp="1"/>
          </p:cNvSpPr>
          <p:nvPr/>
        </p:nvSpPr>
        <p:spPr>
          <a:xfrm xmlns:a="http://schemas.openxmlformats.org/drawingml/2006/main">
            <a:off x="6191250" y="3552825"/>
            <a:ext cx="5543550" cy="1219200"/>
          </a:xfrm>
          <a:prstGeom xmlns:a="http://schemas.openxmlformats.org/drawingml/2006/main" prst="roundRect">
            <a:avLst>
              <a:gd name="adj" fmla="val 9375"/>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E2D3B57-9F18-4622-B902-916B8EFCB177}"/>
              </a:ext>
            </a:extLst>
          </p:cNvPr>
          <p:cNvSpPr>
            <a:spLocks xmlns:a="http://schemas.openxmlformats.org/drawingml/2006/main" noGrp="1"/>
          </p:cNvSpPr>
          <p:nvPr/>
        </p:nvSpPr>
        <p:spPr>
          <a:xfrm xmlns:a="http://schemas.openxmlformats.org/drawingml/2006/main">
            <a:off x="6334125" y="36671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C7D16"/>
                </a:solidFill>
                <a:latin typeface="DejaVu Sans"/>
                <a:ea typeface="DejaVu Sans"/>
                <a:cs typeface="DejaVu Sans"/>
              </a:defRPr>
            </a:pPr>
            <a:r>
              <a:rPr sz="1950" b="1">
                <a:solidFill>
                  <a:srgbClr val="CC7D16"/>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6EFD9E88-529C-4EED-A41C-95744C112821}"/>
              </a:ext>
            </a:extLst>
          </p:cNvPr>
          <p:cNvSpPr>
            <a:spLocks xmlns:a="http://schemas.openxmlformats.org/drawingml/2006/main" noGrp="1"/>
          </p:cNvSpPr>
          <p:nvPr/>
        </p:nvSpPr>
        <p:spPr>
          <a:xfrm xmlns:a="http://schemas.openxmlformats.org/drawingml/2006/main">
            <a:off x="6915150" y="36861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Delivery progression</a:t>
            </a:r>
          </a:p>
        </p:txBody>
      </p:sp>
      <p:sp>
        <p:nvSpPr>
          <p:cNvPr id="21" name="">
            <a:extLst xmlns:a="http://schemas.openxmlformats.org/drawingml/2006/main">
              <a:ext uri="{FF2B5EF4-FFF2-40B4-BE49-F238E27FC236}">
                <a16:creationId xmlns:a16="http://schemas.microsoft.com/office/drawing/2014/main" id="{C809203E-5426-4B66-B088-8FD29E5AF12E}"/>
              </a:ext>
            </a:extLst>
          </p:cNvPr>
          <p:cNvSpPr>
            <a:spLocks xmlns:a="http://schemas.openxmlformats.org/drawingml/2006/main" noGrp="1"/>
          </p:cNvSpPr>
          <p:nvPr/>
        </p:nvSpPr>
        <p:spPr>
          <a:xfrm xmlns:a="http://schemas.openxmlformats.org/drawingml/2006/main">
            <a:off x="6334125" y="4048125"/>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readiness of SIT, UAT and regression items</a:t>
            </a:r>
          </a:p>
        </p:txBody>
      </p:sp>
      <p:sp>
        <p:nvSpPr>
          <p:cNvPr id="22" name="">
            <a:extLst xmlns:a="http://schemas.openxmlformats.org/drawingml/2006/main">
              <a:ext uri="{FF2B5EF4-FFF2-40B4-BE49-F238E27FC236}">
                <a16:creationId xmlns:a16="http://schemas.microsoft.com/office/drawing/2014/main" id="{CBD2A641-282A-4E5F-AD56-A76980160B81}"/>
              </a:ext>
            </a:extLst>
          </p:cNvPr>
          <p:cNvSpPr>
            <a:spLocks xmlns:a="http://schemas.openxmlformats.org/drawingml/2006/main" noGrp="1"/>
          </p:cNvSpPr>
          <p:nvPr/>
        </p:nvSpPr>
        <p:spPr>
          <a:xfrm xmlns:a="http://schemas.openxmlformats.org/drawingml/2006/main">
            <a:off x="457200" y="48577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Infrastructure has reported headroom</a:t>
            </a:r>
          </a:p>
        </p:txBody>
      </p:sp>
      <p:sp>
        <p:nvSpPr>
          <p:cNvPr id="23" name="">
            <a:extLst xmlns:a="http://schemas.openxmlformats.org/drawingml/2006/main">
              <a:ext uri="{FF2B5EF4-FFF2-40B4-BE49-F238E27FC236}">
                <a16:creationId xmlns:a16="http://schemas.microsoft.com/office/drawing/2014/main" id="{6DB9F0B3-9E36-49AF-A7F6-01394B8CF8E0}"/>
              </a:ext>
            </a:extLst>
          </p:cNvPr>
          <p:cNvSpPr>
            <a:spLocks xmlns:a="http://schemas.openxmlformats.org/drawingml/2006/main" noGrp="1"/>
          </p:cNvSpPr>
          <p:nvPr/>
        </p:nvSpPr>
        <p:spPr>
          <a:xfrm xmlns:a="http://schemas.openxmlformats.org/drawingml/2006/main">
            <a:off x="457200" y="5238750"/>
            <a:ext cx="3657600" cy="990600"/>
          </a:xfrm>
          <a:prstGeom xmlns:a="http://schemas.openxmlformats.org/drawingml/2006/main" prst="roundRect">
            <a:avLst>
              <a:gd name="adj" fmla="val 11538"/>
            </a:avLst>
          </a:prstGeom>
          <a:solidFill xmlns:a="http://schemas.openxmlformats.org/drawingml/2006/main">
            <a:srgbClr val="E6F6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180D399-8C25-4BFC-80B3-2FFD30854BEB}"/>
              </a:ext>
            </a:extLst>
          </p:cNvPr>
          <p:cNvSpPr>
            <a:spLocks xmlns:a="http://schemas.openxmlformats.org/drawingml/2006/main" noGrp="1"/>
          </p:cNvSpPr>
          <p:nvPr/>
        </p:nvSpPr>
        <p:spPr>
          <a:xfrm xmlns:a="http://schemas.openxmlformats.org/drawingml/2006/main">
            <a:off x="57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MB / IB</a:t>
            </a:r>
          </a:p>
        </p:txBody>
      </p:sp>
      <p:sp>
        <p:nvSpPr>
          <p:cNvPr id="25" name="">
            <a:extLst xmlns:a="http://schemas.openxmlformats.org/drawingml/2006/main">
              <a:ext uri="{FF2B5EF4-FFF2-40B4-BE49-F238E27FC236}">
                <a16:creationId xmlns:a16="http://schemas.microsoft.com/office/drawing/2014/main" id="{69C267EB-8C82-467E-A3F2-82FF318555C2}"/>
              </a:ext>
            </a:extLst>
          </p:cNvPr>
          <p:cNvSpPr>
            <a:spLocks xmlns:a="http://schemas.openxmlformats.org/drawingml/2006/main" noGrp="1"/>
          </p:cNvSpPr>
          <p:nvPr/>
        </p:nvSpPr>
        <p:spPr>
          <a:xfrm xmlns:a="http://schemas.openxmlformats.org/drawingml/2006/main">
            <a:off x="57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7.97% / 5.01%   Memory 35.64% / 52.87%</a:t>
            </a:r>
          </a:p>
        </p:txBody>
      </p:sp>
      <p:sp>
        <p:nvSpPr>
          <p:cNvPr id="26" name="">
            <a:extLst xmlns:a="http://schemas.openxmlformats.org/drawingml/2006/main">
              <a:ext uri="{FF2B5EF4-FFF2-40B4-BE49-F238E27FC236}">
                <a16:creationId xmlns:a16="http://schemas.microsoft.com/office/drawing/2014/main" id="{4EB4CBE8-BF14-40F2-99E2-0B6AF2E7A497}"/>
              </a:ext>
            </a:extLst>
          </p:cNvPr>
          <p:cNvSpPr>
            <a:spLocks xmlns:a="http://schemas.openxmlformats.org/drawingml/2006/main" noGrp="1"/>
          </p:cNvSpPr>
          <p:nvPr/>
        </p:nvSpPr>
        <p:spPr>
          <a:xfrm xmlns:a="http://schemas.openxmlformats.org/drawingml/2006/main">
            <a:off x="57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66.10% / 50.17%</a:t>
            </a:r>
          </a:p>
        </p:txBody>
      </p:sp>
      <p:sp>
        <p:nvSpPr>
          <p:cNvPr id="27" name="">
            <a:extLst xmlns:a="http://schemas.openxmlformats.org/drawingml/2006/main">
              <a:ext uri="{FF2B5EF4-FFF2-40B4-BE49-F238E27FC236}">
                <a16:creationId xmlns:a16="http://schemas.microsoft.com/office/drawing/2014/main" id="{C165F2CA-2BF5-457F-9806-58408D1F20F6}"/>
              </a:ext>
            </a:extLst>
          </p:cNvPr>
          <p:cNvSpPr>
            <a:spLocks xmlns:a="http://schemas.openxmlformats.org/drawingml/2006/main" noGrp="1"/>
          </p:cNvSpPr>
          <p:nvPr/>
        </p:nvSpPr>
        <p:spPr>
          <a:xfrm xmlns:a="http://schemas.openxmlformats.org/drawingml/2006/main">
            <a:off x="4267200" y="5238750"/>
            <a:ext cx="3657600" cy="990600"/>
          </a:xfrm>
          <a:prstGeom xmlns:a="http://schemas.openxmlformats.org/drawingml/2006/main" prst="roundRect">
            <a:avLst>
              <a:gd name="adj" fmla="val 11538"/>
            </a:avLst>
          </a:prstGeom>
          <a:solidFill xmlns:a="http://schemas.openxmlformats.org/drawingml/2006/main">
            <a:srgbClr val="E8F3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B8C7B19-7007-496F-9F04-197A86A1C2C9}"/>
              </a:ext>
            </a:extLst>
          </p:cNvPr>
          <p:cNvSpPr>
            <a:spLocks xmlns:a="http://schemas.openxmlformats.org/drawingml/2006/main" noGrp="1"/>
          </p:cNvSpPr>
          <p:nvPr/>
        </p:nvSpPr>
        <p:spPr>
          <a:xfrm xmlns:a="http://schemas.openxmlformats.org/drawingml/2006/main">
            <a:off x="438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FinnOne</a:t>
            </a:r>
          </a:p>
        </p:txBody>
      </p:sp>
      <p:sp>
        <p:nvSpPr>
          <p:cNvPr id="29" name="">
            <a:extLst xmlns:a="http://schemas.openxmlformats.org/drawingml/2006/main">
              <a:ext uri="{FF2B5EF4-FFF2-40B4-BE49-F238E27FC236}">
                <a16:creationId xmlns:a16="http://schemas.microsoft.com/office/drawing/2014/main" id="{AEB5D086-E127-4FC4-A93A-2E061FF5F864}"/>
              </a:ext>
            </a:extLst>
          </p:cNvPr>
          <p:cNvSpPr>
            <a:spLocks xmlns:a="http://schemas.openxmlformats.org/drawingml/2006/main" noGrp="1"/>
          </p:cNvSpPr>
          <p:nvPr/>
        </p:nvSpPr>
        <p:spPr>
          <a:xfrm xmlns:a="http://schemas.openxmlformats.org/drawingml/2006/main">
            <a:off x="438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&lt;10%   Memory &lt;60%</a:t>
            </a:r>
          </a:p>
        </p:txBody>
      </p:sp>
      <p:sp>
        <p:nvSpPr>
          <p:cNvPr id="30" name="">
            <a:extLst xmlns:a="http://schemas.openxmlformats.org/drawingml/2006/main">
              <a:ext uri="{FF2B5EF4-FFF2-40B4-BE49-F238E27FC236}">
                <a16:creationId xmlns:a16="http://schemas.microsoft.com/office/drawing/2014/main" id="{C7D4E48F-5EB4-428D-93A3-0B0B4DCDB75D}"/>
              </a:ext>
            </a:extLst>
          </p:cNvPr>
          <p:cNvSpPr>
            <a:spLocks xmlns:a="http://schemas.openxmlformats.org/drawingml/2006/main" noGrp="1"/>
          </p:cNvSpPr>
          <p:nvPr/>
        </p:nvSpPr>
        <p:spPr>
          <a:xfrm xmlns:a="http://schemas.openxmlformats.org/drawingml/2006/main">
            <a:off x="438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Not supplied</a:t>
            </a:r>
          </a:p>
        </p:txBody>
      </p:sp>
      <p:sp>
        <p:nvSpPr>
          <p:cNvPr id="31" name="">
            <a:extLst xmlns:a="http://schemas.openxmlformats.org/drawingml/2006/main">
              <a:ext uri="{FF2B5EF4-FFF2-40B4-BE49-F238E27FC236}">
                <a16:creationId xmlns:a16="http://schemas.microsoft.com/office/drawing/2014/main" id="{E2712161-23E4-476B-86FC-4C9DAD087719}"/>
              </a:ext>
            </a:extLst>
          </p:cNvPr>
          <p:cNvSpPr>
            <a:spLocks xmlns:a="http://schemas.openxmlformats.org/drawingml/2006/main" noGrp="1"/>
          </p:cNvSpPr>
          <p:nvPr/>
        </p:nvSpPr>
        <p:spPr>
          <a:xfrm xmlns:a="http://schemas.openxmlformats.org/drawingml/2006/main">
            <a:off x="8077200" y="5238750"/>
            <a:ext cx="3657600" cy="990600"/>
          </a:xfrm>
          <a:prstGeom xmlns:a="http://schemas.openxmlformats.org/drawingml/2006/main" prst="roundRect">
            <a:avLst>
              <a:gd name="adj" fmla="val 11538"/>
            </a:avLst>
          </a:prstGeom>
          <a:solidFill xmlns:a="http://schemas.openxmlformats.org/drawingml/2006/main">
            <a:srgbClr val="F0EAF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3614AAB-7997-465B-B7B7-3657D80E4D65}"/>
              </a:ext>
            </a:extLst>
          </p:cNvPr>
          <p:cNvSpPr>
            <a:spLocks xmlns:a="http://schemas.openxmlformats.org/drawingml/2006/main" noGrp="1"/>
          </p:cNvSpPr>
          <p:nvPr/>
        </p:nvSpPr>
        <p:spPr>
          <a:xfrm xmlns:a="http://schemas.openxmlformats.org/drawingml/2006/main">
            <a:off x="819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HFLMS</a:t>
            </a:r>
          </a:p>
        </p:txBody>
      </p:sp>
      <p:sp>
        <p:nvSpPr>
          <p:cNvPr id="33" name="">
            <a:extLst xmlns:a="http://schemas.openxmlformats.org/drawingml/2006/main">
              <a:ext uri="{FF2B5EF4-FFF2-40B4-BE49-F238E27FC236}">
                <a16:creationId xmlns:a16="http://schemas.microsoft.com/office/drawing/2014/main" id="{630BAE22-F68F-4CB9-B475-FBE21774A81B}"/>
              </a:ext>
            </a:extLst>
          </p:cNvPr>
          <p:cNvSpPr>
            <a:spLocks xmlns:a="http://schemas.openxmlformats.org/drawingml/2006/main" noGrp="1"/>
          </p:cNvSpPr>
          <p:nvPr/>
        </p:nvSpPr>
        <p:spPr>
          <a:xfrm xmlns:a="http://schemas.openxmlformats.org/drawingml/2006/main">
            <a:off x="819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&lt;40%   Memory &lt;25%</a:t>
            </a:r>
          </a:p>
        </p:txBody>
      </p:sp>
      <p:sp>
        <p:nvSpPr>
          <p:cNvPr id="34" name="">
            <a:extLst xmlns:a="http://schemas.openxmlformats.org/drawingml/2006/main">
              <a:ext uri="{FF2B5EF4-FFF2-40B4-BE49-F238E27FC236}">
                <a16:creationId xmlns:a16="http://schemas.microsoft.com/office/drawing/2014/main" id="{746D3F41-BBE2-4BB6-922E-90659D576463}"/>
              </a:ext>
            </a:extLst>
          </p:cNvPr>
          <p:cNvSpPr>
            <a:spLocks xmlns:a="http://schemas.openxmlformats.org/drawingml/2006/main" noGrp="1"/>
          </p:cNvSpPr>
          <p:nvPr/>
        </p:nvSpPr>
        <p:spPr>
          <a:xfrm xmlns:a="http://schemas.openxmlformats.org/drawingml/2006/main">
            <a:off x="819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&lt;70%</a:t>
            </a:r>
          </a:p>
        </p:txBody>
      </p:sp>
    </p:spTree>
    <p:extLst>
      <p:ext uri="{BB962C8B-B14F-4D97-AF65-F5344CB8AC3E}">
        <p14:creationId xmlns:p14="http://schemas.microsoft.com/office/powerpoint/2010/main" val="187604433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D4A62EA-0FE6-4F18-AA66-699ECB8D124E}"/>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4C29975C-964D-42CC-9B54-120C950ED74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AF squad: four initiatives in SIT / UAT</a:t>
            </a:r>
          </a:p>
        </p:txBody>
      </p:sp>
      <p:sp>
        <p:nvSpPr>
          <p:cNvPr id="3" name="">
            <a:extLst xmlns:a="http://schemas.openxmlformats.org/drawingml/2006/main">
              <a:ext uri="{FF2B5EF4-FFF2-40B4-BE49-F238E27FC236}">
                <a16:creationId xmlns:a16="http://schemas.microsoft.com/office/drawing/2014/main" id="{DB48A91A-284E-42FB-95F4-05D11EBA6CC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status snapshot. Two initiatives have business sign-off.</a:t>
            </a:r>
          </a:p>
        </p:txBody>
      </p:sp>
      <p:sp>
        <p:nvSpPr>
          <p:cNvPr id="4" name="">
            <a:extLst xmlns:a="http://schemas.openxmlformats.org/drawingml/2006/main">
              <a:ext uri="{FF2B5EF4-FFF2-40B4-BE49-F238E27FC236}">
                <a16:creationId xmlns:a16="http://schemas.microsoft.com/office/drawing/2014/main" id="{388770A4-D705-49BD-B375-ED37E701DB0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EECE7F4-2325-46C3-A0F3-062A856EBDC2}"/>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07774F69-FEAA-4C19-829D-8F962A13856D}"/>
              </a:ext>
            </a:extLst>
          </p:cNvPr>
          <p:cNvSpPr>
            <a:spLocks xmlns:a="http://schemas.openxmlformats.org/drawingml/2006/main" noGrp="1"/>
          </p:cNvSpPr>
          <p:nvPr/>
        </p:nvSpPr>
        <p:spPr>
          <a:xfrm xmlns:a="http://schemas.openxmlformats.org/drawingml/2006/main">
            <a:off x="457200" y="2143125"/>
            <a:ext cx="3657600" cy="1857375"/>
          </a:xfrm>
          <a:prstGeom xmlns:a="http://schemas.openxmlformats.org/drawingml/2006/main" prst="roundRect">
            <a:avLst>
              <a:gd name="adj" fmla="val 615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FD02F1-6022-47FC-A385-88C94F0465A8}"/>
              </a:ext>
            </a:extLst>
          </p:cNvPr>
          <p:cNvSpPr>
            <a:spLocks xmlns:a="http://schemas.openxmlformats.org/drawingml/2006/main" noGrp="1"/>
          </p:cNvSpPr>
          <p:nvPr/>
        </p:nvSpPr>
        <p:spPr>
          <a:xfrm xmlns:a="http://schemas.openxmlformats.org/drawingml/2006/main">
            <a:off x="61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4 solution finalization</a:t>
            </a:r>
          </a:p>
        </p:txBody>
      </p:sp>
      <p:sp>
        <p:nvSpPr>
          <p:cNvPr id="8" name="">
            <a:extLst xmlns:a="http://schemas.openxmlformats.org/drawingml/2006/main">
              <a:ext uri="{FF2B5EF4-FFF2-40B4-BE49-F238E27FC236}">
                <a16:creationId xmlns:a16="http://schemas.microsoft.com/office/drawing/2014/main" id="{46DB87C0-F9C6-4156-8652-7848A17B9E40}"/>
              </a:ext>
            </a:extLst>
          </p:cNvPr>
          <p:cNvSpPr>
            <a:spLocks xmlns:a="http://schemas.openxmlformats.org/drawingml/2006/main" noGrp="1"/>
          </p:cNvSpPr>
          <p:nvPr/>
        </p:nvSpPr>
        <p:spPr>
          <a:xfrm xmlns:a="http://schemas.openxmlformats.org/drawingml/2006/main">
            <a:off x="61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DMGT-1325: Early settlement KFS trigger</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DMGT-2063: Hybrid / country-of-origin flags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DMGT-679: Digital AECB and KFS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Fourth initiative not named in source</a:t>
            </a:r>
          </a:p>
        </p:txBody>
      </p:sp>
      <p:sp>
        <p:nvSpPr>
          <p:cNvPr id="9" name="">
            <a:extLst xmlns:a="http://schemas.openxmlformats.org/drawingml/2006/main">
              <a:ext uri="{FF2B5EF4-FFF2-40B4-BE49-F238E27FC236}">
                <a16:creationId xmlns:a16="http://schemas.microsoft.com/office/drawing/2014/main" id="{95207B5C-F75E-45DD-A6D1-F33D46A5B10D}"/>
              </a:ext>
            </a:extLst>
          </p:cNvPr>
          <p:cNvSpPr>
            <a:spLocks xmlns:a="http://schemas.openxmlformats.org/drawingml/2006/main" noGrp="1"/>
          </p:cNvSpPr>
          <p:nvPr/>
        </p:nvSpPr>
        <p:spPr>
          <a:xfrm xmlns:a="http://schemas.openxmlformats.org/drawingml/2006/main">
            <a:off x="4267200" y="2143125"/>
            <a:ext cx="3657600" cy="1857375"/>
          </a:xfrm>
          <a:prstGeom xmlns:a="http://schemas.openxmlformats.org/drawingml/2006/main" prst="roundRect">
            <a:avLst>
              <a:gd name="adj" fmla="val 6154"/>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76BF3C6-0D74-4B0D-8BEB-8610A978940D}"/>
              </a:ext>
            </a:extLst>
          </p:cNvPr>
          <p:cNvSpPr>
            <a:spLocks xmlns:a="http://schemas.openxmlformats.org/drawingml/2006/main" noGrp="1"/>
          </p:cNvSpPr>
          <p:nvPr/>
        </p:nvSpPr>
        <p:spPr>
          <a:xfrm xmlns:a="http://schemas.openxmlformats.org/drawingml/2006/main">
            <a:off x="442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4 development</a:t>
            </a:r>
          </a:p>
        </p:txBody>
      </p:sp>
      <p:sp>
        <p:nvSpPr>
          <p:cNvPr id="11" name="">
            <a:extLst xmlns:a="http://schemas.openxmlformats.org/drawingml/2006/main">
              <a:ext uri="{FF2B5EF4-FFF2-40B4-BE49-F238E27FC236}">
                <a16:creationId xmlns:a16="http://schemas.microsoft.com/office/drawing/2014/main" id="{18AF4F28-B356-4AB2-BBA4-E24184D99F4A}"/>
              </a:ext>
            </a:extLst>
          </p:cNvPr>
          <p:cNvSpPr>
            <a:spLocks xmlns:a="http://schemas.openxmlformats.org/drawingml/2006/main" noGrp="1"/>
          </p:cNvSpPr>
          <p:nvPr/>
        </p:nvSpPr>
        <p:spPr>
          <a:xfrm xmlns:a="http://schemas.openxmlformats.org/drawingml/2006/main">
            <a:off x="442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DMGT-267: Facial recognition for ETB</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DMGT-1052: New Takaful products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DMGT-950: RTA Integration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DMGT-2583: AF switch to standard rates</a:t>
            </a:r>
          </a:p>
        </p:txBody>
      </p:sp>
      <p:sp>
        <p:nvSpPr>
          <p:cNvPr id="12" name="">
            <a:extLst xmlns:a="http://schemas.openxmlformats.org/drawingml/2006/main">
              <a:ext uri="{FF2B5EF4-FFF2-40B4-BE49-F238E27FC236}">
                <a16:creationId xmlns:a16="http://schemas.microsoft.com/office/drawing/2014/main" id="{6C6B2422-07F6-4B66-B89E-FE13EF401830}"/>
              </a:ext>
            </a:extLst>
          </p:cNvPr>
          <p:cNvSpPr>
            <a:spLocks xmlns:a="http://schemas.openxmlformats.org/drawingml/2006/main" noGrp="1"/>
          </p:cNvSpPr>
          <p:nvPr/>
        </p:nvSpPr>
        <p:spPr>
          <a:xfrm xmlns:a="http://schemas.openxmlformats.org/drawingml/2006/main">
            <a:off x="8077200" y="2143125"/>
            <a:ext cx="3657600" cy="1857375"/>
          </a:xfrm>
          <a:prstGeom xmlns:a="http://schemas.openxmlformats.org/drawingml/2006/main" prst="roundRect">
            <a:avLst>
              <a:gd name="adj" fmla="val 6154"/>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DB4453-881E-436F-B9E3-F7A6C2461747}"/>
              </a:ext>
            </a:extLst>
          </p:cNvPr>
          <p:cNvSpPr>
            <a:spLocks xmlns:a="http://schemas.openxmlformats.org/drawingml/2006/main" noGrp="1"/>
          </p:cNvSpPr>
          <p:nvPr/>
        </p:nvSpPr>
        <p:spPr>
          <a:xfrm xmlns:a="http://schemas.openxmlformats.org/drawingml/2006/main">
            <a:off x="823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2 SIT</a:t>
            </a:r>
          </a:p>
        </p:txBody>
      </p:sp>
      <p:sp>
        <p:nvSpPr>
          <p:cNvPr id="14" name="">
            <a:extLst xmlns:a="http://schemas.openxmlformats.org/drawingml/2006/main">
              <a:ext uri="{FF2B5EF4-FFF2-40B4-BE49-F238E27FC236}">
                <a16:creationId xmlns:a16="http://schemas.microsoft.com/office/drawing/2014/main" id="{30A954B6-3782-4EC2-8848-926B1D984E8E}"/>
              </a:ext>
            </a:extLst>
          </p:cNvPr>
          <p:cNvSpPr>
            <a:spLocks xmlns:a="http://schemas.openxmlformats.org/drawingml/2006/main" noGrp="1"/>
          </p:cNvSpPr>
          <p:nvPr/>
        </p:nvSpPr>
        <p:spPr>
          <a:xfrm xmlns:a="http://schemas.openxmlformats.org/drawingml/2006/main">
            <a:off x="823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DMGT-55 / DMGT-97</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Down payment and fee collection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Additional ILOE premium collection</a:t>
            </a:r>
          </a:p>
        </p:txBody>
      </p:sp>
      <p:sp>
        <p:nvSpPr>
          <p:cNvPr id="15" name="">
            <a:extLst xmlns:a="http://schemas.openxmlformats.org/drawingml/2006/main">
              <a:ext uri="{FF2B5EF4-FFF2-40B4-BE49-F238E27FC236}">
                <a16:creationId xmlns:a16="http://schemas.microsoft.com/office/drawing/2014/main" id="{9C38A52E-44F5-42D5-AB7E-0514DDC40236}"/>
              </a:ext>
            </a:extLst>
          </p:cNvPr>
          <p:cNvSpPr>
            <a:spLocks xmlns:a="http://schemas.openxmlformats.org/drawingml/2006/main" noGrp="1"/>
          </p:cNvSpPr>
          <p:nvPr/>
        </p:nvSpPr>
        <p:spPr>
          <a:xfrm xmlns:a="http://schemas.openxmlformats.org/drawingml/2006/main">
            <a:off x="457200" y="4152900"/>
            <a:ext cx="3657600" cy="1857375"/>
          </a:xfrm>
          <a:prstGeom xmlns:a="http://schemas.openxmlformats.org/drawingml/2006/main" prst="roundRect">
            <a:avLst>
              <a:gd name="adj" fmla="val 6154"/>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561C3B2-0D57-47DB-9E42-13175743C98C}"/>
              </a:ext>
            </a:extLst>
          </p:cNvPr>
          <p:cNvSpPr>
            <a:spLocks xmlns:a="http://schemas.openxmlformats.org/drawingml/2006/main" noGrp="1"/>
          </p:cNvSpPr>
          <p:nvPr/>
        </p:nvSpPr>
        <p:spPr>
          <a:xfrm xmlns:a="http://schemas.openxmlformats.org/drawingml/2006/main">
            <a:off x="61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2 UAT</a:t>
            </a:r>
          </a:p>
        </p:txBody>
      </p:sp>
      <p:sp>
        <p:nvSpPr>
          <p:cNvPr id="17" name="">
            <a:extLst xmlns:a="http://schemas.openxmlformats.org/drawingml/2006/main">
              <a:ext uri="{FF2B5EF4-FFF2-40B4-BE49-F238E27FC236}">
                <a16:creationId xmlns:a16="http://schemas.microsoft.com/office/drawing/2014/main" id="{D2D00890-6821-4675-83C3-A8F53276DD21}"/>
              </a:ext>
            </a:extLst>
          </p:cNvPr>
          <p:cNvSpPr>
            <a:spLocks xmlns:a="http://schemas.openxmlformats.org/drawingml/2006/main" noGrp="1"/>
          </p:cNvSpPr>
          <p:nvPr/>
        </p:nvSpPr>
        <p:spPr>
          <a:xfrm xmlns:a="http://schemas.openxmlformats.org/drawingml/2006/main">
            <a:off x="61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DMGT-91: Rate / campaign master</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Adding guarantor in FinnOne</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Guarantor demand ID not supplied</a:t>
            </a:r>
          </a:p>
        </p:txBody>
      </p:sp>
      <p:sp>
        <p:nvSpPr>
          <p:cNvPr id="18" name="">
            <a:extLst xmlns:a="http://schemas.openxmlformats.org/drawingml/2006/main">
              <a:ext uri="{FF2B5EF4-FFF2-40B4-BE49-F238E27FC236}">
                <a16:creationId xmlns:a16="http://schemas.microsoft.com/office/drawing/2014/main" id="{4FA2AE66-F2C0-40D9-89A2-813DDD051F55}"/>
              </a:ext>
            </a:extLst>
          </p:cNvPr>
          <p:cNvSpPr>
            <a:spLocks xmlns:a="http://schemas.openxmlformats.org/drawingml/2006/main" noGrp="1"/>
          </p:cNvSpPr>
          <p:nvPr/>
        </p:nvSpPr>
        <p:spPr>
          <a:xfrm xmlns:a="http://schemas.openxmlformats.org/drawingml/2006/main">
            <a:off x="4267200" y="4152900"/>
            <a:ext cx="3657600" cy="1857375"/>
          </a:xfrm>
          <a:prstGeom xmlns:a="http://schemas.openxmlformats.org/drawingml/2006/main" prst="roundRect">
            <a:avLst>
              <a:gd name="adj" fmla="val 6154"/>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1CB1AC-C2C7-43A1-AB36-9579569A312C}"/>
              </a:ext>
            </a:extLst>
          </p:cNvPr>
          <p:cNvSpPr>
            <a:spLocks xmlns:a="http://schemas.openxmlformats.org/drawingml/2006/main" noGrp="1"/>
          </p:cNvSpPr>
          <p:nvPr/>
        </p:nvSpPr>
        <p:spPr>
          <a:xfrm xmlns:a="http://schemas.openxmlformats.org/drawingml/2006/main">
            <a:off x="442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35373"/>
                </a:solidFill>
                <a:latin typeface="DejaVu Sans"/>
                <a:ea typeface="DejaVu Sans"/>
                <a:cs typeface="DejaVu Sans"/>
              </a:defRPr>
            </a:pPr>
            <a:r>
              <a:rPr sz="1725" b="1">
                <a:solidFill>
                  <a:srgbClr val="D35373"/>
                </a:solidFill>
                <a:latin typeface="DejaVu Sans"/>
                <a:ea typeface="DejaVu Sans"/>
                <a:cs typeface="DejaVu Sans"/>
              </a:rPr>
              <a:t>✓  2 business sign-off</a:t>
            </a:r>
          </a:p>
        </p:txBody>
      </p:sp>
      <p:sp>
        <p:nvSpPr>
          <p:cNvPr id="20" name="">
            <a:extLst xmlns:a="http://schemas.openxmlformats.org/drawingml/2006/main">
              <a:ext uri="{FF2B5EF4-FFF2-40B4-BE49-F238E27FC236}">
                <a16:creationId xmlns:a16="http://schemas.microsoft.com/office/drawing/2014/main" id="{748F8212-D74E-436E-9763-F369DF5F4271}"/>
              </a:ext>
            </a:extLst>
          </p:cNvPr>
          <p:cNvSpPr>
            <a:spLocks xmlns:a="http://schemas.openxmlformats.org/drawingml/2006/main" noGrp="1"/>
          </p:cNvSpPr>
          <p:nvPr/>
        </p:nvSpPr>
        <p:spPr>
          <a:xfrm xmlns:a="http://schemas.openxmlformats.org/drawingml/2006/main">
            <a:off x="442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DMGT-2480: Wataniya T&amp;C in AF ILOE consent</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DMGT-2384: Early Settlement SMS</a:t>
            </a:r>
          </a:p>
        </p:txBody>
      </p:sp>
      <p:sp>
        <p:nvSpPr>
          <p:cNvPr id="21" name="">
            <a:extLst xmlns:a="http://schemas.openxmlformats.org/drawingml/2006/main">
              <a:ext uri="{FF2B5EF4-FFF2-40B4-BE49-F238E27FC236}">
                <a16:creationId xmlns:a16="http://schemas.microsoft.com/office/drawing/2014/main" id="{02FF5D90-3857-4223-968A-7C8301DD313C}"/>
              </a:ext>
            </a:extLst>
          </p:cNvPr>
          <p:cNvSpPr>
            <a:spLocks xmlns:a="http://schemas.openxmlformats.org/drawingml/2006/main" noGrp="1"/>
          </p:cNvSpPr>
          <p:nvPr/>
        </p:nvSpPr>
        <p:spPr>
          <a:xfrm xmlns:a="http://schemas.openxmlformats.org/drawingml/2006/main">
            <a:off x="8077200" y="4152900"/>
            <a:ext cx="3657600" cy="1857375"/>
          </a:xfrm>
          <a:prstGeom xmlns:a="http://schemas.openxmlformats.org/drawingml/2006/main" prst="roundRect">
            <a:avLst>
              <a:gd name="adj" fmla="val 6154"/>
            </a:avLst>
          </a:prstGeom>
          <a:solidFill xmlns:a="http://schemas.openxmlformats.org/drawingml/2006/main">
            <a:srgbClr val="EAF3F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66C3445-427D-466D-B906-9828B2A1C487}"/>
              </a:ext>
            </a:extLst>
          </p:cNvPr>
          <p:cNvSpPr>
            <a:spLocks xmlns:a="http://schemas.openxmlformats.org/drawingml/2006/main" noGrp="1"/>
          </p:cNvSpPr>
          <p:nvPr/>
        </p:nvSpPr>
        <p:spPr>
          <a:xfrm xmlns:a="http://schemas.openxmlformats.org/drawingml/2006/main">
            <a:off x="823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4 backlog</a:t>
            </a:r>
          </a:p>
        </p:txBody>
      </p:sp>
      <p:sp>
        <p:nvSpPr>
          <p:cNvPr id="23" name="">
            <a:extLst xmlns:a="http://schemas.openxmlformats.org/drawingml/2006/main">
              <a:ext uri="{FF2B5EF4-FFF2-40B4-BE49-F238E27FC236}">
                <a16:creationId xmlns:a16="http://schemas.microsoft.com/office/drawing/2014/main" id="{C7568D16-4168-42FD-9DEB-2A8B9DACB3DE}"/>
              </a:ext>
            </a:extLst>
          </p:cNvPr>
          <p:cNvSpPr>
            <a:spLocks xmlns:a="http://schemas.openxmlformats.org/drawingml/2006/main" noGrp="1"/>
          </p:cNvSpPr>
          <p:nvPr/>
        </p:nvSpPr>
        <p:spPr>
          <a:xfrm xmlns:a="http://schemas.openxmlformats.org/drawingml/2006/main">
            <a:off x="823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Awaiting pickup</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30 Sep planned: DMGT-2583</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4 Oct planned: DMGT-2480 / DMGT-2384</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Actual go-live confirmation required</a:t>
            </a:r>
          </a:p>
        </p:txBody>
      </p:sp>
      <p:sp>
        <p:nvSpPr>
          <p:cNvPr id="24" name="">
            <a:extLst xmlns:a="http://schemas.openxmlformats.org/drawingml/2006/main">
              <a:ext uri="{FF2B5EF4-FFF2-40B4-BE49-F238E27FC236}">
                <a16:creationId xmlns:a16="http://schemas.microsoft.com/office/drawing/2014/main" id="{2C89EF2A-0472-4A1C-9BBB-83A1C049584F}"/>
              </a:ext>
            </a:extLst>
          </p:cNvPr>
          <p:cNvSpPr>
            <a:spLocks xmlns:a="http://schemas.openxmlformats.org/drawingml/2006/main" noGrp="1"/>
          </p:cNvSpPr>
          <p:nvPr/>
        </p:nvSpPr>
        <p:spPr>
          <a:xfrm xmlns:a="http://schemas.openxmlformats.org/drawingml/2006/main">
            <a:off x="457200" y="620077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Squad counts are reported stage counts and may overlap the platform portfolio.</a:t>
            </a:r>
          </a:p>
        </p:txBody>
      </p:sp>
    </p:spTree>
    <p:extLst>
      <p:ext uri="{BB962C8B-B14F-4D97-AF65-F5344CB8AC3E}">
        <p14:creationId xmlns:p14="http://schemas.microsoft.com/office/powerpoint/2010/main" val="19620112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2D5B8E2-9DF8-4CAE-81A0-4FA78545AA0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97D27565-7631-46EB-A536-F6D363CFB4E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AF delivery timeline: September 2025–August 2026</a:t>
            </a:r>
          </a:p>
        </p:txBody>
      </p:sp>
      <p:sp>
        <p:nvSpPr>
          <p:cNvPr id="3" name="">
            <a:extLst xmlns:a="http://schemas.openxmlformats.org/drawingml/2006/main">
              <a:ext uri="{FF2B5EF4-FFF2-40B4-BE49-F238E27FC236}">
                <a16:creationId xmlns:a16="http://schemas.microsoft.com/office/drawing/2014/main" id="{E190A7AB-8F75-41F8-A94C-C3C7755442F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Twelve months of milestones. Read across each row, then continue below.</a:t>
            </a:r>
          </a:p>
        </p:txBody>
      </p:sp>
      <p:sp>
        <p:nvSpPr>
          <p:cNvPr id="4" name="">
            <a:extLst xmlns:a="http://schemas.openxmlformats.org/drawingml/2006/main">
              <a:ext uri="{FF2B5EF4-FFF2-40B4-BE49-F238E27FC236}">
                <a16:creationId xmlns:a16="http://schemas.microsoft.com/office/drawing/2014/main" id="{4E186A8A-E014-4581-A495-5B54D0BC692D}"/>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A93FC25-5526-4495-8835-162B0349F32D}"/>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A618E78D-D47C-40CE-BA36-176DE597E841}"/>
              </a:ext>
            </a:extLst>
          </p:cNvPr>
          <p:cNvSpPr>
            <a:spLocks xmlns:a="http://schemas.openxmlformats.org/drawingml/2006/main" noGrp="1"/>
          </p:cNvSpPr>
          <p:nvPr/>
        </p:nvSpPr>
        <p:spPr>
          <a:xfrm xmlns:a="http://schemas.openxmlformats.org/drawingml/2006/main">
            <a:off x="457200" y="204787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8B5491-5604-412A-99F2-24DB62F33986}"/>
              </a:ext>
            </a:extLst>
          </p:cNvPr>
          <p:cNvSpPr>
            <a:spLocks xmlns:a="http://schemas.openxmlformats.org/drawingml/2006/main" noGrp="1"/>
          </p:cNvSpPr>
          <p:nvPr/>
        </p:nvSpPr>
        <p:spPr>
          <a:xfrm xmlns:a="http://schemas.openxmlformats.org/drawingml/2006/main">
            <a:off x="5715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Sep 2025</a:t>
            </a:r>
          </a:p>
        </p:txBody>
      </p:sp>
      <p:sp>
        <p:nvSpPr>
          <p:cNvPr id="8" name="">
            <a:extLst xmlns:a="http://schemas.openxmlformats.org/drawingml/2006/main">
              <a:ext uri="{FF2B5EF4-FFF2-40B4-BE49-F238E27FC236}">
                <a16:creationId xmlns:a16="http://schemas.microsoft.com/office/drawing/2014/main" id="{8C9C8B05-64A4-4CC5-BFB2-B7DF0BF264C9}"/>
              </a:ext>
            </a:extLst>
          </p:cNvPr>
          <p:cNvSpPr>
            <a:spLocks xmlns:a="http://schemas.openxmlformats.org/drawingml/2006/main" noGrp="1"/>
          </p:cNvSpPr>
          <p:nvPr/>
        </p:nvSpPr>
        <p:spPr>
          <a:xfrm xmlns:a="http://schemas.openxmlformats.org/drawingml/2006/main">
            <a:off x="5715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Disclosure notification for STL</a:t>
            </a:r>
          </a:p>
        </p:txBody>
      </p:sp>
      <p:sp>
        <p:nvSpPr>
          <p:cNvPr id="9" name="">
            <a:extLst xmlns:a="http://schemas.openxmlformats.org/drawingml/2006/main">
              <a:ext uri="{FF2B5EF4-FFF2-40B4-BE49-F238E27FC236}">
                <a16:creationId xmlns:a16="http://schemas.microsoft.com/office/drawing/2014/main" id="{821F431D-3AF0-4A93-BD51-6AB05574C504}"/>
              </a:ext>
            </a:extLst>
          </p:cNvPr>
          <p:cNvSpPr>
            <a:spLocks xmlns:a="http://schemas.openxmlformats.org/drawingml/2006/main" noGrp="1"/>
          </p:cNvSpPr>
          <p:nvPr/>
        </p:nvSpPr>
        <p:spPr>
          <a:xfrm xmlns:a="http://schemas.openxmlformats.org/drawingml/2006/main">
            <a:off x="31718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E8074056-2933-4EEB-B6E4-C192F29EA89A}"/>
              </a:ext>
            </a:extLst>
          </p:cNvPr>
          <p:cNvSpPr>
            <a:spLocks xmlns:a="http://schemas.openxmlformats.org/drawingml/2006/main" noGrp="1"/>
          </p:cNvSpPr>
          <p:nvPr/>
        </p:nvSpPr>
        <p:spPr>
          <a:xfrm xmlns:a="http://schemas.openxmlformats.org/drawingml/2006/main">
            <a:off x="3314700" y="204787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448DE36-4D48-4D11-8FC1-B8F5880D2A32}"/>
              </a:ext>
            </a:extLst>
          </p:cNvPr>
          <p:cNvSpPr>
            <a:spLocks xmlns:a="http://schemas.openxmlformats.org/drawingml/2006/main" noGrp="1"/>
          </p:cNvSpPr>
          <p:nvPr/>
        </p:nvSpPr>
        <p:spPr>
          <a:xfrm xmlns:a="http://schemas.openxmlformats.org/drawingml/2006/main">
            <a:off x="34290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Oct 2025</a:t>
            </a:r>
          </a:p>
        </p:txBody>
      </p:sp>
      <p:sp>
        <p:nvSpPr>
          <p:cNvPr id="12" name="">
            <a:extLst xmlns:a="http://schemas.openxmlformats.org/drawingml/2006/main">
              <a:ext uri="{FF2B5EF4-FFF2-40B4-BE49-F238E27FC236}">
                <a16:creationId xmlns:a16="http://schemas.microsoft.com/office/drawing/2014/main" id="{CD12FA60-124F-4C88-8DC6-A4264DF084C5}"/>
              </a:ext>
            </a:extLst>
          </p:cNvPr>
          <p:cNvSpPr>
            <a:spLocks xmlns:a="http://schemas.openxmlformats.org/drawingml/2006/main" noGrp="1"/>
          </p:cNvSpPr>
          <p:nvPr/>
        </p:nvSpPr>
        <p:spPr>
          <a:xfrm xmlns:a="http://schemas.openxmlformats.org/drawingml/2006/main">
            <a:off x="34290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Q4 rate deployment</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Subvention campaign in FinnOne</a:t>
            </a:r>
          </a:p>
        </p:txBody>
      </p:sp>
      <p:sp>
        <p:nvSpPr>
          <p:cNvPr id="13" name="">
            <a:extLst xmlns:a="http://schemas.openxmlformats.org/drawingml/2006/main">
              <a:ext uri="{FF2B5EF4-FFF2-40B4-BE49-F238E27FC236}">
                <a16:creationId xmlns:a16="http://schemas.microsoft.com/office/drawing/2014/main" id="{5082E619-07ED-4DCC-B0F5-89FC4747B6AF}"/>
              </a:ext>
            </a:extLst>
          </p:cNvPr>
          <p:cNvSpPr>
            <a:spLocks xmlns:a="http://schemas.openxmlformats.org/drawingml/2006/main" noGrp="1"/>
          </p:cNvSpPr>
          <p:nvPr/>
        </p:nvSpPr>
        <p:spPr>
          <a:xfrm xmlns:a="http://schemas.openxmlformats.org/drawingml/2006/main">
            <a:off x="60293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17C8326D-EB8F-4DF9-A53D-EBF80BC18DAA}"/>
              </a:ext>
            </a:extLst>
          </p:cNvPr>
          <p:cNvSpPr>
            <a:spLocks xmlns:a="http://schemas.openxmlformats.org/drawingml/2006/main" noGrp="1"/>
          </p:cNvSpPr>
          <p:nvPr/>
        </p:nvSpPr>
        <p:spPr>
          <a:xfrm xmlns:a="http://schemas.openxmlformats.org/drawingml/2006/main">
            <a:off x="6172200" y="204787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89966BA-F04D-4314-BB7E-359E9B415971}"/>
              </a:ext>
            </a:extLst>
          </p:cNvPr>
          <p:cNvSpPr>
            <a:spLocks xmlns:a="http://schemas.openxmlformats.org/drawingml/2006/main" noGrp="1"/>
          </p:cNvSpPr>
          <p:nvPr/>
        </p:nvSpPr>
        <p:spPr>
          <a:xfrm xmlns:a="http://schemas.openxmlformats.org/drawingml/2006/main">
            <a:off x="62865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Nov 2025</a:t>
            </a:r>
          </a:p>
        </p:txBody>
      </p:sp>
      <p:sp>
        <p:nvSpPr>
          <p:cNvPr id="16" name="">
            <a:extLst xmlns:a="http://schemas.openxmlformats.org/drawingml/2006/main">
              <a:ext uri="{FF2B5EF4-FFF2-40B4-BE49-F238E27FC236}">
                <a16:creationId xmlns:a16="http://schemas.microsoft.com/office/drawing/2014/main" id="{2DB82A12-7CD3-41BA-B639-0BF137149CC9}"/>
              </a:ext>
            </a:extLst>
          </p:cNvPr>
          <p:cNvSpPr>
            <a:spLocks xmlns:a="http://schemas.openxmlformats.org/drawingml/2006/main" noGrp="1"/>
          </p:cNvSpPr>
          <p:nvPr/>
        </p:nvSpPr>
        <p:spPr>
          <a:xfrm xmlns:a="http://schemas.openxmlformats.org/drawingml/2006/main">
            <a:off x="62865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Updated SLA logic</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POD</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Job-loss Takaful mapping</a:t>
            </a:r>
          </a:p>
        </p:txBody>
      </p:sp>
      <p:sp>
        <p:nvSpPr>
          <p:cNvPr id="17" name="">
            <a:extLst xmlns:a="http://schemas.openxmlformats.org/drawingml/2006/main">
              <a:ext uri="{FF2B5EF4-FFF2-40B4-BE49-F238E27FC236}">
                <a16:creationId xmlns:a16="http://schemas.microsoft.com/office/drawing/2014/main" id="{8C3B4D52-B7A0-4059-B2C9-EA859E1811DF}"/>
              </a:ext>
            </a:extLst>
          </p:cNvPr>
          <p:cNvSpPr>
            <a:spLocks xmlns:a="http://schemas.openxmlformats.org/drawingml/2006/main" noGrp="1"/>
          </p:cNvSpPr>
          <p:nvPr/>
        </p:nvSpPr>
        <p:spPr>
          <a:xfrm xmlns:a="http://schemas.openxmlformats.org/drawingml/2006/main">
            <a:off x="88868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121FD872-A8CB-4863-96DB-999A0AD70174}"/>
              </a:ext>
            </a:extLst>
          </p:cNvPr>
          <p:cNvSpPr>
            <a:spLocks xmlns:a="http://schemas.openxmlformats.org/drawingml/2006/main" noGrp="1"/>
          </p:cNvSpPr>
          <p:nvPr/>
        </p:nvSpPr>
        <p:spPr>
          <a:xfrm xmlns:a="http://schemas.openxmlformats.org/drawingml/2006/main">
            <a:off x="9029700" y="204787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C32A77-F81B-4232-B2C3-E6D13B117D71}"/>
              </a:ext>
            </a:extLst>
          </p:cNvPr>
          <p:cNvSpPr>
            <a:spLocks xmlns:a="http://schemas.openxmlformats.org/drawingml/2006/main" noGrp="1"/>
          </p:cNvSpPr>
          <p:nvPr/>
        </p:nvSpPr>
        <p:spPr>
          <a:xfrm xmlns:a="http://schemas.openxmlformats.org/drawingml/2006/main">
            <a:off x="91440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Dec 2025</a:t>
            </a:r>
          </a:p>
        </p:txBody>
      </p:sp>
      <p:sp>
        <p:nvSpPr>
          <p:cNvPr id="20" name="">
            <a:extLst xmlns:a="http://schemas.openxmlformats.org/drawingml/2006/main">
              <a:ext uri="{FF2B5EF4-FFF2-40B4-BE49-F238E27FC236}">
                <a16:creationId xmlns:a16="http://schemas.microsoft.com/office/drawing/2014/main" id="{D22EE6DE-A84B-484B-A32B-E6570127381D}"/>
              </a:ext>
            </a:extLst>
          </p:cNvPr>
          <p:cNvSpPr>
            <a:spLocks xmlns:a="http://schemas.openxmlformats.org/drawingml/2006/main" noGrp="1"/>
          </p:cNvSpPr>
          <p:nvPr/>
        </p:nvSpPr>
        <p:spPr>
          <a:xfrm xmlns:a="http://schemas.openxmlformats.org/drawingml/2006/main">
            <a:off x="91440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Rhoon Integration</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EV Tesla PF update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Ramadan-to-standard profit rate switch</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IRR value modification</a:t>
            </a:r>
          </a:p>
        </p:txBody>
      </p:sp>
      <p:sp>
        <p:nvSpPr>
          <p:cNvPr id="21" name="">
            <a:extLst xmlns:a="http://schemas.openxmlformats.org/drawingml/2006/main">
              <a:ext uri="{FF2B5EF4-FFF2-40B4-BE49-F238E27FC236}">
                <a16:creationId xmlns:a16="http://schemas.microsoft.com/office/drawing/2014/main" id="{7CE04CA5-48D3-4DC5-A057-9BE563DF79EC}"/>
              </a:ext>
            </a:extLst>
          </p:cNvPr>
          <p:cNvSpPr>
            <a:spLocks xmlns:a="http://schemas.openxmlformats.org/drawingml/2006/main" noGrp="1"/>
          </p:cNvSpPr>
          <p:nvPr/>
        </p:nvSpPr>
        <p:spPr>
          <a:xfrm xmlns:a="http://schemas.openxmlformats.org/drawingml/2006/main">
            <a:off x="457200" y="347662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087DFF6-D3F3-4FC6-A5A2-06ED8FC20A1A}"/>
              </a:ext>
            </a:extLst>
          </p:cNvPr>
          <p:cNvSpPr>
            <a:spLocks xmlns:a="http://schemas.openxmlformats.org/drawingml/2006/main" noGrp="1"/>
          </p:cNvSpPr>
          <p:nvPr/>
        </p:nvSpPr>
        <p:spPr>
          <a:xfrm xmlns:a="http://schemas.openxmlformats.org/drawingml/2006/main">
            <a:off x="5715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Jan 2026</a:t>
            </a:r>
          </a:p>
        </p:txBody>
      </p:sp>
      <p:sp>
        <p:nvSpPr>
          <p:cNvPr id="23" name="">
            <a:extLst xmlns:a="http://schemas.openxmlformats.org/drawingml/2006/main">
              <a:ext uri="{FF2B5EF4-FFF2-40B4-BE49-F238E27FC236}">
                <a16:creationId xmlns:a16="http://schemas.microsoft.com/office/drawing/2014/main" id="{3E7AD463-763D-467A-A324-5F5BCDA23B5D}"/>
              </a:ext>
            </a:extLst>
          </p:cNvPr>
          <p:cNvSpPr>
            <a:spLocks xmlns:a="http://schemas.openxmlformats.org/drawingml/2006/main" noGrp="1"/>
          </p:cNvSpPr>
          <p:nvPr/>
        </p:nvSpPr>
        <p:spPr>
          <a:xfrm xmlns:a="http://schemas.openxmlformats.org/drawingml/2006/main">
            <a:off x="5715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Map dealer under FD group</a:t>
            </a:r>
          </a:p>
        </p:txBody>
      </p:sp>
      <p:sp>
        <p:nvSpPr>
          <p:cNvPr id="24" name="">
            <a:extLst xmlns:a="http://schemas.openxmlformats.org/drawingml/2006/main">
              <a:ext uri="{FF2B5EF4-FFF2-40B4-BE49-F238E27FC236}">
                <a16:creationId xmlns:a16="http://schemas.microsoft.com/office/drawing/2014/main" id="{4FD3B2FF-57A0-42F7-96D7-28B6D98ADABD}"/>
              </a:ext>
            </a:extLst>
          </p:cNvPr>
          <p:cNvSpPr>
            <a:spLocks xmlns:a="http://schemas.openxmlformats.org/drawingml/2006/main" noGrp="1"/>
          </p:cNvSpPr>
          <p:nvPr/>
        </p:nvSpPr>
        <p:spPr>
          <a:xfrm xmlns:a="http://schemas.openxmlformats.org/drawingml/2006/main">
            <a:off x="31718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25" name="">
            <a:extLst xmlns:a="http://schemas.openxmlformats.org/drawingml/2006/main">
              <a:ext uri="{FF2B5EF4-FFF2-40B4-BE49-F238E27FC236}">
                <a16:creationId xmlns:a16="http://schemas.microsoft.com/office/drawing/2014/main" id="{32213FD4-7560-4744-B946-A76B6CC5649C}"/>
              </a:ext>
            </a:extLst>
          </p:cNvPr>
          <p:cNvSpPr>
            <a:spLocks xmlns:a="http://schemas.openxmlformats.org/drawingml/2006/main" noGrp="1"/>
          </p:cNvSpPr>
          <p:nvPr/>
        </p:nvSpPr>
        <p:spPr>
          <a:xfrm xmlns:a="http://schemas.openxmlformats.org/drawingml/2006/main">
            <a:off x="3314700" y="347662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CBC58D4-4672-4575-8210-64E66183A9BD}"/>
              </a:ext>
            </a:extLst>
          </p:cNvPr>
          <p:cNvSpPr>
            <a:spLocks xmlns:a="http://schemas.openxmlformats.org/drawingml/2006/main" noGrp="1"/>
          </p:cNvSpPr>
          <p:nvPr/>
        </p:nvSpPr>
        <p:spPr>
          <a:xfrm xmlns:a="http://schemas.openxmlformats.org/drawingml/2006/main">
            <a:off x="34290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Feb 2026</a:t>
            </a:r>
          </a:p>
        </p:txBody>
      </p:sp>
      <p:sp>
        <p:nvSpPr>
          <p:cNvPr id="27" name="">
            <a:extLst xmlns:a="http://schemas.openxmlformats.org/drawingml/2006/main">
              <a:ext uri="{FF2B5EF4-FFF2-40B4-BE49-F238E27FC236}">
                <a16:creationId xmlns:a16="http://schemas.microsoft.com/office/drawing/2014/main" id="{95AD7EB8-58FD-48B7-B303-C6B16C7D4358}"/>
              </a:ext>
            </a:extLst>
          </p:cNvPr>
          <p:cNvSpPr>
            <a:spLocks xmlns:a="http://schemas.openxmlformats.org/drawingml/2006/main" noGrp="1"/>
          </p:cNvSpPr>
          <p:nvPr/>
        </p:nvSpPr>
        <p:spPr>
          <a:xfrm xmlns:a="http://schemas.openxmlformats.org/drawingml/2006/main">
            <a:off x="34290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EMI deferment fee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campaign enhancement</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New Ramadan rates 2026</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Abu Dhabi Motors profit-rate update</a:t>
            </a:r>
          </a:p>
        </p:txBody>
      </p:sp>
      <p:sp>
        <p:nvSpPr>
          <p:cNvPr id="28" name="">
            <a:extLst xmlns:a="http://schemas.openxmlformats.org/drawingml/2006/main">
              <a:ext uri="{FF2B5EF4-FFF2-40B4-BE49-F238E27FC236}">
                <a16:creationId xmlns:a16="http://schemas.microsoft.com/office/drawing/2014/main" id="{E1F0B9D4-C508-4C9E-8B28-6C2224AA2C5F}"/>
              </a:ext>
            </a:extLst>
          </p:cNvPr>
          <p:cNvSpPr>
            <a:spLocks xmlns:a="http://schemas.openxmlformats.org/drawingml/2006/main" noGrp="1"/>
          </p:cNvSpPr>
          <p:nvPr/>
        </p:nvSpPr>
        <p:spPr>
          <a:xfrm xmlns:a="http://schemas.openxmlformats.org/drawingml/2006/main">
            <a:off x="60293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29" name="">
            <a:extLst xmlns:a="http://schemas.openxmlformats.org/drawingml/2006/main">
              <a:ext uri="{FF2B5EF4-FFF2-40B4-BE49-F238E27FC236}">
                <a16:creationId xmlns:a16="http://schemas.microsoft.com/office/drawing/2014/main" id="{47182A1D-8FD3-468E-8C75-A9688EBEAACE}"/>
              </a:ext>
            </a:extLst>
          </p:cNvPr>
          <p:cNvSpPr>
            <a:spLocks xmlns:a="http://schemas.openxmlformats.org/drawingml/2006/main" noGrp="1"/>
          </p:cNvSpPr>
          <p:nvPr/>
        </p:nvSpPr>
        <p:spPr>
          <a:xfrm xmlns:a="http://schemas.openxmlformats.org/drawingml/2006/main">
            <a:off x="6172200" y="347662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4BE71CD-8658-4C66-9F71-B869D5CFF675}"/>
              </a:ext>
            </a:extLst>
          </p:cNvPr>
          <p:cNvSpPr>
            <a:spLocks xmlns:a="http://schemas.openxmlformats.org/drawingml/2006/main" noGrp="1"/>
          </p:cNvSpPr>
          <p:nvPr/>
        </p:nvSpPr>
        <p:spPr>
          <a:xfrm xmlns:a="http://schemas.openxmlformats.org/drawingml/2006/main">
            <a:off x="62865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Mar 2026</a:t>
            </a:r>
          </a:p>
        </p:txBody>
      </p:sp>
      <p:sp>
        <p:nvSpPr>
          <p:cNvPr id="31" name="">
            <a:extLst xmlns:a="http://schemas.openxmlformats.org/drawingml/2006/main">
              <a:ext uri="{FF2B5EF4-FFF2-40B4-BE49-F238E27FC236}">
                <a16:creationId xmlns:a16="http://schemas.microsoft.com/office/drawing/2014/main" id="{ABA1E3B7-BBE1-49D4-911D-1BCF479DC445}"/>
              </a:ext>
            </a:extLst>
          </p:cNvPr>
          <p:cNvSpPr>
            <a:spLocks xmlns:a="http://schemas.openxmlformats.org/drawingml/2006/main" noGrp="1"/>
          </p:cNvSpPr>
          <p:nvPr/>
        </p:nvSpPr>
        <p:spPr>
          <a:xfrm xmlns:a="http://schemas.openxmlformats.org/drawingml/2006/main">
            <a:off x="62865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Sharia terminology update in FinnOne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Profit Ramadan Rate</a:t>
            </a:r>
          </a:p>
        </p:txBody>
      </p:sp>
      <p:sp>
        <p:nvSpPr>
          <p:cNvPr id="32" name="">
            <a:extLst xmlns:a="http://schemas.openxmlformats.org/drawingml/2006/main">
              <a:ext uri="{FF2B5EF4-FFF2-40B4-BE49-F238E27FC236}">
                <a16:creationId xmlns:a16="http://schemas.microsoft.com/office/drawing/2014/main" id="{04E10E42-2FAC-473F-B670-BDA6576DF1D3}"/>
              </a:ext>
            </a:extLst>
          </p:cNvPr>
          <p:cNvSpPr>
            <a:spLocks xmlns:a="http://schemas.openxmlformats.org/drawingml/2006/main" noGrp="1"/>
          </p:cNvSpPr>
          <p:nvPr/>
        </p:nvSpPr>
        <p:spPr>
          <a:xfrm xmlns:a="http://schemas.openxmlformats.org/drawingml/2006/main">
            <a:off x="88868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33" name="">
            <a:extLst xmlns:a="http://schemas.openxmlformats.org/drawingml/2006/main">
              <a:ext uri="{FF2B5EF4-FFF2-40B4-BE49-F238E27FC236}">
                <a16:creationId xmlns:a16="http://schemas.microsoft.com/office/drawing/2014/main" id="{09170C59-414E-4628-B47A-305E6BD41723}"/>
              </a:ext>
            </a:extLst>
          </p:cNvPr>
          <p:cNvSpPr>
            <a:spLocks xmlns:a="http://schemas.openxmlformats.org/drawingml/2006/main" noGrp="1"/>
          </p:cNvSpPr>
          <p:nvPr/>
        </p:nvSpPr>
        <p:spPr>
          <a:xfrm xmlns:a="http://schemas.openxmlformats.org/drawingml/2006/main">
            <a:off x="9029700" y="347662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1DEFFA9-754F-4E05-BCFF-0BB0FAEBDA9B}"/>
              </a:ext>
            </a:extLst>
          </p:cNvPr>
          <p:cNvSpPr>
            <a:spLocks xmlns:a="http://schemas.openxmlformats.org/drawingml/2006/main" noGrp="1"/>
          </p:cNvSpPr>
          <p:nvPr/>
        </p:nvSpPr>
        <p:spPr>
          <a:xfrm xmlns:a="http://schemas.openxmlformats.org/drawingml/2006/main">
            <a:off x="91440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Apr 2026</a:t>
            </a:r>
          </a:p>
        </p:txBody>
      </p:sp>
      <p:sp>
        <p:nvSpPr>
          <p:cNvPr id="35" name="">
            <a:extLst xmlns:a="http://schemas.openxmlformats.org/drawingml/2006/main">
              <a:ext uri="{FF2B5EF4-FFF2-40B4-BE49-F238E27FC236}">
                <a16:creationId xmlns:a16="http://schemas.microsoft.com/office/drawing/2014/main" id="{EA0941D5-9F20-406A-8C42-B7039BAA4A8F}"/>
              </a:ext>
            </a:extLst>
          </p:cNvPr>
          <p:cNvSpPr>
            <a:spLocks xmlns:a="http://schemas.openxmlformats.org/drawingml/2006/main" noGrp="1"/>
          </p:cNvSpPr>
          <p:nvPr/>
        </p:nvSpPr>
        <p:spPr>
          <a:xfrm xmlns:a="http://schemas.openxmlformats.org/drawingml/2006/main">
            <a:off x="91440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WhatsApp Dealer</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Frontline employer special-rate change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Standard rate revision</a:t>
            </a:r>
          </a:p>
        </p:txBody>
      </p:sp>
      <p:sp>
        <p:nvSpPr>
          <p:cNvPr id="36" name="">
            <a:extLst xmlns:a="http://schemas.openxmlformats.org/drawingml/2006/main">
              <a:ext uri="{FF2B5EF4-FFF2-40B4-BE49-F238E27FC236}">
                <a16:creationId xmlns:a16="http://schemas.microsoft.com/office/drawing/2014/main" id="{6B39FD63-7050-494A-A598-6C664AF12432}"/>
              </a:ext>
            </a:extLst>
          </p:cNvPr>
          <p:cNvSpPr>
            <a:spLocks xmlns:a="http://schemas.openxmlformats.org/drawingml/2006/main" noGrp="1"/>
          </p:cNvSpPr>
          <p:nvPr/>
        </p:nvSpPr>
        <p:spPr>
          <a:xfrm xmlns:a="http://schemas.openxmlformats.org/drawingml/2006/main">
            <a:off x="457200" y="490537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0B117B2-833D-459E-93A4-08B386522745}"/>
              </a:ext>
            </a:extLst>
          </p:cNvPr>
          <p:cNvSpPr>
            <a:spLocks xmlns:a="http://schemas.openxmlformats.org/drawingml/2006/main" noGrp="1"/>
          </p:cNvSpPr>
          <p:nvPr/>
        </p:nvSpPr>
        <p:spPr>
          <a:xfrm xmlns:a="http://schemas.openxmlformats.org/drawingml/2006/main">
            <a:off x="5715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May 2026</a:t>
            </a:r>
          </a:p>
        </p:txBody>
      </p:sp>
      <p:sp>
        <p:nvSpPr>
          <p:cNvPr id="38" name="">
            <a:extLst xmlns:a="http://schemas.openxmlformats.org/drawingml/2006/main">
              <a:ext uri="{FF2B5EF4-FFF2-40B4-BE49-F238E27FC236}">
                <a16:creationId xmlns:a16="http://schemas.microsoft.com/office/drawing/2014/main" id="{75C0855F-B7D7-4C2E-B74A-77E6180C77DC}"/>
              </a:ext>
            </a:extLst>
          </p:cNvPr>
          <p:cNvSpPr>
            <a:spLocks xmlns:a="http://schemas.openxmlformats.org/drawingml/2006/main" noGrp="1"/>
          </p:cNvSpPr>
          <p:nvPr/>
        </p:nvSpPr>
        <p:spPr>
          <a:xfrm xmlns:a="http://schemas.openxmlformats.org/drawingml/2006/main">
            <a:off x="5715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Finance amount transfer: I2I</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Tenure control for subvention applications</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Employer rates / EAR changes</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WhatsApp Disable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Golden VISA</a:t>
            </a:r>
          </a:p>
        </p:txBody>
      </p:sp>
      <p:sp>
        <p:nvSpPr>
          <p:cNvPr id="39" name="">
            <a:extLst xmlns:a="http://schemas.openxmlformats.org/drawingml/2006/main">
              <a:ext uri="{FF2B5EF4-FFF2-40B4-BE49-F238E27FC236}">
                <a16:creationId xmlns:a16="http://schemas.microsoft.com/office/drawing/2014/main" id="{02D62E6B-3591-447B-A23E-B53885A3FD3D}"/>
              </a:ext>
            </a:extLst>
          </p:cNvPr>
          <p:cNvSpPr>
            <a:spLocks xmlns:a="http://schemas.openxmlformats.org/drawingml/2006/main" noGrp="1"/>
          </p:cNvSpPr>
          <p:nvPr/>
        </p:nvSpPr>
        <p:spPr>
          <a:xfrm xmlns:a="http://schemas.openxmlformats.org/drawingml/2006/main">
            <a:off x="31718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0" name="">
            <a:extLst xmlns:a="http://schemas.openxmlformats.org/drawingml/2006/main">
              <a:ext uri="{FF2B5EF4-FFF2-40B4-BE49-F238E27FC236}">
                <a16:creationId xmlns:a16="http://schemas.microsoft.com/office/drawing/2014/main" id="{BDFC7E18-CFE9-48BC-9E15-95F3862A04E9}"/>
              </a:ext>
            </a:extLst>
          </p:cNvPr>
          <p:cNvSpPr>
            <a:spLocks xmlns:a="http://schemas.openxmlformats.org/drawingml/2006/main" noGrp="1"/>
          </p:cNvSpPr>
          <p:nvPr/>
        </p:nvSpPr>
        <p:spPr>
          <a:xfrm xmlns:a="http://schemas.openxmlformats.org/drawingml/2006/main">
            <a:off x="3314700" y="490537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85443EE-DD4C-4184-9BCC-8BF0192B3D77}"/>
              </a:ext>
            </a:extLst>
          </p:cNvPr>
          <p:cNvSpPr>
            <a:spLocks xmlns:a="http://schemas.openxmlformats.org/drawingml/2006/main" noGrp="1"/>
          </p:cNvSpPr>
          <p:nvPr/>
        </p:nvSpPr>
        <p:spPr>
          <a:xfrm xmlns:a="http://schemas.openxmlformats.org/drawingml/2006/main">
            <a:off x="34290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Jun 2026</a:t>
            </a:r>
          </a:p>
        </p:txBody>
      </p:sp>
      <p:sp>
        <p:nvSpPr>
          <p:cNvPr id="42" name="">
            <a:extLst xmlns:a="http://schemas.openxmlformats.org/drawingml/2006/main">
              <a:ext uri="{FF2B5EF4-FFF2-40B4-BE49-F238E27FC236}">
                <a16:creationId xmlns:a16="http://schemas.microsoft.com/office/drawing/2014/main" id="{89E7F37D-85C4-4EC1-963D-260D161882FD}"/>
              </a:ext>
            </a:extLst>
          </p:cNvPr>
          <p:cNvSpPr>
            <a:spLocks xmlns:a="http://schemas.openxmlformats.org/drawingml/2006/main" noGrp="1"/>
          </p:cNvSpPr>
          <p:nvPr/>
        </p:nvSpPr>
        <p:spPr>
          <a:xfrm xmlns:a="http://schemas.openxmlformats.org/drawingml/2006/main">
            <a:off x="34290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Motorcycle field validation</a:t>
            </a:r>
          </a:p>
        </p:txBody>
      </p:sp>
      <p:sp>
        <p:nvSpPr>
          <p:cNvPr id="43" name="">
            <a:extLst xmlns:a="http://schemas.openxmlformats.org/drawingml/2006/main">
              <a:ext uri="{FF2B5EF4-FFF2-40B4-BE49-F238E27FC236}">
                <a16:creationId xmlns:a16="http://schemas.microsoft.com/office/drawing/2014/main" id="{9CFFFBC7-C9A4-4594-BB51-A4C50136BBAD}"/>
              </a:ext>
            </a:extLst>
          </p:cNvPr>
          <p:cNvSpPr>
            <a:spLocks xmlns:a="http://schemas.openxmlformats.org/drawingml/2006/main" noGrp="1"/>
          </p:cNvSpPr>
          <p:nvPr/>
        </p:nvSpPr>
        <p:spPr>
          <a:xfrm xmlns:a="http://schemas.openxmlformats.org/drawingml/2006/main">
            <a:off x="60293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4" name="">
            <a:extLst xmlns:a="http://schemas.openxmlformats.org/drawingml/2006/main">
              <a:ext uri="{FF2B5EF4-FFF2-40B4-BE49-F238E27FC236}">
                <a16:creationId xmlns:a16="http://schemas.microsoft.com/office/drawing/2014/main" id="{BF20E2F8-552F-4099-A09B-19ABF8C340CE}"/>
              </a:ext>
            </a:extLst>
          </p:cNvPr>
          <p:cNvSpPr>
            <a:spLocks xmlns:a="http://schemas.openxmlformats.org/drawingml/2006/main" noGrp="1"/>
          </p:cNvSpPr>
          <p:nvPr/>
        </p:nvSpPr>
        <p:spPr>
          <a:xfrm xmlns:a="http://schemas.openxmlformats.org/drawingml/2006/main">
            <a:off x="6172200" y="490537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86246854-6D74-443E-8FC8-3AA220D684A4}"/>
              </a:ext>
            </a:extLst>
          </p:cNvPr>
          <p:cNvSpPr>
            <a:spLocks xmlns:a="http://schemas.openxmlformats.org/drawingml/2006/main" noGrp="1"/>
          </p:cNvSpPr>
          <p:nvPr/>
        </p:nvSpPr>
        <p:spPr>
          <a:xfrm xmlns:a="http://schemas.openxmlformats.org/drawingml/2006/main">
            <a:off x="62865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Jul 2026</a:t>
            </a:r>
          </a:p>
        </p:txBody>
      </p:sp>
      <p:sp>
        <p:nvSpPr>
          <p:cNvPr id="46" name="">
            <a:extLst xmlns:a="http://schemas.openxmlformats.org/drawingml/2006/main">
              <a:ext uri="{FF2B5EF4-FFF2-40B4-BE49-F238E27FC236}">
                <a16:creationId xmlns:a16="http://schemas.microsoft.com/office/drawing/2014/main" id="{5AF19202-24C4-46B3-BD89-1EF21BBA91D1}"/>
              </a:ext>
            </a:extLst>
          </p:cNvPr>
          <p:cNvSpPr>
            <a:spLocks xmlns:a="http://schemas.openxmlformats.org/drawingml/2006/main" noGrp="1"/>
          </p:cNvSpPr>
          <p:nvPr/>
        </p:nvSpPr>
        <p:spPr>
          <a:xfrm xmlns:a="http://schemas.openxmlformats.org/drawingml/2006/main">
            <a:off x="62865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ILOE premium update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Frontline campaign extension</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Chassis number / flat-rate validation at PDOC</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Summer Campaign 2026</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DMGT-2372: Frontline Hero expiry</a:t>
            </a:r>
          </a:p>
        </p:txBody>
      </p:sp>
      <p:sp>
        <p:nvSpPr>
          <p:cNvPr id="47" name="">
            <a:extLst xmlns:a="http://schemas.openxmlformats.org/drawingml/2006/main">
              <a:ext uri="{FF2B5EF4-FFF2-40B4-BE49-F238E27FC236}">
                <a16:creationId xmlns:a16="http://schemas.microsoft.com/office/drawing/2014/main" id="{A79BA2FF-2E60-42D4-9991-DA091F1C2996}"/>
              </a:ext>
            </a:extLst>
          </p:cNvPr>
          <p:cNvSpPr>
            <a:spLocks xmlns:a="http://schemas.openxmlformats.org/drawingml/2006/main" noGrp="1"/>
          </p:cNvSpPr>
          <p:nvPr/>
        </p:nvSpPr>
        <p:spPr>
          <a:xfrm xmlns:a="http://schemas.openxmlformats.org/drawingml/2006/main">
            <a:off x="88868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8" name="">
            <a:extLst xmlns:a="http://schemas.openxmlformats.org/drawingml/2006/main">
              <a:ext uri="{FF2B5EF4-FFF2-40B4-BE49-F238E27FC236}">
                <a16:creationId xmlns:a16="http://schemas.microsoft.com/office/drawing/2014/main" id="{89281371-DED2-4475-AE72-1A81691187DB}"/>
              </a:ext>
            </a:extLst>
          </p:cNvPr>
          <p:cNvSpPr>
            <a:spLocks xmlns:a="http://schemas.openxmlformats.org/drawingml/2006/main" noGrp="1"/>
          </p:cNvSpPr>
          <p:nvPr/>
        </p:nvSpPr>
        <p:spPr>
          <a:xfrm xmlns:a="http://schemas.openxmlformats.org/drawingml/2006/main">
            <a:off x="9029700" y="490537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24D9ACEA-CD4C-46EE-B54B-9091DE07B20C}"/>
              </a:ext>
            </a:extLst>
          </p:cNvPr>
          <p:cNvSpPr>
            <a:spLocks xmlns:a="http://schemas.openxmlformats.org/drawingml/2006/main" noGrp="1"/>
          </p:cNvSpPr>
          <p:nvPr/>
        </p:nvSpPr>
        <p:spPr>
          <a:xfrm xmlns:a="http://schemas.openxmlformats.org/drawingml/2006/main">
            <a:off x="91440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Aug 2026</a:t>
            </a:r>
          </a:p>
        </p:txBody>
      </p:sp>
      <p:sp>
        <p:nvSpPr>
          <p:cNvPr id="50" name="">
            <a:extLst xmlns:a="http://schemas.openxmlformats.org/drawingml/2006/main">
              <a:ext uri="{FF2B5EF4-FFF2-40B4-BE49-F238E27FC236}">
                <a16:creationId xmlns:a16="http://schemas.microsoft.com/office/drawing/2014/main" id="{FB6D7FEF-A1A1-4D5D-8390-79781BF2F0E3}"/>
              </a:ext>
            </a:extLst>
          </p:cNvPr>
          <p:cNvSpPr>
            <a:spLocks xmlns:a="http://schemas.openxmlformats.org/drawingml/2006/main" noGrp="1"/>
          </p:cNvSpPr>
          <p:nvPr/>
        </p:nvSpPr>
        <p:spPr>
          <a:xfrm xmlns:a="http://schemas.openxmlformats.org/drawingml/2006/main">
            <a:off x="91440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PGL: ILOE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PGL: POD rate issue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Tesla rate revision</a:t>
            </a:r>
          </a:p>
        </p:txBody>
      </p:sp>
    </p:spTree>
    <p:extLst>
      <p:ext uri="{BB962C8B-B14F-4D97-AF65-F5344CB8AC3E}">
        <p14:creationId xmlns:p14="http://schemas.microsoft.com/office/powerpoint/2010/main" val="11917398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C022A12-A3E1-4FC9-ADEF-5652D4A3903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B9B2133F-6D50-42BA-985D-EED9E57F3CF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PF squad: six initiatives remain in solution design</a:t>
            </a:r>
          </a:p>
        </p:txBody>
      </p:sp>
      <p:sp>
        <p:nvSpPr>
          <p:cNvPr id="3" name="">
            <a:extLst xmlns:a="http://schemas.openxmlformats.org/drawingml/2006/main">
              <a:ext uri="{FF2B5EF4-FFF2-40B4-BE49-F238E27FC236}">
                <a16:creationId xmlns:a16="http://schemas.microsoft.com/office/drawing/2014/main" id="{34A31222-768D-4B93-B208-50218AAC90A2}"/>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status snapshot. One initiative has business sign-off.</a:t>
            </a:r>
          </a:p>
        </p:txBody>
      </p:sp>
      <p:sp>
        <p:nvSpPr>
          <p:cNvPr id="4" name="">
            <a:extLst xmlns:a="http://schemas.openxmlformats.org/drawingml/2006/main">
              <a:ext uri="{FF2B5EF4-FFF2-40B4-BE49-F238E27FC236}">
                <a16:creationId xmlns:a16="http://schemas.microsoft.com/office/drawing/2014/main" id="{A1CB81E7-62EF-477D-A97C-84328C1555FE}"/>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1E50F33-524F-45FF-BCFA-85B27B269BA9}"/>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CFA7A1F4-21B5-44C9-A508-6C30C494ABD8}"/>
              </a:ext>
            </a:extLst>
          </p:cNvPr>
          <p:cNvSpPr>
            <a:spLocks xmlns:a="http://schemas.openxmlformats.org/drawingml/2006/main" noGrp="1"/>
          </p:cNvSpPr>
          <p:nvPr/>
        </p:nvSpPr>
        <p:spPr>
          <a:xfrm xmlns:a="http://schemas.openxmlformats.org/drawingml/2006/main">
            <a:off x="457200" y="2143125"/>
            <a:ext cx="3657600" cy="1857375"/>
          </a:xfrm>
          <a:prstGeom xmlns:a="http://schemas.openxmlformats.org/drawingml/2006/main" prst="roundRect">
            <a:avLst>
              <a:gd name="adj" fmla="val 615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DBCDB7-105C-4D03-B1F0-8DF292EDFB63}"/>
              </a:ext>
            </a:extLst>
          </p:cNvPr>
          <p:cNvSpPr>
            <a:spLocks xmlns:a="http://schemas.openxmlformats.org/drawingml/2006/main" noGrp="1"/>
          </p:cNvSpPr>
          <p:nvPr/>
        </p:nvSpPr>
        <p:spPr>
          <a:xfrm xmlns:a="http://schemas.openxmlformats.org/drawingml/2006/main">
            <a:off x="61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6 solution design</a:t>
            </a:r>
          </a:p>
        </p:txBody>
      </p:sp>
      <p:sp>
        <p:nvSpPr>
          <p:cNvPr id="8" name="">
            <a:extLst xmlns:a="http://schemas.openxmlformats.org/drawingml/2006/main">
              <a:ext uri="{FF2B5EF4-FFF2-40B4-BE49-F238E27FC236}">
                <a16:creationId xmlns:a16="http://schemas.microsoft.com/office/drawing/2014/main" id="{9E479F6A-DD66-49B8-9EE3-63AB612D9078}"/>
              </a:ext>
            </a:extLst>
          </p:cNvPr>
          <p:cNvSpPr>
            <a:spLocks xmlns:a="http://schemas.openxmlformats.org/drawingml/2006/main" noGrp="1"/>
          </p:cNvSpPr>
          <p:nvPr/>
        </p:nvSpPr>
        <p:spPr>
          <a:xfrm xmlns:a="http://schemas.openxmlformats.org/drawingml/2006/main">
            <a:off x="61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83: RAO salary check in liability settlement</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49: Early settlement methodology</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1336: Early settlement KFS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2557: LC retention scheme</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1708: Flexi Salary after-sales (LEAN)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1021: EFR for NTB / ETB</a:t>
            </a:r>
          </a:p>
        </p:txBody>
      </p:sp>
      <p:sp>
        <p:nvSpPr>
          <p:cNvPr id="9" name="">
            <a:extLst xmlns:a="http://schemas.openxmlformats.org/drawingml/2006/main">
              <a:ext uri="{FF2B5EF4-FFF2-40B4-BE49-F238E27FC236}">
                <a16:creationId xmlns:a16="http://schemas.microsoft.com/office/drawing/2014/main" id="{234DA6D1-56FC-4406-BE1A-5CEC852A397E}"/>
              </a:ext>
            </a:extLst>
          </p:cNvPr>
          <p:cNvSpPr>
            <a:spLocks xmlns:a="http://schemas.openxmlformats.org/drawingml/2006/main" noGrp="1"/>
          </p:cNvSpPr>
          <p:nvPr/>
        </p:nvSpPr>
        <p:spPr>
          <a:xfrm xmlns:a="http://schemas.openxmlformats.org/drawingml/2006/main">
            <a:off x="4267200" y="2143125"/>
            <a:ext cx="3657600" cy="1857375"/>
          </a:xfrm>
          <a:prstGeom xmlns:a="http://schemas.openxmlformats.org/drawingml/2006/main" prst="roundRect">
            <a:avLst>
              <a:gd name="adj" fmla="val 6154"/>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9A53F5F-B324-4F70-86A9-8F63B78D6536}"/>
              </a:ext>
            </a:extLst>
          </p:cNvPr>
          <p:cNvSpPr>
            <a:spLocks xmlns:a="http://schemas.openxmlformats.org/drawingml/2006/main" noGrp="1"/>
          </p:cNvSpPr>
          <p:nvPr/>
        </p:nvSpPr>
        <p:spPr>
          <a:xfrm xmlns:a="http://schemas.openxmlformats.org/drawingml/2006/main">
            <a:off x="442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1 development</a:t>
            </a:r>
          </a:p>
        </p:txBody>
      </p:sp>
      <p:sp>
        <p:nvSpPr>
          <p:cNvPr id="11" name="">
            <a:extLst xmlns:a="http://schemas.openxmlformats.org/drawingml/2006/main">
              <a:ext uri="{FF2B5EF4-FFF2-40B4-BE49-F238E27FC236}">
                <a16:creationId xmlns:a16="http://schemas.microsoft.com/office/drawing/2014/main" id="{1EFE45BA-834A-4AD4-92BD-20BB533266DE}"/>
              </a:ext>
            </a:extLst>
          </p:cNvPr>
          <p:cNvSpPr>
            <a:spLocks xmlns:a="http://schemas.openxmlformats.org/drawingml/2006/main" noGrp="1"/>
          </p:cNvSpPr>
          <p:nvPr/>
        </p:nvSpPr>
        <p:spPr>
          <a:xfrm xmlns:a="http://schemas.openxmlformats.org/drawingml/2006/main">
            <a:off x="442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DMGT-91</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Business pricing updates in FinnOne</a:t>
            </a:r>
          </a:p>
        </p:txBody>
      </p:sp>
      <p:sp>
        <p:nvSpPr>
          <p:cNvPr id="12" name="">
            <a:extLst xmlns:a="http://schemas.openxmlformats.org/drawingml/2006/main">
              <a:ext uri="{FF2B5EF4-FFF2-40B4-BE49-F238E27FC236}">
                <a16:creationId xmlns:a16="http://schemas.microsoft.com/office/drawing/2014/main" id="{D36631B4-D56E-4C07-9542-3FC4500B9007}"/>
              </a:ext>
            </a:extLst>
          </p:cNvPr>
          <p:cNvSpPr>
            <a:spLocks xmlns:a="http://schemas.openxmlformats.org/drawingml/2006/main" noGrp="1"/>
          </p:cNvSpPr>
          <p:nvPr/>
        </p:nvSpPr>
        <p:spPr>
          <a:xfrm xmlns:a="http://schemas.openxmlformats.org/drawingml/2006/main">
            <a:off x="8077200" y="2143125"/>
            <a:ext cx="3657600" cy="1857375"/>
          </a:xfrm>
          <a:prstGeom xmlns:a="http://schemas.openxmlformats.org/drawingml/2006/main" prst="roundRect">
            <a:avLst>
              <a:gd name="adj" fmla="val 6154"/>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C0A6793-3C73-4429-83AC-89A4D126EB8B}"/>
              </a:ext>
            </a:extLst>
          </p:cNvPr>
          <p:cNvSpPr>
            <a:spLocks xmlns:a="http://schemas.openxmlformats.org/drawingml/2006/main" noGrp="1"/>
          </p:cNvSpPr>
          <p:nvPr/>
        </p:nvSpPr>
        <p:spPr>
          <a:xfrm xmlns:a="http://schemas.openxmlformats.org/drawingml/2006/main">
            <a:off x="823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1 UAT</a:t>
            </a:r>
          </a:p>
        </p:txBody>
      </p:sp>
      <p:sp>
        <p:nvSpPr>
          <p:cNvPr id="14" name="">
            <a:extLst xmlns:a="http://schemas.openxmlformats.org/drawingml/2006/main">
              <a:ext uri="{FF2B5EF4-FFF2-40B4-BE49-F238E27FC236}">
                <a16:creationId xmlns:a16="http://schemas.microsoft.com/office/drawing/2014/main" id="{9ADB460B-F1FA-4132-A3B3-3EDB780EFC64}"/>
              </a:ext>
            </a:extLst>
          </p:cNvPr>
          <p:cNvSpPr>
            <a:spLocks xmlns:a="http://schemas.openxmlformats.org/drawingml/2006/main" noGrp="1"/>
          </p:cNvSpPr>
          <p:nvPr/>
        </p:nvSpPr>
        <p:spPr>
          <a:xfrm xmlns:a="http://schemas.openxmlformats.org/drawingml/2006/main">
            <a:off x="823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DMGT-106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LC PDC settlement remittance to the correct account</a:t>
            </a:r>
          </a:p>
        </p:txBody>
      </p:sp>
      <p:sp>
        <p:nvSpPr>
          <p:cNvPr id="15" name="">
            <a:extLst xmlns:a="http://schemas.openxmlformats.org/drawingml/2006/main">
              <a:ext uri="{FF2B5EF4-FFF2-40B4-BE49-F238E27FC236}">
                <a16:creationId xmlns:a16="http://schemas.microsoft.com/office/drawing/2014/main" id="{D9AB2350-6A5D-46A7-860D-EE2F89084CB0}"/>
              </a:ext>
            </a:extLst>
          </p:cNvPr>
          <p:cNvSpPr>
            <a:spLocks xmlns:a="http://schemas.openxmlformats.org/drawingml/2006/main" noGrp="1"/>
          </p:cNvSpPr>
          <p:nvPr/>
        </p:nvSpPr>
        <p:spPr>
          <a:xfrm xmlns:a="http://schemas.openxmlformats.org/drawingml/2006/main">
            <a:off x="457200" y="4152900"/>
            <a:ext cx="3657600" cy="1857375"/>
          </a:xfrm>
          <a:prstGeom xmlns:a="http://schemas.openxmlformats.org/drawingml/2006/main" prst="roundRect">
            <a:avLst>
              <a:gd name="adj" fmla="val 6154"/>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878F0C-5A75-4186-9D6D-D5C769D67A8B}"/>
              </a:ext>
            </a:extLst>
          </p:cNvPr>
          <p:cNvSpPr>
            <a:spLocks xmlns:a="http://schemas.openxmlformats.org/drawingml/2006/main" noGrp="1"/>
          </p:cNvSpPr>
          <p:nvPr/>
        </p:nvSpPr>
        <p:spPr>
          <a:xfrm xmlns:a="http://schemas.openxmlformats.org/drawingml/2006/main">
            <a:off x="61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1 business sign-off</a:t>
            </a:r>
          </a:p>
        </p:txBody>
      </p:sp>
      <p:sp>
        <p:nvSpPr>
          <p:cNvPr id="17" name="">
            <a:extLst xmlns:a="http://schemas.openxmlformats.org/drawingml/2006/main">
              <a:ext uri="{FF2B5EF4-FFF2-40B4-BE49-F238E27FC236}">
                <a16:creationId xmlns:a16="http://schemas.microsoft.com/office/drawing/2014/main" id="{72CAF597-35F1-4754-9E42-114C5979BE62}"/>
              </a:ext>
            </a:extLst>
          </p:cNvPr>
          <p:cNvSpPr>
            <a:spLocks xmlns:a="http://schemas.openxmlformats.org/drawingml/2006/main" noGrp="1"/>
          </p:cNvSpPr>
          <p:nvPr/>
        </p:nvSpPr>
        <p:spPr>
          <a:xfrm xmlns:a="http://schemas.openxmlformats.org/drawingml/2006/main">
            <a:off x="61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DMGT-56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FTS enablement in all STL segments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Planned go-live: 4 October 2026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Actual release confirmation required</a:t>
            </a:r>
          </a:p>
        </p:txBody>
      </p:sp>
      <p:sp>
        <p:nvSpPr>
          <p:cNvPr id="18" name="">
            <a:extLst xmlns:a="http://schemas.openxmlformats.org/drawingml/2006/main">
              <a:ext uri="{FF2B5EF4-FFF2-40B4-BE49-F238E27FC236}">
                <a16:creationId xmlns:a16="http://schemas.microsoft.com/office/drawing/2014/main" id="{6E1C506A-7069-49E4-96DB-3EE8CD6C0096}"/>
              </a:ext>
            </a:extLst>
          </p:cNvPr>
          <p:cNvSpPr>
            <a:spLocks xmlns:a="http://schemas.openxmlformats.org/drawingml/2006/main" noGrp="1"/>
          </p:cNvSpPr>
          <p:nvPr/>
        </p:nvSpPr>
        <p:spPr>
          <a:xfrm xmlns:a="http://schemas.openxmlformats.org/drawingml/2006/main">
            <a:off x="4267200" y="4152900"/>
            <a:ext cx="3657600" cy="1857375"/>
          </a:xfrm>
          <a:prstGeom xmlns:a="http://schemas.openxmlformats.org/drawingml/2006/main" prst="roundRect">
            <a:avLst>
              <a:gd name="adj" fmla="val 6154"/>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9603EFC-9DCF-47D6-BF97-FE0F33F3D543}"/>
              </a:ext>
            </a:extLst>
          </p:cNvPr>
          <p:cNvSpPr>
            <a:spLocks xmlns:a="http://schemas.openxmlformats.org/drawingml/2006/main" noGrp="1"/>
          </p:cNvSpPr>
          <p:nvPr/>
        </p:nvSpPr>
        <p:spPr>
          <a:xfrm xmlns:a="http://schemas.openxmlformats.org/drawingml/2006/main">
            <a:off x="442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35373"/>
                </a:solidFill>
                <a:latin typeface="DejaVu Sans"/>
                <a:ea typeface="DejaVu Sans"/>
                <a:cs typeface="DejaVu Sans"/>
              </a:defRPr>
            </a:pPr>
            <a:r>
              <a:rPr sz="1725" b="1">
                <a:solidFill>
                  <a:srgbClr val="D35373"/>
                </a:solidFill>
                <a:latin typeface="DejaVu Sans"/>
                <a:ea typeface="DejaVu Sans"/>
                <a:cs typeface="DejaVu Sans"/>
              </a:rPr>
              <a:t>▦  3 backlog</a:t>
            </a:r>
          </a:p>
        </p:txBody>
      </p:sp>
      <p:sp>
        <p:nvSpPr>
          <p:cNvPr id="20" name="">
            <a:extLst xmlns:a="http://schemas.openxmlformats.org/drawingml/2006/main">
              <a:ext uri="{FF2B5EF4-FFF2-40B4-BE49-F238E27FC236}">
                <a16:creationId xmlns:a16="http://schemas.microsoft.com/office/drawing/2014/main" id="{F5DD9104-B6A7-485C-BF01-1E256D951AAB}"/>
              </a:ext>
            </a:extLst>
          </p:cNvPr>
          <p:cNvSpPr>
            <a:spLocks xmlns:a="http://schemas.openxmlformats.org/drawingml/2006/main" noGrp="1"/>
          </p:cNvSpPr>
          <p:nvPr/>
        </p:nvSpPr>
        <p:spPr>
          <a:xfrm xmlns:a="http://schemas.openxmlformats.org/drawingml/2006/main">
            <a:off x="442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Pickup depends on delivery of the current set of demands</a:t>
            </a:r>
          </a:p>
        </p:txBody>
      </p:sp>
      <p:sp>
        <p:nvSpPr>
          <p:cNvPr id="21" name="">
            <a:extLst xmlns:a="http://schemas.openxmlformats.org/drawingml/2006/main">
              <a:ext uri="{FF2B5EF4-FFF2-40B4-BE49-F238E27FC236}">
                <a16:creationId xmlns:a16="http://schemas.microsoft.com/office/drawing/2014/main" id="{875016FF-00DA-4056-9DE3-F7638D2B03B3}"/>
              </a:ext>
            </a:extLst>
          </p:cNvPr>
          <p:cNvSpPr>
            <a:spLocks xmlns:a="http://schemas.openxmlformats.org/drawingml/2006/main" noGrp="1"/>
          </p:cNvSpPr>
          <p:nvPr/>
        </p:nvSpPr>
        <p:spPr>
          <a:xfrm xmlns:a="http://schemas.openxmlformats.org/drawingml/2006/main">
            <a:off x="8077200" y="4152900"/>
            <a:ext cx="3657600" cy="1857375"/>
          </a:xfrm>
          <a:prstGeom xmlns:a="http://schemas.openxmlformats.org/drawingml/2006/main" prst="roundRect">
            <a:avLst>
              <a:gd name="adj" fmla="val 6154"/>
            </a:avLst>
          </a:prstGeom>
          <a:solidFill xmlns:a="http://schemas.openxmlformats.org/drawingml/2006/main">
            <a:srgbClr val="EAF3F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11B0CB0-662C-4153-ABB6-0B30450CA3FF}"/>
              </a:ext>
            </a:extLst>
          </p:cNvPr>
          <p:cNvSpPr>
            <a:spLocks xmlns:a="http://schemas.openxmlformats.org/drawingml/2006/main" noGrp="1"/>
          </p:cNvSpPr>
          <p:nvPr/>
        </p:nvSpPr>
        <p:spPr>
          <a:xfrm xmlns:a="http://schemas.openxmlformats.org/drawingml/2006/main">
            <a:off x="823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8 open points</a:t>
            </a:r>
          </a:p>
        </p:txBody>
      </p:sp>
      <p:sp>
        <p:nvSpPr>
          <p:cNvPr id="23" name="">
            <a:extLst xmlns:a="http://schemas.openxmlformats.org/drawingml/2006/main">
              <a:ext uri="{FF2B5EF4-FFF2-40B4-BE49-F238E27FC236}">
                <a16:creationId xmlns:a16="http://schemas.microsoft.com/office/drawing/2014/main" id="{58A6B7F3-B112-4828-99F6-2DEB34103D55}"/>
              </a:ext>
            </a:extLst>
          </p:cNvPr>
          <p:cNvSpPr>
            <a:spLocks xmlns:a="http://schemas.openxmlformats.org/drawingml/2006/main" noGrp="1"/>
          </p:cNvSpPr>
          <p:nvPr/>
        </p:nvSpPr>
        <p:spPr>
          <a:xfrm xmlns:a="http://schemas.openxmlformats.org/drawingml/2006/main">
            <a:off x="823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Tracked separately for follow-up</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Treat as tracking items until demand scope and unique IDs are confirmed</a:t>
            </a:r>
          </a:p>
        </p:txBody>
      </p:sp>
      <p:sp>
        <p:nvSpPr>
          <p:cNvPr id="24" name="">
            <a:extLst xmlns:a="http://schemas.openxmlformats.org/drawingml/2006/main">
              <a:ext uri="{FF2B5EF4-FFF2-40B4-BE49-F238E27FC236}">
                <a16:creationId xmlns:a16="http://schemas.microsoft.com/office/drawing/2014/main" id="{8D35E0AA-D2D1-46BB-9963-10F9973A9B70}"/>
              </a:ext>
            </a:extLst>
          </p:cNvPr>
          <p:cNvSpPr>
            <a:spLocks xmlns:a="http://schemas.openxmlformats.org/drawingml/2006/main" noGrp="1"/>
          </p:cNvSpPr>
          <p:nvPr/>
        </p:nvSpPr>
        <p:spPr>
          <a:xfrm xmlns:a="http://schemas.openxmlformats.org/drawingml/2006/main">
            <a:off x="457200" y="620077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Solution-design numbers use the DMGT prefix. Squad counts are separate from platform totals.</a:t>
            </a:r>
          </a:p>
        </p:txBody>
      </p:sp>
    </p:spTree>
    <p:extLst>
      <p:ext uri="{BB962C8B-B14F-4D97-AF65-F5344CB8AC3E}">
        <p14:creationId xmlns:p14="http://schemas.microsoft.com/office/powerpoint/2010/main" val="13921916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D9C4E988-6C09-4D25-AEBA-7B6D1606ABE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1BE1F217-BE75-45F4-88B7-26BDA8F051C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PF delivery timeline: September 2025–October 2026</a:t>
            </a:r>
          </a:p>
        </p:txBody>
      </p:sp>
      <p:sp>
        <p:nvSpPr>
          <p:cNvPr id="3" name="">
            <a:extLst xmlns:a="http://schemas.openxmlformats.org/drawingml/2006/main">
              <a:ext uri="{FF2B5EF4-FFF2-40B4-BE49-F238E27FC236}">
                <a16:creationId xmlns:a16="http://schemas.microsoft.com/office/drawing/2014/main" id="{2A96B472-CF39-4485-AFD1-DFC90EEA66A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Milestone lanes show completed work and the next planned release.</a:t>
            </a:r>
          </a:p>
        </p:txBody>
      </p:sp>
      <p:sp>
        <p:nvSpPr>
          <p:cNvPr id="4" name="">
            <a:extLst xmlns:a="http://schemas.openxmlformats.org/drawingml/2006/main">
              <a:ext uri="{FF2B5EF4-FFF2-40B4-BE49-F238E27FC236}">
                <a16:creationId xmlns:a16="http://schemas.microsoft.com/office/drawing/2014/main" id="{3D15EC72-F6B3-4BE3-8350-600F290AD5B0}"/>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87060F01-F9FD-4732-BD81-9307C5DF2E60}"/>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B0F91AFB-7456-4BC0-BB7A-E817E3134D01}"/>
              </a:ext>
            </a:extLst>
          </p:cNvPr>
          <p:cNvSpPr>
            <a:spLocks xmlns:a="http://schemas.openxmlformats.org/drawingml/2006/main" noGrp="1"/>
          </p:cNvSpPr>
          <p:nvPr/>
        </p:nvSpPr>
        <p:spPr>
          <a:xfrm xmlns:a="http://schemas.openxmlformats.org/drawingml/2006/main">
            <a:off x="457200" y="2047875"/>
            <a:ext cx="1104900" cy="1333500"/>
          </a:xfrm>
          <a:prstGeom xmlns:a="http://schemas.openxmlformats.org/drawingml/2006/main" prst="roundRect">
            <a:avLst>
              <a:gd name="adj" fmla="val 10345"/>
            </a:avLst>
          </a:prstGeom>
          <a:solidFill xmlns:a="http://schemas.openxmlformats.org/drawingml/2006/main">
            <a:srgbClr val="DDF3E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38B2BF9-A80C-4575-A357-6FE992428AAA}"/>
              </a:ext>
            </a:extLst>
          </p:cNvPr>
          <p:cNvSpPr>
            <a:spLocks xmlns:a="http://schemas.openxmlformats.org/drawingml/2006/main" noGrp="1"/>
          </p:cNvSpPr>
          <p:nvPr/>
        </p:nvSpPr>
        <p:spPr>
          <a:xfrm xmlns:a="http://schemas.openxmlformats.org/drawingml/2006/main">
            <a:off x="561975" y="219075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2025</a:t>
            </a:r>
          </a:p>
        </p:txBody>
      </p:sp>
      <p:sp>
        <p:nvSpPr>
          <p:cNvPr id="8" name="">
            <a:extLst xmlns:a="http://schemas.openxmlformats.org/drawingml/2006/main">
              <a:ext uri="{FF2B5EF4-FFF2-40B4-BE49-F238E27FC236}">
                <a16:creationId xmlns:a16="http://schemas.microsoft.com/office/drawing/2014/main" id="{1B01C43A-C4DF-436A-850E-DA5C704258AD}"/>
              </a:ext>
            </a:extLst>
          </p:cNvPr>
          <p:cNvSpPr>
            <a:spLocks xmlns:a="http://schemas.openxmlformats.org/drawingml/2006/main" noGrp="1"/>
          </p:cNvSpPr>
          <p:nvPr/>
        </p:nvSpPr>
        <p:spPr>
          <a:xfrm xmlns:a="http://schemas.openxmlformats.org/drawingml/2006/main">
            <a:off x="561975" y="258127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p:txBody>
      </p:sp>
      <p:sp>
        <p:nvSpPr>
          <p:cNvPr id="9" name="">
            <a:extLst xmlns:a="http://schemas.openxmlformats.org/drawingml/2006/main">
              <a:ext uri="{FF2B5EF4-FFF2-40B4-BE49-F238E27FC236}">
                <a16:creationId xmlns:a16="http://schemas.microsoft.com/office/drawing/2014/main" id="{D74FE1E3-8B06-4E5B-AD92-83A1C794D686}"/>
              </a:ext>
            </a:extLst>
          </p:cNvPr>
          <p:cNvSpPr>
            <a:spLocks xmlns:a="http://schemas.openxmlformats.org/drawingml/2006/main" noGrp="1"/>
          </p:cNvSpPr>
          <p:nvPr/>
        </p:nvSpPr>
        <p:spPr>
          <a:xfrm xmlns:a="http://schemas.openxmlformats.org/drawingml/2006/main">
            <a:off x="171450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EF71904-513B-481B-9DC1-42E3FBF6D741}"/>
              </a:ext>
            </a:extLst>
          </p:cNvPr>
          <p:cNvSpPr>
            <a:spLocks xmlns:a="http://schemas.openxmlformats.org/drawingml/2006/main" noGrp="1"/>
          </p:cNvSpPr>
          <p:nvPr/>
        </p:nvSpPr>
        <p:spPr>
          <a:xfrm xmlns:a="http://schemas.openxmlformats.org/drawingml/2006/main">
            <a:off x="180975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Sep 2025</a:t>
            </a:r>
          </a:p>
        </p:txBody>
      </p:sp>
      <p:sp>
        <p:nvSpPr>
          <p:cNvPr id="11" name="">
            <a:extLst xmlns:a="http://schemas.openxmlformats.org/drawingml/2006/main">
              <a:ext uri="{FF2B5EF4-FFF2-40B4-BE49-F238E27FC236}">
                <a16:creationId xmlns:a16="http://schemas.microsoft.com/office/drawing/2014/main" id="{A152751E-3057-4CF8-8572-CE89CDC581BB}"/>
              </a:ext>
            </a:extLst>
          </p:cNvPr>
          <p:cNvSpPr>
            <a:spLocks xmlns:a="http://schemas.openxmlformats.org/drawingml/2006/main" noGrp="1"/>
          </p:cNvSpPr>
          <p:nvPr/>
        </p:nvSpPr>
        <p:spPr>
          <a:xfrm xmlns:a="http://schemas.openxmlformats.org/drawingml/2006/main">
            <a:off x="180975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DMGT-90</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Disclosure notification in PF STL</a:t>
            </a:r>
          </a:p>
        </p:txBody>
      </p:sp>
      <p:sp>
        <p:nvSpPr>
          <p:cNvPr id="12" name="">
            <a:extLst xmlns:a="http://schemas.openxmlformats.org/drawingml/2006/main">
              <a:ext uri="{FF2B5EF4-FFF2-40B4-BE49-F238E27FC236}">
                <a16:creationId xmlns:a16="http://schemas.microsoft.com/office/drawing/2014/main" id="{7FA2906D-C045-4F72-A759-C7EE7251F909}"/>
              </a:ext>
            </a:extLst>
          </p:cNvPr>
          <p:cNvSpPr>
            <a:spLocks xmlns:a="http://schemas.openxmlformats.org/drawingml/2006/main" noGrp="1"/>
          </p:cNvSpPr>
          <p:nvPr/>
        </p:nvSpPr>
        <p:spPr>
          <a:xfrm xmlns:a="http://schemas.openxmlformats.org/drawingml/2006/main">
            <a:off x="4143375" y="25431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13" name="">
            <a:extLst xmlns:a="http://schemas.openxmlformats.org/drawingml/2006/main">
              <a:ext uri="{FF2B5EF4-FFF2-40B4-BE49-F238E27FC236}">
                <a16:creationId xmlns:a16="http://schemas.microsoft.com/office/drawing/2014/main" id="{BDFD210F-3EAE-4A75-A7F9-556F65426927}"/>
              </a:ext>
            </a:extLst>
          </p:cNvPr>
          <p:cNvSpPr>
            <a:spLocks xmlns:a="http://schemas.openxmlformats.org/drawingml/2006/main" noGrp="1"/>
          </p:cNvSpPr>
          <p:nvPr/>
        </p:nvSpPr>
        <p:spPr>
          <a:xfrm xmlns:a="http://schemas.openxmlformats.org/drawingml/2006/main">
            <a:off x="424815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AE69490-075F-4F0E-9A6F-3F0A8BCD2C3F}"/>
              </a:ext>
            </a:extLst>
          </p:cNvPr>
          <p:cNvSpPr>
            <a:spLocks xmlns:a="http://schemas.openxmlformats.org/drawingml/2006/main" noGrp="1"/>
          </p:cNvSpPr>
          <p:nvPr/>
        </p:nvSpPr>
        <p:spPr>
          <a:xfrm xmlns:a="http://schemas.openxmlformats.org/drawingml/2006/main">
            <a:off x="434340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Oct 2025</a:t>
            </a:r>
          </a:p>
        </p:txBody>
      </p:sp>
      <p:sp>
        <p:nvSpPr>
          <p:cNvPr id="15" name="">
            <a:extLst xmlns:a="http://schemas.openxmlformats.org/drawingml/2006/main">
              <a:ext uri="{FF2B5EF4-FFF2-40B4-BE49-F238E27FC236}">
                <a16:creationId xmlns:a16="http://schemas.microsoft.com/office/drawing/2014/main" id="{BF4A1247-2C29-4639-8B83-EBF3E1FA5730}"/>
              </a:ext>
            </a:extLst>
          </p:cNvPr>
          <p:cNvSpPr>
            <a:spLocks xmlns:a="http://schemas.openxmlformats.org/drawingml/2006/main" noGrp="1"/>
          </p:cNvSpPr>
          <p:nvPr/>
        </p:nvSpPr>
        <p:spPr>
          <a:xfrm xmlns:a="http://schemas.openxmlformats.org/drawingml/2006/main">
            <a:off x="434340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DMGT-54: Account start date in LS cases</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DMGT-94: FinnOne PF applications for People of Determination</a:t>
            </a:r>
          </a:p>
        </p:txBody>
      </p:sp>
      <p:sp>
        <p:nvSpPr>
          <p:cNvPr id="16" name="">
            <a:extLst xmlns:a="http://schemas.openxmlformats.org/drawingml/2006/main">
              <a:ext uri="{FF2B5EF4-FFF2-40B4-BE49-F238E27FC236}">
                <a16:creationId xmlns:a16="http://schemas.microsoft.com/office/drawing/2014/main" id="{D8A76C6C-A948-403B-A719-CC9F84075D15}"/>
              </a:ext>
            </a:extLst>
          </p:cNvPr>
          <p:cNvSpPr>
            <a:spLocks xmlns:a="http://schemas.openxmlformats.org/drawingml/2006/main" noGrp="1"/>
          </p:cNvSpPr>
          <p:nvPr/>
        </p:nvSpPr>
        <p:spPr>
          <a:xfrm xmlns:a="http://schemas.openxmlformats.org/drawingml/2006/main">
            <a:off x="6677025" y="25431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17" name="">
            <a:extLst xmlns:a="http://schemas.openxmlformats.org/drawingml/2006/main">
              <a:ext uri="{FF2B5EF4-FFF2-40B4-BE49-F238E27FC236}">
                <a16:creationId xmlns:a16="http://schemas.microsoft.com/office/drawing/2014/main" id="{4CE2EE97-A417-4133-881D-21E74C604A8C}"/>
              </a:ext>
            </a:extLst>
          </p:cNvPr>
          <p:cNvSpPr>
            <a:spLocks xmlns:a="http://schemas.openxmlformats.org/drawingml/2006/main" noGrp="1"/>
          </p:cNvSpPr>
          <p:nvPr/>
        </p:nvSpPr>
        <p:spPr>
          <a:xfrm xmlns:a="http://schemas.openxmlformats.org/drawingml/2006/main">
            <a:off x="678180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2A5CD2-FFAE-485F-8734-355D20E492DA}"/>
              </a:ext>
            </a:extLst>
          </p:cNvPr>
          <p:cNvSpPr>
            <a:spLocks xmlns:a="http://schemas.openxmlformats.org/drawingml/2006/main" noGrp="1"/>
          </p:cNvSpPr>
          <p:nvPr/>
        </p:nvSpPr>
        <p:spPr>
          <a:xfrm xmlns:a="http://schemas.openxmlformats.org/drawingml/2006/main">
            <a:off x="687705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Nov 2025</a:t>
            </a:r>
          </a:p>
        </p:txBody>
      </p:sp>
      <p:sp>
        <p:nvSpPr>
          <p:cNvPr id="19" name="">
            <a:extLst xmlns:a="http://schemas.openxmlformats.org/drawingml/2006/main">
              <a:ext uri="{FF2B5EF4-FFF2-40B4-BE49-F238E27FC236}">
                <a16:creationId xmlns:a16="http://schemas.microsoft.com/office/drawing/2014/main" id="{E9FF0837-1AD6-416A-9F25-FDE924EE6C81}"/>
              </a:ext>
            </a:extLst>
          </p:cNvPr>
          <p:cNvSpPr>
            <a:spLocks xmlns:a="http://schemas.openxmlformats.org/drawingml/2006/main" noGrp="1"/>
          </p:cNvSpPr>
          <p:nvPr/>
        </p:nvSpPr>
        <p:spPr>
          <a:xfrm xmlns:a="http://schemas.openxmlformats.org/drawingml/2006/main">
            <a:off x="687705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DMGT-1459</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New pricing for PF products</a:t>
            </a:r>
          </a:p>
        </p:txBody>
      </p:sp>
      <p:sp>
        <p:nvSpPr>
          <p:cNvPr id="20" name="">
            <a:extLst xmlns:a="http://schemas.openxmlformats.org/drawingml/2006/main">
              <a:ext uri="{FF2B5EF4-FFF2-40B4-BE49-F238E27FC236}">
                <a16:creationId xmlns:a16="http://schemas.microsoft.com/office/drawing/2014/main" id="{20329626-2956-4549-A29D-FE280DD2AA1E}"/>
              </a:ext>
            </a:extLst>
          </p:cNvPr>
          <p:cNvSpPr>
            <a:spLocks xmlns:a="http://schemas.openxmlformats.org/drawingml/2006/main" noGrp="1"/>
          </p:cNvSpPr>
          <p:nvPr/>
        </p:nvSpPr>
        <p:spPr>
          <a:xfrm xmlns:a="http://schemas.openxmlformats.org/drawingml/2006/main">
            <a:off x="457200" y="3476625"/>
            <a:ext cx="1104900" cy="1333500"/>
          </a:xfrm>
          <a:prstGeom xmlns:a="http://schemas.openxmlformats.org/drawingml/2006/main" prst="roundRect">
            <a:avLst>
              <a:gd name="adj" fmla="val 10345"/>
            </a:avLst>
          </a:prstGeom>
          <a:solidFill xmlns:a="http://schemas.openxmlformats.org/drawingml/2006/main">
            <a:srgbClr val="DFEFF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BA61725-7A99-4600-B918-6DBBA603D2C2}"/>
              </a:ext>
            </a:extLst>
          </p:cNvPr>
          <p:cNvSpPr>
            <a:spLocks xmlns:a="http://schemas.openxmlformats.org/drawingml/2006/main" noGrp="1"/>
          </p:cNvSpPr>
          <p:nvPr/>
        </p:nvSpPr>
        <p:spPr>
          <a:xfrm xmlns:a="http://schemas.openxmlformats.org/drawingml/2006/main">
            <a:off x="561975" y="361950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2026</a:t>
            </a:r>
          </a:p>
        </p:txBody>
      </p:sp>
      <p:sp>
        <p:nvSpPr>
          <p:cNvPr id="22" name="">
            <a:extLst xmlns:a="http://schemas.openxmlformats.org/drawingml/2006/main">
              <a:ext uri="{FF2B5EF4-FFF2-40B4-BE49-F238E27FC236}">
                <a16:creationId xmlns:a16="http://schemas.microsoft.com/office/drawing/2014/main" id="{C212D1FA-20DF-4468-BA41-78718063C3C1}"/>
              </a:ext>
            </a:extLst>
          </p:cNvPr>
          <p:cNvSpPr>
            <a:spLocks xmlns:a="http://schemas.openxmlformats.org/drawingml/2006/main" noGrp="1"/>
          </p:cNvSpPr>
          <p:nvPr/>
        </p:nvSpPr>
        <p:spPr>
          <a:xfrm xmlns:a="http://schemas.openxmlformats.org/drawingml/2006/main">
            <a:off x="561975" y="401002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p:txBody>
      </p:sp>
      <p:sp>
        <p:nvSpPr>
          <p:cNvPr id="23" name="">
            <a:extLst xmlns:a="http://schemas.openxmlformats.org/drawingml/2006/main">
              <a:ext uri="{FF2B5EF4-FFF2-40B4-BE49-F238E27FC236}">
                <a16:creationId xmlns:a16="http://schemas.microsoft.com/office/drawing/2014/main" id="{DC21A6AA-00A1-4F2F-9935-15C9B56FEBA8}"/>
              </a:ext>
            </a:extLst>
          </p:cNvPr>
          <p:cNvSpPr>
            <a:spLocks xmlns:a="http://schemas.openxmlformats.org/drawingml/2006/main" noGrp="1"/>
          </p:cNvSpPr>
          <p:nvPr/>
        </p:nvSpPr>
        <p:spPr>
          <a:xfrm xmlns:a="http://schemas.openxmlformats.org/drawingml/2006/main">
            <a:off x="171450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1CB61C6-4395-4791-867F-B8E67BC2A0DA}"/>
              </a:ext>
            </a:extLst>
          </p:cNvPr>
          <p:cNvSpPr>
            <a:spLocks xmlns:a="http://schemas.openxmlformats.org/drawingml/2006/main" noGrp="1"/>
          </p:cNvSpPr>
          <p:nvPr/>
        </p:nvSpPr>
        <p:spPr>
          <a:xfrm xmlns:a="http://schemas.openxmlformats.org/drawingml/2006/main">
            <a:off x="180975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Jan 2026</a:t>
            </a:r>
          </a:p>
        </p:txBody>
      </p:sp>
      <p:sp>
        <p:nvSpPr>
          <p:cNvPr id="25" name="">
            <a:extLst xmlns:a="http://schemas.openxmlformats.org/drawingml/2006/main">
              <a:ext uri="{FF2B5EF4-FFF2-40B4-BE49-F238E27FC236}">
                <a16:creationId xmlns:a16="http://schemas.microsoft.com/office/drawing/2014/main" id="{7670AA5D-6D11-4721-B4FE-094EA2533F76}"/>
              </a:ext>
            </a:extLst>
          </p:cNvPr>
          <p:cNvSpPr>
            <a:spLocks xmlns:a="http://schemas.openxmlformats.org/drawingml/2006/main" noGrp="1"/>
          </p:cNvSpPr>
          <p:nvPr/>
        </p:nvSpPr>
        <p:spPr>
          <a:xfrm xmlns:a="http://schemas.openxmlformats.org/drawingml/2006/main">
            <a:off x="180975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DMGT-1665</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PF rate change</a:t>
            </a:r>
          </a:p>
        </p:txBody>
      </p:sp>
      <p:sp>
        <p:nvSpPr>
          <p:cNvPr id="26" name="">
            <a:extLst xmlns:a="http://schemas.openxmlformats.org/drawingml/2006/main">
              <a:ext uri="{FF2B5EF4-FFF2-40B4-BE49-F238E27FC236}">
                <a16:creationId xmlns:a16="http://schemas.microsoft.com/office/drawing/2014/main" id="{3A711B48-C7D8-4B76-B131-3BEF9E55FF71}"/>
              </a:ext>
            </a:extLst>
          </p:cNvPr>
          <p:cNvSpPr>
            <a:spLocks xmlns:a="http://schemas.openxmlformats.org/drawingml/2006/main" noGrp="1"/>
          </p:cNvSpPr>
          <p:nvPr/>
        </p:nvSpPr>
        <p:spPr>
          <a:xfrm xmlns:a="http://schemas.openxmlformats.org/drawingml/2006/main">
            <a:off x="4143375" y="397192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27" name="">
            <a:extLst xmlns:a="http://schemas.openxmlformats.org/drawingml/2006/main">
              <a:ext uri="{FF2B5EF4-FFF2-40B4-BE49-F238E27FC236}">
                <a16:creationId xmlns:a16="http://schemas.microsoft.com/office/drawing/2014/main" id="{2F2B5FC6-A3E0-4AC9-A8DC-452C79349FDE}"/>
              </a:ext>
            </a:extLst>
          </p:cNvPr>
          <p:cNvSpPr>
            <a:spLocks xmlns:a="http://schemas.openxmlformats.org/drawingml/2006/main" noGrp="1"/>
          </p:cNvSpPr>
          <p:nvPr/>
        </p:nvSpPr>
        <p:spPr>
          <a:xfrm xmlns:a="http://schemas.openxmlformats.org/drawingml/2006/main">
            <a:off x="424815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9A6BB27-D284-43DD-8A0E-E5D6BC93A5D6}"/>
              </a:ext>
            </a:extLst>
          </p:cNvPr>
          <p:cNvSpPr>
            <a:spLocks xmlns:a="http://schemas.openxmlformats.org/drawingml/2006/main" noGrp="1"/>
          </p:cNvSpPr>
          <p:nvPr/>
        </p:nvSpPr>
        <p:spPr>
          <a:xfrm xmlns:a="http://schemas.openxmlformats.org/drawingml/2006/main">
            <a:off x="434340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Feb 2026</a:t>
            </a:r>
          </a:p>
        </p:txBody>
      </p:sp>
      <p:sp>
        <p:nvSpPr>
          <p:cNvPr id="29" name="">
            <a:extLst xmlns:a="http://schemas.openxmlformats.org/drawingml/2006/main">
              <a:ext uri="{FF2B5EF4-FFF2-40B4-BE49-F238E27FC236}">
                <a16:creationId xmlns:a16="http://schemas.microsoft.com/office/drawing/2014/main" id="{CA5E9254-FD4C-48E5-91D7-93C720062FF9}"/>
              </a:ext>
            </a:extLst>
          </p:cNvPr>
          <p:cNvSpPr>
            <a:spLocks xmlns:a="http://schemas.openxmlformats.org/drawingml/2006/main" noGrp="1"/>
          </p:cNvSpPr>
          <p:nvPr/>
        </p:nvSpPr>
        <p:spPr>
          <a:xfrm xmlns:a="http://schemas.openxmlformats.org/drawingml/2006/main">
            <a:off x="434340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DMGT-81: LC rule change in FinnOne</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DMGT-254: PF policy changes</a:t>
            </a:r>
          </a:p>
        </p:txBody>
      </p:sp>
      <p:sp>
        <p:nvSpPr>
          <p:cNvPr id="30" name="">
            <a:extLst xmlns:a="http://schemas.openxmlformats.org/drawingml/2006/main">
              <a:ext uri="{FF2B5EF4-FFF2-40B4-BE49-F238E27FC236}">
                <a16:creationId xmlns:a16="http://schemas.microsoft.com/office/drawing/2014/main" id="{ED45D6A7-FEDD-4B88-ADFE-6FCCFB022B23}"/>
              </a:ext>
            </a:extLst>
          </p:cNvPr>
          <p:cNvSpPr>
            <a:spLocks xmlns:a="http://schemas.openxmlformats.org/drawingml/2006/main" noGrp="1"/>
          </p:cNvSpPr>
          <p:nvPr/>
        </p:nvSpPr>
        <p:spPr>
          <a:xfrm xmlns:a="http://schemas.openxmlformats.org/drawingml/2006/main">
            <a:off x="6677025" y="397192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31" name="">
            <a:extLst xmlns:a="http://schemas.openxmlformats.org/drawingml/2006/main">
              <a:ext uri="{FF2B5EF4-FFF2-40B4-BE49-F238E27FC236}">
                <a16:creationId xmlns:a16="http://schemas.microsoft.com/office/drawing/2014/main" id="{8CD25AFA-51AE-41FC-A470-31540E8AAF4C}"/>
              </a:ext>
            </a:extLst>
          </p:cNvPr>
          <p:cNvSpPr>
            <a:spLocks xmlns:a="http://schemas.openxmlformats.org/drawingml/2006/main" noGrp="1"/>
          </p:cNvSpPr>
          <p:nvPr/>
        </p:nvSpPr>
        <p:spPr>
          <a:xfrm xmlns:a="http://schemas.openxmlformats.org/drawingml/2006/main">
            <a:off x="678180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514E7F5-0048-4771-840A-3B033E62E88D}"/>
              </a:ext>
            </a:extLst>
          </p:cNvPr>
          <p:cNvSpPr>
            <a:spLocks xmlns:a="http://schemas.openxmlformats.org/drawingml/2006/main" noGrp="1"/>
          </p:cNvSpPr>
          <p:nvPr/>
        </p:nvSpPr>
        <p:spPr>
          <a:xfrm xmlns:a="http://schemas.openxmlformats.org/drawingml/2006/main">
            <a:off x="687705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Apr 2026</a:t>
            </a:r>
          </a:p>
        </p:txBody>
      </p:sp>
      <p:sp>
        <p:nvSpPr>
          <p:cNvPr id="33" name="">
            <a:extLst xmlns:a="http://schemas.openxmlformats.org/drawingml/2006/main">
              <a:ext uri="{FF2B5EF4-FFF2-40B4-BE49-F238E27FC236}">
                <a16:creationId xmlns:a16="http://schemas.microsoft.com/office/drawing/2014/main" id="{22FAB069-7D77-4A9B-9CC5-9D19A5A807CC}"/>
              </a:ext>
            </a:extLst>
          </p:cNvPr>
          <p:cNvSpPr>
            <a:spLocks xmlns:a="http://schemas.openxmlformats.org/drawingml/2006/main" noGrp="1"/>
          </p:cNvSpPr>
          <p:nvPr/>
        </p:nvSpPr>
        <p:spPr>
          <a:xfrm xmlns:a="http://schemas.openxmlformats.org/drawingml/2006/main">
            <a:off x="687705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DMGT-105: LL / LG flag field amendment</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DMGT-2029: Special employer campaign pricing</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DMGT-2065: Frontline employer pricing</a:t>
            </a:r>
          </a:p>
        </p:txBody>
      </p:sp>
      <p:sp>
        <p:nvSpPr>
          <p:cNvPr id="34" name="">
            <a:extLst xmlns:a="http://schemas.openxmlformats.org/drawingml/2006/main">
              <a:ext uri="{FF2B5EF4-FFF2-40B4-BE49-F238E27FC236}">
                <a16:creationId xmlns:a16="http://schemas.microsoft.com/office/drawing/2014/main" id="{AD3CEFCB-55A7-4278-A232-5E51D104A1FF}"/>
              </a:ext>
            </a:extLst>
          </p:cNvPr>
          <p:cNvSpPr>
            <a:spLocks xmlns:a="http://schemas.openxmlformats.org/drawingml/2006/main" noGrp="1"/>
          </p:cNvSpPr>
          <p:nvPr/>
        </p:nvSpPr>
        <p:spPr>
          <a:xfrm xmlns:a="http://schemas.openxmlformats.org/drawingml/2006/main">
            <a:off x="457200" y="4905375"/>
            <a:ext cx="1104900" cy="1333500"/>
          </a:xfrm>
          <a:prstGeom xmlns:a="http://schemas.openxmlformats.org/drawingml/2006/main" prst="roundRect">
            <a:avLst>
              <a:gd name="adj" fmla="val 10345"/>
            </a:avLst>
          </a:prstGeom>
          <a:solidFill xmlns:a="http://schemas.openxmlformats.org/drawingml/2006/main">
            <a:srgbClr val="EFE7F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7A007C6-46B5-4F85-B94B-04563A6CE67A}"/>
              </a:ext>
            </a:extLst>
          </p:cNvPr>
          <p:cNvSpPr>
            <a:spLocks xmlns:a="http://schemas.openxmlformats.org/drawingml/2006/main" noGrp="1"/>
          </p:cNvSpPr>
          <p:nvPr/>
        </p:nvSpPr>
        <p:spPr>
          <a:xfrm xmlns:a="http://schemas.openxmlformats.org/drawingml/2006/main">
            <a:off x="561975" y="504825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2026</a:t>
            </a:r>
          </a:p>
        </p:txBody>
      </p:sp>
      <p:sp>
        <p:nvSpPr>
          <p:cNvPr id="36" name="">
            <a:extLst xmlns:a="http://schemas.openxmlformats.org/drawingml/2006/main">
              <a:ext uri="{FF2B5EF4-FFF2-40B4-BE49-F238E27FC236}">
                <a16:creationId xmlns:a16="http://schemas.microsoft.com/office/drawing/2014/main" id="{FEA440D4-0751-4C2F-AD3B-47E10F060FC5}"/>
              </a:ext>
            </a:extLst>
          </p:cNvPr>
          <p:cNvSpPr>
            <a:spLocks xmlns:a="http://schemas.openxmlformats.org/drawingml/2006/main" noGrp="1"/>
          </p:cNvSpPr>
          <p:nvPr/>
        </p:nvSpPr>
        <p:spPr>
          <a:xfrm xmlns:a="http://schemas.openxmlformats.org/drawingml/2006/main">
            <a:off x="561975" y="543877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Planned</a:t>
            </a:r>
          </a:p>
        </p:txBody>
      </p:sp>
      <p:sp>
        <p:nvSpPr>
          <p:cNvPr id="37" name="">
            <a:extLst xmlns:a="http://schemas.openxmlformats.org/drawingml/2006/main">
              <a:ext uri="{FF2B5EF4-FFF2-40B4-BE49-F238E27FC236}">
                <a16:creationId xmlns:a16="http://schemas.microsoft.com/office/drawing/2014/main" id="{5CD10645-3ED6-4899-969A-B564A0FDE8D5}"/>
              </a:ext>
            </a:extLst>
          </p:cNvPr>
          <p:cNvSpPr>
            <a:spLocks xmlns:a="http://schemas.openxmlformats.org/drawingml/2006/main" noGrp="1"/>
          </p:cNvSpPr>
          <p:nvPr/>
        </p:nvSpPr>
        <p:spPr>
          <a:xfrm xmlns:a="http://schemas.openxmlformats.org/drawingml/2006/main">
            <a:off x="171450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B0B0601-9BF7-4875-A146-60B6C5F45C4F}"/>
              </a:ext>
            </a:extLst>
          </p:cNvPr>
          <p:cNvSpPr>
            <a:spLocks xmlns:a="http://schemas.openxmlformats.org/drawingml/2006/main" noGrp="1"/>
          </p:cNvSpPr>
          <p:nvPr/>
        </p:nvSpPr>
        <p:spPr>
          <a:xfrm xmlns:a="http://schemas.openxmlformats.org/drawingml/2006/main">
            <a:off x="180975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Jun 2026</a:t>
            </a:r>
          </a:p>
        </p:txBody>
      </p:sp>
      <p:sp>
        <p:nvSpPr>
          <p:cNvPr id="39" name="">
            <a:extLst xmlns:a="http://schemas.openxmlformats.org/drawingml/2006/main">
              <a:ext uri="{FF2B5EF4-FFF2-40B4-BE49-F238E27FC236}">
                <a16:creationId xmlns:a16="http://schemas.microsoft.com/office/drawing/2014/main" id="{02D1D09D-E0AB-40B0-ADB4-FEBBE23E6EA4}"/>
              </a:ext>
            </a:extLst>
          </p:cNvPr>
          <p:cNvSpPr>
            <a:spLocks xmlns:a="http://schemas.openxmlformats.org/drawingml/2006/main" noGrp="1"/>
          </p:cNvSpPr>
          <p:nvPr/>
        </p:nvSpPr>
        <p:spPr>
          <a:xfrm xmlns:a="http://schemas.openxmlformats.org/drawingml/2006/main">
            <a:off x="180975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DMGT-913: Add employer pricing campaign</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DMGT-2231: Additional frontline employer campaign</a:t>
            </a:r>
          </a:p>
        </p:txBody>
      </p:sp>
      <p:sp>
        <p:nvSpPr>
          <p:cNvPr id="40" name="">
            <a:extLst xmlns:a="http://schemas.openxmlformats.org/drawingml/2006/main">
              <a:ext uri="{FF2B5EF4-FFF2-40B4-BE49-F238E27FC236}">
                <a16:creationId xmlns:a16="http://schemas.microsoft.com/office/drawing/2014/main" id="{036104A9-EED3-4CED-9F1F-E5C4CB18DFE7}"/>
              </a:ext>
            </a:extLst>
          </p:cNvPr>
          <p:cNvSpPr>
            <a:spLocks xmlns:a="http://schemas.openxmlformats.org/drawingml/2006/main" noGrp="1"/>
          </p:cNvSpPr>
          <p:nvPr/>
        </p:nvSpPr>
        <p:spPr>
          <a:xfrm xmlns:a="http://schemas.openxmlformats.org/drawingml/2006/main">
            <a:off x="414337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1" name="">
            <a:extLst xmlns:a="http://schemas.openxmlformats.org/drawingml/2006/main">
              <a:ext uri="{FF2B5EF4-FFF2-40B4-BE49-F238E27FC236}">
                <a16:creationId xmlns:a16="http://schemas.microsoft.com/office/drawing/2014/main" id="{C29B750D-71C0-4CFB-A335-02D09F40F943}"/>
              </a:ext>
            </a:extLst>
          </p:cNvPr>
          <p:cNvSpPr>
            <a:spLocks xmlns:a="http://schemas.openxmlformats.org/drawingml/2006/main" noGrp="1"/>
          </p:cNvSpPr>
          <p:nvPr/>
        </p:nvSpPr>
        <p:spPr>
          <a:xfrm xmlns:a="http://schemas.openxmlformats.org/drawingml/2006/main">
            <a:off x="424815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E7528E6-D9D0-4E57-98C3-2B6995F973B6}"/>
              </a:ext>
            </a:extLst>
          </p:cNvPr>
          <p:cNvSpPr>
            <a:spLocks xmlns:a="http://schemas.openxmlformats.org/drawingml/2006/main" noGrp="1"/>
          </p:cNvSpPr>
          <p:nvPr/>
        </p:nvSpPr>
        <p:spPr>
          <a:xfrm xmlns:a="http://schemas.openxmlformats.org/drawingml/2006/main">
            <a:off x="434340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Jul 2026</a:t>
            </a:r>
          </a:p>
        </p:txBody>
      </p:sp>
      <p:sp>
        <p:nvSpPr>
          <p:cNvPr id="43" name="">
            <a:extLst xmlns:a="http://schemas.openxmlformats.org/drawingml/2006/main">
              <a:ext uri="{FF2B5EF4-FFF2-40B4-BE49-F238E27FC236}">
                <a16:creationId xmlns:a16="http://schemas.microsoft.com/office/drawing/2014/main" id="{2C7B7929-0992-4F5C-AB18-0BE000D52278}"/>
              </a:ext>
            </a:extLst>
          </p:cNvPr>
          <p:cNvSpPr>
            <a:spLocks xmlns:a="http://schemas.openxmlformats.org/drawingml/2006/main" noGrp="1"/>
          </p:cNvSpPr>
          <p:nvPr/>
        </p:nvSpPr>
        <p:spPr>
          <a:xfrm xmlns:a="http://schemas.openxmlformats.org/drawingml/2006/main">
            <a:off x="434340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DMGT-2296</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Extend the existing Frontline Hero campaign</a:t>
            </a:r>
          </a:p>
        </p:txBody>
      </p:sp>
      <p:sp>
        <p:nvSpPr>
          <p:cNvPr id="44" name="">
            <a:extLst xmlns:a="http://schemas.openxmlformats.org/drawingml/2006/main">
              <a:ext uri="{FF2B5EF4-FFF2-40B4-BE49-F238E27FC236}">
                <a16:creationId xmlns:a16="http://schemas.microsoft.com/office/drawing/2014/main" id="{E975C798-F6DC-4820-979B-8653EBF936F7}"/>
              </a:ext>
            </a:extLst>
          </p:cNvPr>
          <p:cNvSpPr>
            <a:spLocks xmlns:a="http://schemas.openxmlformats.org/drawingml/2006/main" noGrp="1"/>
          </p:cNvSpPr>
          <p:nvPr/>
        </p:nvSpPr>
        <p:spPr>
          <a:xfrm xmlns:a="http://schemas.openxmlformats.org/drawingml/2006/main">
            <a:off x="667702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5" name="">
            <a:extLst xmlns:a="http://schemas.openxmlformats.org/drawingml/2006/main">
              <a:ext uri="{FF2B5EF4-FFF2-40B4-BE49-F238E27FC236}">
                <a16:creationId xmlns:a16="http://schemas.microsoft.com/office/drawing/2014/main" id="{39EE26E9-DBB1-4ABA-980A-D3ED513ADB97}"/>
              </a:ext>
            </a:extLst>
          </p:cNvPr>
          <p:cNvSpPr>
            <a:spLocks xmlns:a="http://schemas.openxmlformats.org/drawingml/2006/main" noGrp="1"/>
          </p:cNvSpPr>
          <p:nvPr/>
        </p:nvSpPr>
        <p:spPr>
          <a:xfrm xmlns:a="http://schemas.openxmlformats.org/drawingml/2006/main">
            <a:off x="678180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CD9F6AC-1BC7-4295-AC64-53263F945AE3}"/>
              </a:ext>
            </a:extLst>
          </p:cNvPr>
          <p:cNvSpPr>
            <a:spLocks xmlns:a="http://schemas.openxmlformats.org/drawingml/2006/main" noGrp="1"/>
          </p:cNvSpPr>
          <p:nvPr/>
        </p:nvSpPr>
        <p:spPr>
          <a:xfrm xmlns:a="http://schemas.openxmlformats.org/drawingml/2006/main">
            <a:off x="687705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Aug 2026</a:t>
            </a:r>
          </a:p>
        </p:txBody>
      </p:sp>
      <p:sp>
        <p:nvSpPr>
          <p:cNvPr id="47" name="">
            <a:extLst xmlns:a="http://schemas.openxmlformats.org/drawingml/2006/main">
              <a:ext uri="{FF2B5EF4-FFF2-40B4-BE49-F238E27FC236}">
                <a16:creationId xmlns:a16="http://schemas.microsoft.com/office/drawing/2014/main" id="{B6701126-DCD4-4866-99B4-90400FF0B565}"/>
              </a:ext>
            </a:extLst>
          </p:cNvPr>
          <p:cNvSpPr>
            <a:spLocks xmlns:a="http://schemas.openxmlformats.org/drawingml/2006/main" noGrp="1"/>
          </p:cNvSpPr>
          <p:nvPr/>
        </p:nvSpPr>
        <p:spPr>
          <a:xfrm xmlns:a="http://schemas.openxmlformats.org/drawingml/2006/main">
            <a:off x="687705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DMGT-2407</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LS NTML for PF</a:t>
            </a:r>
          </a:p>
        </p:txBody>
      </p:sp>
      <p:sp>
        <p:nvSpPr>
          <p:cNvPr id="48" name="">
            <a:extLst xmlns:a="http://schemas.openxmlformats.org/drawingml/2006/main">
              <a:ext uri="{FF2B5EF4-FFF2-40B4-BE49-F238E27FC236}">
                <a16:creationId xmlns:a16="http://schemas.microsoft.com/office/drawing/2014/main" id="{D40E8EB0-F44F-4E95-99B9-5A0B1A7A5DBA}"/>
              </a:ext>
            </a:extLst>
          </p:cNvPr>
          <p:cNvSpPr>
            <a:spLocks xmlns:a="http://schemas.openxmlformats.org/drawingml/2006/main" noGrp="1"/>
          </p:cNvSpPr>
          <p:nvPr/>
        </p:nvSpPr>
        <p:spPr>
          <a:xfrm xmlns:a="http://schemas.openxmlformats.org/drawingml/2006/main">
            <a:off x="921067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9" name="">
            <a:extLst xmlns:a="http://schemas.openxmlformats.org/drawingml/2006/main">
              <a:ext uri="{FF2B5EF4-FFF2-40B4-BE49-F238E27FC236}">
                <a16:creationId xmlns:a16="http://schemas.microsoft.com/office/drawing/2014/main" id="{753038EC-AE2B-4B57-8254-AB8385D25018}"/>
              </a:ext>
            </a:extLst>
          </p:cNvPr>
          <p:cNvSpPr>
            <a:spLocks xmlns:a="http://schemas.openxmlformats.org/drawingml/2006/main" noGrp="1"/>
          </p:cNvSpPr>
          <p:nvPr/>
        </p:nvSpPr>
        <p:spPr>
          <a:xfrm xmlns:a="http://schemas.openxmlformats.org/drawingml/2006/main">
            <a:off x="9315450" y="4905375"/>
            <a:ext cx="2419350" cy="1333500"/>
          </a:xfrm>
          <a:prstGeom xmlns:a="http://schemas.openxmlformats.org/drawingml/2006/main" prst="roundRect">
            <a:avLst>
              <a:gd name="adj" fmla="val 8571"/>
            </a:avLst>
          </a:prstGeom>
          <a:solidFill xmlns:a="http://schemas.openxmlformats.org/drawingml/2006/main">
            <a:srgbClr val="FFF1D7"/>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7A745824-3026-4F51-BD0D-381AC8CEA1E0}"/>
              </a:ext>
            </a:extLst>
          </p:cNvPr>
          <p:cNvSpPr>
            <a:spLocks xmlns:a="http://schemas.openxmlformats.org/drawingml/2006/main" noGrp="1"/>
          </p:cNvSpPr>
          <p:nvPr/>
        </p:nvSpPr>
        <p:spPr>
          <a:xfrm xmlns:a="http://schemas.openxmlformats.org/drawingml/2006/main">
            <a:off x="941070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F6D12"/>
                </a:solidFill>
                <a:latin typeface="DejaVu Sans"/>
                <a:ea typeface="DejaVu Sans"/>
                <a:cs typeface="DejaVu Sans"/>
              </a:defRPr>
            </a:pPr>
            <a:r>
              <a:rPr sz="1350" b="1">
                <a:solidFill>
                  <a:srgbClr val="BF6D12"/>
                </a:solidFill>
                <a:latin typeface="DejaVu Sans"/>
                <a:ea typeface="DejaVu Sans"/>
                <a:cs typeface="DejaVu Sans"/>
              </a:rPr>
              <a:t>◷  Oct 2026 planned</a:t>
            </a:r>
          </a:p>
        </p:txBody>
      </p:sp>
      <p:sp>
        <p:nvSpPr>
          <p:cNvPr id="51" name="">
            <a:extLst xmlns:a="http://schemas.openxmlformats.org/drawingml/2006/main">
              <a:ext uri="{FF2B5EF4-FFF2-40B4-BE49-F238E27FC236}">
                <a16:creationId xmlns:a16="http://schemas.microsoft.com/office/drawing/2014/main" id="{2A29ACDE-D1D7-4F7B-8D40-635AD558BAB6}"/>
              </a:ext>
            </a:extLst>
          </p:cNvPr>
          <p:cNvSpPr>
            <a:spLocks xmlns:a="http://schemas.openxmlformats.org/drawingml/2006/main" noGrp="1"/>
          </p:cNvSpPr>
          <p:nvPr/>
        </p:nvSpPr>
        <p:spPr>
          <a:xfrm xmlns:a="http://schemas.openxmlformats.org/drawingml/2006/main">
            <a:off x="941070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DMGT-56</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FTS in all STL segments</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4 October target in September summary</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Delivery confirmation pending</a:t>
            </a:r>
          </a:p>
        </p:txBody>
      </p:sp>
    </p:spTree>
    <p:extLst>
      <p:ext uri="{BB962C8B-B14F-4D97-AF65-F5344CB8AC3E}">
        <p14:creationId xmlns:p14="http://schemas.microsoft.com/office/powerpoint/2010/main" val="19453598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571FF68-3C89-47F6-AAB9-DB18FD0F49E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A03D372-628F-42BA-B3B5-4113DE9A7DD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delivers 15 items with no reported outages</a:t>
            </a:r>
          </a:p>
        </p:txBody>
      </p:sp>
      <p:sp>
        <p:nvSpPr>
          <p:cNvPr id="3" name="">
            <a:extLst xmlns:a="http://schemas.openxmlformats.org/drawingml/2006/main">
              <a:ext uri="{FF2B5EF4-FFF2-40B4-BE49-F238E27FC236}">
                <a16:creationId xmlns:a16="http://schemas.microsoft.com/office/drawing/2014/main" id="{981DCCAD-5868-400D-9759-6B14EB7B9520}"/>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executive outcome. Reliability remains green, with a minor-incident workload to monitor.</a:t>
            </a:r>
          </a:p>
        </p:txBody>
      </p:sp>
      <p:sp>
        <p:nvSpPr>
          <p:cNvPr id="4" name="">
            <a:extLst xmlns:a="http://schemas.openxmlformats.org/drawingml/2006/main">
              <a:ext uri="{FF2B5EF4-FFF2-40B4-BE49-F238E27FC236}">
                <a16:creationId xmlns:a16="http://schemas.microsoft.com/office/drawing/2014/main" id="{BD6DBE82-E413-4A6B-B7A4-B6039BADEC0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04FF599F-9E98-45CB-AF45-72BF8B673AC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989913B1-DBA3-4254-A34D-4FDEFD026917}"/>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163253-768B-4C1C-8547-EE05F22944BC}"/>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35</a:t>
            </a:r>
          </a:p>
        </p:txBody>
      </p:sp>
      <p:sp>
        <p:nvSpPr>
          <p:cNvPr id="8" name="">
            <a:extLst xmlns:a="http://schemas.openxmlformats.org/drawingml/2006/main">
              <a:ext uri="{FF2B5EF4-FFF2-40B4-BE49-F238E27FC236}">
                <a16:creationId xmlns:a16="http://schemas.microsoft.com/office/drawing/2014/main" id="{6E707EF4-3E31-4A08-A4AC-9857033E77F5}"/>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pipeline entries</a:t>
            </a:r>
          </a:p>
        </p:txBody>
      </p:sp>
      <p:sp>
        <p:nvSpPr>
          <p:cNvPr id="9" name="">
            <a:extLst xmlns:a="http://schemas.openxmlformats.org/drawingml/2006/main">
              <a:ext uri="{FF2B5EF4-FFF2-40B4-BE49-F238E27FC236}">
                <a16:creationId xmlns:a16="http://schemas.microsoft.com/office/drawing/2014/main" id="{D2FDA585-AC33-48E4-8B2E-B2A170E53691}"/>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722056-5837-419F-8AF4-AF77582CD17A}"/>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15</a:t>
            </a:r>
          </a:p>
        </p:txBody>
      </p:sp>
      <p:sp>
        <p:nvSpPr>
          <p:cNvPr id="11" name="">
            <a:extLst xmlns:a="http://schemas.openxmlformats.org/drawingml/2006/main">
              <a:ext uri="{FF2B5EF4-FFF2-40B4-BE49-F238E27FC236}">
                <a16:creationId xmlns:a16="http://schemas.microsoft.com/office/drawing/2014/main" id="{B245697A-B2B1-421F-A35C-86C6C3F47F2C}"/>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live / delivered</a:t>
            </a:r>
          </a:p>
        </p:txBody>
      </p:sp>
      <p:sp>
        <p:nvSpPr>
          <p:cNvPr id="12" name="">
            <a:extLst xmlns:a="http://schemas.openxmlformats.org/drawingml/2006/main">
              <a:ext uri="{FF2B5EF4-FFF2-40B4-BE49-F238E27FC236}">
                <a16:creationId xmlns:a16="http://schemas.microsoft.com/office/drawing/2014/main" id="{BA1A8A53-4C33-4499-A047-F807E2133FCC}"/>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6C4C51A-6FC7-4BAF-90B2-DF59D92173EE}"/>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16</a:t>
            </a:r>
          </a:p>
        </p:txBody>
      </p:sp>
      <p:sp>
        <p:nvSpPr>
          <p:cNvPr id="14" name="">
            <a:extLst xmlns:a="http://schemas.openxmlformats.org/drawingml/2006/main">
              <a:ext uri="{FF2B5EF4-FFF2-40B4-BE49-F238E27FC236}">
                <a16:creationId xmlns:a16="http://schemas.microsoft.com/office/drawing/2014/main" id="{DE11C065-4966-4744-AC49-21CAA8B4A3B9}"/>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in progress</a:t>
            </a:r>
          </a:p>
        </p:txBody>
      </p:sp>
      <p:sp>
        <p:nvSpPr>
          <p:cNvPr id="15" name="">
            <a:extLst xmlns:a="http://schemas.openxmlformats.org/drawingml/2006/main">
              <a:ext uri="{FF2B5EF4-FFF2-40B4-BE49-F238E27FC236}">
                <a16:creationId xmlns:a16="http://schemas.microsoft.com/office/drawing/2014/main" id="{6ED3679D-C38F-47AE-B7AB-CC97A6235D7F}"/>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8DAC20-0C9F-4F33-8D2F-D514DC2A8D83}"/>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4</a:t>
            </a:r>
          </a:p>
        </p:txBody>
      </p:sp>
      <p:sp>
        <p:nvSpPr>
          <p:cNvPr id="17" name="">
            <a:extLst xmlns:a="http://schemas.openxmlformats.org/drawingml/2006/main">
              <a:ext uri="{FF2B5EF4-FFF2-40B4-BE49-F238E27FC236}">
                <a16:creationId xmlns:a16="http://schemas.microsoft.com/office/drawing/2014/main" id="{E7E3A074-6EDB-4CCA-9C7B-951D5F822843}"/>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under discussion</a:t>
            </a:r>
          </a:p>
        </p:txBody>
      </p:sp>
      <p:sp>
        <p:nvSpPr>
          <p:cNvPr id="18" name="">
            <a:extLst xmlns:a="http://schemas.openxmlformats.org/drawingml/2006/main">
              <a:ext uri="{FF2B5EF4-FFF2-40B4-BE49-F238E27FC236}">
                <a16:creationId xmlns:a16="http://schemas.microsoft.com/office/drawing/2014/main" id="{E8E0174E-0FF3-4CB4-BBBD-84BEAE5C762B}"/>
              </a:ext>
            </a:extLst>
          </p:cNvPr>
          <p:cNvSpPr>
            <a:spLocks xmlns:a="http://schemas.openxmlformats.org/drawingml/2006/main" noGrp="1"/>
          </p:cNvSpPr>
          <p:nvPr/>
        </p:nvSpPr>
        <p:spPr>
          <a:xfrm xmlns:a="http://schemas.openxmlformats.org/drawingml/2006/main">
            <a:off x="457200" y="3505200"/>
            <a:ext cx="3657600" cy="1809750"/>
          </a:xfrm>
          <a:prstGeom xmlns:a="http://schemas.openxmlformats.org/drawingml/2006/main" prst="roundRect">
            <a:avLst>
              <a:gd name="adj" fmla="val 6316"/>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F168532-318A-469E-B4D7-B5D04EB686EC}"/>
              </a:ext>
            </a:extLst>
          </p:cNvPr>
          <p:cNvSpPr>
            <a:spLocks xmlns:a="http://schemas.openxmlformats.org/drawingml/2006/main" noGrp="1"/>
          </p:cNvSpPr>
          <p:nvPr/>
        </p:nvSpPr>
        <p:spPr>
          <a:xfrm xmlns:a="http://schemas.openxmlformats.org/drawingml/2006/main">
            <a:off x="62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Service continuity</a:t>
            </a:r>
          </a:p>
        </p:txBody>
      </p:sp>
      <p:sp>
        <p:nvSpPr>
          <p:cNvPr id="20" name="">
            <a:extLst xmlns:a="http://schemas.openxmlformats.org/drawingml/2006/main">
              <a:ext uri="{FF2B5EF4-FFF2-40B4-BE49-F238E27FC236}">
                <a16:creationId xmlns:a16="http://schemas.microsoft.com/office/drawing/2014/main" id="{A3608032-F945-4EDC-AF68-B35A45F1EBC6}"/>
              </a:ext>
            </a:extLst>
          </p:cNvPr>
          <p:cNvSpPr>
            <a:spLocks xmlns:a="http://schemas.openxmlformats.org/drawingml/2006/main" noGrp="1"/>
          </p:cNvSpPr>
          <p:nvPr/>
        </p:nvSpPr>
        <p:spPr>
          <a:xfrm xmlns:a="http://schemas.openxmlformats.org/drawingml/2006/main">
            <a:off x="62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0 planned or unplanned outages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0 major incidents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127 minor incidents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DR available and tested</a:t>
            </a:r>
          </a:p>
        </p:txBody>
      </p:sp>
      <p:sp>
        <p:nvSpPr>
          <p:cNvPr id="21" name="">
            <a:extLst xmlns:a="http://schemas.openxmlformats.org/drawingml/2006/main">
              <a:ext uri="{FF2B5EF4-FFF2-40B4-BE49-F238E27FC236}">
                <a16:creationId xmlns:a16="http://schemas.microsoft.com/office/drawing/2014/main" id="{F064AD82-E52D-4684-8309-785CD4EFBDF3}"/>
              </a:ext>
            </a:extLst>
          </p:cNvPr>
          <p:cNvSpPr>
            <a:spLocks xmlns:a="http://schemas.openxmlformats.org/drawingml/2006/main" noGrp="1"/>
          </p:cNvSpPr>
          <p:nvPr/>
        </p:nvSpPr>
        <p:spPr>
          <a:xfrm xmlns:a="http://schemas.openxmlformats.org/drawingml/2006/main">
            <a:off x="4267200" y="3505200"/>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ECA867E-7469-4826-892B-31415E1491FF}"/>
              </a:ext>
            </a:extLst>
          </p:cNvPr>
          <p:cNvSpPr>
            <a:spLocks xmlns:a="http://schemas.openxmlformats.org/drawingml/2006/main" noGrp="1"/>
          </p:cNvSpPr>
          <p:nvPr/>
        </p:nvSpPr>
        <p:spPr>
          <a:xfrm xmlns:a="http://schemas.openxmlformats.org/drawingml/2006/main">
            <a:off x="443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Customer activity</a:t>
            </a:r>
          </a:p>
        </p:txBody>
      </p:sp>
      <p:sp>
        <p:nvSpPr>
          <p:cNvPr id="23" name="">
            <a:extLst xmlns:a="http://schemas.openxmlformats.org/drawingml/2006/main">
              <a:ext uri="{FF2B5EF4-FFF2-40B4-BE49-F238E27FC236}">
                <a16:creationId xmlns:a16="http://schemas.microsoft.com/office/drawing/2014/main" id="{16B4B81D-65A5-4E70-BEBF-BD66D27DAFB2}"/>
              </a:ext>
            </a:extLst>
          </p:cNvPr>
          <p:cNvSpPr>
            <a:spLocks xmlns:a="http://schemas.openxmlformats.org/drawingml/2006/main" noGrp="1"/>
          </p:cNvSpPr>
          <p:nvPr/>
        </p:nvSpPr>
        <p:spPr>
          <a:xfrm xmlns:a="http://schemas.openxmlformats.org/drawingml/2006/main">
            <a:off x="443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1,242 CIF records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51,525 leads created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45,465 opportunities created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5,544 cases completed</a:t>
            </a:r>
          </a:p>
        </p:txBody>
      </p:sp>
      <p:sp>
        <p:nvSpPr>
          <p:cNvPr id="24" name="">
            <a:extLst xmlns:a="http://schemas.openxmlformats.org/drawingml/2006/main">
              <a:ext uri="{FF2B5EF4-FFF2-40B4-BE49-F238E27FC236}">
                <a16:creationId xmlns:a16="http://schemas.microsoft.com/office/drawing/2014/main" id="{E699B643-1B7E-4CD6-AF46-B6ECCCE80621}"/>
              </a:ext>
            </a:extLst>
          </p:cNvPr>
          <p:cNvSpPr>
            <a:spLocks xmlns:a="http://schemas.openxmlformats.org/drawingml/2006/main" noGrp="1"/>
          </p:cNvSpPr>
          <p:nvPr/>
        </p:nvSpPr>
        <p:spPr>
          <a:xfrm xmlns:a="http://schemas.openxmlformats.org/drawingml/2006/main">
            <a:off x="8077200" y="3505200"/>
            <a:ext cx="3657600" cy="1809750"/>
          </a:xfrm>
          <a:prstGeom xmlns:a="http://schemas.openxmlformats.org/drawingml/2006/main" prst="roundRect">
            <a:avLst>
              <a:gd name="adj" fmla="val 6316"/>
            </a:avLst>
          </a:prstGeom>
          <a:solidFill xmlns:a="http://schemas.openxmlformats.org/drawingml/2006/main">
            <a:srgbClr val="F0EAF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3227D07-6D42-4B8C-88B8-A19DC2CD90C4}"/>
              </a:ext>
            </a:extLst>
          </p:cNvPr>
          <p:cNvSpPr>
            <a:spLocks xmlns:a="http://schemas.openxmlformats.org/drawingml/2006/main" noGrp="1"/>
          </p:cNvSpPr>
          <p:nvPr/>
        </p:nvSpPr>
        <p:spPr>
          <a:xfrm xmlns:a="http://schemas.openxmlformats.org/drawingml/2006/main">
            <a:off x="824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Cloud readiness</a:t>
            </a:r>
          </a:p>
        </p:txBody>
      </p:sp>
      <p:sp>
        <p:nvSpPr>
          <p:cNvPr id="26" name="">
            <a:extLst xmlns:a="http://schemas.openxmlformats.org/drawingml/2006/main">
              <a:ext uri="{FF2B5EF4-FFF2-40B4-BE49-F238E27FC236}">
                <a16:creationId xmlns:a16="http://schemas.microsoft.com/office/drawing/2014/main" id="{03627294-361B-41A3-A105-07DFA372E7AD}"/>
              </a:ext>
            </a:extLst>
          </p:cNvPr>
          <p:cNvSpPr>
            <a:spLocks xmlns:a="http://schemas.openxmlformats.org/drawingml/2006/main" noGrp="1"/>
          </p:cNvSpPr>
          <p:nvPr/>
        </p:nvSpPr>
        <p:spPr>
          <a:xfrm xmlns:a="http://schemas.openxmlformats.org/drawingml/2006/main">
            <a:off x="824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Planning / under discussion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Q3 2027 target in latest overview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10 team members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Source reports adequate staffing</a:t>
            </a:r>
          </a:p>
        </p:txBody>
      </p:sp>
      <p:sp>
        <p:nvSpPr>
          <p:cNvPr id="27" name="">
            <a:extLst xmlns:a="http://schemas.openxmlformats.org/drawingml/2006/main">
              <a:ext uri="{FF2B5EF4-FFF2-40B4-BE49-F238E27FC236}">
                <a16:creationId xmlns:a16="http://schemas.microsoft.com/office/drawing/2014/main" id="{E3EE7060-FC5A-4C15-92E3-B625AA3958F3}"/>
              </a:ext>
            </a:extLst>
          </p:cNvPr>
          <p:cNvSpPr>
            <a:spLocks xmlns:a="http://schemas.openxmlformats.org/drawingml/2006/main" noGrp="1"/>
          </p:cNvSpPr>
          <p:nvPr/>
        </p:nvSpPr>
        <p:spPr>
          <a:xfrm xmlns:a="http://schemas.openxmlformats.org/drawingml/2006/main">
            <a:off x="457200" y="57150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Management focus</a:t>
            </a:r>
          </a:p>
        </p:txBody>
      </p:sp>
      <p:sp>
        <p:nvSpPr>
          <p:cNvPr id="28" name="">
            <a:extLst xmlns:a="http://schemas.openxmlformats.org/drawingml/2006/main">
              <a:ext uri="{FF2B5EF4-FFF2-40B4-BE49-F238E27FC236}">
                <a16:creationId xmlns:a16="http://schemas.microsoft.com/office/drawing/2014/main" id="{57111091-8E3E-4417-9FED-3C620B0778FD}"/>
              </a:ext>
            </a:extLst>
          </p:cNvPr>
          <p:cNvSpPr>
            <a:spLocks xmlns:a="http://schemas.openxmlformats.org/drawingml/2006/main" noGrp="1"/>
          </p:cNvSpPr>
          <p:nvPr/>
        </p:nvSpPr>
        <p:spPr>
          <a:xfrm xmlns:a="http://schemas.openxmlformats.org/drawingml/2006/main">
            <a:off x="3095625" y="56673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A4B"/>
                </a:solidFill>
                <a:latin typeface="DejaVu Sans"/>
                <a:ea typeface="DejaVu Sans"/>
                <a:cs typeface="DejaVu Sans"/>
              </a:defRPr>
            </a:pPr>
            <a:r>
              <a:rPr sz="1725" b="0">
                <a:solidFill>
                  <a:srgbClr val="173A4B"/>
                </a:solidFill>
                <a:latin typeface="DejaVu Sans"/>
                <a:ea typeface="DejaVu Sans"/>
                <a:cs typeface="DejaVu Sans"/>
              </a:rPr>
              <a:t>Track minor-incident drivers, progress the 16 delivery entries and agree the cloud migration approach.</a:t>
            </a:r>
          </a:p>
        </p:txBody>
      </p:sp>
    </p:spTree>
    <p:extLst>
      <p:ext uri="{BB962C8B-B14F-4D97-AF65-F5344CB8AC3E}">
        <p14:creationId xmlns:p14="http://schemas.microsoft.com/office/powerpoint/2010/main" val="12609369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084717B-A26B-4783-94AE-F414389E936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C596753E-C97E-41C3-991C-489442962AD7}"/>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supports customer onboarding and sales activity</a:t>
            </a:r>
          </a:p>
        </p:txBody>
      </p:sp>
      <p:sp>
        <p:nvSpPr>
          <p:cNvPr id="3" name="">
            <a:extLst xmlns:a="http://schemas.openxmlformats.org/drawingml/2006/main">
              <a:ext uri="{FF2B5EF4-FFF2-40B4-BE49-F238E27FC236}">
                <a16:creationId xmlns:a16="http://schemas.microsoft.com/office/drawing/2014/main" id="{5C3F5BCC-29A1-4667-9368-4243B5DF570C}"/>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Workflow volumes are separate activity measures. Weekly incidents total 127, all minor.</a:t>
            </a:r>
          </a:p>
        </p:txBody>
      </p:sp>
      <p:sp>
        <p:nvSpPr>
          <p:cNvPr id="4" name="">
            <a:extLst xmlns:a="http://schemas.openxmlformats.org/drawingml/2006/main">
              <a:ext uri="{FF2B5EF4-FFF2-40B4-BE49-F238E27FC236}">
                <a16:creationId xmlns:a16="http://schemas.microsoft.com/office/drawing/2014/main" id="{4EE617FA-D639-4C4D-86D0-E709D0FB4D86}"/>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2B8BBC1-B879-4D4A-AD63-12F542972985}"/>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970F75C4-2A8A-414D-AD6C-B526D17851BA}"/>
              </a:ext>
            </a:extLst>
          </p:cNvPr>
          <p:cNvSpPr>
            <a:spLocks xmlns:a="http://schemas.openxmlformats.org/drawingml/2006/main" noGrp="1"/>
          </p:cNvSpPr>
          <p:nvPr/>
        </p:nvSpPr>
        <p:spPr>
          <a:xfrm xmlns:a="http://schemas.openxmlformats.org/drawingml/2006/main">
            <a:off x="457200" y="20764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Weekly minor incidents</a:t>
            </a:r>
          </a:p>
        </p:txBody>
      </p:sp>
      <p:graphicFrame>
        <p:nvGraphicFramePr>
          <p:cNvPr id="29" name="Chart"/>
          <p:cNvGraphicFramePr/>
          <p:nvPr/>
        </p:nvGraphicFramePr>
        <p:xfrm>
          <a:off xmlns:a="http://schemas.openxmlformats.org/drawingml/2006/main" x="457200" y="2495550"/>
          <a:ext xmlns:a="http://schemas.openxmlformats.org/drawingml/2006/main" cx="5048250" cy="2419350"/>
        </p:xfrm>
        <a:graphic xmlns:a="http://schemas.openxmlformats.org/drawingml/2006/main">
          <a:graphicData uri="http://schemas.openxmlformats.org/drawingml/2006/chart">
            <c:chart xmlns:r="http://schemas.openxmlformats.org/officeDocument/2006/relationships" xmlns:c="http://schemas.openxmlformats.org/drawingml/2006/chart" r:id="Rbe6e89f3d9ef4949"/>
          </a:graphicData>
        </a:graphic>
      </p:graphicFrame>
      <p:sp>
        <p:nvSpPr>
          <p:cNvPr id="8" name="">
            <a:extLst xmlns:a="http://schemas.openxmlformats.org/drawingml/2006/main">
              <a:ext uri="{FF2B5EF4-FFF2-40B4-BE49-F238E27FC236}">
                <a16:creationId xmlns:a16="http://schemas.microsoft.com/office/drawing/2014/main" id="{5A2A5F64-7F9F-4CE8-AD9A-E24CC5AB5DCF}"/>
              </a:ext>
            </a:extLst>
          </p:cNvPr>
          <p:cNvSpPr>
            <a:spLocks xmlns:a="http://schemas.openxmlformats.org/drawingml/2006/main" noGrp="1"/>
          </p:cNvSpPr>
          <p:nvPr/>
        </p:nvSpPr>
        <p:spPr>
          <a:xfrm xmlns:a="http://schemas.openxmlformats.org/drawingml/2006/main">
            <a:off x="6191250" y="20764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Workflow activity</a:t>
            </a:r>
          </a:p>
        </p:txBody>
      </p:sp>
      <p:graphicFrame>
        <p:nvGraphicFramePr>
          <p:cNvPr id="31" name="Chart"/>
          <p:cNvGraphicFramePr/>
          <p:nvPr/>
        </p:nvGraphicFramePr>
        <p:xfrm>
          <a:off xmlns:a="http://schemas.openxmlformats.org/drawingml/2006/main" x="6096000" y="2495550"/>
          <a:ext xmlns:a="http://schemas.openxmlformats.org/drawingml/2006/main" cx="5638800" cy="2419350"/>
        </p:xfrm>
        <a:graphic xmlns:a="http://schemas.openxmlformats.org/drawingml/2006/main">
          <a:graphicData uri="http://schemas.openxmlformats.org/drawingml/2006/chart">
            <c:chart xmlns:r="http://schemas.openxmlformats.org/officeDocument/2006/relationships" xmlns:c="http://schemas.openxmlformats.org/drawingml/2006/chart" r:id="R353edb2a98eb4c8c"/>
          </a:graphicData>
        </a:graphic>
      </p:graphicFrame>
      <p:sp>
        <p:nvSpPr>
          <p:cNvPr id="10" name="">
            <a:extLst xmlns:a="http://schemas.openxmlformats.org/drawingml/2006/main">
              <a:ext uri="{FF2B5EF4-FFF2-40B4-BE49-F238E27FC236}">
                <a16:creationId xmlns:a16="http://schemas.microsoft.com/office/drawing/2014/main" id="{96EE8746-977B-4D8F-8B94-3AF4D588B271}"/>
              </a:ext>
            </a:extLst>
          </p:cNvPr>
          <p:cNvSpPr>
            <a:spLocks xmlns:a="http://schemas.openxmlformats.org/drawingml/2006/main" noGrp="1"/>
          </p:cNvSpPr>
          <p:nvPr/>
        </p:nvSpPr>
        <p:spPr>
          <a:xfrm xmlns:a="http://schemas.openxmlformats.org/drawingml/2006/main">
            <a:off x="457200" y="513397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1,242 CIF records in September</a:t>
            </a:r>
          </a:p>
        </p:txBody>
      </p:sp>
      <p:sp>
        <p:nvSpPr>
          <p:cNvPr id="11" name="">
            <a:extLst xmlns:a="http://schemas.openxmlformats.org/drawingml/2006/main">
              <a:ext uri="{FF2B5EF4-FFF2-40B4-BE49-F238E27FC236}">
                <a16:creationId xmlns:a16="http://schemas.microsoft.com/office/drawing/2014/main" id="{E2B2B4AF-91EC-4A11-B24E-402272395372}"/>
              </a:ext>
            </a:extLst>
          </p:cNvPr>
          <p:cNvSpPr>
            <a:spLocks xmlns:a="http://schemas.openxmlformats.org/drawingml/2006/main" noGrp="1"/>
          </p:cNvSpPr>
          <p:nvPr/>
        </p:nvSpPr>
        <p:spPr>
          <a:xfrm xmlns:a="http://schemas.openxmlformats.org/drawingml/2006/main">
            <a:off x="457200" y="5610225"/>
            <a:ext cx="2667000" cy="676275"/>
          </a:xfrm>
          <a:prstGeom xmlns:a="http://schemas.openxmlformats.org/drawingml/2006/main" prst="roundRect">
            <a:avLst>
              <a:gd name="adj" fmla="val 16901"/>
            </a:avLst>
          </a:prstGeom>
          <a:solidFill xmlns:a="http://schemas.openxmlformats.org/drawingml/2006/main">
            <a:srgbClr val="E6F6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2E5621-BEEF-4D4A-A1CF-C55355B30E60}"/>
              </a:ext>
            </a:extLst>
          </p:cNvPr>
          <p:cNvSpPr>
            <a:spLocks xmlns:a="http://schemas.openxmlformats.org/drawingml/2006/main" noGrp="1"/>
          </p:cNvSpPr>
          <p:nvPr/>
        </p:nvSpPr>
        <p:spPr>
          <a:xfrm xmlns:a="http://schemas.openxmlformats.org/drawingml/2006/main">
            <a:off x="5905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68"/>
                </a:solidFill>
                <a:latin typeface="DejaVu Sans"/>
                <a:ea typeface="DejaVu Sans"/>
                <a:cs typeface="DejaVu Sans"/>
              </a:defRPr>
            </a:pPr>
            <a:r>
              <a:rPr sz="1275" b="1">
                <a:solidFill>
                  <a:srgbClr val="087F68"/>
                </a:solidFill>
                <a:latin typeface="DejaVu Sans"/>
                <a:ea typeface="DejaVu Sans"/>
                <a:cs typeface="DejaVu Sans"/>
              </a:rPr>
              <a:t>♙  Retail</a:t>
            </a:r>
          </a:p>
        </p:txBody>
      </p:sp>
      <p:sp>
        <p:nvSpPr>
          <p:cNvPr id="13" name="">
            <a:extLst xmlns:a="http://schemas.openxmlformats.org/drawingml/2006/main">
              <a:ext uri="{FF2B5EF4-FFF2-40B4-BE49-F238E27FC236}">
                <a16:creationId xmlns:a16="http://schemas.microsoft.com/office/drawing/2014/main" id="{E884F996-4586-4689-8EDC-46C3BDD5ED15}"/>
              </a:ext>
            </a:extLst>
          </p:cNvPr>
          <p:cNvSpPr>
            <a:spLocks xmlns:a="http://schemas.openxmlformats.org/drawingml/2006/main" noGrp="1"/>
          </p:cNvSpPr>
          <p:nvPr/>
        </p:nvSpPr>
        <p:spPr>
          <a:xfrm xmlns:a="http://schemas.openxmlformats.org/drawingml/2006/main">
            <a:off x="5905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1,016</a:t>
            </a:r>
          </a:p>
        </p:txBody>
      </p:sp>
      <p:sp>
        <p:nvSpPr>
          <p:cNvPr id="14" name="">
            <a:extLst xmlns:a="http://schemas.openxmlformats.org/drawingml/2006/main">
              <a:ext uri="{FF2B5EF4-FFF2-40B4-BE49-F238E27FC236}">
                <a16:creationId xmlns:a16="http://schemas.microsoft.com/office/drawing/2014/main" id="{F75BB4AE-8643-4675-A038-69EB62B3BCF4}"/>
              </a:ext>
            </a:extLst>
          </p:cNvPr>
          <p:cNvSpPr>
            <a:spLocks xmlns:a="http://schemas.openxmlformats.org/drawingml/2006/main" noGrp="1"/>
          </p:cNvSpPr>
          <p:nvPr/>
        </p:nvSpPr>
        <p:spPr>
          <a:xfrm xmlns:a="http://schemas.openxmlformats.org/drawingml/2006/main">
            <a:off x="3314700" y="5610225"/>
            <a:ext cx="2667000" cy="676275"/>
          </a:xfrm>
          <a:prstGeom xmlns:a="http://schemas.openxmlformats.org/drawingml/2006/main" prst="roundRect">
            <a:avLst>
              <a:gd name="adj" fmla="val 16901"/>
            </a:avLst>
          </a:prstGeom>
          <a:solidFill xmlns:a="http://schemas.openxmlformats.org/drawingml/2006/main">
            <a:srgbClr val="E8F3F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1EDC562-2726-4555-B7DA-E80937D4FAB9}"/>
              </a:ext>
            </a:extLst>
          </p:cNvPr>
          <p:cNvSpPr>
            <a:spLocks xmlns:a="http://schemas.openxmlformats.org/drawingml/2006/main" noGrp="1"/>
          </p:cNvSpPr>
          <p:nvPr/>
        </p:nvSpPr>
        <p:spPr>
          <a:xfrm xmlns:a="http://schemas.openxmlformats.org/drawingml/2006/main">
            <a:off x="34480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8C2"/>
                </a:solidFill>
                <a:latin typeface="DejaVu Sans"/>
                <a:ea typeface="DejaVu Sans"/>
                <a:cs typeface="DejaVu Sans"/>
              </a:defRPr>
            </a:pPr>
            <a:r>
              <a:rPr sz="1275" b="1">
                <a:solidFill>
                  <a:srgbClr val="1688C2"/>
                </a:solidFill>
                <a:latin typeface="DejaVu Sans"/>
                <a:ea typeface="DejaVu Sans"/>
                <a:cs typeface="DejaVu Sans"/>
              </a:rPr>
              <a:t>◆  Corporate</a:t>
            </a:r>
          </a:p>
        </p:txBody>
      </p:sp>
      <p:sp>
        <p:nvSpPr>
          <p:cNvPr id="16" name="">
            <a:extLst xmlns:a="http://schemas.openxmlformats.org/drawingml/2006/main">
              <a:ext uri="{FF2B5EF4-FFF2-40B4-BE49-F238E27FC236}">
                <a16:creationId xmlns:a16="http://schemas.microsoft.com/office/drawing/2014/main" id="{5DF39B71-4107-4CD9-B32B-8DB5BA01F494}"/>
              </a:ext>
            </a:extLst>
          </p:cNvPr>
          <p:cNvSpPr>
            <a:spLocks xmlns:a="http://schemas.openxmlformats.org/drawingml/2006/main" noGrp="1"/>
          </p:cNvSpPr>
          <p:nvPr/>
        </p:nvSpPr>
        <p:spPr>
          <a:xfrm xmlns:a="http://schemas.openxmlformats.org/drawingml/2006/main">
            <a:off x="34480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11</a:t>
            </a:r>
          </a:p>
        </p:txBody>
      </p:sp>
      <p:sp>
        <p:nvSpPr>
          <p:cNvPr id="17" name="">
            <a:extLst xmlns:a="http://schemas.openxmlformats.org/drawingml/2006/main">
              <a:ext uri="{FF2B5EF4-FFF2-40B4-BE49-F238E27FC236}">
                <a16:creationId xmlns:a16="http://schemas.microsoft.com/office/drawing/2014/main" id="{CC2F7F3A-12FA-40B8-B8EA-B7548139361D}"/>
              </a:ext>
            </a:extLst>
          </p:cNvPr>
          <p:cNvSpPr>
            <a:spLocks xmlns:a="http://schemas.openxmlformats.org/drawingml/2006/main" noGrp="1"/>
          </p:cNvSpPr>
          <p:nvPr/>
        </p:nvSpPr>
        <p:spPr>
          <a:xfrm xmlns:a="http://schemas.openxmlformats.org/drawingml/2006/main">
            <a:off x="6172200" y="5610225"/>
            <a:ext cx="2667000" cy="676275"/>
          </a:xfrm>
          <a:prstGeom xmlns:a="http://schemas.openxmlformats.org/drawingml/2006/main" prst="roundRect">
            <a:avLst>
              <a:gd name="adj" fmla="val 16901"/>
            </a:avLst>
          </a:prstGeom>
          <a:solidFill xmlns:a="http://schemas.openxmlformats.org/drawingml/2006/main">
            <a:srgbClr val="F0EA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10F78E-3369-41EA-B132-91DAB851E836}"/>
              </a:ext>
            </a:extLst>
          </p:cNvPr>
          <p:cNvSpPr>
            <a:spLocks xmlns:a="http://schemas.openxmlformats.org/drawingml/2006/main" noGrp="1"/>
          </p:cNvSpPr>
          <p:nvPr/>
        </p:nvSpPr>
        <p:spPr>
          <a:xfrm xmlns:a="http://schemas.openxmlformats.org/drawingml/2006/main">
            <a:off x="63055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75BC5"/>
                </a:solidFill>
                <a:latin typeface="DejaVu Sans"/>
                <a:ea typeface="DejaVu Sans"/>
                <a:cs typeface="DejaVu Sans"/>
              </a:defRPr>
            </a:pPr>
            <a:r>
              <a:rPr sz="1275" b="1">
                <a:solidFill>
                  <a:srgbClr val="875BC5"/>
                </a:solidFill>
                <a:latin typeface="DejaVu Sans"/>
                <a:ea typeface="DejaVu Sans"/>
                <a:cs typeface="DejaVu Sans"/>
              </a:rPr>
              <a:t>▣  Escrow</a:t>
            </a:r>
          </a:p>
        </p:txBody>
      </p:sp>
      <p:sp>
        <p:nvSpPr>
          <p:cNvPr id="19" name="">
            <a:extLst xmlns:a="http://schemas.openxmlformats.org/drawingml/2006/main">
              <a:ext uri="{FF2B5EF4-FFF2-40B4-BE49-F238E27FC236}">
                <a16:creationId xmlns:a16="http://schemas.microsoft.com/office/drawing/2014/main" id="{0AD9CC47-2086-4DC2-93D4-49AA97DC2BC7}"/>
              </a:ext>
            </a:extLst>
          </p:cNvPr>
          <p:cNvSpPr>
            <a:spLocks xmlns:a="http://schemas.openxmlformats.org/drawingml/2006/main" noGrp="1"/>
          </p:cNvSpPr>
          <p:nvPr/>
        </p:nvSpPr>
        <p:spPr>
          <a:xfrm xmlns:a="http://schemas.openxmlformats.org/drawingml/2006/main">
            <a:off x="63055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1</a:t>
            </a:r>
          </a:p>
        </p:txBody>
      </p:sp>
      <p:sp>
        <p:nvSpPr>
          <p:cNvPr id="20" name="">
            <a:extLst xmlns:a="http://schemas.openxmlformats.org/drawingml/2006/main">
              <a:ext uri="{FF2B5EF4-FFF2-40B4-BE49-F238E27FC236}">
                <a16:creationId xmlns:a16="http://schemas.microsoft.com/office/drawing/2014/main" id="{EEB8F364-62F5-436E-98D9-BEFACBC764BA}"/>
              </a:ext>
            </a:extLst>
          </p:cNvPr>
          <p:cNvSpPr>
            <a:spLocks xmlns:a="http://schemas.openxmlformats.org/drawingml/2006/main" noGrp="1"/>
          </p:cNvSpPr>
          <p:nvPr/>
        </p:nvSpPr>
        <p:spPr>
          <a:xfrm xmlns:a="http://schemas.openxmlformats.org/drawingml/2006/main">
            <a:off x="9029700" y="5610225"/>
            <a:ext cx="2667000" cy="676275"/>
          </a:xfrm>
          <a:prstGeom xmlns:a="http://schemas.openxmlformats.org/drawingml/2006/main" prst="roundRect">
            <a:avLst>
              <a:gd name="adj" fmla="val 16901"/>
            </a:avLst>
          </a:prstGeom>
          <a:solidFill xmlns:a="http://schemas.openxmlformats.org/drawingml/2006/main">
            <a:srgbClr val="FFF4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3F9A0E8-7378-48CA-B236-88D2268D0535}"/>
              </a:ext>
            </a:extLst>
          </p:cNvPr>
          <p:cNvSpPr>
            <a:spLocks xmlns:a="http://schemas.openxmlformats.org/drawingml/2006/main" noGrp="1"/>
          </p:cNvSpPr>
          <p:nvPr/>
        </p:nvSpPr>
        <p:spPr>
          <a:xfrm xmlns:a="http://schemas.openxmlformats.org/drawingml/2006/main">
            <a:off x="91630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CC7D16"/>
                </a:solidFill>
                <a:latin typeface="DejaVu Sans"/>
                <a:ea typeface="DejaVu Sans"/>
                <a:cs typeface="DejaVu Sans"/>
              </a:defRPr>
            </a:pPr>
            <a:r>
              <a:rPr sz="1275" b="1">
                <a:solidFill>
                  <a:srgbClr val="CC7D16"/>
                </a:solidFill>
                <a:latin typeface="DejaVu Sans"/>
                <a:ea typeface="DejaVu Sans"/>
                <a:cs typeface="DejaVu Sans"/>
              </a:rPr>
              <a:t>◉  BBU</a:t>
            </a:r>
          </a:p>
        </p:txBody>
      </p:sp>
      <p:sp>
        <p:nvSpPr>
          <p:cNvPr id="22" name="">
            <a:extLst xmlns:a="http://schemas.openxmlformats.org/drawingml/2006/main">
              <a:ext uri="{FF2B5EF4-FFF2-40B4-BE49-F238E27FC236}">
                <a16:creationId xmlns:a16="http://schemas.microsoft.com/office/drawing/2014/main" id="{997AFC45-92C0-4388-94C3-C7DE7FDB2D4D}"/>
              </a:ext>
            </a:extLst>
          </p:cNvPr>
          <p:cNvSpPr>
            <a:spLocks xmlns:a="http://schemas.openxmlformats.org/drawingml/2006/main" noGrp="1"/>
          </p:cNvSpPr>
          <p:nvPr/>
        </p:nvSpPr>
        <p:spPr>
          <a:xfrm xmlns:a="http://schemas.openxmlformats.org/drawingml/2006/main">
            <a:off x="91630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C7D16"/>
                </a:solidFill>
                <a:latin typeface="DejaVu Sans"/>
                <a:ea typeface="DejaVu Sans"/>
                <a:cs typeface="DejaVu Sans"/>
              </a:defRPr>
            </a:pPr>
            <a:r>
              <a:rPr sz="1800" b="1">
                <a:solidFill>
                  <a:srgbClr val="CC7D16"/>
                </a:solidFill>
                <a:latin typeface="DejaVu Sans"/>
                <a:ea typeface="DejaVu Sans"/>
                <a:cs typeface="DejaVu Sans"/>
              </a:rPr>
              <a:t>214</a:t>
            </a:r>
          </a:p>
        </p:txBody>
      </p:sp>
    </p:spTree>
    <p:extLst>
      <p:ext uri="{BB962C8B-B14F-4D97-AF65-F5344CB8AC3E}">
        <p14:creationId xmlns:p14="http://schemas.microsoft.com/office/powerpoint/2010/main" val="4634226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38BB6CF-DEB5-4992-B64E-67C9F48DFAC8}"/>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C10905F5-6113-4373-937E-CD01C9E871EF}"/>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live delivery spans controls and customer workflows</a:t>
            </a:r>
          </a:p>
        </p:txBody>
      </p:sp>
      <p:sp>
        <p:nvSpPr>
          <p:cNvPr id="3" name="">
            <a:extLst xmlns:a="http://schemas.openxmlformats.org/drawingml/2006/main">
              <a:ext uri="{FF2B5EF4-FFF2-40B4-BE49-F238E27FC236}">
                <a16:creationId xmlns:a16="http://schemas.microsoft.com/office/drawing/2014/main" id="{6075A5F3-D24B-4107-9D83-EE13C7F9561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15 live entries: 7 CRM-owned and 8 supporting, as labelled in the demand list.</a:t>
            </a:r>
          </a:p>
        </p:txBody>
      </p:sp>
      <p:sp>
        <p:nvSpPr>
          <p:cNvPr id="4" name="">
            <a:extLst xmlns:a="http://schemas.openxmlformats.org/drawingml/2006/main">
              <a:ext uri="{FF2B5EF4-FFF2-40B4-BE49-F238E27FC236}">
                <a16:creationId xmlns:a16="http://schemas.microsoft.com/office/drawing/2014/main" id="{C996A45E-2161-4F6A-B958-D992FB5C1A23}"/>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B477699F-788A-458B-8017-A49ECC87441B}"/>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BEA26E82-1D0D-4F86-804D-F7D9ED954588}"/>
              </a:ext>
            </a:extLst>
          </p:cNvPr>
          <p:cNvSpPr>
            <a:spLocks xmlns:a="http://schemas.openxmlformats.org/drawingml/2006/main" noGrp="1"/>
          </p:cNvSpPr>
          <p:nvPr/>
        </p:nvSpPr>
        <p:spPr>
          <a:xfrm xmlns:a="http://schemas.openxmlformats.org/drawingml/2006/main">
            <a:off x="457200" y="2133600"/>
            <a:ext cx="5543550" cy="4114800"/>
          </a:xfrm>
          <a:prstGeom xmlns:a="http://schemas.openxmlformats.org/drawingml/2006/main" prst="roundRect">
            <a:avLst>
              <a:gd name="adj" fmla="val 2778"/>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2E60957-1177-40D4-934C-C6578483CB0A}"/>
              </a:ext>
            </a:extLst>
          </p:cNvPr>
          <p:cNvSpPr>
            <a:spLocks xmlns:a="http://schemas.openxmlformats.org/drawingml/2006/main" noGrp="1"/>
          </p:cNvSpPr>
          <p:nvPr/>
        </p:nvSpPr>
        <p:spPr>
          <a:xfrm xmlns:a="http://schemas.openxmlformats.org/drawingml/2006/main">
            <a:off x="62865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CRM-owned delivery (7)</a:t>
            </a:r>
          </a:p>
        </p:txBody>
      </p:sp>
      <p:sp>
        <p:nvSpPr>
          <p:cNvPr id="8" name="">
            <a:extLst xmlns:a="http://schemas.openxmlformats.org/drawingml/2006/main">
              <a:ext uri="{FF2B5EF4-FFF2-40B4-BE49-F238E27FC236}">
                <a16:creationId xmlns:a16="http://schemas.microsoft.com/office/drawing/2014/main" id="{142607A0-7329-44BA-B1C4-1FF9DACDD15A}"/>
              </a:ext>
            </a:extLst>
          </p:cNvPr>
          <p:cNvSpPr>
            <a:spLocks xmlns:a="http://schemas.openxmlformats.org/drawingml/2006/main" noGrp="1"/>
          </p:cNvSpPr>
          <p:nvPr/>
        </p:nvSpPr>
        <p:spPr>
          <a:xfrm xmlns:a="http://schemas.openxmlformats.org/drawingml/2006/main">
            <a:off x="62865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DMGT-1352: CPR bulk personal-data consent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DIBITP-163: CRM data archival setup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DMGT-304: Fax indemnity flag modification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DMGT-719: Auto-closure enhancement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DMGT-1262: Electronic-signature re-push</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from CRM / Tablet / Mobile Banking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DMGT-1222: Aggregator sales channel for CRAT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DMGT-1364: Email upon complaint closure</a:t>
            </a:r>
          </a:p>
        </p:txBody>
      </p:sp>
      <p:sp>
        <p:nvSpPr>
          <p:cNvPr id="9" name="">
            <a:extLst xmlns:a="http://schemas.openxmlformats.org/drawingml/2006/main">
              <a:ext uri="{FF2B5EF4-FFF2-40B4-BE49-F238E27FC236}">
                <a16:creationId xmlns:a16="http://schemas.microsoft.com/office/drawing/2014/main" id="{30C58A00-E651-462F-94AF-1143FD826CCA}"/>
              </a:ext>
            </a:extLst>
          </p:cNvPr>
          <p:cNvSpPr>
            <a:spLocks xmlns:a="http://schemas.openxmlformats.org/drawingml/2006/main" noGrp="1"/>
          </p:cNvSpPr>
          <p:nvPr/>
        </p:nvSpPr>
        <p:spPr>
          <a:xfrm xmlns:a="http://schemas.openxmlformats.org/drawingml/2006/main">
            <a:off x="6191250" y="2133600"/>
            <a:ext cx="5543550" cy="4114800"/>
          </a:xfrm>
          <a:prstGeom xmlns:a="http://schemas.openxmlformats.org/drawingml/2006/main" prst="roundRect">
            <a:avLst>
              <a:gd name="adj" fmla="val 2778"/>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18A3A9-23C7-4BBF-9A3F-06843E30726C}"/>
              </a:ext>
            </a:extLst>
          </p:cNvPr>
          <p:cNvSpPr>
            <a:spLocks xmlns:a="http://schemas.openxmlformats.org/drawingml/2006/main" noGrp="1"/>
          </p:cNvSpPr>
          <p:nvPr/>
        </p:nvSpPr>
        <p:spPr>
          <a:xfrm xmlns:a="http://schemas.openxmlformats.org/drawingml/2006/main">
            <a:off x="636270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Supporting delivery (8)</a:t>
            </a:r>
          </a:p>
        </p:txBody>
      </p:sp>
      <p:sp>
        <p:nvSpPr>
          <p:cNvPr id="11" name="">
            <a:extLst xmlns:a="http://schemas.openxmlformats.org/drawingml/2006/main">
              <a:ext uri="{FF2B5EF4-FFF2-40B4-BE49-F238E27FC236}">
                <a16:creationId xmlns:a16="http://schemas.microsoft.com/office/drawing/2014/main" id="{C64A768E-CCE3-4112-8A36-5A50739E6B93}"/>
              </a:ext>
            </a:extLst>
          </p:cNvPr>
          <p:cNvSpPr>
            <a:spLocks xmlns:a="http://schemas.openxmlformats.org/drawingml/2006/main" noGrp="1"/>
          </p:cNvSpPr>
          <p:nvPr/>
        </p:nvSpPr>
        <p:spPr>
          <a:xfrm xmlns:a="http://schemas.openxmlformats.org/drawingml/2006/main">
            <a:off x="636270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DMGT-125: Digital Salam Contract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DMGT-1567: SA-10 additional currencies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DMGT-951: FinnOne PDC automation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DIBITP-2747: Kafka Event Hub upgrade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DMGT-22: Millionaire ESG Saving Account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DMGT-1334: KYC Phase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DMGT-929: FATCA / CRS controls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DMGT-1506: 3DS CB Mandate for KONY</a:t>
            </a:r>
          </a:p>
        </p:txBody>
      </p:sp>
    </p:spTree>
    <p:extLst>
      <p:ext uri="{BB962C8B-B14F-4D97-AF65-F5344CB8AC3E}">
        <p14:creationId xmlns:p14="http://schemas.microsoft.com/office/powerpoint/2010/main" val="16355694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CADEE8-8E6B-4AE6-A7B6-28AD000743F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14917ACD-06F7-4B06-AA4F-F9EF66FBF9CF}"/>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execution covers compliance, security and integrations</a:t>
            </a:r>
          </a:p>
        </p:txBody>
      </p:sp>
      <p:sp>
        <p:nvSpPr>
          <p:cNvPr id="3" name="">
            <a:extLst xmlns:a="http://schemas.openxmlformats.org/drawingml/2006/main">
              <a:ext uri="{FF2B5EF4-FFF2-40B4-BE49-F238E27FC236}">
                <a16:creationId xmlns:a16="http://schemas.microsoft.com/office/drawing/2014/main" id="{875B2A32-691C-404F-BDCD-1764F0DB1DD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16 in-progress entries: 9 CRM-owned and 7 supporting.</a:t>
            </a:r>
          </a:p>
        </p:txBody>
      </p:sp>
      <p:sp>
        <p:nvSpPr>
          <p:cNvPr id="4" name="">
            <a:extLst xmlns:a="http://schemas.openxmlformats.org/drawingml/2006/main">
              <a:ext uri="{FF2B5EF4-FFF2-40B4-BE49-F238E27FC236}">
                <a16:creationId xmlns:a16="http://schemas.microsoft.com/office/drawing/2014/main" id="{CBCD923F-CD8E-4E77-8726-ACE26AAE392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0D6AA040-74BE-493F-ABF4-0A516E9C0744}"/>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14</a:t>
            </a:r>
          </a:p>
        </p:txBody>
      </p:sp>
      <p:sp>
        <p:nvSpPr>
          <p:cNvPr id="6" name="">
            <a:extLst xmlns:a="http://schemas.openxmlformats.org/drawingml/2006/main">
              <a:ext uri="{FF2B5EF4-FFF2-40B4-BE49-F238E27FC236}">
                <a16:creationId xmlns:a16="http://schemas.microsoft.com/office/drawing/2014/main" id="{6692CCDA-6796-4AF0-B59C-90B229709A81}"/>
              </a:ext>
            </a:extLst>
          </p:cNvPr>
          <p:cNvSpPr>
            <a:spLocks xmlns:a="http://schemas.openxmlformats.org/drawingml/2006/main" noGrp="1"/>
          </p:cNvSpPr>
          <p:nvPr/>
        </p:nvSpPr>
        <p:spPr>
          <a:xfrm xmlns:a="http://schemas.openxmlformats.org/drawingml/2006/main">
            <a:off x="457200" y="2133600"/>
            <a:ext cx="5543550" cy="4114800"/>
          </a:xfrm>
          <a:prstGeom xmlns:a="http://schemas.openxmlformats.org/drawingml/2006/main" prst="roundRect">
            <a:avLst>
              <a:gd name="adj" fmla="val 2778"/>
            </a:avLst>
          </a:prstGeom>
          <a:solidFill xmlns:a="http://schemas.openxmlformats.org/drawingml/2006/main">
            <a:srgbClr val="F0EAF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7A15A7-C57F-4A58-860F-AD29924A91A3}"/>
              </a:ext>
            </a:extLst>
          </p:cNvPr>
          <p:cNvSpPr>
            <a:spLocks xmlns:a="http://schemas.openxmlformats.org/drawingml/2006/main" noGrp="1"/>
          </p:cNvSpPr>
          <p:nvPr/>
        </p:nvSpPr>
        <p:spPr>
          <a:xfrm xmlns:a="http://schemas.openxmlformats.org/drawingml/2006/main">
            <a:off x="62865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CRM-owned execution (9)</a:t>
            </a:r>
          </a:p>
        </p:txBody>
      </p:sp>
      <p:sp>
        <p:nvSpPr>
          <p:cNvPr id="8" name="">
            <a:extLst xmlns:a="http://schemas.openxmlformats.org/drawingml/2006/main">
              <a:ext uri="{FF2B5EF4-FFF2-40B4-BE49-F238E27FC236}">
                <a16:creationId xmlns:a16="http://schemas.microsoft.com/office/drawing/2014/main" id="{692BCF1B-CF93-4BCA-B2B2-DAF71DB9DD0D}"/>
              </a:ext>
            </a:extLst>
          </p:cNvPr>
          <p:cNvSpPr>
            <a:spLocks xmlns:a="http://schemas.openxmlformats.org/drawingml/2006/main" noGrp="1"/>
          </p:cNvSpPr>
          <p:nvPr/>
        </p:nvSpPr>
        <p:spPr>
          <a:xfrm xmlns:a="http://schemas.openxmlformats.org/drawingml/2006/main">
            <a:off x="62865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DMGT-1244: Investment Banking onboarding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DMGT-28: CDD / EDD automation for asset IR cases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DMGT-714: Customer 360 statements / blacklist flag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DMGT-1453: Email-to-case conversion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DMGT-1345: HNWI / client class / investment risk</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DMGT-976: FinnOne integration with Tesla</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DMGT-1980: Staging controls / RTB readiness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DMGT-1406: CPR implementation gap fixes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DMGT-1598: CRM security fix</a:t>
            </a:r>
          </a:p>
        </p:txBody>
      </p:sp>
      <p:sp>
        <p:nvSpPr>
          <p:cNvPr id="9" name="">
            <a:extLst xmlns:a="http://schemas.openxmlformats.org/drawingml/2006/main">
              <a:ext uri="{FF2B5EF4-FFF2-40B4-BE49-F238E27FC236}">
                <a16:creationId xmlns:a16="http://schemas.microsoft.com/office/drawing/2014/main" id="{EE729103-53DB-4E6D-A80A-6B6CA2BD9756}"/>
              </a:ext>
            </a:extLst>
          </p:cNvPr>
          <p:cNvSpPr>
            <a:spLocks xmlns:a="http://schemas.openxmlformats.org/drawingml/2006/main" noGrp="1"/>
          </p:cNvSpPr>
          <p:nvPr/>
        </p:nvSpPr>
        <p:spPr>
          <a:xfrm xmlns:a="http://schemas.openxmlformats.org/drawingml/2006/main">
            <a:off x="6191250" y="2133600"/>
            <a:ext cx="5543550" cy="4114800"/>
          </a:xfrm>
          <a:prstGeom xmlns:a="http://schemas.openxmlformats.org/drawingml/2006/main" prst="roundRect">
            <a:avLst>
              <a:gd name="adj" fmla="val 2778"/>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42EED9-FBD0-40FD-A4F7-6620F7406FC1}"/>
              </a:ext>
            </a:extLst>
          </p:cNvPr>
          <p:cNvSpPr>
            <a:spLocks xmlns:a="http://schemas.openxmlformats.org/drawingml/2006/main" noGrp="1"/>
          </p:cNvSpPr>
          <p:nvPr/>
        </p:nvSpPr>
        <p:spPr>
          <a:xfrm xmlns:a="http://schemas.openxmlformats.org/drawingml/2006/main">
            <a:off x="636270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Supporting execution (7)</a:t>
            </a:r>
          </a:p>
        </p:txBody>
      </p:sp>
      <p:sp>
        <p:nvSpPr>
          <p:cNvPr id="11" name="">
            <a:extLst xmlns:a="http://schemas.openxmlformats.org/drawingml/2006/main">
              <a:ext uri="{FF2B5EF4-FFF2-40B4-BE49-F238E27FC236}">
                <a16:creationId xmlns:a16="http://schemas.microsoft.com/office/drawing/2014/main" id="{591B0BAE-3ED5-4C8A-9562-EE7258A3DACA}"/>
              </a:ext>
            </a:extLst>
          </p:cNvPr>
          <p:cNvSpPr>
            <a:spLocks xmlns:a="http://schemas.openxmlformats.org/drawingml/2006/main" noGrp="1"/>
          </p:cNvSpPr>
          <p:nvPr/>
        </p:nvSpPr>
        <p:spPr>
          <a:xfrm xmlns:a="http://schemas.openxmlformats.org/drawingml/2006/main">
            <a:off x="636270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AIG: A-Ignite support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DMGT-1020: Onboarding dedupe controls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DMGT-960: E-Invoice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DMGT-1680: New Emirati Covered Card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DMGT-1842: EFR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DMGT-1272: Five-field input validation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DMGT-1272: Engagement Platform Drop 2 (Unica)</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Two different entries share DMGT-1272.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Confirm identity before unique-demand reporting.</a:t>
            </a:r>
          </a:p>
        </p:txBody>
      </p:sp>
    </p:spTree>
    <p:extLst>
      <p:ext uri="{BB962C8B-B14F-4D97-AF65-F5344CB8AC3E}">
        <p14:creationId xmlns:p14="http://schemas.microsoft.com/office/powerpoint/2010/main" val="9669994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DE82489-982B-4B2A-91B2-177F38FC34A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8A48E5B-10FE-4901-A7FA-6512322D54A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cloud migration needs a defined execution approach</a:t>
            </a:r>
          </a:p>
        </p:txBody>
      </p:sp>
      <p:sp>
        <p:nvSpPr>
          <p:cNvPr id="3" name="">
            <a:extLst xmlns:a="http://schemas.openxmlformats.org/drawingml/2006/main">
              <a:ext uri="{FF2B5EF4-FFF2-40B4-BE49-F238E27FC236}">
                <a16:creationId xmlns:a16="http://schemas.microsoft.com/office/drawing/2014/main" id="{4B56BBF1-2B24-483F-B8D6-7FA987E5709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Latest overview targets Q3 2027. The demand list records cloud migration as under discussion.</a:t>
            </a:r>
          </a:p>
        </p:txBody>
      </p:sp>
      <p:sp>
        <p:nvSpPr>
          <p:cNvPr id="4" name="">
            <a:extLst xmlns:a="http://schemas.openxmlformats.org/drawingml/2006/main">
              <a:ext uri="{FF2B5EF4-FFF2-40B4-BE49-F238E27FC236}">
                <a16:creationId xmlns:a16="http://schemas.microsoft.com/office/drawing/2014/main" id="{D1DD629F-D2EE-4927-956C-D999D151E1EB}"/>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0C33256A-8149-4562-BA57-6B7467237814}"/>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15</a:t>
            </a:r>
          </a:p>
        </p:txBody>
      </p:sp>
      <p:sp>
        <p:nvSpPr>
          <p:cNvPr id="6" name="">
            <a:extLst xmlns:a="http://schemas.openxmlformats.org/drawingml/2006/main">
              <a:ext uri="{FF2B5EF4-FFF2-40B4-BE49-F238E27FC236}">
                <a16:creationId xmlns:a16="http://schemas.microsoft.com/office/drawing/2014/main" id="{75EDAC4F-ACF6-4D7C-996A-80A57A22FEBB}"/>
              </a:ext>
            </a:extLst>
          </p:cNvPr>
          <p:cNvSpPr>
            <a:spLocks xmlns:a="http://schemas.openxmlformats.org/drawingml/2006/main" noGrp="1"/>
          </p:cNvSpPr>
          <p:nvPr/>
        </p:nvSpPr>
        <p:spPr>
          <a:xfrm xmlns:a="http://schemas.openxmlformats.org/drawingml/2006/main">
            <a:off x="457200" y="2133600"/>
            <a:ext cx="3657600" cy="1828800"/>
          </a:xfrm>
          <a:prstGeom xmlns:a="http://schemas.openxmlformats.org/drawingml/2006/main" prst="roundRect">
            <a:avLst>
              <a:gd name="adj" fmla="val 6250"/>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17B6295-DAE9-47E4-8348-D981357BC2AD}"/>
              </a:ext>
            </a:extLst>
          </p:cNvPr>
          <p:cNvSpPr>
            <a:spLocks xmlns:a="http://schemas.openxmlformats.org/drawingml/2006/main" noGrp="1"/>
          </p:cNvSpPr>
          <p:nvPr/>
        </p:nvSpPr>
        <p:spPr>
          <a:xfrm xmlns:a="http://schemas.openxmlformats.org/drawingml/2006/main">
            <a:off x="60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8"/>
                </a:solidFill>
                <a:latin typeface="DejaVu Sans"/>
                <a:ea typeface="DejaVu Sans"/>
                <a:cs typeface="DejaVu Sans"/>
              </a:defRPr>
            </a:pPr>
            <a:r>
              <a:rPr sz="2025" b="1">
                <a:solidFill>
                  <a:srgbClr val="087F68"/>
                </a:solidFill>
                <a:latin typeface="DejaVu Sans"/>
                <a:ea typeface="DejaVu Sans"/>
                <a:cs typeface="DejaVu Sans"/>
              </a:rPr>
              <a:t>◉  Now</a:t>
            </a:r>
          </a:p>
        </p:txBody>
      </p:sp>
      <p:sp>
        <p:nvSpPr>
          <p:cNvPr id="8" name="">
            <a:extLst xmlns:a="http://schemas.openxmlformats.org/drawingml/2006/main">
              <a:ext uri="{FF2B5EF4-FFF2-40B4-BE49-F238E27FC236}">
                <a16:creationId xmlns:a16="http://schemas.microsoft.com/office/drawing/2014/main" id="{C38E9B3E-D27A-4B71-B85E-EBCF9FF47552}"/>
              </a:ext>
            </a:extLst>
          </p:cNvPr>
          <p:cNvSpPr>
            <a:spLocks xmlns:a="http://schemas.openxmlformats.org/drawingml/2006/main" noGrp="1"/>
          </p:cNvSpPr>
          <p:nvPr/>
        </p:nvSpPr>
        <p:spPr>
          <a:xfrm xmlns:a="http://schemas.openxmlformats.org/drawingml/2006/main">
            <a:off x="60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Planning / discussion</a:t>
            </a:r>
          </a:p>
        </p:txBody>
      </p:sp>
      <p:sp>
        <p:nvSpPr>
          <p:cNvPr id="9" name="">
            <a:extLst xmlns:a="http://schemas.openxmlformats.org/drawingml/2006/main">
              <a:ext uri="{FF2B5EF4-FFF2-40B4-BE49-F238E27FC236}">
                <a16:creationId xmlns:a16="http://schemas.microsoft.com/office/drawing/2014/main" id="{4B240D71-D148-4082-A90D-7F1326006EE0}"/>
              </a:ext>
            </a:extLst>
          </p:cNvPr>
          <p:cNvSpPr>
            <a:spLocks xmlns:a="http://schemas.openxmlformats.org/drawingml/2006/main" noGrp="1"/>
          </p:cNvSpPr>
          <p:nvPr/>
        </p:nvSpPr>
        <p:spPr>
          <a:xfrm xmlns:a="http://schemas.openxmlformats.org/drawingml/2006/main">
            <a:off x="60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Agree scope, dependencies</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and migration approach</a:t>
            </a:r>
          </a:p>
        </p:txBody>
      </p:sp>
      <p:sp>
        <p:nvSpPr>
          <p:cNvPr id="10" name="">
            <a:extLst xmlns:a="http://schemas.openxmlformats.org/drawingml/2006/main">
              <a:ext uri="{FF2B5EF4-FFF2-40B4-BE49-F238E27FC236}">
                <a16:creationId xmlns:a16="http://schemas.microsoft.com/office/drawing/2014/main" id="{5FEB32C2-6A67-4441-921E-FC46E4936218}"/>
              </a:ext>
            </a:extLst>
          </p:cNvPr>
          <p:cNvSpPr>
            <a:spLocks xmlns:a="http://schemas.openxmlformats.org/drawingml/2006/main" noGrp="1"/>
          </p:cNvSpPr>
          <p:nvPr/>
        </p:nvSpPr>
        <p:spPr>
          <a:xfrm xmlns:a="http://schemas.openxmlformats.org/drawingml/2006/main">
            <a:off x="4133850" y="2790825"/>
            <a:ext cx="11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47B89"/>
                </a:solidFill>
                <a:latin typeface="DejaVu Sans"/>
                <a:ea typeface="DejaVu Sans"/>
                <a:cs typeface="DejaVu Sans"/>
              </a:defRPr>
            </a:pPr>
            <a:r>
              <a:rPr sz="2100" b="1">
                <a:solidFill>
                  <a:srgbClr val="647B89"/>
                </a:solidFill>
                <a:latin typeface="DejaVu Sans"/>
                <a:ea typeface="DejaVu Sans"/>
                <a:cs typeface="DejaVu Sans"/>
              </a:rPr>
              <a:t>›</a:t>
            </a:r>
          </a:p>
        </p:txBody>
      </p:sp>
      <p:sp>
        <p:nvSpPr>
          <p:cNvPr id="11" name="">
            <a:extLst xmlns:a="http://schemas.openxmlformats.org/drawingml/2006/main">
              <a:ext uri="{FF2B5EF4-FFF2-40B4-BE49-F238E27FC236}">
                <a16:creationId xmlns:a16="http://schemas.microsoft.com/office/drawing/2014/main" id="{9FEB12C7-D96E-4ADF-9DD2-F109B57A6423}"/>
              </a:ext>
            </a:extLst>
          </p:cNvPr>
          <p:cNvSpPr>
            <a:spLocks xmlns:a="http://schemas.openxmlformats.org/drawingml/2006/main" noGrp="1"/>
          </p:cNvSpPr>
          <p:nvPr/>
        </p:nvSpPr>
        <p:spPr>
          <a:xfrm xmlns:a="http://schemas.openxmlformats.org/drawingml/2006/main">
            <a:off x="4267200" y="2133600"/>
            <a:ext cx="3657600" cy="1828800"/>
          </a:xfrm>
          <a:prstGeom xmlns:a="http://schemas.openxmlformats.org/drawingml/2006/main" prst="roundRect">
            <a:avLst>
              <a:gd name="adj" fmla="val 6250"/>
            </a:avLst>
          </a:prstGeom>
          <a:solidFill xmlns:a="http://schemas.openxmlformats.org/drawingml/2006/main">
            <a:srgbClr val="E8F3F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49AE5D-4F35-4CFD-9F6E-D41EE239C115}"/>
              </a:ext>
            </a:extLst>
          </p:cNvPr>
          <p:cNvSpPr>
            <a:spLocks xmlns:a="http://schemas.openxmlformats.org/drawingml/2006/main" noGrp="1"/>
          </p:cNvSpPr>
          <p:nvPr/>
        </p:nvSpPr>
        <p:spPr>
          <a:xfrm xmlns:a="http://schemas.openxmlformats.org/drawingml/2006/main">
            <a:off x="441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8C2"/>
                </a:solidFill>
                <a:latin typeface="DejaVu Sans"/>
                <a:ea typeface="DejaVu Sans"/>
                <a:cs typeface="DejaVu Sans"/>
              </a:defRPr>
            </a:pPr>
            <a:r>
              <a:rPr sz="2025" b="1">
                <a:solidFill>
                  <a:srgbClr val="1688C2"/>
                </a:solidFill>
                <a:latin typeface="DejaVu Sans"/>
                <a:ea typeface="DejaVu Sans"/>
                <a:cs typeface="DejaVu Sans"/>
              </a:rPr>
              <a:t>⚙  Preparation</a:t>
            </a:r>
          </a:p>
        </p:txBody>
      </p:sp>
      <p:sp>
        <p:nvSpPr>
          <p:cNvPr id="13" name="">
            <a:extLst xmlns:a="http://schemas.openxmlformats.org/drawingml/2006/main">
              <a:ext uri="{FF2B5EF4-FFF2-40B4-BE49-F238E27FC236}">
                <a16:creationId xmlns:a16="http://schemas.microsoft.com/office/drawing/2014/main" id="{260C585A-6B67-4392-ACDC-9F8A9BA76549}"/>
              </a:ext>
            </a:extLst>
          </p:cNvPr>
          <p:cNvSpPr>
            <a:spLocks xmlns:a="http://schemas.openxmlformats.org/drawingml/2006/main" noGrp="1"/>
          </p:cNvSpPr>
          <p:nvPr/>
        </p:nvSpPr>
        <p:spPr>
          <a:xfrm xmlns:a="http://schemas.openxmlformats.org/drawingml/2006/main">
            <a:off x="441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Readiness work</a:t>
            </a:r>
          </a:p>
        </p:txBody>
      </p:sp>
      <p:sp>
        <p:nvSpPr>
          <p:cNvPr id="14" name="">
            <a:extLst xmlns:a="http://schemas.openxmlformats.org/drawingml/2006/main">
              <a:ext uri="{FF2B5EF4-FFF2-40B4-BE49-F238E27FC236}">
                <a16:creationId xmlns:a16="http://schemas.microsoft.com/office/drawing/2014/main" id="{E137F208-9BE6-4430-B210-6C156912C4EA}"/>
              </a:ext>
            </a:extLst>
          </p:cNvPr>
          <p:cNvSpPr>
            <a:spLocks xmlns:a="http://schemas.openxmlformats.org/drawingml/2006/main" noGrp="1"/>
          </p:cNvSpPr>
          <p:nvPr/>
        </p:nvSpPr>
        <p:spPr>
          <a:xfrm xmlns:a="http://schemas.openxmlformats.org/drawingml/2006/main">
            <a:off x="441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Define recovery, testing</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and cutover acceptance</a:t>
            </a:r>
          </a:p>
        </p:txBody>
      </p:sp>
      <p:sp>
        <p:nvSpPr>
          <p:cNvPr id="15" name="">
            <a:extLst xmlns:a="http://schemas.openxmlformats.org/drawingml/2006/main">
              <a:ext uri="{FF2B5EF4-FFF2-40B4-BE49-F238E27FC236}">
                <a16:creationId xmlns:a16="http://schemas.microsoft.com/office/drawing/2014/main" id="{7FCA9550-9021-4F8C-834D-1B8693CA6A34}"/>
              </a:ext>
            </a:extLst>
          </p:cNvPr>
          <p:cNvSpPr>
            <a:spLocks xmlns:a="http://schemas.openxmlformats.org/drawingml/2006/main" noGrp="1"/>
          </p:cNvSpPr>
          <p:nvPr/>
        </p:nvSpPr>
        <p:spPr>
          <a:xfrm xmlns:a="http://schemas.openxmlformats.org/drawingml/2006/main">
            <a:off x="7943850" y="2790825"/>
            <a:ext cx="11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47B89"/>
                </a:solidFill>
                <a:latin typeface="DejaVu Sans"/>
                <a:ea typeface="DejaVu Sans"/>
                <a:cs typeface="DejaVu Sans"/>
              </a:defRPr>
            </a:pPr>
            <a:r>
              <a:rPr sz="2100" b="1">
                <a:solidFill>
                  <a:srgbClr val="647B89"/>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27EF590D-B755-40AC-A976-DB7A016B9132}"/>
              </a:ext>
            </a:extLst>
          </p:cNvPr>
          <p:cNvSpPr>
            <a:spLocks xmlns:a="http://schemas.openxmlformats.org/drawingml/2006/main" noGrp="1"/>
          </p:cNvSpPr>
          <p:nvPr/>
        </p:nvSpPr>
        <p:spPr>
          <a:xfrm xmlns:a="http://schemas.openxmlformats.org/drawingml/2006/main">
            <a:off x="8077200" y="2133600"/>
            <a:ext cx="3657600" cy="1828800"/>
          </a:xfrm>
          <a:prstGeom xmlns:a="http://schemas.openxmlformats.org/drawingml/2006/main" prst="roundRect">
            <a:avLst>
              <a:gd name="adj" fmla="val 6250"/>
            </a:avLst>
          </a:prstGeom>
          <a:solidFill xmlns:a="http://schemas.openxmlformats.org/drawingml/2006/main">
            <a:srgbClr val="F0EA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3A42048-FC58-40F4-ACB8-32C4B1B447B8}"/>
              </a:ext>
            </a:extLst>
          </p:cNvPr>
          <p:cNvSpPr>
            <a:spLocks xmlns:a="http://schemas.openxmlformats.org/drawingml/2006/main" noGrp="1"/>
          </p:cNvSpPr>
          <p:nvPr/>
        </p:nvSpPr>
        <p:spPr>
          <a:xfrm xmlns:a="http://schemas.openxmlformats.org/drawingml/2006/main">
            <a:off x="822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75BC5"/>
                </a:solidFill>
                <a:latin typeface="DejaVu Sans"/>
                <a:ea typeface="DejaVu Sans"/>
                <a:cs typeface="DejaVu Sans"/>
              </a:defRPr>
            </a:pPr>
            <a:r>
              <a:rPr sz="2025" b="1">
                <a:solidFill>
                  <a:srgbClr val="875BC5"/>
                </a:solidFill>
                <a:latin typeface="DejaVu Sans"/>
                <a:ea typeface="DejaVu Sans"/>
                <a:cs typeface="DejaVu Sans"/>
              </a:rPr>
              <a:t>☁  Q3 2027</a:t>
            </a:r>
          </a:p>
        </p:txBody>
      </p:sp>
      <p:sp>
        <p:nvSpPr>
          <p:cNvPr id="18" name="">
            <a:extLst xmlns:a="http://schemas.openxmlformats.org/drawingml/2006/main">
              <a:ext uri="{FF2B5EF4-FFF2-40B4-BE49-F238E27FC236}">
                <a16:creationId xmlns:a16="http://schemas.microsoft.com/office/drawing/2014/main" id="{38AA6A78-3774-430C-9D88-8AA18D41007B}"/>
              </a:ext>
            </a:extLst>
          </p:cNvPr>
          <p:cNvSpPr>
            <a:spLocks xmlns:a="http://schemas.openxmlformats.org/drawingml/2006/main" noGrp="1"/>
          </p:cNvSpPr>
          <p:nvPr/>
        </p:nvSpPr>
        <p:spPr>
          <a:xfrm xmlns:a="http://schemas.openxmlformats.org/drawingml/2006/main">
            <a:off x="822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Source target</a:t>
            </a:r>
          </a:p>
        </p:txBody>
      </p:sp>
      <p:sp>
        <p:nvSpPr>
          <p:cNvPr id="19" name="">
            <a:extLst xmlns:a="http://schemas.openxmlformats.org/drawingml/2006/main">
              <a:ext uri="{FF2B5EF4-FFF2-40B4-BE49-F238E27FC236}">
                <a16:creationId xmlns:a16="http://schemas.microsoft.com/office/drawing/2014/main" id="{534868B9-4999-4BC1-88C4-7A8B35C65AC7}"/>
              </a:ext>
            </a:extLst>
          </p:cNvPr>
          <p:cNvSpPr>
            <a:spLocks xmlns:a="http://schemas.openxmlformats.org/drawingml/2006/main" noGrp="1"/>
          </p:cNvSpPr>
          <p:nvPr/>
        </p:nvSpPr>
        <p:spPr>
          <a:xfrm xmlns:a="http://schemas.openxmlformats.org/drawingml/2006/main">
            <a:off x="822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Prepare for execution</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Confirm baseline and dates</a:t>
            </a:r>
          </a:p>
        </p:txBody>
      </p:sp>
      <p:sp>
        <p:nvSpPr>
          <p:cNvPr id="20" name="">
            <a:extLst xmlns:a="http://schemas.openxmlformats.org/drawingml/2006/main">
              <a:ext uri="{FF2B5EF4-FFF2-40B4-BE49-F238E27FC236}">
                <a16:creationId xmlns:a16="http://schemas.microsoft.com/office/drawing/2014/main" id="{E418853E-199E-489B-A737-F0FD473902C4}"/>
              </a:ext>
            </a:extLst>
          </p:cNvPr>
          <p:cNvSpPr>
            <a:spLocks xmlns:a="http://schemas.openxmlformats.org/drawingml/2006/main" noGrp="1"/>
          </p:cNvSpPr>
          <p:nvPr/>
        </p:nvSpPr>
        <p:spPr>
          <a:xfrm xmlns:a="http://schemas.openxmlformats.org/drawingml/2006/main">
            <a:off x="457200" y="423862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Four entries under discussion</a:t>
            </a:r>
          </a:p>
        </p:txBody>
      </p:sp>
      <p:sp>
        <p:nvSpPr>
          <p:cNvPr id="21" name="">
            <a:extLst xmlns:a="http://schemas.openxmlformats.org/drawingml/2006/main">
              <a:ext uri="{FF2B5EF4-FFF2-40B4-BE49-F238E27FC236}">
                <a16:creationId xmlns:a16="http://schemas.microsoft.com/office/drawing/2014/main" id="{2704619F-71F5-4098-A27C-A0D38A6AD2C9}"/>
              </a:ext>
            </a:extLst>
          </p:cNvPr>
          <p:cNvSpPr>
            <a:spLocks xmlns:a="http://schemas.openxmlformats.org/drawingml/2006/main" noGrp="1"/>
          </p:cNvSpPr>
          <p:nvPr/>
        </p:nvSpPr>
        <p:spPr>
          <a:xfrm xmlns:a="http://schemas.openxmlformats.org/drawingml/2006/main">
            <a:off x="457200" y="4772025"/>
            <a:ext cx="2667000" cy="1381125"/>
          </a:xfrm>
          <a:prstGeom xmlns:a="http://schemas.openxmlformats.org/drawingml/2006/main" prst="roundRect">
            <a:avLst>
              <a:gd name="adj" fmla="val 8276"/>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BB6BB7E-BA66-4319-BFC6-F9FE92077665}"/>
              </a:ext>
            </a:extLst>
          </p:cNvPr>
          <p:cNvSpPr>
            <a:spLocks xmlns:a="http://schemas.openxmlformats.org/drawingml/2006/main" noGrp="1"/>
          </p:cNvSpPr>
          <p:nvPr/>
        </p:nvSpPr>
        <p:spPr>
          <a:xfrm xmlns:a="http://schemas.openxmlformats.org/drawingml/2006/main">
            <a:off x="5715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DMGT-710</a:t>
            </a:r>
          </a:p>
        </p:txBody>
      </p:sp>
      <p:sp>
        <p:nvSpPr>
          <p:cNvPr id="23" name="">
            <a:extLst xmlns:a="http://schemas.openxmlformats.org/drawingml/2006/main">
              <a:ext uri="{FF2B5EF4-FFF2-40B4-BE49-F238E27FC236}">
                <a16:creationId xmlns:a16="http://schemas.microsoft.com/office/drawing/2014/main" id="{2D2DE70F-3F8E-47A3-917F-8C6E442FAAAD}"/>
              </a:ext>
            </a:extLst>
          </p:cNvPr>
          <p:cNvSpPr>
            <a:spLocks xmlns:a="http://schemas.openxmlformats.org/drawingml/2006/main" noGrp="1"/>
          </p:cNvSpPr>
          <p:nvPr/>
        </p:nvSpPr>
        <p:spPr>
          <a:xfrm xmlns:a="http://schemas.openxmlformats.org/drawingml/2006/main">
            <a:off x="5715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CRM migration to cloud</a:t>
            </a:r>
          </a:p>
        </p:txBody>
      </p:sp>
      <p:sp>
        <p:nvSpPr>
          <p:cNvPr id="24" name="">
            <a:extLst xmlns:a="http://schemas.openxmlformats.org/drawingml/2006/main">
              <a:ext uri="{FF2B5EF4-FFF2-40B4-BE49-F238E27FC236}">
                <a16:creationId xmlns:a16="http://schemas.microsoft.com/office/drawing/2014/main" id="{AF9950B4-2ADD-4774-8B50-FEEE81BC0BC9}"/>
              </a:ext>
            </a:extLst>
          </p:cNvPr>
          <p:cNvSpPr>
            <a:spLocks xmlns:a="http://schemas.openxmlformats.org/drawingml/2006/main" noGrp="1"/>
          </p:cNvSpPr>
          <p:nvPr/>
        </p:nvSpPr>
        <p:spPr>
          <a:xfrm xmlns:a="http://schemas.openxmlformats.org/drawingml/2006/main">
            <a:off x="3314700" y="4772025"/>
            <a:ext cx="2667000" cy="1381125"/>
          </a:xfrm>
          <a:prstGeom xmlns:a="http://schemas.openxmlformats.org/drawingml/2006/main" prst="roundRect">
            <a:avLst>
              <a:gd name="adj" fmla="val 8276"/>
            </a:avLst>
          </a:prstGeom>
          <a:solidFill xmlns:a="http://schemas.openxmlformats.org/drawingml/2006/main">
            <a:srgbClr val="E8F3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70E23CF-97FD-4720-A417-CC5E93702B0C}"/>
              </a:ext>
            </a:extLst>
          </p:cNvPr>
          <p:cNvSpPr>
            <a:spLocks xmlns:a="http://schemas.openxmlformats.org/drawingml/2006/main" noGrp="1"/>
          </p:cNvSpPr>
          <p:nvPr/>
        </p:nvSpPr>
        <p:spPr>
          <a:xfrm xmlns:a="http://schemas.openxmlformats.org/drawingml/2006/main">
            <a:off x="34290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DMGT-1154</a:t>
            </a:r>
          </a:p>
        </p:txBody>
      </p:sp>
      <p:sp>
        <p:nvSpPr>
          <p:cNvPr id="26" name="">
            <a:extLst xmlns:a="http://schemas.openxmlformats.org/drawingml/2006/main">
              <a:ext uri="{FF2B5EF4-FFF2-40B4-BE49-F238E27FC236}">
                <a16:creationId xmlns:a16="http://schemas.microsoft.com/office/drawing/2014/main" id="{AD75BC7C-CC94-4D54-A54C-BC28F6C6C736}"/>
              </a:ext>
            </a:extLst>
          </p:cNvPr>
          <p:cNvSpPr>
            <a:spLocks xmlns:a="http://schemas.openxmlformats.org/drawingml/2006/main" noGrp="1"/>
          </p:cNvSpPr>
          <p:nvPr/>
        </p:nvSpPr>
        <p:spPr>
          <a:xfrm xmlns:a="http://schemas.openxmlformats.org/drawingml/2006/main">
            <a:off x="34290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Complaint management transformation</a:t>
            </a:r>
          </a:p>
        </p:txBody>
      </p:sp>
      <p:sp>
        <p:nvSpPr>
          <p:cNvPr id="27" name="">
            <a:extLst xmlns:a="http://schemas.openxmlformats.org/drawingml/2006/main">
              <a:ext uri="{FF2B5EF4-FFF2-40B4-BE49-F238E27FC236}">
                <a16:creationId xmlns:a16="http://schemas.microsoft.com/office/drawing/2014/main" id="{280D5C31-31F5-4E25-A6FD-41A9AC6582C4}"/>
              </a:ext>
            </a:extLst>
          </p:cNvPr>
          <p:cNvSpPr>
            <a:spLocks xmlns:a="http://schemas.openxmlformats.org/drawingml/2006/main" noGrp="1"/>
          </p:cNvSpPr>
          <p:nvPr/>
        </p:nvSpPr>
        <p:spPr>
          <a:xfrm xmlns:a="http://schemas.openxmlformats.org/drawingml/2006/main">
            <a:off x="6172200" y="4772025"/>
            <a:ext cx="2667000" cy="1381125"/>
          </a:xfrm>
          <a:prstGeom xmlns:a="http://schemas.openxmlformats.org/drawingml/2006/main" prst="roundRect">
            <a:avLst>
              <a:gd name="adj" fmla="val 8276"/>
            </a:avLst>
          </a:prstGeom>
          <a:solidFill xmlns:a="http://schemas.openxmlformats.org/drawingml/2006/main">
            <a:srgbClr val="F0EAF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4C3D925-BFCB-41AF-8307-315C427CAB75}"/>
              </a:ext>
            </a:extLst>
          </p:cNvPr>
          <p:cNvSpPr>
            <a:spLocks xmlns:a="http://schemas.openxmlformats.org/drawingml/2006/main" noGrp="1"/>
          </p:cNvSpPr>
          <p:nvPr/>
        </p:nvSpPr>
        <p:spPr>
          <a:xfrm xmlns:a="http://schemas.openxmlformats.org/drawingml/2006/main">
            <a:off x="62865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DMGT-2336</a:t>
            </a:r>
          </a:p>
        </p:txBody>
      </p:sp>
      <p:sp>
        <p:nvSpPr>
          <p:cNvPr id="29" name="">
            <a:extLst xmlns:a="http://schemas.openxmlformats.org/drawingml/2006/main">
              <a:ext uri="{FF2B5EF4-FFF2-40B4-BE49-F238E27FC236}">
                <a16:creationId xmlns:a16="http://schemas.microsoft.com/office/drawing/2014/main" id="{A1DA3D02-940C-4A8E-B74F-7D4FBDF21392}"/>
              </a:ext>
            </a:extLst>
          </p:cNvPr>
          <p:cNvSpPr>
            <a:spLocks xmlns:a="http://schemas.openxmlformats.org/drawingml/2006/main" noGrp="1"/>
          </p:cNvSpPr>
          <p:nvPr/>
        </p:nvSpPr>
        <p:spPr>
          <a:xfrm xmlns:a="http://schemas.openxmlformats.org/drawingml/2006/main">
            <a:off x="62865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Fraud / dispute workflows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Accounts and cards</a:t>
            </a:r>
          </a:p>
        </p:txBody>
      </p:sp>
      <p:sp>
        <p:nvSpPr>
          <p:cNvPr id="30" name="">
            <a:extLst xmlns:a="http://schemas.openxmlformats.org/drawingml/2006/main">
              <a:ext uri="{FF2B5EF4-FFF2-40B4-BE49-F238E27FC236}">
                <a16:creationId xmlns:a16="http://schemas.microsoft.com/office/drawing/2014/main" id="{A292553D-7855-4341-A6E0-B9D1206637C3}"/>
              </a:ext>
            </a:extLst>
          </p:cNvPr>
          <p:cNvSpPr>
            <a:spLocks xmlns:a="http://schemas.openxmlformats.org/drawingml/2006/main" noGrp="1"/>
          </p:cNvSpPr>
          <p:nvPr/>
        </p:nvSpPr>
        <p:spPr>
          <a:xfrm xmlns:a="http://schemas.openxmlformats.org/drawingml/2006/main">
            <a:off x="9029700" y="4772025"/>
            <a:ext cx="2667000" cy="1381125"/>
          </a:xfrm>
          <a:prstGeom xmlns:a="http://schemas.openxmlformats.org/drawingml/2006/main" prst="roundRect">
            <a:avLst>
              <a:gd name="adj" fmla="val 8276"/>
            </a:avLst>
          </a:prstGeom>
          <a:solidFill xmlns:a="http://schemas.openxmlformats.org/drawingml/2006/main">
            <a:srgbClr val="FFF4DE"/>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3DC0A7A-FB3C-48D8-B237-6DD38935C887}"/>
              </a:ext>
            </a:extLst>
          </p:cNvPr>
          <p:cNvSpPr>
            <a:spLocks xmlns:a="http://schemas.openxmlformats.org/drawingml/2006/main" noGrp="1"/>
          </p:cNvSpPr>
          <p:nvPr/>
        </p:nvSpPr>
        <p:spPr>
          <a:xfrm xmlns:a="http://schemas.openxmlformats.org/drawingml/2006/main">
            <a:off x="91440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DMGT-752</a:t>
            </a:r>
          </a:p>
        </p:txBody>
      </p:sp>
      <p:sp>
        <p:nvSpPr>
          <p:cNvPr id="32" name="">
            <a:extLst xmlns:a="http://schemas.openxmlformats.org/drawingml/2006/main">
              <a:ext uri="{FF2B5EF4-FFF2-40B4-BE49-F238E27FC236}">
                <a16:creationId xmlns:a16="http://schemas.microsoft.com/office/drawing/2014/main" id="{4E9C42DB-F38C-4EBF-8807-BD3D928A6EAE}"/>
              </a:ext>
            </a:extLst>
          </p:cNvPr>
          <p:cNvSpPr>
            <a:spLocks xmlns:a="http://schemas.openxmlformats.org/drawingml/2006/main" noGrp="1"/>
          </p:cNvSpPr>
          <p:nvPr/>
        </p:nvSpPr>
        <p:spPr>
          <a:xfrm xmlns:a="http://schemas.openxmlformats.org/drawingml/2006/main">
            <a:off x="91440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Remittance workflow automation</a:t>
            </a:r>
          </a:p>
        </p:txBody>
      </p:sp>
    </p:spTree>
    <p:extLst>
      <p:ext uri="{BB962C8B-B14F-4D97-AF65-F5344CB8AC3E}">
        <p14:creationId xmlns:p14="http://schemas.microsoft.com/office/powerpoint/2010/main" val="20564086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6833F4C-D897-47F1-B480-DDA247412F05}"/>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4AE4297-5281-4331-8DB9-93CD423F5545}"/>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 centre: September abandonment needs attention</a:t>
            </a:r>
          </a:p>
        </p:txBody>
      </p:sp>
      <p:sp>
        <p:nvSpPr>
          <p:cNvPr id="3" name="">
            <a:extLst xmlns:a="http://schemas.openxmlformats.org/drawingml/2006/main">
              <a:ext uri="{FF2B5EF4-FFF2-40B4-BE49-F238E27FC236}">
                <a16:creationId xmlns:a16="http://schemas.microsoft.com/office/drawing/2014/main" id="{43B29CFF-EC8D-4482-B513-26560A007A82}"/>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Interactive review. Click a coloured topic box to open its detail slide.</a:t>
            </a:r>
          </a:p>
        </p:txBody>
      </p:sp>
      <p:sp>
        <p:nvSpPr>
          <p:cNvPr id="4" name="">
            <a:extLst xmlns:a="http://schemas.openxmlformats.org/drawingml/2006/main">
              <a:ext uri="{FF2B5EF4-FFF2-40B4-BE49-F238E27FC236}">
                <a16:creationId xmlns:a16="http://schemas.microsoft.com/office/drawing/2014/main" id="{774B2190-3F0F-4B78-B6C0-D2AF91D563CF}"/>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6902FA8-191E-419A-AA01-F711132651B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16</a:t>
            </a:r>
          </a:p>
        </p:txBody>
      </p:sp>
      <p:sp>
        <p:nvSpPr>
          <p:cNvPr id="6" name="">
            <a:extLst xmlns:a="http://schemas.openxmlformats.org/drawingml/2006/main">
              <a:ext uri="{FF2B5EF4-FFF2-40B4-BE49-F238E27FC236}">
                <a16:creationId xmlns:a16="http://schemas.microsoft.com/office/drawing/2014/main" id="{D89E9C7A-FB98-4F8D-B98C-A0D617A7CC78}"/>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0B9FD5-7343-4C6E-AE91-766B3BBEA173}"/>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446,482</a:t>
            </a:r>
          </a:p>
        </p:txBody>
      </p:sp>
      <p:sp>
        <p:nvSpPr>
          <p:cNvPr id="8" name="">
            <a:extLst xmlns:a="http://schemas.openxmlformats.org/drawingml/2006/main">
              <a:ext uri="{FF2B5EF4-FFF2-40B4-BE49-F238E27FC236}">
                <a16:creationId xmlns:a16="http://schemas.microsoft.com/office/drawing/2014/main" id="{969D7350-402B-4DC3-A749-B430095BF54A}"/>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September IVR calls</a:t>
            </a:r>
          </a:p>
        </p:txBody>
      </p:sp>
      <p:sp>
        <p:nvSpPr>
          <p:cNvPr id="9" name="">
            <a:extLst xmlns:a="http://schemas.openxmlformats.org/drawingml/2006/main">
              <a:ext uri="{FF2B5EF4-FFF2-40B4-BE49-F238E27FC236}">
                <a16:creationId xmlns:a16="http://schemas.microsoft.com/office/drawing/2014/main" id="{55644AB8-2441-4800-8C49-E4517EF29733}"/>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4B99DD-A291-4D4B-ACFD-3D14AEFD60D8}"/>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68.45%</a:t>
            </a:r>
          </a:p>
        </p:txBody>
      </p:sp>
      <p:sp>
        <p:nvSpPr>
          <p:cNvPr id="11" name="">
            <a:extLst xmlns:a="http://schemas.openxmlformats.org/drawingml/2006/main">
              <a:ext uri="{FF2B5EF4-FFF2-40B4-BE49-F238E27FC236}">
                <a16:creationId xmlns:a16="http://schemas.microsoft.com/office/drawing/2014/main" id="{B8B11F33-1AC0-44D4-9B41-AA409CD3D069}"/>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IVR completion</a:t>
            </a:r>
          </a:p>
        </p:txBody>
      </p:sp>
      <p:sp>
        <p:nvSpPr>
          <p:cNvPr id="12" name="">
            <a:extLst xmlns:a="http://schemas.openxmlformats.org/drawingml/2006/main">
              <a:ext uri="{FF2B5EF4-FFF2-40B4-BE49-F238E27FC236}">
                <a16:creationId xmlns:a16="http://schemas.microsoft.com/office/drawing/2014/main" id="{5CAA1FC4-6DB7-49C9-AEC3-A18255088F85}"/>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0EF9162-08C2-4181-98B7-76FE66611128}"/>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11.77%</a:t>
            </a:r>
          </a:p>
        </p:txBody>
      </p:sp>
      <p:sp>
        <p:nvSpPr>
          <p:cNvPr id="14" name="">
            <a:extLst xmlns:a="http://schemas.openxmlformats.org/drawingml/2006/main">
              <a:ext uri="{FF2B5EF4-FFF2-40B4-BE49-F238E27FC236}">
                <a16:creationId xmlns:a16="http://schemas.microsoft.com/office/drawing/2014/main" id="{573457D7-6B07-4B0A-BF0E-CF6AECE72A78}"/>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call abandonment</a:t>
            </a:r>
          </a:p>
        </p:txBody>
      </p:sp>
      <p:sp>
        <p:nvSpPr>
          <p:cNvPr id="15" name="">
            <a:extLst xmlns:a="http://schemas.openxmlformats.org/drawingml/2006/main">
              <a:ext uri="{FF2B5EF4-FFF2-40B4-BE49-F238E27FC236}">
                <a16:creationId xmlns:a16="http://schemas.microsoft.com/office/drawing/2014/main" id="{72C058FC-851D-4C50-8C43-50BDDD08AB1D}"/>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A9001C9-3A7C-4B98-B703-F015E3BBC26A}"/>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78 / 81</a:t>
            </a:r>
          </a:p>
        </p:txBody>
      </p:sp>
      <p:sp>
        <p:nvSpPr>
          <p:cNvPr id="17" name="">
            <a:extLst xmlns:a="http://schemas.openxmlformats.org/drawingml/2006/main">
              <a:ext uri="{FF2B5EF4-FFF2-40B4-BE49-F238E27FC236}">
                <a16:creationId xmlns:a16="http://schemas.microsoft.com/office/drawing/2014/main" id="{0DB12CE2-5050-4686-BDF0-96B41DC78550}"/>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incidents closed</a:t>
            </a:r>
          </a:p>
        </p:txBody>
      </p:sp>
      <p:sp>
        <p:nvSpPr>
          <p:cNvPr id="18" name="">
            <a:extLst xmlns:a="http://schemas.openxmlformats.org/drawingml/2006/main">
              <a:ext uri="{FF2B5EF4-FFF2-40B4-BE49-F238E27FC236}">
                <a16:creationId xmlns:a16="http://schemas.microsoft.com/office/drawing/2014/main" id="{08425019-6005-497C-8098-5CA76CD29B8F}"/>
              </a:ext>
            </a:extLst>
            <ns0:hlinkClick xmlns:ns0="http://schemas.openxmlformats.org/drawingml/2006/main" xmlns:ns1="http://schemas.openxmlformats.org/officeDocument/2006/relationships" ns1:id="rIdCC17" action="ppaction://hlinksldjump"/>
          </p:cNvPr>
          <p:cNvSpPr>
            <a:spLocks xmlns:a="http://schemas.openxmlformats.org/drawingml/2006/main" noGrp="1"/>
          </p:cNvSpPr>
          <p:nvPr/>
        </p:nvSpPr>
        <p:spPr>
          <a:xfrm xmlns:a="http://schemas.openxmlformats.org/drawingml/2006/main">
            <a:off x="457200" y="3524250"/>
            <a:ext cx="3657600" cy="1104900"/>
          </a:xfrm>
          <a:prstGeom xmlns:a="http://schemas.openxmlformats.org/drawingml/2006/main" prst="roundRect">
            <a:avLst>
              <a:gd name="adj" fmla="val 10345"/>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074AB0D-F915-42E8-BA14-BE175D784032}"/>
              </a:ext>
            </a:extLst>
            <ns2:hlinkClick xmlns:ns2="http://schemas.openxmlformats.org/drawingml/2006/main" xmlns:ns3="http://schemas.openxmlformats.org/officeDocument/2006/relationships" ns3:id="rIdCC17" action="ppaction://hlinksldjump"/>
          </p:cNvPr>
          <p:cNvSpPr>
            <a:spLocks xmlns:a="http://schemas.openxmlformats.org/drawingml/2006/main" noGrp="1"/>
          </p:cNvSpPr>
          <p:nvPr/>
        </p:nvSpPr>
        <p:spPr>
          <a:xfrm xmlns:a="http://schemas.openxmlformats.org/drawingml/2006/main">
            <a:off x="61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Service trends</a:t>
            </a:r>
          </a:p>
        </p:txBody>
      </p:sp>
      <p:sp>
        <p:nvSpPr>
          <p:cNvPr id="20" name="">
            <a:extLst xmlns:a="http://schemas.openxmlformats.org/drawingml/2006/main">
              <a:ext uri="{FF2B5EF4-FFF2-40B4-BE49-F238E27FC236}">
                <a16:creationId xmlns:a16="http://schemas.microsoft.com/office/drawing/2014/main" id="{F9F0B533-79A2-443C-8695-D0E3530DDF72}"/>
              </a:ext>
            </a:extLst>
            <ns4:hlinkClick xmlns:ns4="http://schemas.openxmlformats.org/drawingml/2006/main" xmlns:ns5="http://schemas.openxmlformats.org/officeDocument/2006/relationships" ns5:id="rIdCC17" action="ppaction://hlinksldjump"/>
          </p:cNvPr>
          <p:cNvSpPr>
            <a:spLocks xmlns:a="http://schemas.openxmlformats.org/drawingml/2006/main" noGrp="1"/>
          </p:cNvSpPr>
          <p:nvPr/>
        </p:nvSpPr>
        <p:spPr>
          <a:xfrm xmlns:a="http://schemas.openxmlformats.org/drawingml/2006/main">
            <a:off x="61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Jan–Sep demand and service outcomes</a:t>
            </a:r>
          </a:p>
        </p:txBody>
      </p:sp>
      <p:sp>
        <p:nvSpPr>
          <p:cNvPr id="21" name="">
            <a:extLst xmlns:a="http://schemas.openxmlformats.org/drawingml/2006/main">
              <a:ext uri="{FF2B5EF4-FFF2-40B4-BE49-F238E27FC236}">
                <a16:creationId xmlns:a16="http://schemas.microsoft.com/office/drawing/2014/main" id="{3849E72A-CA5A-40AA-9EA3-F2173C9582A6}"/>
              </a:ext>
            </a:extLst>
            <ns6:hlinkClick xmlns:ns6="http://schemas.openxmlformats.org/drawingml/2006/main" xmlns:ns7="http://schemas.openxmlformats.org/officeDocument/2006/relationships" ns7:id="rIdCC18" action="ppaction://hlinksldjump"/>
          </p:cNvPr>
          <p:cNvSpPr>
            <a:spLocks xmlns:a="http://schemas.openxmlformats.org/drawingml/2006/main" noGrp="1"/>
          </p:cNvSpPr>
          <p:nvPr/>
        </p:nvSpPr>
        <p:spPr>
          <a:xfrm xmlns:a="http://schemas.openxmlformats.org/drawingml/2006/main">
            <a:off x="4267200" y="3524250"/>
            <a:ext cx="3657600" cy="1104900"/>
          </a:xfrm>
          <a:prstGeom xmlns:a="http://schemas.openxmlformats.org/drawingml/2006/main" prst="roundRect">
            <a:avLst>
              <a:gd name="adj" fmla="val 10345"/>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4253391-22DB-46D6-ACCF-47C0186D97BF}"/>
              </a:ext>
            </a:extLst>
            <ns8:hlinkClick xmlns:ns8="http://schemas.openxmlformats.org/drawingml/2006/main" xmlns:ns9="http://schemas.openxmlformats.org/officeDocument/2006/relationships" ns9:id="rIdCC18" action="ppaction://hlinksldjump"/>
          </p:cNvPr>
          <p:cNvSpPr>
            <a:spLocks xmlns:a="http://schemas.openxmlformats.org/drawingml/2006/main" noGrp="1"/>
          </p:cNvSpPr>
          <p:nvPr/>
        </p:nvSpPr>
        <p:spPr>
          <a:xfrm xmlns:a="http://schemas.openxmlformats.org/drawingml/2006/main">
            <a:off x="442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  Service controls</a:t>
            </a:r>
          </a:p>
        </p:txBody>
      </p:sp>
      <p:sp>
        <p:nvSpPr>
          <p:cNvPr id="23" name="">
            <a:extLst xmlns:a="http://schemas.openxmlformats.org/drawingml/2006/main">
              <a:ext uri="{FF2B5EF4-FFF2-40B4-BE49-F238E27FC236}">
                <a16:creationId xmlns:a16="http://schemas.microsoft.com/office/drawing/2014/main" id="{611A40C9-2DC1-44EF-9143-EB5D8ADFFC09}"/>
              </a:ext>
            </a:extLst>
            <ns10:hlinkClick xmlns:ns10="http://schemas.openxmlformats.org/drawingml/2006/main" xmlns:ns11="http://schemas.openxmlformats.org/officeDocument/2006/relationships" ns11:id="rIdCC18" action="ppaction://hlinksldjump"/>
          </p:cNvPr>
          <p:cNvSpPr>
            <a:spLocks xmlns:a="http://schemas.openxmlformats.org/drawingml/2006/main" noGrp="1"/>
          </p:cNvSpPr>
          <p:nvPr/>
        </p:nvSpPr>
        <p:spPr>
          <a:xfrm xmlns:a="http://schemas.openxmlformats.org/drawingml/2006/main">
            <a:off x="442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Incidents, SLA and authentication</a:t>
            </a:r>
          </a:p>
        </p:txBody>
      </p:sp>
      <p:sp>
        <p:nvSpPr>
          <p:cNvPr id="24" name="">
            <a:extLst xmlns:a="http://schemas.openxmlformats.org/drawingml/2006/main">
              <a:ext uri="{FF2B5EF4-FFF2-40B4-BE49-F238E27FC236}">
                <a16:creationId xmlns:a16="http://schemas.microsoft.com/office/drawing/2014/main" id="{C623742B-618C-4611-96B6-19DEBFBB404E}"/>
              </a:ext>
            </a:extLst>
            <ns12:hlinkClick xmlns:ns12="http://schemas.openxmlformats.org/drawingml/2006/main" xmlns:ns13="http://schemas.openxmlformats.org/officeDocument/2006/relationships" ns13:id="rIdCC19" action="ppaction://hlinksldjump"/>
          </p:cNvPr>
          <p:cNvSpPr>
            <a:spLocks xmlns:a="http://schemas.openxmlformats.org/drawingml/2006/main" noGrp="1"/>
          </p:cNvSpPr>
          <p:nvPr/>
        </p:nvSpPr>
        <p:spPr>
          <a:xfrm xmlns:a="http://schemas.openxmlformats.org/drawingml/2006/main">
            <a:off x="8077200" y="3524250"/>
            <a:ext cx="3657600" cy="1104900"/>
          </a:xfrm>
          <a:prstGeom xmlns:a="http://schemas.openxmlformats.org/drawingml/2006/main" prst="roundRect">
            <a:avLst>
              <a:gd name="adj" fmla="val 10345"/>
            </a:avLst>
          </a:prstGeom>
          <a:solidFill xmlns:a="http://schemas.openxmlformats.org/drawingml/2006/main">
            <a:srgbClr val="F0EAF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473EC59-2FCE-4F51-BD76-88BB10157716}"/>
              </a:ext>
            </a:extLst>
            <ns14:hlinkClick xmlns:ns14="http://schemas.openxmlformats.org/drawingml/2006/main" xmlns:ns15="http://schemas.openxmlformats.org/officeDocument/2006/relationships" ns15:id="rIdCC19" action="ppaction://hlinksldjump"/>
          </p:cNvPr>
          <p:cNvSpPr>
            <a:spLocks xmlns:a="http://schemas.openxmlformats.org/drawingml/2006/main" noGrp="1"/>
          </p:cNvSpPr>
          <p:nvPr/>
        </p:nvSpPr>
        <p:spPr>
          <a:xfrm xmlns:a="http://schemas.openxmlformats.org/drawingml/2006/main">
            <a:off x="823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  IVR transactions</a:t>
            </a:r>
          </a:p>
        </p:txBody>
      </p:sp>
      <p:sp>
        <p:nvSpPr>
          <p:cNvPr id="26" name="">
            <a:extLst xmlns:a="http://schemas.openxmlformats.org/drawingml/2006/main">
              <a:ext uri="{FF2B5EF4-FFF2-40B4-BE49-F238E27FC236}">
                <a16:creationId xmlns:a16="http://schemas.microsoft.com/office/drawing/2014/main" id="{7B481A4A-B9AB-4B5F-A7E7-F4FA926696A7}"/>
              </a:ext>
            </a:extLst>
            <ns16:hlinkClick xmlns:ns16="http://schemas.openxmlformats.org/drawingml/2006/main" xmlns:ns17="http://schemas.openxmlformats.org/officeDocument/2006/relationships" ns17:id="rIdCC19" action="ppaction://hlinksldjump"/>
          </p:cNvPr>
          <p:cNvSpPr>
            <a:spLocks xmlns:a="http://schemas.openxmlformats.org/drawingml/2006/main" noGrp="1"/>
          </p:cNvSpPr>
          <p:nvPr/>
        </p:nvSpPr>
        <p:spPr>
          <a:xfrm xmlns:a="http://schemas.openxmlformats.org/drawingml/2006/main">
            <a:off x="823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Self-service activity by function</a:t>
            </a:r>
          </a:p>
        </p:txBody>
      </p:sp>
      <p:sp>
        <p:nvSpPr>
          <p:cNvPr id="27" name="">
            <a:extLst xmlns:a="http://schemas.openxmlformats.org/drawingml/2006/main">
              <a:ext uri="{FF2B5EF4-FFF2-40B4-BE49-F238E27FC236}">
                <a16:creationId xmlns:a16="http://schemas.microsoft.com/office/drawing/2014/main" id="{4C5CD55D-F9E1-4B09-9C17-4F794E3AD459}"/>
              </a:ext>
            </a:extLst>
            <ns18:hlinkClick xmlns:ns18="http://schemas.openxmlformats.org/drawingml/2006/main" xmlns:ns19="http://schemas.openxmlformats.org/officeDocument/2006/relationships" ns19:id="rIdCC20" action="ppaction://hlinksldjump"/>
          </p:cNvPr>
          <p:cNvSpPr>
            <a:spLocks xmlns:a="http://schemas.openxmlformats.org/drawingml/2006/main" noGrp="1"/>
          </p:cNvSpPr>
          <p:nvPr/>
        </p:nvSpPr>
        <p:spPr>
          <a:xfrm xmlns:a="http://schemas.openxmlformats.org/drawingml/2006/main">
            <a:off x="457200" y="4791075"/>
            <a:ext cx="3657600" cy="1104900"/>
          </a:xfrm>
          <a:prstGeom xmlns:a="http://schemas.openxmlformats.org/drawingml/2006/main" prst="roundRect">
            <a:avLst>
              <a:gd name="adj" fmla="val 10345"/>
            </a:avLst>
          </a:prstGeom>
          <a:solidFill xmlns:a="http://schemas.openxmlformats.org/drawingml/2006/main">
            <a:srgbClr val="FFF4D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3EC564D-EDC0-4BF3-89F1-8A12E3E63FBC}"/>
              </a:ext>
            </a:extLst>
            <ns20:hlinkClick xmlns:ns20="http://schemas.openxmlformats.org/drawingml/2006/main" xmlns:ns21="http://schemas.openxmlformats.org/officeDocument/2006/relationships" ns21:id="rIdCC20" action="ppaction://hlinksldjump"/>
          </p:cNvPr>
          <p:cNvSpPr>
            <a:spLocks xmlns:a="http://schemas.openxmlformats.org/drawingml/2006/main" noGrp="1"/>
          </p:cNvSpPr>
          <p:nvPr/>
        </p:nvSpPr>
        <p:spPr>
          <a:xfrm xmlns:a="http://schemas.openxmlformats.org/drawingml/2006/main">
            <a:off x="61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C7D16"/>
                </a:solidFill>
                <a:latin typeface="DejaVu Sans"/>
                <a:ea typeface="DejaVu Sans"/>
                <a:cs typeface="DejaVu Sans"/>
              </a:defRPr>
            </a:pPr>
            <a:r>
              <a:rPr sz="1800" b="1">
                <a:solidFill>
                  <a:srgbClr val="CC7D16"/>
                </a:solidFill>
                <a:latin typeface="DejaVu Sans"/>
                <a:ea typeface="DejaVu Sans"/>
                <a:cs typeface="DejaVu Sans"/>
              </a:rPr>
              <a:t>♙  Agent licences</a:t>
            </a:r>
          </a:p>
        </p:txBody>
      </p:sp>
      <p:sp>
        <p:nvSpPr>
          <p:cNvPr id="29" name="">
            <a:extLst xmlns:a="http://schemas.openxmlformats.org/drawingml/2006/main">
              <a:ext uri="{FF2B5EF4-FFF2-40B4-BE49-F238E27FC236}">
                <a16:creationId xmlns:a16="http://schemas.microsoft.com/office/drawing/2014/main" id="{640B30AA-BFED-4724-AF30-E90B624FE1E3}"/>
              </a:ext>
            </a:extLst>
            <ns22:hlinkClick xmlns:ns22="http://schemas.openxmlformats.org/drawingml/2006/main" xmlns:ns23="http://schemas.openxmlformats.org/officeDocument/2006/relationships" ns23:id="rIdCC20" action="ppaction://hlinksldjump"/>
          </p:cNvPr>
          <p:cNvSpPr>
            <a:spLocks xmlns:a="http://schemas.openxmlformats.org/drawingml/2006/main" noGrp="1"/>
          </p:cNvSpPr>
          <p:nvPr/>
        </p:nvSpPr>
        <p:spPr>
          <a:xfrm xmlns:a="http://schemas.openxmlformats.org/drawingml/2006/main">
            <a:off x="61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Daily usage and capacity evidence</a:t>
            </a:r>
          </a:p>
        </p:txBody>
      </p:sp>
      <p:sp>
        <p:nvSpPr>
          <p:cNvPr id="30" name="">
            <a:extLst xmlns:a="http://schemas.openxmlformats.org/drawingml/2006/main">
              <a:ext uri="{FF2B5EF4-FFF2-40B4-BE49-F238E27FC236}">
                <a16:creationId xmlns:a16="http://schemas.microsoft.com/office/drawing/2014/main" id="{5CC18C8F-D264-49F7-88FC-24AF46B1F5B7}"/>
              </a:ext>
            </a:extLst>
            <ns24:hlinkClick xmlns:ns24="http://schemas.openxmlformats.org/drawingml/2006/main" xmlns:ns25="http://schemas.openxmlformats.org/officeDocument/2006/relationships" ns25:id="rIdCC21" action="ppaction://hlinksldjump"/>
          </p:cNvPr>
          <p:cNvSpPr>
            <a:spLocks xmlns:a="http://schemas.openxmlformats.org/drawingml/2006/main" noGrp="1"/>
          </p:cNvSpPr>
          <p:nvPr/>
        </p:nvSpPr>
        <p:spPr>
          <a:xfrm xmlns:a="http://schemas.openxmlformats.org/drawingml/2006/main">
            <a:off x="4267200" y="4791075"/>
            <a:ext cx="3657600" cy="1104900"/>
          </a:xfrm>
          <a:prstGeom xmlns:a="http://schemas.openxmlformats.org/drawingml/2006/main" prst="roundRect">
            <a:avLst>
              <a:gd name="adj" fmla="val 10345"/>
            </a:avLst>
          </a:prstGeom>
          <a:solidFill xmlns:a="http://schemas.openxmlformats.org/drawingml/2006/main">
            <a:srgbClr val="FCEAF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6590359-FD8B-4926-9880-55877CE9CE65}"/>
              </a:ext>
            </a:extLst>
            <ns26:hlinkClick xmlns:ns26="http://schemas.openxmlformats.org/drawingml/2006/main" xmlns:ns27="http://schemas.openxmlformats.org/officeDocument/2006/relationships" ns27:id="rIdCC21" action="ppaction://hlinksldjump"/>
          </p:cNvPr>
          <p:cNvSpPr>
            <a:spLocks xmlns:a="http://schemas.openxmlformats.org/drawingml/2006/main" noGrp="1"/>
          </p:cNvSpPr>
          <p:nvPr/>
        </p:nvSpPr>
        <p:spPr>
          <a:xfrm xmlns:a="http://schemas.openxmlformats.org/drawingml/2006/main">
            <a:off x="442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35373"/>
                </a:solidFill>
                <a:latin typeface="DejaVu Sans"/>
                <a:ea typeface="DejaVu Sans"/>
                <a:cs typeface="DejaVu Sans"/>
              </a:defRPr>
            </a:pPr>
            <a:r>
              <a:rPr sz="1800" b="1">
                <a:solidFill>
                  <a:srgbClr val="D35373"/>
                </a:solidFill>
                <a:latin typeface="DejaVu Sans"/>
                <a:ea typeface="DejaVu Sans"/>
                <a:cs typeface="DejaVu Sans"/>
              </a:rPr>
              <a:t>☁  Own initiatives</a:t>
            </a:r>
          </a:p>
        </p:txBody>
      </p:sp>
      <p:sp>
        <p:nvSpPr>
          <p:cNvPr id="32" name="">
            <a:extLst xmlns:a="http://schemas.openxmlformats.org/drawingml/2006/main">
              <a:ext uri="{FF2B5EF4-FFF2-40B4-BE49-F238E27FC236}">
                <a16:creationId xmlns:a16="http://schemas.microsoft.com/office/drawing/2014/main" id="{35BA4637-F500-4E83-915E-6979468B7E8E}"/>
              </a:ext>
            </a:extLst>
            <ns28:hlinkClick xmlns:ns28="http://schemas.openxmlformats.org/drawingml/2006/main" xmlns:ns29="http://schemas.openxmlformats.org/officeDocument/2006/relationships" ns29:id="rIdCC21" action="ppaction://hlinksldjump"/>
          </p:cNvPr>
          <p:cNvSpPr>
            <a:spLocks xmlns:a="http://schemas.openxmlformats.org/drawingml/2006/main" noGrp="1"/>
          </p:cNvSpPr>
          <p:nvPr/>
        </p:nvSpPr>
        <p:spPr>
          <a:xfrm xmlns:a="http://schemas.openxmlformats.org/drawingml/2006/main">
            <a:off x="442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Five demands and cloud roadmap</a:t>
            </a:r>
          </a:p>
        </p:txBody>
      </p:sp>
      <p:sp>
        <p:nvSpPr>
          <p:cNvPr id="33" name="">
            <a:extLst xmlns:a="http://schemas.openxmlformats.org/drawingml/2006/main">
              <a:ext uri="{FF2B5EF4-FFF2-40B4-BE49-F238E27FC236}">
                <a16:creationId xmlns:a16="http://schemas.microsoft.com/office/drawing/2014/main" id="{F33E2584-4140-4ACF-BBA5-36634D1DDC43}"/>
              </a:ext>
            </a:extLst>
            <ns30:hlinkClick xmlns:ns30="http://schemas.openxmlformats.org/drawingml/2006/main" xmlns:ns31="http://schemas.openxmlformats.org/officeDocument/2006/relationships" ns31:id="rIdCC22" action="ppaction://hlinksldjump"/>
          </p:cNvPr>
          <p:cNvSpPr>
            <a:spLocks xmlns:a="http://schemas.openxmlformats.org/drawingml/2006/main" noGrp="1"/>
          </p:cNvSpPr>
          <p:nvPr/>
        </p:nvSpPr>
        <p:spPr>
          <a:xfrm xmlns:a="http://schemas.openxmlformats.org/drawingml/2006/main">
            <a:off x="8077200" y="4791075"/>
            <a:ext cx="3657600" cy="1104900"/>
          </a:xfrm>
          <a:prstGeom xmlns:a="http://schemas.openxmlformats.org/drawingml/2006/main" prst="roundRect">
            <a:avLst>
              <a:gd name="adj" fmla="val 10345"/>
            </a:avLst>
          </a:prstGeom>
          <a:solidFill xmlns:a="http://schemas.openxmlformats.org/drawingml/2006/main">
            <a:srgbClr val="EAF3F7"/>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5DB4056-0A7A-4971-B389-7A32F6CD8C56}"/>
              </a:ext>
            </a:extLst>
            <ns32:hlinkClick xmlns:ns32="http://schemas.openxmlformats.org/drawingml/2006/main" xmlns:ns33="http://schemas.openxmlformats.org/officeDocument/2006/relationships" ns33:id="rIdCC22" action="ppaction://hlinksldjump"/>
          </p:cNvPr>
          <p:cNvSpPr>
            <a:spLocks xmlns:a="http://schemas.openxmlformats.org/drawingml/2006/main" noGrp="1"/>
          </p:cNvSpPr>
          <p:nvPr/>
        </p:nvSpPr>
        <p:spPr>
          <a:xfrm xmlns:a="http://schemas.openxmlformats.org/drawingml/2006/main">
            <a:off x="823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Supporting portfolio</a:t>
            </a:r>
          </a:p>
        </p:txBody>
      </p:sp>
      <p:sp>
        <p:nvSpPr>
          <p:cNvPr id="35" name="">
            <a:extLst xmlns:a="http://schemas.openxmlformats.org/drawingml/2006/main">
              <a:ext uri="{FF2B5EF4-FFF2-40B4-BE49-F238E27FC236}">
                <a16:creationId xmlns:a16="http://schemas.microsoft.com/office/drawing/2014/main" id="{BA5B6AC6-97AB-4A0D-ACBB-694D1835A386}"/>
              </a:ext>
            </a:extLst>
            <ns34:hlinkClick xmlns:ns34="http://schemas.openxmlformats.org/drawingml/2006/main" xmlns:ns35="http://schemas.openxmlformats.org/officeDocument/2006/relationships" ns35:id="rIdCC22" action="ppaction://hlinksldjump"/>
          </p:cNvPr>
          <p:cNvSpPr>
            <a:spLocks xmlns:a="http://schemas.openxmlformats.org/drawingml/2006/main" noGrp="1"/>
          </p:cNvSpPr>
          <p:nvPr/>
        </p:nvSpPr>
        <p:spPr>
          <a:xfrm xmlns:a="http://schemas.openxmlformats.org/drawingml/2006/main">
            <a:off x="823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Thirteen demands across partner teams</a:t>
            </a:r>
          </a:p>
        </p:txBody>
      </p:sp>
    </p:spTree>
    <p:extLst>
      <p:ext uri="{BB962C8B-B14F-4D97-AF65-F5344CB8AC3E}">
        <p14:creationId xmlns:p14="http://schemas.microsoft.com/office/powerpoint/2010/main" val="96233502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4E59A54-4F52-4BC4-9D2E-FA7980706F9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FAB368AF-3018-43B0-863F-6CA46AF01010}"/>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IVR completion improved slightly as abandonment rose</a:t>
            </a:r>
          </a:p>
        </p:txBody>
      </p:sp>
      <p:sp>
        <p:nvSpPr>
          <p:cNvPr id="3" name="">
            <a:extLst xmlns:a="http://schemas.openxmlformats.org/drawingml/2006/main">
              <a:ext uri="{FF2B5EF4-FFF2-40B4-BE49-F238E27FC236}">
                <a16:creationId xmlns:a16="http://schemas.microsoft.com/office/drawing/2014/main" id="{187E965E-A2E1-4753-A291-54C4C0E43390}"/>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versus August: completion +0.46 percentage points, abandonment +4.31 points.</a:t>
            </a:r>
          </a:p>
        </p:txBody>
      </p:sp>
      <p:sp>
        <p:nvSpPr>
          <p:cNvPr id="4" name="">
            <a:extLst xmlns:a="http://schemas.openxmlformats.org/drawingml/2006/main">
              <a:ext uri="{FF2B5EF4-FFF2-40B4-BE49-F238E27FC236}">
                <a16:creationId xmlns:a16="http://schemas.microsoft.com/office/drawing/2014/main" id="{0CC217FD-AB25-4265-B0ED-C7B50E70F031}"/>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85BBDE5F-3349-4210-8ADF-36E1CCD6D428}"/>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17</a:t>
            </a:r>
          </a:p>
        </p:txBody>
      </p:sp>
      <p:sp>
        <p:nvSpPr>
          <p:cNvPr id="6" name="">
            <a:extLst xmlns:a="http://schemas.openxmlformats.org/drawingml/2006/main">
              <a:ext uri="{FF2B5EF4-FFF2-40B4-BE49-F238E27FC236}">
                <a16:creationId xmlns:a16="http://schemas.microsoft.com/office/drawing/2014/main" id="{7BCB9D49-DE7B-4970-8063-7AAFE06EF2B2}"/>
              </a:ext>
            </a:extLst>
          </p:cNvPr>
          <p:cNvSpPr>
            <a:spLocks xmlns:a="http://schemas.openxmlformats.org/drawingml/2006/main" noGrp="1"/>
          </p:cNvSpPr>
          <p:nvPr/>
        </p:nvSpPr>
        <p:spPr>
          <a:xfrm xmlns:a="http://schemas.openxmlformats.org/drawingml/2006/main">
            <a:off x="457200" y="2095500"/>
            <a:ext cx="547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IVR completion</a:t>
            </a:r>
          </a:p>
        </p:txBody>
      </p:sp>
      <p:graphicFrame>
        <p:nvGraphicFramePr>
          <p:cNvPr id="20" name="Chart"/>
          <p:cNvGraphicFramePr/>
          <p:nvPr/>
        </p:nvGraphicFramePr>
        <p:xfrm>
          <a:off xmlns:a="http://schemas.openxmlformats.org/drawingml/2006/main" x="457200" y="2457450"/>
          <a:ext xmlns:a="http://schemas.openxmlformats.org/drawingml/2006/main" cx="5391150" cy="2009775"/>
        </p:xfrm>
        <a:graphic xmlns:a="http://schemas.openxmlformats.org/drawingml/2006/main">
          <a:graphicData uri="http://schemas.openxmlformats.org/drawingml/2006/chart">
            <c:chart xmlns:r="http://schemas.openxmlformats.org/officeDocument/2006/relationships" xmlns:c="http://schemas.openxmlformats.org/drawingml/2006/chart" r:id="R8d0a90f97b2d447e"/>
          </a:graphicData>
        </a:graphic>
      </p:graphicFrame>
      <p:sp>
        <p:nvSpPr>
          <p:cNvPr id="8" name="">
            <a:extLst xmlns:a="http://schemas.openxmlformats.org/drawingml/2006/main">
              <a:ext uri="{FF2B5EF4-FFF2-40B4-BE49-F238E27FC236}">
                <a16:creationId xmlns:a16="http://schemas.microsoft.com/office/drawing/2014/main" id="{4052306E-5A9A-4AFB-8273-8B085AF831BC}"/>
              </a:ext>
            </a:extLst>
          </p:cNvPr>
          <p:cNvSpPr>
            <a:spLocks xmlns:a="http://schemas.openxmlformats.org/drawingml/2006/main" noGrp="1"/>
          </p:cNvSpPr>
          <p:nvPr/>
        </p:nvSpPr>
        <p:spPr>
          <a:xfrm xmlns:a="http://schemas.openxmlformats.org/drawingml/2006/main">
            <a:off x="6191250" y="209550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Call abandonment</a:t>
            </a:r>
          </a:p>
        </p:txBody>
      </p:sp>
      <p:graphicFrame>
        <p:nvGraphicFramePr>
          <p:cNvPr id="22" name="Chart"/>
          <p:cNvGraphicFramePr/>
          <p:nvPr/>
        </p:nvGraphicFramePr>
        <p:xfrm>
          <a:off xmlns:a="http://schemas.openxmlformats.org/drawingml/2006/main" x="6191250" y="2457450"/>
          <a:ext xmlns:a="http://schemas.openxmlformats.org/drawingml/2006/main" cx="5524500" cy="2009775"/>
        </p:xfrm>
        <a:graphic xmlns:a="http://schemas.openxmlformats.org/drawingml/2006/main">
          <a:graphicData uri="http://schemas.openxmlformats.org/drawingml/2006/chart">
            <c:chart xmlns:r="http://schemas.openxmlformats.org/officeDocument/2006/relationships" xmlns:c="http://schemas.openxmlformats.org/drawingml/2006/chart" r:id="R4764396d6bb74f10"/>
          </a:graphicData>
        </a:graphic>
      </p:graphicFrame>
      <p:graphicFrame>
        <p:nvGraphicFramePr>
          <p:cNvPr id="23" name="Chart"/>
          <p:cNvGraphicFramePr/>
          <p:nvPr/>
        </p:nvGraphicFramePr>
        <p:xfrm>
          <a:off xmlns:a="http://schemas.openxmlformats.org/drawingml/2006/main" x="457200" y="4667250"/>
          <a:ext xmlns:a="http://schemas.openxmlformats.org/drawingml/2006/main" cx="6858000" cy="1495425"/>
        </p:xfrm>
        <a:graphic xmlns:a="http://schemas.openxmlformats.org/drawingml/2006/main">
          <a:graphicData uri="http://schemas.openxmlformats.org/drawingml/2006/chart">
            <c:chart xmlns:r="http://schemas.openxmlformats.org/officeDocument/2006/relationships" xmlns:c="http://schemas.openxmlformats.org/drawingml/2006/chart" r:id="R3d2abfe492564888"/>
          </a:graphicData>
        </a:graphic>
      </p:graphicFrame>
      <p:sp>
        <p:nvSpPr>
          <p:cNvPr id="11" name="">
            <a:extLst xmlns:a="http://schemas.openxmlformats.org/drawingml/2006/main">
              <a:ext uri="{FF2B5EF4-FFF2-40B4-BE49-F238E27FC236}">
                <a16:creationId xmlns:a16="http://schemas.microsoft.com/office/drawing/2014/main" id="{10D3BF47-73A8-41AC-AB09-77EB6F683B5B}"/>
              </a:ext>
            </a:extLst>
          </p:cNvPr>
          <p:cNvSpPr>
            <a:spLocks xmlns:a="http://schemas.openxmlformats.org/drawingml/2006/main" noGrp="1"/>
          </p:cNvSpPr>
          <p:nvPr/>
        </p:nvSpPr>
        <p:spPr>
          <a:xfrm xmlns:a="http://schemas.openxmlformats.org/drawingml/2006/main">
            <a:off x="7810500" y="4667250"/>
            <a:ext cx="3905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3.92M IVR calls, Jan–Sep</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435,117 average per month</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Peak: July, 454,393</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Lowest: February, 394,343</a:t>
            </a:r>
          </a:p>
        </p:txBody>
      </p:sp>
      <p:sp>
        <p:nvSpPr>
          <p:cNvPr id="12" name="">
            <a:extLst xmlns:a="http://schemas.openxmlformats.org/drawingml/2006/main">
              <a:ext uri="{FF2B5EF4-FFF2-40B4-BE49-F238E27FC236}">
                <a16:creationId xmlns:a16="http://schemas.microsoft.com/office/drawing/2014/main" id="{360853DF-8EFC-4621-B32F-F648F6875241}"/>
              </a:ext>
            </a:extLst>
          </p:cNvPr>
          <p:cNvSpPr>
            <a:spLocks xmlns:a="http://schemas.openxmlformats.org/drawingml/2006/main" noGrp="1"/>
          </p:cNvSpPr>
          <p:nvPr/>
        </p:nvSpPr>
        <p:spPr>
          <a:xfrm xmlns:a="http://schemas.openxmlformats.org/drawingml/2006/main">
            <a:off x="457200" y="6238875"/>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Jan–Sep: 69% completion, 31% transfer. Agent outcomes: 92% answered, 8% abandoned.</a:t>
            </a:r>
          </a:p>
        </p:txBody>
      </p:sp>
      <p:sp>
        <p:nvSpPr>
          <p:cNvPr id="13" name="">
            <a:extLst xmlns:a="http://schemas.openxmlformats.org/drawingml/2006/main">
              <a:ext uri="{FF2B5EF4-FFF2-40B4-BE49-F238E27FC236}">
                <a16:creationId xmlns:a16="http://schemas.microsoft.com/office/drawing/2014/main" id="{3A743FE6-02AD-46E4-9463-BFD981D99630}"/>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6555683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9CD33C3-0C68-4A88-AA97-E8AD1B732F1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B46034C8-0D9B-4E21-A2FF-6419C793009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Call-centre incidents remain within the reported SLA</a:t>
            </a:r>
          </a:p>
        </p:txBody>
      </p:sp>
      <p:sp>
        <p:nvSpPr>
          <p:cNvPr id="3" name="">
            <a:extLst xmlns:a="http://schemas.openxmlformats.org/drawingml/2006/main">
              <a:ext uri="{FF2B5EF4-FFF2-40B4-BE49-F238E27FC236}">
                <a16:creationId xmlns:a16="http://schemas.microsoft.com/office/drawing/2014/main" id="{768D2245-7497-4A69-9018-392627C9C7CB}"/>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81 incidents: 78 closed and 3 in progress. No P1 or P2 incidents reported.</a:t>
            </a:r>
          </a:p>
        </p:txBody>
      </p:sp>
      <p:sp>
        <p:nvSpPr>
          <p:cNvPr id="4" name="">
            <a:extLst xmlns:a="http://schemas.openxmlformats.org/drawingml/2006/main">
              <a:ext uri="{FF2B5EF4-FFF2-40B4-BE49-F238E27FC236}">
                <a16:creationId xmlns:a16="http://schemas.microsoft.com/office/drawing/2014/main" id="{2A908D70-E7EA-4E70-B0C1-70425C19952B}"/>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4BE71E7-0407-4464-A5DE-1A1846A55DD2}"/>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18</a:t>
            </a:r>
          </a:p>
        </p:txBody>
      </p:sp>
      <p:sp>
        <p:nvSpPr>
          <p:cNvPr id="6" name="">
            <a:extLst xmlns:a="http://schemas.openxmlformats.org/drawingml/2006/main">
              <a:ext uri="{FF2B5EF4-FFF2-40B4-BE49-F238E27FC236}">
                <a16:creationId xmlns:a16="http://schemas.microsoft.com/office/drawing/2014/main" id="{E840F56B-C7E5-42E0-B79E-62D19BDAB0CA}"/>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4F33DF4-6301-4858-ABC3-AC5F6F2449F6}"/>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81 / 81</a:t>
            </a:r>
          </a:p>
        </p:txBody>
      </p:sp>
      <p:sp>
        <p:nvSpPr>
          <p:cNvPr id="8" name="">
            <a:extLst xmlns:a="http://schemas.openxmlformats.org/drawingml/2006/main">
              <a:ext uri="{FF2B5EF4-FFF2-40B4-BE49-F238E27FC236}">
                <a16:creationId xmlns:a16="http://schemas.microsoft.com/office/drawing/2014/main" id="{49606CFB-3879-4A0C-A1CA-571CB4AE7407}"/>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within reported SLA</a:t>
            </a:r>
          </a:p>
        </p:txBody>
      </p:sp>
      <p:sp>
        <p:nvSpPr>
          <p:cNvPr id="9" name="">
            <a:extLst xmlns:a="http://schemas.openxmlformats.org/drawingml/2006/main">
              <a:ext uri="{FF2B5EF4-FFF2-40B4-BE49-F238E27FC236}">
                <a16:creationId xmlns:a16="http://schemas.microsoft.com/office/drawing/2014/main" id="{033C4C23-90C3-4DBC-9A5C-806226ACB13A}"/>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FEB350-064D-4156-90A7-15420CC5CF42}"/>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0</a:t>
            </a:r>
          </a:p>
        </p:txBody>
      </p:sp>
      <p:sp>
        <p:nvSpPr>
          <p:cNvPr id="11" name="">
            <a:extLst xmlns:a="http://schemas.openxmlformats.org/drawingml/2006/main">
              <a:ext uri="{FF2B5EF4-FFF2-40B4-BE49-F238E27FC236}">
                <a16:creationId xmlns:a16="http://schemas.microsoft.com/office/drawing/2014/main" id="{E84A4295-B458-4667-B5C3-047C2DC2526E}"/>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exceeded SLA</a:t>
            </a:r>
          </a:p>
        </p:txBody>
      </p:sp>
      <p:sp>
        <p:nvSpPr>
          <p:cNvPr id="12" name="">
            <a:extLst xmlns:a="http://schemas.openxmlformats.org/drawingml/2006/main">
              <a:ext uri="{FF2B5EF4-FFF2-40B4-BE49-F238E27FC236}">
                <a16:creationId xmlns:a16="http://schemas.microsoft.com/office/drawing/2014/main" id="{9BAB0A70-78DA-4DB8-A498-41B5635579EB}"/>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86DC0FD-AED6-4D93-8617-55019C021BA3}"/>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73</a:t>
            </a:r>
          </a:p>
        </p:txBody>
      </p:sp>
      <p:sp>
        <p:nvSpPr>
          <p:cNvPr id="14" name="">
            <a:extLst xmlns:a="http://schemas.openxmlformats.org/drawingml/2006/main">
              <a:ext uri="{FF2B5EF4-FFF2-40B4-BE49-F238E27FC236}">
                <a16:creationId xmlns:a16="http://schemas.microsoft.com/office/drawing/2014/main" id="{D9A7D761-AA49-4E93-AC95-615D52238589}"/>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P3 incidents</a:t>
            </a:r>
          </a:p>
        </p:txBody>
      </p:sp>
      <p:sp>
        <p:nvSpPr>
          <p:cNvPr id="15" name="">
            <a:extLst xmlns:a="http://schemas.openxmlformats.org/drawingml/2006/main">
              <a:ext uri="{FF2B5EF4-FFF2-40B4-BE49-F238E27FC236}">
                <a16:creationId xmlns:a16="http://schemas.microsoft.com/office/drawing/2014/main" id="{913529BF-13DE-48CF-B2EF-23F7D9B7F6C8}"/>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66A2C3-C55A-42DC-9134-A6AB0765387C}"/>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8</a:t>
            </a:r>
          </a:p>
        </p:txBody>
      </p:sp>
      <p:sp>
        <p:nvSpPr>
          <p:cNvPr id="17" name="">
            <a:extLst xmlns:a="http://schemas.openxmlformats.org/drawingml/2006/main">
              <a:ext uri="{FF2B5EF4-FFF2-40B4-BE49-F238E27FC236}">
                <a16:creationId xmlns:a16="http://schemas.microsoft.com/office/drawing/2014/main" id="{22888235-51BA-4150-B253-AD360AA29611}"/>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P4 incidents</a:t>
            </a:r>
          </a:p>
        </p:txBody>
      </p:sp>
      <p:sp>
        <p:nvSpPr>
          <p:cNvPr id="18" name="">
            <a:extLst xmlns:a="http://schemas.openxmlformats.org/drawingml/2006/main">
              <a:ext uri="{FF2B5EF4-FFF2-40B4-BE49-F238E27FC236}">
                <a16:creationId xmlns:a16="http://schemas.microsoft.com/office/drawing/2014/main" id="{7F630ADC-0F68-4525-937C-527E8B2FF40E}"/>
              </a:ext>
            </a:extLst>
          </p:cNvPr>
          <p:cNvSpPr>
            <a:spLocks xmlns:a="http://schemas.openxmlformats.org/drawingml/2006/main" noGrp="1"/>
          </p:cNvSpPr>
          <p:nvPr/>
        </p:nvSpPr>
        <p:spPr>
          <a:xfrm xmlns:a="http://schemas.openxmlformats.org/drawingml/2006/main">
            <a:off x="457200" y="3562350"/>
            <a:ext cx="5543550" cy="2486025"/>
          </a:xfrm>
          <a:prstGeom xmlns:a="http://schemas.openxmlformats.org/drawingml/2006/main" prst="roundRect">
            <a:avLst>
              <a:gd name="adj" fmla="val 4598"/>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6A1E721-269A-4A25-A364-ACCC2B009341}"/>
              </a:ext>
            </a:extLst>
          </p:cNvPr>
          <p:cNvSpPr>
            <a:spLocks xmlns:a="http://schemas.openxmlformats.org/drawingml/2006/main" noGrp="1"/>
          </p:cNvSpPr>
          <p:nvPr/>
        </p:nvSpPr>
        <p:spPr>
          <a:xfrm xmlns:a="http://schemas.openxmlformats.org/drawingml/2006/main">
            <a:off x="628650" y="369570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September call flow</a:t>
            </a:r>
          </a:p>
        </p:txBody>
      </p:sp>
      <p:sp>
        <p:nvSpPr>
          <p:cNvPr id="20" name="">
            <a:extLst xmlns:a="http://schemas.openxmlformats.org/drawingml/2006/main">
              <a:ext uri="{FF2B5EF4-FFF2-40B4-BE49-F238E27FC236}">
                <a16:creationId xmlns:a16="http://schemas.microsoft.com/office/drawing/2014/main" id="{E0DB3F44-304A-42C0-8201-5D3AC7A071DD}"/>
              </a:ext>
            </a:extLst>
          </p:cNvPr>
          <p:cNvSpPr>
            <a:spLocks xmlns:a="http://schemas.openxmlformats.org/drawingml/2006/main" noGrp="1"/>
          </p:cNvSpPr>
          <p:nvPr/>
        </p:nvSpPr>
        <p:spPr>
          <a:xfrm xmlns:a="http://schemas.openxmlformats.org/drawingml/2006/main">
            <a:off x="628650" y="4171950"/>
            <a:ext cx="52006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446,482 IVR calls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68% containment / 32% agent transfer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146,785 agent calls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88% answered / 12% abandoned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Source rates are rounded</a:t>
            </a:r>
          </a:p>
        </p:txBody>
      </p:sp>
      <p:sp>
        <p:nvSpPr>
          <p:cNvPr id="21" name="">
            <a:extLst xmlns:a="http://schemas.openxmlformats.org/drawingml/2006/main">
              <a:ext uri="{FF2B5EF4-FFF2-40B4-BE49-F238E27FC236}">
                <a16:creationId xmlns:a16="http://schemas.microsoft.com/office/drawing/2014/main" id="{EE9764A8-C5D8-4B44-8928-7F314F0CEAD0}"/>
              </a:ext>
            </a:extLst>
          </p:cNvPr>
          <p:cNvSpPr>
            <a:spLocks xmlns:a="http://schemas.openxmlformats.org/drawingml/2006/main" noGrp="1"/>
          </p:cNvSpPr>
          <p:nvPr/>
        </p:nvSpPr>
        <p:spPr>
          <a:xfrm xmlns:a="http://schemas.openxmlformats.org/drawingml/2006/main">
            <a:off x="6191250" y="3562350"/>
            <a:ext cx="5543550" cy="2486025"/>
          </a:xfrm>
          <a:prstGeom xmlns:a="http://schemas.openxmlformats.org/drawingml/2006/main" prst="roundRect">
            <a:avLst>
              <a:gd name="adj" fmla="val 4598"/>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6DCADEF-18EB-4362-B8B3-CC030E2D0102}"/>
              </a:ext>
            </a:extLst>
          </p:cNvPr>
          <p:cNvSpPr>
            <a:spLocks xmlns:a="http://schemas.openxmlformats.org/drawingml/2006/main" noGrp="1"/>
          </p:cNvSpPr>
          <p:nvPr/>
        </p:nvSpPr>
        <p:spPr>
          <a:xfrm xmlns:a="http://schemas.openxmlformats.org/drawingml/2006/main">
            <a:off x="6362700" y="369570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Identification and verification</a:t>
            </a:r>
          </a:p>
        </p:txBody>
      </p:sp>
      <p:sp>
        <p:nvSpPr>
          <p:cNvPr id="23" name="">
            <a:extLst xmlns:a="http://schemas.openxmlformats.org/drawingml/2006/main">
              <a:ext uri="{FF2B5EF4-FFF2-40B4-BE49-F238E27FC236}">
                <a16:creationId xmlns:a16="http://schemas.microsoft.com/office/drawing/2014/main" id="{8DB2A226-E41D-4C71-9F90-DF50FE03AF63}"/>
              </a:ext>
            </a:extLst>
          </p:cNvPr>
          <p:cNvSpPr>
            <a:spLocks xmlns:a="http://schemas.openxmlformats.org/drawingml/2006/main" noGrp="1"/>
          </p:cNvSpPr>
          <p:nvPr/>
        </p:nvSpPr>
        <p:spPr>
          <a:xfrm xmlns:a="http://schemas.openxmlformats.org/drawingml/2006/main">
            <a:off x="6362700" y="4171950"/>
            <a:ext cx="52006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69% customer identification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25% TPIN verified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7% biometrics verified</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Measures may use different denominators.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Treat them as separate rates.</a:t>
            </a:r>
          </a:p>
        </p:txBody>
      </p:sp>
      <p:sp>
        <p:nvSpPr>
          <p:cNvPr id="24" name="">
            <a:extLst xmlns:a="http://schemas.openxmlformats.org/drawingml/2006/main">
              <a:ext uri="{FF2B5EF4-FFF2-40B4-BE49-F238E27FC236}">
                <a16:creationId xmlns:a16="http://schemas.microsoft.com/office/drawing/2014/main" id="{1548180B-877E-44E4-9331-B42BB8CA66AC}"/>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8925718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4F51BBD-CC27-4522-97B6-D295F40859B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2E1B1D3-972F-4889-A2AF-DDBAFC403ACE}"/>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TPIN and card activation dominate IVR transaction activity</a:t>
            </a:r>
          </a:p>
        </p:txBody>
      </p:sp>
      <p:sp>
        <p:nvSpPr>
          <p:cNvPr id="3" name="">
            <a:extLst xmlns:a="http://schemas.openxmlformats.org/drawingml/2006/main">
              <a:ext uri="{FF2B5EF4-FFF2-40B4-BE49-F238E27FC236}">
                <a16:creationId xmlns:a16="http://schemas.microsoft.com/office/drawing/2014/main" id="{A7364860-2FCC-4995-980F-69B384209BA6}"/>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Source activity counts describe functions, rather than unique callers.</a:t>
            </a:r>
          </a:p>
        </p:txBody>
      </p:sp>
      <p:sp>
        <p:nvSpPr>
          <p:cNvPr id="4" name="">
            <a:extLst xmlns:a="http://schemas.openxmlformats.org/drawingml/2006/main">
              <a:ext uri="{FF2B5EF4-FFF2-40B4-BE49-F238E27FC236}">
                <a16:creationId xmlns:a16="http://schemas.microsoft.com/office/drawing/2014/main" id="{655F155B-E7F1-4DC7-A089-AF4FF3C07FF7}"/>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3611BF95-FE1F-4CD8-9F15-510CA0D00A85}"/>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19</a:t>
            </a:r>
          </a:p>
        </p:txBody>
      </p:sp>
      <p:graphicFrame>
        <p:nvGraphicFramePr>
          <p:cNvPr id="32" name="Chart"/>
          <p:cNvGraphicFramePr/>
          <p:nvPr/>
        </p:nvGraphicFramePr>
        <p:xfrm>
          <a:off xmlns:a="http://schemas.openxmlformats.org/drawingml/2006/main" x="2276475" y="2257425"/>
          <a:ext xmlns:a="http://schemas.openxmlformats.org/drawingml/2006/main" cx="3590925" cy="3514725"/>
        </p:xfrm>
        <a:graphic xmlns:a="http://schemas.openxmlformats.org/drawingml/2006/main">
          <a:graphicData uri="http://schemas.openxmlformats.org/drawingml/2006/chart">
            <c:chart xmlns:r="http://schemas.openxmlformats.org/officeDocument/2006/relationships" xmlns:c="http://schemas.openxmlformats.org/drawingml/2006/chart" r:id="R520877699e9d4bc9"/>
          </a:graphicData>
        </a:graphic>
      </p:graphicFrame>
      <p:sp>
        <p:nvSpPr>
          <p:cNvPr id="7" name="">
            <a:extLst xmlns:a="http://schemas.openxmlformats.org/drawingml/2006/main">
              <a:ext uri="{FF2B5EF4-FFF2-40B4-BE49-F238E27FC236}">
                <a16:creationId xmlns:a16="http://schemas.microsoft.com/office/drawing/2014/main" id="{2286C721-AA83-4634-A46C-A86A7156B8D6}"/>
              </a:ext>
            </a:extLst>
          </p:cNvPr>
          <p:cNvSpPr>
            <a:spLocks xmlns:a="http://schemas.openxmlformats.org/drawingml/2006/main" noGrp="1"/>
          </p:cNvSpPr>
          <p:nvPr/>
        </p:nvSpPr>
        <p:spPr>
          <a:xfrm xmlns:a="http://schemas.openxmlformats.org/drawingml/2006/main">
            <a:off x="457200" y="24479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Change card PIN</a:t>
            </a:r>
          </a:p>
        </p:txBody>
      </p:sp>
      <p:sp>
        <p:nvSpPr>
          <p:cNvPr id="8" name="">
            <a:extLst xmlns:a="http://schemas.openxmlformats.org/drawingml/2006/main">
              <a:ext uri="{FF2B5EF4-FFF2-40B4-BE49-F238E27FC236}">
                <a16:creationId xmlns:a16="http://schemas.microsoft.com/office/drawing/2014/main" id="{6F703AEF-409F-4B91-898E-AF9FCA356431}"/>
              </a:ext>
            </a:extLst>
          </p:cNvPr>
          <p:cNvSpPr>
            <a:spLocks xmlns:a="http://schemas.openxmlformats.org/drawingml/2006/main" noGrp="1"/>
          </p:cNvSpPr>
          <p:nvPr/>
        </p:nvSpPr>
        <p:spPr>
          <a:xfrm xmlns:a="http://schemas.openxmlformats.org/drawingml/2006/main">
            <a:off x="457200" y="2774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Card payment</a:t>
            </a:r>
          </a:p>
        </p:txBody>
      </p:sp>
      <p:sp>
        <p:nvSpPr>
          <p:cNvPr id="9" name="">
            <a:extLst xmlns:a="http://schemas.openxmlformats.org/drawingml/2006/main">
              <a:ext uri="{FF2B5EF4-FFF2-40B4-BE49-F238E27FC236}">
                <a16:creationId xmlns:a16="http://schemas.microsoft.com/office/drawing/2014/main" id="{6344FBC7-4693-4A4A-BC57-238998228B14}"/>
              </a:ext>
            </a:extLst>
          </p:cNvPr>
          <p:cNvSpPr>
            <a:spLocks xmlns:a="http://schemas.openxmlformats.org/drawingml/2006/main" noGrp="1"/>
          </p:cNvSpPr>
          <p:nvPr/>
        </p:nvSpPr>
        <p:spPr>
          <a:xfrm xmlns:a="http://schemas.openxmlformats.org/drawingml/2006/main">
            <a:off x="457200" y="31019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Cash on card</a:t>
            </a:r>
          </a:p>
        </p:txBody>
      </p:sp>
      <p:sp>
        <p:nvSpPr>
          <p:cNvPr id="10" name="">
            <a:extLst xmlns:a="http://schemas.openxmlformats.org/drawingml/2006/main">
              <a:ext uri="{FF2B5EF4-FFF2-40B4-BE49-F238E27FC236}">
                <a16:creationId xmlns:a16="http://schemas.microsoft.com/office/drawing/2014/main" id="{BE2E95EF-E749-45AD-9DD9-C208D75132CC}"/>
              </a:ext>
            </a:extLst>
          </p:cNvPr>
          <p:cNvSpPr>
            <a:spLocks xmlns:a="http://schemas.openxmlformats.org/drawingml/2006/main" noGrp="1"/>
          </p:cNvSpPr>
          <p:nvPr/>
        </p:nvSpPr>
        <p:spPr>
          <a:xfrm xmlns:a="http://schemas.openxmlformats.org/drawingml/2006/main">
            <a:off x="457200" y="34290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Cheque-book request</a:t>
            </a:r>
          </a:p>
        </p:txBody>
      </p:sp>
      <p:sp>
        <p:nvSpPr>
          <p:cNvPr id="11" name="">
            <a:extLst xmlns:a="http://schemas.openxmlformats.org/drawingml/2006/main">
              <a:ext uri="{FF2B5EF4-FFF2-40B4-BE49-F238E27FC236}">
                <a16:creationId xmlns:a16="http://schemas.microsoft.com/office/drawing/2014/main" id="{35A798DB-FCEE-4C33-BC25-F74BF1011A83}"/>
              </a:ext>
            </a:extLst>
          </p:cNvPr>
          <p:cNvSpPr>
            <a:spLocks xmlns:a="http://schemas.openxmlformats.org/drawingml/2006/main" noGrp="1"/>
          </p:cNvSpPr>
          <p:nvPr/>
        </p:nvSpPr>
        <p:spPr>
          <a:xfrm xmlns:a="http://schemas.openxmlformats.org/drawingml/2006/main">
            <a:off x="457200" y="37560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Funds transfer</a:t>
            </a:r>
          </a:p>
        </p:txBody>
      </p:sp>
      <p:sp>
        <p:nvSpPr>
          <p:cNvPr id="12" name="">
            <a:extLst xmlns:a="http://schemas.openxmlformats.org/drawingml/2006/main">
              <a:ext uri="{FF2B5EF4-FFF2-40B4-BE49-F238E27FC236}">
                <a16:creationId xmlns:a16="http://schemas.microsoft.com/office/drawing/2014/main" id="{82504270-1A05-4ABC-8C8A-EBD6D346056C}"/>
              </a:ext>
            </a:extLst>
          </p:cNvPr>
          <p:cNvSpPr>
            <a:spLocks xmlns:a="http://schemas.openxmlformats.org/drawingml/2006/main" noGrp="1"/>
          </p:cNvSpPr>
          <p:nvPr/>
        </p:nvSpPr>
        <p:spPr>
          <a:xfrm xmlns:a="http://schemas.openxmlformats.org/drawingml/2006/main">
            <a:off x="457200" y="40830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Salik payment</a:t>
            </a:r>
          </a:p>
        </p:txBody>
      </p:sp>
      <p:sp>
        <p:nvSpPr>
          <p:cNvPr id="13" name="">
            <a:extLst xmlns:a="http://schemas.openxmlformats.org/drawingml/2006/main">
              <a:ext uri="{FF2B5EF4-FFF2-40B4-BE49-F238E27FC236}">
                <a16:creationId xmlns:a16="http://schemas.microsoft.com/office/drawing/2014/main" id="{B34B1121-5419-4F3C-AD6D-E484BDF8FFCD}"/>
              </a:ext>
            </a:extLst>
          </p:cNvPr>
          <p:cNvSpPr>
            <a:spLocks xmlns:a="http://schemas.openxmlformats.org/drawingml/2006/main" noGrp="1"/>
          </p:cNvSpPr>
          <p:nvPr/>
        </p:nvSpPr>
        <p:spPr>
          <a:xfrm xmlns:a="http://schemas.openxmlformats.org/drawingml/2006/main">
            <a:off x="457200" y="44100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DU payments</a:t>
            </a:r>
          </a:p>
        </p:txBody>
      </p:sp>
      <p:sp>
        <p:nvSpPr>
          <p:cNvPr id="14" name="">
            <a:extLst xmlns:a="http://schemas.openxmlformats.org/drawingml/2006/main">
              <a:ext uri="{FF2B5EF4-FFF2-40B4-BE49-F238E27FC236}">
                <a16:creationId xmlns:a16="http://schemas.microsoft.com/office/drawing/2014/main" id="{EBD34F5B-21A8-41F8-AF29-ADE09E83A19F}"/>
              </a:ext>
            </a:extLst>
          </p:cNvPr>
          <p:cNvSpPr>
            <a:spLocks xmlns:a="http://schemas.openxmlformats.org/drawingml/2006/main" noGrp="1"/>
          </p:cNvSpPr>
          <p:nvPr/>
        </p:nvSpPr>
        <p:spPr>
          <a:xfrm xmlns:a="http://schemas.openxmlformats.org/drawingml/2006/main">
            <a:off x="457200" y="47371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Etisalat payments</a:t>
            </a:r>
          </a:p>
        </p:txBody>
      </p:sp>
      <p:sp>
        <p:nvSpPr>
          <p:cNvPr id="15" name="">
            <a:extLst xmlns:a="http://schemas.openxmlformats.org/drawingml/2006/main">
              <a:ext uri="{FF2B5EF4-FFF2-40B4-BE49-F238E27FC236}">
                <a16:creationId xmlns:a16="http://schemas.microsoft.com/office/drawing/2014/main" id="{AB4897B7-E98A-4153-912F-9F389BAD07DC}"/>
              </a:ext>
            </a:extLst>
          </p:cNvPr>
          <p:cNvSpPr>
            <a:spLocks xmlns:a="http://schemas.openxmlformats.org/drawingml/2006/main" noGrp="1"/>
          </p:cNvSpPr>
          <p:nvPr/>
        </p:nvSpPr>
        <p:spPr>
          <a:xfrm xmlns:a="http://schemas.openxmlformats.org/drawingml/2006/main">
            <a:off x="457200" y="50641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Utility payments</a:t>
            </a:r>
          </a:p>
        </p:txBody>
      </p:sp>
      <p:graphicFrame>
        <p:nvGraphicFramePr>
          <p:cNvPr id="42" name="Chart"/>
          <p:cNvGraphicFramePr/>
          <p:nvPr/>
        </p:nvGraphicFramePr>
        <p:xfrm>
          <a:off xmlns:a="http://schemas.openxmlformats.org/drawingml/2006/main" x="8010525" y="2257425"/>
          <a:ext xmlns:a="http://schemas.openxmlformats.org/drawingml/2006/main" cx="3705225" cy="3514725"/>
        </p:xfrm>
        <a:graphic xmlns:a="http://schemas.openxmlformats.org/drawingml/2006/main">
          <a:graphicData uri="http://schemas.openxmlformats.org/drawingml/2006/chart">
            <c:chart xmlns:r="http://schemas.openxmlformats.org/officeDocument/2006/relationships" xmlns:c="http://schemas.openxmlformats.org/drawingml/2006/chart" r:id="Rfe88d664bdd2423c"/>
          </a:graphicData>
        </a:graphic>
      </p:graphicFrame>
      <p:sp>
        <p:nvSpPr>
          <p:cNvPr id="17" name="">
            <a:extLst xmlns:a="http://schemas.openxmlformats.org/drawingml/2006/main">
              <a:ext uri="{FF2B5EF4-FFF2-40B4-BE49-F238E27FC236}">
                <a16:creationId xmlns:a16="http://schemas.microsoft.com/office/drawing/2014/main" id="{69EB1A2C-ED91-4828-B378-C222DD0E4DF1}"/>
              </a:ext>
            </a:extLst>
          </p:cNvPr>
          <p:cNvSpPr>
            <a:spLocks xmlns:a="http://schemas.openxmlformats.org/drawingml/2006/main" noGrp="1"/>
          </p:cNvSpPr>
          <p:nvPr/>
        </p:nvSpPr>
        <p:spPr>
          <a:xfrm xmlns:a="http://schemas.openxmlformats.org/drawingml/2006/main">
            <a:off x="6191250" y="24479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Change TPIN</a:t>
            </a:r>
          </a:p>
        </p:txBody>
      </p:sp>
      <p:sp>
        <p:nvSpPr>
          <p:cNvPr id="18" name="">
            <a:extLst xmlns:a="http://schemas.openxmlformats.org/drawingml/2006/main">
              <a:ext uri="{FF2B5EF4-FFF2-40B4-BE49-F238E27FC236}">
                <a16:creationId xmlns:a16="http://schemas.microsoft.com/office/drawing/2014/main" id="{DC617656-57E7-42D3-AB2D-57D1986EB47F}"/>
              </a:ext>
            </a:extLst>
          </p:cNvPr>
          <p:cNvSpPr>
            <a:spLocks xmlns:a="http://schemas.openxmlformats.org/drawingml/2006/main" noGrp="1"/>
          </p:cNvSpPr>
          <p:nvPr/>
        </p:nvSpPr>
        <p:spPr>
          <a:xfrm xmlns:a="http://schemas.openxmlformats.org/drawingml/2006/main">
            <a:off x="6191250" y="2815828"/>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Generate TPIN</a:t>
            </a:r>
          </a:p>
        </p:txBody>
      </p:sp>
      <p:sp>
        <p:nvSpPr>
          <p:cNvPr id="19" name="">
            <a:extLst xmlns:a="http://schemas.openxmlformats.org/drawingml/2006/main">
              <a:ext uri="{FF2B5EF4-FFF2-40B4-BE49-F238E27FC236}">
                <a16:creationId xmlns:a16="http://schemas.microsoft.com/office/drawing/2014/main" id="{EFAFCFB2-4073-4FA7-8C7B-119E5A96C681}"/>
              </a:ext>
            </a:extLst>
          </p:cNvPr>
          <p:cNvSpPr>
            <a:spLocks xmlns:a="http://schemas.openxmlformats.org/drawingml/2006/main" noGrp="1"/>
          </p:cNvSpPr>
          <p:nvPr/>
        </p:nvSpPr>
        <p:spPr>
          <a:xfrm xmlns:a="http://schemas.openxmlformats.org/drawingml/2006/main">
            <a:off x="6191250" y="3183731"/>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Block TPIN</a:t>
            </a:r>
          </a:p>
        </p:txBody>
      </p:sp>
      <p:sp>
        <p:nvSpPr>
          <p:cNvPr id="20" name="">
            <a:extLst xmlns:a="http://schemas.openxmlformats.org/drawingml/2006/main">
              <a:ext uri="{FF2B5EF4-FFF2-40B4-BE49-F238E27FC236}">
                <a16:creationId xmlns:a16="http://schemas.microsoft.com/office/drawing/2014/main" id="{BFE66EED-AE7A-4FAA-A437-13FB8345C0E7}"/>
              </a:ext>
            </a:extLst>
          </p:cNvPr>
          <p:cNvSpPr>
            <a:spLocks xmlns:a="http://schemas.openxmlformats.org/drawingml/2006/main" noGrp="1"/>
          </p:cNvSpPr>
          <p:nvPr/>
        </p:nvSpPr>
        <p:spPr>
          <a:xfrm xmlns:a="http://schemas.openxmlformats.org/drawingml/2006/main">
            <a:off x="6191250" y="3551634"/>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Reset TPIN</a:t>
            </a:r>
          </a:p>
        </p:txBody>
      </p:sp>
      <p:sp>
        <p:nvSpPr>
          <p:cNvPr id="21" name="">
            <a:extLst xmlns:a="http://schemas.openxmlformats.org/drawingml/2006/main">
              <a:ext uri="{FF2B5EF4-FFF2-40B4-BE49-F238E27FC236}">
                <a16:creationId xmlns:a16="http://schemas.microsoft.com/office/drawing/2014/main" id="{CF50C9A0-6E8E-435F-922E-D077D9AA6054}"/>
              </a:ext>
            </a:extLst>
          </p:cNvPr>
          <p:cNvSpPr>
            <a:spLocks xmlns:a="http://schemas.openxmlformats.org/drawingml/2006/main" noGrp="1"/>
          </p:cNvSpPr>
          <p:nvPr/>
        </p:nvSpPr>
        <p:spPr>
          <a:xfrm xmlns:a="http://schemas.openxmlformats.org/drawingml/2006/main">
            <a:off x="6191250" y="3919538"/>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Lost / stolen card</a:t>
            </a:r>
          </a:p>
        </p:txBody>
      </p:sp>
      <p:sp>
        <p:nvSpPr>
          <p:cNvPr id="22" name="">
            <a:extLst xmlns:a="http://schemas.openxmlformats.org/drawingml/2006/main">
              <a:ext uri="{FF2B5EF4-FFF2-40B4-BE49-F238E27FC236}">
                <a16:creationId xmlns:a16="http://schemas.microsoft.com/office/drawing/2014/main" id="{6BF2BFC0-B860-40BD-BA50-D168B595E20D}"/>
              </a:ext>
            </a:extLst>
          </p:cNvPr>
          <p:cNvSpPr>
            <a:spLocks xmlns:a="http://schemas.openxmlformats.org/drawingml/2006/main" noGrp="1"/>
          </p:cNvSpPr>
          <p:nvPr/>
        </p:nvSpPr>
        <p:spPr>
          <a:xfrm xmlns:a="http://schemas.openxmlformats.org/drawingml/2006/main">
            <a:off x="6191250" y="4287441"/>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Reset card PIN</a:t>
            </a:r>
          </a:p>
        </p:txBody>
      </p:sp>
      <p:sp>
        <p:nvSpPr>
          <p:cNvPr id="23" name="">
            <a:extLst xmlns:a="http://schemas.openxmlformats.org/drawingml/2006/main">
              <a:ext uri="{FF2B5EF4-FFF2-40B4-BE49-F238E27FC236}">
                <a16:creationId xmlns:a16="http://schemas.microsoft.com/office/drawing/2014/main" id="{B3CE158B-14C8-46CF-A193-33220BF7E709}"/>
              </a:ext>
            </a:extLst>
          </p:cNvPr>
          <p:cNvSpPr>
            <a:spLocks xmlns:a="http://schemas.openxmlformats.org/drawingml/2006/main" noGrp="1"/>
          </p:cNvSpPr>
          <p:nvPr/>
        </p:nvSpPr>
        <p:spPr>
          <a:xfrm xmlns:a="http://schemas.openxmlformats.org/drawingml/2006/main">
            <a:off x="6191250" y="4655344"/>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Activate card</a:t>
            </a:r>
          </a:p>
        </p:txBody>
      </p:sp>
      <p:sp>
        <p:nvSpPr>
          <p:cNvPr id="24" name="">
            <a:extLst xmlns:a="http://schemas.openxmlformats.org/drawingml/2006/main">
              <a:ext uri="{FF2B5EF4-FFF2-40B4-BE49-F238E27FC236}">
                <a16:creationId xmlns:a16="http://schemas.microsoft.com/office/drawing/2014/main" id="{3A71165C-EA27-4EAC-8CEF-5EBD07E8C6C3}"/>
              </a:ext>
            </a:extLst>
          </p:cNvPr>
          <p:cNvSpPr>
            <a:spLocks xmlns:a="http://schemas.openxmlformats.org/drawingml/2006/main" noGrp="1"/>
          </p:cNvSpPr>
          <p:nvPr/>
        </p:nvSpPr>
        <p:spPr>
          <a:xfrm xmlns:a="http://schemas.openxmlformats.org/drawingml/2006/main">
            <a:off x="6191250" y="5023247"/>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Last 5 card transactions</a:t>
            </a:r>
          </a:p>
        </p:txBody>
      </p:sp>
      <p:sp>
        <p:nvSpPr>
          <p:cNvPr id="25" name="">
            <a:extLst xmlns:a="http://schemas.openxmlformats.org/drawingml/2006/main">
              <a:ext uri="{FF2B5EF4-FFF2-40B4-BE49-F238E27FC236}">
                <a16:creationId xmlns:a16="http://schemas.microsoft.com/office/drawing/2014/main" id="{0B9A8572-8276-480A-8159-33F75E5F7CB8}"/>
              </a:ext>
            </a:extLst>
          </p:cNvPr>
          <p:cNvSpPr>
            <a:spLocks xmlns:a="http://schemas.openxmlformats.org/drawingml/2006/main" noGrp="1"/>
          </p:cNvSpPr>
          <p:nvPr/>
        </p:nvSpPr>
        <p:spPr>
          <a:xfrm xmlns:a="http://schemas.openxmlformats.org/drawingml/2006/main">
            <a:off x="457200" y="6019800"/>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Top functions: Reset TPIN 18,146; Activate card 13,337; Block TPIN 12,004.</a:t>
            </a:r>
          </a:p>
        </p:txBody>
      </p:sp>
      <p:sp>
        <p:nvSpPr>
          <p:cNvPr id="26" name="">
            <a:extLst xmlns:a="http://schemas.openxmlformats.org/drawingml/2006/main">
              <a:ext uri="{FF2B5EF4-FFF2-40B4-BE49-F238E27FC236}">
                <a16:creationId xmlns:a16="http://schemas.microsoft.com/office/drawing/2014/main" id="{5D541048-FD8E-4EA9-AADB-929FFBFD1B27}"/>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27863514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7A7004F-02B6-46AC-9D69-8ABA851C2076}"/>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BCAE02C9-9E8B-4795-8CA2-B2BA582B441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Daily agent-licence usage peaks at 492</a:t>
            </a:r>
          </a:p>
        </p:txBody>
      </p:sp>
      <p:sp>
        <p:nvSpPr>
          <p:cNvPr id="3" name="">
            <a:extLst xmlns:a="http://schemas.openxmlformats.org/drawingml/2006/main">
              <a:ext uri="{FF2B5EF4-FFF2-40B4-BE49-F238E27FC236}">
                <a16:creationId xmlns:a16="http://schemas.microsoft.com/office/drawing/2014/main" id="{A41BFACF-DAB4-49BA-9BF4-DD5E08F8E8E1}"/>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source reports 100% overall licence usage but does not supply a licensed capacity denominator.</a:t>
            </a:r>
          </a:p>
        </p:txBody>
      </p:sp>
      <p:sp>
        <p:nvSpPr>
          <p:cNvPr id="4" name="">
            <a:extLst xmlns:a="http://schemas.openxmlformats.org/drawingml/2006/main">
              <a:ext uri="{FF2B5EF4-FFF2-40B4-BE49-F238E27FC236}">
                <a16:creationId xmlns:a16="http://schemas.microsoft.com/office/drawing/2014/main" id="{E7C3A3A9-869A-4BD7-98BB-6D66CEA673E2}"/>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DEA28510-5D07-4E81-BBF1-A32CFD54101F}"/>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20</a:t>
            </a:r>
          </a:p>
        </p:txBody>
      </p:sp>
      <p:graphicFrame>
        <p:nvGraphicFramePr>
          <p:cNvPr id="25" name="Chart"/>
          <p:cNvGraphicFramePr/>
          <p:nvPr/>
        </p:nvGraphicFramePr>
        <p:xfrm>
          <a:off xmlns:a="http://schemas.openxmlformats.org/drawingml/2006/main" x="457200" y="2247900"/>
          <a:ext xmlns:a="http://schemas.openxmlformats.org/drawingml/2006/main" cx="11277600" cy="2695575"/>
        </p:xfrm>
        <a:graphic xmlns:a="http://schemas.openxmlformats.org/drawingml/2006/main">
          <a:graphicData uri="http://schemas.openxmlformats.org/drawingml/2006/chart">
            <c:chart xmlns:r="http://schemas.openxmlformats.org/officeDocument/2006/relationships" xmlns:c="http://schemas.openxmlformats.org/drawingml/2006/chart" r:id="R23813a3a315c4d0e"/>
          </a:graphicData>
        </a:graphic>
      </p:graphicFrame>
      <p:sp>
        <p:nvSpPr>
          <p:cNvPr id="7" name="">
            <a:extLst xmlns:a="http://schemas.openxmlformats.org/drawingml/2006/main">
              <a:ext uri="{FF2B5EF4-FFF2-40B4-BE49-F238E27FC236}">
                <a16:creationId xmlns:a16="http://schemas.microsoft.com/office/drawing/2014/main" id="{199BB951-FC02-46E7-9F04-C51F12963AAF}"/>
              </a:ext>
            </a:extLst>
          </p:cNvPr>
          <p:cNvSpPr>
            <a:spLocks xmlns:a="http://schemas.openxmlformats.org/drawingml/2006/main" noGrp="1"/>
          </p:cNvSpPr>
          <p:nvPr/>
        </p:nvSpPr>
        <p:spPr>
          <a:xfrm xmlns:a="http://schemas.openxmlformats.org/drawingml/2006/main">
            <a:off x="457200" y="52197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14D796-C40C-4191-A881-8F38BCD9D4C3}"/>
              </a:ext>
            </a:extLst>
          </p:cNvPr>
          <p:cNvSpPr>
            <a:spLocks xmlns:a="http://schemas.openxmlformats.org/drawingml/2006/main" noGrp="1"/>
          </p:cNvSpPr>
          <p:nvPr/>
        </p:nvSpPr>
        <p:spPr>
          <a:xfrm xmlns:a="http://schemas.openxmlformats.org/drawingml/2006/main">
            <a:off x="6191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492</a:t>
            </a:r>
          </a:p>
        </p:txBody>
      </p:sp>
      <p:sp>
        <p:nvSpPr>
          <p:cNvPr id="9" name="">
            <a:extLst xmlns:a="http://schemas.openxmlformats.org/drawingml/2006/main">
              <a:ext uri="{FF2B5EF4-FFF2-40B4-BE49-F238E27FC236}">
                <a16:creationId xmlns:a16="http://schemas.microsoft.com/office/drawing/2014/main" id="{3261BE26-8F90-4226-A827-81EE26D673CD}"/>
              </a:ext>
            </a:extLst>
          </p:cNvPr>
          <p:cNvSpPr>
            <a:spLocks xmlns:a="http://schemas.openxmlformats.org/drawingml/2006/main" noGrp="1"/>
          </p:cNvSpPr>
          <p:nvPr/>
        </p:nvSpPr>
        <p:spPr>
          <a:xfrm xmlns:a="http://schemas.openxmlformats.org/drawingml/2006/main">
            <a:off x="6191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peak on 24 September</a:t>
            </a:r>
          </a:p>
        </p:txBody>
      </p:sp>
      <p:sp>
        <p:nvSpPr>
          <p:cNvPr id="10" name="">
            <a:extLst xmlns:a="http://schemas.openxmlformats.org/drawingml/2006/main">
              <a:ext uri="{FF2B5EF4-FFF2-40B4-BE49-F238E27FC236}">
                <a16:creationId xmlns:a16="http://schemas.microsoft.com/office/drawing/2014/main" id="{12BC27D7-D6E5-4D6D-B8CD-99BA77D0C5C0}"/>
              </a:ext>
            </a:extLst>
          </p:cNvPr>
          <p:cNvSpPr>
            <a:spLocks xmlns:a="http://schemas.openxmlformats.org/drawingml/2006/main" noGrp="1"/>
          </p:cNvSpPr>
          <p:nvPr/>
        </p:nvSpPr>
        <p:spPr>
          <a:xfrm xmlns:a="http://schemas.openxmlformats.org/drawingml/2006/main">
            <a:off x="3314700" y="52197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E41860-3947-44AE-992E-EFE2328CB611}"/>
              </a:ext>
            </a:extLst>
          </p:cNvPr>
          <p:cNvSpPr>
            <a:spLocks xmlns:a="http://schemas.openxmlformats.org/drawingml/2006/main" noGrp="1"/>
          </p:cNvSpPr>
          <p:nvPr/>
        </p:nvSpPr>
        <p:spPr>
          <a:xfrm xmlns:a="http://schemas.openxmlformats.org/drawingml/2006/main">
            <a:off x="34766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72</a:t>
            </a:r>
          </a:p>
        </p:txBody>
      </p:sp>
      <p:sp>
        <p:nvSpPr>
          <p:cNvPr id="12" name="">
            <a:extLst xmlns:a="http://schemas.openxmlformats.org/drawingml/2006/main">
              <a:ext uri="{FF2B5EF4-FFF2-40B4-BE49-F238E27FC236}">
                <a16:creationId xmlns:a16="http://schemas.microsoft.com/office/drawing/2014/main" id="{3A1A4FEF-0656-43EB-ABD9-1795F8FB576E}"/>
              </a:ext>
            </a:extLst>
          </p:cNvPr>
          <p:cNvSpPr>
            <a:spLocks xmlns:a="http://schemas.openxmlformats.org/drawingml/2006/main" noGrp="1"/>
          </p:cNvSpPr>
          <p:nvPr/>
        </p:nvSpPr>
        <p:spPr>
          <a:xfrm xmlns:a="http://schemas.openxmlformats.org/drawingml/2006/main">
            <a:off x="34766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low on 6 September</a:t>
            </a:r>
          </a:p>
        </p:txBody>
      </p:sp>
      <p:sp>
        <p:nvSpPr>
          <p:cNvPr id="13" name="">
            <a:extLst xmlns:a="http://schemas.openxmlformats.org/drawingml/2006/main">
              <a:ext uri="{FF2B5EF4-FFF2-40B4-BE49-F238E27FC236}">
                <a16:creationId xmlns:a16="http://schemas.microsoft.com/office/drawing/2014/main" id="{54F46FB0-D152-4580-88CC-82A3D8B737B5}"/>
              </a:ext>
            </a:extLst>
          </p:cNvPr>
          <p:cNvSpPr>
            <a:spLocks xmlns:a="http://schemas.openxmlformats.org/drawingml/2006/main" noGrp="1"/>
          </p:cNvSpPr>
          <p:nvPr/>
        </p:nvSpPr>
        <p:spPr>
          <a:xfrm xmlns:a="http://schemas.openxmlformats.org/drawingml/2006/main">
            <a:off x="6172200" y="52197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A85D6D5-9C69-4CB9-83D5-51077E0A104F}"/>
              </a:ext>
            </a:extLst>
          </p:cNvPr>
          <p:cNvSpPr>
            <a:spLocks xmlns:a="http://schemas.openxmlformats.org/drawingml/2006/main" noGrp="1"/>
          </p:cNvSpPr>
          <p:nvPr/>
        </p:nvSpPr>
        <p:spPr>
          <a:xfrm xmlns:a="http://schemas.openxmlformats.org/drawingml/2006/main">
            <a:off x="63341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432</a:t>
            </a:r>
          </a:p>
        </p:txBody>
      </p:sp>
      <p:sp>
        <p:nvSpPr>
          <p:cNvPr id="15" name="">
            <a:extLst xmlns:a="http://schemas.openxmlformats.org/drawingml/2006/main">
              <a:ext uri="{FF2B5EF4-FFF2-40B4-BE49-F238E27FC236}">
                <a16:creationId xmlns:a16="http://schemas.microsoft.com/office/drawing/2014/main" id="{BB2D5223-9156-4AA5-981D-1459C143C3BB}"/>
              </a:ext>
            </a:extLst>
          </p:cNvPr>
          <p:cNvSpPr>
            <a:spLocks xmlns:a="http://schemas.openxmlformats.org/drawingml/2006/main" noGrp="1"/>
          </p:cNvSpPr>
          <p:nvPr/>
        </p:nvSpPr>
        <p:spPr>
          <a:xfrm xmlns:a="http://schemas.openxmlformats.org/drawingml/2006/main">
            <a:off x="63341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30 September count</a:t>
            </a:r>
          </a:p>
        </p:txBody>
      </p:sp>
      <p:sp>
        <p:nvSpPr>
          <p:cNvPr id="16" name="">
            <a:extLst xmlns:a="http://schemas.openxmlformats.org/drawingml/2006/main">
              <a:ext uri="{FF2B5EF4-FFF2-40B4-BE49-F238E27FC236}">
                <a16:creationId xmlns:a16="http://schemas.microsoft.com/office/drawing/2014/main" id="{355166AA-BD73-4074-804A-F68522F42204}"/>
              </a:ext>
            </a:extLst>
          </p:cNvPr>
          <p:cNvSpPr>
            <a:spLocks xmlns:a="http://schemas.openxmlformats.org/drawingml/2006/main" noGrp="1"/>
          </p:cNvSpPr>
          <p:nvPr/>
        </p:nvSpPr>
        <p:spPr>
          <a:xfrm xmlns:a="http://schemas.openxmlformats.org/drawingml/2006/main">
            <a:off x="9029700" y="52197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FE26A59-FFA4-486E-83B7-5B2D97B56CD5}"/>
              </a:ext>
            </a:extLst>
          </p:cNvPr>
          <p:cNvSpPr>
            <a:spLocks xmlns:a="http://schemas.openxmlformats.org/drawingml/2006/main" noGrp="1"/>
          </p:cNvSpPr>
          <p:nvPr/>
        </p:nvSpPr>
        <p:spPr>
          <a:xfrm xmlns:a="http://schemas.openxmlformats.org/drawingml/2006/main">
            <a:off x="91916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100%</a:t>
            </a:r>
          </a:p>
        </p:txBody>
      </p:sp>
      <p:sp>
        <p:nvSpPr>
          <p:cNvPr id="18" name="">
            <a:extLst xmlns:a="http://schemas.openxmlformats.org/drawingml/2006/main">
              <a:ext uri="{FF2B5EF4-FFF2-40B4-BE49-F238E27FC236}">
                <a16:creationId xmlns:a16="http://schemas.microsoft.com/office/drawing/2014/main" id="{B3AF3A8D-FF44-4009-AD28-ED57A74FC1D5}"/>
              </a:ext>
            </a:extLst>
          </p:cNvPr>
          <p:cNvSpPr>
            <a:spLocks xmlns:a="http://schemas.openxmlformats.org/drawingml/2006/main" noGrp="1"/>
          </p:cNvSpPr>
          <p:nvPr/>
        </p:nvSpPr>
        <p:spPr>
          <a:xfrm xmlns:a="http://schemas.openxmlformats.org/drawingml/2006/main">
            <a:off x="91916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source overall usage</a:t>
            </a:r>
          </a:p>
        </p:txBody>
      </p:sp>
      <p:sp>
        <p:nvSpPr>
          <p:cNvPr id="19" name="">
            <a:extLst xmlns:a="http://schemas.openxmlformats.org/drawingml/2006/main">
              <a:ext uri="{FF2B5EF4-FFF2-40B4-BE49-F238E27FC236}">
                <a16:creationId xmlns:a16="http://schemas.microsoft.com/office/drawing/2014/main" id="{B83E67BA-1257-4BBD-ACCB-D9BECBBD84D6}"/>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97047132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4A12AB4-4EB5-4972-A711-EDE449334BF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740B222-FB01-45E5-B0F9-D213C01F81D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Call-centre portfolio: two closures and two reviews</a:t>
            </a:r>
          </a:p>
        </p:txBody>
      </p:sp>
      <p:sp>
        <p:nvSpPr>
          <p:cNvPr id="3" name="">
            <a:extLst xmlns:a="http://schemas.openxmlformats.org/drawingml/2006/main">
              <a:ext uri="{FF2B5EF4-FFF2-40B4-BE49-F238E27FC236}">
                <a16:creationId xmlns:a16="http://schemas.microsoft.com/office/drawing/2014/main" id="{264DE4C2-81B5-4A64-9751-C84F40F5D4C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Five own demands. Suspension and review require explicit management decisions.</a:t>
            </a:r>
          </a:p>
        </p:txBody>
      </p:sp>
      <p:sp>
        <p:nvSpPr>
          <p:cNvPr id="4" name="">
            <a:extLst xmlns:a="http://schemas.openxmlformats.org/drawingml/2006/main">
              <a:ext uri="{FF2B5EF4-FFF2-40B4-BE49-F238E27FC236}">
                <a16:creationId xmlns:a16="http://schemas.microsoft.com/office/drawing/2014/main" id="{3EF4C9E3-8F51-4135-AB4F-4B3541237A3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02A2A87-DF72-4208-982C-7B51CBB37BE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21</a:t>
            </a:r>
          </a:p>
        </p:txBody>
      </p:sp>
      <p:sp>
        <p:nvSpPr>
          <p:cNvPr id="6" name="">
            <a:extLst xmlns:a="http://schemas.openxmlformats.org/drawingml/2006/main">
              <a:ext uri="{FF2B5EF4-FFF2-40B4-BE49-F238E27FC236}">
                <a16:creationId xmlns:a16="http://schemas.microsoft.com/office/drawing/2014/main" id="{13F90E85-F453-407E-8B9A-1D92BF707CE4}"/>
              </a:ext>
            </a:extLst>
          </p:cNvPr>
          <p:cNvSpPr>
            <a:spLocks xmlns:a="http://schemas.openxmlformats.org/drawingml/2006/main" noGrp="1"/>
          </p:cNvSpPr>
          <p:nvPr/>
        </p:nvSpPr>
        <p:spPr>
          <a:xfrm xmlns:a="http://schemas.openxmlformats.org/drawingml/2006/main">
            <a:off x="457200" y="2143125"/>
            <a:ext cx="3657600" cy="1809750"/>
          </a:xfrm>
          <a:prstGeom xmlns:a="http://schemas.openxmlformats.org/drawingml/2006/main" prst="roundRect">
            <a:avLst>
              <a:gd name="adj" fmla="val 631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D6A70A-8538-4C6A-A187-6B9429880957}"/>
              </a:ext>
            </a:extLst>
          </p:cNvPr>
          <p:cNvSpPr>
            <a:spLocks xmlns:a="http://schemas.openxmlformats.org/drawingml/2006/main" noGrp="1"/>
          </p:cNvSpPr>
          <p:nvPr/>
        </p:nvSpPr>
        <p:spPr>
          <a:xfrm xmlns:a="http://schemas.openxmlformats.org/drawingml/2006/main">
            <a:off x="62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DMGT-2171</a:t>
            </a:r>
          </a:p>
        </p:txBody>
      </p:sp>
      <p:sp>
        <p:nvSpPr>
          <p:cNvPr id="8" name="">
            <a:extLst xmlns:a="http://schemas.openxmlformats.org/drawingml/2006/main">
              <a:ext uri="{FF2B5EF4-FFF2-40B4-BE49-F238E27FC236}">
                <a16:creationId xmlns:a16="http://schemas.microsoft.com/office/drawing/2014/main" id="{0FA0EC58-DFA2-473A-96D9-112A3FEF5FEE}"/>
              </a:ext>
            </a:extLst>
          </p:cNvPr>
          <p:cNvSpPr>
            <a:spLocks xmlns:a="http://schemas.openxmlformats.org/drawingml/2006/main" noGrp="1"/>
          </p:cNvSpPr>
          <p:nvPr/>
        </p:nvSpPr>
        <p:spPr>
          <a:xfrm xmlns:a="http://schemas.openxmlformats.org/drawingml/2006/main">
            <a:off x="62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IVR WhatsApp / SMS extension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Closure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September 2026 go-live</a:t>
            </a:r>
          </a:p>
        </p:txBody>
      </p:sp>
      <p:sp>
        <p:nvSpPr>
          <p:cNvPr id="9" name="">
            <a:extLst xmlns:a="http://schemas.openxmlformats.org/drawingml/2006/main">
              <a:ext uri="{FF2B5EF4-FFF2-40B4-BE49-F238E27FC236}">
                <a16:creationId xmlns:a16="http://schemas.microsoft.com/office/drawing/2014/main" id="{237FB625-F3A4-4723-B14A-0B140999681C}"/>
              </a:ext>
            </a:extLst>
          </p:cNvPr>
          <p:cNvSpPr>
            <a:spLocks xmlns:a="http://schemas.openxmlformats.org/drawingml/2006/main" noGrp="1"/>
          </p:cNvSpPr>
          <p:nvPr/>
        </p:nvSpPr>
        <p:spPr>
          <a:xfrm xmlns:a="http://schemas.openxmlformats.org/drawingml/2006/main">
            <a:off x="4267200" y="2143125"/>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B628D5-E944-4391-B36F-57B048C98915}"/>
              </a:ext>
            </a:extLst>
          </p:cNvPr>
          <p:cNvSpPr>
            <a:spLocks xmlns:a="http://schemas.openxmlformats.org/drawingml/2006/main" noGrp="1"/>
          </p:cNvSpPr>
          <p:nvPr/>
        </p:nvSpPr>
        <p:spPr>
          <a:xfrm xmlns:a="http://schemas.openxmlformats.org/drawingml/2006/main">
            <a:off x="443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DMGT-443</a:t>
            </a:r>
          </a:p>
        </p:txBody>
      </p:sp>
      <p:sp>
        <p:nvSpPr>
          <p:cNvPr id="11" name="">
            <a:extLst xmlns:a="http://schemas.openxmlformats.org/drawingml/2006/main">
              <a:ext uri="{FF2B5EF4-FFF2-40B4-BE49-F238E27FC236}">
                <a16:creationId xmlns:a16="http://schemas.microsoft.com/office/drawing/2014/main" id="{57FAB01A-5902-4A47-9499-FCCE1397AEC8}"/>
              </a:ext>
            </a:extLst>
          </p:cNvPr>
          <p:cNvSpPr>
            <a:spLocks xmlns:a="http://schemas.openxmlformats.org/drawingml/2006/main" noGrp="1"/>
          </p:cNvSpPr>
          <p:nvPr/>
        </p:nvSpPr>
        <p:spPr>
          <a:xfrm xmlns:a="http://schemas.openxmlformats.org/drawingml/2006/main">
            <a:off x="443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Eleveo recording OS remediation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Closure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July 2026 go-live</a:t>
            </a:r>
          </a:p>
        </p:txBody>
      </p:sp>
      <p:sp>
        <p:nvSpPr>
          <p:cNvPr id="12" name="">
            <a:extLst xmlns:a="http://schemas.openxmlformats.org/drawingml/2006/main">
              <a:ext uri="{FF2B5EF4-FFF2-40B4-BE49-F238E27FC236}">
                <a16:creationId xmlns:a16="http://schemas.microsoft.com/office/drawing/2014/main" id="{F77D4C86-859E-4BDE-AF17-FCD025886BC4}"/>
              </a:ext>
            </a:extLst>
          </p:cNvPr>
          <p:cNvSpPr>
            <a:spLocks xmlns:a="http://schemas.openxmlformats.org/drawingml/2006/main" noGrp="1"/>
          </p:cNvSpPr>
          <p:nvPr/>
        </p:nvSpPr>
        <p:spPr>
          <a:xfrm xmlns:a="http://schemas.openxmlformats.org/drawingml/2006/main">
            <a:off x="8077200" y="2143125"/>
            <a:ext cx="3657600" cy="1809750"/>
          </a:xfrm>
          <a:prstGeom xmlns:a="http://schemas.openxmlformats.org/drawingml/2006/main" prst="roundRect">
            <a:avLst>
              <a:gd name="adj" fmla="val 631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BF1E230-1D04-4A10-A3A7-10190F27496A}"/>
              </a:ext>
            </a:extLst>
          </p:cNvPr>
          <p:cNvSpPr>
            <a:spLocks xmlns:a="http://schemas.openxmlformats.org/drawingml/2006/main" noGrp="1"/>
          </p:cNvSpPr>
          <p:nvPr/>
        </p:nvSpPr>
        <p:spPr>
          <a:xfrm xmlns:a="http://schemas.openxmlformats.org/drawingml/2006/main">
            <a:off x="824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DMGT-1837</a:t>
            </a:r>
          </a:p>
        </p:txBody>
      </p:sp>
      <p:sp>
        <p:nvSpPr>
          <p:cNvPr id="14" name="">
            <a:extLst xmlns:a="http://schemas.openxmlformats.org/drawingml/2006/main">
              <a:ext uri="{FF2B5EF4-FFF2-40B4-BE49-F238E27FC236}">
                <a16:creationId xmlns:a16="http://schemas.microsoft.com/office/drawing/2014/main" id="{620763D3-24A9-43BF-8A52-9981F070E9E6}"/>
              </a:ext>
            </a:extLst>
          </p:cNvPr>
          <p:cNvSpPr>
            <a:spLocks xmlns:a="http://schemas.openxmlformats.org/drawingml/2006/main" noGrp="1"/>
          </p:cNvSpPr>
          <p:nvPr/>
        </p:nvSpPr>
        <p:spPr>
          <a:xfrm xmlns:a="http://schemas.openxmlformats.org/drawingml/2006/main">
            <a:off x="824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Call Centre cloud migration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Q4 2027 target</a:t>
            </a:r>
          </a:p>
        </p:txBody>
      </p:sp>
      <p:sp>
        <p:nvSpPr>
          <p:cNvPr id="15" name="">
            <a:extLst xmlns:a="http://schemas.openxmlformats.org/drawingml/2006/main">
              <a:ext uri="{FF2B5EF4-FFF2-40B4-BE49-F238E27FC236}">
                <a16:creationId xmlns:a16="http://schemas.microsoft.com/office/drawing/2014/main" id="{8EB93912-5D15-4FB5-89A7-61833E8F7B5E}"/>
              </a:ext>
            </a:extLst>
          </p:cNvPr>
          <p:cNvSpPr>
            <a:spLocks xmlns:a="http://schemas.openxmlformats.org/drawingml/2006/main" noGrp="1"/>
          </p:cNvSpPr>
          <p:nvPr/>
        </p:nvSpPr>
        <p:spPr>
          <a:xfrm xmlns:a="http://schemas.openxmlformats.org/drawingml/2006/main">
            <a:off x="457200" y="4152900"/>
            <a:ext cx="3657600" cy="1809750"/>
          </a:xfrm>
          <a:prstGeom xmlns:a="http://schemas.openxmlformats.org/drawingml/2006/main" prst="roundRect">
            <a:avLst>
              <a:gd name="adj" fmla="val 631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C4ECE05-5112-4EC5-B257-5277CA457E4D}"/>
              </a:ext>
            </a:extLst>
          </p:cNvPr>
          <p:cNvSpPr>
            <a:spLocks xmlns:a="http://schemas.openxmlformats.org/drawingml/2006/main" noGrp="1"/>
          </p:cNvSpPr>
          <p:nvPr/>
        </p:nvSpPr>
        <p:spPr>
          <a:xfrm xmlns:a="http://schemas.openxmlformats.org/drawingml/2006/main">
            <a:off x="62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  DMGT-2147</a:t>
            </a:r>
          </a:p>
        </p:txBody>
      </p:sp>
      <p:sp>
        <p:nvSpPr>
          <p:cNvPr id="17" name="">
            <a:extLst xmlns:a="http://schemas.openxmlformats.org/drawingml/2006/main">
              <a:ext uri="{FF2B5EF4-FFF2-40B4-BE49-F238E27FC236}">
                <a16:creationId xmlns:a16="http://schemas.microsoft.com/office/drawing/2014/main" id="{23C6AE8D-7B98-47C5-B81B-C33FE8A1E636}"/>
              </a:ext>
            </a:extLst>
          </p:cNvPr>
          <p:cNvSpPr>
            <a:spLocks xmlns:a="http://schemas.openxmlformats.org/drawingml/2006/main" noGrp="1"/>
          </p:cNvSpPr>
          <p:nvPr/>
        </p:nvSpPr>
        <p:spPr>
          <a:xfrm xmlns:a="http://schemas.openxmlformats.org/drawingml/2006/main">
            <a:off x="62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Recording / reporting for telemarketing regulations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Go-live TBD</a:t>
            </a:r>
          </a:p>
        </p:txBody>
      </p:sp>
      <p:sp>
        <p:nvSpPr>
          <p:cNvPr id="18" name="">
            <a:extLst xmlns:a="http://schemas.openxmlformats.org/drawingml/2006/main">
              <a:ext uri="{FF2B5EF4-FFF2-40B4-BE49-F238E27FC236}">
                <a16:creationId xmlns:a16="http://schemas.microsoft.com/office/drawing/2014/main" id="{01A92606-37A8-4D19-A919-D72E5F36D61B}"/>
              </a:ext>
            </a:extLst>
          </p:cNvPr>
          <p:cNvSpPr>
            <a:spLocks xmlns:a="http://schemas.openxmlformats.org/drawingml/2006/main" noGrp="1"/>
          </p:cNvSpPr>
          <p:nvPr/>
        </p:nvSpPr>
        <p:spPr>
          <a:xfrm xmlns:a="http://schemas.openxmlformats.org/drawingml/2006/main">
            <a:off x="4267200" y="4152900"/>
            <a:ext cx="3657600" cy="1809750"/>
          </a:xfrm>
          <a:prstGeom xmlns:a="http://schemas.openxmlformats.org/drawingml/2006/main" prst="roundRect">
            <a:avLst>
              <a:gd name="adj" fmla="val 6316"/>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2045BD1-8E2E-4B3F-9056-B58BA12CD083}"/>
              </a:ext>
            </a:extLst>
          </p:cNvPr>
          <p:cNvSpPr>
            <a:spLocks xmlns:a="http://schemas.openxmlformats.org/drawingml/2006/main" noGrp="1"/>
          </p:cNvSpPr>
          <p:nvPr/>
        </p:nvSpPr>
        <p:spPr>
          <a:xfrm xmlns:a="http://schemas.openxmlformats.org/drawingml/2006/main">
            <a:off x="443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Ⅱ  DMGT-250</a:t>
            </a:r>
          </a:p>
        </p:txBody>
      </p:sp>
      <p:sp>
        <p:nvSpPr>
          <p:cNvPr id="20" name="">
            <a:extLst xmlns:a="http://schemas.openxmlformats.org/drawingml/2006/main">
              <a:ext uri="{FF2B5EF4-FFF2-40B4-BE49-F238E27FC236}">
                <a16:creationId xmlns:a16="http://schemas.microsoft.com/office/drawing/2014/main" id="{5196872D-34B5-4D5A-95F7-86AD0FDC71FB}"/>
              </a:ext>
            </a:extLst>
          </p:cNvPr>
          <p:cNvSpPr>
            <a:spLocks xmlns:a="http://schemas.openxmlformats.org/drawingml/2006/main" noGrp="1"/>
          </p:cNvSpPr>
          <p:nvPr/>
        </p:nvSpPr>
        <p:spPr>
          <a:xfrm xmlns:a="http://schemas.openxmlformats.org/drawingml/2006/main">
            <a:off x="443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IVR WhatsApp / SMS notifications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Suspended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April 2026 source date</a:t>
            </a:r>
          </a:p>
        </p:txBody>
      </p:sp>
      <p:sp>
        <p:nvSpPr>
          <p:cNvPr id="21" name="">
            <a:extLst xmlns:a="http://schemas.openxmlformats.org/drawingml/2006/main">
              <a:ext uri="{FF2B5EF4-FFF2-40B4-BE49-F238E27FC236}">
                <a16:creationId xmlns:a16="http://schemas.microsoft.com/office/drawing/2014/main" id="{CB1FE6AC-8DEE-4DC2-A0DE-5A6A66776614}"/>
              </a:ext>
            </a:extLst>
          </p:cNvPr>
          <p:cNvSpPr>
            <a:spLocks xmlns:a="http://schemas.openxmlformats.org/drawingml/2006/main" noGrp="1"/>
          </p:cNvSpPr>
          <p:nvPr/>
        </p:nvSpPr>
        <p:spPr>
          <a:xfrm xmlns:a="http://schemas.openxmlformats.org/drawingml/2006/main">
            <a:off x="8077200" y="4152900"/>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375261E-F7D5-4A74-B239-B94D1F82CE02}"/>
              </a:ext>
            </a:extLst>
          </p:cNvPr>
          <p:cNvSpPr>
            <a:spLocks xmlns:a="http://schemas.openxmlformats.org/drawingml/2006/main" noGrp="1"/>
          </p:cNvSpPr>
          <p:nvPr/>
        </p:nvSpPr>
        <p:spPr>
          <a:xfrm xmlns:a="http://schemas.openxmlformats.org/drawingml/2006/main">
            <a:off x="824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Review priorities</a:t>
            </a:r>
          </a:p>
        </p:txBody>
      </p:sp>
      <p:sp>
        <p:nvSpPr>
          <p:cNvPr id="23" name="">
            <a:extLst xmlns:a="http://schemas.openxmlformats.org/drawingml/2006/main">
              <a:ext uri="{FF2B5EF4-FFF2-40B4-BE49-F238E27FC236}">
                <a16:creationId xmlns:a16="http://schemas.microsoft.com/office/drawing/2014/main" id="{A83438FF-63F5-48CF-BFA9-0729FF20E139}"/>
              </a:ext>
            </a:extLst>
          </p:cNvPr>
          <p:cNvSpPr>
            <a:spLocks xmlns:a="http://schemas.openxmlformats.org/drawingml/2006/main" noGrp="1"/>
          </p:cNvSpPr>
          <p:nvPr/>
        </p:nvSpPr>
        <p:spPr>
          <a:xfrm xmlns:a="http://schemas.openxmlformats.org/drawingml/2006/main">
            <a:off x="824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Confirm suspended demand disposition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Agree review outcomes and dates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Maintain cloud migration readiness</a:t>
            </a:r>
          </a:p>
        </p:txBody>
      </p:sp>
      <p:sp>
        <p:nvSpPr>
          <p:cNvPr id="24" name="">
            <a:extLst xmlns:a="http://schemas.openxmlformats.org/drawingml/2006/main">
              <a:ext uri="{FF2B5EF4-FFF2-40B4-BE49-F238E27FC236}">
                <a16:creationId xmlns:a16="http://schemas.microsoft.com/office/drawing/2014/main" id="{1254A5DD-2F41-4B5B-9E21-8ED137ACDF4C}"/>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72160179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63E60A2-9088-4D17-8DBB-D9AC5B6CE34C}"/>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E79B7880-9997-4682-97A5-1237614B645A}"/>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Partner support spans 13 demands across CET, CORE and EIS</a:t>
            </a:r>
          </a:p>
        </p:txBody>
      </p:sp>
      <p:sp>
        <p:nvSpPr>
          <p:cNvPr id="3" name="">
            <a:extLst xmlns:a="http://schemas.openxmlformats.org/drawingml/2006/main">
              <a:ext uri="{FF2B5EF4-FFF2-40B4-BE49-F238E27FC236}">
                <a16:creationId xmlns:a16="http://schemas.microsoft.com/office/drawing/2014/main" id="{38327FC9-4308-4D9C-A917-143A1D818C04}"/>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Five fulfilled, five in support, two in review and one not approved.</a:t>
            </a:r>
          </a:p>
        </p:txBody>
      </p:sp>
      <p:sp>
        <p:nvSpPr>
          <p:cNvPr id="4" name="">
            <a:extLst xmlns:a="http://schemas.openxmlformats.org/drawingml/2006/main">
              <a:ext uri="{FF2B5EF4-FFF2-40B4-BE49-F238E27FC236}">
                <a16:creationId xmlns:a16="http://schemas.microsoft.com/office/drawing/2014/main" id="{521F41C4-8DBD-47B0-885C-CDF2C5954464}"/>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2A6708AC-DCE5-4DB0-87E8-1D65C79CC13F}"/>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22</a:t>
            </a:r>
          </a:p>
        </p:txBody>
      </p:sp>
      <p:sp>
        <p:nvSpPr>
          <p:cNvPr id="6" name="">
            <a:extLst xmlns:a="http://schemas.openxmlformats.org/drawingml/2006/main">
              <a:ext uri="{FF2B5EF4-FFF2-40B4-BE49-F238E27FC236}">
                <a16:creationId xmlns:a16="http://schemas.microsoft.com/office/drawing/2014/main" id="{99DBB781-F042-4CA6-A7F3-51A69F4DFFF1}"/>
              </a:ext>
            </a:extLst>
          </p:cNvPr>
          <p:cNvSpPr>
            <a:spLocks xmlns:a="http://schemas.openxmlformats.org/drawingml/2006/main" noGrp="1"/>
          </p:cNvSpPr>
          <p:nvPr/>
        </p:nvSpPr>
        <p:spPr>
          <a:xfrm xmlns:a="http://schemas.openxmlformats.org/drawingml/2006/main">
            <a:off x="457200" y="2143125"/>
            <a:ext cx="3657600" cy="4105275"/>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F5F6D2-834C-403B-A3D8-508E05F6044D}"/>
              </a:ext>
            </a:extLst>
          </p:cNvPr>
          <p:cNvSpPr>
            <a:spLocks xmlns:a="http://schemas.openxmlformats.org/drawingml/2006/main" noGrp="1"/>
          </p:cNvSpPr>
          <p:nvPr/>
        </p:nvSpPr>
        <p:spPr>
          <a:xfrm xmlns:a="http://schemas.openxmlformats.org/drawingml/2006/main">
            <a:off x="62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Fulfilled (5)</a:t>
            </a:r>
          </a:p>
        </p:txBody>
      </p:sp>
      <p:sp>
        <p:nvSpPr>
          <p:cNvPr id="8" name="">
            <a:extLst xmlns:a="http://schemas.openxmlformats.org/drawingml/2006/main">
              <a:ext uri="{FF2B5EF4-FFF2-40B4-BE49-F238E27FC236}">
                <a16:creationId xmlns:a16="http://schemas.microsoft.com/office/drawing/2014/main" id="{B8A6C89A-6812-4443-8BE6-8774AEE96779}"/>
              </a:ext>
            </a:extLst>
          </p:cNvPr>
          <p:cNvSpPr>
            <a:spLocks xmlns:a="http://schemas.openxmlformats.org/drawingml/2006/main" noGrp="1"/>
          </p:cNvSpPr>
          <p:nvPr/>
        </p:nvSpPr>
        <p:spPr>
          <a:xfrm xmlns:a="http://schemas.openxmlformats.org/drawingml/2006/main">
            <a:off x="62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1692: DIB logo update (CET), Feb 2026</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22: ESG digital savings (CET), Jul 2026</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1707: DNCR API / Genesys testing (EIS), Sep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993: Jaywan Tracks 2 &amp; 3 (CET), Sep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43: Deposit-account credit restrictions (CORE)</a:t>
            </a:r>
          </a:p>
        </p:txBody>
      </p:sp>
      <p:sp>
        <p:nvSpPr>
          <p:cNvPr id="9" name="">
            <a:extLst xmlns:a="http://schemas.openxmlformats.org/drawingml/2006/main">
              <a:ext uri="{FF2B5EF4-FFF2-40B4-BE49-F238E27FC236}">
                <a16:creationId xmlns:a16="http://schemas.microsoft.com/office/drawing/2014/main" id="{F6E9F698-7F49-45A7-9696-CE7CC2CA952D}"/>
              </a:ext>
            </a:extLst>
          </p:cNvPr>
          <p:cNvSpPr>
            <a:spLocks xmlns:a="http://schemas.openxmlformats.org/drawingml/2006/main" noGrp="1"/>
          </p:cNvSpPr>
          <p:nvPr/>
        </p:nvSpPr>
        <p:spPr>
          <a:xfrm xmlns:a="http://schemas.openxmlformats.org/drawingml/2006/main">
            <a:off x="4267200" y="2143125"/>
            <a:ext cx="3657600" cy="4105275"/>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79B4CBE-F603-4F27-9DF3-69A04A719D74}"/>
              </a:ext>
            </a:extLst>
          </p:cNvPr>
          <p:cNvSpPr>
            <a:spLocks xmlns:a="http://schemas.openxmlformats.org/drawingml/2006/main" noGrp="1"/>
          </p:cNvSpPr>
          <p:nvPr/>
        </p:nvSpPr>
        <p:spPr>
          <a:xfrm xmlns:a="http://schemas.openxmlformats.org/drawingml/2006/main">
            <a:off x="443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In support (5)</a:t>
            </a:r>
          </a:p>
        </p:txBody>
      </p:sp>
      <p:sp>
        <p:nvSpPr>
          <p:cNvPr id="11" name="">
            <a:extLst xmlns:a="http://schemas.openxmlformats.org/drawingml/2006/main">
              <a:ext uri="{FF2B5EF4-FFF2-40B4-BE49-F238E27FC236}">
                <a16:creationId xmlns:a16="http://schemas.microsoft.com/office/drawing/2014/main" id="{F4112837-2B60-4077-8D0A-FAB63C498056}"/>
              </a:ext>
            </a:extLst>
          </p:cNvPr>
          <p:cNvSpPr>
            <a:spLocks xmlns:a="http://schemas.openxmlformats.org/drawingml/2006/main" noGrp="1"/>
          </p:cNvSpPr>
          <p:nvPr/>
        </p:nvSpPr>
        <p:spPr>
          <a:xfrm xmlns:a="http://schemas.openxmlformats.org/drawingml/2006/main">
            <a:off x="443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1368: DU ePayment (CET)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1326: Dormancy / fund transfer to CBUAE (CORE)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714: Statements / blacklist flag (CORE)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1680: Emirati covered cards (CET)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1305: Jaywan CoBadge Track 4 (CET)</a:t>
            </a:r>
          </a:p>
        </p:txBody>
      </p:sp>
      <p:sp>
        <p:nvSpPr>
          <p:cNvPr id="12" name="">
            <a:extLst xmlns:a="http://schemas.openxmlformats.org/drawingml/2006/main">
              <a:ext uri="{FF2B5EF4-FFF2-40B4-BE49-F238E27FC236}">
                <a16:creationId xmlns:a16="http://schemas.microsoft.com/office/drawing/2014/main" id="{E200C934-446F-4C2F-A431-AA47493EC913}"/>
              </a:ext>
            </a:extLst>
          </p:cNvPr>
          <p:cNvSpPr>
            <a:spLocks xmlns:a="http://schemas.openxmlformats.org/drawingml/2006/main" noGrp="1"/>
          </p:cNvSpPr>
          <p:nvPr/>
        </p:nvSpPr>
        <p:spPr>
          <a:xfrm xmlns:a="http://schemas.openxmlformats.org/drawingml/2006/main">
            <a:off x="8077200" y="2143125"/>
            <a:ext cx="3657600" cy="4105275"/>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EC90025-C0A5-4ABF-96E9-6E0901049D43}"/>
              </a:ext>
            </a:extLst>
          </p:cNvPr>
          <p:cNvSpPr>
            <a:spLocks xmlns:a="http://schemas.openxmlformats.org/drawingml/2006/main" noGrp="1"/>
          </p:cNvSpPr>
          <p:nvPr/>
        </p:nvSpPr>
        <p:spPr>
          <a:xfrm xmlns:a="http://schemas.openxmlformats.org/drawingml/2006/main">
            <a:off x="824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Decisions (3)</a:t>
            </a:r>
          </a:p>
        </p:txBody>
      </p:sp>
      <p:sp>
        <p:nvSpPr>
          <p:cNvPr id="14" name="">
            <a:extLst xmlns:a="http://schemas.openxmlformats.org/drawingml/2006/main">
              <a:ext uri="{FF2B5EF4-FFF2-40B4-BE49-F238E27FC236}">
                <a16:creationId xmlns:a16="http://schemas.microsoft.com/office/drawing/2014/main" id="{59524A84-C9C2-4B6E-9DAD-E8AF6CB91EC9}"/>
              </a:ext>
            </a:extLst>
          </p:cNvPr>
          <p:cNvSpPr>
            <a:spLocks xmlns:a="http://schemas.openxmlformats.org/drawingml/2006/main" noGrp="1"/>
          </p:cNvSpPr>
          <p:nvPr/>
        </p:nvSpPr>
        <p:spPr>
          <a:xfrm xmlns:a="http://schemas.openxmlformats.org/drawingml/2006/main">
            <a:off x="824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1802: Universal Accounts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Notice 680.2026 (CET), ITC 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1248: Collections dialer upgrade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(EIS), ITC review</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1785: A-Ignite engagement / dialer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(CET), ITC not approved on 21 Sep</a:t>
            </a:r>
          </a:p>
        </p:txBody>
      </p:sp>
      <p:sp>
        <p:nvSpPr>
          <p:cNvPr id="15" name="">
            <a:extLst xmlns:a="http://schemas.openxmlformats.org/drawingml/2006/main">
              <a:ext uri="{FF2B5EF4-FFF2-40B4-BE49-F238E27FC236}">
                <a16:creationId xmlns:a16="http://schemas.microsoft.com/office/drawing/2014/main" id="{9E818AFF-424B-40FF-AE1C-CC1E2726DD5D}"/>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239521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2026-10-05T15:27:55.2990000Z</dcterms:created>
  <dcterms:modified xsi:type="dcterms:W3CDTF">2026-10-05T15:27:55.2990000Z</dcterms:modified>
</coreProperties>
</file>