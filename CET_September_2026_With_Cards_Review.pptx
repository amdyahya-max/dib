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16.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slides/charts/chart17.xml" ContentType="application/vnd.openxmlformats-officedocument.drawingml.chart+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18.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cd826d60594535" /><Relationship Type="http://schemas.openxmlformats.org/officeDocument/2006/relationships/extended-properties" Target="/docProps/app.xml" Id="Rf90df90d5f074c34" /><Relationship Type="http://schemas.openxmlformats.org/officeDocument/2006/relationships/officeDocument" Target="/ppt/presentation.xml" Id="R88c6523e65314627" /></Relationships>
</file>

<file path=ppt/presentation.xml><?xml version="1.0" encoding="utf-8"?>
<p:presentation xmlns:p="http://schemas.openxmlformats.org/presentationml/2006/main">
  <p:sldMasterIdLst>
    <p:sldMasterId xmlns:r="http://schemas.openxmlformats.org/officeDocument/2006/relationships" id="2147483648" r:id="Raf5a8cc51f1c49f6"/>
  </p:sldMasterIdLst>
  <p:notesMasterIdLst>
    <p:notesMasterId xmlns:r="http://schemas.openxmlformats.org/officeDocument/2006/relationships" r:id="Rd78429c93db44ef5"/>
  </p:notesMasterIdLst>
  <p:sldIdLst>
    <p:sldId xmlns:r="http://schemas.openxmlformats.org/officeDocument/2006/relationships" id="256" r:id="Rb8988c03df5d470a"/>
    <p:sldId xmlns:r="http://schemas.openxmlformats.org/officeDocument/2006/relationships" id="257" r:id="Ra6ffb42b0aa6489b"/>
    <p:sldId xmlns:r="http://schemas.openxmlformats.org/officeDocument/2006/relationships" id="258" r:id="Rbbbfad226e754216"/>
    <p:sldId xmlns:r="http://schemas.openxmlformats.org/officeDocument/2006/relationships" id="259" r:id="R0e2648d90f764f8e"/>
    <p:sldId xmlns:r="http://schemas.openxmlformats.org/officeDocument/2006/relationships" id="260" r:id="R591aaa308fe84b2b"/>
    <p:sldId xmlns:r="http://schemas.openxmlformats.org/officeDocument/2006/relationships" id="261" r:id="R1968f084292e441b"/>
    <p:sldId xmlns:r="http://schemas.openxmlformats.org/officeDocument/2006/relationships" id="262" r:id="Rca25e8c87d6141cd"/>
    <p:sldId xmlns:r="http://schemas.openxmlformats.org/officeDocument/2006/relationships" id="263" r:id="R23fa02ab49414557"/>
    <p:sldId xmlns:r="http://schemas.openxmlformats.org/officeDocument/2006/relationships" id="264" r:id="R7f09bafa3c2f4473"/>
    <p:sldId xmlns:r="http://schemas.openxmlformats.org/officeDocument/2006/relationships" id="265" r:id="Rf3e289d274344498"/>
    <p:sldId xmlns:r="http://schemas.openxmlformats.org/officeDocument/2006/relationships" id="266" r:id="Rd1d530980c35417e"/>
    <p:sldId xmlns:r="http://schemas.openxmlformats.org/officeDocument/2006/relationships" id="267" r:id="R66d6fd2a4db34c3a"/>
    <p:sldId xmlns:r="http://schemas.openxmlformats.org/officeDocument/2006/relationships" id="268" r:id="Rfb92fd0a7454486b"/>
    <p:sldId xmlns:r="http://schemas.openxmlformats.org/officeDocument/2006/relationships" id="269" r:id="R608fb35397c74646"/>
    <p:sldId xmlns:r="http://schemas.openxmlformats.org/officeDocument/2006/relationships" id="270" r:id="Rdc7764b0ce7943e4"/>
    <p:sldId xmlns:r="http://schemas.openxmlformats.org/officeDocument/2006/relationships" id="271" r:id="Rb6d2c5de90334292"/>
    <p:sldId xmlns:r="http://schemas.openxmlformats.org/officeDocument/2006/relationships" id="272" r:id="Rf7fae53844484f9d"/>
    <p:sldId xmlns:r="http://schemas.openxmlformats.org/officeDocument/2006/relationships" id="273" r:id="R87a59a8b8fc6440d"/>
    <p:sldId xmlns:r="http://schemas.openxmlformats.org/officeDocument/2006/relationships" id="274" r:id="Rc6c45c4f6b8d487d"/>
    <p:sldId xmlns:r="http://schemas.openxmlformats.org/officeDocument/2006/relationships" id="275" r:id="Rc92c966899054572"/>
    <p:sldId xmlns:r="http://schemas.openxmlformats.org/officeDocument/2006/relationships" id="276" r:id="R4f5e38cc82bd4cab"/>
    <p:sldId xmlns:r="http://schemas.openxmlformats.org/officeDocument/2006/relationships" id="277" r:id="R8e0a462b824149cd"/>
    <p:sldId xmlns:r="http://schemas.openxmlformats.org/officeDocument/2006/relationships" id="278" r:id="R3495dea271334dbf"/>
    <p:sldId xmlns:r="http://schemas.openxmlformats.org/officeDocument/2006/relationships" id="279" r:id="Rb6af4f5483f04e9e"/>
    <p:sldId xmlns:r="http://schemas.openxmlformats.org/officeDocument/2006/relationships" id="280" r:id="R1dfe719c3a914ba4"/>
    <p:sldId xmlns:r="http://schemas.openxmlformats.org/officeDocument/2006/relationships" id="281" r:id="Rcd129adabaac434f"/>
    <p:sldId xmlns:r="http://schemas.openxmlformats.org/officeDocument/2006/relationships" id="282" r:id="Re9719a2d06cb4042"/>
    <p:sldId xmlns:r="http://schemas.openxmlformats.org/officeDocument/2006/relationships" id="283" r:id="R6a022c6c069d401f"/>
    <p:sldId xmlns:r="http://schemas.openxmlformats.org/officeDocument/2006/relationships" id="284" r:id="R8b73a05ead034007"/>
    <p:sldId xmlns:r="http://schemas.openxmlformats.org/officeDocument/2006/relationships" id="285" r:id="R2520cd37781d46c7"/>
    <p:sldId xmlns:r="http://schemas.openxmlformats.org/officeDocument/2006/relationships" id="286" r:id="Reef31bc51c06421b"/>
    <p:sldId xmlns:r="http://schemas.openxmlformats.org/officeDocument/2006/relationships" id="287" r:id="R578ebe02884d43e7"/>
    <p:sldId xmlns:r="http://schemas.openxmlformats.org/officeDocument/2006/relationships" id="288" r:id="R19f09548fd6c4aab"/>
    <p:sldId xmlns:r="http://schemas.openxmlformats.org/officeDocument/2006/relationships" id="289" r:id="Rceb59b1f7c2f4233"/>
    <p:sldId xmlns:r="http://schemas.openxmlformats.org/officeDocument/2006/relationships" id="290" r:id="Rfb4892a563f9441e"/>
    <p:sldId xmlns:r="http://schemas.openxmlformats.org/officeDocument/2006/relationships" id="291" r:id="R7d323fcae21147c6"/>
    <p:sldId xmlns:r="http://schemas.openxmlformats.org/officeDocument/2006/relationships" id="292" r:id="R0db1943734ed439d"/>
    <p:sldId xmlns:r="http://schemas.openxmlformats.org/officeDocument/2006/relationships" id="293" r:id="R4f108565024244b6"/>
    <p:sldId xmlns:r="http://schemas.openxmlformats.org/officeDocument/2006/relationships" id="294" r:id="Rc0442a765aa34c16"/>
    <p:sldId xmlns:r="http://schemas.openxmlformats.org/officeDocument/2006/relationships" id="295" r:id="Rc42b834d07304b5c"/>
    <p:sldId xmlns:r="http://schemas.openxmlformats.org/officeDocument/2006/relationships" id="296" r:id="Rc03f2548ba724585"/>
    <p:sldId xmlns:r="http://schemas.openxmlformats.org/officeDocument/2006/relationships" id="297" r:id="R644844c672ff4a83"/>
    <p:sldId xmlns:r="http://schemas.openxmlformats.org/officeDocument/2006/relationships" id="298" r:id="Rb7735c1aed764257"/>
    <p:sldId xmlns:r="http://schemas.openxmlformats.org/officeDocument/2006/relationships" id="299" r:id="R48c0403a1af44b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51aec126234e0f" /><Relationship Type="http://schemas.openxmlformats.org/officeDocument/2006/relationships/slideMaster" Target="/ppt/slideMasters/slideMaster1.xml" Id="Raf5a8cc51f1c49f6" /><Relationship Type="http://schemas.openxmlformats.org/officeDocument/2006/relationships/notesMaster" Target="/ppt/notesMasters/notesMaster1.xml" Id="Rd78429c93db44ef5" /><Relationship Type="http://schemas.openxmlformats.org/officeDocument/2006/relationships/presProps" Target="/ppt/presProps.xml" Id="R4e7e4532d26545bf" /><Relationship Type="http://schemas.openxmlformats.org/officeDocument/2006/relationships/tableStyles" Target="/ppt/tableStyles.xml" Id="R4a4a91895c754284" /><Relationship Type="http://schemas.openxmlformats.org/officeDocument/2006/relationships/slide" Target="/ppt/slides/slide1.xml" Id="Rb8988c03df5d470a" /><Relationship Type="http://schemas.openxmlformats.org/officeDocument/2006/relationships/slide" Target="/ppt/slides/slide2.xml" Id="Ra6ffb42b0aa6489b" /><Relationship Type="http://schemas.openxmlformats.org/officeDocument/2006/relationships/slide" Target="/ppt/slides/slide3.xml" Id="Rbbbfad226e754216" /><Relationship Type="http://schemas.openxmlformats.org/officeDocument/2006/relationships/slide" Target="/ppt/slides/slide4.xml" Id="R0e2648d90f764f8e" /><Relationship Type="http://schemas.openxmlformats.org/officeDocument/2006/relationships/slide" Target="/ppt/slides/slide5.xml" Id="R591aaa308fe84b2b" /><Relationship Type="http://schemas.openxmlformats.org/officeDocument/2006/relationships/slide" Target="/ppt/slides/slide6.xml" Id="R1968f084292e441b" /><Relationship Type="http://schemas.openxmlformats.org/officeDocument/2006/relationships/slide" Target="/ppt/slides/slide7.xml" Id="Rca25e8c87d6141cd" /><Relationship Type="http://schemas.openxmlformats.org/officeDocument/2006/relationships/slide" Target="/ppt/slides/slide8.xml" Id="R23fa02ab49414557" /><Relationship Type="http://schemas.openxmlformats.org/officeDocument/2006/relationships/slide" Target="/ppt/slides/slide9.xml" Id="R7f09bafa3c2f4473" /><Relationship Type="http://schemas.openxmlformats.org/officeDocument/2006/relationships/slide" Target="/ppt/slides/slide10.xml" Id="Rf3e289d274344498" /><Relationship Type="http://schemas.openxmlformats.org/officeDocument/2006/relationships/slide" Target="/ppt/slides/slide11.xml" Id="Rd1d530980c35417e" /><Relationship Type="http://schemas.openxmlformats.org/officeDocument/2006/relationships/slide" Target="/ppt/slides/slide12.xml" Id="R66d6fd2a4db34c3a" /><Relationship Type="http://schemas.openxmlformats.org/officeDocument/2006/relationships/slide" Target="/ppt/slides/slide13.xml" Id="Rfb92fd0a7454486b" /><Relationship Type="http://schemas.openxmlformats.org/officeDocument/2006/relationships/slide" Target="/ppt/slides/slide14.xml" Id="R608fb35397c74646" /><Relationship Type="http://schemas.openxmlformats.org/officeDocument/2006/relationships/slide" Target="/ppt/slides/slide15.xml" Id="Rdc7764b0ce7943e4" /><Relationship Type="http://schemas.openxmlformats.org/officeDocument/2006/relationships/slide" Target="/ppt/slides/slide16.xml" Id="Rb6d2c5de90334292" /><Relationship Type="http://schemas.openxmlformats.org/officeDocument/2006/relationships/slide" Target="/ppt/slides/slide17.xml" Id="Rf7fae53844484f9d" /><Relationship Type="http://schemas.openxmlformats.org/officeDocument/2006/relationships/slide" Target="/ppt/slides/slide18.xml" Id="R87a59a8b8fc6440d" /><Relationship Type="http://schemas.openxmlformats.org/officeDocument/2006/relationships/slide" Target="/ppt/slides/slide19.xml" Id="Rc6c45c4f6b8d487d" /><Relationship Type="http://schemas.openxmlformats.org/officeDocument/2006/relationships/slide" Target="/ppt/slides/slide20.xml" Id="Rc92c966899054572" /><Relationship Type="http://schemas.openxmlformats.org/officeDocument/2006/relationships/slide" Target="/ppt/slides/slide21.xml" Id="R4f5e38cc82bd4cab" /><Relationship Type="http://schemas.openxmlformats.org/officeDocument/2006/relationships/slide" Target="/ppt/slides/slide22.xml" Id="R8e0a462b824149cd" /><Relationship Type="http://schemas.openxmlformats.org/officeDocument/2006/relationships/slide" Target="/ppt/slides/slide23.xml" Id="R3495dea271334dbf" /><Relationship Type="http://schemas.openxmlformats.org/officeDocument/2006/relationships/slide" Target="/ppt/slides/slide24.xml" Id="Rb6af4f5483f04e9e" /><Relationship Type="http://schemas.openxmlformats.org/officeDocument/2006/relationships/slide" Target="/ppt/slides/slide25.xml" Id="R1dfe719c3a914ba4" /><Relationship Type="http://schemas.openxmlformats.org/officeDocument/2006/relationships/slide" Target="/ppt/slides/slide26.xml" Id="Rcd129adabaac434f" /><Relationship Type="http://schemas.openxmlformats.org/officeDocument/2006/relationships/slide" Target="/ppt/slides/slide27.xml" Id="Re9719a2d06cb4042" /><Relationship Type="http://schemas.openxmlformats.org/officeDocument/2006/relationships/slide" Target="/ppt/slides/slide28.xml" Id="R6a022c6c069d401f" /><Relationship Type="http://schemas.openxmlformats.org/officeDocument/2006/relationships/slide" Target="/ppt/slides/slide29.xml" Id="R8b73a05ead034007" /><Relationship Type="http://schemas.openxmlformats.org/officeDocument/2006/relationships/slide" Target="/ppt/slides/slide30.xml" Id="R2520cd37781d46c7" /><Relationship Type="http://schemas.openxmlformats.org/officeDocument/2006/relationships/slide" Target="/ppt/slides/slide31.xml" Id="Reef31bc51c06421b" /><Relationship Type="http://schemas.openxmlformats.org/officeDocument/2006/relationships/slide" Target="/ppt/slides/slide32.xml" Id="R578ebe02884d43e7" /><Relationship Type="http://schemas.openxmlformats.org/officeDocument/2006/relationships/slide" Target="/ppt/slides/slide33.xml" Id="R19f09548fd6c4aab" /><Relationship Type="http://schemas.openxmlformats.org/officeDocument/2006/relationships/slide" Target="/ppt/slides/slide34.xml" Id="Rceb59b1f7c2f4233" /><Relationship Type="http://schemas.openxmlformats.org/officeDocument/2006/relationships/slide" Target="/ppt/slides/slide35.xml" Id="Rfb4892a563f9441e" /><Relationship Type="http://schemas.openxmlformats.org/officeDocument/2006/relationships/slide" Target="/ppt/slides/slide36.xml" Id="R7d323fcae21147c6" /><Relationship Type="http://schemas.openxmlformats.org/officeDocument/2006/relationships/slide" Target="/ppt/slides/slide37.xml" Id="R0db1943734ed439d" /><Relationship Type="http://schemas.openxmlformats.org/officeDocument/2006/relationships/slide" Target="/ppt/slides/slide38.xml" Id="R4f108565024244b6" /><Relationship Type="http://schemas.openxmlformats.org/officeDocument/2006/relationships/slide" Target="/ppt/slides/slide39.xml" Id="Rc0442a765aa34c16" /><Relationship Type="http://schemas.openxmlformats.org/officeDocument/2006/relationships/slide" Target="/ppt/slides/slide40.xml" Id="Rc42b834d07304b5c" /><Relationship Type="http://schemas.openxmlformats.org/officeDocument/2006/relationships/slide" Target="/ppt/slides/slide41.xml" Id="Rc03f2548ba724585" /><Relationship Type="http://schemas.openxmlformats.org/officeDocument/2006/relationships/slide" Target="/ppt/slides/slide42.xml" Id="R644844c672ff4a83" /><Relationship Type="http://schemas.openxmlformats.org/officeDocument/2006/relationships/slide" Target="/ppt/slides/slide43.xml" Id="Rb7735c1aed764257" /><Relationship Type="http://schemas.openxmlformats.org/officeDocument/2006/relationships/slide" Target="/ppt/slides/slide44.xml" Id="R48c0403a1af44b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0b3c66fcca44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00832649864fe9" /><Relationship Type="http://schemas.openxmlformats.org/officeDocument/2006/relationships/notesMaster" Target="/ppt/notesMasters/notesMaster1.xml" Id="R377c81b99c4046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819de18fcc45ad" /><Relationship Type="http://schemas.openxmlformats.org/officeDocument/2006/relationships/notesMaster" Target="/ppt/notesMasters/notesMaster1.xml" Id="Re995c22ff7854a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4c68acab7949c0" /><Relationship Type="http://schemas.openxmlformats.org/officeDocument/2006/relationships/notesMaster" Target="/ppt/notesMasters/notesMaster1.xml" Id="R64109c73686a41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e9fb3234ef40fd" /><Relationship Type="http://schemas.openxmlformats.org/officeDocument/2006/relationships/notesMaster" Target="/ppt/notesMasters/notesMaster1.xml" Id="Rd6a2dd0d27cb43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5d6d0b34ef442a" /><Relationship Type="http://schemas.openxmlformats.org/officeDocument/2006/relationships/notesMaster" Target="/ppt/notesMasters/notesMaster1.xml" Id="R534e50fe16f345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b6210753364bf6" /><Relationship Type="http://schemas.openxmlformats.org/officeDocument/2006/relationships/notesMaster" Target="/ppt/notesMasters/notesMaster1.xml" Id="Rc366a11326ff4d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5c1fadc748414d" /><Relationship Type="http://schemas.openxmlformats.org/officeDocument/2006/relationships/notesMaster" Target="/ppt/notesMasters/notesMaster1.xml" Id="Rfd732a0b816548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de74cfb6ab4431" /><Relationship Type="http://schemas.openxmlformats.org/officeDocument/2006/relationships/notesMaster" Target="/ppt/notesMasters/notesMaster1.xml" Id="R358d7f94b81f4d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1cef8f10084f57" /><Relationship Type="http://schemas.openxmlformats.org/officeDocument/2006/relationships/notesMaster" Target="/ppt/notesMasters/notesMaster1.xml" Id="R8391b154678949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3ce74257c74d15" /><Relationship Type="http://schemas.openxmlformats.org/officeDocument/2006/relationships/notesMaster" Target="/ppt/notesMasters/notesMaster1.xml" Id="Ra27b486357ab4d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11f458654f45cd" /><Relationship Type="http://schemas.openxmlformats.org/officeDocument/2006/relationships/notesMaster" Target="/ppt/notesMasters/notesMaster1.xml" Id="R17f50292adaa40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e39ddb96884887" /><Relationship Type="http://schemas.openxmlformats.org/officeDocument/2006/relationships/notesMaster" Target="/ppt/notesMasters/notesMaster1.xml" Id="Rbd58e8046e6b4b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a55bac41a54344" /><Relationship Type="http://schemas.openxmlformats.org/officeDocument/2006/relationships/notesMaster" Target="/ppt/notesMasters/notesMaster1.xml" Id="R8235f2c0d96b4d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bd76c326994503" /><Relationship Type="http://schemas.openxmlformats.org/officeDocument/2006/relationships/notesMaster" Target="/ppt/notesMasters/notesMaster1.xml" Id="R857b5a5a9b2e47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79fb5435394b87" /><Relationship Type="http://schemas.openxmlformats.org/officeDocument/2006/relationships/notesMaster" Target="/ppt/notesMasters/notesMaster1.xml" Id="R8d7f08e3c0a34f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d2080b1fd94543" /><Relationship Type="http://schemas.openxmlformats.org/officeDocument/2006/relationships/notesMaster" Target="/ppt/notesMasters/notesMaster1.xml" Id="R7f544588969748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2dcd1414f345fa" /><Relationship Type="http://schemas.openxmlformats.org/officeDocument/2006/relationships/notesMaster" Target="/ppt/notesMasters/notesMaster1.xml" Id="R17a1cf74a4be45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601b926d6e47cb" /><Relationship Type="http://schemas.openxmlformats.org/officeDocument/2006/relationships/notesMaster" Target="/ppt/notesMasters/notesMaster1.xml" Id="R33b13f2fb5eb4e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6c6e4086434535" /><Relationship Type="http://schemas.openxmlformats.org/officeDocument/2006/relationships/notesMaster" Target="/ppt/notesMasters/notesMaster1.xml" Id="R80ae8c48ab0440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40d48499a744b1" /><Relationship Type="http://schemas.openxmlformats.org/officeDocument/2006/relationships/notesMaster" Target="/ppt/notesMasters/notesMaster1.xml" Id="R290840f38a0d482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64fe5d0ae64452" /><Relationship Type="http://schemas.openxmlformats.org/officeDocument/2006/relationships/notesMaster" Target="/ppt/notesMasters/notesMaster1.xml" Id="R4c7198ec37404c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b3c8aea852492c" /><Relationship Type="http://schemas.openxmlformats.org/officeDocument/2006/relationships/notesMaster" Target="/ppt/notesMasters/notesMaster1.xml" Id="Ra95efa14dd5945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bf51925e0f4e6b" /><Relationship Type="http://schemas.openxmlformats.org/officeDocument/2006/relationships/notesMaster" Target="/ppt/notesMasters/notesMaster1.xml" Id="R3e0733aad00248c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9f24243e4448bf" /><Relationship Type="http://schemas.openxmlformats.org/officeDocument/2006/relationships/notesMaster" Target="/ppt/notesMasters/notesMaster1.xml" Id="R311938abc6e6419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51f219802041d2" /><Relationship Type="http://schemas.openxmlformats.org/officeDocument/2006/relationships/notesMaster" Target="/ppt/notesMasters/notesMaster1.xml" Id="R553ac58f79124d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dc1354759744b9" /><Relationship Type="http://schemas.openxmlformats.org/officeDocument/2006/relationships/notesMaster" Target="/ppt/notesMasters/notesMaster1.xml" Id="R65c6e425e8ab49c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e0968b431634e07" /><Relationship Type="http://schemas.openxmlformats.org/officeDocument/2006/relationships/notesMaster" Target="/ppt/notesMasters/notesMaster1.xml" Id="R961e5423961c47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93f7b51a75496f" /><Relationship Type="http://schemas.openxmlformats.org/officeDocument/2006/relationships/notesMaster" Target="/ppt/notesMasters/notesMaster1.xml" Id="R53483d10b99f47b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0c57bb454704d66" /><Relationship Type="http://schemas.openxmlformats.org/officeDocument/2006/relationships/notesMaster" Target="/ppt/notesMasters/notesMaster1.xml" Id="R504ba3ae0522416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d09e01f07945c9" /><Relationship Type="http://schemas.openxmlformats.org/officeDocument/2006/relationships/notesMaster" Target="/ppt/notesMasters/notesMaster1.xml" Id="Re64c7d0ef84443e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31245a888684650" /><Relationship Type="http://schemas.openxmlformats.org/officeDocument/2006/relationships/notesMaster" Target="/ppt/notesMasters/notesMaster1.xml" Id="R5790eae34330428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ac0504b9c9473b" /><Relationship Type="http://schemas.openxmlformats.org/officeDocument/2006/relationships/notesMaster" Target="/ppt/notesMasters/notesMaster1.xml" Id="Rb83d122c6bb840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b69fd3f18484254" /><Relationship Type="http://schemas.openxmlformats.org/officeDocument/2006/relationships/notesMaster" Target="/ppt/notesMasters/notesMaster1.xml" Id="Rd399f68e821a4e2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7687c99ede4d27" /><Relationship Type="http://schemas.openxmlformats.org/officeDocument/2006/relationships/notesMaster" Target="/ppt/notesMasters/notesMaster1.xml" Id="R2e7e8b184685496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300e02a3d12498e" /><Relationship Type="http://schemas.openxmlformats.org/officeDocument/2006/relationships/notesMaster" Target="/ppt/notesMasters/notesMaster1.xml" Id="R3beb7b2ac27842e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3dc220f85f74c4a" /><Relationship Type="http://schemas.openxmlformats.org/officeDocument/2006/relationships/notesMaster" Target="/ppt/notesMasters/notesMaster1.xml" Id="Rfdefda7de70c41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763ea0187cd47e0" /><Relationship Type="http://schemas.openxmlformats.org/officeDocument/2006/relationships/notesMaster" Target="/ppt/notesMasters/notesMaster1.xml" Id="R7ca81eef3ddf44b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53331d31b354f1b" /><Relationship Type="http://schemas.openxmlformats.org/officeDocument/2006/relationships/notesMaster" Target="/ppt/notesMasters/notesMaster1.xml" Id="R4b1f5a03642545b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de04d8e8e6d41fb" /><Relationship Type="http://schemas.openxmlformats.org/officeDocument/2006/relationships/notesMaster" Target="/ppt/notesMasters/notesMaster1.xml" Id="R2d2d3228b31f445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c3c3dc795144526" /><Relationship Type="http://schemas.openxmlformats.org/officeDocument/2006/relationships/notesMaster" Target="/ppt/notesMasters/notesMaster1.xml" Id="Re95d3a43a50f411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f5b9b68223d4736" /><Relationship Type="http://schemas.openxmlformats.org/officeDocument/2006/relationships/notesMaster" Target="/ppt/notesMasters/notesMaster1.xml" Id="R28621b0da6f4473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ba0f5b9332b4441" /><Relationship Type="http://schemas.openxmlformats.org/officeDocument/2006/relationships/notesMaster" Target="/ppt/notesMasters/notesMaster1.xml" Id="Raf862237147e486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0f18e8f11a24cfc" /><Relationship Type="http://schemas.openxmlformats.org/officeDocument/2006/relationships/notesMaster" Target="/ppt/notesMasters/notesMaster1.xml" Id="R939814588a73443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71a047f7d4d4a55" /><Relationship Type="http://schemas.openxmlformats.org/officeDocument/2006/relationships/notesMaster" Target="/ppt/notesMasters/notesMaster1.xml" Id="Rcb239664636145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¹Completed / total demand is a portfolio snapshot share, not a monthly delivery rate. Totals are arithmetic sums of reported platform portfolios, without demand-ID deduplication. 98/285=34.4%. Other states: 24 new demand, 4 baseline 0, 24 dropped. Volumes remain separate because currency and cross-platform overlap are unspecified. Source health labels are Green for all platforms. Management priorities are analytical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Planned outages/deployments: IB 5, MB 10. Planned downtime: IB 2h50m, MB 3h15m. Unplanned outages: MB 1. The source reports ~48 hours of intermittent degradation and successful mitigation, not 48 hours of total downtime. Infrastructure: MB CPU 7.97%, memory 35.64%, storage 66.10%. IB CPU 5.01%, memory 52.87%, storage 50.17%. DR available yes, tested, environment readiness validated and recovery procedures confirmed. Source reports healthy infrastructure and monitored reliability. SME share 9.16/16.99=53.9%.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Total demands 122. Exact September volume 3,242,716,155.49. Rounded component volumes sum to 3.24B. PF share 2.33/3.24=71.9%. Planned outages 0, unplanned outages 0, planned downtime 0 hours, unplanned downtime 0. Reliability unchanged and stable operational posture. CPU &lt;10%, memory &lt;60%, capacity healthy within operating thresholds. No DR available, upgrade planned 2027. Source target is sustain monthly processing above 3.0 billion, not a forecast. Product abbreviations preserved from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Exact September volume 1,244,030,273. Source monthly values are rounded to two decimal billions. August-to-September change (1.24/1.39-1)=-10.8%, calculated from rounded figures. July peak 1.57B, March low 0.84B. 0 planned outages, 1 unplanned outage, 0 planned downtime, 12 minutes unplanned downtime. Application server dxb01-vwp-lmsa2 stopped responding and returned Server Too Busy. Secondary server took load and prevented total environment outage. No critical incidents, one major incident, reliability monitored. CPU &lt;40%, memory &lt;25%, storage &lt;70%. Source availability 100% needs reconciliation with 12 minutes downtime.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These are selected named initiatives, not a complete list of the 98 delivered/completed items or 67 in progress. The source spells Emirati Card. LL/LG and CIF expansion not assumed. IB/MB source: Removal of Skywards Cards from Mobile Banking; 3x3 Drop 4 – Release 1 &amp; Release 2; TAB-52 – Tablet AOF Audit Requirement. FinnOne source: Field Amendment for LL and LG flags; Multiple Rate Changes service request; Supplementary Card Mobile No. Email ID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Next-review evidence: incident closure, customer impact and effectiveness of MB controls; approved pickup plan for IB/MB 27, FinnOne 29 and HFLMS 12; recovery ownership, test evidence and 2027 milestones; release dates, blockers and acceptance decisions. Demand dots each represent one reported item. Data interpretation: source labels all platforms Green. HFLMS reports 100% availability alongside 12 minutes unplanned downtime. IB/MB reports 99.9% alongside ~48 hours intermittent MB degradation. These metrics may use different denominators or service scopes. Reconcile definitions without substituting an invented availability rate. No prior-month demand snapshot, demand aging, capacity allocation, costs, benefits or dates supplied. Delivery share is a portfolio composition measure and cannot establish throughput growth, ROI or delivery efficiency. Volumes are business transaction volumes, not revenue. Summing portfolios assumes no cross-platform duplicate demand IDs and needs validation before an enterprise unique-demand total. Recommendations do not imply approved owners or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AF executive summary attachment IMG_212267D2-D987-4FA7-B317-11571926A8EA.jpeg. Four solution-finalization items reported but only three named. Adding Guarantor has DMGT without number in source. Source reports 18 stage-counted initiatives (4+4+2+2+2+4), not independently deduplicated. DMGT-2583 is listed under development and planned 30 September 2026. DMGT-2480 and DMGT-2384 planned 4 October 2026. Dates are plans, not confirmed releases.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AF roadmap screenshots, September 2025–February 2026 and March–August 2026. These are historical milestones, not September 2026 delivery counts. Names retained from the previously reviewed AF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PF executive summary IMG_607B2DBC-EFD7-4E54-BD48-3BCC7F4B5C7E.jpeg. Six solution-design demand IDs DMGT-83,49,1336,2557,1708,1021; one development DMGT-91, one UAT DMGT-106, one business sign-off DMGT-56, three backlog and eight open-point tracking entries. Do not add all counts to platform demand totals. DMGT-91 appears in both AF and PF source descriptions, requiring cross-squad scope confirmation before unique-demand reporting. DMGT-56 planned 4 October. PF milestone source also lists it under Oct 2026 achievements, but actual delivery is not confirmed by the September executive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PF milestone and September executive summary attachments. Historical milestone names and IDs are retained. Only supplied months appear. DMGT-56 is shown under October 2026 in the milestone source, but the September summary gives a planned 4 October go-live. Delivery remains unconfirmed. Roadmap lanes group milestones by period and are not scaled to elapsed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IMG_29BCD58C-7D3B-40A6-96C0-6264C3E77CD5.jpeg and CRM demand-list screenshots IMG_FB9C6BDA-7B1E-4979-9011-8122DC64DB60.jpeg and IMG_EFAC1DEB-A9A4-485C-A801-7EEC6B6B5692.jpeg. Overview 35=15+16+4. Demand list agrees on entry counts: 15 Live,16 In Progress,4 Under discussion. Do not add CRM total to existing platform totals without cross-platform ID deduplication. Source reports team adequacy but supplies no utilization or allocation evidence. Counts are September reporting snapshots, not validated monthly completions. No availability percentage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Weekly minor incidents 28+31+34+34=127. Week4 versus Week1 is +6 incidents or +21.4%, a within-month comparison only. CIF sum 1016+11+1+214=1242. Retail share81.8%. Workflow categories may overlap and must not be summed as unique customers or transactions. Lead and opportunity counts do not establish a conversion rate or revenue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 list, Live entries. Titles condensed for readability. DMGT-1262 here explicitly denotes electronic-signature re-push in the supplied list, not cloud migration. DMGT-22 source: Millionaire ESG Saving Account, digital channel IB/MB/CRM. Supporting deliveries may also appear in other platform portfolios and must not be added without deduplication.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demand-list screenshots. 9 CRM-owned in-progress entries and7 supporting. DMGT-1272 (also written DMGT 1272) appears twice with distinct titles: Input Validations - Channels/platforms (Individuals) - Five Fields, and Engagement Platform Drop2 (unica). Keep35 row-based pipeline entries until duplication is resolved. Source DMGT-1980 title CRM Staging Environment Control &amp; RTB Readiness. Source DMGT-1406 CPR Personal Data Consent Management analyzing and fixing implementation gaps/issues.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latest CRM overview cloud migration target Q3 2027, planning status. Demand list DMGT-710 under discussion. Preparation tasks and acceptance evidence are management recommendations, not source-approved milestones. All four under-discussion entries preserved. Source also assigns DMGT-1262 to a live electronic-signature item; this deck uses current attachment identifiers and does not reuse earlier memory associations.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IVR completion increased by0.46 percentage points versus August, while call abandonment increased4.31pp. Jan–Sep overall rates69%completion31%agent transfer92%answered8%abandoned are separate source summary measures. Source September dashboard rounds to68%containment32%transfer88%answered12%abandoned. Navigation is implemented with slide hyperlinks and no entrance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call count446482 comes from September dashboard because the monthly trend label is obscured. Monthly values sum3916195 and average435132.8; supplied summary average435117 differs slightly. Retain reported avg and flag reconciliation rather than overwrite it. Jan–Sep source3.92M rounded. Percent charts use percentage numbers70.03 not0.7003. No causal attribution supplied for abandonment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Source81withinSLA0exceed does not state treatment of3openincidents. Avoid inferring all open incidents resolved.78/81=96.3%closed3/81=3.7%open, dashboard rounds96/4. No P1 or P2, P3 73,P4 8. IVR agent transfer and agent-call totals need not share scope, so do not force reconciliation or sum call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All17activity counts transcribed from September dashboard. No unique-customer denominator supplied. Source spelling Card Last5Trans retained as Last5cardtransactions. Do not label transaction totals as revenue or uniquecalls.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All30dailyvalues transcribed. Weekendlows exist but no staffing schedule is supplied, so causes are not asserted. Peak492min72end432. 100%overallusage is source-reported and undefined, cannot infer saturation, concurrent licensingcapacity or shortage. Management recommendation: confirm denominator and peak capacity buffer.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Own demand AE Lead CT.250 platformenrichment suspended Apr26 date is reported not proof of delivered status;2171 platformenrichment closure Sep26;443 resiliency closure Jul26;1837 resiliency reviewQ42027;2147 enrichment reviewTBD. Sourceclosure statuses are not re-labelled as new September completions.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AllnumericIDs useDMGTprefix. No closuredate supplied for43. Demand types from source:1692improvedcontrols,22serviceenhancements,1707improvedcontrols,993platformenrichment,43improvedcontrols,1368serviceenhancements,1326improvedcontrols,714serviceenhancements,1680serviceenhancements,1305platformenrichment,1802serviceenhancements,1785serviceenhancements,1248serviceenhancements. Supporting IDs may duplicate other platform sections. Do not sum as enterpriseunique demands.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CCM/SMS delivered30=18platform+12support, total48. ATM delivered6=4platform+2support, total13. Do not add as enterprise unique demands because supporting IDs may overlap. CCM email30732241+SMS40366362=71098603 events, not unique customers. XFS515/530=97.17%. Amount currency unspecified. Executive recommendations, not approved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Snapshot share30/48=62.5%,16/48=33.3%,2/48=4.2%. No monthly throughput inference. Source calls discussion B0. Strategic initiative CCM Upgrade Rel17, website latestSitefinity,e&amp;servicesconsolidation,resiliencyremediations,SMSCorporatebankingupgrade. No individual demandIDs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Capacity screenshot CCMCPU6.45/4.14 memory34.3/44.7. SMSCPU2.98/2.33/.608/.640 memory35.4/31.7/21.8/20.5. CCMstorage11.1TB/14TB with60.5%, arithmetic79.3%. SMS2.1TB/14TB withlabel7.9TB%, arithmetic15%. Inconsistent percentages retained only in notes, no invented corrected source utilization. Availability~100%, both planned/unplannedoutages0downtime0. SMS DRtestedyes fromreliabilityslide and nextdrillQ12027 fromcapacityslide. Source subtitle generictestedDR doesnotapplyCCM.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ATMtotal13 delivered4/2,progress1/3,backlog0,B0discussion3. Snapshotdelivery46.15%,progress30.77%,discussion23.08%. XFS515/530 source completed,97.17% derived. NBVsourceBoardvantage. TLSsource completed withrolloutplaninprogress, donotassertallterminalsrolledout.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Source dailyaveragesATM76628CDM11709 do not reconcile with rounded totals over30days, appear29daybasis. Display totals and preserve daily averages in notes without inventing denominator. Currency unspecified. Nextactivity tile saysPlannedQ12027 withoutactivitylabel. DRtestAugust22source. Incidents neednotproduceoutage. Near100availability doesnotprove zero customer impact. Recommendationsidentifiedasmanagementreview.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Hosts abbreviated for readability. All dib.ae: dxb01-vwp-kala1,kala2,kalw1,kalw2,kald2,kald3 and dxb02-vwp-kald1. CPU3.90,2.01,3.69,1.79,10.5,2.60,1.36%. Memory37.5,30.4,29,28.4,90.2,87.2,86.3%. Storage46.2,59.3,34.3,51.2,76.4,75.3,44.9%. No approved utilization threshold supplied, so do not label actual breach or capacity exhaustion.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TOCsource rows1–10, rare8 frequent2. Probabilitynotriskseverity. October4and24remainplannedsource dates, noactualreleaseconfirmation supplied even though currentdateafterOct4. Eightotheritems in nexttwo slides. DatesQ22007 in source flagged, no silentcorrection.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Councilrows1SMSduplicate,2OTPunmasked,4website,6callcentre. Recommendationsclosureevidence notsource commitment. Websitefixonlyexchangeinterface, notallfindings. OTPdemandIDs/datesnotprovided.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Councilrows5,7,9,10. Row7and10 targetsprintedQ22007 invalidrelative2026report. Preserveflag, donotsilentlyturn2027. OMNIIBscopeproposesQ22027forcapacity. HFLMSscopeQ426 differscounciltarget. JourneytrackingstatusclaimsimplementedPFCC butRtBnoteonlyrawdatawhichdoesnothelpbusiness. Slide paraphrase mustshow conflictnotclaimcomplete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Owners exactlyfromscope RamziRizvan,NaveedRashid,Ebrahim. Eightplatforms fourBSR fourOD. Scopeisplannedprogramme, notcompletionevidence. Budgets,migrationchecklistandreleaseworkflowmentionedincoverbutnotprovided. No inventedcostRTO/RPOorcompletion.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Scope allfirst4Q426 next4Q127. FootnotesaysInternetBankingOmniproposedQ22027becausecapacityincriticalQ1projectsCBUAEnotice3057. ThisisaquarterlaneroadmapnotdurationGantt. HFLMSQ426scopeconflictsTOCQ22007and earlierportfolio2027DRupgrade, needsbaselineconfirmation.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Exactsource scope retained. Activeactivedesignisproposed, nottestedstatus. HFLMSpassiveDRscope. KALandIB3+2AlwaysOnsource. ICCandMatrixnotspecificallyactiveactiveinscope. Recommendedgatesnextslide notnewsourcefacts.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Environmentmatrixsource exact8rows. UATproduction8confirmed. Staging6denied2NA. SIT3denied5NA. DR3greenconfirmedOmniWebsiteSMS,5passiveIBHFLMSMatrixICCKAL. ProvisioningisnotdeployedtestedDR. No contradictionresolve withcurrentHFLMSnodr. Requirementtoexplaindifference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Infrastructure source footer totals. DucontSMSfooter13,550. Storageunitsnotlabelled,notassumedGB/TB. TotalsincludingdeniedSTGarenotapprovedprovisionedcapacity. DIBWebsiteapp1,3,3,3 db1,3,3,2 web1,2,2,2. SMSapp1,2,dash,dashdb1,3,3,2. HFLMSapp2,2,dash,5db2,3,3,2. ICCdb1,dash,1,1. Source detailedstorage numbers shouldbereconciledwithfooterbeforeaggregation.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Source infrastructurefooterIB42storage34958,KAL23storage12808,Matrix6storage10530,Omni11storage2498. Unitsunspecified. All8source servertotals sum142 includesrequesteddeniedSTG and maynotmeanphysicaluniqueservers. Noapprovedcostorbudget. NPsourceheadingnotautomaticallySIT. Servercountseditable. Storagecomponent arithmetic notvalidated against totals.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Allfourcardsareanalyticalrecommendations, notapprovedplan. Noexternalbenchmarkintroduced. Remainingcover-onlytopicsmigrationchecklistbudgetandproduction/nonproductionworkflowswerenotsuppliedandarenotinvented. Infrastructurequantitiessourcefooterneedreconciliation. CurrentversusplannedDRdistinguished.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Activecards347156credit+1003169debit=1350325. New9576credit+13244debit=22820. Reporteddemandtotal147 butfivestatuscounts137 andsupporting20 yield157ifadded. Do notforcecategorysharesorenterpriseaggregation. Illustrationontransactions slideisgeneratedunbrandedconcept, notrealDIBcard.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Sourcecounts58+39+9+17+14=137. Adding20supporting=157 ratherthan147. Originaldonutpercentages39+27+6+12+10+14=108%; no validcompositionreproduced. Source39%delivered isrounded58/147 but denominatorneedsconfirmation. We preserveallcountsandavoidimpliedmutuallyexclusivestates. Dropped/onholdcannotbesplitwithprovideddata. Noage,priorperiodoruniquelistprovided.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Totalandsuccessfultransactionvolumemeancountsinmillions, notcurrency. Success24.29/30.89=78.6339% rounded78.6. Difference6.60M21.366%; notnecessarilytechnicalfailures. Noattemptdenominator,declinecodes,duplicatehandlingorreversaldefinitionprovided. Activeandnewcardcountsretainedexact. Newcardsnotnetgrowthwithoutclosures/priorstock. Imagegeneratedforpresentation,noDIBorVisaidentity.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CPU16.50OKcontrolledaverage, memory94.50WATCHpcsd1/pcsd2high,storage49.30WATCHDB/ORACLEvolumeshigh. Nohostspecificpercentagesorapprovedthresholdsupplied. Sourceclaimheadroomavailablecoexistswith94.5memorywatch. 3/343=.8746%=.9%. Remaining340classificationnotprovided, notallminorassumed. Availability99.9,DRyes tested. NooutagenumberorDRtestdateprovided. AnalyticalrecommendationscloseRCAandvalidatefailovercapacity.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ExactstrategiclistIDs1680,2496,1356,2010,1474,1979,1978. SourceStaggingnormalizedStaging. VAUnameinlistVisaAccountUpdate;dashboardVisaAccountupdater. Stagesnotplannedtimeorprogresspercent. Sevenselecteditemsnotfull39inprogress. UAT3,planning/cost1,design1,pilot1,staging/go-liveprep1. Noapproveddates/costsprovided.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Cards Executive Portfolio September 2026, IMG_698C571D-C7E1-4F9B-AB5A-646620DF822D.jpeg; strategic initiative list IMG_2C018236-D2BC-4F45-B5AF-9AFF22498AF4.jpeg. Dashboard6initiative names/statusesretained. Live DigitalSalamRenewalforCoveredCards,PGLfixdeployed. NoIDsprovided forthesixdashboardentriesexceptVAUmatchedbynamewithsecondlist. Do notassumeSupplementaryCardID,JaywanCoBadgeandMonoBadgearethesame,orUATstatementSMSsameasEmirati. Not13uniqueinitiativesdueoverlapVAUandpotentialothers. Noexternalclaimsorapprovaladded. Recommendationsdefinedasnextreview.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c2fd686cfc40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0e5f905dc544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29ea77bec449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a185e3493b43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d936763ecb4e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ea6defacc04d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24C12A-508F-442C-9221-89FC64B3CE3A}"/>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0C949E-9E47-442A-8625-A45241C8D5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01FF1759-324A-4EE2-B3C2-C25C34800D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86DF114-A71E-423F-8519-CE9D181600D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500B59E-53EB-4427-BFCF-A861F851D6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AD1AA9A-BCE7-4247-9A01-56A69283987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3192206-2FE4-49E8-A2F8-C3AADE3568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0BC35EC-1BC4-4FBF-B346-FCA0DD213B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B7E1716-C30C-4296-830D-F7B0C5725F2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848BE20-9206-4298-98E2-06EA47A438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ECAEA41-5F08-46DB-A148-296F8983CB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30876E4-CD76-4E59-BFEA-0473091D96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A4B786F-88F3-4AD3-8D14-223E407991F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568C571-A968-4132-85E6-B7A35AAA77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AE5CA79-C1D6-42B4-8F7D-B17652BB65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7f2611549477b" /><Relationship Type="http://schemas.openxmlformats.org/officeDocument/2006/relationships/slideLayout" Target="/ppt/slideLayouts/slideLayout1.xml" Id="R831b26fbfd8d4153" /><Relationship Type="http://schemas.openxmlformats.org/officeDocument/2006/relationships/slideLayout" Target="/ppt/slideLayouts/slideLayout2.xml" Id="R151f2fc38b5e4cc6" /><Relationship Type="http://schemas.openxmlformats.org/officeDocument/2006/relationships/slideLayout" Target="/ppt/slideLayouts/slideLayout3.xml" Id="Re5e2372253634b8e" /><Relationship Type="http://schemas.openxmlformats.org/officeDocument/2006/relationships/slideLayout" Target="/ppt/slideLayouts/slideLayout4.xml" Id="Ref6f09238e674971" /><Relationship Type="http://schemas.openxmlformats.org/officeDocument/2006/relationships/slideLayout" Target="/ppt/slideLayouts/slideLayout5.xml" Id="R2b6df0c2b5cd460a" /><Relationship Type="http://schemas.openxmlformats.org/officeDocument/2006/relationships/slideLayout" Target="/ppt/slideLayouts/slideLayout6.xml" Id="R0355c0202ac448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1b26fbfd8d4153"/>
    <p:sldLayoutId xmlns:r="http://schemas.openxmlformats.org/officeDocument/2006/relationships" id="2147483650" r:id="R151f2fc38b5e4cc6"/>
    <p:sldLayoutId xmlns:r="http://schemas.openxmlformats.org/officeDocument/2006/relationships" id="2147483651" r:id="Re5e2372253634b8e"/>
    <p:sldLayoutId xmlns:r="http://schemas.openxmlformats.org/officeDocument/2006/relationships" id="2147483652" r:id="Ref6f09238e674971"/>
    <p:sldLayoutId xmlns:r="http://schemas.openxmlformats.org/officeDocument/2006/relationships" id="2147483653" r:id="R2b6df0c2b5cd460a"/>
    <p:sldLayoutId xmlns:r="http://schemas.openxmlformats.org/officeDocument/2006/relationships" id="2147483654" r:id="R0355c0202ac448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066e63f7134652" /><Relationship Type="http://schemas.openxmlformats.org/officeDocument/2006/relationships/notesSlide" Target="/ppt/notesSlides/notesSlide1.xml" Id="R397564259cdd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038d04e2494ea8" /><Relationship Type="http://schemas.openxmlformats.org/officeDocument/2006/relationships/chart" Target="/ppt/slides/charts/chart1.xml" Id="R08258429f3e54096" /><Relationship Type="http://schemas.openxmlformats.org/officeDocument/2006/relationships/notesSlide" Target="/ppt/notesSlides/notesSlide2.xml" Id="R4d29d41be6d34f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7fb7c5b73b4bbf" /><Relationship Type="http://schemas.openxmlformats.org/officeDocument/2006/relationships/chart" Target="/ppt/slides/charts/chart2.xml" Id="Rc0f8c6430c87449e" /><Relationship Type="http://schemas.openxmlformats.org/officeDocument/2006/relationships/notesSlide" Target="/ppt/notesSlides/notesSlide3.xml" Id="R8303f2fa7cf641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ad5be7eafe4d2d" /><Relationship Type="http://schemas.openxmlformats.org/officeDocument/2006/relationships/chart" Target="/ppt/slides/charts/chart3.xml" Id="Rde75a2e2aaa04c1e" /><Relationship Type="http://schemas.openxmlformats.org/officeDocument/2006/relationships/notesSlide" Target="/ppt/notesSlides/notesSlide4.xml" Id="R18acbb010654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d5f80880874014" /><Relationship Type="http://schemas.openxmlformats.org/officeDocument/2006/relationships/notesSlide" Target="/ppt/notesSlides/notesSlide5.xml" Id="R88893981839848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a6045e0c404350" /><Relationship Type="http://schemas.openxmlformats.org/officeDocument/2006/relationships/notesSlide" Target="/ppt/notesSlides/notesSlide6.xml" Id="R207182c1b16747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496b56b23544b8" /><Relationship Type="http://schemas.openxmlformats.org/officeDocument/2006/relationships/notesSlide" Target="/ppt/notesSlides/notesSlide7.xml" Id="R48de4731d3a741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bf77a11aad4f58" /><Relationship Type="http://schemas.openxmlformats.org/officeDocument/2006/relationships/notesSlide" Target="/ppt/notesSlides/notesSlide8.xml" Id="R8840d696f4eb4b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0360eb251642b9" /><Relationship Type="http://schemas.openxmlformats.org/officeDocument/2006/relationships/notesSlide" Target="/ppt/notesSlides/notesSlide9.xml" Id="Rbcb374cdecf143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f14985ec618406f" /><Relationship Type="http://schemas.openxmlformats.org/officeDocument/2006/relationships/notesSlide" Target="/ppt/notesSlides/notesSlide10.xml" Id="Rea126881ae464f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82ab818c1f4167" /><Relationship Type="http://schemas.openxmlformats.org/officeDocument/2006/relationships/notesSlide" Target="/ppt/notesSlides/notesSlide11.xml" Id="R7a91858e788848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60a59b218314bce" /><Relationship Type="http://schemas.openxmlformats.org/officeDocument/2006/relationships/chart" Target="/ppt/slides/charts/chart4.xml" Id="Rbb0a22c53d2f40ac" /><Relationship Type="http://schemas.openxmlformats.org/officeDocument/2006/relationships/chart" Target="/ppt/slides/charts/chart5.xml" Id="R5ff8f80e917d499d" /><Relationship Type="http://schemas.openxmlformats.org/officeDocument/2006/relationships/notesSlide" Target="/ppt/notesSlides/notesSlide12.xml" Id="Rfcb707bbcfb14f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54646f3f7494690" /><Relationship Type="http://schemas.openxmlformats.org/officeDocument/2006/relationships/notesSlide" Target="/ppt/notesSlides/notesSlide13.xml" Id="Rf3d9e247a59346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6b5bf1070e405b" /><Relationship Type="http://schemas.openxmlformats.org/officeDocument/2006/relationships/notesSlide" Target="/ppt/notesSlides/notesSlide14.xml" Id="R0f0a4224e5c64e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b4c3d28879a468f" /><Relationship Type="http://schemas.openxmlformats.org/officeDocument/2006/relationships/notesSlide" Target="/ppt/notesSlides/notesSlide15.xml" Id="R8b886a63459f4d48" /></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58b3f8aaaa44e67"/><Relationship Type="http://schemas.openxmlformats.org/officeDocument/2006/relationships/notesSlide" Target="/ppt/notesSlides/notesSlide16.xml" Id="R3202f34b30414dae"/><Relationship Id="rIdCC17" Type="http://schemas.openxmlformats.org/officeDocument/2006/relationships/slide" Target="slide17.xml"/><Relationship Id="rIdCC18" Type="http://schemas.openxmlformats.org/officeDocument/2006/relationships/slide" Target="slide18.xml"/><Relationship Id="rIdCC19" Type="http://schemas.openxmlformats.org/officeDocument/2006/relationships/slide" Target="slide19.xml"/><Relationship Id="rIdCC20" Type="http://schemas.openxmlformats.org/officeDocument/2006/relationships/slide" Target="slide20.xml"/><Relationship Id="rIdCC21" Type="http://schemas.openxmlformats.org/officeDocument/2006/relationships/slide" Target="slide21.xml"/><Relationship Id="rIdCC22" Type="http://schemas.openxmlformats.org/officeDocument/2006/relationships/slide" Target="slide22.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051738f126ef4fd2"/><Relationship Type="http://schemas.openxmlformats.org/officeDocument/2006/relationships/chart" Target="/ppt/slides/charts/chart6.xml" Id="R47760777759e4f12"/><Relationship Type="http://schemas.openxmlformats.org/officeDocument/2006/relationships/chart" Target="/ppt/slides/charts/chart7.xml" Id="R46c7458e50784f4e"/><Relationship Type="http://schemas.openxmlformats.org/officeDocument/2006/relationships/chart" Target="/ppt/slides/charts/chart8.xml" Id="R44682de362884218"/><Relationship Type="http://schemas.openxmlformats.org/officeDocument/2006/relationships/notesSlide" Target="/ppt/notesSlides/notesSlide17.xml" Id="R9ebe70fa4d9a4b64"/><Relationship Id="rIdCC16" Type="http://schemas.openxmlformats.org/officeDocument/2006/relationships/slide" Target="slide16.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38d609fda4841b1"/><Relationship Type="http://schemas.openxmlformats.org/officeDocument/2006/relationships/notesSlide" Target="/ppt/notesSlides/notesSlide18.xml" Id="Ra1cfa10217aa4d2a"/><Relationship Id="rIdCC16" Type="http://schemas.openxmlformats.org/officeDocument/2006/relationships/slide" Target="slide16.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cbd7ce7a60a1459d"/><Relationship Type="http://schemas.openxmlformats.org/officeDocument/2006/relationships/chart" Target="/ppt/slides/charts/chart9.xml" Id="R1d709b00666f4bf4"/><Relationship Type="http://schemas.openxmlformats.org/officeDocument/2006/relationships/chart" Target="/ppt/slides/charts/chart10.xml" Id="Rdeac4707391549a2"/><Relationship Type="http://schemas.openxmlformats.org/officeDocument/2006/relationships/notesSlide" Target="/ppt/notesSlides/notesSlide19.xml" Id="Ra64358dcbf844bc3"/><Relationship Id="rIdCC16" Type="http://schemas.openxmlformats.org/officeDocument/2006/relationships/slide" Target="slide16.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85562dcf8c92435d"/><Relationship Type="http://schemas.openxmlformats.org/officeDocument/2006/relationships/chart" Target="/ppt/slides/charts/chart11.xml" Id="R3602d679f2f24dfc"/><Relationship Type="http://schemas.openxmlformats.org/officeDocument/2006/relationships/notesSlide" Target="/ppt/notesSlides/notesSlide20.xml" Id="R7fc338db5b9649cd"/><Relationship Id="rIdCC16" Type="http://schemas.openxmlformats.org/officeDocument/2006/relationships/slide" Target="slide16.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442c4912a5cd44dc"/><Relationship Type="http://schemas.openxmlformats.org/officeDocument/2006/relationships/notesSlide" Target="/ppt/notesSlides/notesSlide21.xml" Id="Rcedcd5a2e8bf46bd"/><Relationship Id="rIdCC16" Type="http://schemas.openxmlformats.org/officeDocument/2006/relationships/slide" Target="slide16.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5fe708e6b77b481f"/><Relationship Type="http://schemas.openxmlformats.org/officeDocument/2006/relationships/notesSlide" Target="/ppt/notesSlides/notesSlide22.xml" Id="R5cf608db47cb4a1b"/><Relationship Id="rIdCC16" Type="http://schemas.openxmlformats.org/officeDocument/2006/relationships/slide" Target="slide16.xml"/></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e564a1ec543456b" /><Relationship Type="http://schemas.openxmlformats.org/officeDocument/2006/relationships/notesSlide" Target="/ppt/notesSlides/notesSlide23.xml" Id="R29ca4e68cb0a46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306830bba147df" /><Relationship Type="http://schemas.openxmlformats.org/officeDocument/2006/relationships/chart" Target="/ppt/slides/charts/chart12.xml" Id="Rc34cf62237234d87" /><Relationship Type="http://schemas.openxmlformats.org/officeDocument/2006/relationships/notesSlide" Target="/ppt/notesSlides/notesSlide24.xml" Id="Re3f45b89d46d48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5874d1232914b79" /><Relationship Type="http://schemas.openxmlformats.org/officeDocument/2006/relationships/chart" Target="/ppt/slides/charts/chart13.xml" Id="R0afdf84d450f406d" /><Relationship Type="http://schemas.openxmlformats.org/officeDocument/2006/relationships/notesSlide" Target="/ppt/notesSlides/notesSlide25.xml" Id="Rad3172335d8744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dd5327dfd3c4efa" /><Relationship Type="http://schemas.openxmlformats.org/officeDocument/2006/relationships/chart" Target="/ppt/slides/charts/chart14.xml" Id="R2d5130d73bed486f" /><Relationship Type="http://schemas.openxmlformats.org/officeDocument/2006/relationships/notesSlide" Target="/ppt/notesSlides/notesSlide26.xml" Id="R2f6521d1dc4941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5489a3e05e14900" /><Relationship Type="http://schemas.openxmlformats.org/officeDocument/2006/relationships/notesSlide" Target="/ppt/notesSlides/notesSlide27.xml" Id="R9af976bd3a61445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d2f44cb0d0e4d09" /><Relationship Type="http://schemas.openxmlformats.org/officeDocument/2006/relationships/chart" Target="/ppt/slides/charts/chart15.xml" Id="R1e76c925b3894c4a" /><Relationship Type="http://schemas.openxmlformats.org/officeDocument/2006/relationships/notesSlide" Target="/ppt/notesSlides/notesSlide28.xml" Id="R98451b8dbcf54b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e5f7192a57f44d4" /><Relationship Type="http://schemas.openxmlformats.org/officeDocument/2006/relationships/notesSlide" Target="/ppt/notesSlides/notesSlide29.xml" Id="R03a13a156c674e5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d0289c2bc9d4048" /><Relationship Type="http://schemas.openxmlformats.org/officeDocument/2006/relationships/notesSlide" Target="/ppt/notesSlides/notesSlide30.xml" Id="R3baf2136f12746f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b8a8c2d7aad434a" /><Relationship Type="http://schemas.openxmlformats.org/officeDocument/2006/relationships/notesSlide" Target="/ppt/notesSlides/notesSlide31.xml" Id="R6f5ad9c1abc341d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4544a644f6146af" /><Relationship Type="http://schemas.openxmlformats.org/officeDocument/2006/relationships/notesSlide" Target="/ppt/notesSlides/notesSlide32.xml" Id="R728d239be8954a2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353040d0a3d4829" /><Relationship Type="http://schemas.openxmlformats.org/officeDocument/2006/relationships/notesSlide" Target="/ppt/notesSlides/notesSlide33.xml" Id="Re3d743f2e2f24d9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f5cc3b6c68e4b43" /><Relationship Type="http://schemas.openxmlformats.org/officeDocument/2006/relationships/notesSlide" Target="/ppt/notesSlides/notesSlide34.xml" Id="R70c2916fede2466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4ce407065714d19" /><Relationship Type="http://schemas.openxmlformats.org/officeDocument/2006/relationships/notesSlide" Target="/ppt/notesSlides/notesSlide35.xml" Id="R381f0f36613b4a5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42cfeed7e704a8a" /><Relationship Type="http://schemas.openxmlformats.org/officeDocument/2006/relationships/notesSlide" Target="/ppt/notesSlides/notesSlide36.xml" Id="R6c5d05bdcfde458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4a502cb8133419c" /><Relationship Type="http://schemas.openxmlformats.org/officeDocument/2006/relationships/notesSlide" Target="/ppt/notesSlides/notesSlide37.xml" Id="R98b53699a5934b7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56a76a3150843ba" /><Relationship Type="http://schemas.openxmlformats.org/officeDocument/2006/relationships/notesSlide" Target="/ppt/notesSlides/notesSlide38.xml" Id="R77acedb617d140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f27f8bc537c43b9" /><Relationship Type="http://schemas.openxmlformats.org/officeDocument/2006/relationships/notesSlide" Target="/ppt/notesSlides/notesSlide39.xml" Id="Rf4763d4f2e8e402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ca9004b845a4da5" /><Relationship Type="http://schemas.openxmlformats.org/officeDocument/2006/relationships/chart" Target="/ppt/slides/charts/chart16.xml" Id="R448e090f49004897" /><Relationship Type="http://schemas.openxmlformats.org/officeDocument/2006/relationships/notesSlide" Target="/ppt/notesSlides/notesSlide40.xml" Id="R44b7c976f011421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50a08652dd64177" /><Relationship Type="http://schemas.openxmlformats.org/officeDocument/2006/relationships/chart" Target="/ppt/slides/charts/chart17.xml" Id="Racd4e044da99411e" /><Relationship Type="http://schemas.openxmlformats.org/officeDocument/2006/relationships/image" Target="/ppt/media/image.png" Id="R7ba9ae2006fe407b" /><Relationship Type="http://schemas.openxmlformats.org/officeDocument/2006/relationships/notesSlide" Target="/ppt/notesSlides/notesSlide41.xml" Id="R6f1f132938b041d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c109678df994ab3" /><Relationship Type="http://schemas.openxmlformats.org/officeDocument/2006/relationships/chart" Target="/ppt/slides/charts/chart18.xml" Id="Rf9e71250f51d418d" /><Relationship Type="http://schemas.openxmlformats.org/officeDocument/2006/relationships/notesSlide" Target="/ppt/notesSlides/notesSlide42.xml" Id="Rbf1e044759b2486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7886f8925c34342" /><Relationship Type="http://schemas.openxmlformats.org/officeDocument/2006/relationships/notesSlide" Target="/ppt/notesSlides/notesSlide43.xml" Id="Re6649ee9d0ea4c7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d1b7213f118486f" /><Relationship Type="http://schemas.openxmlformats.org/officeDocument/2006/relationships/notesSlide" Target="/ppt/notesSlides/notesSlide44.xml" Id="R08dc835014e040f6" /></Relationships>
</file>

<file path=ppt/slides/charts/chart1.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Retail</c:v>
              </c:pt>
              <c:pt idx="1">
                <c:v>SME</c:v>
              </c:pt>
            </c:strLit>
          </c:cat>
          <c:val>
            <c:numLit>
              <c:formatCode>0.00"B"</c:formatCode>
              <c:ptCount val="2"/>
              <c:pt idx="0">
                <c:v>7.83</c:v>
              </c:pt>
              <c:pt idx="1">
                <c:v>9.16</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AF</c:v>
              </c:pt>
              <c:pt idx="1">
                <c:v>AF-EV</c:v>
              </c:pt>
              <c:pt idx="2">
                <c:v>CC</c:v>
              </c:pt>
              <c:pt idx="3">
                <c:v>PF</c:v>
              </c:pt>
              <c:pt idx="4">
                <c:v>SBF</c:v>
              </c:pt>
            </c:strLit>
          </c:cat>
          <c:val>
            <c:numLit>
              <c:formatCode>0.00"B"</c:formatCode>
              <c:ptCount val="5"/>
              <c:pt idx="0">
                <c:v>0.63</c:v>
              </c:pt>
              <c:pt idx="1">
                <c:v>0.02</c:v>
              </c:pt>
              <c:pt idx="2">
                <c:v>0.19</c:v>
              </c:pt>
              <c:pt idx="3">
                <c:v>2.33</c:v>
              </c:pt>
              <c:pt idx="4">
                <c:v>0.07</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0.00"B"</c:formatCode>
              <c:ptCount val="9"/>
              <c:pt idx="0">
                <c:v>1.08</c:v>
              </c:pt>
              <c:pt idx="1">
                <c:v>1.2</c:v>
              </c:pt>
              <c:pt idx="2">
                <c:v>0.84</c:v>
              </c:pt>
              <c:pt idx="3">
                <c:v>1.1</c:v>
              </c:pt>
              <c:pt idx="4">
                <c:v>0.97</c:v>
              </c:pt>
              <c:pt idx="5">
                <c:v>1.01</c:v>
              </c:pt>
              <c:pt idx="6">
                <c:v>1.57</c:v>
              </c:pt>
              <c:pt idx="7">
                <c:v>1.39</c:v>
              </c:pt>
              <c:pt idx="8">
                <c:v>1.24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cat>
            <c:strLit>
              <c:ptCount val="4"/>
              <c:pt idx="0">
                <c:v>Week 1</c:v>
              </c:pt>
              <c:pt idx="1">
                <c:v>Week 2</c:v>
              </c:pt>
              <c:pt idx="2">
                <c:v>Week 3</c:v>
              </c:pt>
              <c:pt idx="3">
                <c:v>Week 4</c:v>
              </c:pt>
            </c:strLit>
          </c:cat>
          <c:val>
            <c:numLit>
              <c:formatCode>0</c:formatCode>
              <c:ptCount val="4"/>
              <c:pt idx="0">
                <c:v>28</c:v>
              </c:pt>
              <c:pt idx="1">
                <c:v>31</c:v>
              </c:pt>
              <c:pt idx="2">
                <c:v>34</c:v>
              </c:pt>
              <c:pt idx="3">
                <c:v>34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Cases done</c:v>
              </c:pt>
              <c:pt idx="1">
                <c:v>CRAT</c:v>
              </c:pt>
              <c:pt idx="2">
                <c:v>GBO</c:v>
              </c:pt>
              <c:pt idx="3">
                <c:v>Leads</c:v>
              </c:pt>
              <c:pt idx="4">
                <c:v>Opportunities</c:v>
              </c:pt>
            </c:strLit>
          </c:cat>
          <c:val>
            <c:numLit>
              <c:formatCode>#,##0</c:formatCode>
              <c:ptCount val="5"/>
              <c:pt idx="0">
                <c:v>5544</c:v>
              </c:pt>
              <c:pt idx="1">
                <c:v>8382</c:v>
              </c:pt>
              <c:pt idx="2">
                <c:v>10028</c:v>
              </c:pt>
              <c:pt idx="3">
                <c:v>51525</c:v>
              </c:pt>
              <c:pt idx="4">
                <c:v>45465</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6.xml><?xml version="1.0" encoding="utf-8"?>
<c:chartSpace xmlns:c="http://schemas.openxmlformats.org/drawingml/2006/chart">
  <c:lang val="en-US"/>
  <c:chart>
    <c:plotArea>
      <c:lineChart>
        <c:grouping val="standard"/>
        <c:ser>
          <c:idx val="0"/>
          <c:order val="0"/>
          <c:tx>
            <c:v>Completion</c:v>
          </c:tx>
          <c:spPr>
            <a:ln xmlns:a="http://schemas.openxmlformats.org/drawingml/2006/main" w="28575">
              <a:solidFill>
                <a:srgbClr val="087F68"/>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70.03</c:v>
              </c:pt>
              <c:pt idx="1">
                <c:v>70.39</c:v>
              </c:pt>
              <c:pt idx="2">
                <c:v>69.7</c:v>
              </c:pt>
              <c:pt idx="3">
                <c:v>70.64</c:v>
              </c:pt>
              <c:pt idx="4">
                <c:v>70.08</c:v>
              </c:pt>
              <c:pt idx="5">
                <c:v>68.95</c:v>
              </c:pt>
              <c:pt idx="6">
                <c:v>67.83</c:v>
              </c:pt>
              <c:pt idx="7">
                <c:v>67.99</c:v>
              </c:pt>
              <c:pt idx="8">
                <c:v>68.45</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72"/>
          <c:min val="65"/>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7.xml><?xml version="1.0" encoding="utf-8"?>
<c:chartSpace xmlns:c="http://schemas.openxmlformats.org/drawingml/2006/chart">
  <c:lang val="en-US"/>
  <c:chart>
    <c:plotArea>
      <c:lineChart>
        <c:grouping val="standard"/>
        <c:ser>
          <c:idx val="0"/>
          <c:order val="0"/>
          <c:tx>
            <c:v>Abandonment</c:v>
          </c:tx>
          <c:spPr>
            <a:ln xmlns:a="http://schemas.openxmlformats.org/drawingml/2006/main" w="28575">
              <a:solidFill>
                <a:srgbClr val="D35373"/>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9.83</c:v>
              </c:pt>
              <c:pt idx="1">
                <c:v>8.75</c:v>
              </c:pt>
              <c:pt idx="2">
                <c:v>15.33</c:v>
              </c:pt>
              <c:pt idx="3">
                <c:v>5.31</c:v>
              </c:pt>
              <c:pt idx="4">
                <c:v>4.32</c:v>
              </c:pt>
              <c:pt idx="5">
                <c:v>5.03</c:v>
              </c:pt>
              <c:pt idx="6">
                <c:v>7.03</c:v>
              </c:pt>
              <c:pt idx="7">
                <c:v>7.46</c:v>
              </c:pt>
              <c:pt idx="8">
                <c:v>11.77</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20"/>
          <c:min val="0"/>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8.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c:formatCode>
              <c:ptCount val="9"/>
              <c:pt idx="0">
                <c:v>451254</c:v>
              </c:pt>
              <c:pt idx="1">
                <c:v>394343</c:v>
              </c:pt>
              <c:pt idx="2">
                <c:v>416078</c:v>
              </c:pt>
              <c:pt idx="3">
                <c:v>454112</c:v>
              </c:pt>
              <c:pt idx="4">
                <c:v>441931</c:v>
              </c:pt>
              <c:pt idx="5">
                <c:v>438815</c:v>
              </c:pt>
              <c:pt idx="6">
                <c:v>454393</c:v>
              </c:pt>
              <c:pt idx="7">
                <c:v>423787</c:v>
              </c:pt>
              <c:pt idx="8">
                <c:v>446482</c:v>
              </c:pt>
            </c:numLit>
          </c:val>
        </c:ser>
        <c:dLbls>
          <c:txPr>
            <a:bodyPr xmlns:a="http://schemas.openxmlformats.org/drawingml/2006/main" anchorCtr="1"/>
            <a:lstStyle xmlns:a="http://schemas.openxmlformats.org/drawingml/2006/main"/>
            <a:p xmlns:a="http://schemas.openxmlformats.org/drawingml/2006/main">
              <a:pPr>
                <a:defRPr sz="90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ax val="50000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B89"/>
                </a:solidFill>
                <a:latin typeface="DejaVu Sans"/>
                <a:ea typeface="DejaVu Sans"/>
                <a:cs typeface="DejaVu Sans"/>
              </a:defRPr>
            </a:pPr>
          </a:p>
        </c:txPr>
        <c:crossAx val="48650112"/>
        <c:crossBetween val="between"/>
        <c:majorUnit val="250000"/>
      </c:valAx>
    </c:plotArea>
    <c:plotVisOnly val="1"/>
  </c:chart>
</c:chartSpace>
</file>

<file path=ppt/slides/charts/chart9.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dPt>
            <c:idx val="8"/>
            <c:invertIfNegative val="0"/>
            <c:spPr>
              <a:solidFill xmlns:a="http://schemas.openxmlformats.org/drawingml/2006/main">
                <a:srgbClr val="16A878"/>
              </a:solidFill>
            </c:spPr>
          </c:dPt>
          <c:cat>
            <c:strLit>
              <c:ptCount val="9"/>
              <c:pt idx="0">
                <c:v>Utility payments</c:v>
              </c:pt>
              <c:pt idx="1">
                <c:v>Etisalat payments</c:v>
              </c:pt>
              <c:pt idx="2">
                <c:v>DU payments</c:v>
              </c:pt>
              <c:pt idx="3">
                <c:v>Salik payment</c:v>
              </c:pt>
              <c:pt idx="4">
                <c:v>Funds transfer</c:v>
              </c:pt>
              <c:pt idx="5">
                <c:v>Cheque-book request</c:v>
              </c:pt>
              <c:pt idx="6">
                <c:v>Cash on card</c:v>
              </c:pt>
              <c:pt idx="7">
                <c:v>Card payment</c:v>
              </c:pt>
              <c:pt idx="8">
                <c:v>Change card PIN</c:v>
              </c:pt>
            </c:strLit>
          </c:cat>
          <c:val>
            <c:numLit>
              <c:formatCode>General</c:formatCode>
              <c:ptCount val="9"/>
              <c:pt idx="0">
                <c:v>388</c:v>
              </c:pt>
              <c:pt idx="1">
                <c:v>1371</c:v>
              </c:pt>
              <c:pt idx="2">
                <c:v>238</c:v>
              </c:pt>
              <c:pt idx="3">
                <c:v>115</c:v>
              </c:pt>
              <c:pt idx="4">
                <c:v>1863</c:v>
              </c:pt>
              <c:pt idx="5">
                <c:v>495</c:v>
              </c:pt>
              <c:pt idx="6">
                <c:v>3</c:v>
              </c:pt>
              <c:pt idx="7">
                <c:v>114</c:v>
              </c:pt>
              <c:pt idx="8">
                <c:v>181</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0.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cat>
            <c:strLit>
              <c:ptCount val="8"/>
              <c:pt idx="0">
                <c:v>Last 5 card transactions</c:v>
              </c:pt>
              <c:pt idx="1">
                <c:v>Activate card</c:v>
              </c:pt>
              <c:pt idx="2">
                <c:v>Reset card PIN</c:v>
              </c:pt>
              <c:pt idx="3">
                <c:v>Lost / stolen card</c:v>
              </c:pt>
              <c:pt idx="4">
                <c:v>Reset TPIN</c:v>
              </c:pt>
              <c:pt idx="5">
                <c:v>Block TPIN</c:v>
              </c:pt>
              <c:pt idx="6">
                <c:v>Generate TPIN</c:v>
              </c:pt>
              <c:pt idx="7">
                <c:v>Change TPIN</c:v>
              </c:pt>
            </c:strLit>
          </c:cat>
          <c:val>
            <c:numLit>
              <c:formatCode>General</c:formatCode>
              <c:ptCount val="8"/>
              <c:pt idx="0">
                <c:v>1030</c:v>
              </c:pt>
              <c:pt idx="1">
                <c:v>13337</c:v>
              </c:pt>
              <c:pt idx="2">
                <c:v>4752</c:v>
              </c:pt>
              <c:pt idx="3">
                <c:v>294</c:v>
              </c:pt>
              <c:pt idx="4">
                <c:v>18146</c:v>
              </c:pt>
              <c:pt idx="5">
                <c:v>12004</c:v>
              </c:pt>
              <c:pt idx="6">
                <c:v>5871</c:v>
              </c:pt>
              <c:pt idx="7">
                <c:v>456</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1.xml><?xml version="1.0" encoding="utf-8"?>
<c:chartSpace xmlns:c="http://schemas.openxmlformats.org/drawingml/2006/chart">
  <c:lang val="en-US"/>
  <c:chart>
    <c:plotArea>
      <c:lineChart>
        <c:grouping val="standard"/>
        <c:ser>
          <c:idx val="0"/>
          <c:order val="0"/>
          <c:tx>
            <c:v>Agent licences</c:v>
          </c:tx>
          <c:spPr>
            <a:ln xmlns:a="http://schemas.openxmlformats.org/drawingml/2006/main" w="28575">
              <a:solidFill>
                <a:srgbClr val="1688C2"/>
              </a:solidFill>
            </a:ln>
          </c:spPr>
          <c:marker>
            <c:symbol val="circle"/>
            <c:size val="5"/>
          </c:marker>
          <c:cat>
            <c:numLit>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Lit>
          </c:cat>
          <c:val>
            <c:numLit>
              <c:formatCode>0</c:formatCode>
              <c:ptCount val="30"/>
              <c:pt idx="0">
                <c:v>427</c:v>
              </c:pt>
              <c:pt idx="1">
                <c:v>391</c:v>
              </c:pt>
              <c:pt idx="2">
                <c:v>418</c:v>
              </c:pt>
              <c:pt idx="3">
                <c:v>430</c:v>
              </c:pt>
              <c:pt idx="4">
                <c:v>328</c:v>
              </c:pt>
              <c:pt idx="5">
                <c:v>72</c:v>
              </c:pt>
              <c:pt idx="6">
                <c:v>427</c:v>
              </c:pt>
              <c:pt idx="7">
                <c:v>432</c:v>
              </c:pt>
              <c:pt idx="8">
                <c:v>433</c:v>
              </c:pt>
              <c:pt idx="9">
                <c:v>427</c:v>
              </c:pt>
              <c:pt idx="10">
                <c:v>427</c:v>
              </c:pt>
              <c:pt idx="11">
                <c:v>336</c:v>
              </c:pt>
              <c:pt idx="12">
                <c:v>106</c:v>
              </c:pt>
              <c:pt idx="13">
                <c:v>477</c:v>
              </c:pt>
              <c:pt idx="14">
                <c:v>426</c:v>
              </c:pt>
              <c:pt idx="15">
                <c:v>457</c:v>
              </c:pt>
              <c:pt idx="16">
                <c:v>457</c:v>
              </c:pt>
              <c:pt idx="17">
                <c:v>440</c:v>
              </c:pt>
              <c:pt idx="18">
                <c:v>303</c:v>
              </c:pt>
              <c:pt idx="19">
                <c:v>93</c:v>
              </c:pt>
              <c:pt idx="20">
                <c:v>441</c:v>
              </c:pt>
              <c:pt idx="21">
                <c:v>433</c:v>
              </c:pt>
              <c:pt idx="22">
                <c:v>486</c:v>
              </c:pt>
              <c:pt idx="23">
                <c:v>492</c:v>
              </c:pt>
              <c:pt idx="24">
                <c:v>468</c:v>
              </c:pt>
              <c:pt idx="25">
                <c:v>341</c:v>
              </c:pt>
              <c:pt idx="26">
                <c:v>74</c:v>
              </c:pt>
              <c:pt idx="27">
                <c:v>442</c:v>
              </c:pt>
              <c:pt idx="28">
                <c:v>447</c:v>
              </c:pt>
              <c:pt idx="29">
                <c:v>432</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55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12.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cat>
            <c:strLit>
              <c:ptCount val="4"/>
              <c:pt idx="0">
                <c:v>Delivered</c:v>
              </c:pt>
              <c:pt idx="1">
                <c:v>In progress</c:v>
              </c:pt>
              <c:pt idx="2">
                <c:v>B0 discussion</c:v>
              </c:pt>
              <c:pt idx="3">
                <c:v>Backlog</c:v>
              </c:pt>
            </c:strLit>
          </c:cat>
          <c:val>
            <c:numLit>
              <c:formatCode>0</c:formatCode>
              <c:ptCount val="4"/>
              <c:pt idx="0">
                <c:v>30</c:v>
              </c:pt>
              <c:pt idx="1">
                <c:v>16</c:v>
              </c:pt>
              <c:pt idx="2">
                <c:v>2</c:v>
              </c:pt>
              <c:pt idx="3">
                <c:v>0</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3.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CCM email</c:v>
              </c:pt>
              <c:pt idx="1">
                <c:v>SMS transactions</c:v>
              </c:pt>
            </c:strLit>
          </c:cat>
          <c:val>
            <c:numLit>
              <c:formatCode>0.00"M"</c:formatCode>
              <c:ptCount val="2"/>
              <c:pt idx="0">
                <c:v>30.732241</c:v>
              </c:pt>
              <c:pt idx="1">
                <c:v>40.366362</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4.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cat>
            <c:strLit>
              <c:ptCount val="3"/>
              <c:pt idx="0">
                <c:v>Delivered</c:v>
              </c:pt>
              <c:pt idx="1">
                <c:v>In progress</c:v>
              </c:pt>
              <c:pt idx="2">
                <c:v>B0 discussion</c:v>
              </c:pt>
            </c:strLit>
          </c:cat>
          <c:val>
            <c:numLit>
              <c:formatCode>0</c:formatCode>
              <c:ptCount val="3"/>
              <c:pt idx="0">
                <c:v>6</c:v>
              </c:pt>
              <c:pt idx="1">
                <c:v>4</c:v>
              </c:pt>
              <c:pt idx="2">
                <c:v>3</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5.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cat>
            <c:strLit>
              <c:ptCount val="7"/>
              <c:pt idx="0">
                <c:v>kala1</c:v>
              </c:pt>
              <c:pt idx="1">
                <c:v>kala2</c:v>
              </c:pt>
              <c:pt idx="2">
                <c:v>kalw1</c:v>
              </c:pt>
              <c:pt idx="3">
                <c:v>kalw2</c:v>
              </c:pt>
              <c:pt idx="4">
                <c:v>kald2</c:v>
              </c:pt>
              <c:pt idx="5">
                <c:v>kald3</c:v>
              </c:pt>
              <c:pt idx="6">
                <c:v>dxb02 kald1</c:v>
              </c:pt>
            </c:strLit>
          </c:cat>
          <c:val>
            <c:numLit>
              <c:formatCode>0.0"%"</c:formatCode>
              <c:ptCount val="7"/>
              <c:pt idx="0">
                <c:v>37.5</c:v>
              </c:pt>
              <c:pt idx="1">
                <c:v>30.4</c:v>
              </c:pt>
              <c:pt idx="2">
                <c:v>29</c:v>
              </c:pt>
              <c:pt idx="3">
                <c:v>28.4</c:v>
              </c:pt>
              <c:pt idx="4">
                <c:v>90.2</c:v>
              </c:pt>
              <c:pt idx="5">
                <c:v>87.2</c:v>
              </c:pt>
              <c:pt idx="6">
                <c:v>86.3</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6.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Delivered</c:v>
              </c:pt>
              <c:pt idx="1">
                <c:v>In progress</c:v>
              </c:pt>
              <c:pt idx="2">
                <c:v>New demand</c:v>
              </c:pt>
              <c:pt idx="3">
                <c:v>Backlog</c:v>
              </c:pt>
              <c:pt idx="4">
                <c:v>Dropped / hold</c:v>
              </c:pt>
            </c:strLit>
          </c:cat>
          <c:val>
            <c:numLit>
              <c:formatCode>0</c:formatCode>
              <c:ptCount val="5"/>
              <c:pt idx="0">
                <c:v>58</c:v>
              </c:pt>
              <c:pt idx="1">
                <c:v>39</c:v>
              </c:pt>
              <c:pt idx="2">
                <c:v>9</c:v>
              </c:pt>
              <c:pt idx="3">
                <c:v>17</c:v>
              </c:pt>
              <c:pt idx="4">
                <c:v>14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7.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Total transactions</c:v>
              </c:pt>
              <c:pt idx="1">
                <c:v>Successful</c:v>
              </c:pt>
            </c:strLit>
          </c:cat>
          <c:val>
            <c:numLit>
              <c:formatCode>0.00"M"</c:formatCode>
              <c:ptCount val="2"/>
              <c:pt idx="0">
                <c:v>30.89</c:v>
              </c:pt>
              <c:pt idx="1">
                <c:v>24.29</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8.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cat>
            <c:strLit>
              <c:ptCount val="3"/>
              <c:pt idx="0">
                <c:v>CPU</c:v>
              </c:pt>
              <c:pt idx="1">
                <c:v>Memory</c:v>
              </c:pt>
              <c:pt idx="2">
                <c:v>Storage</c:v>
              </c:pt>
            </c:strLit>
          </c:cat>
          <c:val>
            <c:numLit>
              <c:formatCode>0.0"%"</c:formatCode>
              <c:ptCount val="3"/>
              <c:pt idx="0">
                <c:v>16.5</c:v>
              </c:pt>
              <c:pt idx="1">
                <c:v>94.5</c:v>
              </c:pt>
              <c:pt idx="2">
                <c:v>49.3</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208CE8E-ECF5-498F-9FC8-AEFDBC30023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B916F90-8F3A-4735-8224-13B7162E485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Delivery progressed, with resilience gaps requiring attention</a:t>
            </a:r>
          </a:p>
        </p:txBody>
      </p:sp>
      <p:sp>
        <p:nvSpPr>
          <p:cNvPr id="3" name="">
            <a:extLst xmlns:a="http://schemas.openxmlformats.org/drawingml/2006/main">
              <a:ext uri="{FF2B5EF4-FFF2-40B4-BE49-F238E27FC236}">
                <a16:creationId xmlns:a16="http://schemas.microsoft.com/office/drawing/2014/main" id="{C07EC5BA-59E2-4B22-BEC3-8973F1EC4CF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Executive outcome across IB / MB, FinnOne and HFLMS</a:t>
            </a:r>
          </a:p>
        </p:txBody>
      </p:sp>
      <p:sp>
        <p:nvSpPr>
          <p:cNvPr id="4" name="">
            <a:extLst xmlns:a="http://schemas.openxmlformats.org/drawingml/2006/main">
              <a:ext uri="{FF2B5EF4-FFF2-40B4-BE49-F238E27FC236}">
                <a16:creationId xmlns:a16="http://schemas.microsoft.com/office/drawing/2014/main" id="{8DF81F25-6B48-49DE-BC77-82E4403FD4D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1E7C3FD-9F7B-42F3-921D-E9314AAAB0F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2096191C-98C3-4B71-B07D-193849FE24C8}"/>
              </a:ext>
            </a:extLst>
          </p:cNvPr>
          <p:cNvSpPr>
            <a:spLocks xmlns:a="http://schemas.openxmlformats.org/drawingml/2006/main" noGrp="1"/>
          </p:cNvSpPr>
          <p:nvPr/>
        </p:nvSpPr>
        <p:spPr>
          <a:xfrm xmlns:a="http://schemas.openxmlformats.org/drawingml/2006/main">
            <a:off x="457200" y="2095500"/>
            <a:ext cx="2667000" cy="1200150"/>
          </a:xfrm>
          <a:prstGeom xmlns:a="http://schemas.openxmlformats.org/drawingml/2006/main" prst="roundRect">
            <a:avLst>
              <a:gd name="adj" fmla="val 952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3E987B-6FEF-4B03-9DED-7FAE08438A71}"/>
              </a:ext>
            </a:extLst>
          </p:cNvPr>
          <p:cNvSpPr>
            <a:spLocks xmlns:a="http://schemas.openxmlformats.org/drawingml/2006/main" noGrp="1"/>
          </p:cNvSpPr>
          <p:nvPr/>
        </p:nvSpPr>
        <p:spPr>
          <a:xfrm xmlns:a="http://schemas.openxmlformats.org/drawingml/2006/main">
            <a:off x="590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68"/>
                </a:solidFill>
                <a:latin typeface="DejaVu Sans"/>
                <a:ea typeface="DejaVu Sans"/>
                <a:cs typeface="DejaVu Sans"/>
              </a:defRPr>
            </a:pPr>
            <a:r>
              <a:rPr sz="28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8E0E1537-AFC2-4ADD-9C43-95117A2A9507}"/>
              </a:ext>
            </a:extLst>
          </p:cNvPr>
          <p:cNvSpPr>
            <a:spLocks xmlns:a="http://schemas.openxmlformats.org/drawingml/2006/main" noGrp="1"/>
          </p:cNvSpPr>
          <p:nvPr/>
        </p:nvSpPr>
        <p:spPr>
          <a:xfrm xmlns:a="http://schemas.openxmlformats.org/drawingml/2006/main">
            <a:off x="1143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87F68"/>
                </a:solidFill>
                <a:latin typeface="DejaVu Sans"/>
                <a:ea typeface="DejaVu Sans"/>
                <a:cs typeface="DejaVu Sans"/>
              </a:defRPr>
            </a:pPr>
            <a:r>
              <a:rPr sz="4050" b="1">
                <a:solidFill>
                  <a:srgbClr val="087F68"/>
                </a:solidFill>
                <a:latin typeface="DejaVu Sans"/>
                <a:ea typeface="DejaVu Sans"/>
                <a:cs typeface="DejaVu Sans"/>
              </a:rPr>
              <a:t>98</a:t>
            </a:r>
          </a:p>
        </p:txBody>
      </p:sp>
      <p:sp>
        <p:nvSpPr>
          <p:cNvPr id="9" name="">
            <a:extLst xmlns:a="http://schemas.openxmlformats.org/drawingml/2006/main">
              <a:ext uri="{FF2B5EF4-FFF2-40B4-BE49-F238E27FC236}">
                <a16:creationId xmlns:a16="http://schemas.microsoft.com/office/drawing/2014/main" id="{9CA68013-6187-4FF2-8F55-DF004D0EB28D}"/>
              </a:ext>
            </a:extLst>
          </p:cNvPr>
          <p:cNvSpPr>
            <a:spLocks xmlns:a="http://schemas.openxmlformats.org/drawingml/2006/main" noGrp="1"/>
          </p:cNvSpPr>
          <p:nvPr/>
        </p:nvSpPr>
        <p:spPr>
          <a:xfrm xmlns:a="http://schemas.openxmlformats.org/drawingml/2006/main">
            <a:off x="609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delivered / completed</a:t>
            </a:r>
          </a:p>
        </p:txBody>
      </p:sp>
      <p:sp>
        <p:nvSpPr>
          <p:cNvPr id="10" name="">
            <a:extLst xmlns:a="http://schemas.openxmlformats.org/drawingml/2006/main">
              <a:ext uri="{FF2B5EF4-FFF2-40B4-BE49-F238E27FC236}">
                <a16:creationId xmlns:a16="http://schemas.microsoft.com/office/drawing/2014/main" id="{859C3C7F-3BA5-4137-9687-76F81AB19CFD}"/>
              </a:ext>
            </a:extLst>
          </p:cNvPr>
          <p:cNvSpPr>
            <a:spLocks xmlns:a="http://schemas.openxmlformats.org/drawingml/2006/main" noGrp="1"/>
          </p:cNvSpPr>
          <p:nvPr/>
        </p:nvSpPr>
        <p:spPr>
          <a:xfrm xmlns:a="http://schemas.openxmlformats.org/drawingml/2006/main">
            <a:off x="3314700" y="2095500"/>
            <a:ext cx="2667000" cy="1200150"/>
          </a:xfrm>
          <a:prstGeom xmlns:a="http://schemas.openxmlformats.org/drawingml/2006/main" prst="roundRect">
            <a:avLst>
              <a:gd name="adj" fmla="val 9524"/>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A41E5A-928F-4117-AF82-C27649D9FD29}"/>
              </a:ext>
            </a:extLst>
          </p:cNvPr>
          <p:cNvSpPr>
            <a:spLocks xmlns:a="http://schemas.openxmlformats.org/drawingml/2006/main" noGrp="1"/>
          </p:cNvSpPr>
          <p:nvPr/>
        </p:nvSpPr>
        <p:spPr>
          <a:xfrm xmlns:a="http://schemas.openxmlformats.org/drawingml/2006/main">
            <a:off x="3448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88C2"/>
                </a:solidFill>
                <a:latin typeface="DejaVu Sans"/>
                <a:ea typeface="DejaVu Sans"/>
                <a:cs typeface="DejaVu Sans"/>
              </a:defRPr>
            </a:pPr>
            <a:r>
              <a:rPr sz="28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7087863C-ED7F-492B-9590-9A3AC0EDDF18}"/>
              </a:ext>
            </a:extLst>
          </p:cNvPr>
          <p:cNvSpPr>
            <a:spLocks xmlns:a="http://schemas.openxmlformats.org/drawingml/2006/main" noGrp="1"/>
          </p:cNvSpPr>
          <p:nvPr/>
        </p:nvSpPr>
        <p:spPr>
          <a:xfrm xmlns:a="http://schemas.openxmlformats.org/drawingml/2006/main">
            <a:off x="4000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88C2"/>
                </a:solidFill>
                <a:latin typeface="DejaVu Sans"/>
                <a:ea typeface="DejaVu Sans"/>
                <a:cs typeface="DejaVu Sans"/>
              </a:defRPr>
            </a:pPr>
            <a:r>
              <a:rPr sz="4050" b="1">
                <a:solidFill>
                  <a:srgbClr val="1688C2"/>
                </a:solidFill>
                <a:latin typeface="DejaVu Sans"/>
                <a:ea typeface="DejaVu Sans"/>
                <a:cs typeface="DejaVu Sans"/>
              </a:rPr>
              <a:t>285</a:t>
            </a:r>
          </a:p>
        </p:txBody>
      </p:sp>
      <p:sp>
        <p:nvSpPr>
          <p:cNvPr id="13" name="">
            <a:extLst xmlns:a="http://schemas.openxmlformats.org/drawingml/2006/main">
              <a:ext uri="{FF2B5EF4-FFF2-40B4-BE49-F238E27FC236}">
                <a16:creationId xmlns:a16="http://schemas.microsoft.com/office/drawing/2014/main" id="{00AF662E-0AE9-4F65-9A19-B7A626827673}"/>
              </a:ext>
            </a:extLst>
          </p:cNvPr>
          <p:cNvSpPr>
            <a:spLocks xmlns:a="http://schemas.openxmlformats.org/drawingml/2006/main" noGrp="1"/>
          </p:cNvSpPr>
          <p:nvPr/>
        </p:nvSpPr>
        <p:spPr>
          <a:xfrm xmlns:a="http://schemas.openxmlformats.org/drawingml/2006/main">
            <a:off x="3467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reported demands</a:t>
            </a:r>
          </a:p>
        </p:txBody>
      </p:sp>
      <p:sp>
        <p:nvSpPr>
          <p:cNvPr id="14" name="">
            <a:extLst xmlns:a="http://schemas.openxmlformats.org/drawingml/2006/main">
              <a:ext uri="{FF2B5EF4-FFF2-40B4-BE49-F238E27FC236}">
                <a16:creationId xmlns:a16="http://schemas.microsoft.com/office/drawing/2014/main" id="{E80E6B01-08D3-454C-B202-533E2CB26862}"/>
              </a:ext>
            </a:extLst>
          </p:cNvPr>
          <p:cNvSpPr>
            <a:spLocks xmlns:a="http://schemas.openxmlformats.org/drawingml/2006/main" noGrp="1"/>
          </p:cNvSpPr>
          <p:nvPr/>
        </p:nvSpPr>
        <p:spPr>
          <a:xfrm xmlns:a="http://schemas.openxmlformats.org/drawingml/2006/main">
            <a:off x="6172200" y="2095500"/>
            <a:ext cx="2667000" cy="1200150"/>
          </a:xfrm>
          <a:prstGeom xmlns:a="http://schemas.openxmlformats.org/drawingml/2006/main" prst="roundRect">
            <a:avLst>
              <a:gd name="adj" fmla="val 9524"/>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EF9195-95B8-41EC-B86B-D13E5945A7D8}"/>
              </a:ext>
            </a:extLst>
          </p:cNvPr>
          <p:cNvSpPr>
            <a:spLocks xmlns:a="http://schemas.openxmlformats.org/drawingml/2006/main" noGrp="1"/>
          </p:cNvSpPr>
          <p:nvPr/>
        </p:nvSpPr>
        <p:spPr>
          <a:xfrm xmlns:a="http://schemas.openxmlformats.org/drawingml/2006/main">
            <a:off x="6305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75BC5"/>
                </a:solidFill>
                <a:latin typeface="DejaVu Sans"/>
                <a:ea typeface="DejaVu Sans"/>
                <a:cs typeface="DejaVu Sans"/>
              </a:defRPr>
            </a:pPr>
            <a:r>
              <a:rPr sz="28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988FECA2-7296-4183-A526-7E17024EE69B}"/>
              </a:ext>
            </a:extLst>
          </p:cNvPr>
          <p:cNvSpPr>
            <a:spLocks xmlns:a="http://schemas.openxmlformats.org/drawingml/2006/main" noGrp="1"/>
          </p:cNvSpPr>
          <p:nvPr/>
        </p:nvSpPr>
        <p:spPr>
          <a:xfrm xmlns:a="http://schemas.openxmlformats.org/drawingml/2006/main">
            <a:off x="6858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75BC5"/>
                </a:solidFill>
                <a:latin typeface="DejaVu Sans"/>
                <a:ea typeface="DejaVu Sans"/>
                <a:cs typeface="DejaVu Sans"/>
              </a:defRPr>
            </a:pPr>
            <a:r>
              <a:rPr sz="4050" b="1">
                <a:solidFill>
                  <a:srgbClr val="875BC5"/>
                </a:solidFill>
                <a:latin typeface="DejaVu Sans"/>
                <a:ea typeface="DejaVu Sans"/>
                <a:cs typeface="DejaVu Sans"/>
              </a:rPr>
              <a:t>68</a:t>
            </a:r>
          </a:p>
        </p:txBody>
      </p:sp>
      <p:sp>
        <p:nvSpPr>
          <p:cNvPr id="17" name="">
            <a:extLst xmlns:a="http://schemas.openxmlformats.org/drawingml/2006/main">
              <a:ext uri="{FF2B5EF4-FFF2-40B4-BE49-F238E27FC236}">
                <a16:creationId xmlns:a16="http://schemas.microsoft.com/office/drawing/2014/main" id="{8D67D683-667E-4BCE-8553-96A596875AFD}"/>
              </a:ext>
            </a:extLst>
          </p:cNvPr>
          <p:cNvSpPr>
            <a:spLocks xmlns:a="http://schemas.openxmlformats.org/drawingml/2006/main" noGrp="1"/>
          </p:cNvSpPr>
          <p:nvPr/>
        </p:nvSpPr>
        <p:spPr>
          <a:xfrm xmlns:a="http://schemas.openxmlformats.org/drawingml/2006/main">
            <a:off x="6324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backlog items</a:t>
            </a:r>
          </a:p>
        </p:txBody>
      </p:sp>
      <p:sp>
        <p:nvSpPr>
          <p:cNvPr id="18" name="">
            <a:extLst xmlns:a="http://schemas.openxmlformats.org/drawingml/2006/main">
              <a:ext uri="{FF2B5EF4-FFF2-40B4-BE49-F238E27FC236}">
                <a16:creationId xmlns:a16="http://schemas.microsoft.com/office/drawing/2014/main" id="{1F34C7B6-CED1-4D43-9D4C-A80FA8D90893}"/>
              </a:ext>
            </a:extLst>
          </p:cNvPr>
          <p:cNvSpPr>
            <a:spLocks xmlns:a="http://schemas.openxmlformats.org/drawingml/2006/main" noGrp="1"/>
          </p:cNvSpPr>
          <p:nvPr/>
        </p:nvSpPr>
        <p:spPr>
          <a:xfrm xmlns:a="http://schemas.openxmlformats.org/drawingml/2006/main">
            <a:off x="9029700" y="2095500"/>
            <a:ext cx="2667000" cy="1200150"/>
          </a:xfrm>
          <a:prstGeom xmlns:a="http://schemas.openxmlformats.org/drawingml/2006/main" prst="roundRect">
            <a:avLst>
              <a:gd name="adj" fmla="val 9524"/>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718E27-B12C-4796-9E41-535537745E5A}"/>
              </a:ext>
            </a:extLst>
          </p:cNvPr>
          <p:cNvSpPr>
            <a:spLocks xmlns:a="http://schemas.openxmlformats.org/drawingml/2006/main" noGrp="1"/>
          </p:cNvSpPr>
          <p:nvPr/>
        </p:nvSpPr>
        <p:spPr>
          <a:xfrm xmlns:a="http://schemas.openxmlformats.org/drawingml/2006/main">
            <a:off x="9163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CC7D16"/>
                </a:solidFill>
                <a:latin typeface="DejaVu Sans"/>
                <a:ea typeface="DejaVu Sans"/>
                <a:cs typeface="DejaVu Sans"/>
              </a:defRPr>
            </a:pPr>
            <a:r>
              <a:rPr sz="28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3E83F8C8-66CF-4854-8840-7E415F48E902}"/>
              </a:ext>
            </a:extLst>
          </p:cNvPr>
          <p:cNvSpPr>
            <a:spLocks xmlns:a="http://schemas.openxmlformats.org/drawingml/2006/main" noGrp="1"/>
          </p:cNvSpPr>
          <p:nvPr/>
        </p:nvSpPr>
        <p:spPr>
          <a:xfrm xmlns:a="http://schemas.openxmlformats.org/drawingml/2006/main">
            <a:off x="9715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CC7D16"/>
                </a:solidFill>
                <a:latin typeface="DejaVu Sans"/>
                <a:ea typeface="DejaVu Sans"/>
                <a:cs typeface="DejaVu Sans"/>
              </a:defRPr>
            </a:pPr>
            <a:r>
              <a:rPr sz="4050" b="1">
                <a:solidFill>
                  <a:srgbClr val="CC7D16"/>
                </a:solidFill>
                <a:latin typeface="DejaVu Sans"/>
                <a:ea typeface="DejaVu Sans"/>
                <a:cs typeface="DejaVu Sans"/>
              </a:rPr>
              <a:t>67</a:t>
            </a:r>
          </a:p>
        </p:txBody>
      </p:sp>
      <p:sp>
        <p:nvSpPr>
          <p:cNvPr id="21" name="">
            <a:extLst xmlns:a="http://schemas.openxmlformats.org/drawingml/2006/main">
              <a:ext uri="{FF2B5EF4-FFF2-40B4-BE49-F238E27FC236}">
                <a16:creationId xmlns:a16="http://schemas.microsoft.com/office/drawing/2014/main" id="{7DAA1510-E990-4EAF-B8E7-3D28EDA94067}"/>
              </a:ext>
            </a:extLst>
          </p:cNvPr>
          <p:cNvSpPr>
            <a:spLocks xmlns:a="http://schemas.openxmlformats.org/drawingml/2006/main" noGrp="1"/>
          </p:cNvSpPr>
          <p:nvPr/>
        </p:nvSpPr>
        <p:spPr>
          <a:xfrm xmlns:a="http://schemas.openxmlformats.org/drawingml/2006/main">
            <a:off x="9182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 progress</a:t>
            </a:r>
          </a:p>
        </p:txBody>
      </p:sp>
      <p:sp>
        <p:nvSpPr>
          <p:cNvPr id="22" name="">
            <a:extLst xmlns:a="http://schemas.openxmlformats.org/drawingml/2006/main">
              <a:ext uri="{FF2B5EF4-FFF2-40B4-BE49-F238E27FC236}">
                <a16:creationId xmlns:a16="http://schemas.microsoft.com/office/drawing/2014/main" id="{11E83F0A-A928-4B2D-8EAC-B2AB60FB2E43}"/>
              </a:ext>
            </a:extLst>
          </p:cNvPr>
          <p:cNvSpPr>
            <a:spLocks xmlns:a="http://schemas.openxmlformats.org/drawingml/2006/main" noGrp="1"/>
          </p:cNvSpPr>
          <p:nvPr/>
        </p:nvSpPr>
        <p:spPr>
          <a:xfrm xmlns:a="http://schemas.openxmlformats.org/drawingml/2006/main">
            <a:off x="457200" y="3476625"/>
            <a:ext cx="3657600" cy="1952625"/>
          </a:xfrm>
          <a:prstGeom xmlns:a="http://schemas.openxmlformats.org/drawingml/2006/main" prst="roundRect">
            <a:avLst>
              <a:gd name="adj" fmla="val 5854"/>
            </a:avLst>
          </a:prstGeom>
          <a:solidFill xmlns:a="http://schemas.openxmlformats.org/drawingml/2006/main">
            <a:srgbClr val="E6F6F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42D49ED-D8B2-4B8C-9511-E5A9366634AD}"/>
              </a:ext>
            </a:extLst>
          </p:cNvPr>
          <p:cNvSpPr>
            <a:spLocks xmlns:a="http://schemas.openxmlformats.org/drawingml/2006/main" noGrp="1"/>
          </p:cNvSpPr>
          <p:nvPr/>
        </p:nvSpPr>
        <p:spPr>
          <a:xfrm xmlns:a="http://schemas.openxmlformats.org/drawingml/2006/main">
            <a:off x="62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IB / MB</a:t>
            </a:r>
          </a:p>
        </p:txBody>
      </p:sp>
      <p:sp>
        <p:nvSpPr>
          <p:cNvPr id="24" name="">
            <a:extLst xmlns:a="http://schemas.openxmlformats.org/drawingml/2006/main">
              <a:ext uri="{FF2B5EF4-FFF2-40B4-BE49-F238E27FC236}">
                <a16:creationId xmlns:a16="http://schemas.microsoft.com/office/drawing/2014/main" id="{33EF1B57-F715-4659-865D-9172E208B18D}"/>
              </a:ext>
            </a:extLst>
          </p:cNvPr>
          <p:cNvSpPr>
            <a:spLocks xmlns:a="http://schemas.openxmlformats.org/drawingml/2006/main" noGrp="1"/>
          </p:cNvSpPr>
          <p:nvPr/>
        </p:nvSpPr>
        <p:spPr>
          <a:xfrm xmlns:a="http://schemas.openxmlformats.org/drawingml/2006/main">
            <a:off x="62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25 / 113  (22.1%)</a:t>
            </a:r>
          </a:p>
        </p:txBody>
      </p:sp>
      <p:sp>
        <p:nvSpPr>
          <p:cNvPr id="25" name="">
            <a:extLst xmlns:a="http://schemas.openxmlformats.org/drawingml/2006/main">
              <a:ext uri="{FF2B5EF4-FFF2-40B4-BE49-F238E27FC236}">
                <a16:creationId xmlns:a16="http://schemas.microsoft.com/office/drawing/2014/main" id="{8D34D64A-1677-48B9-B5F7-F0BBA323CE55}"/>
              </a:ext>
            </a:extLst>
          </p:cNvPr>
          <p:cNvSpPr>
            <a:spLocks xmlns:a="http://schemas.openxmlformats.org/drawingml/2006/main" noGrp="1"/>
          </p:cNvSpPr>
          <p:nvPr/>
        </p:nvSpPr>
        <p:spPr>
          <a:xfrm xmlns:a="http://schemas.openxmlformats.org/drawingml/2006/main">
            <a:off x="62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26" name="">
            <a:extLst xmlns:a="http://schemas.openxmlformats.org/drawingml/2006/main">
              <a:ext uri="{FF2B5EF4-FFF2-40B4-BE49-F238E27FC236}">
                <a16:creationId xmlns:a16="http://schemas.microsoft.com/office/drawing/2014/main" id="{1DA9B733-F1BE-45B6-AB67-8CFA18E89265}"/>
              </a:ext>
            </a:extLst>
          </p:cNvPr>
          <p:cNvSpPr>
            <a:spLocks xmlns:a="http://schemas.openxmlformats.org/drawingml/2006/main" noGrp="1"/>
          </p:cNvSpPr>
          <p:nvPr/>
        </p:nvSpPr>
        <p:spPr>
          <a:xfrm xmlns:a="http://schemas.openxmlformats.org/drawingml/2006/main">
            <a:off x="62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16.99B volume</a:t>
            </a:r>
          </a:p>
        </p:txBody>
      </p:sp>
      <p:sp>
        <p:nvSpPr>
          <p:cNvPr id="27" name="">
            <a:extLst xmlns:a="http://schemas.openxmlformats.org/drawingml/2006/main">
              <a:ext uri="{FF2B5EF4-FFF2-40B4-BE49-F238E27FC236}">
                <a16:creationId xmlns:a16="http://schemas.microsoft.com/office/drawing/2014/main" id="{A2610F35-097F-4D75-BC2D-716714C77B70}"/>
              </a:ext>
            </a:extLst>
          </p:cNvPr>
          <p:cNvSpPr>
            <a:spLocks xmlns:a="http://schemas.openxmlformats.org/drawingml/2006/main" noGrp="1"/>
          </p:cNvSpPr>
          <p:nvPr/>
        </p:nvSpPr>
        <p:spPr>
          <a:xfrm xmlns:a="http://schemas.openxmlformats.org/drawingml/2006/main">
            <a:off x="62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99.9% availability   •   DR Tested</a:t>
            </a:r>
          </a:p>
        </p:txBody>
      </p:sp>
      <p:sp>
        <p:nvSpPr>
          <p:cNvPr id="28" name="">
            <a:extLst xmlns:a="http://schemas.openxmlformats.org/drawingml/2006/main">
              <a:ext uri="{FF2B5EF4-FFF2-40B4-BE49-F238E27FC236}">
                <a16:creationId xmlns:a16="http://schemas.microsoft.com/office/drawing/2014/main" id="{87953DA7-2CB0-4137-A0C5-025C8FDA0171}"/>
              </a:ext>
            </a:extLst>
          </p:cNvPr>
          <p:cNvSpPr>
            <a:spLocks xmlns:a="http://schemas.openxmlformats.org/drawingml/2006/main" noGrp="1"/>
          </p:cNvSpPr>
          <p:nvPr/>
        </p:nvSpPr>
        <p:spPr>
          <a:xfrm xmlns:a="http://schemas.openxmlformats.org/drawingml/2006/main">
            <a:off x="4267200" y="3476625"/>
            <a:ext cx="3657600" cy="1952625"/>
          </a:xfrm>
          <a:prstGeom xmlns:a="http://schemas.openxmlformats.org/drawingml/2006/main" prst="roundRect">
            <a:avLst>
              <a:gd name="adj" fmla="val 5854"/>
            </a:avLst>
          </a:prstGeom>
          <a:solidFill xmlns:a="http://schemas.openxmlformats.org/drawingml/2006/main">
            <a:srgbClr val="E8F3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A47CCF5-9F30-4224-827A-2E4F61B38316}"/>
              </a:ext>
            </a:extLst>
          </p:cNvPr>
          <p:cNvSpPr>
            <a:spLocks xmlns:a="http://schemas.openxmlformats.org/drawingml/2006/main" noGrp="1"/>
          </p:cNvSpPr>
          <p:nvPr/>
        </p:nvSpPr>
        <p:spPr>
          <a:xfrm xmlns:a="http://schemas.openxmlformats.org/drawingml/2006/main">
            <a:off x="443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FinnOne</a:t>
            </a:r>
          </a:p>
        </p:txBody>
      </p:sp>
      <p:sp>
        <p:nvSpPr>
          <p:cNvPr id="30" name="">
            <a:extLst xmlns:a="http://schemas.openxmlformats.org/drawingml/2006/main">
              <a:ext uri="{FF2B5EF4-FFF2-40B4-BE49-F238E27FC236}">
                <a16:creationId xmlns:a16="http://schemas.microsoft.com/office/drawing/2014/main" id="{C61D9735-CFD8-4ED3-8C78-5C929A11720D}"/>
              </a:ext>
            </a:extLst>
          </p:cNvPr>
          <p:cNvSpPr>
            <a:spLocks xmlns:a="http://schemas.openxmlformats.org/drawingml/2006/main" noGrp="1"/>
          </p:cNvSpPr>
          <p:nvPr/>
        </p:nvSpPr>
        <p:spPr>
          <a:xfrm xmlns:a="http://schemas.openxmlformats.org/drawingml/2006/main">
            <a:off x="443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50 / 122  (41.0%)</a:t>
            </a:r>
          </a:p>
        </p:txBody>
      </p:sp>
      <p:sp>
        <p:nvSpPr>
          <p:cNvPr id="31" name="">
            <a:extLst xmlns:a="http://schemas.openxmlformats.org/drawingml/2006/main">
              <a:ext uri="{FF2B5EF4-FFF2-40B4-BE49-F238E27FC236}">
                <a16:creationId xmlns:a16="http://schemas.microsoft.com/office/drawing/2014/main" id="{E533FB6E-742F-4ADC-8B0E-D5AB73982AA7}"/>
              </a:ext>
            </a:extLst>
          </p:cNvPr>
          <p:cNvSpPr>
            <a:spLocks xmlns:a="http://schemas.openxmlformats.org/drawingml/2006/main" noGrp="1"/>
          </p:cNvSpPr>
          <p:nvPr/>
        </p:nvSpPr>
        <p:spPr>
          <a:xfrm xmlns:a="http://schemas.openxmlformats.org/drawingml/2006/main">
            <a:off x="443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2" name="">
            <a:extLst xmlns:a="http://schemas.openxmlformats.org/drawingml/2006/main">
              <a:ext uri="{FF2B5EF4-FFF2-40B4-BE49-F238E27FC236}">
                <a16:creationId xmlns:a16="http://schemas.microsoft.com/office/drawing/2014/main" id="{8014F156-C75F-495B-926E-67C8CF4A8A26}"/>
              </a:ext>
            </a:extLst>
          </p:cNvPr>
          <p:cNvSpPr>
            <a:spLocks xmlns:a="http://schemas.openxmlformats.org/drawingml/2006/main" noGrp="1"/>
          </p:cNvSpPr>
          <p:nvPr/>
        </p:nvSpPr>
        <p:spPr>
          <a:xfrm xmlns:a="http://schemas.openxmlformats.org/drawingml/2006/main">
            <a:off x="443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3.24B volume</a:t>
            </a:r>
          </a:p>
        </p:txBody>
      </p:sp>
      <p:sp>
        <p:nvSpPr>
          <p:cNvPr id="33" name="">
            <a:extLst xmlns:a="http://schemas.openxmlformats.org/drawingml/2006/main">
              <a:ext uri="{FF2B5EF4-FFF2-40B4-BE49-F238E27FC236}">
                <a16:creationId xmlns:a16="http://schemas.microsoft.com/office/drawing/2014/main" id="{AE00C594-90FD-4B25-A98E-90A35EEF1C09}"/>
              </a:ext>
            </a:extLst>
          </p:cNvPr>
          <p:cNvSpPr>
            <a:spLocks xmlns:a="http://schemas.openxmlformats.org/drawingml/2006/main" noGrp="1"/>
          </p:cNvSpPr>
          <p:nvPr/>
        </p:nvSpPr>
        <p:spPr>
          <a:xfrm xmlns:a="http://schemas.openxmlformats.org/drawingml/2006/main">
            <a:off x="443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34" name="">
            <a:extLst xmlns:a="http://schemas.openxmlformats.org/drawingml/2006/main">
              <a:ext uri="{FF2B5EF4-FFF2-40B4-BE49-F238E27FC236}">
                <a16:creationId xmlns:a16="http://schemas.microsoft.com/office/drawing/2014/main" id="{8D8A42A0-266D-47AA-8687-1D6C1D8824B0}"/>
              </a:ext>
            </a:extLst>
          </p:cNvPr>
          <p:cNvSpPr>
            <a:spLocks xmlns:a="http://schemas.openxmlformats.org/drawingml/2006/main" noGrp="1"/>
          </p:cNvSpPr>
          <p:nvPr/>
        </p:nvSpPr>
        <p:spPr>
          <a:xfrm xmlns:a="http://schemas.openxmlformats.org/drawingml/2006/main">
            <a:off x="8077200" y="3476625"/>
            <a:ext cx="3657600" cy="1952625"/>
          </a:xfrm>
          <a:prstGeom xmlns:a="http://schemas.openxmlformats.org/drawingml/2006/main" prst="roundRect">
            <a:avLst>
              <a:gd name="adj" fmla="val 5854"/>
            </a:avLst>
          </a:prstGeom>
          <a:solidFill xmlns:a="http://schemas.openxmlformats.org/drawingml/2006/main">
            <a:srgbClr val="F0EAF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DE80C5F-B1EF-44BC-B2FF-3B32A3CCAFE9}"/>
              </a:ext>
            </a:extLst>
          </p:cNvPr>
          <p:cNvSpPr>
            <a:spLocks xmlns:a="http://schemas.openxmlformats.org/drawingml/2006/main" noGrp="1"/>
          </p:cNvSpPr>
          <p:nvPr/>
        </p:nvSpPr>
        <p:spPr>
          <a:xfrm xmlns:a="http://schemas.openxmlformats.org/drawingml/2006/main">
            <a:off x="824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HFLMS</a:t>
            </a:r>
          </a:p>
        </p:txBody>
      </p:sp>
      <p:sp>
        <p:nvSpPr>
          <p:cNvPr id="36" name="">
            <a:extLst xmlns:a="http://schemas.openxmlformats.org/drawingml/2006/main">
              <a:ext uri="{FF2B5EF4-FFF2-40B4-BE49-F238E27FC236}">
                <a16:creationId xmlns:a16="http://schemas.microsoft.com/office/drawing/2014/main" id="{50917604-52E2-4CBF-B2CC-F4DEEDFB0651}"/>
              </a:ext>
            </a:extLst>
          </p:cNvPr>
          <p:cNvSpPr>
            <a:spLocks xmlns:a="http://schemas.openxmlformats.org/drawingml/2006/main" noGrp="1"/>
          </p:cNvSpPr>
          <p:nvPr/>
        </p:nvSpPr>
        <p:spPr>
          <a:xfrm xmlns:a="http://schemas.openxmlformats.org/drawingml/2006/main">
            <a:off x="824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23 / 50  (46.0%)</a:t>
            </a:r>
          </a:p>
        </p:txBody>
      </p:sp>
      <p:sp>
        <p:nvSpPr>
          <p:cNvPr id="37" name="">
            <a:extLst xmlns:a="http://schemas.openxmlformats.org/drawingml/2006/main">
              <a:ext uri="{FF2B5EF4-FFF2-40B4-BE49-F238E27FC236}">
                <a16:creationId xmlns:a16="http://schemas.microsoft.com/office/drawing/2014/main" id="{E1197843-B112-403E-B74C-AD311A3CD7BE}"/>
              </a:ext>
            </a:extLst>
          </p:cNvPr>
          <p:cNvSpPr>
            <a:spLocks xmlns:a="http://schemas.openxmlformats.org/drawingml/2006/main" noGrp="1"/>
          </p:cNvSpPr>
          <p:nvPr/>
        </p:nvSpPr>
        <p:spPr>
          <a:xfrm xmlns:a="http://schemas.openxmlformats.org/drawingml/2006/main">
            <a:off x="824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8" name="">
            <a:extLst xmlns:a="http://schemas.openxmlformats.org/drawingml/2006/main">
              <a:ext uri="{FF2B5EF4-FFF2-40B4-BE49-F238E27FC236}">
                <a16:creationId xmlns:a16="http://schemas.microsoft.com/office/drawing/2014/main" id="{41183708-5D6A-4D2F-BEDC-54F475FF4357}"/>
              </a:ext>
            </a:extLst>
          </p:cNvPr>
          <p:cNvSpPr>
            <a:spLocks xmlns:a="http://schemas.openxmlformats.org/drawingml/2006/main" noGrp="1"/>
          </p:cNvSpPr>
          <p:nvPr/>
        </p:nvSpPr>
        <p:spPr>
          <a:xfrm xmlns:a="http://schemas.openxmlformats.org/drawingml/2006/main">
            <a:off x="824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1.24B volume</a:t>
            </a:r>
          </a:p>
        </p:txBody>
      </p:sp>
      <p:sp>
        <p:nvSpPr>
          <p:cNvPr id="39" name="">
            <a:extLst xmlns:a="http://schemas.openxmlformats.org/drawingml/2006/main">
              <a:ext uri="{FF2B5EF4-FFF2-40B4-BE49-F238E27FC236}">
                <a16:creationId xmlns:a16="http://schemas.microsoft.com/office/drawing/2014/main" id="{C8A9DCDF-9E36-475D-8816-33579ED80751}"/>
              </a:ext>
            </a:extLst>
          </p:cNvPr>
          <p:cNvSpPr>
            <a:spLocks xmlns:a="http://schemas.openxmlformats.org/drawingml/2006/main" noGrp="1"/>
          </p:cNvSpPr>
          <p:nvPr/>
        </p:nvSpPr>
        <p:spPr>
          <a:xfrm xmlns:a="http://schemas.openxmlformats.org/drawingml/2006/main">
            <a:off x="824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40" name="">
            <a:extLst xmlns:a="http://schemas.openxmlformats.org/drawingml/2006/main">
              <a:ext uri="{FF2B5EF4-FFF2-40B4-BE49-F238E27FC236}">
                <a16:creationId xmlns:a16="http://schemas.microsoft.com/office/drawing/2014/main" id="{C4D23AD5-AD0F-4710-98A4-8FCC52ABA3F5}"/>
              </a:ext>
            </a:extLst>
          </p:cNvPr>
          <p:cNvSpPr>
            <a:spLocks xmlns:a="http://schemas.openxmlformats.org/drawingml/2006/main" noGrp="1"/>
          </p:cNvSpPr>
          <p:nvPr/>
        </p:nvSpPr>
        <p:spPr>
          <a:xfrm xmlns:a="http://schemas.openxmlformats.org/drawingml/2006/main">
            <a:off x="457200" y="56483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Management focus</a:t>
            </a:r>
          </a:p>
        </p:txBody>
      </p:sp>
      <p:sp>
        <p:nvSpPr>
          <p:cNvPr id="41" name="">
            <a:extLst xmlns:a="http://schemas.openxmlformats.org/drawingml/2006/main">
              <a:ext uri="{FF2B5EF4-FFF2-40B4-BE49-F238E27FC236}">
                <a16:creationId xmlns:a16="http://schemas.microsoft.com/office/drawing/2014/main" id="{C1E2A76C-BDE9-472C-B337-735158FE1468}"/>
              </a:ext>
            </a:extLst>
          </p:cNvPr>
          <p:cNvSpPr>
            <a:spLocks xmlns:a="http://schemas.openxmlformats.org/drawingml/2006/main" noGrp="1"/>
          </p:cNvSpPr>
          <p:nvPr/>
        </p:nvSpPr>
        <p:spPr>
          <a:xfrm xmlns:a="http://schemas.openxmlformats.org/drawingml/2006/main">
            <a:off x="2857500" y="56197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MB incident controls and backlog capacity need attention. FinnOne and HFLMS require interim recovery controls before the 2027 DR upgrades.</a:t>
            </a:r>
          </a:p>
        </p:txBody>
      </p:sp>
    </p:spTree>
    <p:extLst>
      <p:ext uri="{BB962C8B-B14F-4D97-AF65-F5344CB8AC3E}">
        <p14:creationId xmlns:p14="http://schemas.microsoft.com/office/powerpoint/2010/main" val="2450364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 name="">
            <a:extLst xmlns:a="http://schemas.openxmlformats.org/drawingml/2006/main">
              <a:ext uri="{FF2B5EF4-FFF2-40B4-BE49-F238E27FC236}">
                <a16:creationId xmlns:a16="http://schemas.microsoft.com/office/drawing/2014/main" id="{507A4DFD-F7B2-4157-8E39-E628D20E1DF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3CDB956-C767-42B5-8816-262ACB9CC89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IB / MB supports 16.99B in business volume</a:t>
            </a:r>
          </a:p>
        </p:txBody>
      </p:sp>
      <p:sp>
        <p:nvSpPr>
          <p:cNvPr id="3" name="">
            <a:extLst xmlns:a="http://schemas.openxmlformats.org/drawingml/2006/main">
              <a:ext uri="{FF2B5EF4-FFF2-40B4-BE49-F238E27FC236}">
                <a16:creationId xmlns:a16="http://schemas.microsoft.com/office/drawing/2014/main" id="{5FC06E7A-7BE9-4CD6-BA4B-A84649F6207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Delivery continues while Mobile Banking reliability needs closer oversight</a:t>
            </a:r>
          </a:p>
        </p:txBody>
      </p:sp>
      <p:sp>
        <p:nvSpPr>
          <p:cNvPr id="4" name="">
            <a:extLst xmlns:a="http://schemas.openxmlformats.org/drawingml/2006/main">
              <a:ext uri="{FF2B5EF4-FFF2-40B4-BE49-F238E27FC236}">
                <a16:creationId xmlns:a16="http://schemas.microsoft.com/office/drawing/2014/main" id="{AFE25524-2718-4A1C-80A4-3F70CB206B1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E530E1F0-D0D3-4D1C-BA5B-2C83EA7ECC8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a:t>
            </a:r>
          </a:p>
        </p:txBody>
      </p:sp>
      <p:graphicFrame>
        <p:nvGraphicFramePr>
          <p:cNvPr id="146" name="Chart"/>
          <p:cNvGraphicFramePr/>
          <p:nvPr/>
        </p:nvGraphicFramePr>
        <p:xfrm>
          <a:off xmlns:a="http://schemas.openxmlformats.org/drawingml/2006/main" x="457200" y="2266950"/>
          <a:ext xmlns:a="http://schemas.openxmlformats.org/drawingml/2006/main" cx="5143500" cy="2762250"/>
        </p:xfrm>
        <a:graphic xmlns:a="http://schemas.openxmlformats.org/drawingml/2006/main">
          <a:graphicData uri="http://schemas.openxmlformats.org/drawingml/2006/chart">
            <c:chart xmlns:r="http://schemas.openxmlformats.org/officeDocument/2006/relationships" xmlns:c="http://schemas.openxmlformats.org/drawingml/2006/chart" r:id="R08258429f3e54096"/>
          </a:graphicData>
        </a:graphic>
      </p:graphicFrame>
      <p:sp>
        <p:nvSpPr>
          <p:cNvPr id="7" name="">
            <a:extLst xmlns:a="http://schemas.openxmlformats.org/drawingml/2006/main">
              <a:ext uri="{FF2B5EF4-FFF2-40B4-BE49-F238E27FC236}">
                <a16:creationId xmlns:a16="http://schemas.microsoft.com/office/drawing/2014/main" id="{BA5DC214-BA2F-4531-9F87-791F82992125}"/>
              </a:ext>
            </a:extLst>
          </p:cNvPr>
          <p:cNvSpPr>
            <a:spLocks xmlns:a="http://schemas.openxmlformats.org/drawingml/2006/main" noGrp="1"/>
          </p:cNvSpPr>
          <p:nvPr/>
        </p:nvSpPr>
        <p:spPr>
          <a:xfrm xmlns:a="http://schemas.openxmlformats.org/drawingml/2006/main">
            <a:off x="457200" y="52006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54% of reported volume comes from SME</a:t>
            </a:r>
          </a:p>
        </p:txBody>
      </p:sp>
      <p:sp>
        <p:nvSpPr>
          <p:cNvPr id="8" name="">
            <a:extLst xmlns:a="http://schemas.openxmlformats.org/drawingml/2006/main">
              <a:ext uri="{FF2B5EF4-FFF2-40B4-BE49-F238E27FC236}">
                <a16:creationId xmlns:a16="http://schemas.microsoft.com/office/drawing/2014/main" id="{B0A81B56-D43B-427D-80AC-F7EF447E7A2C}"/>
              </a:ext>
            </a:extLst>
          </p:cNvPr>
          <p:cNvSpPr>
            <a:spLocks xmlns:a="http://schemas.openxmlformats.org/drawingml/2006/main" noGrp="1"/>
          </p:cNvSpPr>
          <p:nvPr/>
        </p:nvSpPr>
        <p:spPr>
          <a:xfrm xmlns:a="http://schemas.openxmlformats.org/drawingml/2006/main">
            <a:off x="6048375" y="2238375"/>
            <a:ext cx="28575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39F734-961E-4FD2-95FF-AC20A88589CE}"/>
              </a:ext>
            </a:extLst>
          </p:cNvPr>
          <p:cNvSpPr>
            <a:spLocks xmlns:a="http://schemas.openxmlformats.org/drawingml/2006/main" noGrp="1"/>
          </p:cNvSpPr>
          <p:nvPr/>
        </p:nvSpPr>
        <p:spPr>
          <a:xfrm xmlns:a="http://schemas.openxmlformats.org/drawingml/2006/main">
            <a:off x="6191250" y="22669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Delivered</a:t>
            </a:r>
          </a:p>
        </p:txBody>
      </p:sp>
      <p:sp>
        <p:nvSpPr>
          <p:cNvPr id="10" name="">
            <a:extLst xmlns:a="http://schemas.openxmlformats.org/drawingml/2006/main">
              <a:ext uri="{FF2B5EF4-FFF2-40B4-BE49-F238E27FC236}">
                <a16:creationId xmlns:a16="http://schemas.microsoft.com/office/drawing/2014/main" id="{E2DCA2C3-D158-4002-ABF2-40931BF9FF5C}"/>
              </a:ext>
            </a:extLst>
          </p:cNvPr>
          <p:cNvSpPr>
            <a:spLocks xmlns:a="http://schemas.openxmlformats.org/drawingml/2006/main" noGrp="1"/>
          </p:cNvSpPr>
          <p:nvPr/>
        </p:nvSpPr>
        <p:spPr>
          <a:xfrm xmlns:a="http://schemas.openxmlformats.org/drawingml/2006/main">
            <a:off x="8296275" y="22669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25</a:t>
            </a:r>
          </a:p>
        </p:txBody>
      </p:sp>
      <p:sp>
        <p:nvSpPr>
          <p:cNvPr id="11" name="">
            <a:extLst xmlns:a="http://schemas.openxmlformats.org/drawingml/2006/main">
              <a:ext uri="{FF2B5EF4-FFF2-40B4-BE49-F238E27FC236}">
                <a16:creationId xmlns:a16="http://schemas.microsoft.com/office/drawing/2014/main" id="{3584A5D0-DE64-4414-9978-CE1D9AD8438E}"/>
              </a:ext>
            </a:extLst>
          </p:cNvPr>
          <p:cNvSpPr>
            <a:spLocks xmlns:a="http://schemas.openxmlformats.org/drawingml/2006/main" noGrp="1"/>
          </p:cNvSpPr>
          <p:nvPr/>
        </p:nvSpPr>
        <p:spPr>
          <a:xfrm xmlns:a="http://schemas.openxmlformats.org/drawingml/2006/main">
            <a:off x="6191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8AED34-1E1D-42B4-A2AA-9C50B7B259ED}"/>
              </a:ext>
            </a:extLst>
          </p:cNvPr>
          <p:cNvSpPr>
            <a:spLocks xmlns:a="http://schemas.openxmlformats.org/drawingml/2006/main" noGrp="1"/>
          </p:cNvSpPr>
          <p:nvPr/>
        </p:nvSpPr>
        <p:spPr>
          <a:xfrm xmlns:a="http://schemas.openxmlformats.org/drawingml/2006/main">
            <a:off x="6238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5AAF9C-EB2E-4CBF-A19C-617CF77F0E32}"/>
              </a:ext>
            </a:extLst>
          </p:cNvPr>
          <p:cNvSpPr>
            <a:spLocks xmlns:a="http://schemas.openxmlformats.org/drawingml/2006/main" noGrp="1"/>
          </p:cNvSpPr>
          <p:nvPr/>
        </p:nvSpPr>
        <p:spPr>
          <a:xfrm xmlns:a="http://schemas.openxmlformats.org/drawingml/2006/main">
            <a:off x="6286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BBD5231-ADC3-4C0F-9754-DA1C48BF150C}"/>
              </a:ext>
            </a:extLst>
          </p:cNvPr>
          <p:cNvSpPr>
            <a:spLocks xmlns:a="http://schemas.openxmlformats.org/drawingml/2006/main" noGrp="1"/>
          </p:cNvSpPr>
          <p:nvPr/>
        </p:nvSpPr>
        <p:spPr>
          <a:xfrm xmlns:a="http://schemas.openxmlformats.org/drawingml/2006/main">
            <a:off x="6334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CA0B188-44F3-4A63-9513-8727E0DE3F24}"/>
              </a:ext>
            </a:extLst>
          </p:cNvPr>
          <p:cNvSpPr>
            <a:spLocks xmlns:a="http://schemas.openxmlformats.org/drawingml/2006/main" noGrp="1"/>
          </p:cNvSpPr>
          <p:nvPr/>
        </p:nvSpPr>
        <p:spPr>
          <a:xfrm xmlns:a="http://schemas.openxmlformats.org/drawingml/2006/main">
            <a:off x="6381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7693C7-F4EA-4480-BAE5-38438A7547D8}"/>
              </a:ext>
            </a:extLst>
          </p:cNvPr>
          <p:cNvSpPr>
            <a:spLocks xmlns:a="http://schemas.openxmlformats.org/drawingml/2006/main" noGrp="1"/>
          </p:cNvSpPr>
          <p:nvPr/>
        </p:nvSpPr>
        <p:spPr>
          <a:xfrm xmlns:a="http://schemas.openxmlformats.org/drawingml/2006/main">
            <a:off x="6429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B3604B-6AE9-4F8F-8884-5D231CD3E72C}"/>
              </a:ext>
            </a:extLst>
          </p:cNvPr>
          <p:cNvSpPr>
            <a:spLocks xmlns:a="http://schemas.openxmlformats.org/drawingml/2006/main" noGrp="1"/>
          </p:cNvSpPr>
          <p:nvPr/>
        </p:nvSpPr>
        <p:spPr>
          <a:xfrm xmlns:a="http://schemas.openxmlformats.org/drawingml/2006/main">
            <a:off x="6477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F212FD-4C17-4485-A38D-33FCDB60B294}"/>
              </a:ext>
            </a:extLst>
          </p:cNvPr>
          <p:cNvSpPr>
            <a:spLocks xmlns:a="http://schemas.openxmlformats.org/drawingml/2006/main" noGrp="1"/>
          </p:cNvSpPr>
          <p:nvPr/>
        </p:nvSpPr>
        <p:spPr>
          <a:xfrm xmlns:a="http://schemas.openxmlformats.org/drawingml/2006/main">
            <a:off x="6524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F8ECD95-CA45-40BA-A6FD-3EE68800A9C7}"/>
              </a:ext>
            </a:extLst>
          </p:cNvPr>
          <p:cNvSpPr>
            <a:spLocks xmlns:a="http://schemas.openxmlformats.org/drawingml/2006/main" noGrp="1"/>
          </p:cNvSpPr>
          <p:nvPr/>
        </p:nvSpPr>
        <p:spPr>
          <a:xfrm xmlns:a="http://schemas.openxmlformats.org/drawingml/2006/main">
            <a:off x="6572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588ED2-3E3C-4A09-A007-9CF0E532AFFC}"/>
              </a:ext>
            </a:extLst>
          </p:cNvPr>
          <p:cNvSpPr>
            <a:spLocks xmlns:a="http://schemas.openxmlformats.org/drawingml/2006/main" noGrp="1"/>
          </p:cNvSpPr>
          <p:nvPr/>
        </p:nvSpPr>
        <p:spPr>
          <a:xfrm xmlns:a="http://schemas.openxmlformats.org/drawingml/2006/main">
            <a:off x="6619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2F46DDF-BBA3-492A-BD62-BFBC816266DA}"/>
              </a:ext>
            </a:extLst>
          </p:cNvPr>
          <p:cNvSpPr>
            <a:spLocks xmlns:a="http://schemas.openxmlformats.org/drawingml/2006/main" noGrp="1"/>
          </p:cNvSpPr>
          <p:nvPr/>
        </p:nvSpPr>
        <p:spPr>
          <a:xfrm xmlns:a="http://schemas.openxmlformats.org/drawingml/2006/main">
            <a:off x="6667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E8DD7F7-035E-40E5-A1DF-99E69ABA5E1B}"/>
              </a:ext>
            </a:extLst>
          </p:cNvPr>
          <p:cNvSpPr>
            <a:spLocks xmlns:a="http://schemas.openxmlformats.org/drawingml/2006/main" noGrp="1"/>
          </p:cNvSpPr>
          <p:nvPr/>
        </p:nvSpPr>
        <p:spPr>
          <a:xfrm xmlns:a="http://schemas.openxmlformats.org/drawingml/2006/main">
            <a:off x="6715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0E0A19B-CB99-4B5A-8D06-B991A305A11E}"/>
              </a:ext>
            </a:extLst>
          </p:cNvPr>
          <p:cNvSpPr>
            <a:spLocks xmlns:a="http://schemas.openxmlformats.org/drawingml/2006/main" noGrp="1"/>
          </p:cNvSpPr>
          <p:nvPr/>
        </p:nvSpPr>
        <p:spPr>
          <a:xfrm xmlns:a="http://schemas.openxmlformats.org/drawingml/2006/main">
            <a:off x="6762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DBB4E4F-E06C-4AA2-B1A3-F946B2C64543}"/>
              </a:ext>
            </a:extLst>
          </p:cNvPr>
          <p:cNvSpPr>
            <a:spLocks xmlns:a="http://schemas.openxmlformats.org/drawingml/2006/main" noGrp="1"/>
          </p:cNvSpPr>
          <p:nvPr/>
        </p:nvSpPr>
        <p:spPr>
          <a:xfrm xmlns:a="http://schemas.openxmlformats.org/drawingml/2006/main">
            <a:off x="6810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E300383-DC97-4110-B6BE-CCB8A75495A9}"/>
              </a:ext>
            </a:extLst>
          </p:cNvPr>
          <p:cNvSpPr>
            <a:spLocks xmlns:a="http://schemas.openxmlformats.org/drawingml/2006/main" noGrp="1"/>
          </p:cNvSpPr>
          <p:nvPr/>
        </p:nvSpPr>
        <p:spPr>
          <a:xfrm xmlns:a="http://schemas.openxmlformats.org/drawingml/2006/main">
            <a:off x="6858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FBAB754-76F6-4314-A6A8-E3EA785BE7BA}"/>
              </a:ext>
            </a:extLst>
          </p:cNvPr>
          <p:cNvSpPr>
            <a:spLocks xmlns:a="http://schemas.openxmlformats.org/drawingml/2006/main" noGrp="1"/>
          </p:cNvSpPr>
          <p:nvPr/>
        </p:nvSpPr>
        <p:spPr>
          <a:xfrm xmlns:a="http://schemas.openxmlformats.org/drawingml/2006/main">
            <a:off x="6905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0A09D56-68C9-4097-B340-10E733053737}"/>
              </a:ext>
            </a:extLst>
          </p:cNvPr>
          <p:cNvSpPr>
            <a:spLocks xmlns:a="http://schemas.openxmlformats.org/drawingml/2006/main" noGrp="1"/>
          </p:cNvSpPr>
          <p:nvPr/>
        </p:nvSpPr>
        <p:spPr>
          <a:xfrm xmlns:a="http://schemas.openxmlformats.org/drawingml/2006/main">
            <a:off x="6953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91634CE-2FE6-44E5-BDDE-AE576BDE213A}"/>
              </a:ext>
            </a:extLst>
          </p:cNvPr>
          <p:cNvSpPr>
            <a:spLocks xmlns:a="http://schemas.openxmlformats.org/drawingml/2006/main" noGrp="1"/>
          </p:cNvSpPr>
          <p:nvPr/>
        </p:nvSpPr>
        <p:spPr>
          <a:xfrm xmlns:a="http://schemas.openxmlformats.org/drawingml/2006/main">
            <a:off x="7000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B7F1E78-3BEF-4495-8599-876444F8B57E}"/>
              </a:ext>
            </a:extLst>
          </p:cNvPr>
          <p:cNvSpPr>
            <a:spLocks xmlns:a="http://schemas.openxmlformats.org/drawingml/2006/main" noGrp="1"/>
          </p:cNvSpPr>
          <p:nvPr/>
        </p:nvSpPr>
        <p:spPr>
          <a:xfrm xmlns:a="http://schemas.openxmlformats.org/drawingml/2006/main">
            <a:off x="7048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FE07180-A66C-4C5F-9A48-CE6C774A2EED}"/>
              </a:ext>
            </a:extLst>
          </p:cNvPr>
          <p:cNvSpPr>
            <a:spLocks xmlns:a="http://schemas.openxmlformats.org/drawingml/2006/main" noGrp="1"/>
          </p:cNvSpPr>
          <p:nvPr/>
        </p:nvSpPr>
        <p:spPr>
          <a:xfrm xmlns:a="http://schemas.openxmlformats.org/drawingml/2006/main">
            <a:off x="7096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9CE045A-6BFE-4B23-AB30-D3157B88DD40}"/>
              </a:ext>
            </a:extLst>
          </p:cNvPr>
          <p:cNvSpPr>
            <a:spLocks xmlns:a="http://schemas.openxmlformats.org/drawingml/2006/main" noGrp="1"/>
          </p:cNvSpPr>
          <p:nvPr/>
        </p:nvSpPr>
        <p:spPr>
          <a:xfrm xmlns:a="http://schemas.openxmlformats.org/drawingml/2006/main">
            <a:off x="7143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842F71B-9035-494C-944F-38658D3CD4E0}"/>
              </a:ext>
            </a:extLst>
          </p:cNvPr>
          <p:cNvSpPr>
            <a:spLocks xmlns:a="http://schemas.openxmlformats.org/drawingml/2006/main" noGrp="1"/>
          </p:cNvSpPr>
          <p:nvPr/>
        </p:nvSpPr>
        <p:spPr>
          <a:xfrm xmlns:a="http://schemas.openxmlformats.org/drawingml/2006/main">
            <a:off x="7191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1FE1A9E-326E-4315-B88C-CB7630F0FFAF}"/>
              </a:ext>
            </a:extLst>
          </p:cNvPr>
          <p:cNvSpPr>
            <a:spLocks xmlns:a="http://schemas.openxmlformats.org/drawingml/2006/main" noGrp="1"/>
          </p:cNvSpPr>
          <p:nvPr/>
        </p:nvSpPr>
        <p:spPr>
          <a:xfrm xmlns:a="http://schemas.openxmlformats.org/drawingml/2006/main">
            <a:off x="7239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55B0E58-BE17-4E59-B028-ABE89DE30E4A}"/>
              </a:ext>
            </a:extLst>
          </p:cNvPr>
          <p:cNvSpPr>
            <a:spLocks xmlns:a="http://schemas.openxmlformats.org/drawingml/2006/main" noGrp="1"/>
          </p:cNvSpPr>
          <p:nvPr/>
        </p:nvSpPr>
        <p:spPr>
          <a:xfrm xmlns:a="http://schemas.openxmlformats.org/drawingml/2006/main">
            <a:off x="7286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96F8C8A-A097-4156-A5CD-BAF4C75A4219}"/>
              </a:ext>
            </a:extLst>
          </p:cNvPr>
          <p:cNvSpPr>
            <a:spLocks xmlns:a="http://schemas.openxmlformats.org/drawingml/2006/main" noGrp="1"/>
          </p:cNvSpPr>
          <p:nvPr/>
        </p:nvSpPr>
        <p:spPr>
          <a:xfrm xmlns:a="http://schemas.openxmlformats.org/drawingml/2006/main">
            <a:off x="7334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B0E0370-2CB4-4495-A292-ADB2C304602E}"/>
              </a:ext>
            </a:extLst>
          </p:cNvPr>
          <p:cNvSpPr>
            <a:spLocks xmlns:a="http://schemas.openxmlformats.org/drawingml/2006/main" noGrp="1"/>
          </p:cNvSpPr>
          <p:nvPr/>
        </p:nvSpPr>
        <p:spPr>
          <a:xfrm xmlns:a="http://schemas.openxmlformats.org/drawingml/2006/main">
            <a:off x="6048375" y="2762250"/>
            <a:ext cx="28575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A5B9811-67BC-4DD2-AEEF-CE3ED1E69858}"/>
              </a:ext>
            </a:extLst>
          </p:cNvPr>
          <p:cNvSpPr>
            <a:spLocks xmlns:a="http://schemas.openxmlformats.org/drawingml/2006/main" noGrp="1"/>
          </p:cNvSpPr>
          <p:nvPr/>
        </p:nvSpPr>
        <p:spPr>
          <a:xfrm xmlns:a="http://schemas.openxmlformats.org/drawingml/2006/main">
            <a:off x="6191250" y="279082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38" name="">
            <a:extLst xmlns:a="http://schemas.openxmlformats.org/drawingml/2006/main">
              <a:ext uri="{FF2B5EF4-FFF2-40B4-BE49-F238E27FC236}">
                <a16:creationId xmlns:a16="http://schemas.microsoft.com/office/drawing/2014/main" id="{77B52912-6A64-4EA0-A904-2714ECD4C41C}"/>
              </a:ext>
            </a:extLst>
          </p:cNvPr>
          <p:cNvSpPr>
            <a:spLocks xmlns:a="http://schemas.openxmlformats.org/drawingml/2006/main" noGrp="1"/>
          </p:cNvSpPr>
          <p:nvPr/>
        </p:nvSpPr>
        <p:spPr>
          <a:xfrm xmlns:a="http://schemas.openxmlformats.org/drawingml/2006/main">
            <a:off x="8296275" y="2790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23</a:t>
            </a:r>
          </a:p>
        </p:txBody>
      </p:sp>
      <p:sp>
        <p:nvSpPr>
          <p:cNvPr id="39" name="">
            <a:extLst xmlns:a="http://schemas.openxmlformats.org/drawingml/2006/main">
              <a:ext uri="{FF2B5EF4-FFF2-40B4-BE49-F238E27FC236}">
                <a16:creationId xmlns:a16="http://schemas.microsoft.com/office/drawing/2014/main" id="{B179593B-148E-4DB2-9869-AEDC151693DB}"/>
              </a:ext>
            </a:extLst>
          </p:cNvPr>
          <p:cNvSpPr>
            <a:spLocks xmlns:a="http://schemas.openxmlformats.org/drawingml/2006/main" noGrp="1"/>
          </p:cNvSpPr>
          <p:nvPr/>
        </p:nvSpPr>
        <p:spPr>
          <a:xfrm xmlns:a="http://schemas.openxmlformats.org/drawingml/2006/main">
            <a:off x="6191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BE4CAF6-B8B6-468E-ACB0-E29F12704872}"/>
              </a:ext>
            </a:extLst>
          </p:cNvPr>
          <p:cNvSpPr>
            <a:spLocks xmlns:a="http://schemas.openxmlformats.org/drawingml/2006/main" noGrp="1"/>
          </p:cNvSpPr>
          <p:nvPr/>
        </p:nvSpPr>
        <p:spPr>
          <a:xfrm xmlns:a="http://schemas.openxmlformats.org/drawingml/2006/main">
            <a:off x="6238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486E825-AE24-4B2E-9101-39CA3C1FE669}"/>
              </a:ext>
            </a:extLst>
          </p:cNvPr>
          <p:cNvSpPr>
            <a:spLocks xmlns:a="http://schemas.openxmlformats.org/drawingml/2006/main" noGrp="1"/>
          </p:cNvSpPr>
          <p:nvPr/>
        </p:nvSpPr>
        <p:spPr>
          <a:xfrm xmlns:a="http://schemas.openxmlformats.org/drawingml/2006/main">
            <a:off x="6286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8798B2D-FDC9-43D3-A235-919820F77796}"/>
              </a:ext>
            </a:extLst>
          </p:cNvPr>
          <p:cNvSpPr>
            <a:spLocks xmlns:a="http://schemas.openxmlformats.org/drawingml/2006/main" noGrp="1"/>
          </p:cNvSpPr>
          <p:nvPr/>
        </p:nvSpPr>
        <p:spPr>
          <a:xfrm xmlns:a="http://schemas.openxmlformats.org/drawingml/2006/main">
            <a:off x="6334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86F7704-9FF5-4E2C-A548-0D01887065F9}"/>
              </a:ext>
            </a:extLst>
          </p:cNvPr>
          <p:cNvSpPr>
            <a:spLocks xmlns:a="http://schemas.openxmlformats.org/drawingml/2006/main" noGrp="1"/>
          </p:cNvSpPr>
          <p:nvPr/>
        </p:nvSpPr>
        <p:spPr>
          <a:xfrm xmlns:a="http://schemas.openxmlformats.org/drawingml/2006/main">
            <a:off x="6381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7E1DEEC-9C17-425C-AC52-5867CD403D5D}"/>
              </a:ext>
            </a:extLst>
          </p:cNvPr>
          <p:cNvSpPr>
            <a:spLocks xmlns:a="http://schemas.openxmlformats.org/drawingml/2006/main" noGrp="1"/>
          </p:cNvSpPr>
          <p:nvPr/>
        </p:nvSpPr>
        <p:spPr>
          <a:xfrm xmlns:a="http://schemas.openxmlformats.org/drawingml/2006/main">
            <a:off x="6429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009711B-561F-4D61-9162-C5F49830FF13}"/>
              </a:ext>
            </a:extLst>
          </p:cNvPr>
          <p:cNvSpPr>
            <a:spLocks xmlns:a="http://schemas.openxmlformats.org/drawingml/2006/main" noGrp="1"/>
          </p:cNvSpPr>
          <p:nvPr/>
        </p:nvSpPr>
        <p:spPr>
          <a:xfrm xmlns:a="http://schemas.openxmlformats.org/drawingml/2006/main">
            <a:off x="6477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6C2A850-549E-49D1-A4D8-78D8A99EE33C}"/>
              </a:ext>
            </a:extLst>
          </p:cNvPr>
          <p:cNvSpPr>
            <a:spLocks xmlns:a="http://schemas.openxmlformats.org/drawingml/2006/main" noGrp="1"/>
          </p:cNvSpPr>
          <p:nvPr/>
        </p:nvSpPr>
        <p:spPr>
          <a:xfrm xmlns:a="http://schemas.openxmlformats.org/drawingml/2006/main">
            <a:off x="6524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92BAB4F-EA14-47EE-8EA7-6062786427C1}"/>
              </a:ext>
            </a:extLst>
          </p:cNvPr>
          <p:cNvSpPr>
            <a:spLocks xmlns:a="http://schemas.openxmlformats.org/drawingml/2006/main" noGrp="1"/>
          </p:cNvSpPr>
          <p:nvPr/>
        </p:nvSpPr>
        <p:spPr>
          <a:xfrm xmlns:a="http://schemas.openxmlformats.org/drawingml/2006/main">
            <a:off x="6572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BC14D6A-89FD-4FEC-AEC3-97A92C4A749B}"/>
              </a:ext>
            </a:extLst>
          </p:cNvPr>
          <p:cNvSpPr>
            <a:spLocks xmlns:a="http://schemas.openxmlformats.org/drawingml/2006/main" noGrp="1"/>
          </p:cNvSpPr>
          <p:nvPr/>
        </p:nvSpPr>
        <p:spPr>
          <a:xfrm xmlns:a="http://schemas.openxmlformats.org/drawingml/2006/main">
            <a:off x="6619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01904AB-4D90-4F15-86D5-1B438E3F052D}"/>
              </a:ext>
            </a:extLst>
          </p:cNvPr>
          <p:cNvSpPr>
            <a:spLocks xmlns:a="http://schemas.openxmlformats.org/drawingml/2006/main" noGrp="1"/>
          </p:cNvSpPr>
          <p:nvPr/>
        </p:nvSpPr>
        <p:spPr>
          <a:xfrm xmlns:a="http://schemas.openxmlformats.org/drawingml/2006/main">
            <a:off x="6667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4F831F4-C469-45E4-B5CE-01AEE452060E}"/>
              </a:ext>
            </a:extLst>
          </p:cNvPr>
          <p:cNvSpPr>
            <a:spLocks xmlns:a="http://schemas.openxmlformats.org/drawingml/2006/main" noGrp="1"/>
          </p:cNvSpPr>
          <p:nvPr/>
        </p:nvSpPr>
        <p:spPr>
          <a:xfrm xmlns:a="http://schemas.openxmlformats.org/drawingml/2006/main">
            <a:off x="6715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847C7ED0-9127-46F0-933E-814225C07A7A}"/>
              </a:ext>
            </a:extLst>
          </p:cNvPr>
          <p:cNvSpPr>
            <a:spLocks xmlns:a="http://schemas.openxmlformats.org/drawingml/2006/main" noGrp="1"/>
          </p:cNvSpPr>
          <p:nvPr/>
        </p:nvSpPr>
        <p:spPr>
          <a:xfrm xmlns:a="http://schemas.openxmlformats.org/drawingml/2006/main">
            <a:off x="6762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BAB3B38E-4982-4C71-9D28-9BF1C409D5F5}"/>
              </a:ext>
            </a:extLst>
          </p:cNvPr>
          <p:cNvSpPr>
            <a:spLocks xmlns:a="http://schemas.openxmlformats.org/drawingml/2006/main" noGrp="1"/>
          </p:cNvSpPr>
          <p:nvPr/>
        </p:nvSpPr>
        <p:spPr>
          <a:xfrm xmlns:a="http://schemas.openxmlformats.org/drawingml/2006/main">
            <a:off x="6810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8A9827F-41D7-4D4D-8391-C62959BA521E}"/>
              </a:ext>
            </a:extLst>
          </p:cNvPr>
          <p:cNvSpPr>
            <a:spLocks xmlns:a="http://schemas.openxmlformats.org/drawingml/2006/main" noGrp="1"/>
          </p:cNvSpPr>
          <p:nvPr/>
        </p:nvSpPr>
        <p:spPr>
          <a:xfrm xmlns:a="http://schemas.openxmlformats.org/drawingml/2006/main">
            <a:off x="6858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E9806833-5063-4570-B1EB-20A14C90810C}"/>
              </a:ext>
            </a:extLst>
          </p:cNvPr>
          <p:cNvSpPr>
            <a:spLocks xmlns:a="http://schemas.openxmlformats.org/drawingml/2006/main" noGrp="1"/>
          </p:cNvSpPr>
          <p:nvPr/>
        </p:nvSpPr>
        <p:spPr>
          <a:xfrm xmlns:a="http://schemas.openxmlformats.org/drawingml/2006/main">
            <a:off x="6905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B8CF5BB-FE24-4749-A2C2-5370924C581B}"/>
              </a:ext>
            </a:extLst>
          </p:cNvPr>
          <p:cNvSpPr>
            <a:spLocks xmlns:a="http://schemas.openxmlformats.org/drawingml/2006/main" noGrp="1"/>
          </p:cNvSpPr>
          <p:nvPr/>
        </p:nvSpPr>
        <p:spPr>
          <a:xfrm xmlns:a="http://schemas.openxmlformats.org/drawingml/2006/main">
            <a:off x="6953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8628274-5A70-473D-9642-EB9A3758E961}"/>
              </a:ext>
            </a:extLst>
          </p:cNvPr>
          <p:cNvSpPr>
            <a:spLocks xmlns:a="http://schemas.openxmlformats.org/drawingml/2006/main" noGrp="1"/>
          </p:cNvSpPr>
          <p:nvPr/>
        </p:nvSpPr>
        <p:spPr>
          <a:xfrm xmlns:a="http://schemas.openxmlformats.org/drawingml/2006/main">
            <a:off x="7000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601C176-5F38-4E71-863B-6DBB36FFD21B}"/>
              </a:ext>
            </a:extLst>
          </p:cNvPr>
          <p:cNvSpPr>
            <a:spLocks xmlns:a="http://schemas.openxmlformats.org/drawingml/2006/main" noGrp="1"/>
          </p:cNvSpPr>
          <p:nvPr/>
        </p:nvSpPr>
        <p:spPr>
          <a:xfrm xmlns:a="http://schemas.openxmlformats.org/drawingml/2006/main">
            <a:off x="7048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EC83D73-B671-4082-81DB-4709ACA8729D}"/>
              </a:ext>
            </a:extLst>
          </p:cNvPr>
          <p:cNvSpPr>
            <a:spLocks xmlns:a="http://schemas.openxmlformats.org/drawingml/2006/main" noGrp="1"/>
          </p:cNvSpPr>
          <p:nvPr/>
        </p:nvSpPr>
        <p:spPr>
          <a:xfrm xmlns:a="http://schemas.openxmlformats.org/drawingml/2006/main">
            <a:off x="7096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4336951D-8868-42F9-AAD8-3F7253563BF6}"/>
              </a:ext>
            </a:extLst>
          </p:cNvPr>
          <p:cNvSpPr>
            <a:spLocks xmlns:a="http://schemas.openxmlformats.org/drawingml/2006/main" noGrp="1"/>
          </p:cNvSpPr>
          <p:nvPr/>
        </p:nvSpPr>
        <p:spPr>
          <a:xfrm xmlns:a="http://schemas.openxmlformats.org/drawingml/2006/main">
            <a:off x="7143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F7910F25-945E-47F5-B2BE-A335BBFD4F76}"/>
              </a:ext>
            </a:extLst>
          </p:cNvPr>
          <p:cNvSpPr>
            <a:spLocks xmlns:a="http://schemas.openxmlformats.org/drawingml/2006/main" noGrp="1"/>
          </p:cNvSpPr>
          <p:nvPr/>
        </p:nvSpPr>
        <p:spPr>
          <a:xfrm xmlns:a="http://schemas.openxmlformats.org/drawingml/2006/main">
            <a:off x="7191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7C67D16-877C-48DF-B788-BB4A05705AE0}"/>
              </a:ext>
            </a:extLst>
          </p:cNvPr>
          <p:cNvSpPr>
            <a:spLocks xmlns:a="http://schemas.openxmlformats.org/drawingml/2006/main" noGrp="1"/>
          </p:cNvSpPr>
          <p:nvPr/>
        </p:nvSpPr>
        <p:spPr>
          <a:xfrm xmlns:a="http://schemas.openxmlformats.org/drawingml/2006/main">
            <a:off x="7239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A965D8FC-545A-4A4D-A28D-A345445C5B72}"/>
              </a:ext>
            </a:extLst>
          </p:cNvPr>
          <p:cNvSpPr>
            <a:spLocks xmlns:a="http://schemas.openxmlformats.org/drawingml/2006/main" noGrp="1"/>
          </p:cNvSpPr>
          <p:nvPr/>
        </p:nvSpPr>
        <p:spPr>
          <a:xfrm xmlns:a="http://schemas.openxmlformats.org/drawingml/2006/main">
            <a:off x="6048375" y="3286125"/>
            <a:ext cx="28575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D8E5CF4-C897-43CB-8541-9D4032981D2C}"/>
              </a:ext>
            </a:extLst>
          </p:cNvPr>
          <p:cNvSpPr>
            <a:spLocks xmlns:a="http://schemas.openxmlformats.org/drawingml/2006/main" noGrp="1"/>
          </p:cNvSpPr>
          <p:nvPr/>
        </p:nvSpPr>
        <p:spPr>
          <a:xfrm xmlns:a="http://schemas.openxmlformats.org/drawingml/2006/main">
            <a:off x="6191250" y="331470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64" name="">
            <a:extLst xmlns:a="http://schemas.openxmlformats.org/drawingml/2006/main">
              <a:ext uri="{FF2B5EF4-FFF2-40B4-BE49-F238E27FC236}">
                <a16:creationId xmlns:a16="http://schemas.microsoft.com/office/drawing/2014/main" id="{3DA69BB3-6B31-4E23-A83F-68CB93F77411}"/>
              </a:ext>
            </a:extLst>
          </p:cNvPr>
          <p:cNvSpPr>
            <a:spLocks xmlns:a="http://schemas.openxmlformats.org/drawingml/2006/main" noGrp="1"/>
          </p:cNvSpPr>
          <p:nvPr/>
        </p:nvSpPr>
        <p:spPr>
          <a:xfrm xmlns:a="http://schemas.openxmlformats.org/drawingml/2006/main">
            <a:off x="8296275" y="33147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27</a:t>
            </a:r>
          </a:p>
        </p:txBody>
      </p:sp>
      <p:sp>
        <p:nvSpPr>
          <p:cNvPr id="65" name="">
            <a:extLst xmlns:a="http://schemas.openxmlformats.org/drawingml/2006/main">
              <a:ext uri="{FF2B5EF4-FFF2-40B4-BE49-F238E27FC236}">
                <a16:creationId xmlns:a16="http://schemas.microsoft.com/office/drawing/2014/main" id="{AA35CE87-56E8-435B-B5BF-30FAB658CC0B}"/>
              </a:ext>
            </a:extLst>
          </p:cNvPr>
          <p:cNvSpPr>
            <a:spLocks xmlns:a="http://schemas.openxmlformats.org/drawingml/2006/main" noGrp="1"/>
          </p:cNvSpPr>
          <p:nvPr/>
        </p:nvSpPr>
        <p:spPr>
          <a:xfrm xmlns:a="http://schemas.openxmlformats.org/drawingml/2006/main">
            <a:off x="6191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93315341-D900-45F4-BD16-34EF5828A9AB}"/>
              </a:ext>
            </a:extLst>
          </p:cNvPr>
          <p:cNvSpPr>
            <a:spLocks xmlns:a="http://schemas.openxmlformats.org/drawingml/2006/main" noGrp="1"/>
          </p:cNvSpPr>
          <p:nvPr/>
        </p:nvSpPr>
        <p:spPr>
          <a:xfrm xmlns:a="http://schemas.openxmlformats.org/drawingml/2006/main">
            <a:off x="6238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20B564F3-6D23-4E76-A82B-B79B7E4E7995}"/>
              </a:ext>
            </a:extLst>
          </p:cNvPr>
          <p:cNvSpPr>
            <a:spLocks xmlns:a="http://schemas.openxmlformats.org/drawingml/2006/main" noGrp="1"/>
          </p:cNvSpPr>
          <p:nvPr/>
        </p:nvSpPr>
        <p:spPr>
          <a:xfrm xmlns:a="http://schemas.openxmlformats.org/drawingml/2006/main">
            <a:off x="6286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003F4740-6619-499E-8373-36EA1CE09915}"/>
              </a:ext>
            </a:extLst>
          </p:cNvPr>
          <p:cNvSpPr>
            <a:spLocks xmlns:a="http://schemas.openxmlformats.org/drawingml/2006/main" noGrp="1"/>
          </p:cNvSpPr>
          <p:nvPr/>
        </p:nvSpPr>
        <p:spPr>
          <a:xfrm xmlns:a="http://schemas.openxmlformats.org/drawingml/2006/main">
            <a:off x="6334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7DD86EE3-7CCD-4095-9D08-889C7FD3CEEF}"/>
              </a:ext>
            </a:extLst>
          </p:cNvPr>
          <p:cNvSpPr>
            <a:spLocks xmlns:a="http://schemas.openxmlformats.org/drawingml/2006/main" noGrp="1"/>
          </p:cNvSpPr>
          <p:nvPr/>
        </p:nvSpPr>
        <p:spPr>
          <a:xfrm xmlns:a="http://schemas.openxmlformats.org/drawingml/2006/main">
            <a:off x="6381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6680F6AD-F523-4ADE-A057-4D9D80741CD2}"/>
              </a:ext>
            </a:extLst>
          </p:cNvPr>
          <p:cNvSpPr>
            <a:spLocks xmlns:a="http://schemas.openxmlformats.org/drawingml/2006/main" noGrp="1"/>
          </p:cNvSpPr>
          <p:nvPr/>
        </p:nvSpPr>
        <p:spPr>
          <a:xfrm xmlns:a="http://schemas.openxmlformats.org/drawingml/2006/main">
            <a:off x="6429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E890680A-84A1-4F2F-AF86-8410581DA7D4}"/>
              </a:ext>
            </a:extLst>
          </p:cNvPr>
          <p:cNvSpPr>
            <a:spLocks xmlns:a="http://schemas.openxmlformats.org/drawingml/2006/main" noGrp="1"/>
          </p:cNvSpPr>
          <p:nvPr/>
        </p:nvSpPr>
        <p:spPr>
          <a:xfrm xmlns:a="http://schemas.openxmlformats.org/drawingml/2006/main">
            <a:off x="6477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AF789D93-2C7A-449A-86BA-3011FA9CE937}"/>
              </a:ext>
            </a:extLst>
          </p:cNvPr>
          <p:cNvSpPr>
            <a:spLocks xmlns:a="http://schemas.openxmlformats.org/drawingml/2006/main" noGrp="1"/>
          </p:cNvSpPr>
          <p:nvPr/>
        </p:nvSpPr>
        <p:spPr>
          <a:xfrm xmlns:a="http://schemas.openxmlformats.org/drawingml/2006/main">
            <a:off x="6524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C698145E-F7D3-421B-B61B-C4CF70CB3183}"/>
              </a:ext>
            </a:extLst>
          </p:cNvPr>
          <p:cNvSpPr>
            <a:spLocks xmlns:a="http://schemas.openxmlformats.org/drawingml/2006/main" noGrp="1"/>
          </p:cNvSpPr>
          <p:nvPr/>
        </p:nvSpPr>
        <p:spPr>
          <a:xfrm xmlns:a="http://schemas.openxmlformats.org/drawingml/2006/main">
            <a:off x="6572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FED5054-F330-4A90-9BF9-8E26ED445EF2}"/>
              </a:ext>
            </a:extLst>
          </p:cNvPr>
          <p:cNvSpPr>
            <a:spLocks xmlns:a="http://schemas.openxmlformats.org/drawingml/2006/main" noGrp="1"/>
          </p:cNvSpPr>
          <p:nvPr/>
        </p:nvSpPr>
        <p:spPr>
          <a:xfrm xmlns:a="http://schemas.openxmlformats.org/drawingml/2006/main">
            <a:off x="6619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F5D38181-D1B8-488E-AC55-0DCD9A40A7D5}"/>
              </a:ext>
            </a:extLst>
          </p:cNvPr>
          <p:cNvSpPr>
            <a:spLocks xmlns:a="http://schemas.openxmlformats.org/drawingml/2006/main" noGrp="1"/>
          </p:cNvSpPr>
          <p:nvPr/>
        </p:nvSpPr>
        <p:spPr>
          <a:xfrm xmlns:a="http://schemas.openxmlformats.org/drawingml/2006/main">
            <a:off x="6667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14ABF9E6-6607-4D67-9DC1-024A1D18DE51}"/>
              </a:ext>
            </a:extLst>
          </p:cNvPr>
          <p:cNvSpPr>
            <a:spLocks xmlns:a="http://schemas.openxmlformats.org/drawingml/2006/main" noGrp="1"/>
          </p:cNvSpPr>
          <p:nvPr/>
        </p:nvSpPr>
        <p:spPr>
          <a:xfrm xmlns:a="http://schemas.openxmlformats.org/drawingml/2006/main">
            <a:off x="6715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B82806D2-2F73-42ED-B161-FA85C344E1AD}"/>
              </a:ext>
            </a:extLst>
          </p:cNvPr>
          <p:cNvSpPr>
            <a:spLocks xmlns:a="http://schemas.openxmlformats.org/drawingml/2006/main" noGrp="1"/>
          </p:cNvSpPr>
          <p:nvPr/>
        </p:nvSpPr>
        <p:spPr>
          <a:xfrm xmlns:a="http://schemas.openxmlformats.org/drawingml/2006/main">
            <a:off x="6762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E9A885C1-E295-4592-A0E5-CDF2CA33F79F}"/>
              </a:ext>
            </a:extLst>
          </p:cNvPr>
          <p:cNvSpPr>
            <a:spLocks xmlns:a="http://schemas.openxmlformats.org/drawingml/2006/main" noGrp="1"/>
          </p:cNvSpPr>
          <p:nvPr/>
        </p:nvSpPr>
        <p:spPr>
          <a:xfrm xmlns:a="http://schemas.openxmlformats.org/drawingml/2006/main">
            <a:off x="6810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19DA8869-1713-4B23-A561-EBBFFA86D227}"/>
              </a:ext>
            </a:extLst>
          </p:cNvPr>
          <p:cNvSpPr>
            <a:spLocks xmlns:a="http://schemas.openxmlformats.org/drawingml/2006/main" noGrp="1"/>
          </p:cNvSpPr>
          <p:nvPr/>
        </p:nvSpPr>
        <p:spPr>
          <a:xfrm xmlns:a="http://schemas.openxmlformats.org/drawingml/2006/main">
            <a:off x="6858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1FBD255D-A5C0-44A3-B51C-2BC6BD7F12D7}"/>
              </a:ext>
            </a:extLst>
          </p:cNvPr>
          <p:cNvSpPr>
            <a:spLocks xmlns:a="http://schemas.openxmlformats.org/drawingml/2006/main" noGrp="1"/>
          </p:cNvSpPr>
          <p:nvPr/>
        </p:nvSpPr>
        <p:spPr>
          <a:xfrm xmlns:a="http://schemas.openxmlformats.org/drawingml/2006/main">
            <a:off x="6905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F9104A8F-9191-4B51-AC03-39BC2947EB15}"/>
              </a:ext>
            </a:extLst>
          </p:cNvPr>
          <p:cNvSpPr>
            <a:spLocks xmlns:a="http://schemas.openxmlformats.org/drawingml/2006/main" noGrp="1"/>
          </p:cNvSpPr>
          <p:nvPr/>
        </p:nvSpPr>
        <p:spPr>
          <a:xfrm xmlns:a="http://schemas.openxmlformats.org/drawingml/2006/main">
            <a:off x="6953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A88D851D-D86B-4F56-B44A-E602822F2EF7}"/>
              </a:ext>
            </a:extLst>
          </p:cNvPr>
          <p:cNvSpPr>
            <a:spLocks xmlns:a="http://schemas.openxmlformats.org/drawingml/2006/main" noGrp="1"/>
          </p:cNvSpPr>
          <p:nvPr/>
        </p:nvSpPr>
        <p:spPr>
          <a:xfrm xmlns:a="http://schemas.openxmlformats.org/drawingml/2006/main">
            <a:off x="7000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2215584A-95FF-43E4-A042-63E0B4626F2D}"/>
              </a:ext>
            </a:extLst>
          </p:cNvPr>
          <p:cNvSpPr>
            <a:spLocks xmlns:a="http://schemas.openxmlformats.org/drawingml/2006/main" noGrp="1"/>
          </p:cNvSpPr>
          <p:nvPr/>
        </p:nvSpPr>
        <p:spPr>
          <a:xfrm xmlns:a="http://schemas.openxmlformats.org/drawingml/2006/main">
            <a:off x="7048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895C0390-1EE5-493D-8518-4710BF334778}"/>
              </a:ext>
            </a:extLst>
          </p:cNvPr>
          <p:cNvSpPr>
            <a:spLocks xmlns:a="http://schemas.openxmlformats.org/drawingml/2006/main" noGrp="1"/>
          </p:cNvSpPr>
          <p:nvPr/>
        </p:nvSpPr>
        <p:spPr>
          <a:xfrm xmlns:a="http://schemas.openxmlformats.org/drawingml/2006/main">
            <a:off x="7096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4B5FC246-D1CC-4232-8E8C-4FB022D292DE}"/>
              </a:ext>
            </a:extLst>
          </p:cNvPr>
          <p:cNvSpPr>
            <a:spLocks xmlns:a="http://schemas.openxmlformats.org/drawingml/2006/main" noGrp="1"/>
          </p:cNvSpPr>
          <p:nvPr/>
        </p:nvSpPr>
        <p:spPr>
          <a:xfrm xmlns:a="http://schemas.openxmlformats.org/drawingml/2006/main">
            <a:off x="7143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ACB95094-0277-490E-ABB9-D18474554133}"/>
              </a:ext>
            </a:extLst>
          </p:cNvPr>
          <p:cNvSpPr>
            <a:spLocks xmlns:a="http://schemas.openxmlformats.org/drawingml/2006/main" noGrp="1"/>
          </p:cNvSpPr>
          <p:nvPr/>
        </p:nvSpPr>
        <p:spPr>
          <a:xfrm xmlns:a="http://schemas.openxmlformats.org/drawingml/2006/main">
            <a:off x="7191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A03BB92D-0D7F-4526-AB3F-39B9A1427F1B}"/>
              </a:ext>
            </a:extLst>
          </p:cNvPr>
          <p:cNvSpPr>
            <a:spLocks xmlns:a="http://schemas.openxmlformats.org/drawingml/2006/main" noGrp="1"/>
          </p:cNvSpPr>
          <p:nvPr/>
        </p:nvSpPr>
        <p:spPr>
          <a:xfrm xmlns:a="http://schemas.openxmlformats.org/drawingml/2006/main">
            <a:off x="7239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83C000CA-1152-4876-804C-0F9490466B09}"/>
              </a:ext>
            </a:extLst>
          </p:cNvPr>
          <p:cNvSpPr>
            <a:spLocks xmlns:a="http://schemas.openxmlformats.org/drawingml/2006/main" noGrp="1"/>
          </p:cNvSpPr>
          <p:nvPr/>
        </p:nvSpPr>
        <p:spPr>
          <a:xfrm xmlns:a="http://schemas.openxmlformats.org/drawingml/2006/main">
            <a:off x="7286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61F759F1-460D-4195-BCAE-0475BB589763}"/>
              </a:ext>
            </a:extLst>
          </p:cNvPr>
          <p:cNvSpPr>
            <a:spLocks xmlns:a="http://schemas.openxmlformats.org/drawingml/2006/main" noGrp="1"/>
          </p:cNvSpPr>
          <p:nvPr/>
        </p:nvSpPr>
        <p:spPr>
          <a:xfrm xmlns:a="http://schemas.openxmlformats.org/drawingml/2006/main">
            <a:off x="7334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82D35534-54C3-49BC-8680-DB0295439714}"/>
              </a:ext>
            </a:extLst>
          </p:cNvPr>
          <p:cNvSpPr>
            <a:spLocks xmlns:a="http://schemas.openxmlformats.org/drawingml/2006/main" noGrp="1"/>
          </p:cNvSpPr>
          <p:nvPr/>
        </p:nvSpPr>
        <p:spPr>
          <a:xfrm xmlns:a="http://schemas.openxmlformats.org/drawingml/2006/main">
            <a:off x="7381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D9162FF4-66B2-44DA-B37A-516B0B49A308}"/>
              </a:ext>
            </a:extLst>
          </p:cNvPr>
          <p:cNvSpPr>
            <a:spLocks xmlns:a="http://schemas.openxmlformats.org/drawingml/2006/main" noGrp="1"/>
          </p:cNvSpPr>
          <p:nvPr/>
        </p:nvSpPr>
        <p:spPr>
          <a:xfrm xmlns:a="http://schemas.openxmlformats.org/drawingml/2006/main">
            <a:off x="7429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F677E19F-73CD-4789-92BF-8B402EC8D2FA}"/>
              </a:ext>
            </a:extLst>
          </p:cNvPr>
          <p:cNvSpPr>
            <a:spLocks xmlns:a="http://schemas.openxmlformats.org/drawingml/2006/main" noGrp="1"/>
          </p:cNvSpPr>
          <p:nvPr/>
        </p:nvSpPr>
        <p:spPr>
          <a:xfrm xmlns:a="http://schemas.openxmlformats.org/drawingml/2006/main">
            <a:off x="6048375" y="3810000"/>
            <a:ext cx="28575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1DED377B-C6A0-426B-AE7C-A10D87308594}"/>
              </a:ext>
            </a:extLst>
          </p:cNvPr>
          <p:cNvSpPr>
            <a:spLocks xmlns:a="http://schemas.openxmlformats.org/drawingml/2006/main" noGrp="1"/>
          </p:cNvSpPr>
          <p:nvPr/>
        </p:nvSpPr>
        <p:spPr>
          <a:xfrm xmlns:a="http://schemas.openxmlformats.org/drawingml/2006/main">
            <a:off x="6191250" y="383857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New demand</a:t>
            </a:r>
          </a:p>
        </p:txBody>
      </p:sp>
      <p:sp>
        <p:nvSpPr>
          <p:cNvPr id="94" name="">
            <a:extLst xmlns:a="http://schemas.openxmlformats.org/drawingml/2006/main">
              <a:ext uri="{FF2B5EF4-FFF2-40B4-BE49-F238E27FC236}">
                <a16:creationId xmlns:a16="http://schemas.microsoft.com/office/drawing/2014/main" id="{A1E34BE5-49CC-49EC-8573-D72EBB1FE23E}"/>
              </a:ext>
            </a:extLst>
          </p:cNvPr>
          <p:cNvSpPr>
            <a:spLocks xmlns:a="http://schemas.openxmlformats.org/drawingml/2006/main" noGrp="1"/>
          </p:cNvSpPr>
          <p:nvPr/>
        </p:nvSpPr>
        <p:spPr>
          <a:xfrm xmlns:a="http://schemas.openxmlformats.org/drawingml/2006/main">
            <a:off x="8296275" y="38385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24</a:t>
            </a:r>
          </a:p>
        </p:txBody>
      </p:sp>
      <p:sp>
        <p:nvSpPr>
          <p:cNvPr id="95" name="">
            <a:extLst xmlns:a="http://schemas.openxmlformats.org/drawingml/2006/main">
              <a:ext uri="{FF2B5EF4-FFF2-40B4-BE49-F238E27FC236}">
                <a16:creationId xmlns:a16="http://schemas.microsoft.com/office/drawing/2014/main" id="{68356517-5728-4F49-AD8B-A4DAD04C4B91}"/>
              </a:ext>
            </a:extLst>
          </p:cNvPr>
          <p:cNvSpPr>
            <a:spLocks xmlns:a="http://schemas.openxmlformats.org/drawingml/2006/main" noGrp="1"/>
          </p:cNvSpPr>
          <p:nvPr/>
        </p:nvSpPr>
        <p:spPr>
          <a:xfrm xmlns:a="http://schemas.openxmlformats.org/drawingml/2006/main">
            <a:off x="6191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A8ACD405-A11C-4B10-8734-5AC8728128E7}"/>
              </a:ext>
            </a:extLst>
          </p:cNvPr>
          <p:cNvSpPr>
            <a:spLocks xmlns:a="http://schemas.openxmlformats.org/drawingml/2006/main" noGrp="1"/>
          </p:cNvSpPr>
          <p:nvPr/>
        </p:nvSpPr>
        <p:spPr>
          <a:xfrm xmlns:a="http://schemas.openxmlformats.org/drawingml/2006/main">
            <a:off x="6238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5BDCFF1C-2474-4BA1-B446-E25E7067617A}"/>
              </a:ext>
            </a:extLst>
          </p:cNvPr>
          <p:cNvSpPr>
            <a:spLocks xmlns:a="http://schemas.openxmlformats.org/drawingml/2006/main" noGrp="1"/>
          </p:cNvSpPr>
          <p:nvPr/>
        </p:nvSpPr>
        <p:spPr>
          <a:xfrm xmlns:a="http://schemas.openxmlformats.org/drawingml/2006/main">
            <a:off x="6286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B46BCDCC-CE8C-417D-AF2D-BBAA80522EBF}"/>
              </a:ext>
            </a:extLst>
          </p:cNvPr>
          <p:cNvSpPr>
            <a:spLocks xmlns:a="http://schemas.openxmlformats.org/drawingml/2006/main" noGrp="1"/>
          </p:cNvSpPr>
          <p:nvPr/>
        </p:nvSpPr>
        <p:spPr>
          <a:xfrm xmlns:a="http://schemas.openxmlformats.org/drawingml/2006/main">
            <a:off x="6334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D2C8A943-5C33-49FD-80D1-B356CE3C75B0}"/>
              </a:ext>
            </a:extLst>
          </p:cNvPr>
          <p:cNvSpPr>
            <a:spLocks xmlns:a="http://schemas.openxmlformats.org/drawingml/2006/main" noGrp="1"/>
          </p:cNvSpPr>
          <p:nvPr/>
        </p:nvSpPr>
        <p:spPr>
          <a:xfrm xmlns:a="http://schemas.openxmlformats.org/drawingml/2006/main">
            <a:off x="6381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F35B91B9-3182-49F1-9C1C-681C5C1F0D55}"/>
              </a:ext>
            </a:extLst>
          </p:cNvPr>
          <p:cNvSpPr>
            <a:spLocks xmlns:a="http://schemas.openxmlformats.org/drawingml/2006/main" noGrp="1"/>
          </p:cNvSpPr>
          <p:nvPr/>
        </p:nvSpPr>
        <p:spPr>
          <a:xfrm xmlns:a="http://schemas.openxmlformats.org/drawingml/2006/main">
            <a:off x="6429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87803A48-F31E-41D6-B7B5-3C490B4470EB}"/>
              </a:ext>
            </a:extLst>
          </p:cNvPr>
          <p:cNvSpPr>
            <a:spLocks xmlns:a="http://schemas.openxmlformats.org/drawingml/2006/main" noGrp="1"/>
          </p:cNvSpPr>
          <p:nvPr/>
        </p:nvSpPr>
        <p:spPr>
          <a:xfrm xmlns:a="http://schemas.openxmlformats.org/drawingml/2006/main">
            <a:off x="6477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2A0703DA-CE23-41CD-B6B1-6BD21C019851}"/>
              </a:ext>
            </a:extLst>
          </p:cNvPr>
          <p:cNvSpPr>
            <a:spLocks xmlns:a="http://schemas.openxmlformats.org/drawingml/2006/main" noGrp="1"/>
          </p:cNvSpPr>
          <p:nvPr/>
        </p:nvSpPr>
        <p:spPr>
          <a:xfrm xmlns:a="http://schemas.openxmlformats.org/drawingml/2006/main">
            <a:off x="6524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EEEC38B2-D376-421E-9BAB-EAB4BFEA705F}"/>
              </a:ext>
            </a:extLst>
          </p:cNvPr>
          <p:cNvSpPr>
            <a:spLocks xmlns:a="http://schemas.openxmlformats.org/drawingml/2006/main" noGrp="1"/>
          </p:cNvSpPr>
          <p:nvPr/>
        </p:nvSpPr>
        <p:spPr>
          <a:xfrm xmlns:a="http://schemas.openxmlformats.org/drawingml/2006/main">
            <a:off x="6572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0CAD4FA0-CDFE-40FE-B002-5CDF011B6902}"/>
              </a:ext>
            </a:extLst>
          </p:cNvPr>
          <p:cNvSpPr>
            <a:spLocks xmlns:a="http://schemas.openxmlformats.org/drawingml/2006/main" noGrp="1"/>
          </p:cNvSpPr>
          <p:nvPr/>
        </p:nvSpPr>
        <p:spPr>
          <a:xfrm xmlns:a="http://schemas.openxmlformats.org/drawingml/2006/main">
            <a:off x="6619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4AE3A6A0-72F1-4D81-9806-556617E5768D}"/>
              </a:ext>
            </a:extLst>
          </p:cNvPr>
          <p:cNvSpPr>
            <a:spLocks xmlns:a="http://schemas.openxmlformats.org/drawingml/2006/main" noGrp="1"/>
          </p:cNvSpPr>
          <p:nvPr/>
        </p:nvSpPr>
        <p:spPr>
          <a:xfrm xmlns:a="http://schemas.openxmlformats.org/drawingml/2006/main">
            <a:off x="6667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2EF0CA45-01DE-4CFE-A60D-A870E0E4989E}"/>
              </a:ext>
            </a:extLst>
          </p:cNvPr>
          <p:cNvSpPr>
            <a:spLocks xmlns:a="http://schemas.openxmlformats.org/drawingml/2006/main" noGrp="1"/>
          </p:cNvSpPr>
          <p:nvPr/>
        </p:nvSpPr>
        <p:spPr>
          <a:xfrm xmlns:a="http://schemas.openxmlformats.org/drawingml/2006/main">
            <a:off x="6715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7AF164A4-6E22-43DA-BB68-E161D6F80506}"/>
              </a:ext>
            </a:extLst>
          </p:cNvPr>
          <p:cNvSpPr>
            <a:spLocks xmlns:a="http://schemas.openxmlformats.org/drawingml/2006/main" noGrp="1"/>
          </p:cNvSpPr>
          <p:nvPr/>
        </p:nvSpPr>
        <p:spPr>
          <a:xfrm xmlns:a="http://schemas.openxmlformats.org/drawingml/2006/main">
            <a:off x="6762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03AC8F27-93BF-4AAE-89CC-C4A380EC69C0}"/>
              </a:ext>
            </a:extLst>
          </p:cNvPr>
          <p:cNvSpPr>
            <a:spLocks xmlns:a="http://schemas.openxmlformats.org/drawingml/2006/main" noGrp="1"/>
          </p:cNvSpPr>
          <p:nvPr/>
        </p:nvSpPr>
        <p:spPr>
          <a:xfrm xmlns:a="http://schemas.openxmlformats.org/drawingml/2006/main">
            <a:off x="6810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98110A68-D1F5-4E5F-843F-D28F8B401ECF}"/>
              </a:ext>
            </a:extLst>
          </p:cNvPr>
          <p:cNvSpPr>
            <a:spLocks xmlns:a="http://schemas.openxmlformats.org/drawingml/2006/main" noGrp="1"/>
          </p:cNvSpPr>
          <p:nvPr/>
        </p:nvSpPr>
        <p:spPr>
          <a:xfrm xmlns:a="http://schemas.openxmlformats.org/drawingml/2006/main">
            <a:off x="6858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CD463F42-816B-4BC0-9C0E-D0B16E8A757A}"/>
              </a:ext>
            </a:extLst>
          </p:cNvPr>
          <p:cNvSpPr>
            <a:spLocks xmlns:a="http://schemas.openxmlformats.org/drawingml/2006/main" noGrp="1"/>
          </p:cNvSpPr>
          <p:nvPr/>
        </p:nvSpPr>
        <p:spPr>
          <a:xfrm xmlns:a="http://schemas.openxmlformats.org/drawingml/2006/main">
            <a:off x="6905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4712B5F8-48C2-42BD-A902-00ACED48AFE4}"/>
              </a:ext>
            </a:extLst>
          </p:cNvPr>
          <p:cNvSpPr>
            <a:spLocks xmlns:a="http://schemas.openxmlformats.org/drawingml/2006/main" noGrp="1"/>
          </p:cNvSpPr>
          <p:nvPr/>
        </p:nvSpPr>
        <p:spPr>
          <a:xfrm xmlns:a="http://schemas.openxmlformats.org/drawingml/2006/main">
            <a:off x="6953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CB797BE3-3672-423F-9571-1322C7B5B290}"/>
              </a:ext>
            </a:extLst>
          </p:cNvPr>
          <p:cNvSpPr>
            <a:spLocks xmlns:a="http://schemas.openxmlformats.org/drawingml/2006/main" noGrp="1"/>
          </p:cNvSpPr>
          <p:nvPr/>
        </p:nvSpPr>
        <p:spPr>
          <a:xfrm xmlns:a="http://schemas.openxmlformats.org/drawingml/2006/main">
            <a:off x="7000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D2E78251-FCF6-4F15-96E4-9A3C91E71663}"/>
              </a:ext>
            </a:extLst>
          </p:cNvPr>
          <p:cNvSpPr>
            <a:spLocks xmlns:a="http://schemas.openxmlformats.org/drawingml/2006/main" noGrp="1"/>
          </p:cNvSpPr>
          <p:nvPr/>
        </p:nvSpPr>
        <p:spPr>
          <a:xfrm xmlns:a="http://schemas.openxmlformats.org/drawingml/2006/main">
            <a:off x="7048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F57BCDC1-B153-4594-A9CD-DFD67661C3B8}"/>
              </a:ext>
            </a:extLst>
          </p:cNvPr>
          <p:cNvSpPr>
            <a:spLocks xmlns:a="http://schemas.openxmlformats.org/drawingml/2006/main" noGrp="1"/>
          </p:cNvSpPr>
          <p:nvPr/>
        </p:nvSpPr>
        <p:spPr>
          <a:xfrm xmlns:a="http://schemas.openxmlformats.org/drawingml/2006/main">
            <a:off x="7096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34ADDCB6-595C-4C6C-949A-9AADE7142533}"/>
              </a:ext>
            </a:extLst>
          </p:cNvPr>
          <p:cNvSpPr>
            <a:spLocks xmlns:a="http://schemas.openxmlformats.org/drawingml/2006/main" noGrp="1"/>
          </p:cNvSpPr>
          <p:nvPr/>
        </p:nvSpPr>
        <p:spPr>
          <a:xfrm xmlns:a="http://schemas.openxmlformats.org/drawingml/2006/main">
            <a:off x="7143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D2180AE1-B176-47B4-8026-732EEB4166BC}"/>
              </a:ext>
            </a:extLst>
          </p:cNvPr>
          <p:cNvSpPr>
            <a:spLocks xmlns:a="http://schemas.openxmlformats.org/drawingml/2006/main" noGrp="1"/>
          </p:cNvSpPr>
          <p:nvPr/>
        </p:nvSpPr>
        <p:spPr>
          <a:xfrm xmlns:a="http://schemas.openxmlformats.org/drawingml/2006/main">
            <a:off x="7191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71CE82D8-18ED-4D71-8D27-76369E78DBD8}"/>
              </a:ext>
            </a:extLst>
          </p:cNvPr>
          <p:cNvSpPr>
            <a:spLocks xmlns:a="http://schemas.openxmlformats.org/drawingml/2006/main" noGrp="1"/>
          </p:cNvSpPr>
          <p:nvPr/>
        </p:nvSpPr>
        <p:spPr>
          <a:xfrm xmlns:a="http://schemas.openxmlformats.org/drawingml/2006/main">
            <a:off x="7239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47144804-7898-40E4-B42B-945E27F32517}"/>
              </a:ext>
            </a:extLst>
          </p:cNvPr>
          <p:cNvSpPr>
            <a:spLocks xmlns:a="http://schemas.openxmlformats.org/drawingml/2006/main" noGrp="1"/>
          </p:cNvSpPr>
          <p:nvPr/>
        </p:nvSpPr>
        <p:spPr>
          <a:xfrm xmlns:a="http://schemas.openxmlformats.org/drawingml/2006/main">
            <a:off x="7286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521508CE-4747-495E-A672-509482B20CAA}"/>
              </a:ext>
            </a:extLst>
          </p:cNvPr>
          <p:cNvSpPr>
            <a:spLocks xmlns:a="http://schemas.openxmlformats.org/drawingml/2006/main" noGrp="1"/>
          </p:cNvSpPr>
          <p:nvPr/>
        </p:nvSpPr>
        <p:spPr>
          <a:xfrm xmlns:a="http://schemas.openxmlformats.org/drawingml/2006/main">
            <a:off x="6048375" y="4333875"/>
            <a:ext cx="28575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F89B5633-5C97-43FC-A8BD-C2A2A4EC3B13}"/>
              </a:ext>
            </a:extLst>
          </p:cNvPr>
          <p:cNvSpPr>
            <a:spLocks xmlns:a="http://schemas.openxmlformats.org/drawingml/2006/main" noGrp="1"/>
          </p:cNvSpPr>
          <p:nvPr/>
        </p:nvSpPr>
        <p:spPr>
          <a:xfrm xmlns:a="http://schemas.openxmlformats.org/drawingml/2006/main">
            <a:off x="6191250" y="43624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21" name="">
            <a:extLst xmlns:a="http://schemas.openxmlformats.org/drawingml/2006/main">
              <a:ext uri="{FF2B5EF4-FFF2-40B4-BE49-F238E27FC236}">
                <a16:creationId xmlns:a16="http://schemas.microsoft.com/office/drawing/2014/main" id="{327D440E-4980-4A36-B556-2023AA95A2F5}"/>
              </a:ext>
            </a:extLst>
          </p:cNvPr>
          <p:cNvSpPr>
            <a:spLocks xmlns:a="http://schemas.openxmlformats.org/drawingml/2006/main" noGrp="1"/>
          </p:cNvSpPr>
          <p:nvPr/>
        </p:nvSpPr>
        <p:spPr>
          <a:xfrm xmlns:a="http://schemas.openxmlformats.org/drawingml/2006/main">
            <a:off x="8296275" y="43624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14</a:t>
            </a:r>
          </a:p>
        </p:txBody>
      </p:sp>
      <p:sp>
        <p:nvSpPr>
          <p:cNvPr id="122" name="">
            <a:extLst xmlns:a="http://schemas.openxmlformats.org/drawingml/2006/main">
              <a:ext uri="{FF2B5EF4-FFF2-40B4-BE49-F238E27FC236}">
                <a16:creationId xmlns:a16="http://schemas.microsoft.com/office/drawing/2014/main" id="{AB1547D7-EBB4-438C-9738-B5113FD9A6C7}"/>
              </a:ext>
            </a:extLst>
          </p:cNvPr>
          <p:cNvSpPr>
            <a:spLocks xmlns:a="http://schemas.openxmlformats.org/drawingml/2006/main" noGrp="1"/>
          </p:cNvSpPr>
          <p:nvPr/>
        </p:nvSpPr>
        <p:spPr>
          <a:xfrm xmlns:a="http://schemas.openxmlformats.org/drawingml/2006/main">
            <a:off x="6191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F3A8FEB8-FC47-492D-8021-2062DFA1D840}"/>
              </a:ext>
            </a:extLst>
          </p:cNvPr>
          <p:cNvSpPr>
            <a:spLocks xmlns:a="http://schemas.openxmlformats.org/drawingml/2006/main" noGrp="1"/>
          </p:cNvSpPr>
          <p:nvPr/>
        </p:nvSpPr>
        <p:spPr>
          <a:xfrm xmlns:a="http://schemas.openxmlformats.org/drawingml/2006/main">
            <a:off x="6238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09069C62-05BF-4D08-8D88-DD7B8FB0AD31}"/>
              </a:ext>
            </a:extLst>
          </p:cNvPr>
          <p:cNvSpPr>
            <a:spLocks xmlns:a="http://schemas.openxmlformats.org/drawingml/2006/main" noGrp="1"/>
          </p:cNvSpPr>
          <p:nvPr/>
        </p:nvSpPr>
        <p:spPr>
          <a:xfrm xmlns:a="http://schemas.openxmlformats.org/drawingml/2006/main">
            <a:off x="6286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824A908A-9BB5-41AA-A098-651D74B894EC}"/>
              </a:ext>
            </a:extLst>
          </p:cNvPr>
          <p:cNvSpPr>
            <a:spLocks xmlns:a="http://schemas.openxmlformats.org/drawingml/2006/main" noGrp="1"/>
          </p:cNvSpPr>
          <p:nvPr/>
        </p:nvSpPr>
        <p:spPr>
          <a:xfrm xmlns:a="http://schemas.openxmlformats.org/drawingml/2006/main">
            <a:off x="6334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C958389C-AEBC-467E-AB8A-E9A9A1C8344B}"/>
              </a:ext>
            </a:extLst>
          </p:cNvPr>
          <p:cNvSpPr>
            <a:spLocks xmlns:a="http://schemas.openxmlformats.org/drawingml/2006/main" noGrp="1"/>
          </p:cNvSpPr>
          <p:nvPr/>
        </p:nvSpPr>
        <p:spPr>
          <a:xfrm xmlns:a="http://schemas.openxmlformats.org/drawingml/2006/main">
            <a:off x="6381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EA54EA32-779F-4122-B947-169131F1B5A2}"/>
              </a:ext>
            </a:extLst>
          </p:cNvPr>
          <p:cNvSpPr>
            <a:spLocks xmlns:a="http://schemas.openxmlformats.org/drawingml/2006/main" noGrp="1"/>
          </p:cNvSpPr>
          <p:nvPr/>
        </p:nvSpPr>
        <p:spPr>
          <a:xfrm xmlns:a="http://schemas.openxmlformats.org/drawingml/2006/main">
            <a:off x="6429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F498AD74-C3E3-4498-ADBA-6F68F3FBB479}"/>
              </a:ext>
            </a:extLst>
          </p:cNvPr>
          <p:cNvSpPr>
            <a:spLocks xmlns:a="http://schemas.openxmlformats.org/drawingml/2006/main" noGrp="1"/>
          </p:cNvSpPr>
          <p:nvPr/>
        </p:nvSpPr>
        <p:spPr>
          <a:xfrm xmlns:a="http://schemas.openxmlformats.org/drawingml/2006/main">
            <a:off x="64770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2858295D-30B4-4625-B218-38127079C811}"/>
              </a:ext>
            </a:extLst>
          </p:cNvPr>
          <p:cNvSpPr>
            <a:spLocks xmlns:a="http://schemas.openxmlformats.org/drawingml/2006/main" noGrp="1"/>
          </p:cNvSpPr>
          <p:nvPr/>
        </p:nvSpPr>
        <p:spPr>
          <a:xfrm xmlns:a="http://schemas.openxmlformats.org/drawingml/2006/main">
            <a:off x="65246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FAC3A8F0-4EE3-4C25-A22E-8233957B07AE}"/>
              </a:ext>
            </a:extLst>
          </p:cNvPr>
          <p:cNvSpPr>
            <a:spLocks xmlns:a="http://schemas.openxmlformats.org/drawingml/2006/main" noGrp="1"/>
          </p:cNvSpPr>
          <p:nvPr/>
        </p:nvSpPr>
        <p:spPr>
          <a:xfrm xmlns:a="http://schemas.openxmlformats.org/drawingml/2006/main">
            <a:off x="6572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27982B09-B4A6-48D8-BA11-89DC1F41F21B}"/>
              </a:ext>
            </a:extLst>
          </p:cNvPr>
          <p:cNvSpPr>
            <a:spLocks xmlns:a="http://schemas.openxmlformats.org/drawingml/2006/main" noGrp="1"/>
          </p:cNvSpPr>
          <p:nvPr/>
        </p:nvSpPr>
        <p:spPr>
          <a:xfrm xmlns:a="http://schemas.openxmlformats.org/drawingml/2006/main">
            <a:off x="6619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6D7BBD56-8ADE-4BEC-A6F2-4E5475B914B4}"/>
              </a:ext>
            </a:extLst>
          </p:cNvPr>
          <p:cNvSpPr>
            <a:spLocks xmlns:a="http://schemas.openxmlformats.org/drawingml/2006/main" noGrp="1"/>
          </p:cNvSpPr>
          <p:nvPr/>
        </p:nvSpPr>
        <p:spPr>
          <a:xfrm xmlns:a="http://schemas.openxmlformats.org/drawingml/2006/main">
            <a:off x="6667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B09A5716-A83E-492E-A679-80C2CABA2497}"/>
              </a:ext>
            </a:extLst>
          </p:cNvPr>
          <p:cNvSpPr>
            <a:spLocks xmlns:a="http://schemas.openxmlformats.org/drawingml/2006/main" noGrp="1"/>
          </p:cNvSpPr>
          <p:nvPr/>
        </p:nvSpPr>
        <p:spPr>
          <a:xfrm xmlns:a="http://schemas.openxmlformats.org/drawingml/2006/main">
            <a:off x="6715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064348E1-1A95-46A4-9B72-344E6AE49E53}"/>
              </a:ext>
            </a:extLst>
          </p:cNvPr>
          <p:cNvSpPr>
            <a:spLocks xmlns:a="http://schemas.openxmlformats.org/drawingml/2006/main" noGrp="1"/>
          </p:cNvSpPr>
          <p:nvPr/>
        </p:nvSpPr>
        <p:spPr>
          <a:xfrm xmlns:a="http://schemas.openxmlformats.org/drawingml/2006/main">
            <a:off x="6762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23999B4A-E7D8-44C9-BD86-3C75353E722A}"/>
              </a:ext>
            </a:extLst>
          </p:cNvPr>
          <p:cNvSpPr>
            <a:spLocks xmlns:a="http://schemas.openxmlformats.org/drawingml/2006/main" noGrp="1"/>
          </p:cNvSpPr>
          <p:nvPr/>
        </p:nvSpPr>
        <p:spPr>
          <a:xfrm xmlns:a="http://schemas.openxmlformats.org/drawingml/2006/main">
            <a:off x="6810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98918269-2001-4145-A08B-7648D1A663EF}"/>
              </a:ext>
            </a:extLst>
          </p:cNvPr>
          <p:cNvSpPr>
            <a:spLocks xmlns:a="http://schemas.openxmlformats.org/drawingml/2006/main" noGrp="1"/>
          </p:cNvSpPr>
          <p:nvPr/>
        </p:nvSpPr>
        <p:spPr>
          <a:xfrm xmlns:a="http://schemas.openxmlformats.org/drawingml/2006/main">
            <a:off x="9286875" y="22669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68"/>
                </a:solidFill>
                <a:latin typeface="DejaVu Sans"/>
                <a:ea typeface="DejaVu Sans"/>
                <a:cs typeface="DejaVu Sans"/>
              </a:defRPr>
            </a:pPr>
            <a:r>
              <a:rPr sz="2175" b="1">
                <a:solidFill>
                  <a:srgbClr val="087F68"/>
                </a:solidFill>
                <a:latin typeface="DejaVu Sans"/>
                <a:ea typeface="DejaVu Sans"/>
                <a:cs typeface="DejaVu Sans"/>
              </a:rPr>
              <a:t>113 demands</a:t>
            </a:r>
          </a:p>
        </p:txBody>
      </p:sp>
      <p:sp>
        <p:nvSpPr>
          <p:cNvPr id="137" name="">
            <a:extLst xmlns:a="http://schemas.openxmlformats.org/drawingml/2006/main">
              <a:ext uri="{FF2B5EF4-FFF2-40B4-BE49-F238E27FC236}">
                <a16:creationId xmlns:a16="http://schemas.microsoft.com/office/drawing/2014/main" id="{450487B5-C003-41CA-A385-0811B71D335E}"/>
              </a:ext>
            </a:extLst>
          </p:cNvPr>
          <p:cNvSpPr>
            <a:spLocks xmlns:a="http://schemas.openxmlformats.org/drawingml/2006/main" noGrp="1"/>
          </p:cNvSpPr>
          <p:nvPr/>
        </p:nvSpPr>
        <p:spPr>
          <a:xfrm xmlns:a="http://schemas.openxmlformats.org/drawingml/2006/main">
            <a:off x="9286875"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99.9% availability</a:t>
            </a:r>
          </a:p>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DR tested</a:t>
            </a:r>
          </a:p>
        </p:txBody>
      </p:sp>
      <p:sp>
        <p:nvSpPr>
          <p:cNvPr id="138" name="">
            <a:extLst xmlns:a="http://schemas.openxmlformats.org/drawingml/2006/main">
              <a:ext uri="{FF2B5EF4-FFF2-40B4-BE49-F238E27FC236}">
                <a16:creationId xmlns:a16="http://schemas.microsoft.com/office/drawing/2014/main" id="{7437AA43-7AF5-4172-B4F5-2D939DB38C3F}"/>
              </a:ext>
            </a:extLst>
          </p:cNvPr>
          <p:cNvSpPr>
            <a:spLocks xmlns:a="http://schemas.openxmlformats.org/drawingml/2006/main" noGrp="1"/>
          </p:cNvSpPr>
          <p:nvPr/>
        </p:nvSpPr>
        <p:spPr>
          <a:xfrm xmlns:a="http://schemas.openxmlformats.org/drawingml/2006/main">
            <a:off x="9286875" y="37433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MB: 6 major + 1 minor incidents</a:t>
            </a:r>
          </a:p>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IB: 2 minor incidents</a:t>
            </a:r>
          </a:p>
        </p:txBody>
      </p:sp>
      <p:sp>
        <p:nvSpPr>
          <p:cNvPr id="139" name="">
            <a:extLst xmlns:a="http://schemas.openxmlformats.org/drawingml/2006/main">
              <a:ext uri="{FF2B5EF4-FFF2-40B4-BE49-F238E27FC236}">
                <a16:creationId xmlns:a16="http://schemas.microsoft.com/office/drawing/2014/main" id="{19E67086-8286-4673-AFAC-857F71C80812}"/>
              </a:ext>
            </a:extLst>
          </p:cNvPr>
          <p:cNvSpPr>
            <a:spLocks xmlns:a="http://schemas.openxmlformats.org/drawingml/2006/main" noGrp="1"/>
          </p:cNvSpPr>
          <p:nvPr/>
        </p:nvSpPr>
        <p:spPr>
          <a:xfrm xmlns:a="http://schemas.openxmlformats.org/drawingml/2006/main">
            <a:off x="457200" y="5848350"/>
            <a:ext cx="238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Operational outcome</a:t>
            </a:r>
          </a:p>
        </p:txBody>
      </p:sp>
      <p:sp>
        <p:nvSpPr>
          <p:cNvPr id="140" name="">
            <a:extLst xmlns:a="http://schemas.openxmlformats.org/drawingml/2006/main">
              <a:ext uri="{FF2B5EF4-FFF2-40B4-BE49-F238E27FC236}">
                <a16:creationId xmlns:a16="http://schemas.microsoft.com/office/drawing/2014/main" id="{44CF0D1F-35FA-4928-BA4B-667DEACC5847}"/>
              </a:ext>
            </a:extLst>
          </p:cNvPr>
          <p:cNvSpPr>
            <a:spLocks xmlns:a="http://schemas.openxmlformats.org/drawingml/2006/main" noGrp="1"/>
          </p:cNvSpPr>
          <p:nvPr/>
        </p:nvSpPr>
        <p:spPr>
          <a:xfrm xmlns:a="http://schemas.openxmlformats.org/drawingml/2006/main">
            <a:off x="2905125" y="5800725"/>
            <a:ext cx="8810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3A4B"/>
                </a:solidFill>
                <a:latin typeface="DejaVu Sans"/>
                <a:ea typeface="DejaVu Sans"/>
                <a:cs typeface="DejaVu Sans"/>
              </a:defRPr>
            </a:pPr>
            <a:r>
              <a:rPr sz="1575" b="0">
                <a:solidFill>
                  <a:srgbClr val="173A4B"/>
                </a:solidFill>
                <a:latin typeface="DejaVu Sans"/>
                <a:ea typeface="DejaVu Sans"/>
                <a:cs typeface="DejaVu Sans"/>
              </a:rPr>
              <a:t>15 planned deployments. Service continuity maintained during ~48 hours of intermittent MB degradation attributed to DDoS threshold exceedance.</a:t>
            </a:r>
          </a:p>
        </p:txBody>
      </p:sp>
    </p:spTree>
    <p:extLst>
      <p:ext uri="{BB962C8B-B14F-4D97-AF65-F5344CB8AC3E}">
        <p14:creationId xmlns:p14="http://schemas.microsoft.com/office/powerpoint/2010/main" val="373737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 name="">
            <a:extLst xmlns:a="http://schemas.openxmlformats.org/drawingml/2006/main">
              <a:ext uri="{FF2B5EF4-FFF2-40B4-BE49-F238E27FC236}">
                <a16:creationId xmlns:a16="http://schemas.microsoft.com/office/drawing/2014/main" id="{A34FB5CD-7F7B-45FA-A816-F44CB92E520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47DB981-BAEB-4791-BC76-A6C0E2219C6C}"/>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FinnOne combines 50 completed demands with zero outages</a:t>
            </a:r>
          </a:p>
        </p:txBody>
      </p:sp>
      <p:sp>
        <p:nvSpPr>
          <p:cNvPr id="3" name="">
            <a:extLst xmlns:a="http://schemas.openxmlformats.org/drawingml/2006/main">
              <a:ext uri="{FF2B5EF4-FFF2-40B4-BE49-F238E27FC236}">
                <a16:creationId xmlns:a16="http://schemas.microsoft.com/office/drawing/2014/main" id="{A8F72459-D4E5-4486-A8C6-FCC92E2E65B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3.24B reported September volume, with PF contributing approximately 72%</a:t>
            </a:r>
          </a:p>
        </p:txBody>
      </p:sp>
      <p:sp>
        <p:nvSpPr>
          <p:cNvPr id="4" name="">
            <a:extLst xmlns:a="http://schemas.openxmlformats.org/drawingml/2006/main">
              <a:ext uri="{FF2B5EF4-FFF2-40B4-BE49-F238E27FC236}">
                <a16:creationId xmlns:a16="http://schemas.microsoft.com/office/drawing/2014/main" id="{B268B4E9-8845-4C03-A680-7B5C2C30ADF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CFBBA60-930C-48BD-9962-BA43BEB63E0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a:t>
            </a:r>
          </a:p>
        </p:txBody>
      </p:sp>
      <p:graphicFrame>
        <p:nvGraphicFramePr>
          <p:cNvPr id="153" name="Chart"/>
          <p:cNvGraphicFramePr/>
          <p:nvPr/>
        </p:nvGraphicFramePr>
        <p:xfrm>
          <a:off xmlns:a="http://schemas.openxmlformats.org/drawingml/2006/main" x="457200" y="22098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c0f8c6430c87449e"/>
          </a:graphicData>
        </a:graphic>
      </p:graphicFrame>
      <p:sp>
        <p:nvSpPr>
          <p:cNvPr id="7" name="">
            <a:extLst xmlns:a="http://schemas.openxmlformats.org/drawingml/2006/main">
              <a:ext uri="{FF2B5EF4-FFF2-40B4-BE49-F238E27FC236}">
                <a16:creationId xmlns:a16="http://schemas.microsoft.com/office/drawing/2014/main" id="{CB85EFA0-E4EE-4BAE-9D6F-FF157EB4450C}"/>
              </a:ext>
            </a:extLst>
          </p:cNvPr>
          <p:cNvSpPr>
            <a:spLocks xmlns:a="http://schemas.openxmlformats.org/drawingml/2006/main" noGrp="1"/>
          </p:cNvSpPr>
          <p:nvPr/>
        </p:nvSpPr>
        <p:spPr>
          <a:xfrm xmlns:a="http://schemas.openxmlformats.org/drawingml/2006/main">
            <a:off x="7905750" y="2228850"/>
            <a:ext cx="38100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AC7F71-D8D8-4562-8E49-8FCDB006E767}"/>
              </a:ext>
            </a:extLst>
          </p:cNvPr>
          <p:cNvSpPr>
            <a:spLocks xmlns:a="http://schemas.openxmlformats.org/drawingml/2006/main" noGrp="1"/>
          </p:cNvSpPr>
          <p:nvPr/>
        </p:nvSpPr>
        <p:spPr>
          <a:xfrm xmlns:a="http://schemas.openxmlformats.org/drawingml/2006/main">
            <a:off x="8048625" y="22574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Completed</a:t>
            </a:r>
          </a:p>
        </p:txBody>
      </p:sp>
      <p:sp>
        <p:nvSpPr>
          <p:cNvPr id="9" name="">
            <a:extLst xmlns:a="http://schemas.openxmlformats.org/drawingml/2006/main">
              <a:ext uri="{FF2B5EF4-FFF2-40B4-BE49-F238E27FC236}">
                <a16:creationId xmlns:a16="http://schemas.microsoft.com/office/drawing/2014/main" id="{9514521D-C29F-4DBC-A29B-81E7DC54E9C6}"/>
              </a:ext>
            </a:extLst>
          </p:cNvPr>
          <p:cNvSpPr>
            <a:spLocks xmlns:a="http://schemas.openxmlformats.org/drawingml/2006/main" noGrp="1"/>
          </p:cNvSpPr>
          <p:nvPr/>
        </p:nvSpPr>
        <p:spPr>
          <a:xfrm xmlns:a="http://schemas.openxmlformats.org/drawingml/2006/main">
            <a:off x="11106150" y="22574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50</a:t>
            </a:r>
          </a:p>
        </p:txBody>
      </p:sp>
      <p:sp>
        <p:nvSpPr>
          <p:cNvPr id="10" name="">
            <a:extLst xmlns:a="http://schemas.openxmlformats.org/drawingml/2006/main">
              <a:ext uri="{FF2B5EF4-FFF2-40B4-BE49-F238E27FC236}">
                <a16:creationId xmlns:a16="http://schemas.microsoft.com/office/drawing/2014/main" id="{6C7381EA-7AAA-4A05-85F5-E34F0A077390}"/>
              </a:ext>
            </a:extLst>
          </p:cNvPr>
          <p:cNvSpPr>
            <a:spLocks xmlns:a="http://schemas.openxmlformats.org/drawingml/2006/main" noGrp="1"/>
          </p:cNvSpPr>
          <p:nvPr/>
        </p:nvSpPr>
        <p:spPr>
          <a:xfrm xmlns:a="http://schemas.openxmlformats.org/drawingml/2006/main">
            <a:off x="8048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246156-6A45-40CB-9317-9481F3E8E7FE}"/>
              </a:ext>
            </a:extLst>
          </p:cNvPr>
          <p:cNvSpPr>
            <a:spLocks xmlns:a="http://schemas.openxmlformats.org/drawingml/2006/main" noGrp="1"/>
          </p:cNvSpPr>
          <p:nvPr/>
        </p:nvSpPr>
        <p:spPr>
          <a:xfrm xmlns:a="http://schemas.openxmlformats.org/drawingml/2006/main">
            <a:off x="8096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C14974-6D2E-4103-9B69-E85E33B4ABA5}"/>
              </a:ext>
            </a:extLst>
          </p:cNvPr>
          <p:cNvSpPr>
            <a:spLocks xmlns:a="http://schemas.openxmlformats.org/drawingml/2006/main" noGrp="1"/>
          </p:cNvSpPr>
          <p:nvPr/>
        </p:nvSpPr>
        <p:spPr>
          <a:xfrm xmlns:a="http://schemas.openxmlformats.org/drawingml/2006/main">
            <a:off x="8143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7B9034-870B-44EB-A5FE-27A087AA0B57}"/>
              </a:ext>
            </a:extLst>
          </p:cNvPr>
          <p:cNvSpPr>
            <a:spLocks xmlns:a="http://schemas.openxmlformats.org/drawingml/2006/main" noGrp="1"/>
          </p:cNvSpPr>
          <p:nvPr/>
        </p:nvSpPr>
        <p:spPr>
          <a:xfrm xmlns:a="http://schemas.openxmlformats.org/drawingml/2006/main">
            <a:off x="8191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482534-C2C2-44D8-99B1-2F6C5BC0573D}"/>
              </a:ext>
            </a:extLst>
          </p:cNvPr>
          <p:cNvSpPr>
            <a:spLocks xmlns:a="http://schemas.openxmlformats.org/drawingml/2006/main" noGrp="1"/>
          </p:cNvSpPr>
          <p:nvPr/>
        </p:nvSpPr>
        <p:spPr>
          <a:xfrm xmlns:a="http://schemas.openxmlformats.org/drawingml/2006/main">
            <a:off x="8239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5BBE96-C022-45DE-9779-D79C65E2AA02}"/>
              </a:ext>
            </a:extLst>
          </p:cNvPr>
          <p:cNvSpPr>
            <a:spLocks xmlns:a="http://schemas.openxmlformats.org/drawingml/2006/main" noGrp="1"/>
          </p:cNvSpPr>
          <p:nvPr/>
        </p:nvSpPr>
        <p:spPr>
          <a:xfrm xmlns:a="http://schemas.openxmlformats.org/drawingml/2006/main">
            <a:off x="8286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14242C-1AD9-4FC6-BBDA-9B01750AE8F3}"/>
              </a:ext>
            </a:extLst>
          </p:cNvPr>
          <p:cNvSpPr>
            <a:spLocks xmlns:a="http://schemas.openxmlformats.org/drawingml/2006/main" noGrp="1"/>
          </p:cNvSpPr>
          <p:nvPr/>
        </p:nvSpPr>
        <p:spPr>
          <a:xfrm xmlns:a="http://schemas.openxmlformats.org/drawingml/2006/main">
            <a:off x="8334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A22E8F8-493B-415D-86E8-E250CA98E4EB}"/>
              </a:ext>
            </a:extLst>
          </p:cNvPr>
          <p:cNvSpPr>
            <a:spLocks xmlns:a="http://schemas.openxmlformats.org/drawingml/2006/main" noGrp="1"/>
          </p:cNvSpPr>
          <p:nvPr/>
        </p:nvSpPr>
        <p:spPr>
          <a:xfrm xmlns:a="http://schemas.openxmlformats.org/drawingml/2006/main">
            <a:off x="8382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E7DB3F-7A94-44C3-A938-3A964F7FFA4A}"/>
              </a:ext>
            </a:extLst>
          </p:cNvPr>
          <p:cNvSpPr>
            <a:spLocks xmlns:a="http://schemas.openxmlformats.org/drawingml/2006/main" noGrp="1"/>
          </p:cNvSpPr>
          <p:nvPr/>
        </p:nvSpPr>
        <p:spPr>
          <a:xfrm xmlns:a="http://schemas.openxmlformats.org/drawingml/2006/main">
            <a:off x="8429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68385CA-991D-45C5-9C63-53224C5D8918}"/>
              </a:ext>
            </a:extLst>
          </p:cNvPr>
          <p:cNvSpPr>
            <a:spLocks xmlns:a="http://schemas.openxmlformats.org/drawingml/2006/main" noGrp="1"/>
          </p:cNvSpPr>
          <p:nvPr/>
        </p:nvSpPr>
        <p:spPr>
          <a:xfrm xmlns:a="http://schemas.openxmlformats.org/drawingml/2006/main">
            <a:off x="8477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BB7E4ED-3C8E-45F5-963D-F7A37A271115}"/>
              </a:ext>
            </a:extLst>
          </p:cNvPr>
          <p:cNvSpPr>
            <a:spLocks xmlns:a="http://schemas.openxmlformats.org/drawingml/2006/main" noGrp="1"/>
          </p:cNvSpPr>
          <p:nvPr/>
        </p:nvSpPr>
        <p:spPr>
          <a:xfrm xmlns:a="http://schemas.openxmlformats.org/drawingml/2006/main">
            <a:off x="8524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71908C3-8EBA-4493-A4E3-2CC98295C7D2}"/>
              </a:ext>
            </a:extLst>
          </p:cNvPr>
          <p:cNvSpPr>
            <a:spLocks xmlns:a="http://schemas.openxmlformats.org/drawingml/2006/main" noGrp="1"/>
          </p:cNvSpPr>
          <p:nvPr/>
        </p:nvSpPr>
        <p:spPr>
          <a:xfrm xmlns:a="http://schemas.openxmlformats.org/drawingml/2006/main">
            <a:off x="8572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2E3E90B-9BEA-4BE0-ABA2-1E586C145720}"/>
              </a:ext>
            </a:extLst>
          </p:cNvPr>
          <p:cNvSpPr>
            <a:spLocks xmlns:a="http://schemas.openxmlformats.org/drawingml/2006/main" noGrp="1"/>
          </p:cNvSpPr>
          <p:nvPr/>
        </p:nvSpPr>
        <p:spPr>
          <a:xfrm xmlns:a="http://schemas.openxmlformats.org/drawingml/2006/main">
            <a:off x="8620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32D036-68AC-422E-98EA-92A4682800E4}"/>
              </a:ext>
            </a:extLst>
          </p:cNvPr>
          <p:cNvSpPr>
            <a:spLocks xmlns:a="http://schemas.openxmlformats.org/drawingml/2006/main" noGrp="1"/>
          </p:cNvSpPr>
          <p:nvPr/>
        </p:nvSpPr>
        <p:spPr>
          <a:xfrm xmlns:a="http://schemas.openxmlformats.org/drawingml/2006/main">
            <a:off x="8667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F8224DB-13B0-420E-A96E-B1C3DB0FF9CE}"/>
              </a:ext>
            </a:extLst>
          </p:cNvPr>
          <p:cNvSpPr>
            <a:spLocks xmlns:a="http://schemas.openxmlformats.org/drawingml/2006/main" noGrp="1"/>
          </p:cNvSpPr>
          <p:nvPr/>
        </p:nvSpPr>
        <p:spPr>
          <a:xfrm xmlns:a="http://schemas.openxmlformats.org/drawingml/2006/main">
            <a:off x="8715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31DA0C9-9105-4376-9E63-2F20A5538A20}"/>
              </a:ext>
            </a:extLst>
          </p:cNvPr>
          <p:cNvSpPr>
            <a:spLocks xmlns:a="http://schemas.openxmlformats.org/drawingml/2006/main" noGrp="1"/>
          </p:cNvSpPr>
          <p:nvPr/>
        </p:nvSpPr>
        <p:spPr>
          <a:xfrm xmlns:a="http://schemas.openxmlformats.org/drawingml/2006/main">
            <a:off x="8763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6568CB2-85CF-4007-ABBF-E199C7B3EB13}"/>
              </a:ext>
            </a:extLst>
          </p:cNvPr>
          <p:cNvSpPr>
            <a:spLocks xmlns:a="http://schemas.openxmlformats.org/drawingml/2006/main" noGrp="1"/>
          </p:cNvSpPr>
          <p:nvPr/>
        </p:nvSpPr>
        <p:spPr>
          <a:xfrm xmlns:a="http://schemas.openxmlformats.org/drawingml/2006/main">
            <a:off x="8810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586E908-AB37-48F9-B3AA-FD863EA23B0A}"/>
              </a:ext>
            </a:extLst>
          </p:cNvPr>
          <p:cNvSpPr>
            <a:spLocks xmlns:a="http://schemas.openxmlformats.org/drawingml/2006/main" noGrp="1"/>
          </p:cNvSpPr>
          <p:nvPr/>
        </p:nvSpPr>
        <p:spPr>
          <a:xfrm xmlns:a="http://schemas.openxmlformats.org/drawingml/2006/main">
            <a:off x="8858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D90336A-A3BA-49A5-BEDB-C457918A8077}"/>
              </a:ext>
            </a:extLst>
          </p:cNvPr>
          <p:cNvSpPr>
            <a:spLocks xmlns:a="http://schemas.openxmlformats.org/drawingml/2006/main" noGrp="1"/>
          </p:cNvSpPr>
          <p:nvPr/>
        </p:nvSpPr>
        <p:spPr>
          <a:xfrm xmlns:a="http://schemas.openxmlformats.org/drawingml/2006/main">
            <a:off x="8905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4FA02D3-AFDC-42C7-8228-B0805BECE40D}"/>
              </a:ext>
            </a:extLst>
          </p:cNvPr>
          <p:cNvSpPr>
            <a:spLocks xmlns:a="http://schemas.openxmlformats.org/drawingml/2006/main" noGrp="1"/>
          </p:cNvSpPr>
          <p:nvPr/>
        </p:nvSpPr>
        <p:spPr>
          <a:xfrm xmlns:a="http://schemas.openxmlformats.org/drawingml/2006/main">
            <a:off x="8953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AD41A73-E6F9-4667-8D66-50594A23575D}"/>
              </a:ext>
            </a:extLst>
          </p:cNvPr>
          <p:cNvSpPr>
            <a:spLocks xmlns:a="http://schemas.openxmlformats.org/drawingml/2006/main" noGrp="1"/>
          </p:cNvSpPr>
          <p:nvPr/>
        </p:nvSpPr>
        <p:spPr>
          <a:xfrm xmlns:a="http://schemas.openxmlformats.org/drawingml/2006/main">
            <a:off x="9001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AC01D1F-A851-4C0E-9625-71B4FB0436DA}"/>
              </a:ext>
            </a:extLst>
          </p:cNvPr>
          <p:cNvSpPr>
            <a:spLocks xmlns:a="http://schemas.openxmlformats.org/drawingml/2006/main" noGrp="1"/>
          </p:cNvSpPr>
          <p:nvPr/>
        </p:nvSpPr>
        <p:spPr>
          <a:xfrm xmlns:a="http://schemas.openxmlformats.org/drawingml/2006/main">
            <a:off x="9048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ACB2F06-E3DC-4A94-B3F6-76B7AD35E927}"/>
              </a:ext>
            </a:extLst>
          </p:cNvPr>
          <p:cNvSpPr>
            <a:spLocks xmlns:a="http://schemas.openxmlformats.org/drawingml/2006/main" noGrp="1"/>
          </p:cNvSpPr>
          <p:nvPr/>
        </p:nvSpPr>
        <p:spPr>
          <a:xfrm xmlns:a="http://schemas.openxmlformats.org/drawingml/2006/main">
            <a:off x="9096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565E0FD-E30F-4BAD-A46B-E942272281ED}"/>
              </a:ext>
            </a:extLst>
          </p:cNvPr>
          <p:cNvSpPr>
            <a:spLocks xmlns:a="http://schemas.openxmlformats.org/drawingml/2006/main" noGrp="1"/>
          </p:cNvSpPr>
          <p:nvPr/>
        </p:nvSpPr>
        <p:spPr>
          <a:xfrm xmlns:a="http://schemas.openxmlformats.org/drawingml/2006/main">
            <a:off x="9144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105D56A-8CD0-4A03-AC73-D143F7BBA6BB}"/>
              </a:ext>
            </a:extLst>
          </p:cNvPr>
          <p:cNvSpPr>
            <a:spLocks xmlns:a="http://schemas.openxmlformats.org/drawingml/2006/main" noGrp="1"/>
          </p:cNvSpPr>
          <p:nvPr/>
        </p:nvSpPr>
        <p:spPr>
          <a:xfrm xmlns:a="http://schemas.openxmlformats.org/drawingml/2006/main">
            <a:off x="9191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815D18C-4ECD-405F-8B0F-BEE08905A5E9}"/>
              </a:ext>
            </a:extLst>
          </p:cNvPr>
          <p:cNvSpPr>
            <a:spLocks xmlns:a="http://schemas.openxmlformats.org/drawingml/2006/main" noGrp="1"/>
          </p:cNvSpPr>
          <p:nvPr/>
        </p:nvSpPr>
        <p:spPr>
          <a:xfrm xmlns:a="http://schemas.openxmlformats.org/drawingml/2006/main">
            <a:off x="9239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66988D5-74BC-4CA5-839C-435553C9E05D}"/>
              </a:ext>
            </a:extLst>
          </p:cNvPr>
          <p:cNvSpPr>
            <a:spLocks xmlns:a="http://schemas.openxmlformats.org/drawingml/2006/main" noGrp="1"/>
          </p:cNvSpPr>
          <p:nvPr/>
        </p:nvSpPr>
        <p:spPr>
          <a:xfrm xmlns:a="http://schemas.openxmlformats.org/drawingml/2006/main">
            <a:off x="9286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31D7186-DD95-4F86-92EA-BD0F9BA7167A}"/>
              </a:ext>
            </a:extLst>
          </p:cNvPr>
          <p:cNvSpPr>
            <a:spLocks xmlns:a="http://schemas.openxmlformats.org/drawingml/2006/main" noGrp="1"/>
          </p:cNvSpPr>
          <p:nvPr/>
        </p:nvSpPr>
        <p:spPr>
          <a:xfrm xmlns:a="http://schemas.openxmlformats.org/drawingml/2006/main">
            <a:off x="9334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71BDDCA-D6C2-48DF-819A-11E504C3D1AD}"/>
              </a:ext>
            </a:extLst>
          </p:cNvPr>
          <p:cNvSpPr>
            <a:spLocks xmlns:a="http://schemas.openxmlformats.org/drawingml/2006/main" noGrp="1"/>
          </p:cNvSpPr>
          <p:nvPr/>
        </p:nvSpPr>
        <p:spPr>
          <a:xfrm xmlns:a="http://schemas.openxmlformats.org/drawingml/2006/main">
            <a:off x="9382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CBD56D5-EDAB-4DBA-BCF7-7D2FC577A461}"/>
              </a:ext>
            </a:extLst>
          </p:cNvPr>
          <p:cNvSpPr>
            <a:spLocks xmlns:a="http://schemas.openxmlformats.org/drawingml/2006/main" noGrp="1"/>
          </p:cNvSpPr>
          <p:nvPr/>
        </p:nvSpPr>
        <p:spPr>
          <a:xfrm xmlns:a="http://schemas.openxmlformats.org/drawingml/2006/main">
            <a:off x="9429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F23347F-6397-42F4-A3FA-C9274987F638}"/>
              </a:ext>
            </a:extLst>
          </p:cNvPr>
          <p:cNvSpPr>
            <a:spLocks xmlns:a="http://schemas.openxmlformats.org/drawingml/2006/main" noGrp="1"/>
          </p:cNvSpPr>
          <p:nvPr/>
        </p:nvSpPr>
        <p:spPr>
          <a:xfrm xmlns:a="http://schemas.openxmlformats.org/drawingml/2006/main">
            <a:off x="9477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33CD0E4-D09C-4174-AAD6-4A3A9C276EA9}"/>
              </a:ext>
            </a:extLst>
          </p:cNvPr>
          <p:cNvSpPr>
            <a:spLocks xmlns:a="http://schemas.openxmlformats.org/drawingml/2006/main" noGrp="1"/>
          </p:cNvSpPr>
          <p:nvPr/>
        </p:nvSpPr>
        <p:spPr>
          <a:xfrm xmlns:a="http://schemas.openxmlformats.org/drawingml/2006/main">
            <a:off x="9525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8F5D174-3776-48DC-8066-624AC50917CC}"/>
              </a:ext>
            </a:extLst>
          </p:cNvPr>
          <p:cNvSpPr>
            <a:spLocks xmlns:a="http://schemas.openxmlformats.org/drawingml/2006/main" noGrp="1"/>
          </p:cNvSpPr>
          <p:nvPr/>
        </p:nvSpPr>
        <p:spPr>
          <a:xfrm xmlns:a="http://schemas.openxmlformats.org/drawingml/2006/main">
            <a:off x="9572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F37BF30-68CA-4F26-B39D-D0178A4BE488}"/>
              </a:ext>
            </a:extLst>
          </p:cNvPr>
          <p:cNvSpPr>
            <a:spLocks xmlns:a="http://schemas.openxmlformats.org/drawingml/2006/main" noGrp="1"/>
          </p:cNvSpPr>
          <p:nvPr/>
        </p:nvSpPr>
        <p:spPr>
          <a:xfrm xmlns:a="http://schemas.openxmlformats.org/drawingml/2006/main">
            <a:off x="9620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B34AF56-2BE3-4E3C-B621-9A16458704BC}"/>
              </a:ext>
            </a:extLst>
          </p:cNvPr>
          <p:cNvSpPr>
            <a:spLocks xmlns:a="http://schemas.openxmlformats.org/drawingml/2006/main" noGrp="1"/>
          </p:cNvSpPr>
          <p:nvPr/>
        </p:nvSpPr>
        <p:spPr>
          <a:xfrm xmlns:a="http://schemas.openxmlformats.org/drawingml/2006/main">
            <a:off x="9667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5A7C0B4-B6FC-4413-AC65-5EB47509B12D}"/>
              </a:ext>
            </a:extLst>
          </p:cNvPr>
          <p:cNvSpPr>
            <a:spLocks xmlns:a="http://schemas.openxmlformats.org/drawingml/2006/main" noGrp="1"/>
          </p:cNvSpPr>
          <p:nvPr/>
        </p:nvSpPr>
        <p:spPr>
          <a:xfrm xmlns:a="http://schemas.openxmlformats.org/drawingml/2006/main">
            <a:off x="9715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A6F959E-EAE8-402F-84A9-177B8A3502EA}"/>
              </a:ext>
            </a:extLst>
          </p:cNvPr>
          <p:cNvSpPr>
            <a:spLocks xmlns:a="http://schemas.openxmlformats.org/drawingml/2006/main" noGrp="1"/>
          </p:cNvSpPr>
          <p:nvPr/>
        </p:nvSpPr>
        <p:spPr>
          <a:xfrm xmlns:a="http://schemas.openxmlformats.org/drawingml/2006/main">
            <a:off x="9763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CE60AE1-5C92-48A8-ABAD-FC594897B339}"/>
              </a:ext>
            </a:extLst>
          </p:cNvPr>
          <p:cNvSpPr>
            <a:spLocks xmlns:a="http://schemas.openxmlformats.org/drawingml/2006/main" noGrp="1"/>
          </p:cNvSpPr>
          <p:nvPr/>
        </p:nvSpPr>
        <p:spPr>
          <a:xfrm xmlns:a="http://schemas.openxmlformats.org/drawingml/2006/main">
            <a:off x="9810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E612BD0-D283-4D8A-92BF-3CA7DB4B6492}"/>
              </a:ext>
            </a:extLst>
          </p:cNvPr>
          <p:cNvSpPr>
            <a:spLocks xmlns:a="http://schemas.openxmlformats.org/drawingml/2006/main" noGrp="1"/>
          </p:cNvSpPr>
          <p:nvPr/>
        </p:nvSpPr>
        <p:spPr>
          <a:xfrm xmlns:a="http://schemas.openxmlformats.org/drawingml/2006/main">
            <a:off x="9858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1A04BAF-DE4D-44AE-8F82-253F89F214CE}"/>
              </a:ext>
            </a:extLst>
          </p:cNvPr>
          <p:cNvSpPr>
            <a:spLocks xmlns:a="http://schemas.openxmlformats.org/drawingml/2006/main" noGrp="1"/>
          </p:cNvSpPr>
          <p:nvPr/>
        </p:nvSpPr>
        <p:spPr>
          <a:xfrm xmlns:a="http://schemas.openxmlformats.org/drawingml/2006/main">
            <a:off x="9906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D718F5E-49E4-43A3-92DD-B5FBDE3B4CAD}"/>
              </a:ext>
            </a:extLst>
          </p:cNvPr>
          <p:cNvSpPr>
            <a:spLocks xmlns:a="http://schemas.openxmlformats.org/drawingml/2006/main" noGrp="1"/>
          </p:cNvSpPr>
          <p:nvPr/>
        </p:nvSpPr>
        <p:spPr>
          <a:xfrm xmlns:a="http://schemas.openxmlformats.org/drawingml/2006/main">
            <a:off x="9953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B37A341-17C2-4D1D-982D-6F21A491610B}"/>
              </a:ext>
            </a:extLst>
          </p:cNvPr>
          <p:cNvSpPr>
            <a:spLocks xmlns:a="http://schemas.openxmlformats.org/drawingml/2006/main" noGrp="1"/>
          </p:cNvSpPr>
          <p:nvPr/>
        </p:nvSpPr>
        <p:spPr>
          <a:xfrm xmlns:a="http://schemas.openxmlformats.org/drawingml/2006/main">
            <a:off x="10001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8041853A-1AE8-4C4C-A1D3-0D9EC3320217}"/>
              </a:ext>
            </a:extLst>
          </p:cNvPr>
          <p:cNvSpPr>
            <a:spLocks xmlns:a="http://schemas.openxmlformats.org/drawingml/2006/main" noGrp="1"/>
          </p:cNvSpPr>
          <p:nvPr/>
        </p:nvSpPr>
        <p:spPr>
          <a:xfrm xmlns:a="http://schemas.openxmlformats.org/drawingml/2006/main">
            <a:off x="10048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6F04AAF-8CA5-4D20-96CE-3F7EB86A9CA0}"/>
              </a:ext>
            </a:extLst>
          </p:cNvPr>
          <p:cNvSpPr>
            <a:spLocks xmlns:a="http://schemas.openxmlformats.org/drawingml/2006/main" noGrp="1"/>
          </p:cNvSpPr>
          <p:nvPr/>
        </p:nvSpPr>
        <p:spPr>
          <a:xfrm xmlns:a="http://schemas.openxmlformats.org/drawingml/2006/main">
            <a:off x="10096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FFFFDC7B-F4ED-4DFA-96ED-8EFF9345798C}"/>
              </a:ext>
            </a:extLst>
          </p:cNvPr>
          <p:cNvSpPr>
            <a:spLocks xmlns:a="http://schemas.openxmlformats.org/drawingml/2006/main" noGrp="1"/>
          </p:cNvSpPr>
          <p:nvPr/>
        </p:nvSpPr>
        <p:spPr>
          <a:xfrm xmlns:a="http://schemas.openxmlformats.org/drawingml/2006/main">
            <a:off x="10144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ED45D4C-E85B-4069-B6D3-204083F9E8C7}"/>
              </a:ext>
            </a:extLst>
          </p:cNvPr>
          <p:cNvSpPr>
            <a:spLocks xmlns:a="http://schemas.openxmlformats.org/drawingml/2006/main" noGrp="1"/>
          </p:cNvSpPr>
          <p:nvPr/>
        </p:nvSpPr>
        <p:spPr>
          <a:xfrm xmlns:a="http://schemas.openxmlformats.org/drawingml/2006/main">
            <a:off x="10191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70D99CF-D5D8-414F-A6C3-C55DBDD4340D}"/>
              </a:ext>
            </a:extLst>
          </p:cNvPr>
          <p:cNvSpPr>
            <a:spLocks xmlns:a="http://schemas.openxmlformats.org/drawingml/2006/main" noGrp="1"/>
          </p:cNvSpPr>
          <p:nvPr/>
        </p:nvSpPr>
        <p:spPr>
          <a:xfrm xmlns:a="http://schemas.openxmlformats.org/drawingml/2006/main">
            <a:off x="10239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B67B828-4569-478A-ACE7-72F0A2508ECE}"/>
              </a:ext>
            </a:extLst>
          </p:cNvPr>
          <p:cNvSpPr>
            <a:spLocks xmlns:a="http://schemas.openxmlformats.org/drawingml/2006/main" noGrp="1"/>
          </p:cNvSpPr>
          <p:nvPr/>
        </p:nvSpPr>
        <p:spPr>
          <a:xfrm xmlns:a="http://schemas.openxmlformats.org/drawingml/2006/main">
            <a:off x="10287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6935138-9F5B-4591-912A-6EAE8ACAAB3A}"/>
              </a:ext>
            </a:extLst>
          </p:cNvPr>
          <p:cNvSpPr>
            <a:spLocks xmlns:a="http://schemas.openxmlformats.org/drawingml/2006/main" noGrp="1"/>
          </p:cNvSpPr>
          <p:nvPr/>
        </p:nvSpPr>
        <p:spPr>
          <a:xfrm xmlns:a="http://schemas.openxmlformats.org/drawingml/2006/main">
            <a:off x="10334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BA92458-DF0E-4E20-B506-B62642FF9FA9}"/>
              </a:ext>
            </a:extLst>
          </p:cNvPr>
          <p:cNvSpPr>
            <a:spLocks xmlns:a="http://schemas.openxmlformats.org/drawingml/2006/main" noGrp="1"/>
          </p:cNvSpPr>
          <p:nvPr/>
        </p:nvSpPr>
        <p:spPr>
          <a:xfrm xmlns:a="http://schemas.openxmlformats.org/drawingml/2006/main">
            <a:off x="10382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458F0985-2F5C-4D11-9E6D-D4046A702B50}"/>
              </a:ext>
            </a:extLst>
          </p:cNvPr>
          <p:cNvSpPr>
            <a:spLocks xmlns:a="http://schemas.openxmlformats.org/drawingml/2006/main" noGrp="1"/>
          </p:cNvSpPr>
          <p:nvPr/>
        </p:nvSpPr>
        <p:spPr>
          <a:xfrm xmlns:a="http://schemas.openxmlformats.org/drawingml/2006/main">
            <a:off x="7905750" y="2752725"/>
            <a:ext cx="38100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7A7BE3D-5626-4AB1-A69A-7ECCE8C77F90}"/>
              </a:ext>
            </a:extLst>
          </p:cNvPr>
          <p:cNvSpPr>
            <a:spLocks xmlns:a="http://schemas.openxmlformats.org/drawingml/2006/main" noGrp="1"/>
          </p:cNvSpPr>
          <p:nvPr/>
        </p:nvSpPr>
        <p:spPr>
          <a:xfrm xmlns:a="http://schemas.openxmlformats.org/drawingml/2006/main">
            <a:off x="8048625" y="278130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62" name="">
            <a:extLst xmlns:a="http://schemas.openxmlformats.org/drawingml/2006/main">
              <a:ext uri="{FF2B5EF4-FFF2-40B4-BE49-F238E27FC236}">
                <a16:creationId xmlns:a16="http://schemas.microsoft.com/office/drawing/2014/main" id="{B45A30DB-84A9-4FF6-8D9C-BBA183CCEE8D}"/>
              </a:ext>
            </a:extLst>
          </p:cNvPr>
          <p:cNvSpPr>
            <a:spLocks xmlns:a="http://schemas.openxmlformats.org/drawingml/2006/main" noGrp="1"/>
          </p:cNvSpPr>
          <p:nvPr/>
        </p:nvSpPr>
        <p:spPr>
          <a:xfrm xmlns:a="http://schemas.openxmlformats.org/drawingml/2006/main">
            <a:off x="11106150" y="27813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29</a:t>
            </a:r>
          </a:p>
        </p:txBody>
      </p:sp>
      <p:sp>
        <p:nvSpPr>
          <p:cNvPr id="63" name="">
            <a:extLst xmlns:a="http://schemas.openxmlformats.org/drawingml/2006/main">
              <a:ext uri="{FF2B5EF4-FFF2-40B4-BE49-F238E27FC236}">
                <a16:creationId xmlns:a16="http://schemas.microsoft.com/office/drawing/2014/main" id="{12348A7D-69B3-485C-8991-C6C7BC3AE77F}"/>
              </a:ext>
            </a:extLst>
          </p:cNvPr>
          <p:cNvSpPr>
            <a:spLocks xmlns:a="http://schemas.openxmlformats.org/drawingml/2006/main" noGrp="1"/>
          </p:cNvSpPr>
          <p:nvPr/>
        </p:nvSpPr>
        <p:spPr>
          <a:xfrm xmlns:a="http://schemas.openxmlformats.org/drawingml/2006/main">
            <a:off x="8048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434C76EF-1C7B-4CFE-8F31-DA2B98133ACA}"/>
              </a:ext>
            </a:extLst>
          </p:cNvPr>
          <p:cNvSpPr>
            <a:spLocks xmlns:a="http://schemas.openxmlformats.org/drawingml/2006/main" noGrp="1"/>
          </p:cNvSpPr>
          <p:nvPr/>
        </p:nvSpPr>
        <p:spPr>
          <a:xfrm xmlns:a="http://schemas.openxmlformats.org/drawingml/2006/main">
            <a:off x="8096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76B526DE-0C10-42A7-8A3C-5AF6DA82AFFC}"/>
              </a:ext>
            </a:extLst>
          </p:cNvPr>
          <p:cNvSpPr>
            <a:spLocks xmlns:a="http://schemas.openxmlformats.org/drawingml/2006/main" noGrp="1"/>
          </p:cNvSpPr>
          <p:nvPr/>
        </p:nvSpPr>
        <p:spPr>
          <a:xfrm xmlns:a="http://schemas.openxmlformats.org/drawingml/2006/main">
            <a:off x="8143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DD4104EB-2A34-43DE-A872-0B1223B5DF4B}"/>
              </a:ext>
            </a:extLst>
          </p:cNvPr>
          <p:cNvSpPr>
            <a:spLocks xmlns:a="http://schemas.openxmlformats.org/drawingml/2006/main" noGrp="1"/>
          </p:cNvSpPr>
          <p:nvPr/>
        </p:nvSpPr>
        <p:spPr>
          <a:xfrm xmlns:a="http://schemas.openxmlformats.org/drawingml/2006/main">
            <a:off x="8191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5148033D-950F-4EEA-815D-2AB6FD7B5511}"/>
              </a:ext>
            </a:extLst>
          </p:cNvPr>
          <p:cNvSpPr>
            <a:spLocks xmlns:a="http://schemas.openxmlformats.org/drawingml/2006/main" noGrp="1"/>
          </p:cNvSpPr>
          <p:nvPr/>
        </p:nvSpPr>
        <p:spPr>
          <a:xfrm xmlns:a="http://schemas.openxmlformats.org/drawingml/2006/main">
            <a:off x="8239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1A4288B0-8317-4D61-BF0A-11B926B19935}"/>
              </a:ext>
            </a:extLst>
          </p:cNvPr>
          <p:cNvSpPr>
            <a:spLocks xmlns:a="http://schemas.openxmlformats.org/drawingml/2006/main" noGrp="1"/>
          </p:cNvSpPr>
          <p:nvPr/>
        </p:nvSpPr>
        <p:spPr>
          <a:xfrm xmlns:a="http://schemas.openxmlformats.org/drawingml/2006/main">
            <a:off x="8286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52957EBE-8ACD-49AA-B0A7-762627C0E9A0}"/>
              </a:ext>
            </a:extLst>
          </p:cNvPr>
          <p:cNvSpPr>
            <a:spLocks xmlns:a="http://schemas.openxmlformats.org/drawingml/2006/main" noGrp="1"/>
          </p:cNvSpPr>
          <p:nvPr/>
        </p:nvSpPr>
        <p:spPr>
          <a:xfrm xmlns:a="http://schemas.openxmlformats.org/drawingml/2006/main">
            <a:off x="8334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0FAB79F3-A3D9-4B0C-AFE2-6BF6E121755F}"/>
              </a:ext>
            </a:extLst>
          </p:cNvPr>
          <p:cNvSpPr>
            <a:spLocks xmlns:a="http://schemas.openxmlformats.org/drawingml/2006/main" noGrp="1"/>
          </p:cNvSpPr>
          <p:nvPr/>
        </p:nvSpPr>
        <p:spPr>
          <a:xfrm xmlns:a="http://schemas.openxmlformats.org/drawingml/2006/main">
            <a:off x="8382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585CCB2D-38BF-45C0-8757-EF2ED778BBDB}"/>
              </a:ext>
            </a:extLst>
          </p:cNvPr>
          <p:cNvSpPr>
            <a:spLocks xmlns:a="http://schemas.openxmlformats.org/drawingml/2006/main" noGrp="1"/>
          </p:cNvSpPr>
          <p:nvPr/>
        </p:nvSpPr>
        <p:spPr>
          <a:xfrm xmlns:a="http://schemas.openxmlformats.org/drawingml/2006/main">
            <a:off x="8429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51EBB966-0AB9-40B0-92AB-9C9433A3BFA6}"/>
              </a:ext>
            </a:extLst>
          </p:cNvPr>
          <p:cNvSpPr>
            <a:spLocks xmlns:a="http://schemas.openxmlformats.org/drawingml/2006/main" noGrp="1"/>
          </p:cNvSpPr>
          <p:nvPr/>
        </p:nvSpPr>
        <p:spPr>
          <a:xfrm xmlns:a="http://schemas.openxmlformats.org/drawingml/2006/main">
            <a:off x="8477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BA99387F-EDBD-4DD0-948D-139B60DDA790}"/>
              </a:ext>
            </a:extLst>
          </p:cNvPr>
          <p:cNvSpPr>
            <a:spLocks xmlns:a="http://schemas.openxmlformats.org/drawingml/2006/main" noGrp="1"/>
          </p:cNvSpPr>
          <p:nvPr/>
        </p:nvSpPr>
        <p:spPr>
          <a:xfrm xmlns:a="http://schemas.openxmlformats.org/drawingml/2006/main">
            <a:off x="8524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A2376C71-F7EC-4632-B2C7-B4EE23BE6BD5}"/>
              </a:ext>
            </a:extLst>
          </p:cNvPr>
          <p:cNvSpPr>
            <a:spLocks xmlns:a="http://schemas.openxmlformats.org/drawingml/2006/main" noGrp="1"/>
          </p:cNvSpPr>
          <p:nvPr/>
        </p:nvSpPr>
        <p:spPr>
          <a:xfrm xmlns:a="http://schemas.openxmlformats.org/drawingml/2006/main">
            <a:off x="8572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E310BF0-7CBE-45D2-9998-9B1885EC67E4}"/>
              </a:ext>
            </a:extLst>
          </p:cNvPr>
          <p:cNvSpPr>
            <a:spLocks xmlns:a="http://schemas.openxmlformats.org/drawingml/2006/main" noGrp="1"/>
          </p:cNvSpPr>
          <p:nvPr/>
        </p:nvSpPr>
        <p:spPr>
          <a:xfrm xmlns:a="http://schemas.openxmlformats.org/drawingml/2006/main">
            <a:off x="8620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CA179CA5-ACD6-4F46-8361-CF687F7BE71B}"/>
              </a:ext>
            </a:extLst>
          </p:cNvPr>
          <p:cNvSpPr>
            <a:spLocks xmlns:a="http://schemas.openxmlformats.org/drawingml/2006/main" noGrp="1"/>
          </p:cNvSpPr>
          <p:nvPr/>
        </p:nvSpPr>
        <p:spPr>
          <a:xfrm xmlns:a="http://schemas.openxmlformats.org/drawingml/2006/main">
            <a:off x="8667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7F1CDA1B-52E7-4904-ABC5-AD40EBD7BB1E}"/>
              </a:ext>
            </a:extLst>
          </p:cNvPr>
          <p:cNvSpPr>
            <a:spLocks xmlns:a="http://schemas.openxmlformats.org/drawingml/2006/main" noGrp="1"/>
          </p:cNvSpPr>
          <p:nvPr/>
        </p:nvSpPr>
        <p:spPr>
          <a:xfrm xmlns:a="http://schemas.openxmlformats.org/drawingml/2006/main">
            <a:off x="8715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EAC35E59-5D1F-4F80-ABCF-425601E8F274}"/>
              </a:ext>
            </a:extLst>
          </p:cNvPr>
          <p:cNvSpPr>
            <a:spLocks xmlns:a="http://schemas.openxmlformats.org/drawingml/2006/main" noGrp="1"/>
          </p:cNvSpPr>
          <p:nvPr/>
        </p:nvSpPr>
        <p:spPr>
          <a:xfrm xmlns:a="http://schemas.openxmlformats.org/drawingml/2006/main">
            <a:off x="8763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4DF7962D-9304-4D52-9F75-D629CBC1E97D}"/>
              </a:ext>
            </a:extLst>
          </p:cNvPr>
          <p:cNvSpPr>
            <a:spLocks xmlns:a="http://schemas.openxmlformats.org/drawingml/2006/main" noGrp="1"/>
          </p:cNvSpPr>
          <p:nvPr/>
        </p:nvSpPr>
        <p:spPr>
          <a:xfrm xmlns:a="http://schemas.openxmlformats.org/drawingml/2006/main">
            <a:off x="8810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C3F5B359-2674-4263-8205-16523340F4F4}"/>
              </a:ext>
            </a:extLst>
          </p:cNvPr>
          <p:cNvSpPr>
            <a:spLocks xmlns:a="http://schemas.openxmlformats.org/drawingml/2006/main" noGrp="1"/>
          </p:cNvSpPr>
          <p:nvPr/>
        </p:nvSpPr>
        <p:spPr>
          <a:xfrm xmlns:a="http://schemas.openxmlformats.org/drawingml/2006/main">
            <a:off x="8858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F91F99C1-B8E5-4D14-89A8-59904F1F609F}"/>
              </a:ext>
            </a:extLst>
          </p:cNvPr>
          <p:cNvSpPr>
            <a:spLocks xmlns:a="http://schemas.openxmlformats.org/drawingml/2006/main" noGrp="1"/>
          </p:cNvSpPr>
          <p:nvPr/>
        </p:nvSpPr>
        <p:spPr>
          <a:xfrm xmlns:a="http://schemas.openxmlformats.org/drawingml/2006/main">
            <a:off x="8905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E4F86040-7A61-45C2-AFFE-CCA4DED1D138}"/>
              </a:ext>
            </a:extLst>
          </p:cNvPr>
          <p:cNvSpPr>
            <a:spLocks xmlns:a="http://schemas.openxmlformats.org/drawingml/2006/main" noGrp="1"/>
          </p:cNvSpPr>
          <p:nvPr/>
        </p:nvSpPr>
        <p:spPr>
          <a:xfrm xmlns:a="http://schemas.openxmlformats.org/drawingml/2006/main">
            <a:off x="8953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1B90701C-27BA-4139-9278-773F080FE803}"/>
              </a:ext>
            </a:extLst>
          </p:cNvPr>
          <p:cNvSpPr>
            <a:spLocks xmlns:a="http://schemas.openxmlformats.org/drawingml/2006/main" noGrp="1"/>
          </p:cNvSpPr>
          <p:nvPr/>
        </p:nvSpPr>
        <p:spPr>
          <a:xfrm xmlns:a="http://schemas.openxmlformats.org/drawingml/2006/main">
            <a:off x="9001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A8C66142-EB00-41E4-BAE6-1BD40BADC970}"/>
              </a:ext>
            </a:extLst>
          </p:cNvPr>
          <p:cNvSpPr>
            <a:spLocks xmlns:a="http://schemas.openxmlformats.org/drawingml/2006/main" noGrp="1"/>
          </p:cNvSpPr>
          <p:nvPr/>
        </p:nvSpPr>
        <p:spPr>
          <a:xfrm xmlns:a="http://schemas.openxmlformats.org/drawingml/2006/main">
            <a:off x="9048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4D064F63-73E7-42DB-BA71-4B11F0E3D00B}"/>
              </a:ext>
            </a:extLst>
          </p:cNvPr>
          <p:cNvSpPr>
            <a:spLocks xmlns:a="http://schemas.openxmlformats.org/drawingml/2006/main" noGrp="1"/>
          </p:cNvSpPr>
          <p:nvPr/>
        </p:nvSpPr>
        <p:spPr>
          <a:xfrm xmlns:a="http://schemas.openxmlformats.org/drawingml/2006/main">
            <a:off x="9096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BCD34240-199D-4B57-9E76-848BC90585E7}"/>
              </a:ext>
            </a:extLst>
          </p:cNvPr>
          <p:cNvSpPr>
            <a:spLocks xmlns:a="http://schemas.openxmlformats.org/drawingml/2006/main" noGrp="1"/>
          </p:cNvSpPr>
          <p:nvPr/>
        </p:nvSpPr>
        <p:spPr>
          <a:xfrm xmlns:a="http://schemas.openxmlformats.org/drawingml/2006/main">
            <a:off x="9144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4549E861-3D9F-4932-B408-9C28AFEB6A52}"/>
              </a:ext>
            </a:extLst>
          </p:cNvPr>
          <p:cNvSpPr>
            <a:spLocks xmlns:a="http://schemas.openxmlformats.org/drawingml/2006/main" noGrp="1"/>
          </p:cNvSpPr>
          <p:nvPr/>
        </p:nvSpPr>
        <p:spPr>
          <a:xfrm xmlns:a="http://schemas.openxmlformats.org/drawingml/2006/main">
            <a:off x="9191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8E972A35-092F-457E-B454-689E67752C1D}"/>
              </a:ext>
            </a:extLst>
          </p:cNvPr>
          <p:cNvSpPr>
            <a:spLocks xmlns:a="http://schemas.openxmlformats.org/drawingml/2006/main" noGrp="1"/>
          </p:cNvSpPr>
          <p:nvPr/>
        </p:nvSpPr>
        <p:spPr>
          <a:xfrm xmlns:a="http://schemas.openxmlformats.org/drawingml/2006/main">
            <a:off x="9239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82CA0CF-161C-40EC-8AFF-03B368605DDD}"/>
              </a:ext>
            </a:extLst>
          </p:cNvPr>
          <p:cNvSpPr>
            <a:spLocks xmlns:a="http://schemas.openxmlformats.org/drawingml/2006/main" noGrp="1"/>
          </p:cNvSpPr>
          <p:nvPr/>
        </p:nvSpPr>
        <p:spPr>
          <a:xfrm xmlns:a="http://schemas.openxmlformats.org/drawingml/2006/main">
            <a:off x="9286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ED2382FF-8075-48E2-B6F5-99CAD6629977}"/>
              </a:ext>
            </a:extLst>
          </p:cNvPr>
          <p:cNvSpPr>
            <a:spLocks xmlns:a="http://schemas.openxmlformats.org/drawingml/2006/main" noGrp="1"/>
          </p:cNvSpPr>
          <p:nvPr/>
        </p:nvSpPr>
        <p:spPr>
          <a:xfrm xmlns:a="http://schemas.openxmlformats.org/drawingml/2006/main">
            <a:off x="9334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478A6652-358F-4C08-BF1E-EE1FD2A11E8C}"/>
              </a:ext>
            </a:extLst>
          </p:cNvPr>
          <p:cNvSpPr>
            <a:spLocks xmlns:a="http://schemas.openxmlformats.org/drawingml/2006/main" noGrp="1"/>
          </p:cNvSpPr>
          <p:nvPr/>
        </p:nvSpPr>
        <p:spPr>
          <a:xfrm xmlns:a="http://schemas.openxmlformats.org/drawingml/2006/main">
            <a:off x="9382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F016B1AF-9BD5-457A-9C38-CA22443C7C9F}"/>
              </a:ext>
            </a:extLst>
          </p:cNvPr>
          <p:cNvSpPr>
            <a:spLocks xmlns:a="http://schemas.openxmlformats.org/drawingml/2006/main" noGrp="1"/>
          </p:cNvSpPr>
          <p:nvPr/>
        </p:nvSpPr>
        <p:spPr>
          <a:xfrm xmlns:a="http://schemas.openxmlformats.org/drawingml/2006/main">
            <a:off x="7905750" y="3276600"/>
            <a:ext cx="38100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B3CBE021-EAC5-42A0-9DCE-E5D86899A8E8}"/>
              </a:ext>
            </a:extLst>
          </p:cNvPr>
          <p:cNvSpPr>
            <a:spLocks xmlns:a="http://schemas.openxmlformats.org/drawingml/2006/main" noGrp="1"/>
          </p:cNvSpPr>
          <p:nvPr/>
        </p:nvSpPr>
        <p:spPr>
          <a:xfrm xmlns:a="http://schemas.openxmlformats.org/drawingml/2006/main">
            <a:off x="8048625" y="330517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94" name="">
            <a:extLst xmlns:a="http://schemas.openxmlformats.org/drawingml/2006/main">
              <a:ext uri="{FF2B5EF4-FFF2-40B4-BE49-F238E27FC236}">
                <a16:creationId xmlns:a16="http://schemas.microsoft.com/office/drawing/2014/main" id="{98000A31-14DA-4498-BEB1-8A26CF08B2D9}"/>
              </a:ext>
            </a:extLst>
          </p:cNvPr>
          <p:cNvSpPr>
            <a:spLocks xmlns:a="http://schemas.openxmlformats.org/drawingml/2006/main" noGrp="1"/>
          </p:cNvSpPr>
          <p:nvPr/>
        </p:nvSpPr>
        <p:spPr>
          <a:xfrm xmlns:a="http://schemas.openxmlformats.org/drawingml/2006/main">
            <a:off x="11106150" y="33051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29</a:t>
            </a:r>
          </a:p>
        </p:txBody>
      </p:sp>
      <p:sp>
        <p:nvSpPr>
          <p:cNvPr id="95" name="">
            <a:extLst xmlns:a="http://schemas.openxmlformats.org/drawingml/2006/main">
              <a:ext uri="{FF2B5EF4-FFF2-40B4-BE49-F238E27FC236}">
                <a16:creationId xmlns:a16="http://schemas.microsoft.com/office/drawing/2014/main" id="{2766AAAD-452C-48EB-8794-A7BAEDFFACC7}"/>
              </a:ext>
            </a:extLst>
          </p:cNvPr>
          <p:cNvSpPr>
            <a:spLocks xmlns:a="http://schemas.openxmlformats.org/drawingml/2006/main" noGrp="1"/>
          </p:cNvSpPr>
          <p:nvPr/>
        </p:nvSpPr>
        <p:spPr>
          <a:xfrm xmlns:a="http://schemas.openxmlformats.org/drawingml/2006/main">
            <a:off x="8048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7B8CEB39-6F38-4AD3-A028-399CDD067719}"/>
              </a:ext>
            </a:extLst>
          </p:cNvPr>
          <p:cNvSpPr>
            <a:spLocks xmlns:a="http://schemas.openxmlformats.org/drawingml/2006/main" noGrp="1"/>
          </p:cNvSpPr>
          <p:nvPr/>
        </p:nvSpPr>
        <p:spPr>
          <a:xfrm xmlns:a="http://schemas.openxmlformats.org/drawingml/2006/main">
            <a:off x="8096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4042E176-A233-434E-9282-6871F6FED14F}"/>
              </a:ext>
            </a:extLst>
          </p:cNvPr>
          <p:cNvSpPr>
            <a:spLocks xmlns:a="http://schemas.openxmlformats.org/drawingml/2006/main" noGrp="1"/>
          </p:cNvSpPr>
          <p:nvPr/>
        </p:nvSpPr>
        <p:spPr>
          <a:xfrm xmlns:a="http://schemas.openxmlformats.org/drawingml/2006/main">
            <a:off x="8143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65CA3207-B1C4-4338-9E52-4FCE1A1C9988}"/>
              </a:ext>
            </a:extLst>
          </p:cNvPr>
          <p:cNvSpPr>
            <a:spLocks xmlns:a="http://schemas.openxmlformats.org/drawingml/2006/main" noGrp="1"/>
          </p:cNvSpPr>
          <p:nvPr/>
        </p:nvSpPr>
        <p:spPr>
          <a:xfrm xmlns:a="http://schemas.openxmlformats.org/drawingml/2006/main">
            <a:off x="8191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D5EE059-74A1-4B80-953F-96CC396EDF88}"/>
              </a:ext>
            </a:extLst>
          </p:cNvPr>
          <p:cNvSpPr>
            <a:spLocks xmlns:a="http://schemas.openxmlformats.org/drawingml/2006/main" noGrp="1"/>
          </p:cNvSpPr>
          <p:nvPr/>
        </p:nvSpPr>
        <p:spPr>
          <a:xfrm xmlns:a="http://schemas.openxmlformats.org/drawingml/2006/main">
            <a:off x="8239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22757F8A-474D-4F99-AE14-91DE9E71014B}"/>
              </a:ext>
            </a:extLst>
          </p:cNvPr>
          <p:cNvSpPr>
            <a:spLocks xmlns:a="http://schemas.openxmlformats.org/drawingml/2006/main" noGrp="1"/>
          </p:cNvSpPr>
          <p:nvPr/>
        </p:nvSpPr>
        <p:spPr>
          <a:xfrm xmlns:a="http://schemas.openxmlformats.org/drawingml/2006/main">
            <a:off x="8286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40A68C3C-2CD8-4661-8842-94D68171F58D}"/>
              </a:ext>
            </a:extLst>
          </p:cNvPr>
          <p:cNvSpPr>
            <a:spLocks xmlns:a="http://schemas.openxmlformats.org/drawingml/2006/main" noGrp="1"/>
          </p:cNvSpPr>
          <p:nvPr/>
        </p:nvSpPr>
        <p:spPr>
          <a:xfrm xmlns:a="http://schemas.openxmlformats.org/drawingml/2006/main">
            <a:off x="8334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8473FC68-8D51-488D-B0B5-015362F141D2}"/>
              </a:ext>
            </a:extLst>
          </p:cNvPr>
          <p:cNvSpPr>
            <a:spLocks xmlns:a="http://schemas.openxmlformats.org/drawingml/2006/main" noGrp="1"/>
          </p:cNvSpPr>
          <p:nvPr/>
        </p:nvSpPr>
        <p:spPr>
          <a:xfrm xmlns:a="http://schemas.openxmlformats.org/drawingml/2006/main">
            <a:off x="8382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61D51C72-8DD9-447D-9889-24BA51B0FB15}"/>
              </a:ext>
            </a:extLst>
          </p:cNvPr>
          <p:cNvSpPr>
            <a:spLocks xmlns:a="http://schemas.openxmlformats.org/drawingml/2006/main" noGrp="1"/>
          </p:cNvSpPr>
          <p:nvPr/>
        </p:nvSpPr>
        <p:spPr>
          <a:xfrm xmlns:a="http://schemas.openxmlformats.org/drawingml/2006/main">
            <a:off x="8429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C93378D1-12A1-4AD4-9997-C915E62B5D5B}"/>
              </a:ext>
            </a:extLst>
          </p:cNvPr>
          <p:cNvSpPr>
            <a:spLocks xmlns:a="http://schemas.openxmlformats.org/drawingml/2006/main" noGrp="1"/>
          </p:cNvSpPr>
          <p:nvPr/>
        </p:nvSpPr>
        <p:spPr>
          <a:xfrm xmlns:a="http://schemas.openxmlformats.org/drawingml/2006/main">
            <a:off x="8477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C3AFE393-BA71-465C-92C4-CDF7A628490F}"/>
              </a:ext>
            </a:extLst>
          </p:cNvPr>
          <p:cNvSpPr>
            <a:spLocks xmlns:a="http://schemas.openxmlformats.org/drawingml/2006/main" noGrp="1"/>
          </p:cNvSpPr>
          <p:nvPr/>
        </p:nvSpPr>
        <p:spPr>
          <a:xfrm xmlns:a="http://schemas.openxmlformats.org/drawingml/2006/main">
            <a:off x="8524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0D7FCEED-560D-4F92-9310-0CD57BC6BD4C}"/>
              </a:ext>
            </a:extLst>
          </p:cNvPr>
          <p:cNvSpPr>
            <a:spLocks xmlns:a="http://schemas.openxmlformats.org/drawingml/2006/main" noGrp="1"/>
          </p:cNvSpPr>
          <p:nvPr/>
        </p:nvSpPr>
        <p:spPr>
          <a:xfrm xmlns:a="http://schemas.openxmlformats.org/drawingml/2006/main">
            <a:off x="8572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6C02A401-5748-4354-AE54-C932C0C78EC5}"/>
              </a:ext>
            </a:extLst>
          </p:cNvPr>
          <p:cNvSpPr>
            <a:spLocks xmlns:a="http://schemas.openxmlformats.org/drawingml/2006/main" noGrp="1"/>
          </p:cNvSpPr>
          <p:nvPr/>
        </p:nvSpPr>
        <p:spPr>
          <a:xfrm xmlns:a="http://schemas.openxmlformats.org/drawingml/2006/main">
            <a:off x="8620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AF431A36-9DF1-49EE-ADEC-DDD2F5063556}"/>
              </a:ext>
            </a:extLst>
          </p:cNvPr>
          <p:cNvSpPr>
            <a:spLocks xmlns:a="http://schemas.openxmlformats.org/drawingml/2006/main" noGrp="1"/>
          </p:cNvSpPr>
          <p:nvPr/>
        </p:nvSpPr>
        <p:spPr>
          <a:xfrm xmlns:a="http://schemas.openxmlformats.org/drawingml/2006/main">
            <a:off x="8667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49589128-54B8-49B1-B5D3-4B3E2C8E8467}"/>
              </a:ext>
            </a:extLst>
          </p:cNvPr>
          <p:cNvSpPr>
            <a:spLocks xmlns:a="http://schemas.openxmlformats.org/drawingml/2006/main" noGrp="1"/>
          </p:cNvSpPr>
          <p:nvPr/>
        </p:nvSpPr>
        <p:spPr>
          <a:xfrm xmlns:a="http://schemas.openxmlformats.org/drawingml/2006/main">
            <a:off x="8715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04B8505A-8DEC-400B-9E83-FAFBA9133EE6}"/>
              </a:ext>
            </a:extLst>
          </p:cNvPr>
          <p:cNvSpPr>
            <a:spLocks xmlns:a="http://schemas.openxmlformats.org/drawingml/2006/main" noGrp="1"/>
          </p:cNvSpPr>
          <p:nvPr/>
        </p:nvSpPr>
        <p:spPr>
          <a:xfrm xmlns:a="http://schemas.openxmlformats.org/drawingml/2006/main">
            <a:off x="8763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49B44A59-DD71-4805-85D6-22D74FBF35F8}"/>
              </a:ext>
            </a:extLst>
          </p:cNvPr>
          <p:cNvSpPr>
            <a:spLocks xmlns:a="http://schemas.openxmlformats.org/drawingml/2006/main" noGrp="1"/>
          </p:cNvSpPr>
          <p:nvPr/>
        </p:nvSpPr>
        <p:spPr>
          <a:xfrm xmlns:a="http://schemas.openxmlformats.org/drawingml/2006/main">
            <a:off x="8810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B95B8B20-748C-4A77-8B3C-DF241ED58E1D}"/>
              </a:ext>
            </a:extLst>
          </p:cNvPr>
          <p:cNvSpPr>
            <a:spLocks xmlns:a="http://schemas.openxmlformats.org/drawingml/2006/main" noGrp="1"/>
          </p:cNvSpPr>
          <p:nvPr/>
        </p:nvSpPr>
        <p:spPr>
          <a:xfrm xmlns:a="http://schemas.openxmlformats.org/drawingml/2006/main">
            <a:off x="8858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0BF0F7E7-17F2-404C-B7C0-69BE1FCB1A80}"/>
              </a:ext>
            </a:extLst>
          </p:cNvPr>
          <p:cNvSpPr>
            <a:spLocks xmlns:a="http://schemas.openxmlformats.org/drawingml/2006/main" noGrp="1"/>
          </p:cNvSpPr>
          <p:nvPr/>
        </p:nvSpPr>
        <p:spPr>
          <a:xfrm xmlns:a="http://schemas.openxmlformats.org/drawingml/2006/main">
            <a:off x="8905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940D2C59-8B97-4253-8602-9C2E9F81B917}"/>
              </a:ext>
            </a:extLst>
          </p:cNvPr>
          <p:cNvSpPr>
            <a:spLocks xmlns:a="http://schemas.openxmlformats.org/drawingml/2006/main" noGrp="1"/>
          </p:cNvSpPr>
          <p:nvPr/>
        </p:nvSpPr>
        <p:spPr>
          <a:xfrm xmlns:a="http://schemas.openxmlformats.org/drawingml/2006/main">
            <a:off x="8953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C1F57F2C-45D5-497A-B99B-C09A0AEFD296}"/>
              </a:ext>
            </a:extLst>
          </p:cNvPr>
          <p:cNvSpPr>
            <a:spLocks xmlns:a="http://schemas.openxmlformats.org/drawingml/2006/main" noGrp="1"/>
          </p:cNvSpPr>
          <p:nvPr/>
        </p:nvSpPr>
        <p:spPr>
          <a:xfrm xmlns:a="http://schemas.openxmlformats.org/drawingml/2006/main">
            <a:off x="9001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481133AA-2C9F-4B3F-A2E2-5B7B16438707}"/>
              </a:ext>
            </a:extLst>
          </p:cNvPr>
          <p:cNvSpPr>
            <a:spLocks xmlns:a="http://schemas.openxmlformats.org/drawingml/2006/main" noGrp="1"/>
          </p:cNvSpPr>
          <p:nvPr/>
        </p:nvSpPr>
        <p:spPr>
          <a:xfrm xmlns:a="http://schemas.openxmlformats.org/drawingml/2006/main">
            <a:off x="9048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13DFAECF-A783-4A19-A942-3320215E4B0E}"/>
              </a:ext>
            </a:extLst>
          </p:cNvPr>
          <p:cNvSpPr>
            <a:spLocks xmlns:a="http://schemas.openxmlformats.org/drawingml/2006/main" noGrp="1"/>
          </p:cNvSpPr>
          <p:nvPr/>
        </p:nvSpPr>
        <p:spPr>
          <a:xfrm xmlns:a="http://schemas.openxmlformats.org/drawingml/2006/main">
            <a:off x="9096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4DEB9213-F529-458F-B957-4409A08F00D4}"/>
              </a:ext>
            </a:extLst>
          </p:cNvPr>
          <p:cNvSpPr>
            <a:spLocks xmlns:a="http://schemas.openxmlformats.org/drawingml/2006/main" noGrp="1"/>
          </p:cNvSpPr>
          <p:nvPr/>
        </p:nvSpPr>
        <p:spPr>
          <a:xfrm xmlns:a="http://schemas.openxmlformats.org/drawingml/2006/main">
            <a:off x="9144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19B37778-A7D5-4550-9038-134B4E357DCA}"/>
              </a:ext>
            </a:extLst>
          </p:cNvPr>
          <p:cNvSpPr>
            <a:spLocks xmlns:a="http://schemas.openxmlformats.org/drawingml/2006/main" noGrp="1"/>
          </p:cNvSpPr>
          <p:nvPr/>
        </p:nvSpPr>
        <p:spPr>
          <a:xfrm xmlns:a="http://schemas.openxmlformats.org/drawingml/2006/main">
            <a:off x="9191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264EC326-C93B-416C-A745-176ABE98A90B}"/>
              </a:ext>
            </a:extLst>
          </p:cNvPr>
          <p:cNvSpPr>
            <a:spLocks xmlns:a="http://schemas.openxmlformats.org/drawingml/2006/main" noGrp="1"/>
          </p:cNvSpPr>
          <p:nvPr/>
        </p:nvSpPr>
        <p:spPr>
          <a:xfrm xmlns:a="http://schemas.openxmlformats.org/drawingml/2006/main">
            <a:off x="9239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5B6D95CF-2B54-4AE3-BCE0-E742BA541D7A}"/>
              </a:ext>
            </a:extLst>
          </p:cNvPr>
          <p:cNvSpPr>
            <a:spLocks xmlns:a="http://schemas.openxmlformats.org/drawingml/2006/main" noGrp="1"/>
          </p:cNvSpPr>
          <p:nvPr/>
        </p:nvSpPr>
        <p:spPr>
          <a:xfrm xmlns:a="http://schemas.openxmlformats.org/drawingml/2006/main">
            <a:off x="9286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A06AB18A-7295-42A8-8506-DAA1FF28F9F4}"/>
              </a:ext>
            </a:extLst>
          </p:cNvPr>
          <p:cNvSpPr>
            <a:spLocks xmlns:a="http://schemas.openxmlformats.org/drawingml/2006/main" noGrp="1"/>
          </p:cNvSpPr>
          <p:nvPr/>
        </p:nvSpPr>
        <p:spPr>
          <a:xfrm xmlns:a="http://schemas.openxmlformats.org/drawingml/2006/main">
            <a:off x="9334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974BF250-3955-4D5E-AC47-69058CD3B810}"/>
              </a:ext>
            </a:extLst>
          </p:cNvPr>
          <p:cNvSpPr>
            <a:spLocks xmlns:a="http://schemas.openxmlformats.org/drawingml/2006/main" noGrp="1"/>
          </p:cNvSpPr>
          <p:nvPr/>
        </p:nvSpPr>
        <p:spPr>
          <a:xfrm xmlns:a="http://schemas.openxmlformats.org/drawingml/2006/main">
            <a:off x="9382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3FEB7889-21E6-4F05-9E56-1B7EF628120B}"/>
              </a:ext>
            </a:extLst>
          </p:cNvPr>
          <p:cNvSpPr>
            <a:spLocks xmlns:a="http://schemas.openxmlformats.org/drawingml/2006/main" noGrp="1"/>
          </p:cNvSpPr>
          <p:nvPr/>
        </p:nvSpPr>
        <p:spPr>
          <a:xfrm xmlns:a="http://schemas.openxmlformats.org/drawingml/2006/main">
            <a:off x="7905750" y="3800475"/>
            <a:ext cx="38100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53351BBA-0E89-4A71-9676-E1D99EA5AC4C}"/>
              </a:ext>
            </a:extLst>
          </p:cNvPr>
          <p:cNvSpPr>
            <a:spLocks xmlns:a="http://schemas.openxmlformats.org/drawingml/2006/main" noGrp="1"/>
          </p:cNvSpPr>
          <p:nvPr/>
        </p:nvSpPr>
        <p:spPr>
          <a:xfrm xmlns:a="http://schemas.openxmlformats.org/drawingml/2006/main">
            <a:off x="8048625" y="382905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Baseline 0</a:t>
            </a:r>
          </a:p>
        </p:txBody>
      </p:sp>
      <p:sp>
        <p:nvSpPr>
          <p:cNvPr id="126" name="">
            <a:extLst xmlns:a="http://schemas.openxmlformats.org/drawingml/2006/main">
              <a:ext uri="{FF2B5EF4-FFF2-40B4-BE49-F238E27FC236}">
                <a16:creationId xmlns:a16="http://schemas.microsoft.com/office/drawing/2014/main" id="{77790BEA-B0BE-4FF1-835E-4B3A6A7EF444}"/>
              </a:ext>
            </a:extLst>
          </p:cNvPr>
          <p:cNvSpPr>
            <a:spLocks xmlns:a="http://schemas.openxmlformats.org/drawingml/2006/main" noGrp="1"/>
          </p:cNvSpPr>
          <p:nvPr/>
        </p:nvSpPr>
        <p:spPr>
          <a:xfrm xmlns:a="http://schemas.openxmlformats.org/drawingml/2006/main">
            <a:off x="11106150" y="38290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4</a:t>
            </a:r>
          </a:p>
        </p:txBody>
      </p:sp>
      <p:sp>
        <p:nvSpPr>
          <p:cNvPr id="127" name="">
            <a:extLst xmlns:a="http://schemas.openxmlformats.org/drawingml/2006/main">
              <a:ext uri="{FF2B5EF4-FFF2-40B4-BE49-F238E27FC236}">
                <a16:creationId xmlns:a16="http://schemas.microsoft.com/office/drawing/2014/main" id="{4863EE8E-7DB1-4EA5-BDFB-65771561C180}"/>
              </a:ext>
            </a:extLst>
          </p:cNvPr>
          <p:cNvSpPr>
            <a:spLocks xmlns:a="http://schemas.openxmlformats.org/drawingml/2006/main" noGrp="1"/>
          </p:cNvSpPr>
          <p:nvPr/>
        </p:nvSpPr>
        <p:spPr>
          <a:xfrm xmlns:a="http://schemas.openxmlformats.org/drawingml/2006/main">
            <a:off x="804862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901AD8A7-3D32-4B2A-91B6-D6CDEE43AF1C}"/>
              </a:ext>
            </a:extLst>
          </p:cNvPr>
          <p:cNvSpPr>
            <a:spLocks xmlns:a="http://schemas.openxmlformats.org/drawingml/2006/main" noGrp="1"/>
          </p:cNvSpPr>
          <p:nvPr/>
        </p:nvSpPr>
        <p:spPr>
          <a:xfrm xmlns:a="http://schemas.openxmlformats.org/drawingml/2006/main">
            <a:off x="809625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04F45DE5-5519-41BD-A168-5D94A553878A}"/>
              </a:ext>
            </a:extLst>
          </p:cNvPr>
          <p:cNvSpPr>
            <a:spLocks xmlns:a="http://schemas.openxmlformats.org/drawingml/2006/main" noGrp="1"/>
          </p:cNvSpPr>
          <p:nvPr/>
        </p:nvSpPr>
        <p:spPr>
          <a:xfrm xmlns:a="http://schemas.openxmlformats.org/drawingml/2006/main">
            <a:off x="814387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033A2163-800B-470F-B3A7-4CF7AE541EB4}"/>
              </a:ext>
            </a:extLst>
          </p:cNvPr>
          <p:cNvSpPr>
            <a:spLocks xmlns:a="http://schemas.openxmlformats.org/drawingml/2006/main" noGrp="1"/>
          </p:cNvSpPr>
          <p:nvPr/>
        </p:nvSpPr>
        <p:spPr>
          <a:xfrm xmlns:a="http://schemas.openxmlformats.org/drawingml/2006/main">
            <a:off x="819150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F060A429-B8E1-4F29-97F8-F7F4EEBA701D}"/>
              </a:ext>
            </a:extLst>
          </p:cNvPr>
          <p:cNvSpPr>
            <a:spLocks xmlns:a="http://schemas.openxmlformats.org/drawingml/2006/main" noGrp="1"/>
          </p:cNvSpPr>
          <p:nvPr/>
        </p:nvSpPr>
        <p:spPr>
          <a:xfrm xmlns:a="http://schemas.openxmlformats.org/drawingml/2006/main">
            <a:off x="7905750" y="4324350"/>
            <a:ext cx="38100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41A676E3-BFFA-44C6-98F3-F415039EE315}"/>
              </a:ext>
            </a:extLst>
          </p:cNvPr>
          <p:cNvSpPr>
            <a:spLocks xmlns:a="http://schemas.openxmlformats.org/drawingml/2006/main" noGrp="1"/>
          </p:cNvSpPr>
          <p:nvPr/>
        </p:nvSpPr>
        <p:spPr>
          <a:xfrm xmlns:a="http://schemas.openxmlformats.org/drawingml/2006/main">
            <a:off x="8048625" y="43529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33" name="">
            <a:extLst xmlns:a="http://schemas.openxmlformats.org/drawingml/2006/main">
              <a:ext uri="{FF2B5EF4-FFF2-40B4-BE49-F238E27FC236}">
                <a16:creationId xmlns:a16="http://schemas.microsoft.com/office/drawing/2014/main" id="{36740572-46EA-4830-8F35-0624D207FC6D}"/>
              </a:ext>
            </a:extLst>
          </p:cNvPr>
          <p:cNvSpPr>
            <a:spLocks xmlns:a="http://schemas.openxmlformats.org/drawingml/2006/main" noGrp="1"/>
          </p:cNvSpPr>
          <p:nvPr/>
        </p:nvSpPr>
        <p:spPr>
          <a:xfrm xmlns:a="http://schemas.openxmlformats.org/drawingml/2006/main">
            <a:off x="1110615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10</a:t>
            </a:r>
          </a:p>
        </p:txBody>
      </p:sp>
      <p:sp>
        <p:nvSpPr>
          <p:cNvPr id="134" name="">
            <a:extLst xmlns:a="http://schemas.openxmlformats.org/drawingml/2006/main">
              <a:ext uri="{FF2B5EF4-FFF2-40B4-BE49-F238E27FC236}">
                <a16:creationId xmlns:a16="http://schemas.microsoft.com/office/drawing/2014/main" id="{1CA63E21-59D4-4839-AE87-EFE7B31211A6}"/>
              </a:ext>
            </a:extLst>
          </p:cNvPr>
          <p:cNvSpPr>
            <a:spLocks xmlns:a="http://schemas.openxmlformats.org/drawingml/2006/main" noGrp="1"/>
          </p:cNvSpPr>
          <p:nvPr/>
        </p:nvSpPr>
        <p:spPr>
          <a:xfrm xmlns:a="http://schemas.openxmlformats.org/drawingml/2006/main">
            <a:off x="8048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4A6CA3E1-1325-4140-84FD-6390AFAD938F}"/>
              </a:ext>
            </a:extLst>
          </p:cNvPr>
          <p:cNvSpPr>
            <a:spLocks xmlns:a="http://schemas.openxmlformats.org/drawingml/2006/main" noGrp="1"/>
          </p:cNvSpPr>
          <p:nvPr/>
        </p:nvSpPr>
        <p:spPr>
          <a:xfrm xmlns:a="http://schemas.openxmlformats.org/drawingml/2006/main">
            <a:off x="8096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5B84C182-8145-49EA-B3FC-7B9AD832B277}"/>
              </a:ext>
            </a:extLst>
          </p:cNvPr>
          <p:cNvSpPr>
            <a:spLocks xmlns:a="http://schemas.openxmlformats.org/drawingml/2006/main" noGrp="1"/>
          </p:cNvSpPr>
          <p:nvPr/>
        </p:nvSpPr>
        <p:spPr>
          <a:xfrm xmlns:a="http://schemas.openxmlformats.org/drawingml/2006/main">
            <a:off x="81438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A580AB86-BEB1-4A6D-BD4B-FB0EDFA99EB6}"/>
              </a:ext>
            </a:extLst>
          </p:cNvPr>
          <p:cNvSpPr>
            <a:spLocks xmlns:a="http://schemas.openxmlformats.org/drawingml/2006/main" noGrp="1"/>
          </p:cNvSpPr>
          <p:nvPr/>
        </p:nvSpPr>
        <p:spPr>
          <a:xfrm xmlns:a="http://schemas.openxmlformats.org/drawingml/2006/main">
            <a:off x="81915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739CEFCF-0B0D-4594-815A-A6295E521FCE}"/>
              </a:ext>
            </a:extLst>
          </p:cNvPr>
          <p:cNvSpPr>
            <a:spLocks xmlns:a="http://schemas.openxmlformats.org/drawingml/2006/main" noGrp="1"/>
          </p:cNvSpPr>
          <p:nvPr/>
        </p:nvSpPr>
        <p:spPr>
          <a:xfrm xmlns:a="http://schemas.openxmlformats.org/drawingml/2006/main">
            <a:off x="82391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C6769FA6-A1B9-4F26-AF65-F346EB3B13BA}"/>
              </a:ext>
            </a:extLst>
          </p:cNvPr>
          <p:cNvSpPr>
            <a:spLocks xmlns:a="http://schemas.openxmlformats.org/drawingml/2006/main" noGrp="1"/>
          </p:cNvSpPr>
          <p:nvPr/>
        </p:nvSpPr>
        <p:spPr>
          <a:xfrm xmlns:a="http://schemas.openxmlformats.org/drawingml/2006/main">
            <a:off x="82867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655AE902-1A71-44AF-B990-184315572121}"/>
              </a:ext>
            </a:extLst>
          </p:cNvPr>
          <p:cNvSpPr>
            <a:spLocks xmlns:a="http://schemas.openxmlformats.org/drawingml/2006/main" noGrp="1"/>
          </p:cNvSpPr>
          <p:nvPr/>
        </p:nvSpPr>
        <p:spPr>
          <a:xfrm xmlns:a="http://schemas.openxmlformats.org/drawingml/2006/main">
            <a:off x="83343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93FB8CD3-7C66-4693-95B5-94B2B107F5E1}"/>
              </a:ext>
            </a:extLst>
          </p:cNvPr>
          <p:cNvSpPr>
            <a:spLocks xmlns:a="http://schemas.openxmlformats.org/drawingml/2006/main" noGrp="1"/>
          </p:cNvSpPr>
          <p:nvPr/>
        </p:nvSpPr>
        <p:spPr>
          <a:xfrm xmlns:a="http://schemas.openxmlformats.org/drawingml/2006/main">
            <a:off x="83820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3F451E5D-69DA-4794-A10A-D2C2228641DF}"/>
              </a:ext>
            </a:extLst>
          </p:cNvPr>
          <p:cNvSpPr>
            <a:spLocks xmlns:a="http://schemas.openxmlformats.org/drawingml/2006/main" noGrp="1"/>
          </p:cNvSpPr>
          <p:nvPr/>
        </p:nvSpPr>
        <p:spPr>
          <a:xfrm xmlns:a="http://schemas.openxmlformats.org/drawingml/2006/main">
            <a:off x="8429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4382648D-1263-48E1-A141-9BB3AF3C9A37}"/>
              </a:ext>
            </a:extLst>
          </p:cNvPr>
          <p:cNvSpPr>
            <a:spLocks xmlns:a="http://schemas.openxmlformats.org/drawingml/2006/main" noGrp="1"/>
          </p:cNvSpPr>
          <p:nvPr/>
        </p:nvSpPr>
        <p:spPr>
          <a:xfrm xmlns:a="http://schemas.openxmlformats.org/drawingml/2006/main">
            <a:off x="8477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4" name="">
            <a:extLst xmlns:a="http://schemas.openxmlformats.org/drawingml/2006/main">
              <a:ext uri="{FF2B5EF4-FFF2-40B4-BE49-F238E27FC236}">
                <a16:creationId xmlns:a16="http://schemas.microsoft.com/office/drawing/2014/main" id="{BBB6E14A-C27B-48AF-8EA7-1AD84937FFCF}"/>
              </a:ext>
            </a:extLst>
          </p:cNvPr>
          <p:cNvSpPr>
            <a:spLocks xmlns:a="http://schemas.openxmlformats.org/drawingml/2006/main" noGrp="1"/>
          </p:cNvSpPr>
          <p:nvPr/>
        </p:nvSpPr>
        <p:spPr>
          <a:xfrm xmlns:a="http://schemas.openxmlformats.org/drawingml/2006/main">
            <a:off x="457200" y="54673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24,981</a:t>
            </a:r>
          </a:p>
        </p:txBody>
      </p:sp>
      <p:sp>
        <p:nvSpPr>
          <p:cNvPr id="145" name="">
            <a:extLst xmlns:a="http://schemas.openxmlformats.org/drawingml/2006/main">
              <a:ext uri="{FF2B5EF4-FFF2-40B4-BE49-F238E27FC236}">
                <a16:creationId xmlns:a16="http://schemas.microsoft.com/office/drawing/2014/main" id="{51314790-39D2-4E8E-8D50-C21DED877B35}"/>
              </a:ext>
            </a:extLst>
          </p:cNvPr>
          <p:cNvSpPr>
            <a:spLocks xmlns:a="http://schemas.openxmlformats.org/drawingml/2006/main" noGrp="1"/>
          </p:cNvSpPr>
          <p:nvPr/>
        </p:nvSpPr>
        <p:spPr>
          <a:xfrm xmlns:a="http://schemas.openxmlformats.org/drawingml/2006/main">
            <a:off x="457200" y="6048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transaction count</a:t>
            </a:r>
          </a:p>
        </p:txBody>
      </p:sp>
      <p:sp>
        <p:nvSpPr>
          <p:cNvPr id="146" name="">
            <a:extLst xmlns:a="http://schemas.openxmlformats.org/drawingml/2006/main">
              <a:ext uri="{FF2B5EF4-FFF2-40B4-BE49-F238E27FC236}">
                <a16:creationId xmlns:a16="http://schemas.microsoft.com/office/drawing/2014/main" id="{6CFF190B-37E5-4E38-A788-DD80C4C7C6F2}"/>
              </a:ext>
            </a:extLst>
          </p:cNvPr>
          <p:cNvSpPr>
            <a:spLocks xmlns:a="http://schemas.openxmlformats.org/drawingml/2006/main" noGrp="1"/>
          </p:cNvSpPr>
          <p:nvPr/>
        </p:nvSpPr>
        <p:spPr>
          <a:xfrm xmlns:a="http://schemas.openxmlformats.org/drawingml/2006/main">
            <a:off x="3286125" y="55340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100% availability</a:t>
            </a:r>
          </a:p>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No critical or major incidents</a:t>
            </a:r>
          </a:p>
        </p:txBody>
      </p:sp>
      <p:sp>
        <p:nvSpPr>
          <p:cNvPr id="147" name="">
            <a:extLst xmlns:a="http://schemas.openxmlformats.org/drawingml/2006/main">
              <a:ext uri="{FF2B5EF4-FFF2-40B4-BE49-F238E27FC236}">
                <a16:creationId xmlns:a16="http://schemas.microsoft.com/office/drawing/2014/main" id="{7DD501CF-285F-45D9-91A8-8A19C7DA20B1}"/>
              </a:ext>
            </a:extLst>
          </p:cNvPr>
          <p:cNvSpPr>
            <a:spLocks xmlns:a="http://schemas.openxmlformats.org/drawingml/2006/main" noGrp="1"/>
          </p:cNvSpPr>
          <p:nvPr/>
        </p:nvSpPr>
        <p:spPr>
          <a:xfrm xmlns:a="http://schemas.openxmlformats.org/drawingml/2006/main">
            <a:off x="7905750" y="55245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20841389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28910F-E15A-457D-8782-C7D1D7967A7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0A2501C-03A9-4D2A-A7CA-4431A1C1B74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HFLMS maintained continuity through secondary-server failover</a:t>
            </a:r>
          </a:p>
        </p:txBody>
      </p:sp>
      <p:sp>
        <p:nvSpPr>
          <p:cNvPr id="3" name="">
            <a:extLst xmlns:a="http://schemas.openxmlformats.org/drawingml/2006/main">
              <a:ext uri="{FF2B5EF4-FFF2-40B4-BE49-F238E27FC236}">
                <a16:creationId xmlns:a16="http://schemas.microsoft.com/office/drawing/2014/main" id="{6512EDCB-E57B-4A62-8C80-BA010C12BDBC}"/>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23 completed demands. September volume eased 10.8% from August</a:t>
            </a:r>
          </a:p>
        </p:txBody>
      </p:sp>
      <p:sp>
        <p:nvSpPr>
          <p:cNvPr id="4" name="">
            <a:extLst xmlns:a="http://schemas.openxmlformats.org/drawingml/2006/main">
              <a:ext uri="{FF2B5EF4-FFF2-40B4-BE49-F238E27FC236}">
                <a16:creationId xmlns:a16="http://schemas.microsoft.com/office/drawing/2014/main" id="{6F9E8BBF-B652-4FFF-92D4-597682A2877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38564E4-D4BE-4314-96D5-8A12B2F9688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a:t>
            </a:r>
          </a:p>
        </p:txBody>
      </p:sp>
      <p:graphicFrame>
        <p:nvGraphicFramePr>
          <p:cNvPr id="17" name="Chart"/>
          <p:cNvGraphicFramePr/>
          <p:nvPr/>
        </p:nvGraphicFramePr>
        <p:xfrm>
          <a:off xmlns:a="http://schemas.openxmlformats.org/drawingml/2006/main" x="457200" y="2286000"/>
          <a:ext xmlns:a="http://schemas.openxmlformats.org/drawingml/2006/main" cx="7239000" cy="3048000"/>
        </p:xfrm>
        <a:graphic xmlns:a="http://schemas.openxmlformats.org/drawingml/2006/main">
          <a:graphicData uri="http://schemas.openxmlformats.org/drawingml/2006/chart">
            <c:chart xmlns:r="http://schemas.openxmlformats.org/officeDocument/2006/relationships" xmlns:c="http://schemas.openxmlformats.org/drawingml/2006/chart" r:id="Rde75a2e2aaa04c1e"/>
          </a:graphicData>
        </a:graphic>
      </p:graphicFrame>
      <p:sp>
        <p:nvSpPr>
          <p:cNvPr id="7" name="">
            <a:extLst xmlns:a="http://schemas.openxmlformats.org/drawingml/2006/main">
              <a:ext uri="{FF2B5EF4-FFF2-40B4-BE49-F238E27FC236}">
                <a16:creationId xmlns:a16="http://schemas.microsoft.com/office/drawing/2014/main" id="{797C2CE2-8FB4-4D4E-B83E-69ED0E04458D}"/>
              </a:ext>
            </a:extLst>
          </p:cNvPr>
          <p:cNvSpPr>
            <a:spLocks xmlns:a="http://schemas.openxmlformats.org/drawingml/2006/main" noGrp="1"/>
          </p:cNvSpPr>
          <p:nvPr/>
        </p:nvSpPr>
        <p:spPr>
          <a:xfrm xmlns:a="http://schemas.openxmlformats.org/drawingml/2006/main">
            <a:off x="8096250" y="21907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68"/>
                </a:solidFill>
                <a:latin typeface="DejaVu Sans"/>
                <a:ea typeface="DejaVu Sans"/>
                <a:cs typeface="DejaVu Sans"/>
              </a:defRPr>
            </a:pPr>
            <a:r>
              <a:rPr sz="3600" b="1">
                <a:solidFill>
                  <a:srgbClr val="087F68"/>
                </a:solidFill>
                <a:latin typeface="DejaVu Sans"/>
                <a:ea typeface="DejaVu Sans"/>
                <a:cs typeface="DejaVu Sans"/>
              </a:rPr>
              <a:t>1.24B</a:t>
            </a:r>
          </a:p>
        </p:txBody>
      </p:sp>
      <p:sp>
        <p:nvSpPr>
          <p:cNvPr id="8" name="">
            <a:extLst xmlns:a="http://schemas.openxmlformats.org/drawingml/2006/main">
              <a:ext uri="{FF2B5EF4-FFF2-40B4-BE49-F238E27FC236}">
                <a16:creationId xmlns:a16="http://schemas.microsoft.com/office/drawing/2014/main" id="{59D05209-BB72-40EE-9D58-8DA6AF39EFB8}"/>
              </a:ext>
            </a:extLst>
          </p:cNvPr>
          <p:cNvSpPr>
            <a:spLocks xmlns:a="http://schemas.openxmlformats.org/drawingml/2006/main" noGrp="1"/>
          </p:cNvSpPr>
          <p:nvPr/>
        </p:nvSpPr>
        <p:spPr>
          <a:xfrm xmlns:a="http://schemas.openxmlformats.org/drawingml/2006/main">
            <a:off x="8096250" y="2886075"/>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A4B"/>
                </a:solidFill>
                <a:latin typeface="DejaVu Sans"/>
                <a:ea typeface="DejaVu Sans"/>
                <a:cs typeface="DejaVu Sans"/>
              </a:defRPr>
            </a:pPr>
            <a:r>
              <a:rPr sz="1875" b="0">
                <a:solidFill>
                  <a:srgbClr val="173A4B"/>
                </a:solidFill>
                <a:latin typeface="DejaVu Sans"/>
                <a:ea typeface="DejaVu Sans"/>
                <a:cs typeface="DejaVu Sans"/>
              </a:rPr>
              <a:t>774 transactions</a:t>
            </a:r>
          </a:p>
        </p:txBody>
      </p:sp>
      <p:sp>
        <p:nvSpPr>
          <p:cNvPr id="9" name="">
            <a:extLst xmlns:a="http://schemas.openxmlformats.org/drawingml/2006/main">
              <a:ext uri="{FF2B5EF4-FFF2-40B4-BE49-F238E27FC236}">
                <a16:creationId xmlns:a16="http://schemas.microsoft.com/office/drawing/2014/main" id="{4B26BA0F-6AAE-4C8E-81B4-537E514F9E7E}"/>
              </a:ext>
            </a:extLst>
          </p:cNvPr>
          <p:cNvSpPr>
            <a:spLocks xmlns:a="http://schemas.openxmlformats.org/drawingml/2006/main" noGrp="1"/>
          </p:cNvSpPr>
          <p:nvPr/>
        </p:nvSpPr>
        <p:spPr>
          <a:xfrm xmlns:a="http://schemas.openxmlformats.org/drawingml/2006/main">
            <a:off x="8096250" y="34766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50 demands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23 completed   /   15 in progress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12 backlog   /   0 baseline 0</a:t>
            </a:r>
          </a:p>
        </p:txBody>
      </p:sp>
      <p:sp>
        <p:nvSpPr>
          <p:cNvPr id="10" name="">
            <a:extLst xmlns:a="http://schemas.openxmlformats.org/drawingml/2006/main">
              <a:ext uri="{FF2B5EF4-FFF2-40B4-BE49-F238E27FC236}">
                <a16:creationId xmlns:a16="http://schemas.microsoft.com/office/drawing/2014/main" id="{8FAB536E-3845-44A6-9C28-F3AA0B6A6563}"/>
              </a:ext>
            </a:extLst>
          </p:cNvPr>
          <p:cNvSpPr>
            <a:spLocks xmlns:a="http://schemas.openxmlformats.org/drawingml/2006/main" noGrp="1"/>
          </p:cNvSpPr>
          <p:nvPr/>
        </p:nvSpPr>
        <p:spPr>
          <a:xfrm xmlns:a="http://schemas.openxmlformats.org/drawingml/2006/main">
            <a:off x="457200" y="5581650"/>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 major incident</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12 minutes unplanned downtime</a:t>
            </a:r>
          </a:p>
        </p:txBody>
      </p:sp>
      <p:sp>
        <p:nvSpPr>
          <p:cNvPr id="11" name="">
            <a:extLst xmlns:a="http://schemas.openxmlformats.org/drawingml/2006/main">
              <a:ext uri="{FF2B5EF4-FFF2-40B4-BE49-F238E27FC236}">
                <a16:creationId xmlns:a16="http://schemas.microsoft.com/office/drawing/2014/main" id="{F581AE16-3D3C-43C1-9336-61A6D6CEA7E3}"/>
              </a:ext>
            </a:extLst>
          </p:cNvPr>
          <p:cNvSpPr>
            <a:spLocks xmlns:a="http://schemas.openxmlformats.org/drawingml/2006/main" noGrp="1"/>
          </p:cNvSpPr>
          <p:nvPr/>
        </p:nvSpPr>
        <p:spPr>
          <a:xfrm xmlns:a="http://schemas.openxmlformats.org/drawingml/2006/main">
            <a:off x="8096250" y="54102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2101291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259DD2-2B14-49D0-A8C2-08CD22CB1BE1}"/>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25EA2A5-F238-49F9-8B46-6D205C57201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The delivery pipeline spans releases, controls and integrations</a:t>
            </a:r>
          </a:p>
        </p:txBody>
      </p:sp>
      <p:sp>
        <p:nvSpPr>
          <p:cNvPr id="3" name="">
            <a:extLst xmlns:a="http://schemas.openxmlformats.org/drawingml/2006/main">
              <a:ext uri="{FF2B5EF4-FFF2-40B4-BE49-F238E27FC236}">
                <a16:creationId xmlns:a16="http://schemas.microsoft.com/office/drawing/2014/main" id="{A6534DB0-8399-4F39-B211-329429F4ACD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Selected initiatives reported in September. Pipeline stages guide the next management review</a:t>
            </a:r>
          </a:p>
        </p:txBody>
      </p:sp>
      <p:sp>
        <p:nvSpPr>
          <p:cNvPr id="4" name="">
            <a:extLst xmlns:a="http://schemas.openxmlformats.org/drawingml/2006/main">
              <a:ext uri="{FF2B5EF4-FFF2-40B4-BE49-F238E27FC236}">
                <a16:creationId xmlns:a16="http://schemas.microsoft.com/office/drawing/2014/main" id="{98186C3C-4148-4F5B-8255-CA22BA71CDA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233E78C-86BD-412B-886A-289B09438F7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EBD25097-BD7F-40E8-A9A2-190A8E78CA01}"/>
              </a:ext>
            </a:extLst>
          </p:cNvPr>
          <p:cNvSpPr>
            <a:spLocks xmlns:a="http://schemas.openxmlformats.org/drawingml/2006/main" noGrp="1"/>
          </p:cNvSpPr>
          <p:nvPr/>
        </p:nvSpPr>
        <p:spPr>
          <a:xfrm xmlns:a="http://schemas.openxmlformats.org/drawingml/2006/main">
            <a:off x="457200" y="2181225"/>
            <a:ext cx="3657600" cy="3695700"/>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0C53F8-B7E9-4F81-91B5-507B8E458427}"/>
              </a:ext>
            </a:extLst>
          </p:cNvPr>
          <p:cNvSpPr>
            <a:spLocks xmlns:a="http://schemas.openxmlformats.org/drawingml/2006/main" noGrp="1"/>
          </p:cNvSpPr>
          <p:nvPr/>
        </p:nvSpPr>
        <p:spPr>
          <a:xfrm xmlns:a="http://schemas.openxmlformats.org/drawingml/2006/main">
            <a:off x="61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IB / MB</a:t>
            </a:r>
          </a:p>
        </p:txBody>
      </p:sp>
      <p:sp>
        <p:nvSpPr>
          <p:cNvPr id="8" name="">
            <a:extLst xmlns:a="http://schemas.openxmlformats.org/drawingml/2006/main">
              <a:ext uri="{FF2B5EF4-FFF2-40B4-BE49-F238E27FC236}">
                <a16:creationId xmlns:a16="http://schemas.microsoft.com/office/drawing/2014/main" id="{F29B8251-427A-47E2-8329-D9D35EBE5E47}"/>
              </a:ext>
            </a:extLst>
          </p:cNvPr>
          <p:cNvSpPr>
            <a:spLocks xmlns:a="http://schemas.openxmlformats.org/drawingml/2006/main" noGrp="1"/>
          </p:cNvSpPr>
          <p:nvPr/>
        </p:nvSpPr>
        <p:spPr>
          <a:xfrm xmlns:a="http://schemas.openxmlformats.org/drawingml/2006/main">
            <a:off x="61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LIVE / DELIVERED</a:t>
            </a:r>
          </a:p>
        </p:txBody>
      </p:sp>
      <p:sp>
        <p:nvSpPr>
          <p:cNvPr id="9" name="">
            <a:extLst xmlns:a="http://schemas.openxmlformats.org/drawingml/2006/main">
              <a:ext uri="{FF2B5EF4-FFF2-40B4-BE49-F238E27FC236}">
                <a16:creationId xmlns:a16="http://schemas.microsoft.com/office/drawing/2014/main" id="{9AABFFA1-4701-420F-AD4A-708CC6E31CB5}"/>
              </a:ext>
            </a:extLst>
          </p:cNvPr>
          <p:cNvSpPr>
            <a:spLocks xmlns:a="http://schemas.openxmlformats.org/drawingml/2006/main" noGrp="1"/>
          </p:cNvSpPr>
          <p:nvPr/>
        </p:nvSpPr>
        <p:spPr>
          <a:xfrm xmlns:a="http://schemas.openxmlformats.org/drawingml/2006/main">
            <a:off x="61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Skywards cards removal from MB</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3x3 Drop 4 – Releases 1 &amp;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TAB-52 – Tablet AOF audit requirement</a:t>
            </a:r>
          </a:p>
        </p:txBody>
      </p:sp>
      <p:sp>
        <p:nvSpPr>
          <p:cNvPr id="10" name="">
            <a:extLst xmlns:a="http://schemas.openxmlformats.org/drawingml/2006/main">
              <a:ext uri="{FF2B5EF4-FFF2-40B4-BE49-F238E27FC236}">
                <a16:creationId xmlns:a16="http://schemas.microsoft.com/office/drawing/2014/main" id="{6D5F324D-5959-4324-9805-28C3F52D1571}"/>
              </a:ext>
            </a:extLst>
          </p:cNvPr>
          <p:cNvSpPr>
            <a:spLocks xmlns:a="http://schemas.openxmlformats.org/drawingml/2006/main" noGrp="1"/>
          </p:cNvSpPr>
          <p:nvPr/>
        </p:nvSpPr>
        <p:spPr>
          <a:xfrm xmlns:a="http://schemas.openxmlformats.org/drawingml/2006/main">
            <a:off x="61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IN PROGRESS</a:t>
            </a:r>
          </a:p>
        </p:txBody>
      </p:sp>
      <p:sp>
        <p:nvSpPr>
          <p:cNvPr id="11" name="">
            <a:extLst xmlns:a="http://schemas.openxmlformats.org/drawingml/2006/main">
              <a:ext uri="{FF2B5EF4-FFF2-40B4-BE49-F238E27FC236}">
                <a16:creationId xmlns:a16="http://schemas.microsoft.com/office/drawing/2014/main" id="{3C21068C-7DFC-41A7-9B20-08E09ABFD919}"/>
              </a:ext>
            </a:extLst>
          </p:cNvPr>
          <p:cNvSpPr>
            <a:spLocks xmlns:a="http://schemas.openxmlformats.org/drawingml/2006/main" noGrp="1"/>
          </p:cNvSpPr>
          <p:nvPr/>
        </p:nvSpPr>
        <p:spPr>
          <a:xfrm xmlns:a="http://schemas.openxmlformats.org/drawingml/2006/main">
            <a:off x="61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cost enhancements – SIT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SWIFT GPI – Regression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Input Validations – Development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EFMS Upgrade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Emirati Card – SIT / UAT</a:t>
            </a:r>
          </a:p>
        </p:txBody>
      </p:sp>
      <p:sp>
        <p:nvSpPr>
          <p:cNvPr id="12" name="">
            <a:extLst xmlns:a="http://schemas.openxmlformats.org/drawingml/2006/main">
              <a:ext uri="{FF2B5EF4-FFF2-40B4-BE49-F238E27FC236}">
                <a16:creationId xmlns:a16="http://schemas.microsoft.com/office/drawing/2014/main" id="{649422DE-5003-4D06-AD20-F9B7BE444593}"/>
              </a:ext>
            </a:extLst>
          </p:cNvPr>
          <p:cNvSpPr>
            <a:spLocks xmlns:a="http://schemas.openxmlformats.org/drawingml/2006/main" noGrp="1"/>
          </p:cNvSpPr>
          <p:nvPr/>
        </p:nvSpPr>
        <p:spPr>
          <a:xfrm xmlns:a="http://schemas.openxmlformats.org/drawingml/2006/main">
            <a:off x="4267200" y="2181225"/>
            <a:ext cx="3657600" cy="3695700"/>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D8CD7A-D9EF-4D25-814D-74C1D7B88B4D}"/>
              </a:ext>
            </a:extLst>
          </p:cNvPr>
          <p:cNvSpPr>
            <a:spLocks xmlns:a="http://schemas.openxmlformats.org/drawingml/2006/main" noGrp="1"/>
          </p:cNvSpPr>
          <p:nvPr/>
        </p:nvSpPr>
        <p:spPr>
          <a:xfrm xmlns:a="http://schemas.openxmlformats.org/drawingml/2006/main">
            <a:off x="442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FinnOne</a:t>
            </a:r>
          </a:p>
        </p:txBody>
      </p:sp>
      <p:sp>
        <p:nvSpPr>
          <p:cNvPr id="14" name="">
            <a:extLst xmlns:a="http://schemas.openxmlformats.org/drawingml/2006/main">
              <a:ext uri="{FF2B5EF4-FFF2-40B4-BE49-F238E27FC236}">
                <a16:creationId xmlns:a16="http://schemas.microsoft.com/office/drawing/2014/main" id="{D2928A5F-8451-40FB-80B4-2845C87079BA}"/>
              </a:ext>
            </a:extLst>
          </p:cNvPr>
          <p:cNvSpPr>
            <a:spLocks xmlns:a="http://schemas.openxmlformats.org/drawingml/2006/main" noGrp="1"/>
          </p:cNvSpPr>
          <p:nvPr/>
        </p:nvSpPr>
        <p:spPr>
          <a:xfrm xmlns:a="http://schemas.openxmlformats.org/drawingml/2006/main">
            <a:off x="442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LIVE / DELIVERED</a:t>
            </a:r>
          </a:p>
        </p:txBody>
      </p:sp>
      <p:sp>
        <p:nvSpPr>
          <p:cNvPr id="15" name="">
            <a:extLst xmlns:a="http://schemas.openxmlformats.org/drawingml/2006/main">
              <a:ext uri="{FF2B5EF4-FFF2-40B4-BE49-F238E27FC236}">
                <a16:creationId xmlns:a16="http://schemas.microsoft.com/office/drawing/2014/main" id="{4CE43C58-9843-4D21-AA93-8117B196B193}"/>
              </a:ext>
            </a:extLst>
          </p:cNvPr>
          <p:cNvSpPr>
            <a:spLocks xmlns:a="http://schemas.openxmlformats.org/drawingml/2006/main" noGrp="1"/>
          </p:cNvSpPr>
          <p:nvPr/>
        </p:nvSpPr>
        <p:spPr>
          <a:xfrm xmlns:a="http://schemas.openxmlformats.org/drawingml/2006/main">
            <a:off x="442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LL / LG flag field amendment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Multiple Rate Changes service request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Supplementary Card mobile number / email capture</a:t>
            </a:r>
          </a:p>
        </p:txBody>
      </p:sp>
      <p:sp>
        <p:nvSpPr>
          <p:cNvPr id="16" name="">
            <a:extLst xmlns:a="http://schemas.openxmlformats.org/drawingml/2006/main">
              <a:ext uri="{FF2B5EF4-FFF2-40B4-BE49-F238E27FC236}">
                <a16:creationId xmlns:a16="http://schemas.microsoft.com/office/drawing/2014/main" id="{81B5C8D6-9C87-4F6B-AE69-CF0B1A847EA2}"/>
              </a:ext>
            </a:extLst>
          </p:cNvPr>
          <p:cNvSpPr>
            <a:spLocks xmlns:a="http://schemas.openxmlformats.org/drawingml/2006/main" noGrp="1"/>
          </p:cNvSpPr>
          <p:nvPr/>
        </p:nvSpPr>
        <p:spPr>
          <a:xfrm xmlns:a="http://schemas.openxmlformats.org/drawingml/2006/main">
            <a:off x="442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IN PROGRESS</a:t>
            </a:r>
          </a:p>
        </p:txBody>
      </p:sp>
      <p:sp>
        <p:nvSpPr>
          <p:cNvPr id="17" name="">
            <a:extLst xmlns:a="http://schemas.openxmlformats.org/drawingml/2006/main">
              <a:ext uri="{FF2B5EF4-FFF2-40B4-BE49-F238E27FC236}">
                <a16:creationId xmlns:a16="http://schemas.microsoft.com/office/drawing/2014/main" id="{14B3749F-6A4B-46AA-86A2-E5E6756448D2}"/>
              </a:ext>
            </a:extLst>
          </p:cNvPr>
          <p:cNvSpPr>
            <a:spLocks xmlns:a="http://schemas.openxmlformats.org/drawingml/2006/main" noGrp="1"/>
          </p:cNvSpPr>
          <p:nvPr/>
        </p:nvSpPr>
        <p:spPr>
          <a:xfrm xmlns:a="http://schemas.openxmlformats.org/drawingml/2006/main">
            <a:off x="442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RTA Integration – Design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PDC Remittance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for PDC – Design</a:t>
            </a:r>
          </a:p>
        </p:txBody>
      </p:sp>
      <p:sp>
        <p:nvSpPr>
          <p:cNvPr id="18" name="">
            <a:extLst xmlns:a="http://schemas.openxmlformats.org/drawingml/2006/main">
              <a:ext uri="{FF2B5EF4-FFF2-40B4-BE49-F238E27FC236}">
                <a16:creationId xmlns:a16="http://schemas.microsoft.com/office/drawing/2014/main" id="{EEC6896A-4486-4B3E-8ADC-81D8A4776BFA}"/>
              </a:ext>
            </a:extLst>
          </p:cNvPr>
          <p:cNvSpPr>
            <a:spLocks xmlns:a="http://schemas.openxmlformats.org/drawingml/2006/main" noGrp="1"/>
          </p:cNvSpPr>
          <p:nvPr/>
        </p:nvSpPr>
        <p:spPr>
          <a:xfrm xmlns:a="http://schemas.openxmlformats.org/drawingml/2006/main">
            <a:off x="8077200" y="2181225"/>
            <a:ext cx="3657600" cy="3695700"/>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91C668E-87F6-4A8A-8CE5-ED7B7DEC5F57}"/>
              </a:ext>
            </a:extLst>
          </p:cNvPr>
          <p:cNvSpPr>
            <a:spLocks xmlns:a="http://schemas.openxmlformats.org/drawingml/2006/main" noGrp="1"/>
          </p:cNvSpPr>
          <p:nvPr/>
        </p:nvSpPr>
        <p:spPr>
          <a:xfrm xmlns:a="http://schemas.openxmlformats.org/drawingml/2006/main">
            <a:off x="823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HFLMS</a:t>
            </a:r>
          </a:p>
        </p:txBody>
      </p:sp>
      <p:sp>
        <p:nvSpPr>
          <p:cNvPr id="20" name="">
            <a:extLst xmlns:a="http://schemas.openxmlformats.org/drawingml/2006/main">
              <a:ext uri="{FF2B5EF4-FFF2-40B4-BE49-F238E27FC236}">
                <a16:creationId xmlns:a16="http://schemas.microsoft.com/office/drawing/2014/main" id="{FD0820E9-2049-464C-907C-3E69533460AC}"/>
              </a:ext>
            </a:extLst>
          </p:cNvPr>
          <p:cNvSpPr>
            <a:spLocks xmlns:a="http://schemas.openxmlformats.org/drawingml/2006/main" noGrp="1"/>
          </p:cNvSpPr>
          <p:nvPr/>
        </p:nvSpPr>
        <p:spPr>
          <a:xfrm xmlns:a="http://schemas.openxmlformats.org/drawingml/2006/main">
            <a:off x="823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LIVE / DELIVERED</a:t>
            </a:r>
          </a:p>
        </p:txBody>
      </p:sp>
      <p:sp>
        <p:nvSpPr>
          <p:cNvPr id="21" name="">
            <a:extLst xmlns:a="http://schemas.openxmlformats.org/drawingml/2006/main">
              <a:ext uri="{FF2B5EF4-FFF2-40B4-BE49-F238E27FC236}">
                <a16:creationId xmlns:a16="http://schemas.microsoft.com/office/drawing/2014/main" id="{CEDD4EB5-F38A-4A6E-944E-11BD06F9E177}"/>
              </a:ext>
            </a:extLst>
          </p:cNvPr>
          <p:cNvSpPr>
            <a:spLocks xmlns:a="http://schemas.openxmlformats.org/drawingml/2006/main" noGrp="1"/>
          </p:cNvSpPr>
          <p:nvPr/>
        </p:nvSpPr>
        <p:spPr>
          <a:xfrm xmlns:a="http://schemas.openxmlformats.org/drawingml/2006/main">
            <a:off x="823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 named live initiatives supplied</a:t>
            </a:r>
          </a:p>
        </p:txBody>
      </p:sp>
      <p:sp>
        <p:nvSpPr>
          <p:cNvPr id="22" name="">
            <a:extLst xmlns:a="http://schemas.openxmlformats.org/drawingml/2006/main">
              <a:ext uri="{FF2B5EF4-FFF2-40B4-BE49-F238E27FC236}">
                <a16:creationId xmlns:a16="http://schemas.microsoft.com/office/drawing/2014/main" id="{5C55240B-75E7-4975-92C3-537BAD51A2F4}"/>
              </a:ext>
            </a:extLst>
          </p:cNvPr>
          <p:cNvSpPr>
            <a:spLocks xmlns:a="http://schemas.openxmlformats.org/drawingml/2006/main" noGrp="1"/>
          </p:cNvSpPr>
          <p:nvPr/>
        </p:nvSpPr>
        <p:spPr>
          <a:xfrm xmlns:a="http://schemas.openxmlformats.org/drawingml/2006/main">
            <a:off x="823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IN PROGRESS</a:t>
            </a:r>
          </a:p>
        </p:txBody>
      </p:sp>
      <p:sp>
        <p:nvSpPr>
          <p:cNvPr id="23" name="">
            <a:extLst xmlns:a="http://schemas.openxmlformats.org/drawingml/2006/main">
              <a:ext uri="{FF2B5EF4-FFF2-40B4-BE49-F238E27FC236}">
                <a16:creationId xmlns:a16="http://schemas.microsoft.com/office/drawing/2014/main" id="{2F2B2809-3F50-4A7C-AEB3-62DB58CAEE68}"/>
              </a:ext>
            </a:extLst>
          </p:cNvPr>
          <p:cNvSpPr>
            <a:spLocks xmlns:a="http://schemas.openxmlformats.org/drawingml/2006/main" noGrp="1"/>
          </p:cNvSpPr>
          <p:nvPr/>
        </p:nvSpPr>
        <p:spPr>
          <a:xfrm xmlns:a="http://schemas.openxmlformats.org/drawingml/2006/main">
            <a:off x="823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HF48 Forward Ijara Freehold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Dedup logic controls in customer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Duplicate CIF: linkage of closed customer*</a:t>
            </a:r>
          </a:p>
        </p:txBody>
      </p:sp>
      <p:sp>
        <p:nvSpPr>
          <p:cNvPr id="24" name="">
            <a:extLst xmlns:a="http://schemas.openxmlformats.org/drawingml/2006/main">
              <a:ext uri="{FF2B5EF4-FFF2-40B4-BE49-F238E27FC236}">
                <a16:creationId xmlns:a16="http://schemas.microsoft.com/office/drawing/2014/main" id="{9C164D15-E71C-4C0B-9E54-1623197CD5CC}"/>
              </a:ext>
            </a:extLst>
          </p:cNvPr>
          <p:cNvSpPr>
            <a:spLocks xmlns:a="http://schemas.openxmlformats.org/drawingml/2006/main" noGrp="1"/>
          </p:cNvSpPr>
          <p:nvPr/>
        </p:nvSpPr>
        <p:spPr>
          <a:xfrm xmlns:a="http://schemas.openxmlformats.org/drawingml/2006/main">
            <a:off x="457200" y="6105525"/>
            <a:ext cx="11277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 HFLMS + Core Banking. Source gives no stage for these initiatives. Names and abbreviations retain the source terminology.</a:t>
            </a:r>
          </a:p>
        </p:txBody>
      </p:sp>
    </p:spTree>
    <p:extLst>
      <p:ext uri="{BB962C8B-B14F-4D97-AF65-F5344CB8AC3E}">
        <p14:creationId xmlns:p14="http://schemas.microsoft.com/office/powerpoint/2010/main" val="978634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29470BC-459F-4FAD-A285-F6F51980BB4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8F13341-16F6-4F86-8879-6A28244E128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Management priorities: capacity and recovery readiness</a:t>
            </a:r>
          </a:p>
        </p:txBody>
      </p:sp>
      <p:sp>
        <p:nvSpPr>
          <p:cNvPr id="3" name="">
            <a:extLst xmlns:a="http://schemas.openxmlformats.org/drawingml/2006/main">
              <a:ext uri="{FF2B5EF4-FFF2-40B4-BE49-F238E27FC236}">
                <a16:creationId xmlns:a16="http://schemas.microsoft.com/office/drawing/2014/main" id="{FF07690E-C74C-44EB-BC09-88E8EDF5E98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Recommended management actions based on September reporting</a:t>
            </a:r>
          </a:p>
        </p:txBody>
      </p:sp>
      <p:sp>
        <p:nvSpPr>
          <p:cNvPr id="4" name="">
            <a:extLst xmlns:a="http://schemas.openxmlformats.org/drawingml/2006/main">
              <a:ext uri="{FF2B5EF4-FFF2-40B4-BE49-F238E27FC236}">
                <a16:creationId xmlns:a16="http://schemas.microsoft.com/office/drawing/2014/main" id="{D33D32A3-A9BB-4712-8C8F-A8B403C0092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470971D-EB72-4A38-A25E-07B26EC16D6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824FBB19-1D2A-493D-A010-349AA561E185}"/>
              </a:ext>
            </a:extLst>
          </p:cNvPr>
          <p:cNvSpPr>
            <a:spLocks xmlns:a="http://schemas.openxmlformats.org/drawingml/2006/main" noGrp="1"/>
          </p:cNvSpPr>
          <p:nvPr/>
        </p:nvSpPr>
        <p:spPr>
          <a:xfrm xmlns:a="http://schemas.openxmlformats.org/drawingml/2006/main">
            <a:off x="457200" y="2190750"/>
            <a:ext cx="5543550" cy="1219200"/>
          </a:xfrm>
          <a:prstGeom xmlns:a="http://schemas.openxmlformats.org/drawingml/2006/main" prst="roundRect">
            <a:avLst>
              <a:gd name="adj" fmla="val 937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B1097D-54C4-422E-83C4-B007AB98D06A}"/>
              </a:ext>
            </a:extLst>
          </p:cNvPr>
          <p:cNvSpPr>
            <a:spLocks xmlns:a="http://schemas.openxmlformats.org/drawingml/2006/main" noGrp="1"/>
          </p:cNvSpPr>
          <p:nvPr/>
        </p:nvSpPr>
        <p:spPr>
          <a:xfrm xmlns:a="http://schemas.openxmlformats.org/drawingml/2006/main">
            <a:off x="60007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7C1EF623-AB92-4BDB-BBC1-B765E8DC5FF6}"/>
              </a:ext>
            </a:extLst>
          </p:cNvPr>
          <p:cNvSpPr>
            <a:spLocks xmlns:a="http://schemas.openxmlformats.org/drawingml/2006/main" noGrp="1"/>
          </p:cNvSpPr>
          <p:nvPr/>
        </p:nvSpPr>
        <p:spPr>
          <a:xfrm xmlns:a="http://schemas.openxmlformats.org/drawingml/2006/main">
            <a:off x="118110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MB reliability</a:t>
            </a:r>
          </a:p>
        </p:txBody>
      </p:sp>
      <p:sp>
        <p:nvSpPr>
          <p:cNvPr id="9" name="">
            <a:extLst xmlns:a="http://schemas.openxmlformats.org/drawingml/2006/main">
              <a:ext uri="{FF2B5EF4-FFF2-40B4-BE49-F238E27FC236}">
                <a16:creationId xmlns:a16="http://schemas.microsoft.com/office/drawing/2014/main" id="{C649DAF6-CB2A-46AC-9816-4F6E1C824386}"/>
              </a:ext>
            </a:extLst>
          </p:cNvPr>
          <p:cNvSpPr>
            <a:spLocks xmlns:a="http://schemas.openxmlformats.org/drawingml/2006/main" noGrp="1"/>
          </p:cNvSpPr>
          <p:nvPr/>
        </p:nvSpPr>
        <p:spPr>
          <a:xfrm xmlns:a="http://schemas.openxmlformats.org/drawingml/2006/main">
            <a:off x="60007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the DDoS threshold event and mitigation controls</a:t>
            </a:r>
          </a:p>
        </p:txBody>
      </p:sp>
      <p:sp>
        <p:nvSpPr>
          <p:cNvPr id="10" name="">
            <a:extLst xmlns:a="http://schemas.openxmlformats.org/drawingml/2006/main">
              <a:ext uri="{FF2B5EF4-FFF2-40B4-BE49-F238E27FC236}">
                <a16:creationId xmlns:a16="http://schemas.microsoft.com/office/drawing/2014/main" id="{AD023E37-F860-42D3-8778-B1BA8E3236AC}"/>
              </a:ext>
            </a:extLst>
          </p:cNvPr>
          <p:cNvSpPr>
            <a:spLocks xmlns:a="http://schemas.openxmlformats.org/drawingml/2006/main" noGrp="1"/>
          </p:cNvSpPr>
          <p:nvPr/>
        </p:nvSpPr>
        <p:spPr>
          <a:xfrm xmlns:a="http://schemas.openxmlformats.org/drawingml/2006/main">
            <a:off x="6191250" y="2190750"/>
            <a:ext cx="5543550" cy="1219200"/>
          </a:xfrm>
          <a:prstGeom xmlns:a="http://schemas.openxmlformats.org/drawingml/2006/main" prst="roundRect">
            <a:avLst>
              <a:gd name="adj" fmla="val 9375"/>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F26D88-CEC3-4386-9AAE-DE1680F1FE87}"/>
              </a:ext>
            </a:extLst>
          </p:cNvPr>
          <p:cNvSpPr>
            <a:spLocks xmlns:a="http://schemas.openxmlformats.org/drawingml/2006/main" noGrp="1"/>
          </p:cNvSpPr>
          <p:nvPr/>
        </p:nvSpPr>
        <p:spPr>
          <a:xfrm xmlns:a="http://schemas.openxmlformats.org/drawingml/2006/main">
            <a:off x="633412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8C2"/>
                </a:solidFill>
                <a:latin typeface="DejaVu Sans"/>
                <a:ea typeface="DejaVu Sans"/>
                <a:cs typeface="DejaVu Sans"/>
              </a:defRPr>
            </a:pPr>
            <a:r>
              <a:rPr sz="19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F08A2CB9-431F-414D-86F7-44D3B1BCC769}"/>
              </a:ext>
            </a:extLst>
          </p:cNvPr>
          <p:cNvSpPr>
            <a:spLocks xmlns:a="http://schemas.openxmlformats.org/drawingml/2006/main" noGrp="1"/>
          </p:cNvSpPr>
          <p:nvPr/>
        </p:nvSpPr>
        <p:spPr>
          <a:xfrm xmlns:a="http://schemas.openxmlformats.org/drawingml/2006/main">
            <a:off x="691515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Backlog capacity</a:t>
            </a:r>
          </a:p>
        </p:txBody>
      </p:sp>
      <p:sp>
        <p:nvSpPr>
          <p:cNvPr id="13" name="">
            <a:extLst xmlns:a="http://schemas.openxmlformats.org/drawingml/2006/main">
              <a:ext uri="{FF2B5EF4-FFF2-40B4-BE49-F238E27FC236}">
                <a16:creationId xmlns:a16="http://schemas.microsoft.com/office/drawing/2014/main" id="{B85C4552-C441-487F-87EF-030BFF141305}"/>
              </a:ext>
            </a:extLst>
          </p:cNvPr>
          <p:cNvSpPr>
            <a:spLocks xmlns:a="http://schemas.openxmlformats.org/drawingml/2006/main" noGrp="1"/>
          </p:cNvSpPr>
          <p:nvPr/>
        </p:nvSpPr>
        <p:spPr>
          <a:xfrm xmlns:a="http://schemas.openxmlformats.org/drawingml/2006/main">
            <a:off x="633412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Prioritize 68 backlog items across the three portfolios</a:t>
            </a:r>
          </a:p>
        </p:txBody>
      </p:sp>
      <p:sp>
        <p:nvSpPr>
          <p:cNvPr id="14" name="">
            <a:extLst xmlns:a="http://schemas.openxmlformats.org/drawingml/2006/main">
              <a:ext uri="{FF2B5EF4-FFF2-40B4-BE49-F238E27FC236}">
                <a16:creationId xmlns:a16="http://schemas.microsoft.com/office/drawing/2014/main" id="{FE92CD7C-FF3E-403A-902C-A9525C73BB1F}"/>
              </a:ext>
            </a:extLst>
          </p:cNvPr>
          <p:cNvSpPr>
            <a:spLocks xmlns:a="http://schemas.openxmlformats.org/drawingml/2006/main" noGrp="1"/>
          </p:cNvSpPr>
          <p:nvPr/>
        </p:nvSpPr>
        <p:spPr>
          <a:xfrm xmlns:a="http://schemas.openxmlformats.org/drawingml/2006/main">
            <a:off x="457200" y="3552825"/>
            <a:ext cx="5543550" cy="1219200"/>
          </a:xfrm>
          <a:prstGeom xmlns:a="http://schemas.openxmlformats.org/drawingml/2006/main" prst="roundRect">
            <a:avLst>
              <a:gd name="adj" fmla="val 9375"/>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7254DE-70D4-4323-9E13-B01B6350B26C}"/>
              </a:ext>
            </a:extLst>
          </p:cNvPr>
          <p:cNvSpPr>
            <a:spLocks xmlns:a="http://schemas.openxmlformats.org/drawingml/2006/main" noGrp="1"/>
          </p:cNvSpPr>
          <p:nvPr/>
        </p:nvSpPr>
        <p:spPr>
          <a:xfrm xmlns:a="http://schemas.openxmlformats.org/drawingml/2006/main">
            <a:off x="60007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75BC5"/>
                </a:solidFill>
                <a:latin typeface="DejaVu Sans"/>
                <a:ea typeface="DejaVu Sans"/>
                <a:cs typeface="DejaVu Sans"/>
              </a:defRPr>
            </a:pPr>
            <a:r>
              <a:rPr sz="19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F457D1DD-3F26-4869-AB7C-777E1986763D}"/>
              </a:ext>
            </a:extLst>
          </p:cNvPr>
          <p:cNvSpPr>
            <a:spLocks xmlns:a="http://schemas.openxmlformats.org/drawingml/2006/main" noGrp="1"/>
          </p:cNvSpPr>
          <p:nvPr/>
        </p:nvSpPr>
        <p:spPr>
          <a:xfrm xmlns:a="http://schemas.openxmlformats.org/drawingml/2006/main">
            <a:off x="118110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Recovery exposure</a:t>
            </a:r>
          </a:p>
        </p:txBody>
      </p:sp>
      <p:sp>
        <p:nvSpPr>
          <p:cNvPr id="17" name="">
            <a:extLst xmlns:a="http://schemas.openxmlformats.org/drawingml/2006/main">
              <a:ext uri="{FF2B5EF4-FFF2-40B4-BE49-F238E27FC236}">
                <a16:creationId xmlns:a16="http://schemas.microsoft.com/office/drawing/2014/main" id="{B0B4BA22-81B1-40F3-B85C-1A795753E5D9}"/>
              </a:ext>
            </a:extLst>
          </p:cNvPr>
          <p:cNvSpPr>
            <a:spLocks xmlns:a="http://schemas.openxmlformats.org/drawingml/2006/main" noGrp="1"/>
          </p:cNvSpPr>
          <p:nvPr/>
        </p:nvSpPr>
        <p:spPr>
          <a:xfrm xmlns:a="http://schemas.openxmlformats.org/drawingml/2006/main">
            <a:off x="60007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Agree interim recovery controls for FinnOne and HFLMS</a:t>
            </a:r>
          </a:p>
        </p:txBody>
      </p:sp>
      <p:sp>
        <p:nvSpPr>
          <p:cNvPr id="18" name="">
            <a:extLst xmlns:a="http://schemas.openxmlformats.org/drawingml/2006/main">
              <a:ext uri="{FF2B5EF4-FFF2-40B4-BE49-F238E27FC236}">
                <a16:creationId xmlns:a16="http://schemas.microsoft.com/office/drawing/2014/main" id="{4C225BD0-CD2B-46FD-840E-BDDC46C6A972}"/>
              </a:ext>
            </a:extLst>
          </p:cNvPr>
          <p:cNvSpPr>
            <a:spLocks xmlns:a="http://schemas.openxmlformats.org/drawingml/2006/main" noGrp="1"/>
          </p:cNvSpPr>
          <p:nvPr/>
        </p:nvSpPr>
        <p:spPr>
          <a:xfrm xmlns:a="http://schemas.openxmlformats.org/drawingml/2006/main">
            <a:off x="6191250" y="3552825"/>
            <a:ext cx="5543550" cy="1219200"/>
          </a:xfrm>
          <a:prstGeom xmlns:a="http://schemas.openxmlformats.org/drawingml/2006/main" prst="roundRect">
            <a:avLst>
              <a:gd name="adj" fmla="val 937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FE1DCD-4FE6-4271-B124-4B0ECE9E1247}"/>
              </a:ext>
            </a:extLst>
          </p:cNvPr>
          <p:cNvSpPr>
            <a:spLocks xmlns:a="http://schemas.openxmlformats.org/drawingml/2006/main" noGrp="1"/>
          </p:cNvSpPr>
          <p:nvPr/>
        </p:nvSpPr>
        <p:spPr>
          <a:xfrm xmlns:a="http://schemas.openxmlformats.org/drawingml/2006/main">
            <a:off x="633412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C7D16"/>
                </a:solidFill>
                <a:latin typeface="DejaVu Sans"/>
                <a:ea typeface="DejaVu Sans"/>
                <a:cs typeface="DejaVu Sans"/>
              </a:defRPr>
            </a:pPr>
            <a:r>
              <a:rPr sz="19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D08CF958-BEA7-4C0A-B9B9-7B1B75B472C4}"/>
              </a:ext>
            </a:extLst>
          </p:cNvPr>
          <p:cNvSpPr>
            <a:spLocks xmlns:a="http://schemas.openxmlformats.org/drawingml/2006/main" noGrp="1"/>
          </p:cNvSpPr>
          <p:nvPr/>
        </p:nvSpPr>
        <p:spPr>
          <a:xfrm xmlns:a="http://schemas.openxmlformats.org/drawingml/2006/main">
            <a:off x="691515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Delivery progression</a:t>
            </a:r>
          </a:p>
        </p:txBody>
      </p:sp>
      <p:sp>
        <p:nvSpPr>
          <p:cNvPr id="21" name="">
            <a:extLst xmlns:a="http://schemas.openxmlformats.org/drawingml/2006/main">
              <a:ext uri="{FF2B5EF4-FFF2-40B4-BE49-F238E27FC236}">
                <a16:creationId xmlns:a16="http://schemas.microsoft.com/office/drawing/2014/main" id="{3C1E2107-8267-45D9-B464-712723F5D031}"/>
              </a:ext>
            </a:extLst>
          </p:cNvPr>
          <p:cNvSpPr>
            <a:spLocks xmlns:a="http://schemas.openxmlformats.org/drawingml/2006/main" noGrp="1"/>
          </p:cNvSpPr>
          <p:nvPr/>
        </p:nvSpPr>
        <p:spPr>
          <a:xfrm xmlns:a="http://schemas.openxmlformats.org/drawingml/2006/main">
            <a:off x="633412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readiness of SIT, UAT and regression items</a:t>
            </a:r>
          </a:p>
        </p:txBody>
      </p:sp>
      <p:sp>
        <p:nvSpPr>
          <p:cNvPr id="22" name="">
            <a:extLst xmlns:a="http://schemas.openxmlformats.org/drawingml/2006/main">
              <a:ext uri="{FF2B5EF4-FFF2-40B4-BE49-F238E27FC236}">
                <a16:creationId xmlns:a16="http://schemas.microsoft.com/office/drawing/2014/main" id="{0E759385-3161-4284-88D4-DE9FAB888403}"/>
              </a:ext>
            </a:extLst>
          </p:cNvPr>
          <p:cNvSpPr>
            <a:spLocks xmlns:a="http://schemas.openxmlformats.org/drawingml/2006/main" noGrp="1"/>
          </p:cNvSpPr>
          <p:nvPr/>
        </p:nvSpPr>
        <p:spPr>
          <a:xfrm xmlns:a="http://schemas.openxmlformats.org/drawingml/2006/main">
            <a:off x="457200" y="48577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Infrastructure has reported headroom</a:t>
            </a:r>
          </a:p>
        </p:txBody>
      </p:sp>
      <p:sp>
        <p:nvSpPr>
          <p:cNvPr id="23" name="">
            <a:extLst xmlns:a="http://schemas.openxmlformats.org/drawingml/2006/main">
              <a:ext uri="{FF2B5EF4-FFF2-40B4-BE49-F238E27FC236}">
                <a16:creationId xmlns:a16="http://schemas.microsoft.com/office/drawing/2014/main" id="{BE303E7C-110D-4822-9D68-FFB64A5C2F70}"/>
              </a:ext>
            </a:extLst>
          </p:cNvPr>
          <p:cNvSpPr>
            <a:spLocks xmlns:a="http://schemas.openxmlformats.org/drawingml/2006/main" noGrp="1"/>
          </p:cNvSpPr>
          <p:nvPr/>
        </p:nvSpPr>
        <p:spPr>
          <a:xfrm xmlns:a="http://schemas.openxmlformats.org/drawingml/2006/main">
            <a:off x="457200" y="5238750"/>
            <a:ext cx="3657600" cy="990600"/>
          </a:xfrm>
          <a:prstGeom xmlns:a="http://schemas.openxmlformats.org/drawingml/2006/main" prst="roundRect">
            <a:avLst>
              <a:gd name="adj" fmla="val 11538"/>
            </a:avLst>
          </a:prstGeom>
          <a:solidFill xmlns:a="http://schemas.openxmlformats.org/drawingml/2006/main">
            <a:srgbClr val="E6F6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F2CFD69-480F-4F17-A400-FB0EFAC49DB7}"/>
              </a:ext>
            </a:extLst>
          </p:cNvPr>
          <p:cNvSpPr>
            <a:spLocks xmlns:a="http://schemas.openxmlformats.org/drawingml/2006/main" noGrp="1"/>
          </p:cNvSpPr>
          <p:nvPr/>
        </p:nvSpPr>
        <p:spPr>
          <a:xfrm xmlns:a="http://schemas.openxmlformats.org/drawingml/2006/main">
            <a:off x="57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MB / IB</a:t>
            </a:r>
          </a:p>
        </p:txBody>
      </p:sp>
      <p:sp>
        <p:nvSpPr>
          <p:cNvPr id="25" name="">
            <a:extLst xmlns:a="http://schemas.openxmlformats.org/drawingml/2006/main">
              <a:ext uri="{FF2B5EF4-FFF2-40B4-BE49-F238E27FC236}">
                <a16:creationId xmlns:a16="http://schemas.microsoft.com/office/drawing/2014/main" id="{D26A8CBA-40FF-47C8-8BD3-77BB52544378}"/>
              </a:ext>
            </a:extLst>
          </p:cNvPr>
          <p:cNvSpPr>
            <a:spLocks xmlns:a="http://schemas.openxmlformats.org/drawingml/2006/main" noGrp="1"/>
          </p:cNvSpPr>
          <p:nvPr/>
        </p:nvSpPr>
        <p:spPr>
          <a:xfrm xmlns:a="http://schemas.openxmlformats.org/drawingml/2006/main">
            <a:off x="57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7.97% / 5.01%   Memory 35.64% / 52.87%</a:t>
            </a:r>
          </a:p>
        </p:txBody>
      </p:sp>
      <p:sp>
        <p:nvSpPr>
          <p:cNvPr id="26" name="">
            <a:extLst xmlns:a="http://schemas.openxmlformats.org/drawingml/2006/main">
              <a:ext uri="{FF2B5EF4-FFF2-40B4-BE49-F238E27FC236}">
                <a16:creationId xmlns:a16="http://schemas.microsoft.com/office/drawing/2014/main" id="{1D34C9D6-5701-4D9E-9680-28AB852B3A87}"/>
              </a:ext>
            </a:extLst>
          </p:cNvPr>
          <p:cNvSpPr>
            <a:spLocks xmlns:a="http://schemas.openxmlformats.org/drawingml/2006/main" noGrp="1"/>
          </p:cNvSpPr>
          <p:nvPr/>
        </p:nvSpPr>
        <p:spPr>
          <a:xfrm xmlns:a="http://schemas.openxmlformats.org/drawingml/2006/main">
            <a:off x="57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66.10% / 50.17%</a:t>
            </a:r>
          </a:p>
        </p:txBody>
      </p:sp>
      <p:sp>
        <p:nvSpPr>
          <p:cNvPr id="27" name="">
            <a:extLst xmlns:a="http://schemas.openxmlformats.org/drawingml/2006/main">
              <a:ext uri="{FF2B5EF4-FFF2-40B4-BE49-F238E27FC236}">
                <a16:creationId xmlns:a16="http://schemas.microsoft.com/office/drawing/2014/main" id="{AB1A4738-D8FA-4C89-880D-326220DE2C72}"/>
              </a:ext>
            </a:extLst>
          </p:cNvPr>
          <p:cNvSpPr>
            <a:spLocks xmlns:a="http://schemas.openxmlformats.org/drawingml/2006/main" noGrp="1"/>
          </p:cNvSpPr>
          <p:nvPr/>
        </p:nvSpPr>
        <p:spPr>
          <a:xfrm xmlns:a="http://schemas.openxmlformats.org/drawingml/2006/main">
            <a:off x="4267200" y="5238750"/>
            <a:ext cx="3657600" cy="990600"/>
          </a:xfrm>
          <a:prstGeom xmlns:a="http://schemas.openxmlformats.org/drawingml/2006/main" prst="roundRect">
            <a:avLst>
              <a:gd name="adj" fmla="val 11538"/>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596A2D6-FB90-4923-A9F9-55FA01936937}"/>
              </a:ext>
            </a:extLst>
          </p:cNvPr>
          <p:cNvSpPr>
            <a:spLocks xmlns:a="http://schemas.openxmlformats.org/drawingml/2006/main" noGrp="1"/>
          </p:cNvSpPr>
          <p:nvPr/>
        </p:nvSpPr>
        <p:spPr>
          <a:xfrm xmlns:a="http://schemas.openxmlformats.org/drawingml/2006/main">
            <a:off x="438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FinnOne</a:t>
            </a:r>
          </a:p>
        </p:txBody>
      </p:sp>
      <p:sp>
        <p:nvSpPr>
          <p:cNvPr id="29" name="">
            <a:extLst xmlns:a="http://schemas.openxmlformats.org/drawingml/2006/main">
              <a:ext uri="{FF2B5EF4-FFF2-40B4-BE49-F238E27FC236}">
                <a16:creationId xmlns:a16="http://schemas.microsoft.com/office/drawing/2014/main" id="{2646368B-360F-4484-BE42-270826D01D2A}"/>
              </a:ext>
            </a:extLst>
          </p:cNvPr>
          <p:cNvSpPr>
            <a:spLocks xmlns:a="http://schemas.openxmlformats.org/drawingml/2006/main" noGrp="1"/>
          </p:cNvSpPr>
          <p:nvPr/>
        </p:nvSpPr>
        <p:spPr>
          <a:xfrm xmlns:a="http://schemas.openxmlformats.org/drawingml/2006/main">
            <a:off x="438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&lt;10%   Memory &lt;60%</a:t>
            </a:r>
          </a:p>
        </p:txBody>
      </p:sp>
      <p:sp>
        <p:nvSpPr>
          <p:cNvPr id="30" name="">
            <a:extLst xmlns:a="http://schemas.openxmlformats.org/drawingml/2006/main">
              <a:ext uri="{FF2B5EF4-FFF2-40B4-BE49-F238E27FC236}">
                <a16:creationId xmlns:a16="http://schemas.microsoft.com/office/drawing/2014/main" id="{8D2B70F7-405C-4921-8DAF-876AB06C5986}"/>
              </a:ext>
            </a:extLst>
          </p:cNvPr>
          <p:cNvSpPr>
            <a:spLocks xmlns:a="http://schemas.openxmlformats.org/drawingml/2006/main" noGrp="1"/>
          </p:cNvSpPr>
          <p:nvPr/>
        </p:nvSpPr>
        <p:spPr>
          <a:xfrm xmlns:a="http://schemas.openxmlformats.org/drawingml/2006/main">
            <a:off x="438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Not supplied</a:t>
            </a:r>
          </a:p>
        </p:txBody>
      </p:sp>
      <p:sp>
        <p:nvSpPr>
          <p:cNvPr id="31" name="">
            <a:extLst xmlns:a="http://schemas.openxmlformats.org/drawingml/2006/main">
              <a:ext uri="{FF2B5EF4-FFF2-40B4-BE49-F238E27FC236}">
                <a16:creationId xmlns:a16="http://schemas.microsoft.com/office/drawing/2014/main" id="{5771CC1D-ED7B-48C0-AFCE-9F9F82069F4C}"/>
              </a:ext>
            </a:extLst>
          </p:cNvPr>
          <p:cNvSpPr>
            <a:spLocks xmlns:a="http://schemas.openxmlformats.org/drawingml/2006/main" noGrp="1"/>
          </p:cNvSpPr>
          <p:nvPr/>
        </p:nvSpPr>
        <p:spPr>
          <a:xfrm xmlns:a="http://schemas.openxmlformats.org/drawingml/2006/main">
            <a:off x="8077200" y="5238750"/>
            <a:ext cx="3657600" cy="990600"/>
          </a:xfrm>
          <a:prstGeom xmlns:a="http://schemas.openxmlformats.org/drawingml/2006/main" prst="roundRect">
            <a:avLst>
              <a:gd name="adj" fmla="val 11538"/>
            </a:avLst>
          </a:prstGeom>
          <a:solidFill xmlns:a="http://schemas.openxmlformats.org/drawingml/2006/main">
            <a:srgbClr val="F0EAF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C0E4FAD-4886-4401-AE0B-E72C81D29D5A}"/>
              </a:ext>
            </a:extLst>
          </p:cNvPr>
          <p:cNvSpPr>
            <a:spLocks xmlns:a="http://schemas.openxmlformats.org/drawingml/2006/main" noGrp="1"/>
          </p:cNvSpPr>
          <p:nvPr/>
        </p:nvSpPr>
        <p:spPr>
          <a:xfrm xmlns:a="http://schemas.openxmlformats.org/drawingml/2006/main">
            <a:off x="819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HFLMS</a:t>
            </a:r>
          </a:p>
        </p:txBody>
      </p:sp>
      <p:sp>
        <p:nvSpPr>
          <p:cNvPr id="33" name="">
            <a:extLst xmlns:a="http://schemas.openxmlformats.org/drawingml/2006/main">
              <a:ext uri="{FF2B5EF4-FFF2-40B4-BE49-F238E27FC236}">
                <a16:creationId xmlns:a16="http://schemas.microsoft.com/office/drawing/2014/main" id="{5451E986-1BBC-4166-A80F-B547DFDF609B}"/>
              </a:ext>
            </a:extLst>
          </p:cNvPr>
          <p:cNvSpPr>
            <a:spLocks xmlns:a="http://schemas.openxmlformats.org/drawingml/2006/main" noGrp="1"/>
          </p:cNvSpPr>
          <p:nvPr/>
        </p:nvSpPr>
        <p:spPr>
          <a:xfrm xmlns:a="http://schemas.openxmlformats.org/drawingml/2006/main">
            <a:off x="819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&lt;40%   Memory &lt;25%</a:t>
            </a:r>
          </a:p>
        </p:txBody>
      </p:sp>
      <p:sp>
        <p:nvSpPr>
          <p:cNvPr id="34" name="">
            <a:extLst xmlns:a="http://schemas.openxmlformats.org/drawingml/2006/main">
              <a:ext uri="{FF2B5EF4-FFF2-40B4-BE49-F238E27FC236}">
                <a16:creationId xmlns:a16="http://schemas.microsoft.com/office/drawing/2014/main" id="{CCE3B45D-19EA-41A2-8C7F-B845CB520796}"/>
              </a:ext>
            </a:extLst>
          </p:cNvPr>
          <p:cNvSpPr>
            <a:spLocks xmlns:a="http://schemas.openxmlformats.org/drawingml/2006/main" noGrp="1"/>
          </p:cNvSpPr>
          <p:nvPr/>
        </p:nvSpPr>
        <p:spPr>
          <a:xfrm xmlns:a="http://schemas.openxmlformats.org/drawingml/2006/main">
            <a:off x="819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&lt;70%</a:t>
            </a:r>
          </a:p>
        </p:txBody>
      </p:sp>
    </p:spTree>
    <p:extLst>
      <p:ext uri="{BB962C8B-B14F-4D97-AF65-F5344CB8AC3E}">
        <p14:creationId xmlns:p14="http://schemas.microsoft.com/office/powerpoint/2010/main" val="8185912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41D492-E74B-43B3-9877-363C39F747F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656254A-2907-43E0-9617-89B4EFB8321E}"/>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squad: four initiatives in SIT / UAT</a:t>
            </a:r>
          </a:p>
        </p:txBody>
      </p:sp>
      <p:sp>
        <p:nvSpPr>
          <p:cNvPr id="3" name="">
            <a:extLst xmlns:a="http://schemas.openxmlformats.org/drawingml/2006/main">
              <a:ext uri="{FF2B5EF4-FFF2-40B4-BE49-F238E27FC236}">
                <a16:creationId xmlns:a16="http://schemas.microsoft.com/office/drawing/2014/main" id="{BFA16C2F-7DB1-4321-8D72-34D608C584F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Two initiatives have business sign-off.</a:t>
            </a:r>
          </a:p>
        </p:txBody>
      </p:sp>
      <p:sp>
        <p:nvSpPr>
          <p:cNvPr id="4" name="">
            <a:extLst xmlns:a="http://schemas.openxmlformats.org/drawingml/2006/main">
              <a:ext uri="{FF2B5EF4-FFF2-40B4-BE49-F238E27FC236}">
                <a16:creationId xmlns:a16="http://schemas.microsoft.com/office/drawing/2014/main" id="{F937A7C4-7B39-41BA-9BA4-DFFEB4ECE5E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2DB5568-8FCF-4FB7-8AC2-4B8FF1FD1A4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EBF8742A-FD88-41D0-8F85-606F302AA6A7}"/>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304069-FD1A-4D38-BC26-EA19E5238DEF}"/>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solution finalization</a:t>
            </a:r>
          </a:p>
        </p:txBody>
      </p:sp>
      <p:sp>
        <p:nvSpPr>
          <p:cNvPr id="8" name="">
            <a:extLst xmlns:a="http://schemas.openxmlformats.org/drawingml/2006/main">
              <a:ext uri="{FF2B5EF4-FFF2-40B4-BE49-F238E27FC236}">
                <a16:creationId xmlns:a16="http://schemas.microsoft.com/office/drawing/2014/main" id="{9CE144C0-1FD2-4733-9DF2-F676FF66FC0D}"/>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DMGT-1325: Early settlement KFS trigger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DMGT-2063: Hybrid / country-of-origin flags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DMGT-679: Digital AECB and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Fourth initiative not named in source</a:t>
            </a:r>
          </a:p>
        </p:txBody>
      </p:sp>
      <p:sp>
        <p:nvSpPr>
          <p:cNvPr id="9" name="">
            <a:extLst xmlns:a="http://schemas.openxmlformats.org/drawingml/2006/main">
              <a:ext uri="{FF2B5EF4-FFF2-40B4-BE49-F238E27FC236}">
                <a16:creationId xmlns:a16="http://schemas.microsoft.com/office/drawing/2014/main" id="{5A981AD3-39B2-4D8D-989D-684B5AC8B057}"/>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65C82A-81F5-430E-870E-0012FBC56028}"/>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4 development</a:t>
            </a:r>
          </a:p>
        </p:txBody>
      </p:sp>
      <p:sp>
        <p:nvSpPr>
          <p:cNvPr id="11" name="">
            <a:extLst xmlns:a="http://schemas.openxmlformats.org/drawingml/2006/main">
              <a:ext uri="{FF2B5EF4-FFF2-40B4-BE49-F238E27FC236}">
                <a16:creationId xmlns:a16="http://schemas.microsoft.com/office/drawing/2014/main" id="{EE48DEB6-C85E-47F8-B765-A61AA14AFCC0}"/>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DMGT-267: Facial recognition for ETB</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DMGT-1052: New Takaful products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DMGT-950: RTA Integration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DMGT-2583: AF switch to standard rates</a:t>
            </a:r>
          </a:p>
        </p:txBody>
      </p:sp>
      <p:sp>
        <p:nvSpPr>
          <p:cNvPr id="12" name="">
            <a:extLst xmlns:a="http://schemas.openxmlformats.org/drawingml/2006/main">
              <a:ext uri="{FF2B5EF4-FFF2-40B4-BE49-F238E27FC236}">
                <a16:creationId xmlns:a16="http://schemas.microsoft.com/office/drawing/2014/main" id="{A06546BD-E17E-4938-A352-669536D3E0B6}"/>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B6555E-EB98-4A46-B273-9D0173599A46}"/>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2 SIT</a:t>
            </a:r>
          </a:p>
        </p:txBody>
      </p:sp>
      <p:sp>
        <p:nvSpPr>
          <p:cNvPr id="14" name="">
            <a:extLst xmlns:a="http://schemas.openxmlformats.org/drawingml/2006/main">
              <a:ext uri="{FF2B5EF4-FFF2-40B4-BE49-F238E27FC236}">
                <a16:creationId xmlns:a16="http://schemas.microsoft.com/office/drawing/2014/main" id="{90E8AEBF-8A00-49D8-9E97-E62047AA1211}"/>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DMGT-55 / DMGT-97</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Down payment and fee collection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Additional ILOE premium collection</a:t>
            </a:r>
          </a:p>
        </p:txBody>
      </p:sp>
      <p:sp>
        <p:nvSpPr>
          <p:cNvPr id="15" name="">
            <a:extLst xmlns:a="http://schemas.openxmlformats.org/drawingml/2006/main">
              <a:ext uri="{FF2B5EF4-FFF2-40B4-BE49-F238E27FC236}">
                <a16:creationId xmlns:a16="http://schemas.microsoft.com/office/drawing/2014/main" id="{2CE894ED-31F7-429A-BADF-0A8DEB6DF549}"/>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130A34E-0CF4-4E88-A007-EF69807225E0}"/>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2 UAT</a:t>
            </a:r>
          </a:p>
        </p:txBody>
      </p:sp>
      <p:sp>
        <p:nvSpPr>
          <p:cNvPr id="17" name="">
            <a:extLst xmlns:a="http://schemas.openxmlformats.org/drawingml/2006/main">
              <a:ext uri="{FF2B5EF4-FFF2-40B4-BE49-F238E27FC236}">
                <a16:creationId xmlns:a16="http://schemas.microsoft.com/office/drawing/2014/main" id="{30D97AD7-E609-4A8B-90CA-2CC0B42CECC5}"/>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 Rate / campaign master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Adding guarantor in FinnOne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Guarantor demand ID not supplied</a:t>
            </a:r>
          </a:p>
        </p:txBody>
      </p:sp>
      <p:sp>
        <p:nvSpPr>
          <p:cNvPr id="18" name="">
            <a:extLst xmlns:a="http://schemas.openxmlformats.org/drawingml/2006/main">
              <a:ext uri="{FF2B5EF4-FFF2-40B4-BE49-F238E27FC236}">
                <a16:creationId xmlns:a16="http://schemas.microsoft.com/office/drawing/2014/main" id="{5E1A390E-C503-4940-9873-969D1917E000}"/>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BC9C5C-7AEF-4546-856C-A64E56D29EC0}"/>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2 business sign-off</a:t>
            </a:r>
          </a:p>
        </p:txBody>
      </p:sp>
      <p:sp>
        <p:nvSpPr>
          <p:cNvPr id="20" name="">
            <a:extLst xmlns:a="http://schemas.openxmlformats.org/drawingml/2006/main">
              <a:ext uri="{FF2B5EF4-FFF2-40B4-BE49-F238E27FC236}">
                <a16:creationId xmlns:a16="http://schemas.microsoft.com/office/drawing/2014/main" id="{E49CFD85-B493-4A50-B316-97885A2D0045}"/>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DMGT-2480: Wataniya T&amp;C in AF ILOE consent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DMGT-2384: Early Settlement SMS</a:t>
            </a:r>
          </a:p>
        </p:txBody>
      </p:sp>
      <p:sp>
        <p:nvSpPr>
          <p:cNvPr id="21" name="">
            <a:extLst xmlns:a="http://schemas.openxmlformats.org/drawingml/2006/main">
              <a:ext uri="{FF2B5EF4-FFF2-40B4-BE49-F238E27FC236}">
                <a16:creationId xmlns:a16="http://schemas.microsoft.com/office/drawing/2014/main" id="{FFDCD14C-2E7C-43C1-AB3A-D84E0CDDEB16}"/>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9BE823F-CAB9-444F-A78E-3B35DA5C2936}"/>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backlog</a:t>
            </a:r>
          </a:p>
        </p:txBody>
      </p:sp>
      <p:sp>
        <p:nvSpPr>
          <p:cNvPr id="23" name="">
            <a:extLst xmlns:a="http://schemas.openxmlformats.org/drawingml/2006/main">
              <a:ext uri="{FF2B5EF4-FFF2-40B4-BE49-F238E27FC236}">
                <a16:creationId xmlns:a16="http://schemas.microsoft.com/office/drawing/2014/main" id="{505A158C-9AA1-4027-B503-C00B14032FA0}"/>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Awaiting pickup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30 Sep planned: DMGT-2583</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 Oct planned: DMGT-2480 / DMGT-2384</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go-live confirmation required</a:t>
            </a:r>
          </a:p>
        </p:txBody>
      </p:sp>
      <p:sp>
        <p:nvSpPr>
          <p:cNvPr id="24" name="">
            <a:extLst xmlns:a="http://schemas.openxmlformats.org/drawingml/2006/main">
              <a:ext uri="{FF2B5EF4-FFF2-40B4-BE49-F238E27FC236}">
                <a16:creationId xmlns:a16="http://schemas.microsoft.com/office/drawing/2014/main" id="{CCBF0B57-1FA9-4D56-81B9-C936C77AF846}"/>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Squad counts are reported stage counts and may overlap the platform portfolio.</a:t>
            </a:r>
          </a:p>
        </p:txBody>
      </p:sp>
    </p:spTree>
    <p:extLst>
      <p:ext uri="{BB962C8B-B14F-4D97-AF65-F5344CB8AC3E}">
        <p14:creationId xmlns:p14="http://schemas.microsoft.com/office/powerpoint/2010/main" val="6297800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1567C4B-38AB-4D41-A315-5417EF75198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90EC028-FEAC-433C-A11D-C561351097C0}"/>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delivery timeline: September 2025–August 2026</a:t>
            </a:r>
          </a:p>
        </p:txBody>
      </p:sp>
      <p:sp>
        <p:nvSpPr>
          <p:cNvPr id="3" name="">
            <a:extLst xmlns:a="http://schemas.openxmlformats.org/drawingml/2006/main">
              <a:ext uri="{FF2B5EF4-FFF2-40B4-BE49-F238E27FC236}">
                <a16:creationId xmlns:a16="http://schemas.microsoft.com/office/drawing/2014/main" id="{B2AEDB06-FC4E-4C9D-B8B0-AC78935EFBC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Twelve months of milestones. Read across each row, then continue below.</a:t>
            </a:r>
          </a:p>
        </p:txBody>
      </p:sp>
      <p:sp>
        <p:nvSpPr>
          <p:cNvPr id="4" name="">
            <a:extLst xmlns:a="http://schemas.openxmlformats.org/drawingml/2006/main">
              <a:ext uri="{FF2B5EF4-FFF2-40B4-BE49-F238E27FC236}">
                <a16:creationId xmlns:a16="http://schemas.microsoft.com/office/drawing/2014/main" id="{BDC09B05-9FDF-4F23-8C00-B539CB81C95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04D12551-1BB5-4F82-A1B9-F42009D47DF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BAE6E13D-164C-418F-9385-2571BE22D0AD}"/>
              </a:ext>
            </a:extLst>
          </p:cNvPr>
          <p:cNvSpPr>
            <a:spLocks xmlns:a="http://schemas.openxmlformats.org/drawingml/2006/main" noGrp="1"/>
          </p:cNvSpPr>
          <p:nvPr/>
        </p:nvSpPr>
        <p:spPr>
          <a:xfrm xmlns:a="http://schemas.openxmlformats.org/drawingml/2006/main">
            <a:off x="457200" y="20478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B24E8C-3D5F-4D60-9080-B666D2A09866}"/>
              </a:ext>
            </a:extLst>
          </p:cNvPr>
          <p:cNvSpPr>
            <a:spLocks xmlns:a="http://schemas.openxmlformats.org/drawingml/2006/main" noGrp="1"/>
          </p:cNvSpPr>
          <p:nvPr/>
        </p:nvSpPr>
        <p:spPr>
          <a:xfrm xmlns:a="http://schemas.openxmlformats.org/drawingml/2006/main">
            <a:off x="571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Sep 2025</a:t>
            </a:r>
          </a:p>
        </p:txBody>
      </p:sp>
      <p:sp>
        <p:nvSpPr>
          <p:cNvPr id="8" name="">
            <a:extLst xmlns:a="http://schemas.openxmlformats.org/drawingml/2006/main">
              <a:ext uri="{FF2B5EF4-FFF2-40B4-BE49-F238E27FC236}">
                <a16:creationId xmlns:a16="http://schemas.microsoft.com/office/drawing/2014/main" id="{1EC71895-9355-414A-8DBE-4D20338DAA13}"/>
              </a:ext>
            </a:extLst>
          </p:cNvPr>
          <p:cNvSpPr>
            <a:spLocks xmlns:a="http://schemas.openxmlformats.org/drawingml/2006/main" noGrp="1"/>
          </p:cNvSpPr>
          <p:nvPr/>
        </p:nvSpPr>
        <p:spPr>
          <a:xfrm xmlns:a="http://schemas.openxmlformats.org/drawingml/2006/main">
            <a:off x="571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Disclosure notification for STL</a:t>
            </a:r>
          </a:p>
        </p:txBody>
      </p:sp>
      <p:sp>
        <p:nvSpPr>
          <p:cNvPr id="9" name="">
            <a:extLst xmlns:a="http://schemas.openxmlformats.org/drawingml/2006/main">
              <a:ext uri="{FF2B5EF4-FFF2-40B4-BE49-F238E27FC236}">
                <a16:creationId xmlns:a16="http://schemas.microsoft.com/office/drawing/2014/main" id="{31255430-9F9F-411F-A08D-6ED096E39F29}"/>
              </a:ext>
            </a:extLst>
          </p:cNvPr>
          <p:cNvSpPr>
            <a:spLocks xmlns:a="http://schemas.openxmlformats.org/drawingml/2006/main" noGrp="1"/>
          </p:cNvSpPr>
          <p:nvPr/>
        </p:nvSpPr>
        <p:spPr>
          <a:xfrm xmlns:a="http://schemas.openxmlformats.org/drawingml/2006/main">
            <a:off x="3171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DF73B87C-B5FB-4694-A0FD-E9706EC68B17}"/>
              </a:ext>
            </a:extLst>
          </p:cNvPr>
          <p:cNvSpPr>
            <a:spLocks xmlns:a="http://schemas.openxmlformats.org/drawingml/2006/main" noGrp="1"/>
          </p:cNvSpPr>
          <p:nvPr/>
        </p:nvSpPr>
        <p:spPr>
          <a:xfrm xmlns:a="http://schemas.openxmlformats.org/drawingml/2006/main">
            <a:off x="3314700" y="20478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2FEDC84-2105-4EE8-B883-334F930904B0}"/>
              </a:ext>
            </a:extLst>
          </p:cNvPr>
          <p:cNvSpPr>
            <a:spLocks xmlns:a="http://schemas.openxmlformats.org/drawingml/2006/main" noGrp="1"/>
          </p:cNvSpPr>
          <p:nvPr/>
        </p:nvSpPr>
        <p:spPr>
          <a:xfrm xmlns:a="http://schemas.openxmlformats.org/drawingml/2006/main">
            <a:off x="3429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Oct 2025</a:t>
            </a:r>
          </a:p>
        </p:txBody>
      </p:sp>
      <p:sp>
        <p:nvSpPr>
          <p:cNvPr id="12" name="">
            <a:extLst xmlns:a="http://schemas.openxmlformats.org/drawingml/2006/main">
              <a:ext uri="{FF2B5EF4-FFF2-40B4-BE49-F238E27FC236}">
                <a16:creationId xmlns:a16="http://schemas.microsoft.com/office/drawing/2014/main" id="{82671DCC-F7FF-4AB4-9625-5E9D26330324}"/>
              </a:ext>
            </a:extLst>
          </p:cNvPr>
          <p:cNvSpPr>
            <a:spLocks xmlns:a="http://schemas.openxmlformats.org/drawingml/2006/main" noGrp="1"/>
          </p:cNvSpPr>
          <p:nvPr/>
        </p:nvSpPr>
        <p:spPr>
          <a:xfrm xmlns:a="http://schemas.openxmlformats.org/drawingml/2006/main">
            <a:off x="3429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Q4 rate deployment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Subvention campaign in FinnOne</a:t>
            </a:r>
          </a:p>
        </p:txBody>
      </p:sp>
      <p:sp>
        <p:nvSpPr>
          <p:cNvPr id="13" name="">
            <a:extLst xmlns:a="http://schemas.openxmlformats.org/drawingml/2006/main">
              <a:ext uri="{FF2B5EF4-FFF2-40B4-BE49-F238E27FC236}">
                <a16:creationId xmlns:a16="http://schemas.microsoft.com/office/drawing/2014/main" id="{3EEA88D6-4184-497C-91C5-AC41ADC0F8FB}"/>
              </a:ext>
            </a:extLst>
          </p:cNvPr>
          <p:cNvSpPr>
            <a:spLocks xmlns:a="http://schemas.openxmlformats.org/drawingml/2006/main" noGrp="1"/>
          </p:cNvSpPr>
          <p:nvPr/>
        </p:nvSpPr>
        <p:spPr>
          <a:xfrm xmlns:a="http://schemas.openxmlformats.org/drawingml/2006/main">
            <a:off x="60293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79947961-E359-4F6D-A2EE-77BA3A044731}"/>
              </a:ext>
            </a:extLst>
          </p:cNvPr>
          <p:cNvSpPr>
            <a:spLocks xmlns:a="http://schemas.openxmlformats.org/drawingml/2006/main" noGrp="1"/>
          </p:cNvSpPr>
          <p:nvPr/>
        </p:nvSpPr>
        <p:spPr>
          <a:xfrm xmlns:a="http://schemas.openxmlformats.org/drawingml/2006/main">
            <a:off x="6172200" y="20478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9035CF4-9E9B-4529-9493-5808CBFEA062}"/>
              </a:ext>
            </a:extLst>
          </p:cNvPr>
          <p:cNvSpPr>
            <a:spLocks xmlns:a="http://schemas.openxmlformats.org/drawingml/2006/main" noGrp="1"/>
          </p:cNvSpPr>
          <p:nvPr/>
        </p:nvSpPr>
        <p:spPr>
          <a:xfrm xmlns:a="http://schemas.openxmlformats.org/drawingml/2006/main">
            <a:off x="6286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Nov 2025</a:t>
            </a:r>
          </a:p>
        </p:txBody>
      </p:sp>
      <p:sp>
        <p:nvSpPr>
          <p:cNvPr id="16" name="">
            <a:extLst xmlns:a="http://schemas.openxmlformats.org/drawingml/2006/main">
              <a:ext uri="{FF2B5EF4-FFF2-40B4-BE49-F238E27FC236}">
                <a16:creationId xmlns:a16="http://schemas.microsoft.com/office/drawing/2014/main" id="{76BBAE6D-9C35-498A-B727-78B8820E8392}"/>
              </a:ext>
            </a:extLst>
          </p:cNvPr>
          <p:cNvSpPr>
            <a:spLocks xmlns:a="http://schemas.openxmlformats.org/drawingml/2006/main" noGrp="1"/>
          </p:cNvSpPr>
          <p:nvPr/>
        </p:nvSpPr>
        <p:spPr>
          <a:xfrm xmlns:a="http://schemas.openxmlformats.org/drawingml/2006/main">
            <a:off x="6286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Updated SLA logic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POD</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Job-loss Takaful mapping</a:t>
            </a:r>
          </a:p>
        </p:txBody>
      </p:sp>
      <p:sp>
        <p:nvSpPr>
          <p:cNvPr id="17" name="">
            <a:extLst xmlns:a="http://schemas.openxmlformats.org/drawingml/2006/main">
              <a:ext uri="{FF2B5EF4-FFF2-40B4-BE49-F238E27FC236}">
                <a16:creationId xmlns:a16="http://schemas.microsoft.com/office/drawing/2014/main" id="{97461B22-E7CA-43C9-B6FB-B33EC9A01030}"/>
              </a:ext>
            </a:extLst>
          </p:cNvPr>
          <p:cNvSpPr>
            <a:spLocks xmlns:a="http://schemas.openxmlformats.org/drawingml/2006/main" noGrp="1"/>
          </p:cNvSpPr>
          <p:nvPr/>
        </p:nvSpPr>
        <p:spPr>
          <a:xfrm xmlns:a="http://schemas.openxmlformats.org/drawingml/2006/main">
            <a:off x="8886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56132954-6DEE-4DCE-84B4-4E8ECD479040}"/>
              </a:ext>
            </a:extLst>
          </p:cNvPr>
          <p:cNvSpPr>
            <a:spLocks xmlns:a="http://schemas.openxmlformats.org/drawingml/2006/main" noGrp="1"/>
          </p:cNvSpPr>
          <p:nvPr/>
        </p:nvSpPr>
        <p:spPr>
          <a:xfrm xmlns:a="http://schemas.openxmlformats.org/drawingml/2006/main">
            <a:off x="9029700" y="20478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8048406-7F62-4A55-B8EC-745D9DDABA3B}"/>
              </a:ext>
            </a:extLst>
          </p:cNvPr>
          <p:cNvSpPr>
            <a:spLocks xmlns:a="http://schemas.openxmlformats.org/drawingml/2006/main" noGrp="1"/>
          </p:cNvSpPr>
          <p:nvPr/>
        </p:nvSpPr>
        <p:spPr>
          <a:xfrm xmlns:a="http://schemas.openxmlformats.org/drawingml/2006/main">
            <a:off x="9144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Dec 2025</a:t>
            </a:r>
          </a:p>
        </p:txBody>
      </p:sp>
      <p:sp>
        <p:nvSpPr>
          <p:cNvPr id="20" name="">
            <a:extLst xmlns:a="http://schemas.openxmlformats.org/drawingml/2006/main">
              <a:ext uri="{FF2B5EF4-FFF2-40B4-BE49-F238E27FC236}">
                <a16:creationId xmlns:a16="http://schemas.microsoft.com/office/drawing/2014/main" id="{13123E73-EBCF-4DFD-9031-7EFACB7D6A72}"/>
              </a:ext>
            </a:extLst>
          </p:cNvPr>
          <p:cNvSpPr>
            <a:spLocks xmlns:a="http://schemas.openxmlformats.org/drawingml/2006/main" noGrp="1"/>
          </p:cNvSpPr>
          <p:nvPr/>
        </p:nvSpPr>
        <p:spPr>
          <a:xfrm xmlns:a="http://schemas.openxmlformats.org/drawingml/2006/main">
            <a:off x="9144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Rhoon Integration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EV Tesla PF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Ramadan-to-standard profit rate switch</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IRR value modification</a:t>
            </a:r>
          </a:p>
        </p:txBody>
      </p:sp>
      <p:sp>
        <p:nvSpPr>
          <p:cNvPr id="21" name="">
            <a:extLst xmlns:a="http://schemas.openxmlformats.org/drawingml/2006/main">
              <a:ext uri="{FF2B5EF4-FFF2-40B4-BE49-F238E27FC236}">
                <a16:creationId xmlns:a16="http://schemas.microsoft.com/office/drawing/2014/main" id="{3966E6C5-11A2-4EC6-8892-D697C6A56E23}"/>
              </a:ext>
            </a:extLst>
          </p:cNvPr>
          <p:cNvSpPr>
            <a:spLocks xmlns:a="http://schemas.openxmlformats.org/drawingml/2006/main" noGrp="1"/>
          </p:cNvSpPr>
          <p:nvPr/>
        </p:nvSpPr>
        <p:spPr>
          <a:xfrm xmlns:a="http://schemas.openxmlformats.org/drawingml/2006/main">
            <a:off x="457200" y="347662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CB6524D-1BEB-4F71-A691-0E2EDE568CA3}"/>
              </a:ext>
            </a:extLst>
          </p:cNvPr>
          <p:cNvSpPr>
            <a:spLocks xmlns:a="http://schemas.openxmlformats.org/drawingml/2006/main" noGrp="1"/>
          </p:cNvSpPr>
          <p:nvPr/>
        </p:nvSpPr>
        <p:spPr>
          <a:xfrm xmlns:a="http://schemas.openxmlformats.org/drawingml/2006/main">
            <a:off x="571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Jan 2026</a:t>
            </a:r>
          </a:p>
        </p:txBody>
      </p:sp>
      <p:sp>
        <p:nvSpPr>
          <p:cNvPr id="23" name="">
            <a:extLst xmlns:a="http://schemas.openxmlformats.org/drawingml/2006/main">
              <a:ext uri="{FF2B5EF4-FFF2-40B4-BE49-F238E27FC236}">
                <a16:creationId xmlns:a16="http://schemas.microsoft.com/office/drawing/2014/main" id="{41AA14EC-10DE-4CE9-9499-D24CD647FB4F}"/>
              </a:ext>
            </a:extLst>
          </p:cNvPr>
          <p:cNvSpPr>
            <a:spLocks xmlns:a="http://schemas.openxmlformats.org/drawingml/2006/main" noGrp="1"/>
          </p:cNvSpPr>
          <p:nvPr/>
        </p:nvSpPr>
        <p:spPr>
          <a:xfrm xmlns:a="http://schemas.openxmlformats.org/drawingml/2006/main">
            <a:off x="571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Map dealer under FD group</a:t>
            </a:r>
          </a:p>
        </p:txBody>
      </p:sp>
      <p:sp>
        <p:nvSpPr>
          <p:cNvPr id="24" name="">
            <a:extLst xmlns:a="http://schemas.openxmlformats.org/drawingml/2006/main">
              <a:ext uri="{FF2B5EF4-FFF2-40B4-BE49-F238E27FC236}">
                <a16:creationId xmlns:a16="http://schemas.microsoft.com/office/drawing/2014/main" id="{847F0490-97FC-45BA-9A52-77F0B7311930}"/>
              </a:ext>
            </a:extLst>
          </p:cNvPr>
          <p:cNvSpPr>
            <a:spLocks xmlns:a="http://schemas.openxmlformats.org/drawingml/2006/main" noGrp="1"/>
          </p:cNvSpPr>
          <p:nvPr/>
        </p:nvSpPr>
        <p:spPr>
          <a:xfrm xmlns:a="http://schemas.openxmlformats.org/drawingml/2006/main">
            <a:off x="3171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3B0EBC07-59F0-4878-8FF3-B6A9BA348FF3}"/>
              </a:ext>
            </a:extLst>
          </p:cNvPr>
          <p:cNvSpPr>
            <a:spLocks xmlns:a="http://schemas.openxmlformats.org/drawingml/2006/main" noGrp="1"/>
          </p:cNvSpPr>
          <p:nvPr/>
        </p:nvSpPr>
        <p:spPr>
          <a:xfrm xmlns:a="http://schemas.openxmlformats.org/drawingml/2006/main">
            <a:off x="3314700" y="347662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CA0350-1EDE-40C2-8D6B-9F6C18990978}"/>
              </a:ext>
            </a:extLst>
          </p:cNvPr>
          <p:cNvSpPr>
            <a:spLocks xmlns:a="http://schemas.openxmlformats.org/drawingml/2006/main" noGrp="1"/>
          </p:cNvSpPr>
          <p:nvPr/>
        </p:nvSpPr>
        <p:spPr>
          <a:xfrm xmlns:a="http://schemas.openxmlformats.org/drawingml/2006/main">
            <a:off x="3429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Feb 2026</a:t>
            </a:r>
          </a:p>
        </p:txBody>
      </p:sp>
      <p:sp>
        <p:nvSpPr>
          <p:cNvPr id="27" name="">
            <a:extLst xmlns:a="http://schemas.openxmlformats.org/drawingml/2006/main">
              <a:ext uri="{FF2B5EF4-FFF2-40B4-BE49-F238E27FC236}">
                <a16:creationId xmlns:a16="http://schemas.microsoft.com/office/drawing/2014/main" id="{418DEE9F-26BE-4264-8988-67E59FDB8EB1}"/>
              </a:ext>
            </a:extLst>
          </p:cNvPr>
          <p:cNvSpPr>
            <a:spLocks xmlns:a="http://schemas.openxmlformats.org/drawingml/2006/main" noGrp="1"/>
          </p:cNvSpPr>
          <p:nvPr/>
        </p:nvSpPr>
        <p:spPr>
          <a:xfrm xmlns:a="http://schemas.openxmlformats.org/drawingml/2006/main">
            <a:off x="3429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EMI deferment fee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campaign enhancement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New Ramadan rates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Abu Dhabi Motors profit-rate update</a:t>
            </a:r>
          </a:p>
        </p:txBody>
      </p:sp>
      <p:sp>
        <p:nvSpPr>
          <p:cNvPr id="28" name="">
            <a:extLst xmlns:a="http://schemas.openxmlformats.org/drawingml/2006/main">
              <a:ext uri="{FF2B5EF4-FFF2-40B4-BE49-F238E27FC236}">
                <a16:creationId xmlns:a16="http://schemas.microsoft.com/office/drawing/2014/main" id="{C98D761E-1F8A-478A-93FD-A58EC8C629BA}"/>
              </a:ext>
            </a:extLst>
          </p:cNvPr>
          <p:cNvSpPr>
            <a:spLocks xmlns:a="http://schemas.openxmlformats.org/drawingml/2006/main" noGrp="1"/>
          </p:cNvSpPr>
          <p:nvPr/>
        </p:nvSpPr>
        <p:spPr>
          <a:xfrm xmlns:a="http://schemas.openxmlformats.org/drawingml/2006/main">
            <a:off x="60293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9" name="">
            <a:extLst xmlns:a="http://schemas.openxmlformats.org/drawingml/2006/main">
              <a:ext uri="{FF2B5EF4-FFF2-40B4-BE49-F238E27FC236}">
                <a16:creationId xmlns:a16="http://schemas.microsoft.com/office/drawing/2014/main" id="{118F4E7E-A768-40FC-8A8E-97304711BB89}"/>
              </a:ext>
            </a:extLst>
          </p:cNvPr>
          <p:cNvSpPr>
            <a:spLocks xmlns:a="http://schemas.openxmlformats.org/drawingml/2006/main" noGrp="1"/>
          </p:cNvSpPr>
          <p:nvPr/>
        </p:nvSpPr>
        <p:spPr>
          <a:xfrm xmlns:a="http://schemas.openxmlformats.org/drawingml/2006/main">
            <a:off x="6172200" y="347662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1A2A5F3-99AD-4F49-982A-DF8DDBB1CE3A}"/>
              </a:ext>
            </a:extLst>
          </p:cNvPr>
          <p:cNvSpPr>
            <a:spLocks xmlns:a="http://schemas.openxmlformats.org/drawingml/2006/main" noGrp="1"/>
          </p:cNvSpPr>
          <p:nvPr/>
        </p:nvSpPr>
        <p:spPr>
          <a:xfrm xmlns:a="http://schemas.openxmlformats.org/drawingml/2006/main">
            <a:off x="6286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Mar 2026</a:t>
            </a:r>
          </a:p>
        </p:txBody>
      </p:sp>
      <p:sp>
        <p:nvSpPr>
          <p:cNvPr id="31" name="">
            <a:extLst xmlns:a="http://schemas.openxmlformats.org/drawingml/2006/main">
              <a:ext uri="{FF2B5EF4-FFF2-40B4-BE49-F238E27FC236}">
                <a16:creationId xmlns:a16="http://schemas.microsoft.com/office/drawing/2014/main" id="{ECAE9DAF-DEA2-481A-A6DC-7E38F35F3E95}"/>
              </a:ext>
            </a:extLst>
          </p:cNvPr>
          <p:cNvSpPr>
            <a:spLocks xmlns:a="http://schemas.openxmlformats.org/drawingml/2006/main" noGrp="1"/>
          </p:cNvSpPr>
          <p:nvPr/>
        </p:nvSpPr>
        <p:spPr>
          <a:xfrm xmlns:a="http://schemas.openxmlformats.org/drawingml/2006/main">
            <a:off x="6286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Sharia terminology update in FinnOne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Profit Ramadan Rate</a:t>
            </a:r>
          </a:p>
        </p:txBody>
      </p:sp>
      <p:sp>
        <p:nvSpPr>
          <p:cNvPr id="32" name="">
            <a:extLst xmlns:a="http://schemas.openxmlformats.org/drawingml/2006/main">
              <a:ext uri="{FF2B5EF4-FFF2-40B4-BE49-F238E27FC236}">
                <a16:creationId xmlns:a16="http://schemas.microsoft.com/office/drawing/2014/main" id="{CC5E1044-CF5E-45E3-8E3A-589DE23736B1}"/>
              </a:ext>
            </a:extLst>
          </p:cNvPr>
          <p:cNvSpPr>
            <a:spLocks xmlns:a="http://schemas.openxmlformats.org/drawingml/2006/main" noGrp="1"/>
          </p:cNvSpPr>
          <p:nvPr/>
        </p:nvSpPr>
        <p:spPr>
          <a:xfrm xmlns:a="http://schemas.openxmlformats.org/drawingml/2006/main">
            <a:off x="8886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33" name="">
            <a:extLst xmlns:a="http://schemas.openxmlformats.org/drawingml/2006/main">
              <a:ext uri="{FF2B5EF4-FFF2-40B4-BE49-F238E27FC236}">
                <a16:creationId xmlns:a16="http://schemas.microsoft.com/office/drawing/2014/main" id="{FFAC0183-72DD-4B92-B5C8-7CB4EEF456A1}"/>
              </a:ext>
            </a:extLst>
          </p:cNvPr>
          <p:cNvSpPr>
            <a:spLocks xmlns:a="http://schemas.openxmlformats.org/drawingml/2006/main" noGrp="1"/>
          </p:cNvSpPr>
          <p:nvPr/>
        </p:nvSpPr>
        <p:spPr>
          <a:xfrm xmlns:a="http://schemas.openxmlformats.org/drawingml/2006/main">
            <a:off x="9029700" y="347662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B36B446-5CFF-43A4-BEB0-6975F1256FC4}"/>
              </a:ext>
            </a:extLst>
          </p:cNvPr>
          <p:cNvSpPr>
            <a:spLocks xmlns:a="http://schemas.openxmlformats.org/drawingml/2006/main" noGrp="1"/>
          </p:cNvSpPr>
          <p:nvPr/>
        </p:nvSpPr>
        <p:spPr>
          <a:xfrm xmlns:a="http://schemas.openxmlformats.org/drawingml/2006/main">
            <a:off x="9144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Apr 2026</a:t>
            </a:r>
          </a:p>
        </p:txBody>
      </p:sp>
      <p:sp>
        <p:nvSpPr>
          <p:cNvPr id="35" name="">
            <a:extLst xmlns:a="http://schemas.openxmlformats.org/drawingml/2006/main">
              <a:ext uri="{FF2B5EF4-FFF2-40B4-BE49-F238E27FC236}">
                <a16:creationId xmlns:a16="http://schemas.microsoft.com/office/drawing/2014/main" id="{0E228383-8BDE-47DE-8C97-5B8E523AEDFE}"/>
              </a:ext>
            </a:extLst>
          </p:cNvPr>
          <p:cNvSpPr>
            <a:spLocks xmlns:a="http://schemas.openxmlformats.org/drawingml/2006/main" noGrp="1"/>
          </p:cNvSpPr>
          <p:nvPr/>
        </p:nvSpPr>
        <p:spPr>
          <a:xfrm xmlns:a="http://schemas.openxmlformats.org/drawingml/2006/main">
            <a:off x="9144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Dealer</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employer special-rate change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Standard rate revision</a:t>
            </a:r>
          </a:p>
        </p:txBody>
      </p:sp>
      <p:sp>
        <p:nvSpPr>
          <p:cNvPr id="36" name="">
            <a:extLst xmlns:a="http://schemas.openxmlformats.org/drawingml/2006/main">
              <a:ext uri="{FF2B5EF4-FFF2-40B4-BE49-F238E27FC236}">
                <a16:creationId xmlns:a16="http://schemas.microsoft.com/office/drawing/2014/main" id="{D4708F25-699F-4D83-BB7F-3B279B8D944A}"/>
              </a:ext>
            </a:extLst>
          </p:cNvPr>
          <p:cNvSpPr>
            <a:spLocks xmlns:a="http://schemas.openxmlformats.org/drawingml/2006/main" noGrp="1"/>
          </p:cNvSpPr>
          <p:nvPr/>
        </p:nvSpPr>
        <p:spPr>
          <a:xfrm xmlns:a="http://schemas.openxmlformats.org/drawingml/2006/main">
            <a:off x="457200" y="49053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7CA76D9-DF6B-49DC-AEC0-DDEFCDF65DFA}"/>
              </a:ext>
            </a:extLst>
          </p:cNvPr>
          <p:cNvSpPr>
            <a:spLocks xmlns:a="http://schemas.openxmlformats.org/drawingml/2006/main" noGrp="1"/>
          </p:cNvSpPr>
          <p:nvPr/>
        </p:nvSpPr>
        <p:spPr>
          <a:xfrm xmlns:a="http://schemas.openxmlformats.org/drawingml/2006/main">
            <a:off x="571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May 2026</a:t>
            </a:r>
          </a:p>
        </p:txBody>
      </p:sp>
      <p:sp>
        <p:nvSpPr>
          <p:cNvPr id="38" name="">
            <a:extLst xmlns:a="http://schemas.openxmlformats.org/drawingml/2006/main">
              <a:ext uri="{FF2B5EF4-FFF2-40B4-BE49-F238E27FC236}">
                <a16:creationId xmlns:a16="http://schemas.microsoft.com/office/drawing/2014/main" id="{53200355-CD4F-4817-A23C-328664718C83}"/>
              </a:ext>
            </a:extLst>
          </p:cNvPr>
          <p:cNvSpPr>
            <a:spLocks xmlns:a="http://schemas.openxmlformats.org/drawingml/2006/main" noGrp="1"/>
          </p:cNvSpPr>
          <p:nvPr/>
        </p:nvSpPr>
        <p:spPr>
          <a:xfrm xmlns:a="http://schemas.openxmlformats.org/drawingml/2006/main">
            <a:off x="571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Finance amount transfer: I2I</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Tenure control for subvention applications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Employer rates / EAR changes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Disable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Golden VISA</a:t>
            </a:r>
          </a:p>
        </p:txBody>
      </p:sp>
      <p:sp>
        <p:nvSpPr>
          <p:cNvPr id="39" name="">
            <a:extLst xmlns:a="http://schemas.openxmlformats.org/drawingml/2006/main">
              <a:ext uri="{FF2B5EF4-FFF2-40B4-BE49-F238E27FC236}">
                <a16:creationId xmlns:a16="http://schemas.microsoft.com/office/drawing/2014/main" id="{3BE95937-2C43-4E4C-A9BF-770C49AAFBD2}"/>
              </a:ext>
            </a:extLst>
          </p:cNvPr>
          <p:cNvSpPr>
            <a:spLocks xmlns:a="http://schemas.openxmlformats.org/drawingml/2006/main" noGrp="1"/>
          </p:cNvSpPr>
          <p:nvPr/>
        </p:nvSpPr>
        <p:spPr>
          <a:xfrm xmlns:a="http://schemas.openxmlformats.org/drawingml/2006/main">
            <a:off x="3171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0" name="">
            <a:extLst xmlns:a="http://schemas.openxmlformats.org/drawingml/2006/main">
              <a:ext uri="{FF2B5EF4-FFF2-40B4-BE49-F238E27FC236}">
                <a16:creationId xmlns:a16="http://schemas.microsoft.com/office/drawing/2014/main" id="{B4BC9CBF-B467-4107-8AE5-67B893A1138B}"/>
              </a:ext>
            </a:extLst>
          </p:cNvPr>
          <p:cNvSpPr>
            <a:spLocks xmlns:a="http://schemas.openxmlformats.org/drawingml/2006/main" noGrp="1"/>
          </p:cNvSpPr>
          <p:nvPr/>
        </p:nvSpPr>
        <p:spPr>
          <a:xfrm xmlns:a="http://schemas.openxmlformats.org/drawingml/2006/main">
            <a:off x="3314700" y="49053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AB04FA9-F9FB-4C75-9FCE-0179993201FB}"/>
              </a:ext>
            </a:extLst>
          </p:cNvPr>
          <p:cNvSpPr>
            <a:spLocks xmlns:a="http://schemas.openxmlformats.org/drawingml/2006/main" noGrp="1"/>
          </p:cNvSpPr>
          <p:nvPr/>
        </p:nvSpPr>
        <p:spPr>
          <a:xfrm xmlns:a="http://schemas.openxmlformats.org/drawingml/2006/main">
            <a:off x="3429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Jun 2026</a:t>
            </a:r>
          </a:p>
        </p:txBody>
      </p:sp>
      <p:sp>
        <p:nvSpPr>
          <p:cNvPr id="42" name="">
            <a:extLst xmlns:a="http://schemas.openxmlformats.org/drawingml/2006/main">
              <a:ext uri="{FF2B5EF4-FFF2-40B4-BE49-F238E27FC236}">
                <a16:creationId xmlns:a16="http://schemas.microsoft.com/office/drawing/2014/main" id="{6E3BA5E5-69C1-42CE-B780-C5BC2B35D2AE}"/>
              </a:ext>
            </a:extLst>
          </p:cNvPr>
          <p:cNvSpPr>
            <a:spLocks xmlns:a="http://schemas.openxmlformats.org/drawingml/2006/main" noGrp="1"/>
          </p:cNvSpPr>
          <p:nvPr/>
        </p:nvSpPr>
        <p:spPr>
          <a:xfrm xmlns:a="http://schemas.openxmlformats.org/drawingml/2006/main">
            <a:off x="3429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Motorcycle field validation</a:t>
            </a:r>
          </a:p>
        </p:txBody>
      </p:sp>
      <p:sp>
        <p:nvSpPr>
          <p:cNvPr id="43" name="">
            <a:extLst xmlns:a="http://schemas.openxmlformats.org/drawingml/2006/main">
              <a:ext uri="{FF2B5EF4-FFF2-40B4-BE49-F238E27FC236}">
                <a16:creationId xmlns:a16="http://schemas.microsoft.com/office/drawing/2014/main" id="{5D24EA46-E62B-4091-BEF2-6742112B3087}"/>
              </a:ext>
            </a:extLst>
          </p:cNvPr>
          <p:cNvSpPr>
            <a:spLocks xmlns:a="http://schemas.openxmlformats.org/drawingml/2006/main" noGrp="1"/>
          </p:cNvSpPr>
          <p:nvPr/>
        </p:nvSpPr>
        <p:spPr>
          <a:xfrm xmlns:a="http://schemas.openxmlformats.org/drawingml/2006/main">
            <a:off x="60293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4" name="">
            <a:extLst xmlns:a="http://schemas.openxmlformats.org/drawingml/2006/main">
              <a:ext uri="{FF2B5EF4-FFF2-40B4-BE49-F238E27FC236}">
                <a16:creationId xmlns:a16="http://schemas.microsoft.com/office/drawing/2014/main" id="{B5D01A60-3756-4905-A5B8-3E972AD89FA7}"/>
              </a:ext>
            </a:extLst>
          </p:cNvPr>
          <p:cNvSpPr>
            <a:spLocks xmlns:a="http://schemas.openxmlformats.org/drawingml/2006/main" noGrp="1"/>
          </p:cNvSpPr>
          <p:nvPr/>
        </p:nvSpPr>
        <p:spPr>
          <a:xfrm xmlns:a="http://schemas.openxmlformats.org/drawingml/2006/main">
            <a:off x="6172200" y="49053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4DD94A0-5D35-44A7-BDCF-2F7CB1419E0F}"/>
              </a:ext>
            </a:extLst>
          </p:cNvPr>
          <p:cNvSpPr>
            <a:spLocks xmlns:a="http://schemas.openxmlformats.org/drawingml/2006/main" noGrp="1"/>
          </p:cNvSpPr>
          <p:nvPr/>
        </p:nvSpPr>
        <p:spPr>
          <a:xfrm xmlns:a="http://schemas.openxmlformats.org/drawingml/2006/main">
            <a:off x="6286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Jul 2026</a:t>
            </a:r>
          </a:p>
        </p:txBody>
      </p:sp>
      <p:sp>
        <p:nvSpPr>
          <p:cNvPr id="46" name="">
            <a:extLst xmlns:a="http://schemas.openxmlformats.org/drawingml/2006/main">
              <a:ext uri="{FF2B5EF4-FFF2-40B4-BE49-F238E27FC236}">
                <a16:creationId xmlns:a16="http://schemas.microsoft.com/office/drawing/2014/main" id="{D9ABA2C3-B028-4018-A0C7-B331F6F36B53}"/>
              </a:ext>
            </a:extLst>
          </p:cNvPr>
          <p:cNvSpPr>
            <a:spLocks xmlns:a="http://schemas.openxmlformats.org/drawingml/2006/main" noGrp="1"/>
          </p:cNvSpPr>
          <p:nvPr/>
        </p:nvSpPr>
        <p:spPr>
          <a:xfrm xmlns:a="http://schemas.openxmlformats.org/drawingml/2006/main">
            <a:off x="6286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ILOE premium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campaign extension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Chassis number / flat-rate validation at PDOC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Summer Campaign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DMGT-2372: Frontline Hero expiry</a:t>
            </a:r>
          </a:p>
        </p:txBody>
      </p:sp>
      <p:sp>
        <p:nvSpPr>
          <p:cNvPr id="47" name="">
            <a:extLst xmlns:a="http://schemas.openxmlformats.org/drawingml/2006/main">
              <a:ext uri="{FF2B5EF4-FFF2-40B4-BE49-F238E27FC236}">
                <a16:creationId xmlns:a16="http://schemas.microsoft.com/office/drawing/2014/main" id="{88C8D7FE-B22D-47EC-9F87-2B7B74CCCA6B}"/>
              </a:ext>
            </a:extLst>
          </p:cNvPr>
          <p:cNvSpPr>
            <a:spLocks xmlns:a="http://schemas.openxmlformats.org/drawingml/2006/main" noGrp="1"/>
          </p:cNvSpPr>
          <p:nvPr/>
        </p:nvSpPr>
        <p:spPr>
          <a:xfrm xmlns:a="http://schemas.openxmlformats.org/drawingml/2006/main">
            <a:off x="8886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8" name="">
            <a:extLst xmlns:a="http://schemas.openxmlformats.org/drawingml/2006/main">
              <a:ext uri="{FF2B5EF4-FFF2-40B4-BE49-F238E27FC236}">
                <a16:creationId xmlns:a16="http://schemas.microsoft.com/office/drawing/2014/main" id="{316C2015-E006-4156-93A4-A8270A151372}"/>
              </a:ext>
            </a:extLst>
          </p:cNvPr>
          <p:cNvSpPr>
            <a:spLocks xmlns:a="http://schemas.openxmlformats.org/drawingml/2006/main" noGrp="1"/>
          </p:cNvSpPr>
          <p:nvPr/>
        </p:nvSpPr>
        <p:spPr>
          <a:xfrm xmlns:a="http://schemas.openxmlformats.org/drawingml/2006/main">
            <a:off x="9029700" y="49053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F071D1E-E822-416C-B960-2F91892FE847}"/>
              </a:ext>
            </a:extLst>
          </p:cNvPr>
          <p:cNvSpPr>
            <a:spLocks xmlns:a="http://schemas.openxmlformats.org/drawingml/2006/main" noGrp="1"/>
          </p:cNvSpPr>
          <p:nvPr/>
        </p:nvSpPr>
        <p:spPr>
          <a:xfrm xmlns:a="http://schemas.openxmlformats.org/drawingml/2006/main">
            <a:off x="9144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Aug 2026</a:t>
            </a:r>
          </a:p>
        </p:txBody>
      </p:sp>
      <p:sp>
        <p:nvSpPr>
          <p:cNvPr id="50" name="">
            <a:extLst xmlns:a="http://schemas.openxmlformats.org/drawingml/2006/main">
              <a:ext uri="{FF2B5EF4-FFF2-40B4-BE49-F238E27FC236}">
                <a16:creationId xmlns:a16="http://schemas.microsoft.com/office/drawing/2014/main" id="{CE911807-A833-4B90-BAAE-174D019E41AD}"/>
              </a:ext>
            </a:extLst>
          </p:cNvPr>
          <p:cNvSpPr>
            <a:spLocks xmlns:a="http://schemas.openxmlformats.org/drawingml/2006/main" noGrp="1"/>
          </p:cNvSpPr>
          <p:nvPr/>
        </p:nvSpPr>
        <p:spPr>
          <a:xfrm xmlns:a="http://schemas.openxmlformats.org/drawingml/2006/main">
            <a:off x="9144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ILOE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POD rate issue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Tesla rate revision</a:t>
            </a:r>
          </a:p>
        </p:txBody>
      </p:sp>
    </p:spTree>
    <p:extLst>
      <p:ext uri="{BB962C8B-B14F-4D97-AF65-F5344CB8AC3E}">
        <p14:creationId xmlns:p14="http://schemas.microsoft.com/office/powerpoint/2010/main" val="146970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D25B387-DB8E-4902-AC63-BC371988A42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85DA541-BD03-426D-B3D7-234C232E535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squad: six initiatives remain in solution design</a:t>
            </a:r>
          </a:p>
        </p:txBody>
      </p:sp>
      <p:sp>
        <p:nvSpPr>
          <p:cNvPr id="3" name="">
            <a:extLst xmlns:a="http://schemas.openxmlformats.org/drawingml/2006/main">
              <a:ext uri="{FF2B5EF4-FFF2-40B4-BE49-F238E27FC236}">
                <a16:creationId xmlns:a16="http://schemas.microsoft.com/office/drawing/2014/main" id="{24E4B0ED-D54B-4F32-BEB2-842E2E2D1CD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One initiative has business sign-off.</a:t>
            </a:r>
          </a:p>
        </p:txBody>
      </p:sp>
      <p:sp>
        <p:nvSpPr>
          <p:cNvPr id="4" name="">
            <a:extLst xmlns:a="http://schemas.openxmlformats.org/drawingml/2006/main">
              <a:ext uri="{FF2B5EF4-FFF2-40B4-BE49-F238E27FC236}">
                <a16:creationId xmlns:a16="http://schemas.microsoft.com/office/drawing/2014/main" id="{ED18AD83-2C39-4603-8FFB-986FD925CCB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1713092-2C1B-4811-9312-BEEA0F92532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E9A40DFE-BD77-4DD5-9CFA-4AFE0BD8001D}"/>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354646-6E2C-4A11-B37C-9B1ADCA81127}"/>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6 solution design</a:t>
            </a:r>
          </a:p>
        </p:txBody>
      </p:sp>
      <p:sp>
        <p:nvSpPr>
          <p:cNvPr id="8" name="">
            <a:extLst xmlns:a="http://schemas.openxmlformats.org/drawingml/2006/main">
              <a:ext uri="{FF2B5EF4-FFF2-40B4-BE49-F238E27FC236}">
                <a16:creationId xmlns:a16="http://schemas.microsoft.com/office/drawing/2014/main" id="{E9622688-051A-417A-949B-0AE393131C1D}"/>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83: RAO salary check in liability settlement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49: Early settlement methodology</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1336: Early settlement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2557: LC retention scheme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1708: Flexi Salary after-sales (LEAN)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1021: EFR for NTB / ETB</a:t>
            </a:r>
          </a:p>
        </p:txBody>
      </p:sp>
      <p:sp>
        <p:nvSpPr>
          <p:cNvPr id="9" name="">
            <a:extLst xmlns:a="http://schemas.openxmlformats.org/drawingml/2006/main">
              <a:ext uri="{FF2B5EF4-FFF2-40B4-BE49-F238E27FC236}">
                <a16:creationId xmlns:a16="http://schemas.microsoft.com/office/drawing/2014/main" id="{FEBCDAF6-AFEF-4B27-BC2A-F76357BC0560}"/>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638D16E-3AAB-4DD6-A2D3-B9C1417273A7}"/>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1 development</a:t>
            </a:r>
          </a:p>
        </p:txBody>
      </p:sp>
      <p:sp>
        <p:nvSpPr>
          <p:cNvPr id="11" name="">
            <a:extLst xmlns:a="http://schemas.openxmlformats.org/drawingml/2006/main">
              <a:ext uri="{FF2B5EF4-FFF2-40B4-BE49-F238E27FC236}">
                <a16:creationId xmlns:a16="http://schemas.microsoft.com/office/drawing/2014/main" id="{FD693FF7-F66B-4973-BEA4-C9564A74549B}"/>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Business pricing updates in FinnOne</a:t>
            </a:r>
          </a:p>
        </p:txBody>
      </p:sp>
      <p:sp>
        <p:nvSpPr>
          <p:cNvPr id="12" name="">
            <a:extLst xmlns:a="http://schemas.openxmlformats.org/drawingml/2006/main">
              <a:ext uri="{FF2B5EF4-FFF2-40B4-BE49-F238E27FC236}">
                <a16:creationId xmlns:a16="http://schemas.microsoft.com/office/drawing/2014/main" id="{284F8C31-D056-48F2-A83B-C05DA7A968CA}"/>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5CCE55-B4E8-4FEA-988B-3B7F95F2F957}"/>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1 UAT</a:t>
            </a:r>
          </a:p>
        </p:txBody>
      </p:sp>
      <p:sp>
        <p:nvSpPr>
          <p:cNvPr id="14" name="">
            <a:extLst xmlns:a="http://schemas.openxmlformats.org/drawingml/2006/main">
              <a:ext uri="{FF2B5EF4-FFF2-40B4-BE49-F238E27FC236}">
                <a16:creationId xmlns:a16="http://schemas.microsoft.com/office/drawing/2014/main" id="{28DB2C94-F3CA-425A-A723-2F7EA906B3BE}"/>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LC PDC settlement remittance to the correct account</a:t>
            </a:r>
          </a:p>
        </p:txBody>
      </p:sp>
      <p:sp>
        <p:nvSpPr>
          <p:cNvPr id="15" name="">
            <a:extLst xmlns:a="http://schemas.openxmlformats.org/drawingml/2006/main">
              <a:ext uri="{FF2B5EF4-FFF2-40B4-BE49-F238E27FC236}">
                <a16:creationId xmlns:a16="http://schemas.microsoft.com/office/drawing/2014/main" id="{0567DA8D-88D0-4234-A931-53E0AF9D7AA9}"/>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3E1CF6B-B68D-41D4-9419-4BFBD415AEDD}"/>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1 business sign-off</a:t>
            </a:r>
          </a:p>
        </p:txBody>
      </p:sp>
      <p:sp>
        <p:nvSpPr>
          <p:cNvPr id="17" name="">
            <a:extLst xmlns:a="http://schemas.openxmlformats.org/drawingml/2006/main">
              <a:ext uri="{FF2B5EF4-FFF2-40B4-BE49-F238E27FC236}">
                <a16:creationId xmlns:a16="http://schemas.microsoft.com/office/drawing/2014/main" id="{AA272D35-1014-47CA-AE3A-4B0E23F7BC51}"/>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FTS enablement in all STL segments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Planned go-live: 4 October 2026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release confirmation required</a:t>
            </a:r>
          </a:p>
        </p:txBody>
      </p:sp>
      <p:sp>
        <p:nvSpPr>
          <p:cNvPr id="18" name="">
            <a:extLst xmlns:a="http://schemas.openxmlformats.org/drawingml/2006/main">
              <a:ext uri="{FF2B5EF4-FFF2-40B4-BE49-F238E27FC236}">
                <a16:creationId xmlns:a16="http://schemas.microsoft.com/office/drawing/2014/main" id="{61224A6B-5B0B-4DF8-82CC-9C95302D0B7B}"/>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EF0F8BD-331A-49C6-9847-088BDAF04A00}"/>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3 backlog</a:t>
            </a:r>
          </a:p>
        </p:txBody>
      </p:sp>
      <p:sp>
        <p:nvSpPr>
          <p:cNvPr id="20" name="">
            <a:extLst xmlns:a="http://schemas.openxmlformats.org/drawingml/2006/main">
              <a:ext uri="{FF2B5EF4-FFF2-40B4-BE49-F238E27FC236}">
                <a16:creationId xmlns:a16="http://schemas.microsoft.com/office/drawing/2014/main" id="{D4C461BC-8794-4C3A-9C26-77942BA45C8A}"/>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Pickup depends on delivery of the current set of demands</a:t>
            </a:r>
          </a:p>
        </p:txBody>
      </p:sp>
      <p:sp>
        <p:nvSpPr>
          <p:cNvPr id="21" name="">
            <a:extLst xmlns:a="http://schemas.openxmlformats.org/drawingml/2006/main">
              <a:ext uri="{FF2B5EF4-FFF2-40B4-BE49-F238E27FC236}">
                <a16:creationId xmlns:a16="http://schemas.microsoft.com/office/drawing/2014/main" id="{A07F08B2-B514-472D-92E3-009580EB94C9}"/>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D95610B-64D4-4311-AFB0-A484497764CE}"/>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8 open points</a:t>
            </a:r>
          </a:p>
        </p:txBody>
      </p:sp>
      <p:sp>
        <p:nvSpPr>
          <p:cNvPr id="23" name="">
            <a:extLst xmlns:a="http://schemas.openxmlformats.org/drawingml/2006/main">
              <a:ext uri="{FF2B5EF4-FFF2-40B4-BE49-F238E27FC236}">
                <a16:creationId xmlns:a16="http://schemas.microsoft.com/office/drawing/2014/main" id="{15A2A2F9-D46E-4CF4-94B4-B6F0746F732F}"/>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Tracked separately for follow-up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Treat as tracking items until demand scope and unique IDs are confirmed</a:t>
            </a:r>
          </a:p>
        </p:txBody>
      </p:sp>
      <p:sp>
        <p:nvSpPr>
          <p:cNvPr id="24" name="">
            <a:extLst xmlns:a="http://schemas.openxmlformats.org/drawingml/2006/main">
              <a:ext uri="{FF2B5EF4-FFF2-40B4-BE49-F238E27FC236}">
                <a16:creationId xmlns:a16="http://schemas.microsoft.com/office/drawing/2014/main" id="{98EB50E6-D09E-4A41-9489-A0CA6A79230F}"/>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Solution-design numbers use the DMGT prefix. Squad counts are separate from platform totals.</a:t>
            </a:r>
          </a:p>
        </p:txBody>
      </p:sp>
    </p:spTree>
    <p:extLst>
      <p:ext uri="{BB962C8B-B14F-4D97-AF65-F5344CB8AC3E}">
        <p14:creationId xmlns:p14="http://schemas.microsoft.com/office/powerpoint/2010/main" val="750416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D5931A2B-E962-4A93-B459-41C1335A5764}"/>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34C6A16-F348-43DA-AEA3-8CFF12069E0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delivery timeline: September 2025–October 2026</a:t>
            </a:r>
          </a:p>
        </p:txBody>
      </p:sp>
      <p:sp>
        <p:nvSpPr>
          <p:cNvPr id="3" name="">
            <a:extLst xmlns:a="http://schemas.openxmlformats.org/drawingml/2006/main">
              <a:ext uri="{FF2B5EF4-FFF2-40B4-BE49-F238E27FC236}">
                <a16:creationId xmlns:a16="http://schemas.microsoft.com/office/drawing/2014/main" id="{EC5E859C-AB3E-4364-B32C-8014FB16469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Milestone lanes show completed work and the next planned release.</a:t>
            </a:r>
          </a:p>
        </p:txBody>
      </p:sp>
      <p:sp>
        <p:nvSpPr>
          <p:cNvPr id="4" name="">
            <a:extLst xmlns:a="http://schemas.openxmlformats.org/drawingml/2006/main">
              <a:ext uri="{FF2B5EF4-FFF2-40B4-BE49-F238E27FC236}">
                <a16:creationId xmlns:a16="http://schemas.microsoft.com/office/drawing/2014/main" id="{AEDB0A38-DF28-49CA-9DD8-EC51EABCC07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C074BB1-6BEC-45A1-8E9A-878135DB8C0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142988D5-AF49-4779-B050-CC3E74171AFF}"/>
              </a:ext>
            </a:extLst>
          </p:cNvPr>
          <p:cNvSpPr>
            <a:spLocks xmlns:a="http://schemas.openxmlformats.org/drawingml/2006/main" noGrp="1"/>
          </p:cNvSpPr>
          <p:nvPr/>
        </p:nvSpPr>
        <p:spPr>
          <a:xfrm xmlns:a="http://schemas.openxmlformats.org/drawingml/2006/main">
            <a:off x="457200" y="2047875"/>
            <a:ext cx="1104900" cy="1333500"/>
          </a:xfrm>
          <a:prstGeom xmlns:a="http://schemas.openxmlformats.org/drawingml/2006/main" prst="roundRect">
            <a:avLst>
              <a:gd name="adj" fmla="val 10345"/>
            </a:avLst>
          </a:prstGeom>
          <a:solidFill xmlns:a="http://schemas.openxmlformats.org/drawingml/2006/main">
            <a:srgbClr val="DDF3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22283F-7A25-46BB-83A9-DE50063ABB7B}"/>
              </a:ext>
            </a:extLst>
          </p:cNvPr>
          <p:cNvSpPr>
            <a:spLocks xmlns:a="http://schemas.openxmlformats.org/drawingml/2006/main" noGrp="1"/>
          </p:cNvSpPr>
          <p:nvPr/>
        </p:nvSpPr>
        <p:spPr>
          <a:xfrm xmlns:a="http://schemas.openxmlformats.org/drawingml/2006/main">
            <a:off x="561975" y="21907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2025</a:t>
            </a:r>
          </a:p>
        </p:txBody>
      </p:sp>
      <p:sp>
        <p:nvSpPr>
          <p:cNvPr id="8" name="">
            <a:extLst xmlns:a="http://schemas.openxmlformats.org/drawingml/2006/main">
              <a:ext uri="{FF2B5EF4-FFF2-40B4-BE49-F238E27FC236}">
                <a16:creationId xmlns:a16="http://schemas.microsoft.com/office/drawing/2014/main" id="{A71047B2-A4E5-456B-AEC1-1474FBE0F42E}"/>
              </a:ext>
            </a:extLst>
          </p:cNvPr>
          <p:cNvSpPr>
            <a:spLocks xmlns:a="http://schemas.openxmlformats.org/drawingml/2006/main" noGrp="1"/>
          </p:cNvSpPr>
          <p:nvPr/>
        </p:nvSpPr>
        <p:spPr>
          <a:xfrm xmlns:a="http://schemas.openxmlformats.org/drawingml/2006/main">
            <a:off x="561975" y="25812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9" name="">
            <a:extLst xmlns:a="http://schemas.openxmlformats.org/drawingml/2006/main">
              <a:ext uri="{FF2B5EF4-FFF2-40B4-BE49-F238E27FC236}">
                <a16:creationId xmlns:a16="http://schemas.microsoft.com/office/drawing/2014/main" id="{A5266D75-9A36-480B-9F2B-7F2D83C14CB9}"/>
              </a:ext>
            </a:extLst>
          </p:cNvPr>
          <p:cNvSpPr>
            <a:spLocks xmlns:a="http://schemas.openxmlformats.org/drawingml/2006/main" noGrp="1"/>
          </p:cNvSpPr>
          <p:nvPr/>
        </p:nvSpPr>
        <p:spPr>
          <a:xfrm xmlns:a="http://schemas.openxmlformats.org/drawingml/2006/main">
            <a:off x="17145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19DF88-9422-42C5-91EC-DE065574ED16}"/>
              </a:ext>
            </a:extLst>
          </p:cNvPr>
          <p:cNvSpPr>
            <a:spLocks xmlns:a="http://schemas.openxmlformats.org/drawingml/2006/main" noGrp="1"/>
          </p:cNvSpPr>
          <p:nvPr/>
        </p:nvSpPr>
        <p:spPr>
          <a:xfrm xmlns:a="http://schemas.openxmlformats.org/drawingml/2006/main">
            <a:off x="18097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Sep 2025</a:t>
            </a:r>
          </a:p>
        </p:txBody>
      </p:sp>
      <p:sp>
        <p:nvSpPr>
          <p:cNvPr id="11" name="">
            <a:extLst xmlns:a="http://schemas.openxmlformats.org/drawingml/2006/main">
              <a:ext uri="{FF2B5EF4-FFF2-40B4-BE49-F238E27FC236}">
                <a16:creationId xmlns:a16="http://schemas.microsoft.com/office/drawing/2014/main" id="{D2086AD3-AD40-49CB-8145-39D44FD7B629}"/>
              </a:ext>
            </a:extLst>
          </p:cNvPr>
          <p:cNvSpPr>
            <a:spLocks xmlns:a="http://schemas.openxmlformats.org/drawingml/2006/main" noGrp="1"/>
          </p:cNvSpPr>
          <p:nvPr/>
        </p:nvSpPr>
        <p:spPr>
          <a:xfrm xmlns:a="http://schemas.openxmlformats.org/drawingml/2006/main">
            <a:off x="18097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DMGT-90</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Disclosure notification in PF STL</a:t>
            </a:r>
          </a:p>
        </p:txBody>
      </p:sp>
      <p:sp>
        <p:nvSpPr>
          <p:cNvPr id="12" name="">
            <a:extLst xmlns:a="http://schemas.openxmlformats.org/drawingml/2006/main">
              <a:ext uri="{FF2B5EF4-FFF2-40B4-BE49-F238E27FC236}">
                <a16:creationId xmlns:a16="http://schemas.microsoft.com/office/drawing/2014/main" id="{F62B47E0-38ED-490E-9018-BC43B29206BF}"/>
              </a:ext>
            </a:extLst>
          </p:cNvPr>
          <p:cNvSpPr>
            <a:spLocks xmlns:a="http://schemas.openxmlformats.org/drawingml/2006/main" noGrp="1"/>
          </p:cNvSpPr>
          <p:nvPr/>
        </p:nvSpPr>
        <p:spPr>
          <a:xfrm xmlns:a="http://schemas.openxmlformats.org/drawingml/2006/main">
            <a:off x="414337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6055FCB9-DDEE-4F3F-AFC8-678AC1A30E8D}"/>
              </a:ext>
            </a:extLst>
          </p:cNvPr>
          <p:cNvSpPr>
            <a:spLocks xmlns:a="http://schemas.openxmlformats.org/drawingml/2006/main" noGrp="1"/>
          </p:cNvSpPr>
          <p:nvPr/>
        </p:nvSpPr>
        <p:spPr>
          <a:xfrm xmlns:a="http://schemas.openxmlformats.org/drawingml/2006/main">
            <a:off x="424815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8C21BF-1A6C-4E28-88CE-324F3911BE65}"/>
              </a:ext>
            </a:extLst>
          </p:cNvPr>
          <p:cNvSpPr>
            <a:spLocks xmlns:a="http://schemas.openxmlformats.org/drawingml/2006/main" noGrp="1"/>
          </p:cNvSpPr>
          <p:nvPr/>
        </p:nvSpPr>
        <p:spPr>
          <a:xfrm xmlns:a="http://schemas.openxmlformats.org/drawingml/2006/main">
            <a:off x="434340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Oct 2025</a:t>
            </a:r>
          </a:p>
        </p:txBody>
      </p:sp>
      <p:sp>
        <p:nvSpPr>
          <p:cNvPr id="15" name="">
            <a:extLst xmlns:a="http://schemas.openxmlformats.org/drawingml/2006/main">
              <a:ext uri="{FF2B5EF4-FFF2-40B4-BE49-F238E27FC236}">
                <a16:creationId xmlns:a16="http://schemas.microsoft.com/office/drawing/2014/main" id="{C9911360-B503-486A-B47D-DFD94455B91C}"/>
              </a:ext>
            </a:extLst>
          </p:cNvPr>
          <p:cNvSpPr>
            <a:spLocks xmlns:a="http://schemas.openxmlformats.org/drawingml/2006/main" noGrp="1"/>
          </p:cNvSpPr>
          <p:nvPr/>
        </p:nvSpPr>
        <p:spPr>
          <a:xfrm xmlns:a="http://schemas.openxmlformats.org/drawingml/2006/main">
            <a:off x="434340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DMGT-54: Account start date in LS cases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DMGT-94: FinnOne PF applications for People of Determination</a:t>
            </a:r>
          </a:p>
        </p:txBody>
      </p:sp>
      <p:sp>
        <p:nvSpPr>
          <p:cNvPr id="16" name="">
            <a:extLst xmlns:a="http://schemas.openxmlformats.org/drawingml/2006/main">
              <a:ext uri="{FF2B5EF4-FFF2-40B4-BE49-F238E27FC236}">
                <a16:creationId xmlns:a16="http://schemas.microsoft.com/office/drawing/2014/main" id="{DFA50E0B-8AFD-4EB6-9513-81A345548A01}"/>
              </a:ext>
            </a:extLst>
          </p:cNvPr>
          <p:cNvSpPr>
            <a:spLocks xmlns:a="http://schemas.openxmlformats.org/drawingml/2006/main" noGrp="1"/>
          </p:cNvSpPr>
          <p:nvPr/>
        </p:nvSpPr>
        <p:spPr>
          <a:xfrm xmlns:a="http://schemas.openxmlformats.org/drawingml/2006/main">
            <a:off x="667702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70D9651C-BA0C-4863-8BA3-FE30C703A967}"/>
              </a:ext>
            </a:extLst>
          </p:cNvPr>
          <p:cNvSpPr>
            <a:spLocks xmlns:a="http://schemas.openxmlformats.org/drawingml/2006/main" noGrp="1"/>
          </p:cNvSpPr>
          <p:nvPr/>
        </p:nvSpPr>
        <p:spPr>
          <a:xfrm xmlns:a="http://schemas.openxmlformats.org/drawingml/2006/main">
            <a:off x="67818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0265AE-86BB-49D4-BAC5-D6EE938D96C3}"/>
              </a:ext>
            </a:extLst>
          </p:cNvPr>
          <p:cNvSpPr>
            <a:spLocks xmlns:a="http://schemas.openxmlformats.org/drawingml/2006/main" noGrp="1"/>
          </p:cNvSpPr>
          <p:nvPr/>
        </p:nvSpPr>
        <p:spPr>
          <a:xfrm xmlns:a="http://schemas.openxmlformats.org/drawingml/2006/main">
            <a:off x="68770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Nov 2025</a:t>
            </a:r>
          </a:p>
        </p:txBody>
      </p:sp>
      <p:sp>
        <p:nvSpPr>
          <p:cNvPr id="19" name="">
            <a:extLst xmlns:a="http://schemas.openxmlformats.org/drawingml/2006/main">
              <a:ext uri="{FF2B5EF4-FFF2-40B4-BE49-F238E27FC236}">
                <a16:creationId xmlns:a16="http://schemas.microsoft.com/office/drawing/2014/main" id="{9460A110-F475-4473-A813-CA767EEB91B2}"/>
              </a:ext>
            </a:extLst>
          </p:cNvPr>
          <p:cNvSpPr>
            <a:spLocks xmlns:a="http://schemas.openxmlformats.org/drawingml/2006/main" noGrp="1"/>
          </p:cNvSpPr>
          <p:nvPr/>
        </p:nvSpPr>
        <p:spPr>
          <a:xfrm xmlns:a="http://schemas.openxmlformats.org/drawingml/2006/main">
            <a:off x="68770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DMGT-1459</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New pricing for PF products</a:t>
            </a:r>
          </a:p>
        </p:txBody>
      </p:sp>
      <p:sp>
        <p:nvSpPr>
          <p:cNvPr id="20" name="">
            <a:extLst xmlns:a="http://schemas.openxmlformats.org/drawingml/2006/main">
              <a:ext uri="{FF2B5EF4-FFF2-40B4-BE49-F238E27FC236}">
                <a16:creationId xmlns:a16="http://schemas.microsoft.com/office/drawing/2014/main" id="{F46E53F5-95DE-44F5-9B75-135DFE7930C6}"/>
              </a:ext>
            </a:extLst>
          </p:cNvPr>
          <p:cNvSpPr>
            <a:spLocks xmlns:a="http://schemas.openxmlformats.org/drawingml/2006/main" noGrp="1"/>
          </p:cNvSpPr>
          <p:nvPr/>
        </p:nvSpPr>
        <p:spPr>
          <a:xfrm xmlns:a="http://schemas.openxmlformats.org/drawingml/2006/main">
            <a:off x="457200" y="3476625"/>
            <a:ext cx="1104900" cy="1333500"/>
          </a:xfrm>
          <a:prstGeom xmlns:a="http://schemas.openxmlformats.org/drawingml/2006/main" prst="roundRect">
            <a:avLst>
              <a:gd name="adj" fmla="val 10345"/>
            </a:avLst>
          </a:prstGeom>
          <a:solidFill xmlns:a="http://schemas.openxmlformats.org/drawingml/2006/main">
            <a:srgbClr val="DFEF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12EB70-CEF9-405F-86ED-73FB3D52A504}"/>
              </a:ext>
            </a:extLst>
          </p:cNvPr>
          <p:cNvSpPr>
            <a:spLocks xmlns:a="http://schemas.openxmlformats.org/drawingml/2006/main" noGrp="1"/>
          </p:cNvSpPr>
          <p:nvPr/>
        </p:nvSpPr>
        <p:spPr>
          <a:xfrm xmlns:a="http://schemas.openxmlformats.org/drawingml/2006/main">
            <a:off x="561975" y="361950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2026</a:t>
            </a:r>
          </a:p>
        </p:txBody>
      </p:sp>
      <p:sp>
        <p:nvSpPr>
          <p:cNvPr id="22" name="">
            <a:extLst xmlns:a="http://schemas.openxmlformats.org/drawingml/2006/main">
              <a:ext uri="{FF2B5EF4-FFF2-40B4-BE49-F238E27FC236}">
                <a16:creationId xmlns:a16="http://schemas.microsoft.com/office/drawing/2014/main" id="{C8FA471D-8975-406D-8645-11598022C871}"/>
              </a:ext>
            </a:extLst>
          </p:cNvPr>
          <p:cNvSpPr>
            <a:spLocks xmlns:a="http://schemas.openxmlformats.org/drawingml/2006/main" noGrp="1"/>
          </p:cNvSpPr>
          <p:nvPr/>
        </p:nvSpPr>
        <p:spPr>
          <a:xfrm xmlns:a="http://schemas.openxmlformats.org/drawingml/2006/main">
            <a:off x="561975" y="401002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23" name="">
            <a:extLst xmlns:a="http://schemas.openxmlformats.org/drawingml/2006/main">
              <a:ext uri="{FF2B5EF4-FFF2-40B4-BE49-F238E27FC236}">
                <a16:creationId xmlns:a16="http://schemas.microsoft.com/office/drawing/2014/main" id="{A09C4F62-9D3D-4718-8E2D-37BC49277840}"/>
              </a:ext>
            </a:extLst>
          </p:cNvPr>
          <p:cNvSpPr>
            <a:spLocks xmlns:a="http://schemas.openxmlformats.org/drawingml/2006/main" noGrp="1"/>
          </p:cNvSpPr>
          <p:nvPr/>
        </p:nvSpPr>
        <p:spPr>
          <a:xfrm xmlns:a="http://schemas.openxmlformats.org/drawingml/2006/main">
            <a:off x="17145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39A2AB0-9323-44DF-AF18-4CCCC3C2184E}"/>
              </a:ext>
            </a:extLst>
          </p:cNvPr>
          <p:cNvSpPr>
            <a:spLocks xmlns:a="http://schemas.openxmlformats.org/drawingml/2006/main" noGrp="1"/>
          </p:cNvSpPr>
          <p:nvPr/>
        </p:nvSpPr>
        <p:spPr>
          <a:xfrm xmlns:a="http://schemas.openxmlformats.org/drawingml/2006/main">
            <a:off x="18097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Jan 2026</a:t>
            </a:r>
          </a:p>
        </p:txBody>
      </p:sp>
      <p:sp>
        <p:nvSpPr>
          <p:cNvPr id="25" name="">
            <a:extLst xmlns:a="http://schemas.openxmlformats.org/drawingml/2006/main">
              <a:ext uri="{FF2B5EF4-FFF2-40B4-BE49-F238E27FC236}">
                <a16:creationId xmlns:a16="http://schemas.microsoft.com/office/drawing/2014/main" id="{E0D0F245-FE08-4AB8-BE71-0A4E9633DF79}"/>
              </a:ext>
            </a:extLst>
          </p:cNvPr>
          <p:cNvSpPr>
            <a:spLocks xmlns:a="http://schemas.openxmlformats.org/drawingml/2006/main" noGrp="1"/>
          </p:cNvSpPr>
          <p:nvPr/>
        </p:nvSpPr>
        <p:spPr>
          <a:xfrm xmlns:a="http://schemas.openxmlformats.org/drawingml/2006/main">
            <a:off x="18097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DMGT-1665</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PF rate change</a:t>
            </a:r>
          </a:p>
        </p:txBody>
      </p:sp>
      <p:sp>
        <p:nvSpPr>
          <p:cNvPr id="26" name="">
            <a:extLst xmlns:a="http://schemas.openxmlformats.org/drawingml/2006/main">
              <a:ext uri="{FF2B5EF4-FFF2-40B4-BE49-F238E27FC236}">
                <a16:creationId xmlns:a16="http://schemas.microsoft.com/office/drawing/2014/main" id="{90406789-A872-474A-830E-E23D42CF8EBA}"/>
              </a:ext>
            </a:extLst>
          </p:cNvPr>
          <p:cNvSpPr>
            <a:spLocks xmlns:a="http://schemas.openxmlformats.org/drawingml/2006/main" noGrp="1"/>
          </p:cNvSpPr>
          <p:nvPr/>
        </p:nvSpPr>
        <p:spPr>
          <a:xfrm xmlns:a="http://schemas.openxmlformats.org/drawingml/2006/main">
            <a:off x="414337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27" name="">
            <a:extLst xmlns:a="http://schemas.openxmlformats.org/drawingml/2006/main">
              <a:ext uri="{FF2B5EF4-FFF2-40B4-BE49-F238E27FC236}">
                <a16:creationId xmlns:a16="http://schemas.microsoft.com/office/drawing/2014/main" id="{A1BD070D-ED12-4310-9B54-B341B07AF276}"/>
              </a:ext>
            </a:extLst>
          </p:cNvPr>
          <p:cNvSpPr>
            <a:spLocks xmlns:a="http://schemas.openxmlformats.org/drawingml/2006/main" noGrp="1"/>
          </p:cNvSpPr>
          <p:nvPr/>
        </p:nvSpPr>
        <p:spPr>
          <a:xfrm xmlns:a="http://schemas.openxmlformats.org/drawingml/2006/main">
            <a:off x="424815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8FFE986-9013-4CFC-B297-E982E0B1BF72}"/>
              </a:ext>
            </a:extLst>
          </p:cNvPr>
          <p:cNvSpPr>
            <a:spLocks xmlns:a="http://schemas.openxmlformats.org/drawingml/2006/main" noGrp="1"/>
          </p:cNvSpPr>
          <p:nvPr/>
        </p:nvSpPr>
        <p:spPr>
          <a:xfrm xmlns:a="http://schemas.openxmlformats.org/drawingml/2006/main">
            <a:off x="434340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Feb 2026</a:t>
            </a:r>
          </a:p>
        </p:txBody>
      </p:sp>
      <p:sp>
        <p:nvSpPr>
          <p:cNvPr id="29" name="">
            <a:extLst xmlns:a="http://schemas.openxmlformats.org/drawingml/2006/main">
              <a:ext uri="{FF2B5EF4-FFF2-40B4-BE49-F238E27FC236}">
                <a16:creationId xmlns:a16="http://schemas.microsoft.com/office/drawing/2014/main" id="{AC49FEA8-FCF2-4C04-89D1-EBAC7B9A0858}"/>
              </a:ext>
            </a:extLst>
          </p:cNvPr>
          <p:cNvSpPr>
            <a:spLocks xmlns:a="http://schemas.openxmlformats.org/drawingml/2006/main" noGrp="1"/>
          </p:cNvSpPr>
          <p:nvPr/>
        </p:nvSpPr>
        <p:spPr>
          <a:xfrm xmlns:a="http://schemas.openxmlformats.org/drawingml/2006/main">
            <a:off x="434340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DMGT-81: LC rule change in FinnOne</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DMGT-254: PF policy changes</a:t>
            </a:r>
          </a:p>
        </p:txBody>
      </p:sp>
      <p:sp>
        <p:nvSpPr>
          <p:cNvPr id="30" name="">
            <a:extLst xmlns:a="http://schemas.openxmlformats.org/drawingml/2006/main">
              <a:ext uri="{FF2B5EF4-FFF2-40B4-BE49-F238E27FC236}">
                <a16:creationId xmlns:a16="http://schemas.microsoft.com/office/drawing/2014/main" id="{7FE1B978-BDEF-4988-B1E4-71F5291EBC10}"/>
              </a:ext>
            </a:extLst>
          </p:cNvPr>
          <p:cNvSpPr>
            <a:spLocks xmlns:a="http://schemas.openxmlformats.org/drawingml/2006/main" noGrp="1"/>
          </p:cNvSpPr>
          <p:nvPr/>
        </p:nvSpPr>
        <p:spPr>
          <a:xfrm xmlns:a="http://schemas.openxmlformats.org/drawingml/2006/main">
            <a:off x="667702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26BFEE4C-F5A6-4033-8055-475B3FFD3505}"/>
              </a:ext>
            </a:extLst>
          </p:cNvPr>
          <p:cNvSpPr>
            <a:spLocks xmlns:a="http://schemas.openxmlformats.org/drawingml/2006/main" noGrp="1"/>
          </p:cNvSpPr>
          <p:nvPr/>
        </p:nvSpPr>
        <p:spPr>
          <a:xfrm xmlns:a="http://schemas.openxmlformats.org/drawingml/2006/main">
            <a:off x="67818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8BCC038-FD51-4162-9592-B8B903835931}"/>
              </a:ext>
            </a:extLst>
          </p:cNvPr>
          <p:cNvSpPr>
            <a:spLocks xmlns:a="http://schemas.openxmlformats.org/drawingml/2006/main" noGrp="1"/>
          </p:cNvSpPr>
          <p:nvPr/>
        </p:nvSpPr>
        <p:spPr>
          <a:xfrm xmlns:a="http://schemas.openxmlformats.org/drawingml/2006/main">
            <a:off x="68770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Apr 2026</a:t>
            </a:r>
          </a:p>
        </p:txBody>
      </p:sp>
      <p:sp>
        <p:nvSpPr>
          <p:cNvPr id="33" name="">
            <a:extLst xmlns:a="http://schemas.openxmlformats.org/drawingml/2006/main">
              <a:ext uri="{FF2B5EF4-FFF2-40B4-BE49-F238E27FC236}">
                <a16:creationId xmlns:a16="http://schemas.microsoft.com/office/drawing/2014/main" id="{E3A7A758-0D74-469C-8D77-64D3090E8289}"/>
              </a:ext>
            </a:extLst>
          </p:cNvPr>
          <p:cNvSpPr>
            <a:spLocks xmlns:a="http://schemas.openxmlformats.org/drawingml/2006/main" noGrp="1"/>
          </p:cNvSpPr>
          <p:nvPr/>
        </p:nvSpPr>
        <p:spPr>
          <a:xfrm xmlns:a="http://schemas.openxmlformats.org/drawingml/2006/main">
            <a:off x="68770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DMGT-105: LL / LG flag field amendment</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DMGT-2029: Special employer campaign pricing</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DMGT-2065: Frontline employer pricing</a:t>
            </a:r>
          </a:p>
        </p:txBody>
      </p:sp>
      <p:sp>
        <p:nvSpPr>
          <p:cNvPr id="34" name="">
            <a:extLst xmlns:a="http://schemas.openxmlformats.org/drawingml/2006/main">
              <a:ext uri="{FF2B5EF4-FFF2-40B4-BE49-F238E27FC236}">
                <a16:creationId xmlns:a16="http://schemas.microsoft.com/office/drawing/2014/main" id="{5C14AAB8-929D-4133-B9A8-EF6E3F7B5B05}"/>
              </a:ext>
            </a:extLst>
          </p:cNvPr>
          <p:cNvSpPr>
            <a:spLocks xmlns:a="http://schemas.openxmlformats.org/drawingml/2006/main" noGrp="1"/>
          </p:cNvSpPr>
          <p:nvPr/>
        </p:nvSpPr>
        <p:spPr>
          <a:xfrm xmlns:a="http://schemas.openxmlformats.org/drawingml/2006/main">
            <a:off x="457200" y="4905375"/>
            <a:ext cx="1104900" cy="1333500"/>
          </a:xfrm>
          <a:prstGeom xmlns:a="http://schemas.openxmlformats.org/drawingml/2006/main" prst="roundRect">
            <a:avLst>
              <a:gd name="adj" fmla="val 10345"/>
            </a:avLst>
          </a:prstGeom>
          <a:solidFill xmlns:a="http://schemas.openxmlformats.org/drawingml/2006/main">
            <a:srgbClr val="EFE7F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8745987-1EA8-4CF2-ADF6-F540E02E2F3C}"/>
              </a:ext>
            </a:extLst>
          </p:cNvPr>
          <p:cNvSpPr>
            <a:spLocks xmlns:a="http://schemas.openxmlformats.org/drawingml/2006/main" noGrp="1"/>
          </p:cNvSpPr>
          <p:nvPr/>
        </p:nvSpPr>
        <p:spPr>
          <a:xfrm xmlns:a="http://schemas.openxmlformats.org/drawingml/2006/main">
            <a:off x="561975" y="50482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2026</a:t>
            </a:r>
          </a:p>
        </p:txBody>
      </p:sp>
      <p:sp>
        <p:nvSpPr>
          <p:cNvPr id="36" name="">
            <a:extLst xmlns:a="http://schemas.openxmlformats.org/drawingml/2006/main">
              <a:ext uri="{FF2B5EF4-FFF2-40B4-BE49-F238E27FC236}">
                <a16:creationId xmlns:a16="http://schemas.microsoft.com/office/drawing/2014/main" id="{403C8F1F-3554-4A35-B1FD-D49A82A00AC6}"/>
              </a:ext>
            </a:extLst>
          </p:cNvPr>
          <p:cNvSpPr>
            <a:spLocks xmlns:a="http://schemas.openxmlformats.org/drawingml/2006/main" noGrp="1"/>
          </p:cNvSpPr>
          <p:nvPr/>
        </p:nvSpPr>
        <p:spPr>
          <a:xfrm xmlns:a="http://schemas.openxmlformats.org/drawingml/2006/main">
            <a:off x="561975" y="54387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Planned</a:t>
            </a:r>
          </a:p>
        </p:txBody>
      </p:sp>
      <p:sp>
        <p:nvSpPr>
          <p:cNvPr id="37" name="">
            <a:extLst xmlns:a="http://schemas.openxmlformats.org/drawingml/2006/main">
              <a:ext uri="{FF2B5EF4-FFF2-40B4-BE49-F238E27FC236}">
                <a16:creationId xmlns:a16="http://schemas.microsoft.com/office/drawing/2014/main" id="{CA8218F6-7367-41A6-8C75-39C1116A59DB}"/>
              </a:ext>
            </a:extLst>
          </p:cNvPr>
          <p:cNvSpPr>
            <a:spLocks xmlns:a="http://schemas.openxmlformats.org/drawingml/2006/main" noGrp="1"/>
          </p:cNvSpPr>
          <p:nvPr/>
        </p:nvSpPr>
        <p:spPr>
          <a:xfrm xmlns:a="http://schemas.openxmlformats.org/drawingml/2006/main">
            <a:off x="17145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13B17CE-3D88-4C38-902B-D5CD9BA3EB06}"/>
              </a:ext>
            </a:extLst>
          </p:cNvPr>
          <p:cNvSpPr>
            <a:spLocks xmlns:a="http://schemas.openxmlformats.org/drawingml/2006/main" noGrp="1"/>
          </p:cNvSpPr>
          <p:nvPr/>
        </p:nvSpPr>
        <p:spPr>
          <a:xfrm xmlns:a="http://schemas.openxmlformats.org/drawingml/2006/main">
            <a:off x="18097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Jun 2026</a:t>
            </a:r>
          </a:p>
        </p:txBody>
      </p:sp>
      <p:sp>
        <p:nvSpPr>
          <p:cNvPr id="39" name="">
            <a:extLst xmlns:a="http://schemas.openxmlformats.org/drawingml/2006/main">
              <a:ext uri="{FF2B5EF4-FFF2-40B4-BE49-F238E27FC236}">
                <a16:creationId xmlns:a16="http://schemas.microsoft.com/office/drawing/2014/main" id="{1F2EDE81-64C9-4DFB-80F0-0388EFDD53F1}"/>
              </a:ext>
            </a:extLst>
          </p:cNvPr>
          <p:cNvSpPr>
            <a:spLocks xmlns:a="http://schemas.openxmlformats.org/drawingml/2006/main" noGrp="1"/>
          </p:cNvSpPr>
          <p:nvPr/>
        </p:nvSpPr>
        <p:spPr>
          <a:xfrm xmlns:a="http://schemas.openxmlformats.org/drawingml/2006/main">
            <a:off x="18097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DMGT-913: Add employer pricing campaign</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DMGT-2231: Additional frontline employer campaign</a:t>
            </a:r>
          </a:p>
        </p:txBody>
      </p:sp>
      <p:sp>
        <p:nvSpPr>
          <p:cNvPr id="40" name="">
            <a:extLst xmlns:a="http://schemas.openxmlformats.org/drawingml/2006/main">
              <a:ext uri="{FF2B5EF4-FFF2-40B4-BE49-F238E27FC236}">
                <a16:creationId xmlns:a16="http://schemas.microsoft.com/office/drawing/2014/main" id="{9AD89832-C8FA-4C42-A7DC-9703D3D48C1C}"/>
              </a:ext>
            </a:extLst>
          </p:cNvPr>
          <p:cNvSpPr>
            <a:spLocks xmlns:a="http://schemas.openxmlformats.org/drawingml/2006/main" noGrp="1"/>
          </p:cNvSpPr>
          <p:nvPr/>
        </p:nvSpPr>
        <p:spPr>
          <a:xfrm xmlns:a="http://schemas.openxmlformats.org/drawingml/2006/main">
            <a:off x="41433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1" name="">
            <a:extLst xmlns:a="http://schemas.openxmlformats.org/drawingml/2006/main">
              <a:ext uri="{FF2B5EF4-FFF2-40B4-BE49-F238E27FC236}">
                <a16:creationId xmlns:a16="http://schemas.microsoft.com/office/drawing/2014/main" id="{99D767EC-F33E-48FE-805A-FEDA5EEA4C9B}"/>
              </a:ext>
            </a:extLst>
          </p:cNvPr>
          <p:cNvSpPr>
            <a:spLocks xmlns:a="http://schemas.openxmlformats.org/drawingml/2006/main" noGrp="1"/>
          </p:cNvSpPr>
          <p:nvPr/>
        </p:nvSpPr>
        <p:spPr>
          <a:xfrm xmlns:a="http://schemas.openxmlformats.org/drawingml/2006/main">
            <a:off x="424815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C11372D-8C54-44EF-9822-C42FFF23071B}"/>
              </a:ext>
            </a:extLst>
          </p:cNvPr>
          <p:cNvSpPr>
            <a:spLocks xmlns:a="http://schemas.openxmlformats.org/drawingml/2006/main" noGrp="1"/>
          </p:cNvSpPr>
          <p:nvPr/>
        </p:nvSpPr>
        <p:spPr>
          <a:xfrm xmlns:a="http://schemas.openxmlformats.org/drawingml/2006/main">
            <a:off x="43434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Jul 2026</a:t>
            </a:r>
          </a:p>
        </p:txBody>
      </p:sp>
      <p:sp>
        <p:nvSpPr>
          <p:cNvPr id="43" name="">
            <a:extLst xmlns:a="http://schemas.openxmlformats.org/drawingml/2006/main">
              <a:ext uri="{FF2B5EF4-FFF2-40B4-BE49-F238E27FC236}">
                <a16:creationId xmlns:a16="http://schemas.microsoft.com/office/drawing/2014/main" id="{DC1390C1-BC53-48B9-A632-54C792D9F570}"/>
              </a:ext>
            </a:extLst>
          </p:cNvPr>
          <p:cNvSpPr>
            <a:spLocks xmlns:a="http://schemas.openxmlformats.org/drawingml/2006/main" noGrp="1"/>
          </p:cNvSpPr>
          <p:nvPr/>
        </p:nvSpPr>
        <p:spPr>
          <a:xfrm xmlns:a="http://schemas.openxmlformats.org/drawingml/2006/main">
            <a:off x="43434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DMGT-2296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Extend the existing Frontline Hero campaign</a:t>
            </a:r>
          </a:p>
        </p:txBody>
      </p:sp>
      <p:sp>
        <p:nvSpPr>
          <p:cNvPr id="44" name="">
            <a:extLst xmlns:a="http://schemas.openxmlformats.org/drawingml/2006/main">
              <a:ext uri="{FF2B5EF4-FFF2-40B4-BE49-F238E27FC236}">
                <a16:creationId xmlns:a16="http://schemas.microsoft.com/office/drawing/2014/main" id="{B8170404-E1B0-421F-9C5E-956E15B701AD}"/>
              </a:ext>
            </a:extLst>
          </p:cNvPr>
          <p:cNvSpPr>
            <a:spLocks xmlns:a="http://schemas.openxmlformats.org/drawingml/2006/main" noGrp="1"/>
          </p:cNvSpPr>
          <p:nvPr/>
        </p:nvSpPr>
        <p:spPr>
          <a:xfrm xmlns:a="http://schemas.openxmlformats.org/drawingml/2006/main">
            <a:off x="667702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5" name="">
            <a:extLst xmlns:a="http://schemas.openxmlformats.org/drawingml/2006/main">
              <a:ext uri="{FF2B5EF4-FFF2-40B4-BE49-F238E27FC236}">
                <a16:creationId xmlns:a16="http://schemas.microsoft.com/office/drawing/2014/main" id="{5A1E5B0F-CEE6-4AAD-97DC-CE9F6FA19434}"/>
              </a:ext>
            </a:extLst>
          </p:cNvPr>
          <p:cNvSpPr>
            <a:spLocks xmlns:a="http://schemas.openxmlformats.org/drawingml/2006/main" noGrp="1"/>
          </p:cNvSpPr>
          <p:nvPr/>
        </p:nvSpPr>
        <p:spPr>
          <a:xfrm xmlns:a="http://schemas.openxmlformats.org/drawingml/2006/main">
            <a:off x="67818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8D3D3A3-E01A-4B10-8A93-C31C0D9C7BEE}"/>
              </a:ext>
            </a:extLst>
          </p:cNvPr>
          <p:cNvSpPr>
            <a:spLocks xmlns:a="http://schemas.openxmlformats.org/drawingml/2006/main" noGrp="1"/>
          </p:cNvSpPr>
          <p:nvPr/>
        </p:nvSpPr>
        <p:spPr>
          <a:xfrm xmlns:a="http://schemas.openxmlformats.org/drawingml/2006/main">
            <a:off x="68770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Aug 2026</a:t>
            </a:r>
          </a:p>
        </p:txBody>
      </p:sp>
      <p:sp>
        <p:nvSpPr>
          <p:cNvPr id="47" name="">
            <a:extLst xmlns:a="http://schemas.openxmlformats.org/drawingml/2006/main">
              <a:ext uri="{FF2B5EF4-FFF2-40B4-BE49-F238E27FC236}">
                <a16:creationId xmlns:a16="http://schemas.microsoft.com/office/drawing/2014/main" id="{EFC1CDF1-D81C-4D6F-BE28-30D6E0F77F01}"/>
              </a:ext>
            </a:extLst>
          </p:cNvPr>
          <p:cNvSpPr>
            <a:spLocks xmlns:a="http://schemas.openxmlformats.org/drawingml/2006/main" noGrp="1"/>
          </p:cNvSpPr>
          <p:nvPr/>
        </p:nvSpPr>
        <p:spPr>
          <a:xfrm xmlns:a="http://schemas.openxmlformats.org/drawingml/2006/main">
            <a:off x="68770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DMGT-2407</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LS NTML for PF</a:t>
            </a:r>
          </a:p>
        </p:txBody>
      </p:sp>
      <p:sp>
        <p:nvSpPr>
          <p:cNvPr id="48" name="">
            <a:extLst xmlns:a="http://schemas.openxmlformats.org/drawingml/2006/main">
              <a:ext uri="{FF2B5EF4-FFF2-40B4-BE49-F238E27FC236}">
                <a16:creationId xmlns:a16="http://schemas.microsoft.com/office/drawing/2014/main" id="{B7D12FF6-0860-4788-A56F-7D4DDDCE69FD}"/>
              </a:ext>
            </a:extLst>
          </p:cNvPr>
          <p:cNvSpPr>
            <a:spLocks xmlns:a="http://schemas.openxmlformats.org/drawingml/2006/main" noGrp="1"/>
          </p:cNvSpPr>
          <p:nvPr/>
        </p:nvSpPr>
        <p:spPr>
          <a:xfrm xmlns:a="http://schemas.openxmlformats.org/drawingml/2006/main">
            <a:off x="92106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9" name="">
            <a:extLst xmlns:a="http://schemas.openxmlformats.org/drawingml/2006/main">
              <a:ext uri="{FF2B5EF4-FFF2-40B4-BE49-F238E27FC236}">
                <a16:creationId xmlns:a16="http://schemas.microsoft.com/office/drawing/2014/main" id="{CDD5C50D-78AC-4857-9A51-0453DD07F2C8}"/>
              </a:ext>
            </a:extLst>
          </p:cNvPr>
          <p:cNvSpPr>
            <a:spLocks xmlns:a="http://schemas.openxmlformats.org/drawingml/2006/main" noGrp="1"/>
          </p:cNvSpPr>
          <p:nvPr/>
        </p:nvSpPr>
        <p:spPr>
          <a:xfrm xmlns:a="http://schemas.openxmlformats.org/drawingml/2006/main">
            <a:off x="9315450" y="4905375"/>
            <a:ext cx="2419350" cy="1333500"/>
          </a:xfrm>
          <a:prstGeom xmlns:a="http://schemas.openxmlformats.org/drawingml/2006/main" prst="roundRect">
            <a:avLst>
              <a:gd name="adj" fmla="val 8571"/>
            </a:avLst>
          </a:prstGeom>
          <a:solidFill xmlns:a="http://schemas.openxmlformats.org/drawingml/2006/main">
            <a:srgbClr val="FFF1D7"/>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8E02978-B605-4A67-872E-B2D60E101FFD}"/>
              </a:ext>
            </a:extLst>
          </p:cNvPr>
          <p:cNvSpPr>
            <a:spLocks xmlns:a="http://schemas.openxmlformats.org/drawingml/2006/main" noGrp="1"/>
          </p:cNvSpPr>
          <p:nvPr/>
        </p:nvSpPr>
        <p:spPr>
          <a:xfrm xmlns:a="http://schemas.openxmlformats.org/drawingml/2006/main">
            <a:off x="94107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F6D12"/>
                </a:solidFill>
                <a:latin typeface="DejaVu Sans"/>
                <a:ea typeface="DejaVu Sans"/>
                <a:cs typeface="DejaVu Sans"/>
              </a:defRPr>
            </a:pPr>
            <a:r>
              <a:rPr sz="1350" b="1">
                <a:solidFill>
                  <a:srgbClr val="BF6D12"/>
                </a:solidFill>
                <a:latin typeface="DejaVu Sans"/>
                <a:ea typeface="DejaVu Sans"/>
                <a:cs typeface="DejaVu Sans"/>
              </a:rPr>
              <a:t>◷  Oct 2026 planned</a:t>
            </a:r>
          </a:p>
        </p:txBody>
      </p:sp>
      <p:sp>
        <p:nvSpPr>
          <p:cNvPr id="51" name="">
            <a:extLst xmlns:a="http://schemas.openxmlformats.org/drawingml/2006/main">
              <a:ext uri="{FF2B5EF4-FFF2-40B4-BE49-F238E27FC236}">
                <a16:creationId xmlns:a16="http://schemas.microsoft.com/office/drawing/2014/main" id="{CF6A556B-AD8F-41CE-90C8-81EF7BD1A7B5}"/>
              </a:ext>
            </a:extLst>
          </p:cNvPr>
          <p:cNvSpPr>
            <a:spLocks xmlns:a="http://schemas.openxmlformats.org/drawingml/2006/main" noGrp="1"/>
          </p:cNvSpPr>
          <p:nvPr/>
        </p:nvSpPr>
        <p:spPr>
          <a:xfrm xmlns:a="http://schemas.openxmlformats.org/drawingml/2006/main">
            <a:off x="94107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FTS in all STL segments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4 October target in September summary</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Delivery confirmation pending</a:t>
            </a:r>
          </a:p>
        </p:txBody>
      </p:sp>
    </p:spTree>
    <p:extLst>
      <p:ext uri="{BB962C8B-B14F-4D97-AF65-F5344CB8AC3E}">
        <p14:creationId xmlns:p14="http://schemas.microsoft.com/office/powerpoint/2010/main" val="17064705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531B7B9-5838-4C5D-A594-1698D68773A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29D78CF-1A78-41AE-AB13-F6B9B1B1C1C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delivers 15 items with no reported outages</a:t>
            </a:r>
          </a:p>
        </p:txBody>
      </p:sp>
      <p:sp>
        <p:nvSpPr>
          <p:cNvPr id="3" name="">
            <a:extLst xmlns:a="http://schemas.openxmlformats.org/drawingml/2006/main">
              <a:ext uri="{FF2B5EF4-FFF2-40B4-BE49-F238E27FC236}">
                <a16:creationId xmlns:a16="http://schemas.microsoft.com/office/drawing/2014/main" id="{06CD8F53-16DB-4A8C-A133-81F8B6B9117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executive outcome. Reliability remains green, with a minor-incident workload to monitor.</a:t>
            </a:r>
          </a:p>
        </p:txBody>
      </p:sp>
      <p:sp>
        <p:nvSpPr>
          <p:cNvPr id="4" name="">
            <a:extLst xmlns:a="http://schemas.openxmlformats.org/drawingml/2006/main">
              <a:ext uri="{FF2B5EF4-FFF2-40B4-BE49-F238E27FC236}">
                <a16:creationId xmlns:a16="http://schemas.microsoft.com/office/drawing/2014/main" id="{4E98CBAE-FDD8-4175-BCEA-D6F2F933CE9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F6F48AF-5FFC-470C-A8DA-A5D80AE274FF}"/>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71334B5E-FE38-447F-A9B9-8C8ED1EC28B0}"/>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A7BB14-87BF-4592-A16E-74204374C0D0}"/>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35</a:t>
            </a:r>
          </a:p>
        </p:txBody>
      </p:sp>
      <p:sp>
        <p:nvSpPr>
          <p:cNvPr id="8" name="">
            <a:extLst xmlns:a="http://schemas.openxmlformats.org/drawingml/2006/main">
              <a:ext uri="{FF2B5EF4-FFF2-40B4-BE49-F238E27FC236}">
                <a16:creationId xmlns:a16="http://schemas.microsoft.com/office/drawing/2014/main" id="{68560443-1AF5-4F62-8400-96F148D3611A}"/>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pipeline entries</a:t>
            </a:r>
          </a:p>
        </p:txBody>
      </p:sp>
      <p:sp>
        <p:nvSpPr>
          <p:cNvPr id="9" name="">
            <a:extLst xmlns:a="http://schemas.openxmlformats.org/drawingml/2006/main">
              <a:ext uri="{FF2B5EF4-FFF2-40B4-BE49-F238E27FC236}">
                <a16:creationId xmlns:a16="http://schemas.microsoft.com/office/drawing/2014/main" id="{3CC4983B-CAD8-4178-806C-2E7834E4990E}"/>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1A11FE-4222-494E-9A9D-0D0FCCBE334A}"/>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15</a:t>
            </a:r>
          </a:p>
        </p:txBody>
      </p:sp>
      <p:sp>
        <p:nvSpPr>
          <p:cNvPr id="11" name="">
            <a:extLst xmlns:a="http://schemas.openxmlformats.org/drawingml/2006/main">
              <a:ext uri="{FF2B5EF4-FFF2-40B4-BE49-F238E27FC236}">
                <a16:creationId xmlns:a16="http://schemas.microsoft.com/office/drawing/2014/main" id="{FA4B6D8E-036A-4641-BED1-0C61EE8DCCF2}"/>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live / delivered</a:t>
            </a:r>
          </a:p>
        </p:txBody>
      </p:sp>
      <p:sp>
        <p:nvSpPr>
          <p:cNvPr id="12" name="">
            <a:extLst xmlns:a="http://schemas.openxmlformats.org/drawingml/2006/main">
              <a:ext uri="{FF2B5EF4-FFF2-40B4-BE49-F238E27FC236}">
                <a16:creationId xmlns:a16="http://schemas.microsoft.com/office/drawing/2014/main" id="{FD7FAFEB-C00D-4A58-AF4E-7883145AE1B9}"/>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8E27AD-77F0-4616-BA25-B49EC1E71107}"/>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16</a:t>
            </a:r>
          </a:p>
        </p:txBody>
      </p:sp>
      <p:sp>
        <p:nvSpPr>
          <p:cNvPr id="14" name="">
            <a:extLst xmlns:a="http://schemas.openxmlformats.org/drawingml/2006/main">
              <a:ext uri="{FF2B5EF4-FFF2-40B4-BE49-F238E27FC236}">
                <a16:creationId xmlns:a16="http://schemas.microsoft.com/office/drawing/2014/main" id="{134797B1-767C-43C0-BC82-525ABF8A5E5B}"/>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 progress</a:t>
            </a:r>
          </a:p>
        </p:txBody>
      </p:sp>
      <p:sp>
        <p:nvSpPr>
          <p:cNvPr id="15" name="">
            <a:extLst xmlns:a="http://schemas.openxmlformats.org/drawingml/2006/main">
              <a:ext uri="{FF2B5EF4-FFF2-40B4-BE49-F238E27FC236}">
                <a16:creationId xmlns:a16="http://schemas.microsoft.com/office/drawing/2014/main" id="{5B5EB3C5-0EBE-4F38-973A-BA888A658AE4}"/>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D699A5-DD45-4976-88DE-DEC65B0EF5DE}"/>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980E2CA0-BBE9-4673-9DD6-39E3483226F8}"/>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under discussion</a:t>
            </a:r>
          </a:p>
        </p:txBody>
      </p:sp>
      <p:sp>
        <p:nvSpPr>
          <p:cNvPr id="18" name="">
            <a:extLst xmlns:a="http://schemas.openxmlformats.org/drawingml/2006/main">
              <a:ext uri="{FF2B5EF4-FFF2-40B4-BE49-F238E27FC236}">
                <a16:creationId xmlns:a16="http://schemas.microsoft.com/office/drawing/2014/main" id="{81DB3832-2CF6-442D-AF7A-D88AF33C12BD}"/>
              </a:ext>
            </a:extLst>
          </p:cNvPr>
          <p:cNvSpPr>
            <a:spLocks xmlns:a="http://schemas.openxmlformats.org/drawingml/2006/main" noGrp="1"/>
          </p:cNvSpPr>
          <p:nvPr/>
        </p:nvSpPr>
        <p:spPr>
          <a:xfrm xmlns:a="http://schemas.openxmlformats.org/drawingml/2006/main">
            <a:off x="457200" y="3505200"/>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95D343-85F5-4EEB-B336-23DD49F3AFE7}"/>
              </a:ext>
            </a:extLst>
          </p:cNvPr>
          <p:cNvSpPr>
            <a:spLocks xmlns:a="http://schemas.openxmlformats.org/drawingml/2006/main" noGrp="1"/>
          </p:cNvSpPr>
          <p:nvPr/>
        </p:nvSpPr>
        <p:spPr>
          <a:xfrm xmlns:a="http://schemas.openxmlformats.org/drawingml/2006/main">
            <a:off x="62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Service continuity</a:t>
            </a:r>
          </a:p>
        </p:txBody>
      </p:sp>
      <p:sp>
        <p:nvSpPr>
          <p:cNvPr id="20" name="">
            <a:extLst xmlns:a="http://schemas.openxmlformats.org/drawingml/2006/main">
              <a:ext uri="{FF2B5EF4-FFF2-40B4-BE49-F238E27FC236}">
                <a16:creationId xmlns:a16="http://schemas.microsoft.com/office/drawing/2014/main" id="{FCDA8190-EB48-4231-8915-3FADE115114D}"/>
              </a:ext>
            </a:extLst>
          </p:cNvPr>
          <p:cNvSpPr>
            <a:spLocks xmlns:a="http://schemas.openxmlformats.org/drawingml/2006/main" noGrp="1"/>
          </p:cNvSpPr>
          <p:nvPr/>
        </p:nvSpPr>
        <p:spPr>
          <a:xfrm xmlns:a="http://schemas.openxmlformats.org/drawingml/2006/main">
            <a:off x="62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planned or unplanned outages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major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127 minor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DR available and tested</a:t>
            </a:r>
          </a:p>
        </p:txBody>
      </p:sp>
      <p:sp>
        <p:nvSpPr>
          <p:cNvPr id="21" name="">
            <a:extLst xmlns:a="http://schemas.openxmlformats.org/drawingml/2006/main">
              <a:ext uri="{FF2B5EF4-FFF2-40B4-BE49-F238E27FC236}">
                <a16:creationId xmlns:a16="http://schemas.microsoft.com/office/drawing/2014/main" id="{36527C50-B8C6-496D-93DC-6F3C0F55E329}"/>
              </a:ext>
            </a:extLst>
          </p:cNvPr>
          <p:cNvSpPr>
            <a:spLocks xmlns:a="http://schemas.openxmlformats.org/drawingml/2006/main" noGrp="1"/>
          </p:cNvSpPr>
          <p:nvPr/>
        </p:nvSpPr>
        <p:spPr>
          <a:xfrm xmlns:a="http://schemas.openxmlformats.org/drawingml/2006/main">
            <a:off x="4267200" y="35052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07442F-ECB8-4FB8-83CA-F921C34473AC}"/>
              </a:ext>
            </a:extLst>
          </p:cNvPr>
          <p:cNvSpPr>
            <a:spLocks xmlns:a="http://schemas.openxmlformats.org/drawingml/2006/main" noGrp="1"/>
          </p:cNvSpPr>
          <p:nvPr/>
        </p:nvSpPr>
        <p:spPr>
          <a:xfrm xmlns:a="http://schemas.openxmlformats.org/drawingml/2006/main">
            <a:off x="443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Customer activity</a:t>
            </a:r>
          </a:p>
        </p:txBody>
      </p:sp>
      <p:sp>
        <p:nvSpPr>
          <p:cNvPr id="23" name="">
            <a:extLst xmlns:a="http://schemas.openxmlformats.org/drawingml/2006/main">
              <a:ext uri="{FF2B5EF4-FFF2-40B4-BE49-F238E27FC236}">
                <a16:creationId xmlns:a16="http://schemas.microsoft.com/office/drawing/2014/main" id="{202B99F0-BAAB-4A3E-9C68-622B840D1970}"/>
              </a:ext>
            </a:extLst>
          </p:cNvPr>
          <p:cNvSpPr>
            <a:spLocks xmlns:a="http://schemas.openxmlformats.org/drawingml/2006/main" noGrp="1"/>
          </p:cNvSpPr>
          <p:nvPr/>
        </p:nvSpPr>
        <p:spPr>
          <a:xfrm xmlns:a="http://schemas.openxmlformats.org/drawingml/2006/main">
            <a:off x="443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1,242 CIF records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51,525 leads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45,465 opportunities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5,544 cases completed</a:t>
            </a:r>
          </a:p>
        </p:txBody>
      </p:sp>
      <p:sp>
        <p:nvSpPr>
          <p:cNvPr id="24" name="">
            <a:extLst xmlns:a="http://schemas.openxmlformats.org/drawingml/2006/main">
              <a:ext uri="{FF2B5EF4-FFF2-40B4-BE49-F238E27FC236}">
                <a16:creationId xmlns:a16="http://schemas.microsoft.com/office/drawing/2014/main" id="{36EA50E9-F9B4-469C-B333-37706E4FD352}"/>
              </a:ext>
            </a:extLst>
          </p:cNvPr>
          <p:cNvSpPr>
            <a:spLocks xmlns:a="http://schemas.openxmlformats.org/drawingml/2006/main" noGrp="1"/>
          </p:cNvSpPr>
          <p:nvPr/>
        </p:nvSpPr>
        <p:spPr>
          <a:xfrm xmlns:a="http://schemas.openxmlformats.org/drawingml/2006/main">
            <a:off x="8077200" y="3505200"/>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F9C8F3B-7392-4ED3-9D6D-60B5CBAEB301}"/>
              </a:ext>
            </a:extLst>
          </p:cNvPr>
          <p:cNvSpPr>
            <a:spLocks xmlns:a="http://schemas.openxmlformats.org/drawingml/2006/main" noGrp="1"/>
          </p:cNvSpPr>
          <p:nvPr/>
        </p:nvSpPr>
        <p:spPr>
          <a:xfrm xmlns:a="http://schemas.openxmlformats.org/drawingml/2006/main">
            <a:off x="824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Cloud readiness</a:t>
            </a:r>
          </a:p>
        </p:txBody>
      </p:sp>
      <p:sp>
        <p:nvSpPr>
          <p:cNvPr id="26" name="">
            <a:extLst xmlns:a="http://schemas.openxmlformats.org/drawingml/2006/main">
              <a:ext uri="{FF2B5EF4-FFF2-40B4-BE49-F238E27FC236}">
                <a16:creationId xmlns:a16="http://schemas.microsoft.com/office/drawing/2014/main" id="{49C619E2-AC30-4DC8-8171-ED538DE1DB9E}"/>
              </a:ext>
            </a:extLst>
          </p:cNvPr>
          <p:cNvSpPr>
            <a:spLocks xmlns:a="http://schemas.openxmlformats.org/drawingml/2006/main" noGrp="1"/>
          </p:cNvSpPr>
          <p:nvPr/>
        </p:nvSpPr>
        <p:spPr>
          <a:xfrm xmlns:a="http://schemas.openxmlformats.org/drawingml/2006/main">
            <a:off x="824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Planning / under discussion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Q3 2027 target in latest overview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10 team members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reports adequate staffing</a:t>
            </a:r>
          </a:p>
        </p:txBody>
      </p:sp>
      <p:sp>
        <p:nvSpPr>
          <p:cNvPr id="27" name="">
            <a:extLst xmlns:a="http://schemas.openxmlformats.org/drawingml/2006/main">
              <a:ext uri="{FF2B5EF4-FFF2-40B4-BE49-F238E27FC236}">
                <a16:creationId xmlns:a16="http://schemas.microsoft.com/office/drawing/2014/main" id="{681DC338-5F16-4B1A-968A-AB54A98F49F2}"/>
              </a:ext>
            </a:extLst>
          </p:cNvPr>
          <p:cNvSpPr>
            <a:spLocks xmlns:a="http://schemas.openxmlformats.org/drawingml/2006/main" noGrp="1"/>
          </p:cNvSpPr>
          <p:nvPr/>
        </p:nvSpPr>
        <p:spPr>
          <a:xfrm xmlns:a="http://schemas.openxmlformats.org/drawingml/2006/main">
            <a:off x="457200" y="57150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Management focus</a:t>
            </a:r>
          </a:p>
        </p:txBody>
      </p:sp>
      <p:sp>
        <p:nvSpPr>
          <p:cNvPr id="28" name="">
            <a:extLst xmlns:a="http://schemas.openxmlformats.org/drawingml/2006/main">
              <a:ext uri="{FF2B5EF4-FFF2-40B4-BE49-F238E27FC236}">
                <a16:creationId xmlns:a16="http://schemas.microsoft.com/office/drawing/2014/main" id="{C1AD07BD-2B6D-4104-B6D6-81992FC304F8}"/>
              </a:ext>
            </a:extLst>
          </p:cNvPr>
          <p:cNvSpPr>
            <a:spLocks xmlns:a="http://schemas.openxmlformats.org/drawingml/2006/main" noGrp="1"/>
          </p:cNvSpPr>
          <p:nvPr/>
        </p:nvSpPr>
        <p:spPr>
          <a:xfrm xmlns:a="http://schemas.openxmlformats.org/drawingml/2006/main">
            <a:off x="3095625" y="56673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A4B"/>
                </a:solidFill>
                <a:latin typeface="DejaVu Sans"/>
                <a:ea typeface="DejaVu Sans"/>
                <a:cs typeface="DejaVu Sans"/>
              </a:defRPr>
            </a:pPr>
            <a:r>
              <a:rPr sz="1725" b="0">
                <a:solidFill>
                  <a:srgbClr val="173A4B"/>
                </a:solidFill>
                <a:latin typeface="DejaVu Sans"/>
                <a:ea typeface="DejaVu Sans"/>
                <a:cs typeface="DejaVu Sans"/>
              </a:rPr>
              <a:t>Track minor-incident drivers, progress the 16 delivery entries and agree the cloud migration approach.</a:t>
            </a:r>
          </a:p>
        </p:txBody>
      </p:sp>
    </p:spTree>
    <p:extLst>
      <p:ext uri="{BB962C8B-B14F-4D97-AF65-F5344CB8AC3E}">
        <p14:creationId xmlns:p14="http://schemas.microsoft.com/office/powerpoint/2010/main" val="11728197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C17754-2837-44F5-BA0D-271CD6F3081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B33E577-1768-4C8F-B05B-787C718EFCD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supports customer onboarding and sales activity</a:t>
            </a:r>
          </a:p>
        </p:txBody>
      </p:sp>
      <p:sp>
        <p:nvSpPr>
          <p:cNvPr id="3" name="">
            <a:extLst xmlns:a="http://schemas.openxmlformats.org/drawingml/2006/main">
              <a:ext uri="{FF2B5EF4-FFF2-40B4-BE49-F238E27FC236}">
                <a16:creationId xmlns:a16="http://schemas.microsoft.com/office/drawing/2014/main" id="{229E8970-373E-4FF8-920C-ACFFB400453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Workflow volumes are separate activity measures. Weekly incidents total 127, all minor.</a:t>
            </a:r>
          </a:p>
        </p:txBody>
      </p:sp>
      <p:sp>
        <p:nvSpPr>
          <p:cNvPr id="4" name="">
            <a:extLst xmlns:a="http://schemas.openxmlformats.org/drawingml/2006/main">
              <a:ext uri="{FF2B5EF4-FFF2-40B4-BE49-F238E27FC236}">
                <a16:creationId xmlns:a16="http://schemas.microsoft.com/office/drawing/2014/main" id="{62B49F47-59B3-48CF-8945-610C8F6F363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E5F42B0A-CB72-4373-B855-7F1BB3D3E17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AA5591FD-EC60-4456-AAE2-6BA321975E19}"/>
              </a:ext>
            </a:extLst>
          </p:cNvPr>
          <p:cNvSpPr>
            <a:spLocks xmlns:a="http://schemas.openxmlformats.org/drawingml/2006/main" noGrp="1"/>
          </p:cNvSpPr>
          <p:nvPr/>
        </p:nvSpPr>
        <p:spPr>
          <a:xfrm xmlns:a="http://schemas.openxmlformats.org/drawingml/2006/main">
            <a:off x="457200" y="20764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Weekly minor incidents</a:t>
            </a:r>
          </a:p>
        </p:txBody>
      </p:sp>
      <p:graphicFrame>
        <p:nvGraphicFramePr>
          <p:cNvPr id="29" name="Chart"/>
          <p:cNvGraphicFramePr/>
          <p:nvPr/>
        </p:nvGraphicFramePr>
        <p:xfrm>
          <a:off xmlns:a="http://schemas.openxmlformats.org/drawingml/2006/main" x="457200" y="2495550"/>
          <a:ext xmlns:a="http://schemas.openxmlformats.org/drawingml/2006/main" cx="5048250" cy="2419350"/>
        </p:xfrm>
        <a:graphic xmlns:a="http://schemas.openxmlformats.org/drawingml/2006/main">
          <a:graphicData uri="http://schemas.openxmlformats.org/drawingml/2006/chart">
            <c:chart xmlns:r="http://schemas.openxmlformats.org/officeDocument/2006/relationships" xmlns:c="http://schemas.openxmlformats.org/drawingml/2006/chart" r:id="Rbb0a22c53d2f40ac"/>
          </a:graphicData>
        </a:graphic>
      </p:graphicFrame>
      <p:sp>
        <p:nvSpPr>
          <p:cNvPr id="8" name="">
            <a:extLst xmlns:a="http://schemas.openxmlformats.org/drawingml/2006/main">
              <a:ext uri="{FF2B5EF4-FFF2-40B4-BE49-F238E27FC236}">
                <a16:creationId xmlns:a16="http://schemas.microsoft.com/office/drawing/2014/main" id="{A1789F44-6B16-4A0E-B2B4-1363E3050D32}"/>
              </a:ext>
            </a:extLst>
          </p:cNvPr>
          <p:cNvSpPr>
            <a:spLocks xmlns:a="http://schemas.openxmlformats.org/drawingml/2006/main" noGrp="1"/>
          </p:cNvSpPr>
          <p:nvPr/>
        </p:nvSpPr>
        <p:spPr>
          <a:xfrm xmlns:a="http://schemas.openxmlformats.org/drawingml/2006/main">
            <a:off x="6191250" y="2076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Workflow activity</a:t>
            </a:r>
          </a:p>
        </p:txBody>
      </p:sp>
      <p:graphicFrame>
        <p:nvGraphicFramePr>
          <p:cNvPr id="31" name="Chart"/>
          <p:cNvGraphicFramePr/>
          <p:nvPr/>
        </p:nvGraphicFramePr>
        <p:xfrm>
          <a:off xmlns:a="http://schemas.openxmlformats.org/drawingml/2006/main" x="6096000" y="2495550"/>
          <a:ext xmlns:a="http://schemas.openxmlformats.org/drawingml/2006/main" cx="5638800" cy="2419350"/>
        </p:xfrm>
        <a:graphic xmlns:a="http://schemas.openxmlformats.org/drawingml/2006/main">
          <a:graphicData uri="http://schemas.openxmlformats.org/drawingml/2006/chart">
            <c:chart xmlns:r="http://schemas.openxmlformats.org/officeDocument/2006/relationships" xmlns:c="http://schemas.openxmlformats.org/drawingml/2006/chart" r:id="R5ff8f80e917d499d"/>
          </a:graphicData>
        </a:graphic>
      </p:graphicFrame>
      <p:sp>
        <p:nvSpPr>
          <p:cNvPr id="10" name="">
            <a:extLst xmlns:a="http://schemas.openxmlformats.org/drawingml/2006/main">
              <a:ext uri="{FF2B5EF4-FFF2-40B4-BE49-F238E27FC236}">
                <a16:creationId xmlns:a16="http://schemas.microsoft.com/office/drawing/2014/main" id="{4218FC95-F234-4DA8-9F61-EE318626F62E}"/>
              </a:ext>
            </a:extLst>
          </p:cNvPr>
          <p:cNvSpPr>
            <a:spLocks xmlns:a="http://schemas.openxmlformats.org/drawingml/2006/main" noGrp="1"/>
          </p:cNvSpPr>
          <p:nvPr/>
        </p:nvSpPr>
        <p:spPr>
          <a:xfrm xmlns:a="http://schemas.openxmlformats.org/drawingml/2006/main">
            <a:off x="457200" y="513397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1,242 CIF records in September</a:t>
            </a:r>
          </a:p>
        </p:txBody>
      </p:sp>
      <p:sp>
        <p:nvSpPr>
          <p:cNvPr id="11" name="">
            <a:extLst xmlns:a="http://schemas.openxmlformats.org/drawingml/2006/main">
              <a:ext uri="{FF2B5EF4-FFF2-40B4-BE49-F238E27FC236}">
                <a16:creationId xmlns:a16="http://schemas.microsoft.com/office/drawing/2014/main" id="{455C835F-5436-49E9-B7FC-52AB09C385EE}"/>
              </a:ext>
            </a:extLst>
          </p:cNvPr>
          <p:cNvSpPr>
            <a:spLocks xmlns:a="http://schemas.openxmlformats.org/drawingml/2006/main" noGrp="1"/>
          </p:cNvSpPr>
          <p:nvPr/>
        </p:nvSpPr>
        <p:spPr>
          <a:xfrm xmlns:a="http://schemas.openxmlformats.org/drawingml/2006/main">
            <a:off x="457200" y="5610225"/>
            <a:ext cx="2667000" cy="676275"/>
          </a:xfrm>
          <a:prstGeom xmlns:a="http://schemas.openxmlformats.org/drawingml/2006/main" prst="roundRect">
            <a:avLst>
              <a:gd name="adj" fmla="val 16901"/>
            </a:avLst>
          </a:prstGeom>
          <a:solidFill xmlns:a="http://schemas.openxmlformats.org/drawingml/2006/main">
            <a:srgbClr val="E6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398D6D-DA89-49D2-B496-4A3866F1D5F0}"/>
              </a:ext>
            </a:extLst>
          </p:cNvPr>
          <p:cNvSpPr>
            <a:spLocks xmlns:a="http://schemas.openxmlformats.org/drawingml/2006/main" noGrp="1"/>
          </p:cNvSpPr>
          <p:nvPr/>
        </p:nvSpPr>
        <p:spPr>
          <a:xfrm xmlns:a="http://schemas.openxmlformats.org/drawingml/2006/main">
            <a:off x="590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68"/>
                </a:solidFill>
                <a:latin typeface="DejaVu Sans"/>
                <a:ea typeface="DejaVu Sans"/>
                <a:cs typeface="DejaVu Sans"/>
              </a:defRPr>
            </a:pPr>
            <a:r>
              <a:rPr sz="1275" b="1">
                <a:solidFill>
                  <a:srgbClr val="087F68"/>
                </a:solidFill>
                <a:latin typeface="DejaVu Sans"/>
                <a:ea typeface="DejaVu Sans"/>
                <a:cs typeface="DejaVu Sans"/>
              </a:rPr>
              <a:t>♙  Retail</a:t>
            </a:r>
          </a:p>
        </p:txBody>
      </p:sp>
      <p:sp>
        <p:nvSpPr>
          <p:cNvPr id="13" name="">
            <a:extLst xmlns:a="http://schemas.openxmlformats.org/drawingml/2006/main">
              <a:ext uri="{FF2B5EF4-FFF2-40B4-BE49-F238E27FC236}">
                <a16:creationId xmlns:a16="http://schemas.microsoft.com/office/drawing/2014/main" id="{E797E0AB-D547-4BB0-AE7D-BC48B8B2BF87}"/>
              </a:ext>
            </a:extLst>
          </p:cNvPr>
          <p:cNvSpPr>
            <a:spLocks xmlns:a="http://schemas.openxmlformats.org/drawingml/2006/main" noGrp="1"/>
          </p:cNvSpPr>
          <p:nvPr/>
        </p:nvSpPr>
        <p:spPr>
          <a:xfrm xmlns:a="http://schemas.openxmlformats.org/drawingml/2006/main">
            <a:off x="590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1,016</a:t>
            </a:r>
          </a:p>
        </p:txBody>
      </p:sp>
      <p:sp>
        <p:nvSpPr>
          <p:cNvPr id="14" name="">
            <a:extLst xmlns:a="http://schemas.openxmlformats.org/drawingml/2006/main">
              <a:ext uri="{FF2B5EF4-FFF2-40B4-BE49-F238E27FC236}">
                <a16:creationId xmlns:a16="http://schemas.microsoft.com/office/drawing/2014/main" id="{5EA54824-77D7-4197-B73A-DE81E7460CCA}"/>
              </a:ext>
            </a:extLst>
          </p:cNvPr>
          <p:cNvSpPr>
            <a:spLocks xmlns:a="http://schemas.openxmlformats.org/drawingml/2006/main" noGrp="1"/>
          </p:cNvSpPr>
          <p:nvPr/>
        </p:nvSpPr>
        <p:spPr>
          <a:xfrm xmlns:a="http://schemas.openxmlformats.org/drawingml/2006/main">
            <a:off x="3314700" y="5610225"/>
            <a:ext cx="2667000" cy="676275"/>
          </a:xfrm>
          <a:prstGeom xmlns:a="http://schemas.openxmlformats.org/drawingml/2006/main" prst="roundRect">
            <a:avLst>
              <a:gd name="adj" fmla="val 16901"/>
            </a:avLst>
          </a:prstGeom>
          <a:solidFill xmlns:a="http://schemas.openxmlformats.org/drawingml/2006/main">
            <a:srgbClr val="E8F3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8FB5DE-C194-4A80-96E2-92CF4BF2F572}"/>
              </a:ext>
            </a:extLst>
          </p:cNvPr>
          <p:cNvSpPr>
            <a:spLocks xmlns:a="http://schemas.openxmlformats.org/drawingml/2006/main" noGrp="1"/>
          </p:cNvSpPr>
          <p:nvPr/>
        </p:nvSpPr>
        <p:spPr>
          <a:xfrm xmlns:a="http://schemas.openxmlformats.org/drawingml/2006/main">
            <a:off x="3448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8C2"/>
                </a:solidFill>
                <a:latin typeface="DejaVu Sans"/>
                <a:ea typeface="DejaVu Sans"/>
                <a:cs typeface="DejaVu Sans"/>
              </a:defRPr>
            </a:pPr>
            <a:r>
              <a:rPr sz="1275" b="1">
                <a:solidFill>
                  <a:srgbClr val="1688C2"/>
                </a:solidFill>
                <a:latin typeface="DejaVu Sans"/>
                <a:ea typeface="DejaVu Sans"/>
                <a:cs typeface="DejaVu Sans"/>
              </a:rPr>
              <a:t>◆  Corporate</a:t>
            </a:r>
          </a:p>
        </p:txBody>
      </p:sp>
      <p:sp>
        <p:nvSpPr>
          <p:cNvPr id="16" name="">
            <a:extLst xmlns:a="http://schemas.openxmlformats.org/drawingml/2006/main">
              <a:ext uri="{FF2B5EF4-FFF2-40B4-BE49-F238E27FC236}">
                <a16:creationId xmlns:a16="http://schemas.microsoft.com/office/drawing/2014/main" id="{A2586F75-7827-4B2A-8C3E-F26AB8E90937}"/>
              </a:ext>
            </a:extLst>
          </p:cNvPr>
          <p:cNvSpPr>
            <a:spLocks xmlns:a="http://schemas.openxmlformats.org/drawingml/2006/main" noGrp="1"/>
          </p:cNvSpPr>
          <p:nvPr/>
        </p:nvSpPr>
        <p:spPr>
          <a:xfrm xmlns:a="http://schemas.openxmlformats.org/drawingml/2006/main">
            <a:off x="3448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11</a:t>
            </a:r>
          </a:p>
        </p:txBody>
      </p:sp>
      <p:sp>
        <p:nvSpPr>
          <p:cNvPr id="17" name="">
            <a:extLst xmlns:a="http://schemas.openxmlformats.org/drawingml/2006/main">
              <a:ext uri="{FF2B5EF4-FFF2-40B4-BE49-F238E27FC236}">
                <a16:creationId xmlns:a16="http://schemas.microsoft.com/office/drawing/2014/main" id="{891FC9DC-A17B-453C-9435-72C1C57E8041}"/>
              </a:ext>
            </a:extLst>
          </p:cNvPr>
          <p:cNvSpPr>
            <a:spLocks xmlns:a="http://schemas.openxmlformats.org/drawingml/2006/main" noGrp="1"/>
          </p:cNvSpPr>
          <p:nvPr/>
        </p:nvSpPr>
        <p:spPr>
          <a:xfrm xmlns:a="http://schemas.openxmlformats.org/drawingml/2006/main">
            <a:off x="6172200" y="5610225"/>
            <a:ext cx="2667000" cy="676275"/>
          </a:xfrm>
          <a:prstGeom xmlns:a="http://schemas.openxmlformats.org/drawingml/2006/main" prst="roundRect">
            <a:avLst>
              <a:gd name="adj" fmla="val 16901"/>
            </a:avLst>
          </a:prstGeom>
          <a:solidFill xmlns:a="http://schemas.openxmlformats.org/drawingml/2006/main">
            <a:srgbClr val="F0EA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424561F-FEE6-4D05-BA5F-C7A671BB753C}"/>
              </a:ext>
            </a:extLst>
          </p:cNvPr>
          <p:cNvSpPr>
            <a:spLocks xmlns:a="http://schemas.openxmlformats.org/drawingml/2006/main" noGrp="1"/>
          </p:cNvSpPr>
          <p:nvPr/>
        </p:nvSpPr>
        <p:spPr>
          <a:xfrm xmlns:a="http://schemas.openxmlformats.org/drawingml/2006/main">
            <a:off x="6305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75BC5"/>
                </a:solidFill>
                <a:latin typeface="DejaVu Sans"/>
                <a:ea typeface="DejaVu Sans"/>
                <a:cs typeface="DejaVu Sans"/>
              </a:defRPr>
            </a:pPr>
            <a:r>
              <a:rPr sz="1275" b="1">
                <a:solidFill>
                  <a:srgbClr val="875BC5"/>
                </a:solidFill>
                <a:latin typeface="DejaVu Sans"/>
                <a:ea typeface="DejaVu Sans"/>
                <a:cs typeface="DejaVu Sans"/>
              </a:rPr>
              <a:t>▣  Escrow</a:t>
            </a:r>
          </a:p>
        </p:txBody>
      </p:sp>
      <p:sp>
        <p:nvSpPr>
          <p:cNvPr id="19" name="">
            <a:extLst xmlns:a="http://schemas.openxmlformats.org/drawingml/2006/main">
              <a:ext uri="{FF2B5EF4-FFF2-40B4-BE49-F238E27FC236}">
                <a16:creationId xmlns:a16="http://schemas.microsoft.com/office/drawing/2014/main" id="{91C569AB-2237-4952-93D7-386F20E6E298}"/>
              </a:ext>
            </a:extLst>
          </p:cNvPr>
          <p:cNvSpPr>
            <a:spLocks xmlns:a="http://schemas.openxmlformats.org/drawingml/2006/main" noGrp="1"/>
          </p:cNvSpPr>
          <p:nvPr/>
        </p:nvSpPr>
        <p:spPr>
          <a:xfrm xmlns:a="http://schemas.openxmlformats.org/drawingml/2006/main">
            <a:off x="6305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1</a:t>
            </a:r>
          </a:p>
        </p:txBody>
      </p:sp>
      <p:sp>
        <p:nvSpPr>
          <p:cNvPr id="20" name="">
            <a:extLst xmlns:a="http://schemas.openxmlformats.org/drawingml/2006/main">
              <a:ext uri="{FF2B5EF4-FFF2-40B4-BE49-F238E27FC236}">
                <a16:creationId xmlns:a16="http://schemas.microsoft.com/office/drawing/2014/main" id="{1216168A-F901-4F37-9ED2-FD623661756A}"/>
              </a:ext>
            </a:extLst>
          </p:cNvPr>
          <p:cNvSpPr>
            <a:spLocks xmlns:a="http://schemas.openxmlformats.org/drawingml/2006/main" noGrp="1"/>
          </p:cNvSpPr>
          <p:nvPr/>
        </p:nvSpPr>
        <p:spPr>
          <a:xfrm xmlns:a="http://schemas.openxmlformats.org/drawingml/2006/main">
            <a:off x="9029700" y="5610225"/>
            <a:ext cx="2667000" cy="676275"/>
          </a:xfrm>
          <a:prstGeom xmlns:a="http://schemas.openxmlformats.org/drawingml/2006/main" prst="roundRect">
            <a:avLst>
              <a:gd name="adj" fmla="val 16901"/>
            </a:avLst>
          </a:prstGeom>
          <a:solidFill xmlns:a="http://schemas.openxmlformats.org/drawingml/2006/main">
            <a:srgbClr val="FFF4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9D739F7-03DF-43F9-A555-4BCB51DA1AF1}"/>
              </a:ext>
            </a:extLst>
          </p:cNvPr>
          <p:cNvSpPr>
            <a:spLocks xmlns:a="http://schemas.openxmlformats.org/drawingml/2006/main" noGrp="1"/>
          </p:cNvSpPr>
          <p:nvPr/>
        </p:nvSpPr>
        <p:spPr>
          <a:xfrm xmlns:a="http://schemas.openxmlformats.org/drawingml/2006/main">
            <a:off x="9163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CC7D16"/>
                </a:solidFill>
                <a:latin typeface="DejaVu Sans"/>
                <a:ea typeface="DejaVu Sans"/>
                <a:cs typeface="DejaVu Sans"/>
              </a:defRPr>
            </a:pPr>
            <a:r>
              <a:rPr sz="1275" b="1">
                <a:solidFill>
                  <a:srgbClr val="CC7D16"/>
                </a:solidFill>
                <a:latin typeface="DejaVu Sans"/>
                <a:ea typeface="DejaVu Sans"/>
                <a:cs typeface="DejaVu Sans"/>
              </a:rPr>
              <a:t>◉  BBU</a:t>
            </a:r>
          </a:p>
        </p:txBody>
      </p:sp>
      <p:sp>
        <p:nvSpPr>
          <p:cNvPr id="22" name="">
            <a:extLst xmlns:a="http://schemas.openxmlformats.org/drawingml/2006/main">
              <a:ext uri="{FF2B5EF4-FFF2-40B4-BE49-F238E27FC236}">
                <a16:creationId xmlns:a16="http://schemas.microsoft.com/office/drawing/2014/main" id="{DDCFF937-C63C-4865-AA66-F8BF5EE4BBE1}"/>
              </a:ext>
            </a:extLst>
          </p:cNvPr>
          <p:cNvSpPr>
            <a:spLocks xmlns:a="http://schemas.openxmlformats.org/drawingml/2006/main" noGrp="1"/>
          </p:cNvSpPr>
          <p:nvPr/>
        </p:nvSpPr>
        <p:spPr>
          <a:xfrm xmlns:a="http://schemas.openxmlformats.org/drawingml/2006/main">
            <a:off x="9163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214</a:t>
            </a:r>
          </a:p>
        </p:txBody>
      </p:sp>
    </p:spTree>
    <p:extLst>
      <p:ext uri="{BB962C8B-B14F-4D97-AF65-F5344CB8AC3E}">
        <p14:creationId xmlns:p14="http://schemas.microsoft.com/office/powerpoint/2010/main" val="8744392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7A1F97-7D43-4BFA-8452-9AE90AB5424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22185A8-2BD7-4F04-92E8-20CFBC359C7A}"/>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live delivery spans controls and customer workflows</a:t>
            </a:r>
          </a:p>
        </p:txBody>
      </p:sp>
      <p:sp>
        <p:nvSpPr>
          <p:cNvPr id="3" name="">
            <a:extLst xmlns:a="http://schemas.openxmlformats.org/drawingml/2006/main">
              <a:ext uri="{FF2B5EF4-FFF2-40B4-BE49-F238E27FC236}">
                <a16:creationId xmlns:a16="http://schemas.microsoft.com/office/drawing/2014/main" id="{2DDC62FE-6E1E-42F2-A9AE-03EE339EC88F}"/>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15 live entries: 7 CRM-owned and 8 supporting, as labelled in the demand list.</a:t>
            </a:r>
          </a:p>
        </p:txBody>
      </p:sp>
      <p:sp>
        <p:nvSpPr>
          <p:cNvPr id="4" name="">
            <a:extLst xmlns:a="http://schemas.openxmlformats.org/drawingml/2006/main">
              <a:ext uri="{FF2B5EF4-FFF2-40B4-BE49-F238E27FC236}">
                <a16:creationId xmlns:a16="http://schemas.microsoft.com/office/drawing/2014/main" id="{2C688A77-2E94-4E9D-AEBA-03E29F227EA8}"/>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3B90DBD6-47D0-4ED0-B99F-60569CDD43E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3D1295C2-5A2F-493E-B963-F69BC35C9D50}"/>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CA5ED3-411F-4F7D-BE58-47F2E4E62512}"/>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CRM-owned delivery (7)</a:t>
            </a:r>
          </a:p>
        </p:txBody>
      </p:sp>
      <p:sp>
        <p:nvSpPr>
          <p:cNvPr id="8" name="">
            <a:extLst xmlns:a="http://schemas.openxmlformats.org/drawingml/2006/main">
              <a:ext uri="{FF2B5EF4-FFF2-40B4-BE49-F238E27FC236}">
                <a16:creationId xmlns:a16="http://schemas.microsoft.com/office/drawing/2014/main" id="{79587038-B210-4379-B465-9A8479BC8AFD}"/>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DMGT-1352: CPR bulk personal-data consent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DIBITP-163: CRM data archival setup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DMGT-304: Fax indemnity flag modification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DMGT-719: Auto-closure enhancement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DMGT-1262: Electronic-signature re-push</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from CRM / Tablet / Mobile Banking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DMGT-1222: Aggregator sales channel for CRAT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DMGT-1364: Email upon complaint closure</a:t>
            </a:r>
          </a:p>
        </p:txBody>
      </p:sp>
      <p:sp>
        <p:nvSpPr>
          <p:cNvPr id="9" name="">
            <a:extLst xmlns:a="http://schemas.openxmlformats.org/drawingml/2006/main">
              <a:ext uri="{FF2B5EF4-FFF2-40B4-BE49-F238E27FC236}">
                <a16:creationId xmlns:a16="http://schemas.microsoft.com/office/drawing/2014/main" id="{7A7D99C0-54C9-498B-B509-8CACE6EC314D}"/>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844545C-BD43-49AE-8B20-C64AEDC62D81}"/>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delivery (8)</a:t>
            </a:r>
          </a:p>
        </p:txBody>
      </p:sp>
      <p:sp>
        <p:nvSpPr>
          <p:cNvPr id="11" name="">
            <a:extLst xmlns:a="http://schemas.openxmlformats.org/drawingml/2006/main">
              <a:ext uri="{FF2B5EF4-FFF2-40B4-BE49-F238E27FC236}">
                <a16:creationId xmlns:a16="http://schemas.microsoft.com/office/drawing/2014/main" id="{A27E9269-01F0-46BD-A224-4FEAD8B5CD1E}"/>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DMGT-125: Digital Salam Contract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DMGT-1567: SA-10 additional currencies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DMGT-951: FinnOne PDC automation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DIBITP-2747: Kafka Event Hub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DMGT-22: Millionaire ESG Saving Account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DMGT-1334: KYC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DMGT-929: FATCA / CRS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DMGT-1506: 3DS CB Mandate for KONY</a:t>
            </a:r>
          </a:p>
        </p:txBody>
      </p:sp>
    </p:spTree>
    <p:extLst>
      <p:ext uri="{BB962C8B-B14F-4D97-AF65-F5344CB8AC3E}">
        <p14:creationId xmlns:p14="http://schemas.microsoft.com/office/powerpoint/2010/main" val="1833327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F74DC6-7FA2-4C5F-8FDA-F3EF86CC561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A426932-1C70-477C-BB4F-177B56DF119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execution covers compliance, security and integrations</a:t>
            </a:r>
          </a:p>
        </p:txBody>
      </p:sp>
      <p:sp>
        <p:nvSpPr>
          <p:cNvPr id="3" name="">
            <a:extLst xmlns:a="http://schemas.openxmlformats.org/drawingml/2006/main">
              <a:ext uri="{FF2B5EF4-FFF2-40B4-BE49-F238E27FC236}">
                <a16:creationId xmlns:a16="http://schemas.microsoft.com/office/drawing/2014/main" id="{E67588D4-1B87-42F9-817F-DC68858A2DE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16 in-progress entries: 9 CRM-owned and 7 supporting.</a:t>
            </a:r>
          </a:p>
        </p:txBody>
      </p:sp>
      <p:sp>
        <p:nvSpPr>
          <p:cNvPr id="4" name="">
            <a:extLst xmlns:a="http://schemas.openxmlformats.org/drawingml/2006/main">
              <a:ext uri="{FF2B5EF4-FFF2-40B4-BE49-F238E27FC236}">
                <a16:creationId xmlns:a16="http://schemas.microsoft.com/office/drawing/2014/main" id="{51EC7227-395D-4837-872F-C8788B39D30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98BF8822-537C-4FE3-8D80-74ACD829879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ED3A6965-85A6-4470-ACE7-9F4724B2D73F}"/>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F0EA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23A57A-5070-47E0-9883-03222BD97784}"/>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CRM-owned execution (9)</a:t>
            </a:r>
          </a:p>
        </p:txBody>
      </p:sp>
      <p:sp>
        <p:nvSpPr>
          <p:cNvPr id="8" name="">
            <a:extLst xmlns:a="http://schemas.openxmlformats.org/drawingml/2006/main">
              <a:ext uri="{FF2B5EF4-FFF2-40B4-BE49-F238E27FC236}">
                <a16:creationId xmlns:a16="http://schemas.microsoft.com/office/drawing/2014/main" id="{68CD5B62-A92D-4D3F-A4B1-71E1C6150F9B}"/>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DMGT-1244: Investment Banking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DMGT-28: CDD / EDD automation for asset IR cases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DMGT-714: Customer 360 statements / blacklist flag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DMGT-1453: Email-to-case conversion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DMGT-1345: HNWI / client class / investment risk</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DMGT-976: FinnOne integration with Tesla</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DMGT-1980: Staging controls / RTB readiness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DMGT-1406: CPR implementation gap fixes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DMGT-1598: CRM security fix</a:t>
            </a:r>
          </a:p>
        </p:txBody>
      </p:sp>
      <p:sp>
        <p:nvSpPr>
          <p:cNvPr id="9" name="">
            <a:extLst xmlns:a="http://schemas.openxmlformats.org/drawingml/2006/main">
              <a:ext uri="{FF2B5EF4-FFF2-40B4-BE49-F238E27FC236}">
                <a16:creationId xmlns:a16="http://schemas.microsoft.com/office/drawing/2014/main" id="{074D454C-0491-4CB7-A55C-31EF1E2921A3}"/>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C70969-EA27-4BF2-AD87-C5DA4269D533}"/>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execution (7)</a:t>
            </a:r>
          </a:p>
        </p:txBody>
      </p:sp>
      <p:sp>
        <p:nvSpPr>
          <p:cNvPr id="11" name="">
            <a:extLst xmlns:a="http://schemas.openxmlformats.org/drawingml/2006/main">
              <a:ext uri="{FF2B5EF4-FFF2-40B4-BE49-F238E27FC236}">
                <a16:creationId xmlns:a16="http://schemas.microsoft.com/office/drawing/2014/main" id="{3CD5B62D-C4E7-4552-AB78-34DA8C40971F}"/>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AIG: A-Ignite support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DMGT-1020: Onboarding dedupe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DMGT-960: E-Invoice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DMGT-1680: New Emirati Covered Card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DMGT-1842: EFR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Five-field input validation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Engagement Platform Drop 2 (Unica)</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Two different entries share DMGT-1272.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identity before unique-demand reporting.</a:t>
            </a:r>
          </a:p>
        </p:txBody>
      </p:sp>
    </p:spTree>
    <p:extLst>
      <p:ext uri="{BB962C8B-B14F-4D97-AF65-F5344CB8AC3E}">
        <p14:creationId xmlns:p14="http://schemas.microsoft.com/office/powerpoint/2010/main" val="8018270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EF199EF-E462-4D59-91DC-C85BE92811C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AC338EC-036E-4FFB-AC41-FC7D3D8F8EA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cloud migration needs a defined execution approach</a:t>
            </a:r>
          </a:p>
        </p:txBody>
      </p:sp>
      <p:sp>
        <p:nvSpPr>
          <p:cNvPr id="3" name="">
            <a:extLst xmlns:a="http://schemas.openxmlformats.org/drawingml/2006/main">
              <a:ext uri="{FF2B5EF4-FFF2-40B4-BE49-F238E27FC236}">
                <a16:creationId xmlns:a16="http://schemas.microsoft.com/office/drawing/2014/main" id="{A986482D-4BFD-4433-9132-071FE0B6200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Latest overview targets Q3 2027. The demand list records cloud migration as under discussion.</a:t>
            </a:r>
          </a:p>
        </p:txBody>
      </p:sp>
      <p:sp>
        <p:nvSpPr>
          <p:cNvPr id="4" name="">
            <a:extLst xmlns:a="http://schemas.openxmlformats.org/drawingml/2006/main">
              <a:ext uri="{FF2B5EF4-FFF2-40B4-BE49-F238E27FC236}">
                <a16:creationId xmlns:a16="http://schemas.microsoft.com/office/drawing/2014/main" id="{D0BF1C27-3362-49FD-93CE-E885B5F505F8}"/>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9DE10EAA-F400-456A-8163-A6EAF5FC9F8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A8CCDFAC-7768-4879-AFCF-903A98F99FE7}"/>
              </a:ext>
            </a:extLst>
          </p:cNvPr>
          <p:cNvSpPr>
            <a:spLocks xmlns:a="http://schemas.openxmlformats.org/drawingml/2006/main" noGrp="1"/>
          </p:cNvSpPr>
          <p:nvPr/>
        </p:nvSpPr>
        <p:spPr>
          <a:xfrm xmlns:a="http://schemas.openxmlformats.org/drawingml/2006/main">
            <a:off x="457200" y="2133600"/>
            <a:ext cx="3657600" cy="1828800"/>
          </a:xfrm>
          <a:prstGeom xmlns:a="http://schemas.openxmlformats.org/drawingml/2006/main" prst="roundRect">
            <a:avLst>
              <a:gd name="adj" fmla="val 6250"/>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BB54D5-1402-4C69-A53A-4F3FE1A3535D}"/>
              </a:ext>
            </a:extLst>
          </p:cNvPr>
          <p:cNvSpPr>
            <a:spLocks xmlns:a="http://schemas.openxmlformats.org/drawingml/2006/main" noGrp="1"/>
          </p:cNvSpPr>
          <p:nvPr/>
        </p:nvSpPr>
        <p:spPr>
          <a:xfrm xmlns:a="http://schemas.openxmlformats.org/drawingml/2006/main">
            <a:off x="60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  Now</a:t>
            </a:r>
          </a:p>
        </p:txBody>
      </p:sp>
      <p:sp>
        <p:nvSpPr>
          <p:cNvPr id="8" name="">
            <a:extLst xmlns:a="http://schemas.openxmlformats.org/drawingml/2006/main">
              <a:ext uri="{FF2B5EF4-FFF2-40B4-BE49-F238E27FC236}">
                <a16:creationId xmlns:a16="http://schemas.microsoft.com/office/drawing/2014/main" id="{4C38BCC8-7076-4667-B087-A818397CD5F6}"/>
              </a:ext>
            </a:extLst>
          </p:cNvPr>
          <p:cNvSpPr>
            <a:spLocks xmlns:a="http://schemas.openxmlformats.org/drawingml/2006/main" noGrp="1"/>
          </p:cNvSpPr>
          <p:nvPr/>
        </p:nvSpPr>
        <p:spPr>
          <a:xfrm xmlns:a="http://schemas.openxmlformats.org/drawingml/2006/main">
            <a:off x="60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Planning / discussion</a:t>
            </a:r>
          </a:p>
        </p:txBody>
      </p:sp>
      <p:sp>
        <p:nvSpPr>
          <p:cNvPr id="9" name="">
            <a:extLst xmlns:a="http://schemas.openxmlformats.org/drawingml/2006/main">
              <a:ext uri="{FF2B5EF4-FFF2-40B4-BE49-F238E27FC236}">
                <a16:creationId xmlns:a16="http://schemas.microsoft.com/office/drawing/2014/main" id="{5031C784-E00E-44DF-9401-5C6B9C1CB9A5}"/>
              </a:ext>
            </a:extLst>
          </p:cNvPr>
          <p:cNvSpPr>
            <a:spLocks xmlns:a="http://schemas.openxmlformats.org/drawingml/2006/main" noGrp="1"/>
          </p:cNvSpPr>
          <p:nvPr/>
        </p:nvSpPr>
        <p:spPr>
          <a:xfrm xmlns:a="http://schemas.openxmlformats.org/drawingml/2006/main">
            <a:off x="60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Agree scope, dependencies</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migration approach</a:t>
            </a:r>
          </a:p>
        </p:txBody>
      </p:sp>
      <p:sp>
        <p:nvSpPr>
          <p:cNvPr id="10" name="">
            <a:extLst xmlns:a="http://schemas.openxmlformats.org/drawingml/2006/main">
              <a:ext uri="{FF2B5EF4-FFF2-40B4-BE49-F238E27FC236}">
                <a16:creationId xmlns:a16="http://schemas.microsoft.com/office/drawing/2014/main" id="{F46C7338-9231-492F-8758-4F9F523E15A7}"/>
              </a:ext>
            </a:extLst>
          </p:cNvPr>
          <p:cNvSpPr>
            <a:spLocks xmlns:a="http://schemas.openxmlformats.org/drawingml/2006/main" noGrp="1"/>
          </p:cNvSpPr>
          <p:nvPr/>
        </p:nvSpPr>
        <p:spPr>
          <a:xfrm xmlns:a="http://schemas.openxmlformats.org/drawingml/2006/main">
            <a:off x="413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9B66FACC-C6DB-4B26-B336-F3A26583A9FF}"/>
              </a:ext>
            </a:extLst>
          </p:cNvPr>
          <p:cNvSpPr>
            <a:spLocks xmlns:a="http://schemas.openxmlformats.org/drawingml/2006/main" noGrp="1"/>
          </p:cNvSpPr>
          <p:nvPr/>
        </p:nvSpPr>
        <p:spPr>
          <a:xfrm xmlns:a="http://schemas.openxmlformats.org/drawingml/2006/main">
            <a:off x="4267200" y="2133600"/>
            <a:ext cx="3657600" cy="1828800"/>
          </a:xfrm>
          <a:prstGeom xmlns:a="http://schemas.openxmlformats.org/drawingml/2006/main" prst="roundRect">
            <a:avLst>
              <a:gd name="adj" fmla="val 6250"/>
            </a:avLst>
          </a:prstGeom>
          <a:solidFill xmlns:a="http://schemas.openxmlformats.org/drawingml/2006/main">
            <a:srgbClr val="E8F3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8A8D87-F9A7-4B57-ADD4-A336981686DD}"/>
              </a:ext>
            </a:extLst>
          </p:cNvPr>
          <p:cNvSpPr>
            <a:spLocks xmlns:a="http://schemas.openxmlformats.org/drawingml/2006/main" noGrp="1"/>
          </p:cNvSpPr>
          <p:nvPr/>
        </p:nvSpPr>
        <p:spPr>
          <a:xfrm xmlns:a="http://schemas.openxmlformats.org/drawingml/2006/main">
            <a:off x="441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  Preparation</a:t>
            </a:r>
          </a:p>
        </p:txBody>
      </p:sp>
      <p:sp>
        <p:nvSpPr>
          <p:cNvPr id="13" name="">
            <a:extLst xmlns:a="http://schemas.openxmlformats.org/drawingml/2006/main">
              <a:ext uri="{FF2B5EF4-FFF2-40B4-BE49-F238E27FC236}">
                <a16:creationId xmlns:a16="http://schemas.microsoft.com/office/drawing/2014/main" id="{BBC9EFAC-3FC7-4152-B9BB-EE2510F158DA}"/>
              </a:ext>
            </a:extLst>
          </p:cNvPr>
          <p:cNvSpPr>
            <a:spLocks xmlns:a="http://schemas.openxmlformats.org/drawingml/2006/main" noGrp="1"/>
          </p:cNvSpPr>
          <p:nvPr/>
        </p:nvSpPr>
        <p:spPr>
          <a:xfrm xmlns:a="http://schemas.openxmlformats.org/drawingml/2006/main">
            <a:off x="441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Readiness work</a:t>
            </a:r>
          </a:p>
        </p:txBody>
      </p:sp>
      <p:sp>
        <p:nvSpPr>
          <p:cNvPr id="14" name="">
            <a:extLst xmlns:a="http://schemas.openxmlformats.org/drawingml/2006/main">
              <a:ext uri="{FF2B5EF4-FFF2-40B4-BE49-F238E27FC236}">
                <a16:creationId xmlns:a16="http://schemas.microsoft.com/office/drawing/2014/main" id="{D41874B9-FED0-4591-BE76-B4C9AF939BEC}"/>
              </a:ext>
            </a:extLst>
          </p:cNvPr>
          <p:cNvSpPr>
            <a:spLocks xmlns:a="http://schemas.openxmlformats.org/drawingml/2006/main" noGrp="1"/>
          </p:cNvSpPr>
          <p:nvPr/>
        </p:nvSpPr>
        <p:spPr>
          <a:xfrm xmlns:a="http://schemas.openxmlformats.org/drawingml/2006/main">
            <a:off x="441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Define recovery, testing</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cutover acceptance</a:t>
            </a:r>
          </a:p>
        </p:txBody>
      </p:sp>
      <p:sp>
        <p:nvSpPr>
          <p:cNvPr id="15" name="">
            <a:extLst xmlns:a="http://schemas.openxmlformats.org/drawingml/2006/main">
              <a:ext uri="{FF2B5EF4-FFF2-40B4-BE49-F238E27FC236}">
                <a16:creationId xmlns:a16="http://schemas.microsoft.com/office/drawing/2014/main" id="{2A9D713D-D45D-4C61-93D9-4121CED9C785}"/>
              </a:ext>
            </a:extLst>
          </p:cNvPr>
          <p:cNvSpPr>
            <a:spLocks xmlns:a="http://schemas.openxmlformats.org/drawingml/2006/main" noGrp="1"/>
          </p:cNvSpPr>
          <p:nvPr/>
        </p:nvSpPr>
        <p:spPr>
          <a:xfrm xmlns:a="http://schemas.openxmlformats.org/drawingml/2006/main">
            <a:off x="794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D1660379-1CE9-4345-AEAA-3A1E76F330B7}"/>
              </a:ext>
            </a:extLst>
          </p:cNvPr>
          <p:cNvSpPr>
            <a:spLocks xmlns:a="http://schemas.openxmlformats.org/drawingml/2006/main" noGrp="1"/>
          </p:cNvSpPr>
          <p:nvPr/>
        </p:nvSpPr>
        <p:spPr>
          <a:xfrm xmlns:a="http://schemas.openxmlformats.org/drawingml/2006/main">
            <a:off x="8077200" y="2133600"/>
            <a:ext cx="3657600" cy="1828800"/>
          </a:xfrm>
          <a:prstGeom xmlns:a="http://schemas.openxmlformats.org/drawingml/2006/main" prst="roundRect">
            <a:avLst>
              <a:gd name="adj" fmla="val 6250"/>
            </a:avLst>
          </a:prstGeom>
          <a:solidFill xmlns:a="http://schemas.openxmlformats.org/drawingml/2006/main">
            <a:srgbClr val="F0EA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A9AD1F-E6A5-4A3D-BF49-1A4449874E6D}"/>
              </a:ext>
            </a:extLst>
          </p:cNvPr>
          <p:cNvSpPr>
            <a:spLocks xmlns:a="http://schemas.openxmlformats.org/drawingml/2006/main" noGrp="1"/>
          </p:cNvSpPr>
          <p:nvPr/>
        </p:nvSpPr>
        <p:spPr>
          <a:xfrm xmlns:a="http://schemas.openxmlformats.org/drawingml/2006/main">
            <a:off x="822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  Q3 2027</a:t>
            </a:r>
          </a:p>
        </p:txBody>
      </p:sp>
      <p:sp>
        <p:nvSpPr>
          <p:cNvPr id="18" name="">
            <a:extLst xmlns:a="http://schemas.openxmlformats.org/drawingml/2006/main">
              <a:ext uri="{FF2B5EF4-FFF2-40B4-BE49-F238E27FC236}">
                <a16:creationId xmlns:a16="http://schemas.microsoft.com/office/drawing/2014/main" id="{1ADF9861-0316-477C-B48E-70AEDC84DD0E}"/>
              </a:ext>
            </a:extLst>
          </p:cNvPr>
          <p:cNvSpPr>
            <a:spLocks xmlns:a="http://schemas.openxmlformats.org/drawingml/2006/main" noGrp="1"/>
          </p:cNvSpPr>
          <p:nvPr/>
        </p:nvSpPr>
        <p:spPr>
          <a:xfrm xmlns:a="http://schemas.openxmlformats.org/drawingml/2006/main">
            <a:off x="822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Source target</a:t>
            </a:r>
          </a:p>
        </p:txBody>
      </p:sp>
      <p:sp>
        <p:nvSpPr>
          <p:cNvPr id="19" name="">
            <a:extLst xmlns:a="http://schemas.openxmlformats.org/drawingml/2006/main">
              <a:ext uri="{FF2B5EF4-FFF2-40B4-BE49-F238E27FC236}">
                <a16:creationId xmlns:a16="http://schemas.microsoft.com/office/drawing/2014/main" id="{E4E54F96-FE2E-44ED-9D35-89237378BBC2}"/>
              </a:ext>
            </a:extLst>
          </p:cNvPr>
          <p:cNvSpPr>
            <a:spLocks xmlns:a="http://schemas.openxmlformats.org/drawingml/2006/main" noGrp="1"/>
          </p:cNvSpPr>
          <p:nvPr/>
        </p:nvSpPr>
        <p:spPr>
          <a:xfrm xmlns:a="http://schemas.openxmlformats.org/drawingml/2006/main">
            <a:off x="822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Prepare for execution</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Confirm baseline and dates</a:t>
            </a:r>
          </a:p>
        </p:txBody>
      </p:sp>
      <p:sp>
        <p:nvSpPr>
          <p:cNvPr id="20" name="">
            <a:extLst xmlns:a="http://schemas.openxmlformats.org/drawingml/2006/main">
              <a:ext uri="{FF2B5EF4-FFF2-40B4-BE49-F238E27FC236}">
                <a16:creationId xmlns:a16="http://schemas.microsoft.com/office/drawing/2014/main" id="{9CAA9A84-4E06-495A-83B2-FD5F44B4EEFB}"/>
              </a:ext>
            </a:extLst>
          </p:cNvPr>
          <p:cNvSpPr>
            <a:spLocks xmlns:a="http://schemas.openxmlformats.org/drawingml/2006/main" noGrp="1"/>
          </p:cNvSpPr>
          <p:nvPr/>
        </p:nvSpPr>
        <p:spPr>
          <a:xfrm xmlns:a="http://schemas.openxmlformats.org/drawingml/2006/main">
            <a:off x="457200" y="423862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Four entries under discussion</a:t>
            </a:r>
          </a:p>
        </p:txBody>
      </p:sp>
      <p:sp>
        <p:nvSpPr>
          <p:cNvPr id="21" name="">
            <a:extLst xmlns:a="http://schemas.openxmlformats.org/drawingml/2006/main">
              <a:ext uri="{FF2B5EF4-FFF2-40B4-BE49-F238E27FC236}">
                <a16:creationId xmlns:a16="http://schemas.microsoft.com/office/drawing/2014/main" id="{577C4894-4A80-4C33-92B9-58683A98EB95}"/>
              </a:ext>
            </a:extLst>
          </p:cNvPr>
          <p:cNvSpPr>
            <a:spLocks xmlns:a="http://schemas.openxmlformats.org/drawingml/2006/main" noGrp="1"/>
          </p:cNvSpPr>
          <p:nvPr/>
        </p:nvSpPr>
        <p:spPr>
          <a:xfrm xmlns:a="http://schemas.openxmlformats.org/drawingml/2006/main">
            <a:off x="457200" y="4772025"/>
            <a:ext cx="2667000" cy="1381125"/>
          </a:xfrm>
          <a:prstGeom xmlns:a="http://schemas.openxmlformats.org/drawingml/2006/main" prst="roundRect">
            <a:avLst>
              <a:gd name="adj" fmla="val 8276"/>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3C7684B-355A-4AF6-8F39-82D32366FBE4}"/>
              </a:ext>
            </a:extLst>
          </p:cNvPr>
          <p:cNvSpPr>
            <a:spLocks xmlns:a="http://schemas.openxmlformats.org/drawingml/2006/main" noGrp="1"/>
          </p:cNvSpPr>
          <p:nvPr/>
        </p:nvSpPr>
        <p:spPr>
          <a:xfrm xmlns:a="http://schemas.openxmlformats.org/drawingml/2006/main">
            <a:off x="571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DMGT-710</a:t>
            </a:r>
          </a:p>
        </p:txBody>
      </p:sp>
      <p:sp>
        <p:nvSpPr>
          <p:cNvPr id="23" name="">
            <a:extLst xmlns:a="http://schemas.openxmlformats.org/drawingml/2006/main">
              <a:ext uri="{FF2B5EF4-FFF2-40B4-BE49-F238E27FC236}">
                <a16:creationId xmlns:a16="http://schemas.microsoft.com/office/drawing/2014/main" id="{6A240276-FE47-4296-B3BA-481C4D8C48C8}"/>
              </a:ext>
            </a:extLst>
          </p:cNvPr>
          <p:cNvSpPr>
            <a:spLocks xmlns:a="http://schemas.openxmlformats.org/drawingml/2006/main" noGrp="1"/>
          </p:cNvSpPr>
          <p:nvPr/>
        </p:nvSpPr>
        <p:spPr>
          <a:xfrm xmlns:a="http://schemas.openxmlformats.org/drawingml/2006/main">
            <a:off x="571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CRM migration to cloud</a:t>
            </a:r>
          </a:p>
        </p:txBody>
      </p:sp>
      <p:sp>
        <p:nvSpPr>
          <p:cNvPr id="24" name="">
            <a:extLst xmlns:a="http://schemas.openxmlformats.org/drawingml/2006/main">
              <a:ext uri="{FF2B5EF4-FFF2-40B4-BE49-F238E27FC236}">
                <a16:creationId xmlns:a16="http://schemas.microsoft.com/office/drawing/2014/main" id="{E7F5DE39-2D60-4DDE-83A8-AF020BBC9BF9}"/>
              </a:ext>
            </a:extLst>
          </p:cNvPr>
          <p:cNvSpPr>
            <a:spLocks xmlns:a="http://schemas.openxmlformats.org/drawingml/2006/main" noGrp="1"/>
          </p:cNvSpPr>
          <p:nvPr/>
        </p:nvSpPr>
        <p:spPr>
          <a:xfrm xmlns:a="http://schemas.openxmlformats.org/drawingml/2006/main">
            <a:off x="3314700" y="4772025"/>
            <a:ext cx="2667000" cy="1381125"/>
          </a:xfrm>
          <a:prstGeom xmlns:a="http://schemas.openxmlformats.org/drawingml/2006/main" prst="roundRect">
            <a:avLst>
              <a:gd name="adj" fmla="val 8276"/>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FAE6D3E-7890-4454-8281-38C6DA715069}"/>
              </a:ext>
            </a:extLst>
          </p:cNvPr>
          <p:cNvSpPr>
            <a:spLocks xmlns:a="http://schemas.openxmlformats.org/drawingml/2006/main" noGrp="1"/>
          </p:cNvSpPr>
          <p:nvPr/>
        </p:nvSpPr>
        <p:spPr>
          <a:xfrm xmlns:a="http://schemas.openxmlformats.org/drawingml/2006/main">
            <a:off x="3429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DMGT-1154</a:t>
            </a:r>
          </a:p>
        </p:txBody>
      </p:sp>
      <p:sp>
        <p:nvSpPr>
          <p:cNvPr id="26" name="">
            <a:extLst xmlns:a="http://schemas.openxmlformats.org/drawingml/2006/main">
              <a:ext uri="{FF2B5EF4-FFF2-40B4-BE49-F238E27FC236}">
                <a16:creationId xmlns:a16="http://schemas.microsoft.com/office/drawing/2014/main" id="{776CE04C-3A84-4660-9C48-A9DB84E7F36D}"/>
              </a:ext>
            </a:extLst>
          </p:cNvPr>
          <p:cNvSpPr>
            <a:spLocks xmlns:a="http://schemas.openxmlformats.org/drawingml/2006/main" noGrp="1"/>
          </p:cNvSpPr>
          <p:nvPr/>
        </p:nvSpPr>
        <p:spPr>
          <a:xfrm xmlns:a="http://schemas.openxmlformats.org/drawingml/2006/main">
            <a:off x="3429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Complaint management transformation</a:t>
            </a:r>
          </a:p>
        </p:txBody>
      </p:sp>
      <p:sp>
        <p:nvSpPr>
          <p:cNvPr id="27" name="">
            <a:extLst xmlns:a="http://schemas.openxmlformats.org/drawingml/2006/main">
              <a:ext uri="{FF2B5EF4-FFF2-40B4-BE49-F238E27FC236}">
                <a16:creationId xmlns:a16="http://schemas.microsoft.com/office/drawing/2014/main" id="{86A8F65D-5883-4098-8B0E-5426EC97FC89}"/>
              </a:ext>
            </a:extLst>
          </p:cNvPr>
          <p:cNvSpPr>
            <a:spLocks xmlns:a="http://schemas.openxmlformats.org/drawingml/2006/main" noGrp="1"/>
          </p:cNvSpPr>
          <p:nvPr/>
        </p:nvSpPr>
        <p:spPr>
          <a:xfrm xmlns:a="http://schemas.openxmlformats.org/drawingml/2006/main">
            <a:off x="6172200" y="4772025"/>
            <a:ext cx="2667000" cy="1381125"/>
          </a:xfrm>
          <a:prstGeom xmlns:a="http://schemas.openxmlformats.org/drawingml/2006/main" prst="roundRect">
            <a:avLst>
              <a:gd name="adj" fmla="val 8276"/>
            </a:avLst>
          </a:prstGeom>
          <a:solidFill xmlns:a="http://schemas.openxmlformats.org/drawingml/2006/main">
            <a:srgbClr val="F0EAF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2E0F95E-7185-4F05-8FF7-ADFCB0AC9FC2}"/>
              </a:ext>
            </a:extLst>
          </p:cNvPr>
          <p:cNvSpPr>
            <a:spLocks xmlns:a="http://schemas.openxmlformats.org/drawingml/2006/main" noGrp="1"/>
          </p:cNvSpPr>
          <p:nvPr/>
        </p:nvSpPr>
        <p:spPr>
          <a:xfrm xmlns:a="http://schemas.openxmlformats.org/drawingml/2006/main">
            <a:off x="6286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DMGT-2336</a:t>
            </a:r>
          </a:p>
        </p:txBody>
      </p:sp>
      <p:sp>
        <p:nvSpPr>
          <p:cNvPr id="29" name="">
            <a:extLst xmlns:a="http://schemas.openxmlformats.org/drawingml/2006/main">
              <a:ext uri="{FF2B5EF4-FFF2-40B4-BE49-F238E27FC236}">
                <a16:creationId xmlns:a16="http://schemas.microsoft.com/office/drawing/2014/main" id="{9736B574-77BE-4101-9C02-B19E901CB3F0}"/>
              </a:ext>
            </a:extLst>
          </p:cNvPr>
          <p:cNvSpPr>
            <a:spLocks xmlns:a="http://schemas.openxmlformats.org/drawingml/2006/main" noGrp="1"/>
          </p:cNvSpPr>
          <p:nvPr/>
        </p:nvSpPr>
        <p:spPr>
          <a:xfrm xmlns:a="http://schemas.openxmlformats.org/drawingml/2006/main">
            <a:off x="6286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Fraud / dispute workflows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Accounts and cards</a:t>
            </a:r>
          </a:p>
        </p:txBody>
      </p:sp>
      <p:sp>
        <p:nvSpPr>
          <p:cNvPr id="30" name="">
            <a:extLst xmlns:a="http://schemas.openxmlformats.org/drawingml/2006/main">
              <a:ext uri="{FF2B5EF4-FFF2-40B4-BE49-F238E27FC236}">
                <a16:creationId xmlns:a16="http://schemas.microsoft.com/office/drawing/2014/main" id="{D07378EA-DCA5-4E4C-AC29-BF8EB3625B26}"/>
              </a:ext>
            </a:extLst>
          </p:cNvPr>
          <p:cNvSpPr>
            <a:spLocks xmlns:a="http://schemas.openxmlformats.org/drawingml/2006/main" noGrp="1"/>
          </p:cNvSpPr>
          <p:nvPr/>
        </p:nvSpPr>
        <p:spPr>
          <a:xfrm xmlns:a="http://schemas.openxmlformats.org/drawingml/2006/main">
            <a:off x="9029700" y="4772025"/>
            <a:ext cx="2667000" cy="1381125"/>
          </a:xfrm>
          <a:prstGeom xmlns:a="http://schemas.openxmlformats.org/drawingml/2006/main" prst="roundRect">
            <a:avLst>
              <a:gd name="adj" fmla="val 8276"/>
            </a:avLst>
          </a:prstGeom>
          <a:solidFill xmlns:a="http://schemas.openxmlformats.org/drawingml/2006/main">
            <a:srgbClr val="FFF4DE"/>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964C343-C348-4528-B4EB-637D2B351D12}"/>
              </a:ext>
            </a:extLst>
          </p:cNvPr>
          <p:cNvSpPr>
            <a:spLocks xmlns:a="http://schemas.openxmlformats.org/drawingml/2006/main" noGrp="1"/>
          </p:cNvSpPr>
          <p:nvPr/>
        </p:nvSpPr>
        <p:spPr>
          <a:xfrm xmlns:a="http://schemas.openxmlformats.org/drawingml/2006/main">
            <a:off x="9144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DMGT-752</a:t>
            </a:r>
          </a:p>
        </p:txBody>
      </p:sp>
      <p:sp>
        <p:nvSpPr>
          <p:cNvPr id="32" name="">
            <a:extLst xmlns:a="http://schemas.openxmlformats.org/drawingml/2006/main">
              <a:ext uri="{FF2B5EF4-FFF2-40B4-BE49-F238E27FC236}">
                <a16:creationId xmlns:a16="http://schemas.microsoft.com/office/drawing/2014/main" id="{531F71EE-28EB-4EC6-9BA4-455D300B8C48}"/>
              </a:ext>
            </a:extLst>
          </p:cNvPr>
          <p:cNvSpPr>
            <a:spLocks xmlns:a="http://schemas.openxmlformats.org/drawingml/2006/main" noGrp="1"/>
          </p:cNvSpPr>
          <p:nvPr/>
        </p:nvSpPr>
        <p:spPr>
          <a:xfrm xmlns:a="http://schemas.openxmlformats.org/drawingml/2006/main">
            <a:off x="9144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Remittance workflow automation</a:t>
            </a:r>
          </a:p>
        </p:txBody>
      </p:sp>
    </p:spTree>
    <p:extLst>
      <p:ext uri="{BB962C8B-B14F-4D97-AF65-F5344CB8AC3E}">
        <p14:creationId xmlns:p14="http://schemas.microsoft.com/office/powerpoint/2010/main" val="17090798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ABDCCBC-FAFB-44F0-A9FE-4AAE6BB5E3C5}"/>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6D22616C-8459-4C36-B6D6-AE411164DEEB}"/>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 centre: September abandonment needs attention</a:t>
            </a:r>
          </a:p>
        </p:txBody>
      </p:sp>
      <p:sp>
        <p:nvSpPr>
          <p:cNvPr id="3" name="">
            <a:extLst xmlns:a="http://schemas.openxmlformats.org/drawingml/2006/main">
              <a:ext uri="{FF2B5EF4-FFF2-40B4-BE49-F238E27FC236}">
                <a16:creationId xmlns:a16="http://schemas.microsoft.com/office/drawing/2014/main" id="{D99290A3-89E3-4173-B66C-413335E2941D}"/>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Interactive review. Click a coloured topic box to open its detail slide.</a:t>
            </a:r>
          </a:p>
        </p:txBody>
      </p:sp>
      <p:sp>
        <p:nvSpPr>
          <p:cNvPr id="4" name="">
            <a:extLst xmlns:a="http://schemas.openxmlformats.org/drawingml/2006/main">
              <a:ext uri="{FF2B5EF4-FFF2-40B4-BE49-F238E27FC236}">
                <a16:creationId xmlns:a16="http://schemas.microsoft.com/office/drawing/2014/main" id="{0658A9B9-07E6-431F-B99D-BBF56B939B9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8588621B-E6ED-47A6-8F2D-69500868F6B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7743D871-C8CC-4EBC-B54F-D293B2A5E3E5}"/>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18E17B-9023-43EB-91FD-EC83A787ED4C}"/>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446,482</a:t>
            </a:r>
          </a:p>
        </p:txBody>
      </p:sp>
      <p:sp>
        <p:nvSpPr>
          <p:cNvPr id="8" name="">
            <a:extLst xmlns:a="http://schemas.openxmlformats.org/drawingml/2006/main">
              <a:ext uri="{FF2B5EF4-FFF2-40B4-BE49-F238E27FC236}">
                <a16:creationId xmlns:a16="http://schemas.microsoft.com/office/drawing/2014/main" id="{E2F03A52-7F51-48BD-88B2-F45F5E2F23CA}"/>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September IVR calls</a:t>
            </a:r>
          </a:p>
        </p:txBody>
      </p:sp>
      <p:sp>
        <p:nvSpPr>
          <p:cNvPr id="9" name="">
            <a:extLst xmlns:a="http://schemas.openxmlformats.org/drawingml/2006/main">
              <a:ext uri="{FF2B5EF4-FFF2-40B4-BE49-F238E27FC236}">
                <a16:creationId xmlns:a16="http://schemas.microsoft.com/office/drawing/2014/main" id="{B0C78FAB-74CB-4270-9016-8EF8DC8C9D03}"/>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2BD108-6446-4CF5-B158-F3DE3856B8D8}"/>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68.45%</a:t>
            </a:r>
          </a:p>
        </p:txBody>
      </p:sp>
      <p:sp>
        <p:nvSpPr>
          <p:cNvPr id="11" name="">
            <a:extLst xmlns:a="http://schemas.openxmlformats.org/drawingml/2006/main">
              <a:ext uri="{FF2B5EF4-FFF2-40B4-BE49-F238E27FC236}">
                <a16:creationId xmlns:a16="http://schemas.microsoft.com/office/drawing/2014/main" id="{61A26867-853D-46E6-A0D8-6714D588FAB6}"/>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IVR completion</a:t>
            </a:r>
          </a:p>
        </p:txBody>
      </p:sp>
      <p:sp>
        <p:nvSpPr>
          <p:cNvPr id="12" name="">
            <a:extLst xmlns:a="http://schemas.openxmlformats.org/drawingml/2006/main">
              <a:ext uri="{FF2B5EF4-FFF2-40B4-BE49-F238E27FC236}">
                <a16:creationId xmlns:a16="http://schemas.microsoft.com/office/drawing/2014/main" id="{17B99BDA-3DD5-4E94-B0D4-30AC356DAD59}"/>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ACCF18-EABC-405D-9BB3-FAF2D4D897D4}"/>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11.77%</a:t>
            </a:r>
          </a:p>
        </p:txBody>
      </p:sp>
      <p:sp>
        <p:nvSpPr>
          <p:cNvPr id="14" name="">
            <a:extLst xmlns:a="http://schemas.openxmlformats.org/drawingml/2006/main">
              <a:ext uri="{FF2B5EF4-FFF2-40B4-BE49-F238E27FC236}">
                <a16:creationId xmlns:a16="http://schemas.microsoft.com/office/drawing/2014/main" id="{3F998FD0-E182-4452-B67C-FEED63F431FE}"/>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call abandonment</a:t>
            </a:r>
          </a:p>
        </p:txBody>
      </p:sp>
      <p:sp>
        <p:nvSpPr>
          <p:cNvPr id="15" name="">
            <a:extLst xmlns:a="http://schemas.openxmlformats.org/drawingml/2006/main">
              <a:ext uri="{FF2B5EF4-FFF2-40B4-BE49-F238E27FC236}">
                <a16:creationId xmlns:a16="http://schemas.microsoft.com/office/drawing/2014/main" id="{330A0EEB-695B-4EDD-AB55-F9CB3B8C4BBA}"/>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F90505-1C1F-463D-9AB9-2FEB7C5EE4C1}"/>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78 / 81</a:t>
            </a:r>
          </a:p>
        </p:txBody>
      </p:sp>
      <p:sp>
        <p:nvSpPr>
          <p:cNvPr id="17" name="">
            <a:extLst xmlns:a="http://schemas.openxmlformats.org/drawingml/2006/main">
              <a:ext uri="{FF2B5EF4-FFF2-40B4-BE49-F238E27FC236}">
                <a16:creationId xmlns:a16="http://schemas.microsoft.com/office/drawing/2014/main" id="{694D1972-5FA2-4089-BD04-B2B61879C33D}"/>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incidents closed</a:t>
            </a:r>
          </a:p>
        </p:txBody>
      </p:sp>
      <p:sp>
        <p:nvSpPr>
          <p:cNvPr id="18" name="">
            <a:extLst xmlns:a="http://schemas.openxmlformats.org/drawingml/2006/main">
              <a:ext uri="{FF2B5EF4-FFF2-40B4-BE49-F238E27FC236}">
                <a16:creationId xmlns:a16="http://schemas.microsoft.com/office/drawing/2014/main" id="{53B3D116-4E9F-4055-AF35-AE08477DE382}"/>
              </a:ext>
            </a:extLst>
            <ns0:hlinkClick xmlns:ns0="http://schemas.openxmlformats.org/drawingml/2006/main" xmlns:ns1="http://schemas.openxmlformats.org/officeDocument/2006/relationships" ns1:id="rIdCC17" action="ppaction://hlinksldjump"/>
          </p:cNvPr>
          <p:cNvSpPr>
            <a:spLocks xmlns:a="http://schemas.openxmlformats.org/drawingml/2006/main" noGrp="1"/>
          </p:cNvSpPr>
          <p:nvPr/>
        </p:nvSpPr>
        <p:spPr>
          <a:xfrm xmlns:a="http://schemas.openxmlformats.org/drawingml/2006/main">
            <a:off x="457200" y="3524250"/>
            <a:ext cx="3657600" cy="1104900"/>
          </a:xfrm>
          <a:prstGeom xmlns:a="http://schemas.openxmlformats.org/drawingml/2006/main" prst="roundRect">
            <a:avLst>
              <a:gd name="adj" fmla="val 10345"/>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86A3A4F-64F3-4EA9-A4AD-B508C6814F26}"/>
              </a:ext>
            </a:extLst>
            <ns2:hlinkClick xmlns:ns2="http://schemas.openxmlformats.org/drawingml/2006/main" xmlns:ns3="http://schemas.openxmlformats.org/officeDocument/2006/relationships" ns3:id="rIdCC17" action="ppaction://hlinksldjump"/>
          </p:cNvPr>
          <p:cNvSpPr>
            <a:spLocks xmlns:a="http://schemas.openxmlformats.org/drawingml/2006/main" noGrp="1"/>
          </p:cNvSpPr>
          <p:nvPr/>
        </p:nvSpPr>
        <p:spPr>
          <a:xfrm xmlns:a="http://schemas.openxmlformats.org/drawingml/2006/main">
            <a:off x="61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Service trends</a:t>
            </a:r>
          </a:p>
        </p:txBody>
      </p:sp>
      <p:sp>
        <p:nvSpPr>
          <p:cNvPr id="20" name="">
            <a:extLst xmlns:a="http://schemas.openxmlformats.org/drawingml/2006/main">
              <a:ext uri="{FF2B5EF4-FFF2-40B4-BE49-F238E27FC236}">
                <a16:creationId xmlns:a16="http://schemas.microsoft.com/office/drawing/2014/main" id="{59940B09-E05F-4811-9691-BCF200DED34A}"/>
              </a:ext>
            </a:extLst>
            <ns4:hlinkClick xmlns:ns4="http://schemas.openxmlformats.org/drawingml/2006/main" xmlns:ns5="http://schemas.openxmlformats.org/officeDocument/2006/relationships" ns5:id="rIdCC17" action="ppaction://hlinksldjump"/>
          </p:cNvPr>
          <p:cNvSpPr>
            <a:spLocks xmlns:a="http://schemas.openxmlformats.org/drawingml/2006/main" noGrp="1"/>
          </p:cNvSpPr>
          <p:nvPr/>
        </p:nvSpPr>
        <p:spPr>
          <a:xfrm xmlns:a="http://schemas.openxmlformats.org/drawingml/2006/main">
            <a:off x="61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Jan–Sep demand and service outcomes</a:t>
            </a:r>
          </a:p>
        </p:txBody>
      </p:sp>
      <p:sp>
        <p:nvSpPr>
          <p:cNvPr id="21" name="">
            <a:extLst xmlns:a="http://schemas.openxmlformats.org/drawingml/2006/main">
              <a:ext uri="{FF2B5EF4-FFF2-40B4-BE49-F238E27FC236}">
                <a16:creationId xmlns:a16="http://schemas.microsoft.com/office/drawing/2014/main" id="{4F0BCABF-4A7D-453F-B674-298B3C14339A}"/>
              </a:ext>
            </a:extLst>
            <ns6:hlinkClick xmlns:ns6="http://schemas.openxmlformats.org/drawingml/2006/main" xmlns:ns7="http://schemas.openxmlformats.org/officeDocument/2006/relationships" ns7:id="rIdCC18" action="ppaction://hlinksldjump"/>
          </p:cNvPr>
          <p:cNvSpPr>
            <a:spLocks xmlns:a="http://schemas.openxmlformats.org/drawingml/2006/main" noGrp="1"/>
          </p:cNvSpPr>
          <p:nvPr/>
        </p:nvSpPr>
        <p:spPr>
          <a:xfrm xmlns:a="http://schemas.openxmlformats.org/drawingml/2006/main">
            <a:off x="4267200" y="3524250"/>
            <a:ext cx="3657600" cy="1104900"/>
          </a:xfrm>
          <a:prstGeom xmlns:a="http://schemas.openxmlformats.org/drawingml/2006/main" prst="roundRect">
            <a:avLst>
              <a:gd name="adj" fmla="val 10345"/>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7C0150C-A6D7-4CE1-AF4A-8570FCC0A131}"/>
              </a:ext>
            </a:extLst>
            <ns8:hlinkClick xmlns:ns8="http://schemas.openxmlformats.org/drawingml/2006/main" xmlns:ns9="http://schemas.openxmlformats.org/officeDocument/2006/relationships" ns9:id="rIdCC18" action="ppaction://hlinksldjump"/>
          </p:cNvPr>
          <p:cNvSpPr>
            <a:spLocks xmlns:a="http://schemas.openxmlformats.org/drawingml/2006/main" noGrp="1"/>
          </p:cNvSpPr>
          <p:nvPr/>
        </p:nvSpPr>
        <p:spPr>
          <a:xfrm xmlns:a="http://schemas.openxmlformats.org/drawingml/2006/main">
            <a:off x="442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Service controls</a:t>
            </a:r>
          </a:p>
        </p:txBody>
      </p:sp>
      <p:sp>
        <p:nvSpPr>
          <p:cNvPr id="23" name="">
            <a:extLst xmlns:a="http://schemas.openxmlformats.org/drawingml/2006/main">
              <a:ext uri="{FF2B5EF4-FFF2-40B4-BE49-F238E27FC236}">
                <a16:creationId xmlns:a16="http://schemas.microsoft.com/office/drawing/2014/main" id="{071ADC65-E4D3-46A5-9D9A-8C4CE4A3C04C}"/>
              </a:ext>
            </a:extLst>
            <ns10:hlinkClick xmlns:ns10="http://schemas.openxmlformats.org/drawingml/2006/main" xmlns:ns11="http://schemas.openxmlformats.org/officeDocument/2006/relationships" ns11:id="rIdCC18" action="ppaction://hlinksldjump"/>
          </p:cNvPr>
          <p:cNvSpPr>
            <a:spLocks xmlns:a="http://schemas.openxmlformats.org/drawingml/2006/main" noGrp="1"/>
          </p:cNvSpPr>
          <p:nvPr/>
        </p:nvSpPr>
        <p:spPr>
          <a:xfrm xmlns:a="http://schemas.openxmlformats.org/drawingml/2006/main">
            <a:off x="442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Incidents, SLA and authentication</a:t>
            </a:r>
          </a:p>
        </p:txBody>
      </p:sp>
      <p:sp>
        <p:nvSpPr>
          <p:cNvPr id="24" name="">
            <a:extLst xmlns:a="http://schemas.openxmlformats.org/drawingml/2006/main">
              <a:ext uri="{FF2B5EF4-FFF2-40B4-BE49-F238E27FC236}">
                <a16:creationId xmlns:a16="http://schemas.microsoft.com/office/drawing/2014/main" id="{DA3DFB57-352D-47D0-94D3-FB8B73D503CA}"/>
              </a:ext>
            </a:extLst>
            <ns12:hlinkClick xmlns:ns12="http://schemas.openxmlformats.org/drawingml/2006/main" xmlns:ns13="http://schemas.openxmlformats.org/officeDocument/2006/relationships" ns13:id="rIdCC19" action="ppaction://hlinksldjump"/>
          </p:cNvPr>
          <p:cNvSpPr>
            <a:spLocks xmlns:a="http://schemas.openxmlformats.org/drawingml/2006/main" noGrp="1"/>
          </p:cNvSpPr>
          <p:nvPr/>
        </p:nvSpPr>
        <p:spPr>
          <a:xfrm xmlns:a="http://schemas.openxmlformats.org/drawingml/2006/main">
            <a:off x="8077200" y="3524250"/>
            <a:ext cx="3657600" cy="1104900"/>
          </a:xfrm>
          <a:prstGeom xmlns:a="http://schemas.openxmlformats.org/drawingml/2006/main" prst="roundRect">
            <a:avLst>
              <a:gd name="adj" fmla="val 10345"/>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BE84AB2-363D-45BA-B6F1-0037BE88D819}"/>
              </a:ext>
            </a:extLst>
            <ns14:hlinkClick xmlns:ns14="http://schemas.openxmlformats.org/drawingml/2006/main" xmlns:ns15="http://schemas.openxmlformats.org/officeDocument/2006/relationships" ns15:id="rIdCC19" action="ppaction://hlinksldjump"/>
          </p:cNvPr>
          <p:cNvSpPr>
            <a:spLocks xmlns:a="http://schemas.openxmlformats.org/drawingml/2006/main" noGrp="1"/>
          </p:cNvSpPr>
          <p:nvPr/>
        </p:nvSpPr>
        <p:spPr>
          <a:xfrm xmlns:a="http://schemas.openxmlformats.org/drawingml/2006/main">
            <a:off x="823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IVR transactions</a:t>
            </a:r>
          </a:p>
        </p:txBody>
      </p:sp>
      <p:sp>
        <p:nvSpPr>
          <p:cNvPr id="26" name="">
            <a:extLst xmlns:a="http://schemas.openxmlformats.org/drawingml/2006/main">
              <a:ext uri="{FF2B5EF4-FFF2-40B4-BE49-F238E27FC236}">
                <a16:creationId xmlns:a16="http://schemas.microsoft.com/office/drawing/2014/main" id="{5CFD4F38-794D-43EB-A581-995A4293F12D}"/>
              </a:ext>
            </a:extLst>
            <ns16:hlinkClick xmlns:ns16="http://schemas.openxmlformats.org/drawingml/2006/main" xmlns:ns17="http://schemas.openxmlformats.org/officeDocument/2006/relationships" ns17:id="rIdCC19" action="ppaction://hlinksldjump"/>
          </p:cNvPr>
          <p:cNvSpPr>
            <a:spLocks xmlns:a="http://schemas.openxmlformats.org/drawingml/2006/main" noGrp="1"/>
          </p:cNvSpPr>
          <p:nvPr/>
        </p:nvSpPr>
        <p:spPr>
          <a:xfrm xmlns:a="http://schemas.openxmlformats.org/drawingml/2006/main">
            <a:off x="823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Self-service activity by function</a:t>
            </a:r>
          </a:p>
        </p:txBody>
      </p:sp>
      <p:sp>
        <p:nvSpPr>
          <p:cNvPr id="27" name="">
            <a:extLst xmlns:a="http://schemas.openxmlformats.org/drawingml/2006/main">
              <a:ext uri="{FF2B5EF4-FFF2-40B4-BE49-F238E27FC236}">
                <a16:creationId xmlns:a16="http://schemas.microsoft.com/office/drawing/2014/main" id="{02FE61E8-7814-4424-8C5E-6A769E545D2E}"/>
              </a:ext>
            </a:extLst>
            <ns18:hlinkClick xmlns:ns18="http://schemas.openxmlformats.org/drawingml/2006/main" xmlns:ns19="http://schemas.openxmlformats.org/officeDocument/2006/relationships" ns19:id="rIdCC20" action="ppaction://hlinksldjump"/>
          </p:cNvPr>
          <p:cNvSpPr>
            <a:spLocks xmlns:a="http://schemas.openxmlformats.org/drawingml/2006/main" noGrp="1"/>
          </p:cNvSpPr>
          <p:nvPr/>
        </p:nvSpPr>
        <p:spPr>
          <a:xfrm xmlns:a="http://schemas.openxmlformats.org/drawingml/2006/main">
            <a:off x="457200" y="4791075"/>
            <a:ext cx="3657600" cy="1104900"/>
          </a:xfrm>
          <a:prstGeom xmlns:a="http://schemas.openxmlformats.org/drawingml/2006/main" prst="roundRect">
            <a:avLst>
              <a:gd name="adj" fmla="val 10345"/>
            </a:avLst>
          </a:prstGeom>
          <a:solidFill xmlns:a="http://schemas.openxmlformats.org/drawingml/2006/main">
            <a:srgbClr val="FFF4D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151E51F-10A2-4299-901E-B47BEE1BEE01}"/>
              </a:ext>
            </a:extLst>
            <ns20:hlinkClick xmlns:ns20="http://schemas.openxmlformats.org/drawingml/2006/main" xmlns:ns21="http://schemas.openxmlformats.org/officeDocument/2006/relationships" ns21:id="rIdCC20" action="ppaction://hlinksldjump"/>
          </p:cNvPr>
          <p:cNvSpPr>
            <a:spLocks xmlns:a="http://schemas.openxmlformats.org/drawingml/2006/main" noGrp="1"/>
          </p:cNvSpPr>
          <p:nvPr/>
        </p:nvSpPr>
        <p:spPr>
          <a:xfrm xmlns:a="http://schemas.openxmlformats.org/drawingml/2006/main">
            <a:off x="61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  Agent licences</a:t>
            </a:r>
          </a:p>
        </p:txBody>
      </p:sp>
      <p:sp>
        <p:nvSpPr>
          <p:cNvPr id="29" name="">
            <a:extLst xmlns:a="http://schemas.openxmlformats.org/drawingml/2006/main">
              <a:ext uri="{FF2B5EF4-FFF2-40B4-BE49-F238E27FC236}">
                <a16:creationId xmlns:a16="http://schemas.microsoft.com/office/drawing/2014/main" id="{608FBD80-4EBF-4225-8452-46844055274F}"/>
              </a:ext>
            </a:extLst>
            <ns22:hlinkClick xmlns:ns22="http://schemas.openxmlformats.org/drawingml/2006/main" xmlns:ns23="http://schemas.openxmlformats.org/officeDocument/2006/relationships" ns23:id="rIdCC20" action="ppaction://hlinksldjump"/>
          </p:cNvPr>
          <p:cNvSpPr>
            <a:spLocks xmlns:a="http://schemas.openxmlformats.org/drawingml/2006/main" noGrp="1"/>
          </p:cNvSpPr>
          <p:nvPr/>
        </p:nvSpPr>
        <p:spPr>
          <a:xfrm xmlns:a="http://schemas.openxmlformats.org/drawingml/2006/main">
            <a:off x="61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Daily usage and capacity evidence</a:t>
            </a:r>
          </a:p>
        </p:txBody>
      </p:sp>
      <p:sp>
        <p:nvSpPr>
          <p:cNvPr id="30" name="">
            <a:extLst xmlns:a="http://schemas.openxmlformats.org/drawingml/2006/main">
              <a:ext uri="{FF2B5EF4-FFF2-40B4-BE49-F238E27FC236}">
                <a16:creationId xmlns:a16="http://schemas.microsoft.com/office/drawing/2014/main" id="{BFAF21EC-287F-48B8-8B7E-5F58703AEA99}"/>
              </a:ext>
            </a:extLst>
            <ns24:hlinkClick xmlns:ns24="http://schemas.openxmlformats.org/drawingml/2006/main" xmlns:ns25="http://schemas.openxmlformats.org/officeDocument/2006/relationships" ns25:id="rIdCC21" action="ppaction://hlinksldjump"/>
          </p:cNvPr>
          <p:cNvSpPr>
            <a:spLocks xmlns:a="http://schemas.openxmlformats.org/drawingml/2006/main" noGrp="1"/>
          </p:cNvSpPr>
          <p:nvPr/>
        </p:nvSpPr>
        <p:spPr>
          <a:xfrm xmlns:a="http://schemas.openxmlformats.org/drawingml/2006/main">
            <a:off x="4267200" y="4791075"/>
            <a:ext cx="3657600" cy="1104900"/>
          </a:xfrm>
          <a:prstGeom xmlns:a="http://schemas.openxmlformats.org/drawingml/2006/main" prst="roundRect">
            <a:avLst>
              <a:gd name="adj" fmla="val 10345"/>
            </a:avLst>
          </a:prstGeom>
          <a:solidFill xmlns:a="http://schemas.openxmlformats.org/drawingml/2006/main">
            <a:srgbClr val="FCEAF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BB175A8-AD10-418C-8512-5922FA15AFA4}"/>
              </a:ext>
            </a:extLst>
            <ns26:hlinkClick xmlns:ns26="http://schemas.openxmlformats.org/drawingml/2006/main" xmlns:ns27="http://schemas.openxmlformats.org/officeDocument/2006/relationships" ns27:id="rIdCC21" action="ppaction://hlinksldjump"/>
          </p:cNvPr>
          <p:cNvSpPr>
            <a:spLocks xmlns:a="http://schemas.openxmlformats.org/drawingml/2006/main" noGrp="1"/>
          </p:cNvSpPr>
          <p:nvPr/>
        </p:nvSpPr>
        <p:spPr>
          <a:xfrm xmlns:a="http://schemas.openxmlformats.org/drawingml/2006/main">
            <a:off x="442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35373"/>
                </a:solidFill>
                <a:latin typeface="DejaVu Sans"/>
                <a:ea typeface="DejaVu Sans"/>
                <a:cs typeface="DejaVu Sans"/>
              </a:defRPr>
            </a:pPr>
            <a:r>
              <a:rPr sz="1800" b="1">
                <a:solidFill>
                  <a:srgbClr val="D35373"/>
                </a:solidFill>
                <a:latin typeface="DejaVu Sans"/>
                <a:ea typeface="DejaVu Sans"/>
                <a:cs typeface="DejaVu Sans"/>
              </a:rPr>
              <a:t>☁  Own initiatives</a:t>
            </a:r>
          </a:p>
        </p:txBody>
      </p:sp>
      <p:sp>
        <p:nvSpPr>
          <p:cNvPr id="32" name="">
            <a:extLst xmlns:a="http://schemas.openxmlformats.org/drawingml/2006/main">
              <a:ext uri="{FF2B5EF4-FFF2-40B4-BE49-F238E27FC236}">
                <a16:creationId xmlns:a16="http://schemas.microsoft.com/office/drawing/2014/main" id="{C38FEBA8-0F49-43FC-AA08-28DD432E0D5C}"/>
              </a:ext>
            </a:extLst>
            <ns28:hlinkClick xmlns:ns28="http://schemas.openxmlformats.org/drawingml/2006/main" xmlns:ns29="http://schemas.openxmlformats.org/officeDocument/2006/relationships" ns29:id="rIdCC21" action="ppaction://hlinksldjump"/>
          </p:cNvPr>
          <p:cNvSpPr>
            <a:spLocks xmlns:a="http://schemas.openxmlformats.org/drawingml/2006/main" noGrp="1"/>
          </p:cNvSpPr>
          <p:nvPr/>
        </p:nvSpPr>
        <p:spPr>
          <a:xfrm xmlns:a="http://schemas.openxmlformats.org/drawingml/2006/main">
            <a:off x="442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Five demands and cloud roadmap</a:t>
            </a:r>
          </a:p>
        </p:txBody>
      </p:sp>
      <p:sp>
        <p:nvSpPr>
          <p:cNvPr id="33" name="">
            <a:extLst xmlns:a="http://schemas.openxmlformats.org/drawingml/2006/main">
              <a:ext uri="{FF2B5EF4-FFF2-40B4-BE49-F238E27FC236}">
                <a16:creationId xmlns:a16="http://schemas.microsoft.com/office/drawing/2014/main" id="{F49BA6FB-8ABB-43D7-828A-D0F4606C7DCD}"/>
              </a:ext>
            </a:extLst>
            <ns30:hlinkClick xmlns:ns30="http://schemas.openxmlformats.org/drawingml/2006/main" xmlns:ns31="http://schemas.openxmlformats.org/officeDocument/2006/relationships" ns31:id="rIdCC22" action="ppaction://hlinksldjump"/>
          </p:cNvPr>
          <p:cNvSpPr>
            <a:spLocks xmlns:a="http://schemas.openxmlformats.org/drawingml/2006/main" noGrp="1"/>
          </p:cNvSpPr>
          <p:nvPr/>
        </p:nvSpPr>
        <p:spPr>
          <a:xfrm xmlns:a="http://schemas.openxmlformats.org/drawingml/2006/main">
            <a:off x="8077200" y="4791075"/>
            <a:ext cx="3657600" cy="1104900"/>
          </a:xfrm>
          <a:prstGeom xmlns:a="http://schemas.openxmlformats.org/drawingml/2006/main" prst="roundRect">
            <a:avLst>
              <a:gd name="adj" fmla="val 10345"/>
            </a:avLst>
          </a:prstGeom>
          <a:solidFill xmlns:a="http://schemas.openxmlformats.org/drawingml/2006/main">
            <a:srgbClr val="EAF3F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517DDE8-5418-4091-A3CC-F2FEB0681823}"/>
              </a:ext>
            </a:extLst>
            <ns32:hlinkClick xmlns:ns32="http://schemas.openxmlformats.org/drawingml/2006/main" xmlns:ns33="http://schemas.openxmlformats.org/officeDocument/2006/relationships" ns33:id="rIdCC22" action="ppaction://hlinksldjump"/>
          </p:cNvPr>
          <p:cNvSpPr>
            <a:spLocks xmlns:a="http://schemas.openxmlformats.org/drawingml/2006/main" noGrp="1"/>
          </p:cNvSpPr>
          <p:nvPr/>
        </p:nvSpPr>
        <p:spPr>
          <a:xfrm xmlns:a="http://schemas.openxmlformats.org/drawingml/2006/main">
            <a:off x="823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Supporting portfolio</a:t>
            </a:r>
          </a:p>
        </p:txBody>
      </p:sp>
      <p:sp>
        <p:nvSpPr>
          <p:cNvPr id="35" name="">
            <a:extLst xmlns:a="http://schemas.openxmlformats.org/drawingml/2006/main">
              <a:ext uri="{FF2B5EF4-FFF2-40B4-BE49-F238E27FC236}">
                <a16:creationId xmlns:a16="http://schemas.microsoft.com/office/drawing/2014/main" id="{B3FEE6E2-0788-4903-B541-03349491651E}"/>
              </a:ext>
            </a:extLst>
            <ns34:hlinkClick xmlns:ns34="http://schemas.openxmlformats.org/drawingml/2006/main" xmlns:ns35="http://schemas.openxmlformats.org/officeDocument/2006/relationships" ns35:id="rIdCC22" action="ppaction://hlinksldjump"/>
          </p:cNvPr>
          <p:cNvSpPr>
            <a:spLocks xmlns:a="http://schemas.openxmlformats.org/drawingml/2006/main" noGrp="1"/>
          </p:cNvSpPr>
          <p:nvPr/>
        </p:nvSpPr>
        <p:spPr>
          <a:xfrm xmlns:a="http://schemas.openxmlformats.org/drawingml/2006/main">
            <a:off x="823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Thirteen demands across partner teams</a:t>
            </a:r>
          </a:p>
        </p:txBody>
      </p:sp>
    </p:spTree>
    <p:extLst>
      <p:ext uri="{BB962C8B-B14F-4D97-AF65-F5344CB8AC3E}">
        <p14:creationId xmlns:p14="http://schemas.microsoft.com/office/powerpoint/2010/main" val="13518949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DB04EF-3CDE-4B96-87B6-8F0ABDC9BDF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70E9EAF-E4A8-4C52-98D2-8FF89670CD4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IVR completion improved slightly as abandonment rose</a:t>
            </a:r>
          </a:p>
        </p:txBody>
      </p:sp>
      <p:sp>
        <p:nvSpPr>
          <p:cNvPr id="3" name="">
            <a:extLst xmlns:a="http://schemas.openxmlformats.org/drawingml/2006/main">
              <a:ext uri="{FF2B5EF4-FFF2-40B4-BE49-F238E27FC236}">
                <a16:creationId xmlns:a16="http://schemas.microsoft.com/office/drawing/2014/main" id="{675316DD-D62E-49AA-82DD-CBECE855088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versus August: completion +0.46 percentage points, abandonment +4.31 points.</a:t>
            </a:r>
          </a:p>
        </p:txBody>
      </p:sp>
      <p:sp>
        <p:nvSpPr>
          <p:cNvPr id="4" name="">
            <a:extLst xmlns:a="http://schemas.openxmlformats.org/drawingml/2006/main">
              <a:ext uri="{FF2B5EF4-FFF2-40B4-BE49-F238E27FC236}">
                <a16:creationId xmlns:a16="http://schemas.microsoft.com/office/drawing/2014/main" id="{C4D829BF-3A53-44A1-8BD0-DD51E0CDDE1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82D4EE87-A6E0-4E28-AC2C-A738C6C5E12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100AA709-E275-4D21-B00A-3BC8E7897BE2}"/>
              </a:ext>
            </a:extLst>
          </p:cNvPr>
          <p:cNvSpPr>
            <a:spLocks xmlns:a="http://schemas.openxmlformats.org/drawingml/2006/main" noGrp="1"/>
          </p:cNvSpPr>
          <p:nvPr/>
        </p:nvSpPr>
        <p:spPr>
          <a:xfrm xmlns:a="http://schemas.openxmlformats.org/drawingml/2006/main">
            <a:off x="457200" y="2095500"/>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IVR completion</a:t>
            </a:r>
          </a:p>
        </p:txBody>
      </p:sp>
      <p:graphicFrame>
        <p:nvGraphicFramePr>
          <p:cNvPr id="20" name="Chart"/>
          <p:cNvGraphicFramePr/>
          <p:nvPr/>
        </p:nvGraphicFramePr>
        <p:xfrm>
          <a:off xmlns:a="http://schemas.openxmlformats.org/drawingml/2006/main" x="457200" y="2457450"/>
          <a:ext xmlns:a="http://schemas.openxmlformats.org/drawingml/2006/main" cx="5391150" cy="2009775"/>
        </p:xfrm>
        <a:graphic xmlns:a="http://schemas.openxmlformats.org/drawingml/2006/main">
          <a:graphicData uri="http://schemas.openxmlformats.org/drawingml/2006/chart">
            <c:chart xmlns:r="http://schemas.openxmlformats.org/officeDocument/2006/relationships" xmlns:c="http://schemas.openxmlformats.org/drawingml/2006/chart" r:id="R47760777759e4f12"/>
          </a:graphicData>
        </a:graphic>
      </p:graphicFrame>
      <p:sp>
        <p:nvSpPr>
          <p:cNvPr id="8" name="">
            <a:extLst xmlns:a="http://schemas.openxmlformats.org/drawingml/2006/main">
              <a:ext uri="{FF2B5EF4-FFF2-40B4-BE49-F238E27FC236}">
                <a16:creationId xmlns:a16="http://schemas.microsoft.com/office/drawing/2014/main" id="{D40416C9-DC06-405E-BAD8-D8E4AADC4DB3}"/>
              </a:ext>
            </a:extLst>
          </p:cNvPr>
          <p:cNvSpPr>
            <a:spLocks xmlns:a="http://schemas.openxmlformats.org/drawingml/2006/main" noGrp="1"/>
          </p:cNvSpPr>
          <p:nvPr/>
        </p:nvSpPr>
        <p:spPr>
          <a:xfrm xmlns:a="http://schemas.openxmlformats.org/drawingml/2006/main">
            <a:off x="6191250" y="20955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Call abandonment</a:t>
            </a:r>
          </a:p>
        </p:txBody>
      </p:sp>
      <p:graphicFrame>
        <p:nvGraphicFramePr>
          <p:cNvPr id="22" name="Chart"/>
          <p:cNvGraphicFramePr/>
          <p:nvPr/>
        </p:nvGraphicFramePr>
        <p:xfrm>
          <a:off xmlns:a="http://schemas.openxmlformats.org/drawingml/2006/main" x="6191250" y="2457450"/>
          <a:ext xmlns:a="http://schemas.openxmlformats.org/drawingml/2006/main" cx="5524500" cy="2009775"/>
        </p:xfrm>
        <a:graphic xmlns:a="http://schemas.openxmlformats.org/drawingml/2006/main">
          <a:graphicData uri="http://schemas.openxmlformats.org/drawingml/2006/chart">
            <c:chart xmlns:r="http://schemas.openxmlformats.org/officeDocument/2006/relationships" xmlns:c="http://schemas.openxmlformats.org/drawingml/2006/chart" r:id="R46c7458e50784f4e"/>
          </a:graphicData>
        </a:graphic>
      </p:graphicFrame>
      <p:graphicFrame>
        <p:nvGraphicFramePr>
          <p:cNvPr id="23" name="Chart"/>
          <p:cNvGraphicFramePr/>
          <p:nvPr/>
        </p:nvGraphicFramePr>
        <p:xfrm>
          <a:off xmlns:a="http://schemas.openxmlformats.org/drawingml/2006/main" x="457200" y="4667250"/>
          <a:ext xmlns:a="http://schemas.openxmlformats.org/drawingml/2006/main" cx="6858000" cy="1495425"/>
        </p:xfrm>
        <a:graphic xmlns:a="http://schemas.openxmlformats.org/drawingml/2006/main">
          <a:graphicData uri="http://schemas.openxmlformats.org/drawingml/2006/chart">
            <c:chart xmlns:r="http://schemas.openxmlformats.org/officeDocument/2006/relationships" xmlns:c="http://schemas.openxmlformats.org/drawingml/2006/chart" r:id="R44682de362884218"/>
          </a:graphicData>
        </a:graphic>
      </p:graphicFrame>
      <p:sp>
        <p:nvSpPr>
          <p:cNvPr id="11" name="">
            <a:extLst xmlns:a="http://schemas.openxmlformats.org/drawingml/2006/main">
              <a:ext uri="{FF2B5EF4-FFF2-40B4-BE49-F238E27FC236}">
                <a16:creationId xmlns:a16="http://schemas.microsoft.com/office/drawing/2014/main" id="{FA48EEB6-CF7B-4C37-8842-FBE558F29317}"/>
              </a:ext>
            </a:extLst>
          </p:cNvPr>
          <p:cNvSpPr>
            <a:spLocks xmlns:a="http://schemas.openxmlformats.org/drawingml/2006/main" noGrp="1"/>
          </p:cNvSpPr>
          <p:nvPr/>
        </p:nvSpPr>
        <p:spPr>
          <a:xfrm xmlns:a="http://schemas.openxmlformats.org/drawingml/2006/main">
            <a:off x="7810500" y="4667250"/>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3.92M IVR calls, Jan–Sep</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435,117 average per month</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Peak: July, 454,393</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Lowest: February, 394,343</a:t>
            </a:r>
          </a:p>
        </p:txBody>
      </p:sp>
      <p:sp>
        <p:nvSpPr>
          <p:cNvPr id="12" name="">
            <a:extLst xmlns:a="http://schemas.openxmlformats.org/drawingml/2006/main">
              <a:ext uri="{FF2B5EF4-FFF2-40B4-BE49-F238E27FC236}">
                <a16:creationId xmlns:a16="http://schemas.microsoft.com/office/drawing/2014/main" id="{F23FD549-4BE6-4F4C-BC1D-6756C6C983C9}"/>
              </a:ext>
            </a:extLst>
          </p:cNvPr>
          <p:cNvSpPr>
            <a:spLocks xmlns:a="http://schemas.openxmlformats.org/drawingml/2006/main" noGrp="1"/>
          </p:cNvSpPr>
          <p:nvPr/>
        </p:nvSpPr>
        <p:spPr>
          <a:xfrm xmlns:a="http://schemas.openxmlformats.org/drawingml/2006/main">
            <a:off x="457200" y="6238875"/>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Jan–Sep: 69% completion, 31% transfer. Agent outcomes: 92% answered, 8% abandoned.</a:t>
            </a:r>
          </a:p>
        </p:txBody>
      </p:sp>
      <p:sp>
        <p:nvSpPr>
          <p:cNvPr id="13" name="">
            <a:extLst xmlns:a="http://schemas.openxmlformats.org/drawingml/2006/main">
              <a:ext uri="{FF2B5EF4-FFF2-40B4-BE49-F238E27FC236}">
                <a16:creationId xmlns:a16="http://schemas.microsoft.com/office/drawing/2014/main" id="{BE3DDCC8-5FA9-41DF-9D7D-1C15CC8487B9}"/>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4064862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0CB454-2636-4203-BDD7-976D493FAE5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F0EAA87-1D17-4C7A-ACB5-880EC98F509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incidents remain within the reported SLA</a:t>
            </a:r>
          </a:p>
        </p:txBody>
      </p:sp>
      <p:sp>
        <p:nvSpPr>
          <p:cNvPr id="3" name="">
            <a:extLst xmlns:a="http://schemas.openxmlformats.org/drawingml/2006/main">
              <a:ext uri="{FF2B5EF4-FFF2-40B4-BE49-F238E27FC236}">
                <a16:creationId xmlns:a16="http://schemas.microsoft.com/office/drawing/2014/main" id="{A9870FA4-3D0C-4A80-AB82-F2FFB35DCB26}"/>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81 incidents: 78 closed and 3 in progress. No P1 or P2 incidents reported.</a:t>
            </a:r>
          </a:p>
        </p:txBody>
      </p:sp>
      <p:sp>
        <p:nvSpPr>
          <p:cNvPr id="4" name="">
            <a:extLst xmlns:a="http://schemas.openxmlformats.org/drawingml/2006/main">
              <a:ext uri="{FF2B5EF4-FFF2-40B4-BE49-F238E27FC236}">
                <a16:creationId xmlns:a16="http://schemas.microsoft.com/office/drawing/2014/main" id="{1C8D1D25-5FC4-473A-B571-DFE4E13B02B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5597FC6C-3C2A-4957-9609-B09EFE64BE8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11D66981-6DE7-465C-9353-62F22DF6EA0A}"/>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F636A1C-2DFD-4708-B5EE-51F0EDFEE093}"/>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81 / 81</a:t>
            </a:r>
          </a:p>
        </p:txBody>
      </p:sp>
      <p:sp>
        <p:nvSpPr>
          <p:cNvPr id="8" name="">
            <a:extLst xmlns:a="http://schemas.openxmlformats.org/drawingml/2006/main">
              <a:ext uri="{FF2B5EF4-FFF2-40B4-BE49-F238E27FC236}">
                <a16:creationId xmlns:a16="http://schemas.microsoft.com/office/drawing/2014/main" id="{7CE20459-2001-4EAF-9CB2-2ABB4FEB2917}"/>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within reported SLA</a:t>
            </a:r>
          </a:p>
        </p:txBody>
      </p:sp>
      <p:sp>
        <p:nvSpPr>
          <p:cNvPr id="9" name="">
            <a:extLst xmlns:a="http://schemas.openxmlformats.org/drawingml/2006/main">
              <a:ext uri="{FF2B5EF4-FFF2-40B4-BE49-F238E27FC236}">
                <a16:creationId xmlns:a16="http://schemas.microsoft.com/office/drawing/2014/main" id="{C9087706-EADB-4036-B18F-04BC33C3CDB8}"/>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221C83-7020-420B-89E9-12956D03D30C}"/>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0</a:t>
            </a:r>
          </a:p>
        </p:txBody>
      </p:sp>
      <p:sp>
        <p:nvSpPr>
          <p:cNvPr id="11" name="">
            <a:extLst xmlns:a="http://schemas.openxmlformats.org/drawingml/2006/main">
              <a:ext uri="{FF2B5EF4-FFF2-40B4-BE49-F238E27FC236}">
                <a16:creationId xmlns:a16="http://schemas.microsoft.com/office/drawing/2014/main" id="{C1EE8249-F4A6-4B61-8A43-70CE835E8624}"/>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exceeded SLA</a:t>
            </a:r>
          </a:p>
        </p:txBody>
      </p:sp>
      <p:sp>
        <p:nvSpPr>
          <p:cNvPr id="12" name="">
            <a:extLst xmlns:a="http://schemas.openxmlformats.org/drawingml/2006/main">
              <a:ext uri="{FF2B5EF4-FFF2-40B4-BE49-F238E27FC236}">
                <a16:creationId xmlns:a16="http://schemas.microsoft.com/office/drawing/2014/main" id="{5A0C96A3-4DD4-4494-8F9B-2B0C775F235B}"/>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7B85C5-1ED9-4E97-851D-8EF4711720C1}"/>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73</a:t>
            </a:r>
          </a:p>
        </p:txBody>
      </p:sp>
      <p:sp>
        <p:nvSpPr>
          <p:cNvPr id="14" name="">
            <a:extLst xmlns:a="http://schemas.openxmlformats.org/drawingml/2006/main">
              <a:ext uri="{FF2B5EF4-FFF2-40B4-BE49-F238E27FC236}">
                <a16:creationId xmlns:a16="http://schemas.microsoft.com/office/drawing/2014/main" id="{ACB7472B-4868-4F43-B61B-F10CBE6B27DB}"/>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P3 incidents</a:t>
            </a:r>
          </a:p>
        </p:txBody>
      </p:sp>
      <p:sp>
        <p:nvSpPr>
          <p:cNvPr id="15" name="">
            <a:extLst xmlns:a="http://schemas.openxmlformats.org/drawingml/2006/main">
              <a:ext uri="{FF2B5EF4-FFF2-40B4-BE49-F238E27FC236}">
                <a16:creationId xmlns:a16="http://schemas.microsoft.com/office/drawing/2014/main" id="{7D415446-BF2A-4E75-9584-806A498A72FA}"/>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DED670-7D0C-40DD-B907-420ECF9719C0}"/>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8</a:t>
            </a:r>
          </a:p>
        </p:txBody>
      </p:sp>
      <p:sp>
        <p:nvSpPr>
          <p:cNvPr id="17" name="">
            <a:extLst xmlns:a="http://schemas.openxmlformats.org/drawingml/2006/main">
              <a:ext uri="{FF2B5EF4-FFF2-40B4-BE49-F238E27FC236}">
                <a16:creationId xmlns:a16="http://schemas.microsoft.com/office/drawing/2014/main" id="{DDF95D22-7258-4ADE-9D17-F031D64BB6A3}"/>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P4 incidents</a:t>
            </a:r>
          </a:p>
        </p:txBody>
      </p:sp>
      <p:sp>
        <p:nvSpPr>
          <p:cNvPr id="18" name="">
            <a:extLst xmlns:a="http://schemas.openxmlformats.org/drawingml/2006/main">
              <a:ext uri="{FF2B5EF4-FFF2-40B4-BE49-F238E27FC236}">
                <a16:creationId xmlns:a16="http://schemas.microsoft.com/office/drawing/2014/main" id="{DD7CED61-7E26-4D3B-8CF7-C243CB820F29}"/>
              </a:ext>
            </a:extLst>
          </p:cNvPr>
          <p:cNvSpPr>
            <a:spLocks xmlns:a="http://schemas.openxmlformats.org/drawingml/2006/main" noGrp="1"/>
          </p:cNvSpPr>
          <p:nvPr/>
        </p:nvSpPr>
        <p:spPr>
          <a:xfrm xmlns:a="http://schemas.openxmlformats.org/drawingml/2006/main">
            <a:off x="457200" y="3562350"/>
            <a:ext cx="5543550" cy="2486025"/>
          </a:xfrm>
          <a:prstGeom xmlns:a="http://schemas.openxmlformats.org/drawingml/2006/main" prst="roundRect">
            <a:avLst>
              <a:gd name="adj" fmla="val 4598"/>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FD25B15-0085-40F3-81F6-453382FDB68B}"/>
              </a:ext>
            </a:extLst>
          </p:cNvPr>
          <p:cNvSpPr>
            <a:spLocks xmlns:a="http://schemas.openxmlformats.org/drawingml/2006/main" noGrp="1"/>
          </p:cNvSpPr>
          <p:nvPr/>
        </p:nvSpPr>
        <p:spPr>
          <a:xfrm xmlns:a="http://schemas.openxmlformats.org/drawingml/2006/main">
            <a:off x="62865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September call flow</a:t>
            </a:r>
          </a:p>
        </p:txBody>
      </p:sp>
      <p:sp>
        <p:nvSpPr>
          <p:cNvPr id="20" name="">
            <a:extLst xmlns:a="http://schemas.openxmlformats.org/drawingml/2006/main">
              <a:ext uri="{FF2B5EF4-FFF2-40B4-BE49-F238E27FC236}">
                <a16:creationId xmlns:a16="http://schemas.microsoft.com/office/drawing/2014/main" id="{5AD7FB3E-3479-4A2D-81D9-D2CAEAE9F8EC}"/>
              </a:ext>
            </a:extLst>
          </p:cNvPr>
          <p:cNvSpPr>
            <a:spLocks xmlns:a="http://schemas.openxmlformats.org/drawingml/2006/main" noGrp="1"/>
          </p:cNvSpPr>
          <p:nvPr/>
        </p:nvSpPr>
        <p:spPr>
          <a:xfrm xmlns:a="http://schemas.openxmlformats.org/drawingml/2006/main">
            <a:off x="62865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446,482 IVR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68% containment / 32% agent transfer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146,785 agent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88% answered / 12% abandoned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rates are rounded</a:t>
            </a:r>
          </a:p>
        </p:txBody>
      </p:sp>
      <p:sp>
        <p:nvSpPr>
          <p:cNvPr id="21" name="">
            <a:extLst xmlns:a="http://schemas.openxmlformats.org/drawingml/2006/main">
              <a:ext uri="{FF2B5EF4-FFF2-40B4-BE49-F238E27FC236}">
                <a16:creationId xmlns:a16="http://schemas.microsoft.com/office/drawing/2014/main" id="{52754AF3-36FE-48A2-B5E2-A9997C051DE6}"/>
              </a:ext>
            </a:extLst>
          </p:cNvPr>
          <p:cNvSpPr>
            <a:spLocks xmlns:a="http://schemas.openxmlformats.org/drawingml/2006/main" noGrp="1"/>
          </p:cNvSpPr>
          <p:nvPr/>
        </p:nvSpPr>
        <p:spPr>
          <a:xfrm xmlns:a="http://schemas.openxmlformats.org/drawingml/2006/main">
            <a:off x="6191250" y="3562350"/>
            <a:ext cx="5543550" cy="2486025"/>
          </a:xfrm>
          <a:prstGeom xmlns:a="http://schemas.openxmlformats.org/drawingml/2006/main" prst="roundRect">
            <a:avLst>
              <a:gd name="adj" fmla="val 4598"/>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42F9AB9-FD7E-4D31-AEB1-B3D1CE324B69}"/>
              </a:ext>
            </a:extLst>
          </p:cNvPr>
          <p:cNvSpPr>
            <a:spLocks xmlns:a="http://schemas.openxmlformats.org/drawingml/2006/main" noGrp="1"/>
          </p:cNvSpPr>
          <p:nvPr/>
        </p:nvSpPr>
        <p:spPr>
          <a:xfrm xmlns:a="http://schemas.openxmlformats.org/drawingml/2006/main">
            <a:off x="636270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Identification and verification</a:t>
            </a:r>
          </a:p>
        </p:txBody>
      </p:sp>
      <p:sp>
        <p:nvSpPr>
          <p:cNvPr id="23" name="">
            <a:extLst xmlns:a="http://schemas.openxmlformats.org/drawingml/2006/main">
              <a:ext uri="{FF2B5EF4-FFF2-40B4-BE49-F238E27FC236}">
                <a16:creationId xmlns:a16="http://schemas.microsoft.com/office/drawing/2014/main" id="{1A24C561-037F-4C15-9453-EB812C835D78}"/>
              </a:ext>
            </a:extLst>
          </p:cNvPr>
          <p:cNvSpPr>
            <a:spLocks xmlns:a="http://schemas.openxmlformats.org/drawingml/2006/main" noGrp="1"/>
          </p:cNvSpPr>
          <p:nvPr/>
        </p:nvSpPr>
        <p:spPr>
          <a:xfrm xmlns:a="http://schemas.openxmlformats.org/drawingml/2006/main">
            <a:off x="636270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69% customer identification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25% TPIN verified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 biometrics verified</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Measures may use different denominators.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Treat them as separate rates.</a:t>
            </a:r>
          </a:p>
        </p:txBody>
      </p:sp>
      <p:sp>
        <p:nvSpPr>
          <p:cNvPr id="24" name="">
            <a:extLst xmlns:a="http://schemas.openxmlformats.org/drawingml/2006/main">
              <a:ext uri="{FF2B5EF4-FFF2-40B4-BE49-F238E27FC236}">
                <a16:creationId xmlns:a16="http://schemas.microsoft.com/office/drawing/2014/main" id="{DB43D2B2-6464-4910-817D-A47E7B34D87B}"/>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0959581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68D7177-456B-404D-85AF-2BA765329B5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6879188-C29F-4777-B0B2-E38E4BA5A1F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TPIN and card activation dominate IVR transaction activity</a:t>
            </a:r>
          </a:p>
        </p:txBody>
      </p:sp>
      <p:sp>
        <p:nvSpPr>
          <p:cNvPr id="3" name="">
            <a:extLst xmlns:a="http://schemas.openxmlformats.org/drawingml/2006/main">
              <a:ext uri="{FF2B5EF4-FFF2-40B4-BE49-F238E27FC236}">
                <a16:creationId xmlns:a16="http://schemas.microsoft.com/office/drawing/2014/main" id="{515C1C1D-C010-44D0-A7FA-9EF8C549157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Source activity counts describe functions, rather than unique callers.</a:t>
            </a:r>
          </a:p>
        </p:txBody>
      </p:sp>
      <p:sp>
        <p:nvSpPr>
          <p:cNvPr id="4" name="">
            <a:extLst xmlns:a="http://schemas.openxmlformats.org/drawingml/2006/main">
              <a:ext uri="{FF2B5EF4-FFF2-40B4-BE49-F238E27FC236}">
                <a16:creationId xmlns:a16="http://schemas.microsoft.com/office/drawing/2014/main" id="{E142D3D6-48CE-431B-95BA-938D226777D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8697DF17-65A1-40AC-B82C-96089F9AEBB1}"/>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19</a:t>
            </a:r>
          </a:p>
        </p:txBody>
      </p:sp>
      <p:graphicFrame>
        <p:nvGraphicFramePr>
          <p:cNvPr id="32" name="Chart"/>
          <p:cNvGraphicFramePr/>
          <p:nvPr/>
        </p:nvGraphicFramePr>
        <p:xfrm>
          <a:off xmlns:a="http://schemas.openxmlformats.org/drawingml/2006/main" x="2276475" y="2257425"/>
          <a:ext xmlns:a="http://schemas.openxmlformats.org/drawingml/2006/main" cx="3590925" cy="3514725"/>
        </p:xfrm>
        <a:graphic xmlns:a="http://schemas.openxmlformats.org/drawingml/2006/main">
          <a:graphicData uri="http://schemas.openxmlformats.org/drawingml/2006/chart">
            <c:chart xmlns:r="http://schemas.openxmlformats.org/officeDocument/2006/relationships" xmlns:c="http://schemas.openxmlformats.org/drawingml/2006/chart" r:id="R1d709b00666f4bf4"/>
          </a:graphicData>
        </a:graphic>
      </p:graphicFrame>
      <p:sp>
        <p:nvSpPr>
          <p:cNvPr id="7" name="">
            <a:extLst xmlns:a="http://schemas.openxmlformats.org/drawingml/2006/main">
              <a:ext uri="{FF2B5EF4-FFF2-40B4-BE49-F238E27FC236}">
                <a16:creationId xmlns:a16="http://schemas.microsoft.com/office/drawing/2014/main" id="{01E7B6E2-6BE8-41D0-8EA0-6474AA66233C}"/>
              </a:ext>
            </a:extLst>
          </p:cNvPr>
          <p:cNvSpPr>
            <a:spLocks xmlns:a="http://schemas.openxmlformats.org/drawingml/2006/main" noGrp="1"/>
          </p:cNvSpPr>
          <p:nvPr/>
        </p:nvSpPr>
        <p:spPr>
          <a:xfrm xmlns:a="http://schemas.openxmlformats.org/drawingml/2006/main">
            <a:off x="45720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card PIN</a:t>
            </a:r>
          </a:p>
        </p:txBody>
      </p:sp>
      <p:sp>
        <p:nvSpPr>
          <p:cNvPr id="8" name="">
            <a:extLst xmlns:a="http://schemas.openxmlformats.org/drawingml/2006/main">
              <a:ext uri="{FF2B5EF4-FFF2-40B4-BE49-F238E27FC236}">
                <a16:creationId xmlns:a16="http://schemas.microsoft.com/office/drawing/2014/main" id="{A03F0D60-BD74-43EA-971F-254BB16804A9}"/>
              </a:ext>
            </a:extLst>
          </p:cNvPr>
          <p:cNvSpPr>
            <a:spLocks xmlns:a="http://schemas.openxmlformats.org/drawingml/2006/main" noGrp="1"/>
          </p:cNvSpPr>
          <p:nvPr/>
        </p:nvSpPr>
        <p:spPr>
          <a:xfrm xmlns:a="http://schemas.openxmlformats.org/drawingml/2006/main">
            <a:off x="457200" y="2774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Card payment</a:t>
            </a:r>
          </a:p>
        </p:txBody>
      </p:sp>
      <p:sp>
        <p:nvSpPr>
          <p:cNvPr id="9" name="">
            <a:extLst xmlns:a="http://schemas.openxmlformats.org/drawingml/2006/main">
              <a:ext uri="{FF2B5EF4-FFF2-40B4-BE49-F238E27FC236}">
                <a16:creationId xmlns:a16="http://schemas.microsoft.com/office/drawing/2014/main" id="{82382176-15C5-4416-AF95-2C679C173CFB}"/>
              </a:ext>
            </a:extLst>
          </p:cNvPr>
          <p:cNvSpPr>
            <a:spLocks xmlns:a="http://schemas.openxmlformats.org/drawingml/2006/main" noGrp="1"/>
          </p:cNvSpPr>
          <p:nvPr/>
        </p:nvSpPr>
        <p:spPr>
          <a:xfrm xmlns:a="http://schemas.openxmlformats.org/drawingml/2006/main">
            <a:off x="457200" y="31019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Cash on card</a:t>
            </a:r>
          </a:p>
        </p:txBody>
      </p:sp>
      <p:sp>
        <p:nvSpPr>
          <p:cNvPr id="10" name="">
            <a:extLst xmlns:a="http://schemas.openxmlformats.org/drawingml/2006/main">
              <a:ext uri="{FF2B5EF4-FFF2-40B4-BE49-F238E27FC236}">
                <a16:creationId xmlns:a16="http://schemas.microsoft.com/office/drawing/2014/main" id="{93F4014B-F97F-4E7D-986C-29946CE4A0FF}"/>
              </a:ext>
            </a:extLst>
          </p:cNvPr>
          <p:cNvSpPr>
            <a:spLocks xmlns:a="http://schemas.openxmlformats.org/drawingml/2006/main" noGrp="1"/>
          </p:cNvSpPr>
          <p:nvPr/>
        </p:nvSpPr>
        <p:spPr>
          <a:xfrm xmlns:a="http://schemas.openxmlformats.org/drawingml/2006/main">
            <a:off x="457200" y="34290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Cheque-book request</a:t>
            </a:r>
          </a:p>
        </p:txBody>
      </p:sp>
      <p:sp>
        <p:nvSpPr>
          <p:cNvPr id="11" name="">
            <a:extLst xmlns:a="http://schemas.openxmlformats.org/drawingml/2006/main">
              <a:ext uri="{FF2B5EF4-FFF2-40B4-BE49-F238E27FC236}">
                <a16:creationId xmlns:a16="http://schemas.microsoft.com/office/drawing/2014/main" id="{29A2B359-5774-4A06-8D56-8E88181D02C0}"/>
              </a:ext>
            </a:extLst>
          </p:cNvPr>
          <p:cNvSpPr>
            <a:spLocks xmlns:a="http://schemas.openxmlformats.org/drawingml/2006/main" noGrp="1"/>
          </p:cNvSpPr>
          <p:nvPr/>
        </p:nvSpPr>
        <p:spPr>
          <a:xfrm xmlns:a="http://schemas.openxmlformats.org/drawingml/2006/main">
            <a:off x="457200" y="37560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Funds transfer</a:t>
            </a:r>
          </a:p>
        </p:txBody>
      </p:sp>
      <p:sp>
        <p:nvSpPr>
          <p:cNvPr id="12" name="">
            <a:extLst xmlns:a="http://schemas.openxmlformats.org/drawingml/2006/main">
              <a:ext uri="{FF2B5EF4-FFF2-40B4-BE49-F238E27FC236}">
                <a16:creationId xmlns:a16="http://schemas.microsoft.com/office/drawing/2014/main" id="{A480CA16-02AA-4392-8863-87CAD02CE1B0}"/>
              </a:ext>
            </a:extLst>
          </p:cNvPr>
          <p:cNvSpPr>
            <a:spLocks xmlns:a="http://schemas.openxmlformats.org/drawingml/2006/main" noGrp="1"/>
          </p:cNvSpPr>
          <p:nvPr/>
        </p:nvSpPr>
        <p:spPr>
          <a:xfrm xmlns:a="http://schemas.openxmlformats.org/drawingml/2006/main">
            <a:off x="457200" y="40830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Salik payment</a:t>
            </a:r>
          </a:p>
        </p:txBody>
      </p:sp>
      <p:sp>
        <p:nvSpPr>
          <p:cNvPr id="13" name="">
            <a:extLst xmlns:a="http://schemas.openxmlformats.org/drawingml/2006/main">
              <a:ext uri="{FF2B5EF4-FFF2-40B4-BE49-F238E27FC236}">
                <a16:creationId xmlns:a16="http://schemas.microsoft.com/office/drawing/2014/main" id="{E978B48B-BCF2-429C-8D3D-3A3962A5BC2A}"/>
              </a:ext>
            </a:extLst>
          </p:cNvPr>
          <p:cNvSpPr>
            <a:spLocks xmlns:a="http://schemas.openxmlformats.org/drawingml/2006/main" noGrp="1"/>
          </p:cNvSpPr>
          <p:nvPr/>
        </p:nvSpPr>
        <p:spPr>
          <a:xfrm xmlns:a="http://schemas.openxmlformats.org/drawingml/2006/main">
            <a:off x="457200" y="44100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DU payments</a:t>
            </a:r>
          </a:p>
        </p:txBody>
      </p:sp>
      <p:sp>
        <p:nvSpPr>
          <p:cNvPr id="14" name="">
            <a:extLst xmlns:a="http://schemas.openxmlformats.org/drawingml/2006/main">
              <a:ext uri="{FF2B5EF4-FFF2-40B4-BE49-F238E27FC236}">
                <a16:creationId xmlns:a16="http://schemas.microsoft.com/office/drawing/2014/main" id="{7D0B8953-6E66-4C34-91B3-6936EACEE09D}"/>
              </a:ext>
            </a:extLst>
          </p:cNvPr>
          <p:cNvSpPr>
            <a:spLocks xmlns:a="http://schemas.openxmlformats.org/drawingml/2006/main" noGrp="1"/>
          </p:cNvSpPr>
          <p:nvPr/>
        </p:nvSpPr>
        <p:spPr>
          <a:xfrm xmlns:a="http://schemas.openxmlformats.org/drawingml/2006/main">
            <a:off x="457200" y="47371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Etisalat payments</a:t>
            </a:r>
          </a:p>
        </p:txBody>
      </p:sp>
      <p:sp>
        <p:nvSpPr>
          <p:cNvPr id="15" name="">
            <a:extLst xmlns:a="http://schemas.openxmlformats.org/drawingml/2006/main">
              <a:ext uri="{FF2B5EF4-FFF2-40B4-BE49-F238E27FC236}">
                <a16:creationId xmlns:a16="http://schemas.microsoft.com/office/drawing/2014/main" id="{6218D57A-1472-4CBC-A8D0-26A37874F395}"/>
              </a:ext>
            </a:extLst>
          </p:cNvPr>
          <p:cNvSpPr>
            <a:spLocks xmlns:a="http://schemas.openxmlformats.org/drawingml/2006/main" noGrp="1"/>
          </p:cNvSpPr>
          <p:nvPr/>
        </p:nvSpPr>
        <p:spPr>
          <a:xfrm xmlns:a="http://schemas.openxmlformats.org/drawingml/2006/main">
            <a:off x="457200" y="50641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Utility payments</a:t>
            </a:r>
          </a:p>
        </p:txBody>
      </p:sp>
      <p:graphicFrame>
        <p:nvGraphicFramePr>
          <p:cNvPr id="42" name="Chart"/>
          <p:cNvGraphicFramePr/>
          <p:nvPr/>
        </p:nvGraphicFramePr>
        <p:xfrm>
          <a:off xmlns:a="http://schemas.openxmlformats.org/drawingml/2006/main" x="8010525" y="2257425"/>
          <a:ext xmlns:a="http://schemas.openxmlformats.org/drawingml/2006/main" cx="3705225" cy="3514725"/>
        </p:xfrm>
        <a:graphic xmlns:a="http://schemas.openxmlformats.org/drawingml/2006/main">
          <a:graphicData uri="http://schemas.openxmlformats.org/drawingml/2006/chart">
            <c:chart xmlns:r="http://schemas.openxmlformats.org/officeDocument/2006/relationships" xmlns:c="http://schemas.openxmlformats.org/drawingml/2006/chart" r:id="Rdeac4707391549a2"/>
          </a:graphicData>
        </a:graphic>
      </p:graphicFrame>
      <p:sp>
        <p:nvSpPr>
          <p:cNvPr id="17" name="">
            <a:extLst xmlns:a="http://schemas.openxmlformats.org/drawingml/2006/main">
              <a:ext uri="{FF2B5EF4-FFF2-40B4-BE49-F238E27FC236}">
                <a16:creationId xmlns:a16="http://schemas.microsoft.com/office/drawing/2014/main" id="{EFB9705E-4EED-4EE5-B785-C2F6D045A055}"/>
              </a:ext>
            </a:extLst>
          </p:cNvPr>
          <p:cNvSpPr>
            <a:spLocks xmlns:a="http://schemas.openxmlformats.org/drawingml/2006/main" noGrp="1"/>
          </p:cNvSpPr>
          <p:nvPr/>
        </p:nvSpPr>
        <p:spPr>
          <a:xfrm xmlns:a="http://schemas.openxmlformats.org/drawingml/2006/main">
            <a:off x="619125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TPIN</a:t>
            </a:r>
          </a:p>
        </p:txBody>
      </p:sp>
      <p:sp>
        <p:nvSpPr>
          <p:cNvPr id="18" name="">
            <a:extLst xmlns:a="http://schemas.openxmlformats.org/drawingml/2006/main">
              <a:ext uri="{FF2B5EF4-FFF2-40B4-BE49-F238E27FC236}">
                <a16:creationId xmlns:a16="http://schemas.microsoft.com/office/drawing/2014/main" id="{34F35E14-9F0C-4CC8-90C7-AFEB164C368A}"/>
              </a:ext>
            </a:extLst>
          </p:cNvPr>
          <p:cNvSpPr>
            <a:spLocks xmlns:a="http://schemas.openxmlformats.org/drawingml/2006/main" noGrp="1"/>
          </p:cNvSpPr>
          <p:nvPr/>
        </p:nvSpPr>
        <p:spPr>
          <a:xfrm xmlns:a="http://schemas.openxmlformats.org/drawingml/2006/main">
            <a:off x="6191250" y="281582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Generate TPIN</a:t>
            </a:r>
          </a:p>
        </p:txBody>
      </p:sp>
      <p:sp>
        <p:nvSpPr>
          <p:cNvPr id="19" name="">
            <a:extLst xmlns:a="http://schemas.openxmlformats.org/drawingml/2006/main">
              <a:ext uri="{FF2B5EF4-FFF2-40B4-BE49-F238E27FC236}">
                <a16:creationId xmlns:a16="http://schemas.microsoft.com/office/drawing/2014/main" id="{BE5C3139-637B-4819-8CDA-EC8DF837CA28}"/>
              </a:ext>
            </a:extLst>
          </p:cNvPr>
          <p:cNvSpPr>
            <a:spLocks xmlns:a="http://schemas.openxmlformats.org/drawingml/2006/main" noGrp="1"/>
          </p:cNvSpPr>
          <p:nvPr/>
        </p:nvSpPr>
        <p:spPr>
          <a:xfrm xmlns:a="http://schemas.openxmlformats.org/drawingml/2006/main">
            <a:off x="6191250" y="318373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Block TPIN</a:t>
            </a:r>
          </a:p>
        </p:txBody>
      </p:sp>
      <p:sp>
        <p:nvSpPr>
          <p:cNvPr id="20" name="">
            <a:extLst xmlns:a="http://schemas.openxmlformats.org/drawingml/2006/main">
              <a:ext uri="{FF2B5EF4-FFF2-40B4-BE49-F238E27FC236}">
                <a16:creationId xmlns:a16="http://schemas.microsoft.com/office/drawing/2014/main" id="{049F624E-2A38-40E2-ACF8-F9C6CBFD1220}"/>
              </a:ext>
            </a:extLst>
          </p:cNvPr>
          <p:cNvSpPr>
            <a:spLocks xmlns:a="http://schemas.openxmlformats.org/drawingml/2006/main" noGrp="1"/>
          </p:cNvSpPr>
          <p:nvPr/>
        </p:nvSpPr>
        <p:spPr>
          <a:xfrm xmlns:a="http://schemas.openxmlformats.org/drawingml/2006/main">
            <a:off x="6191250" y="355163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TPIN</a:t>
            </a:r>
          </a:p>
        </p:txBody>
      </p:sp>
      <p:sp>
        <p:nvSpPr>
          <p:cNvPr id="21" name="">
            <a:extLst xmlns:a="http://schemas.openxmlformats.org/drawingml/2006/main">
              <a:ext uri="{FF2B5EF4-FFF2-40B4-BE49-F238E27FC236}">
                <a16:creationId xmlns:a16="http://schemas.microsoft.com/office/drawing/2014/main" id="{8B66A35E-F219-4078-B77C-113C112C27CA}"/>
              </a:ext>
            </a:extLst>
          </p:cNvPr>
          <p:cNvSpPr>
            <a:spLocks xmlns:a="http://schemas.openxmlformats.org/drawingml/2006/main" noGrp="1"/>
          </p:cNvSpPr>
          <p:nvPr/>
        </p:nvSpPr>
        <p:spPr>
          <a:xfrm xmlns:a="http://schemas.openxmlformats.org/drawingml/2006/main">
            <a:off x="6191250" y="391953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Lost / stolen card</a:t>
            </a:r>
          </a:p>
        </p:txBody>
      </p:sp>
      <p:sp>
        <p:nvSpPr>
          <p:cNvPr id="22" name="">
            <a:extLst xmlns:a="http://schemas.openxmlformats.org/drawingml/2006/main">
              <a:ext uri="{FF2B5EF4-FFF2-40B4-BE49-F238E27FC236}">
                <a16:creationId xmlns:a16="http://schemas.microsoft.com/office/drawing/2014/main" id="{39079C66-2C12-4792-A3F2-AE52D40CD4ED}"/>
              </a:ext>
            </a:extLst>
          </p:cNvPr>
          <p:cNvSpPr>
            <a:spLocks xmlns:a="http://schemas.openxmlformats.org/drawingml/2006/main" noGrp="1"/>
          </p:cNvSpPr>
          <p:nvPr/>
        </p:nvSpPr>
        <p:spPr>
          <a:xfrm xmlns:a="http://schemas.openxmlformats.org/drawingml/2006/main">
            <a:off x="6191250" y="428744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card PIN</a:t>
            </a:r>
          </a:p>
        </p:txBody>
      </p:sp>
      <p:sp>
        <p:nvSpPr>
          <p:cNvPr id="23" name="">
            <a:extLst xmlns:a="http://schemas.openxmlformats.org/drawingml/2006/main">
              <a:ext uri="{FF2B5EF4-FFF2-40B4-BE49-F238E27FC236}">
                <a16:creationId xmlns:a16="http://schemas.microsoft.com/office/drawing/2014/main" id="{142FEE1E-6F14-4170-877C-22334C410E7B}"/>
              </a:ext>
            </a:extLst>
          </p:cNvPr>
          <p:cNvSpPr>
            <a:spLocks xmlns:a="http://schemas.openxmlformats.org/drawingml/2006/main" noGrp="1"/>
          </p:cNvSpPr>
          <p:nvPr/>
        </p:nvSpPr>
        <p:spPr>
          <a:xfrm xmlns:a="http://schemas.openxmlformats.org/drawingml/2006/main">
            <a:off x="6191250" y="465534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Activate card</a:t>
            </a:r>
          </a:p>
        </p:txBody>
      </p:sp>
      <p:sp>
        <p:nvSpPr>
          <p:cNvPr id="24" name="">
            <a:extLst xmlns:a="http://schemas.openxmlformats.org/drawingml/2006/main">
              <a:ext uri="{FF2B5EF4-FFF2-40B4-BE49-F238E27FC236}">
                <a16:creationId xmlns:a16="http://schemas.microsoft.com/office/drawing/2014/main" id="{9BAEB6C7-BF40-4C79-8591-7C761E644BC5}"/>
              </a:ext>
            </a:extLst>
          </p:cNvPr>
          <p:cNvSpPr>
            <a:spLocks xmlns:a="http://schemas.openxmlformats.org/drawingml/2006/main" noGrp="1"/>
          </p:cNvSpPr>
          <p:nvPr/>
        </p:nvSpPr>
        <p:spPr>
          <a:xfrm xmlns:a="http://schemas.openxmlformats.org/drawingml/2006/main">
            <a:off x="6191250" y="5023247"/>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Last 5 card transactions</a:t>
            </a:r>
          </a:p>
        </p:txBody>
      </p:sp>
      <p:sp>
        <p:nvSpPr>
          <p:cNvPr id="25" name="">
            <a:extLst xmlns:a="http://schemas.openxmlformats.org/drawingml/2006/main">
              <a:ext uri="{FF2B5EF4-FFF2-40B4-BE49-F238E27FC236}">
                <a16:creationId xmlns:a16="http://schemas.microsoft.com/office/drawing/2014/main" id="{F3B3AD3E-39C5-4351-9FC4-6EF37129AE5F}"/>
              </a:ext>
            </a:extLst>
          </p:cNvPr>
          <p:cNvSpPr>
            <a:spLocks xmlns:a="http://schemas.openxmlformats.org/drawingml/2006/main" noGrp="1"/>
          </p:cNvSpPr>
          <p:nvPr/>
        </p:nvSpPr>
        <p:spPr>
          <a:xfrm xmlns:a="http://schemas.openxmlformats.org/drawingml/2006/main">
            <a:off x="457200" y="60198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Top functions: Reset TPIN 18,146; Activate card 13,337; Block TPIN 12,004.</a:t>
            </a:r>
          </a:p>
        </p:txBody>
      </p:sp>
      <p:sp>
        <p:nvSpPr>
          <p:cNvPr id="26" name="">
            <a:extLst xmlns:a="http://schemas.openxmlformats.org/drawingml/2006/main">
              <a:ext uri="{FF2B5EF4-FFF2-40B4-BE49-F238E27FC236}">
                <a16:creationId xmlns:a16="http://schemas.microsoft.com/office/drawing/2014/main" id="{9B2B0736-9E34-4DAB-BA28-28EBD7B86062}"/>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7270069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C26534-B6F5-4763-BEBB-7D97FA0F61A1}"/>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B963464-8488-438B-BD96-2FC84874549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Daily agent-licence usage peaks at 492</a:t>
            </a:r>
          </a:p>
        </p:txBody>
      </p:sp>
      <p:sp>
        <p:nvSpPr>
          <p:cNvPr id="3" name="">
            <a:extLst xmlns:a="http://schemas.openxmlformats.org/drawingml/2006/main">
              <a:ext uri="{FF2B5EF4-FFF2-40B4-BE49-F238E27FC236}">
                <a16:creationId xmlns:a16="http://schemas.microsoft.com/office/drawing/2014/main" id="{4CCA3622-16B7-4FBE-91F2-52E83816CD8F}"/>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source reports 100% overall licence usage but does not supply a licensed capacity denominator.</a:t>
            </a:r>
          </a:p>
        </p:txBody>
      </p:sp>
      <p:sp>
        <p:nvSpPr>
          <p:cNvPr id="4" name="">
            <a:extLst xmlns:a="http://schemas.openxmlformats.org/drawingml/2006/main">
              <a:ext uri="{FF2B5EF4-FFF2-40B4-BE49-F238E27FC236}">
                <a16:creationId xmlns:a16="http://schemas.microsoft.com/office/drawing/2014/main" id="{6D52F5EC-F81F-49E9-8A0E-7024EB14F5F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54B79D3-EEE3-4D2A-B823-42FCABDF34D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20</a:t>
            </a:r>
          </a:p>
        </p:txBody>
      </p:sp>
      <p:graphicFrame>
        <p:nvGraphicFramePr>
          <p:cNvPr id="25" name="Chart"/>
          <p:cNvGraphicFramePr/>
          <p:nvPr/>
        </p:nvGraphicFramePr>
        <p:xfrm>
          <a:off xmlns:a="http://schemas.openxmlformats.org/drawingml/2006/main" x="457200" y="2247900"/>
          <a:ext xmlns:a="http://schemas.openxmlformats.org/drawingml/2006/main" cx="11277600" cy="2695575"/>
        </p:xfrm>
        <a:graphic xmlns:a="http://schemas.openxmlformats.org/drawingml/2006/main">
          <a:graphicData uri="http://schemas.openxmlformats.org/drawingml/2006/chart">
            <c:chart xmlns:r="http://schemas.openxmlformats.org/officeDocument/2006/relationships" xmlns:c="http://schemas.openxmlformats.org/drawingml/2006/chart" r:id="R3602d679f2f24dfc"/>
          </a:graphicData>
        </a:graphic>
      </p:graphicFrame>
      <p:sp>
        <p:nvSpPr>
          <p:cNvPr id="7" name="">
            <a:extLst xmlns:a="http://schemas.openxmlformats.org/drawingml/2006/main">
              <a:ext uri="{FF2B5EF4-FFF2-40B4-BE49-F238E27FC236}">
                <a16:creationId xmlns:a16="http://schemas.microsoft.com/office/drawing/2014/main" id="{39FC9C45-6C27-4DA0-9FAE-6DAC6D4FFB30}"/>
              </a:ext>
            </a:extLst>
          </p:cNvPr>
          <p:cNvSpPr>
            <a:spLocks xmlns:a="http://schemas.openxmlformats.org/drawingml/2006/main" noGrp="1"/>
          </p:cNvSpPr>
          <p:nvPr/>
        </p:nvSpPr>
        <p:spPr>
          <a:xfrm xmlns:a="http://schemas.openxmlformats.org/drawingml/2006/main">
            <a:off x="457200" y="52197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FEC62ED-495A-4D48-AF3D-56FAF2851DA2}"/>
              </a:ext>
            </a:extLst>
          </p:cNvPr>
          <p:cNvSpPr>
            <a:spLocks xmlns:a="http://schemas.openxmlformats.org/drawingml/2006/main" noGrp="1"/>
          </p:cNvSpPr>
          <p:nvPr/>
        </p:nvSpPr>
        <p:spPr>
          <a:xfrm xmlns:a="http://schemas.openxmlformats.org/drawingml/2006/main">
            <a:off x="619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492</a:t>
            </a:r>
          </a:p>
        </p:txBody>
      </p:sp>
      <p:sp>
        <p:nvSpPr>
          <p:cNvPr id="9" name="">
            <a:extLst xmlns:a="http://schemas.openxmlformats.org/drawingml/2006/main">
              <a:ext uri="{FF2B5EF4-FFF2-40B4-BE49-F238E27FC236}">
                <a16:creationId xmlns:a16="http://schemas.microsoft.com/office/drawing/2014/main" id="{4E7D879B-D557-413E-ADC2-B004F03AD1A2}"/>
              </a:ext>
            </a:extLst>
          </p:cNvPr>
          <p:cNvSpPr>
            <a:spLocks xmlns:a="http://schemas.openxmlformats.org/drawingml/2006/main" noGrp="1"/>
          </p:cNvSpPr>
          <p:nvPr/>
        </p:nvSpPr>
        <p:spPr>
          <a:xfrm xmlns:a="http://schemas.openxmlformats.org/drawingml/2006/main">
            <a:off x="619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peak on 24 September</a:t>
            </a:r>
          </a:p>
        </p:txBody>
      </p:sp>
      <p:sp>
        <p:nvSpPr>
          <p:cNvPr id="10" name="">
            <a:extLst xmlns:a="http://schemas.openxmlformats.org/drawingml/2006/main">
              <a:ext uri="{FF2B5EF4-FFF2-40B4-BE49-F238E27FC236}">
                <a16:creationId xmlns:a16="http://schemas.microsoft.com/office/drawing/2014/main" id="{35F53081-8FEA-4CEC-8A48-A97100CEB780}"/>
              </a:ext>
            </a:extLst>
          </p:cNvPr>
          <p:cNvSpPr>
            <a:spLocks xmlns:a="http://schemas.openxmlformats.org/drawingml/2006/main" noGrp="1"/>
          </p:cNvSpPr>
          <p:nvPr/>
        </p:nvSpPr>
        <p:spPr>
          <a:xfrm xmlns:a="http://schemas.openxmlformats.org/drawingml/2006/main">
            <a:off x="3314700" y="52197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0CEBBF-ED98-407F-9F9D-AA8F1FC763F9}"/>
              </a:ext>
            </a:extLst>
          </p:cNvPr>
          <p:cNvSpPr>
            <a:spLocks xmlns:a="http://schemas.openxmlformats.org/drawingml/2006/main" noGrp="1"/>
          </p:cNvSpPr>
          <p:nvPr/>
        </p:nvSpPr>
        <p:spPr>
          <a:xfrm xmlns:a="http://schemas.openxmlformats.org/drawingml/2006/main">
            <a:off x="3476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72</a:t>
            </a:r>
          </a:p>
        </p:txBody>
      </p:sp>
      <p:sp>
        <p:nvSpPr>
          <p:cNvPr id="12" name="">
            <a:extLst xmlns:a="http://schemas.openxmlformats.org/drawingml/2006/main">
              <a:ext uri="{FF2B5EF4-FFF2-40B4-BE49-F238E27FC236}">
                <a16:creationId xmlns:a16="http://schemas.microsoft.com/office/drawing/2014/main" id="{28943DFD-7ACA-43EA-89B8-4B3D35C72D52}"/>
              </a:ext>
            </a:extLst>
          </p:cNvPr>
          <p:cNvSpPr>
            <a:spLocks xmlns:a="http://schemas.openxmlformats.org/drawingml/2006/main" noGrp="1"/>
          </p:cNvSpPr>
          <p:nvPr/>
        </p:nvSpPr>
        <p:spPr>
          <a:xfrm xmlns:a="http://schemas.openxmlformats.org/drawingml/2006/main">
            <a:off x="3476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low on 6 September</a:t>
            </a:r>
          </a:p>
        </p:txBody>
      </p:sp>
      <p:sp>
        <p:nvSpPr>
          <p:cNvPr id="13" name="">
            <a:extLst xmlns:a="http://schemas.openxmlformats.org/drawingml/2006/main">
              <a:ext uri="{FF2B5EF4-FFF2-40B4-BE49-F238E27FC236}">
                <a16:creationId xmlns:a16="http://schemas.microsoft.com/office/drawing/2014/main" id="{9B0070BA-15C6-4513-9A5F-E788FDAB6A18}"/>
              </a:ext>
            </a:extLst>
          </p:cNvPr>
          <p:cNvSpPr>
            <a:spLocks xmlns:a="http://schemas.openxmlformats.org/drawingml/2006/main" noGrp="1"/>
          </p:cNvSpPr>
          <p:nvPr/>
        </p:nvSpPr>
        <p:spPr>
          <a:xfrm xmlns:a="http://schemas.openxmlformats.org/drawingml/2006/main">
            <a:off x="6172200" y="52197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582894-2296-4C69-BEA2-D3171C5180E8}"/>
              </a:ext>
            </a:extLst>
          </p:cNvPr>
          <p:cNvSpPr>
            <a:spLocks xmlns:a="http://schemas.openxmlformats.org/drawingml/2006/main" noGrp="1"/>
          </p:cNvSpPr>
          <p:nvPr/>
        </p:nvSpPr>
        <p:spPr>
          <a:xfrm xmlns:a="http://schemas.openxmlformats.org/drawingml/2006/main">
            <a:off x="6334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432</a:t>
            </a:r>
          </a:p>
        </p:txBody>
      </p:sp>
      <p:sp>
        <p:nvSpPr>
          <p:cNvPr id="15" name="">
            <a:extLst xmlns:a="http://schemas.openxmlformats.org/drawingml/2006/main">
              <a:ext uri="{FF2B5EF4-FFF2-40B4-BE49-F238E27FC236}">
                <a16:creationId xmlns:a16="http://schemas.microsoft.com/office/drawing/2014/main" id="{98A6CF85-A9F7-43A7-A821-261C4012B991}"/>
              </a:ext>
            </a:extLst>
          </p:cNvPr>
          <p:cNvSpPr>
            <a:spLocks xmlns:a="http://schemas.openxmlformats.org/drawingml/2006/main" noGrp="1"/>
          </p:cNvSpPr>
          <p:nvPr/>
        </p:nvSpPr>
        <p:spPr>
          <a:xfrm xmlns:a="http://schemas.openxmlformats.org/drawingml/2006/main">
            <a:off x="6334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30 September count</a:t>
            </a:r>
          </a:p>
        </p:txBody>
      </p:sp>
      <p:sp>
        <p:nvSpPr>
          <p:cNvPr id="16" name="">
            <a:extLst xmlns:a="http://schemas.openxmlformats.org/drawingml/2006/main">
              <a:ext uri="{FF2B5EF4-FFF2-40B4-BE49-F238E27FC236}">
                <a16:creationId xmlns:a16="http://schemas.microsoft.com/office/drawing/2014/main" id="{2316B69E-FEF3-46B2-8F99-1AD40204E9E4}"/>
              </a:ext>
            </a:extLst>
          </p:cNvPr>
          <p:cNvSpPr>
            <a:spLocks xmlns:a="http://schemas.openxmlformats.org/drawingml/2006/main" noGrp="1"/>
          </p:cNvSpPr>
          <p:nvPr/>
        </p:nvSpPr>
        <p:spPr>
          <a:xfrm xmlns:a="http://schemas.openxmlformats.org/drawingml/2006/main">
            <a:off x="9029700" y="52197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F8A6B4-1771-48FC-8BA4-BC135858EBD7}"/>
              </a:ext>
            </a:extLst>
          </p:cNvPr>
          <p:cNvSpPr>
            <a:spLocks xmlns:a="http://schemas.openxmlformats.org/drawingml/2006/main" noGrp="1"/>
          </p:cNvSpPr>
          <p:nvPr/>
        </p:nvSpPr>
        <p:spPr>
          <a:xfrm xmlns:a="http://schemas.openxmlformats.org/drawingml/2006/main">
            <a:off x="9191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100%</a:t>
            </a:r>
          </a:p>
        </p:txBody>
      </p:sp>
      <p:sp>
        <p:nvSpPr>
          <p:cNvPr id="18" name="">
            <a:extLst xmlns:a="http://schemas.openxmlformats.org/drawingml/2006/main">
              <a:ext uri="{FF2B5EF4-FFF2-40B4-BE49-F238E27FC236}">
                <a16:creationId xmlns:a16="http://schemas.microsoft.com/office/drawing/2014/main" id="{137DFA38-CA15-4EFE-BF5F-787BE68A14E7}"/>
              </a:ext>
            </a:extLst>
          </p:cNvPr>
          <p:cNvSpPr>
            <a:spLocks xmlns:a="http://schemas.openxmlformats.org/drawingml/2006/main" noGrp="1"/>
          </p:cNvSpPr>
          <p:nvPr/>
        </p:nvSpPr>
        <p:spPr>
          <a:xfrm xmlns:a="http://schemas.openxmlformats.org/drawingml/2006/main">
            <a:off x="9191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source overall usage</a:t>
            </a:r>
          </a:p>
        </p:txBody>
      </p:sp>
      <p:sp>
        <p:nvSpPr>
          <p:cNvPr id="19" name="">
            <a:extLst xmlns:a="http://schemas.openxmlformats.org/drawingml/2006/main">
              <a:ext uri="{FF2B5EF4-FFF2-40B4-BE49-F238E27FC236}">
                <a16:creationId xmlns:a16="http://schemas.microsoft.com/office/drawing/2014/main" id="{33DE38CA-5C4A-4252-BD6E-C3F0516F6D88}"/>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0094536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4315B3A-613C-47B3-B1F9-D78CE93B20C8}"/>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CA12A6D2-785B-44D1-820B-E8494D70419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portfolio: two closures and two reviews</a:t>
            </a:r>
          </a:p>
        </p:txBody>
      </p:sp>
      <p:sp>
        <p:nvSpPr>
          <p:cNvPr id="3" name="">
            <a:extLst xmlns:a="http://schemas.openxmlformats.org/drawingml/2006/main">
              <a:ext uri="{FF2B5EF4-FFF2-40B4-BE49-F238E27FC236}">
                <a16:creationId xmlns:a16="http://schemas.microsoft.com/office/drawing/2014/main" id="{AF58933C-1B54-4589-A454-2AF4149A4E0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own demands. Suspension and review require explicit management decisions.</a:t>
            </a:r>
          </a:p>
        </p:txBody>
      </p:sp>
      <p:sp>
        <p:nvSpPr>
          <p:cNvPr id="4" name="">
            <a:extLst xmlns:a="http://schemas.openxmlformats.org/drawingml/2006/main">
              <a:ext uri="{FF2B5EF4-FFF2-40B4-BE49-F238E27FC236}">
                <a16:creationId xmlns:a16="http://schemas.microsoft.com/office/drawing/2014/main" id="{9069DE08-5613-4073-8937-985F4CBEB940}"/>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C92E3F4-5526-4858-9A04-FA1CD623ADF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BC465825-876A-42DB-B939-280B187D5144}"/>
              </a:ext>
            </a:extLst>
          </p:cNvPr>
          <p:cNvSpPr>
            <a:spLocks xmlns:a="http://schemas.openxmlformats.org/drawingml/2006/main" noGrp="1"/>
          </p:cNvSpPr>
          <p:nvPr/>
        </p:nvSpPr>
        <p:spPr>
          <a:xfrm xmlns:a="http://schemas.openxmlformats.org/drawingml/2006/main">
            <a:off x="457200" y="2143125"/>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60727A-4F19-478B-9DD4-33B55336D578}"/>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DMGT-2171</a:t>
            </a:r>
          </a:p>
        </p:txBody>
      </p:sp>
      <p:sp>
        <p:nvSpPr>
          <p:cNvPr id="8" name="">
            <a:extLst xmlns:a="http://schemas.openxmlformats.org/drawingml/2006/main">
              <a:ext uri="{FF2B5EF4-FFF2-40B4-BE49-F238E27FC236}">
                <a16:creationId xmlns:a16="http://schemas.microsoft.com/office/drawing/2014/main" id="{B24A253F-DECC-444F-810C-E80618976FA8}"/>
              </a:ext>
            </a:extLst>
          </p:cNvPr>
          <p:cNvSpPr>
            <a:spLocks xmlns:a="http://schemas.openxmlformats.org/drawingml/2006/main" noGrp="1"/>
          </p:cNvSpPr>
          <p:nvPr/>
        </p:nvSpPr>
        <p:spPr>
          <a:xfrm xmlns:a="http://schemas.openxmlformats.org/drawingml/2006/main">
            <a:off x="62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extension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September 2026 go-live</a:t>
            </a:r>
          </a:p>
        </p:txBody>
      </p:sp>
      <p:sp>
        <p:nvSpPr>
          <p:cNvPr id="9" name="">
            <a:extLst xmlns:a="http://schemas.openxmlformats.org/drawingml/2006/main">
              <a:ext uri="{FF2B5EF4-FFF2-40B4-BE49-F238E27FC236}">
                <a16:creationId xmlns:a16="http://schemas.microsoft.com/office/drawing/2014/main" id="{7212CBE3-80F5-4E68-8483-D0C6A4C1D691}"/>
              </a:ext>
            </a:extLst>
          </p:cNvPr>
          <p:cNvSpPr>
            <a:spLocks xmlns:a="http://schemas.openxmlformats.org/drawingml/2006/main" noGrp="1"/>
          </p:cNvSpPr>
          <p:nvPr/>
        </p:nvSpPr>
        <p:spPr>
          <a:xfrm xmlns:a="http://schemas.openxmlformats.org/drawingml/2006/main">
            <a:off x="4267200" y="2143125"/>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9650A29-A254-4874-9833-F0F80B3E1A6E}"/>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DMGT-443</a:t>
            </a:r>
          </a:p>
        </p:txBody>
      </p:sp>
      <p:sp>
        <p:nvSpPr>
          <p:cNvPr id="11" name="">
            <a:extLst xmlns:a="http://schemas.openxmlformats.org/drawingml/2006/main">
              <a:ext uri="{FF2B5EF4-FFF2-40B4-BE49-F238E27FC236}">
                <a16:creationId xmlns:a16="http://schemas.microsoft.com/office/drawing/2014/main" id="{F2E96A6C-946E-4B7C-BE94-2BBD20B89F9C}"/>
              </a:ext>
            </a:extLst>
          </p:cNvPr>
          <p:cNvSpPr>
            <a:spLocks xmlns:a="http://schemas.openxmlformats.org/drawingml/2006/main" noGrp="1"/>
          </p:cNvSpPr>
          <p:nvPr/>
        </p:nvSpPr>
        <p:spPr>
          <a:xfrm xmlns:a="http://schemas.openxmlformats.org/drawingml/2006/main">
            <a:off x="443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Eleveo recording OS remediation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July 2026 go-live</a:t>
            </a:r>
          </a:p>
        </p:txBody>
      </p:sp>
      <p:sp>
        <p:nvSpPr>
          <p:cNvPr id="12" name="">
            <a:extLst xmlns:a="http://schemas.openxmlformats.org/drawingml/2006/main">
              <a:ext uri="{FF2B5EF4-FFF2-40B4-BE49-F238E27FC236}">
                <a16:creationId xmlns:a16="http://schemas.microsoft.com/office/drawing/2014/main" id="{5F87F15D-FE09-41EB-9AAF-48E262F827BA}"/>
              </a:ext>
            </a:extLst>
          </p:cNvPr>
          <p:cNvSpPr>
            <a:spLocks xmlns:a="http://schemas.openxmlformats.org/drawingml/2006/main" noGrp="1"/>
          </p:cNvSpPr>
          <p:nvPr/>
        </p:nvSpPr>
        <p:spPr>
          <a:xfrm xmlns:a="http://schemas.openxmlformats.org/drawingml/2006/main">
            <a:off x="8077200" y="2143125"/>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DBCDB1E-AC93-4456-A30B-C7C918B082CE}"/>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DMGT-1837</a:t>
            </a:r>
          </a:p>
        </p:txBody>
      </p:sp>
      <p:sp>
        <p:nvSpPr>
          <p:cNvPr id="14" name="">
            <a:extLst xmlns:a="http://schemas.openxmlformats.org/drawingml/2006/main">
              <a:ext uri="{FF2B5EF4-FFF2-40B4-BE49-F238E27FC236}">
                <a16:creationId xmlns:a16="http://schemas.microsoft.com/office/drawing/2014/main" id="{2DE6D147-7AAE-463F-908A-AB38AA7781F5}"/>
              </a:ext>
            </a:extLst>
          </p:cNvPr>
          <p:cNvSpPr>
            <a:spLocks xmlns:a="http://schemas.openxmlformats.org/drawingml/2006/main" noGrp="1"/>
          </p:cNvSpPr>
          <p:nvPr/>
        </p:nvSpPr>
        <p:spPr>
          <a:xfrm xmlns:a="http://schemas.openxmlformats.org/drawingml/2006/main">
            <a:off x="824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Call Centre cloud migration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Q4 2027 target</a:t>
            </a:r>
          </a:p>
        </p:txBody>
      </p:sp>
      <p:sp>
        <p:nvSpPr>
          <p:cNvPr id="15" name="">
            <a:extLst xmlns:a="http://schemas.openxmlformats.org/drawingml/2006/main">
              <a:ext uri="{FF2B5EF4-FFF2-40B4-BE49-F238E27FC236}">
                <a16:creationId xmlns:a16="http://schemas.microsoft.com/office/drawing/2014/main" id="{5843382D-F6AC-4B4F-BCD8-9AA9EDAE4222}"/>
              </a:ext>
            </a:extLst>
          </p:cNvPr>
          <p:cNvSpPr>
            <a:spLocks xmlns:a="http://schemas.openxmlformats.org/drawingml/2006/main" noGrp="1"/>
          </p:cNvSpPr>
          <p:nvPr/>
        </p:nvSpPr>
        <p:spPr>
          <a:xfrm xmlns:a="http://schemas.openxmlformats.org/drawingml/2006/main">
            <a:off x="457200" y="4152900"/>
            <a:ext cx="3657600" cy="1809750"/>
          </a:xfrm>
          <a:prstGeom xmlns:a="http://schemas.openxmlformats.org/drawingml/2006/main" prst="roundRect">
            <a:avLst>
              <a:gd name="adj" fmla="val 631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B3EC1F6-26E2-4A37-BD8C-9130C7A465E3}"/>
              </a:ext>
            </a:extLst>
          </p:cNvPr>
          <p:cNvSpPr>
            <a:spLocks xmlns:a="http://schemas.openxmlformats.org/drawingml/2006/main" noGrp="1"/>
          </p:cNvSpPr>
          <p:nvPr/>
        </p:nvSpPr>
        <p:spPr>
          <a:xfrm xmlns:a="http://schemas.openxmlformats.org/drawingml/2006/main">
            <a:off x="62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  DMGT-2147</a:t>
            </a:r>
          </a:p>
        </p:txBody>
      </p:sp>
      <p:sp>
        <p:nvSpPr>
          <p:cNvPr id="17" name="">
            <a:extLst xmlns:a="http://schemas.openxmlformats.org/drawingml/2006/main">
              <a:ext uri="{FF2B5EF4-FFF2-40B4-BE49-F238E27FC236}">
                <a16:creationId xmlns:a16="http://schemas.microsoft.com/office/drawing/2014/main" id="{BE5D9261-E2E8-4558-9150-D088015B7847}"/>
              </a:ext>
            </a:extLst>
          </p:cNvPr>
          <p:cNvSpPr>
            <a:spLocks xmlns:a="http://schemas.openxmlformats.org/drawingml/2006/main" noGrp="1"/>
          </p:cNvSpPr>
          <p:nvPr/>
        </p:nvSpPr>
        <p:spPr>
          <a:xfrm xmlns:a="http://schemas.openxmlformats.org/drawingml/2006/main">
            <a:off x="62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Recording / reporting for telemarketing regulations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Go-live TBD</a:t>
            </a:r>
          </a:p>
        </p:txBody>
      </p:sp>
      <p:sp>
        <p:nvSpPr>
          <p:cNvPr id="18" name="">
            <a:extLst xmlns:a="http://schemas.openxmlformats.org/drawingml/2006/main">
              <a:ext uri="{FF2B5EF4-FFF2-40B4-BE49-F238E27FC236}">
                <a16:creationId xmlns:a16="http://schemas.microsoft.com/office/drawing/2014/main" id="{0AF85C9A-107D-4A11-A9BF-D740CF8895D9}"/>
              </a:ext>
            </a:extLst>
          </p:cNvPr>
          <p:cNvSpPr>
            <a:spLocks xmlns:a="http://schemas.openxmlformats.org/drawingml/2006/main" noGrp="1"/>
          </p:cNvSpPr>
          <p:nvPr/>
        </p:nvSpPr>
        <p:spPr>
          <a:xfrm xmlns:a="http://schemas.openxmlformats.org/drawingml/2006/main">
            <a:off x="4267200" y="4152900"/>
            <a:ext cx="3657600" cy="1809750"/>
          </a:xfrm>
          <a:prstGeom xmlns:a="http://schemas.openxmlformats.org/drawingml/2006/main" prst="roundRect">
            <a:avLst>
              <a:gd name="adj" fmla="val 6316"/>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6338D7F-F744-445D-B8D6-8E8B7793CB1D}"/>
              </a:ext>
            </a:extLst>
          </p:cNvPr>
          <p:cNvSpPr>
            <a:spLocks xmlns:a="http://schemas.openxmlformats.org/drawingml/2006/main" noGrp="1"/>
          </p:cNvSpPr>
          <p:nvPr/>
        </p:nvSpPr>
        <p:spPr>
          <a:xfrm xmlns:a="http://schemas.openxmlformats.org/drawingml/2006/main">
            <a:off x="443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Ⅱ  DMGT-250</a:t>
            </a:r>
          </a:p>
        </p:txBody>
      </p:sp>
      <p:sp>
        <p:nvSpPr>
          <p:cNvPr id="20" name="">
            <a:extLst xmlns:a="http://schemas.openxmlformats.org/drawingml/2006/main">
              <a:ext uri="{FF2B5EF4-FFF2-40B4-BE49-F238E27FC236}">
                <a16:creationId xmlns:a16="http://schemas.microsoft.com/office/drawing/2014/main" id="{5DD9AED5-4F7F-4862-988F-E25B3944BE2F}"/>
              </a:ext>
            </a:extLst>
          </p:cNvPr>
          <p:cNvSpPr>
            <a:spLocks xmlns:a="http://schemas.openxmlformats.org/drawingml/2006/main" noGrp="1"/>
          </p:cNvSpPr>
          <p:nvPr/>
        </p:nvSpPr>
        <p:spPr>
          <a:xfrm xmlns:a="http://schemas.openxmlformats.org/drawingml/2006/main">
            <a:off x="443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notifications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Suspended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April 2026 source date</a:t>
            </a:r>
          </a:p>
        </p:txBody>
      </p:sp>
      <p:sp>
        <p:nvSpPr>
          <p:cNvPr id="21" name="">
            <a:extLst xmlns:a="http://schemas.openxmlformats.org/drawingml/2006/main">
              <a:ext uri="{FF2B5EF4-FFF2-40B4-BE49-F238E27FC236}">
                <a16:creationId xmlns:a16="http://schemas.microsoft.com/office/drawing/2014/main" id="{6692DDB2-7069-4179-8C58-734F13DD69A7}"/>
              </a:ext>
            </a:extLst>
          </p:cNvPr>
          <p:cNvSpPr>
            <a:spLocks xmlns:a="http://schemas.openxmlformats.org/drawingml/2006/main" noGrp="1"/>
          </p:cNvSpPr>
          <p:nvPr/>
        </p:nvSpPr>
        <p:spPr>
          <a:xfrm xmlns:a="http://schemas.openxmlformats.org/drawingml/2006/main">
            <a:off x="8077200" y="41529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082087-6CCF-41AB-B9E7-C1879DE382FF}"/>
              </a:ext>
            </a:extLst>
          </p:cNvPr>
          <p:cNvSpPr>
            <a:spLocks xmlns:a="http://schemas.openxmlformats.org/drawingml/2006/main" noGrp="1"/>
          </p:cNvSpPr>
          <p:nvPr/>
        </p:nvSpPr>
        <p:spPr>
          <a:xfrm xmlns:a="http://schemas.openxmlformats.org/drawingml/2006/main">
            <a:off x="824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Review priorities</a:t>
            </a:r>
          </a:p>
        </p:txBody>
      </p:sp>
      <p:sp>
        <p:nvSpPr>
          <p:cNvPr id="23" name="">
            <a:extLst xmlns:a="http://schemas.openxmlformats.org/drawingml/2006/main">
              <a:ext uri="{FF2B5EF4-FFF2-40B4-BE49-F238E27FC236}">
                <a16:creationId xmlns:a16="http://schemas.microsoft.com/office/drawing/2014/main" id="{074A9F22-CE00-411B-8543-6C620384B19A}"/>
              </a:ext>
            </a:extLst>
          </p:cNvPr>
          <p:cNvSpPr>
            <a:spLocks xmlns:a="http://schemas.openxmlformats.org/drawingml/2006/main" noGrp="1"/>
          </p:cNvSpPr>
          <p:nvPr/>
        </p:nvSpPr>
        <p:spPr>
          <a:xfrm xmlns:a="http://schemas.openxmlformats.org/drawingml/2006/main">
            <a:off x="824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suspended demand disposition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Agree review outcomes and dates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Maintain cloud migration readiness</a:t>
            </a:r>
          </a:p>
        </p:txBody>
      </p:sp>
      <p:sp>
        <p:nvSpPr>
          <p:cNvPr id="24" name="">
            <a:extLst xmlns:a="http://schemas.openxmlformats.org/drawingml/2006/main">
              <a:ext uri="{FF2B5EF4-FFF2-40B4-BE49-F238E27FC236}">
                <a16:creationId xmlns:a16="http://schemas.microsoft.com/office/drawing/2014/main" id="{295FF34A-DF9A-40B0-BCA0-A2D5477D9D64}"/>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8197713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F74C5A-3C5F-4E40-ACDA-F3CFB5DCC7E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885D81D9-E490-447F-80BE-4ABAF5A637F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Partner support spans 13 demands across CET, CORE and EIS</a:t>
            </a:r>
          </a:p>
        </p:txBody>
      </p:sp>
      <p:sp>
        <p:nvSpPr>
          <p:cNvPr id="3" name="">
            <a:extLst xmlns:a="http://schemas.openxmlformats.org/drawingml/2006/main">
              <a:ext uri="{FF2B5EF4-FFF2-40B4-BE49-F238E27FC236}">
                <a16:creationId xmlns:a16="http://schemas.microsoft.com/office/drawing/2014/main" id="{74B6FB43-886A-428F-B2D9-1F4C4243A2E5}"/>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fulfilled, five in support, two in review and one not approved.</a:t>
            </a:r>
          </a:p>
        </p:txBody>
      </p:sp>
      <p:sp>
        <p:nvSpPr>
          <p:cNvPr id="4" name="">
            <a:extLst xmlns:a="http://schemas.openxmlformats.org/drawingml/2006/main">
              <a:ext uri="{FF2B5EF4-FFF2-40B4-BE49-F238E27FC236}">
                <a16:creationId xmlns:a16="http://schemas.microsoft.com/office/drawing/2014/main" id="{BE87D117-8B3C-498C-B0E7-B2F49B0D84E0}"/>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DC1F7C4-E712-401E-AAD9-FB92C9CD6AD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9A876061-E086-4704-AF2F-68E667CAC86B}"/>
              </a:ext>
            </a:extLst>
          </p:cNvPr>
          <p:cNvSpPr>
            <a:spLocks xmlns:a="http://schemas.openxmlformats.org/drawingml/2006/main" noGrp="1"/>
          </p:cNvSpPr>
          <p:nvPr/>
        </p:nvSpPr>
        <p:spPr>
          <a:xfrm xmlns:a="http://schemas.openxmlformats.org/drawingml/2006/main">
            <a:off x="457200" y="2143125"/>
            <a:ext cx="3657600" cy="4105275"/>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A0ADCB-63DA-4DDD-841E-EF67E8276D86}"/>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Fulfilled (5)</a:t>
            </a:r>
          </a:p>
        </p:txBody>
      </p:sp>
      <p:sp>
        <p:nvSpPr>
          <p:cNvPr id="8" name="">
            <a:extLst xmlns:a="http://schemas.openxmlformats.org/drawingml/2006/main">
              <a:ext uri="{FF2B5EF4-FFF2-40B4-BE49-F238E27FC236}">
                <a16:creationId xmlns:a16="http://schemas.microsoft.com/office/drawing/2014/main" id="{7A854E0D-3A15-4838-AA18-756648973A4C}"/>
              </a:ext>
            </a:extLst>
          </p:cNvPr>
          <p:cNvSpPr>
            <a:spLocks xmlns:a="http://schemas.openxmlformats.org/drawingml/2006/main" noGrp="1"/>
          </p:cNvSpPr>
          <p:nvPr/>
        </p:nvSpPr>
        <p:spPr>
          <a:xfrm xmlns:a="http://schemas.openxmlformats.org/drawingml/2006/main">
            <a:off x="62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1692: DIB logo update (CET), Feb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22: ESG digital savings (CET), Jul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1707: DNCR API / Genesys testing (EIS),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993: Jaywan Tracks 2 &amp; 3 (CET),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43: Deposit-account credit restrictions (CORE)</a:t>
            </a:r>
          </a:p>
        </p:txBody>
      </p:sp>
      <p:sp>
        <p:nvSpPr>
          <p:cNvPr id="9" name="">
            <a:extLst xmlns:a="http://schemas.openxmlformats.org/drawingml/2006/main">
              <a:ext uri="{FF2B5EF4-FFF2-40B4-BE49-F238E27FC236}">
                <a16:creationId xmlns:a16="http://schemas.microsoft.com/office/drawing/2014/main" id="{732C04D1-8A84-4435-8220-CE94E744B465}"/>
              </a:ext>
            </a:extLst>
          </p:cNvPr>
          <p:cNvSpPr>
            <a:spLocks xmlns:a="http://schemas.openxmlformats.org/drawingml/2006/main" noGrp="1"/>
          </p:cNvSpPr>
          <p:nvPr/>
        </p:nvSpPr>
        <p:spPr>
          <a:xfrm xmlns:a="http://schemas.openxmlformats.org/drawingml/2006/main">
            <a:off x="4267200" y="2143125"/>
            <a:ext cx="3657600" cy="4105275"/>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AEB14F-F513-435E-B1EB-94FC250255A1}"/>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In support (5)</a:t>
            </a:r>
          </a:p>
        </p:txBody>
      </p:sp>
      <p:sp>
        <p:nvSpPr>
          <p:cNvPr id="11" name="">
            <a:extLst xmlns:a="http://schemas.openxmlformats.org/drawingml/2006/main">
              <a:ext uri="{FF2B5EF4-FFF2-40B4-BE49-F238E27FC236}">
                <a16:creationId xmlns:a16="http://schemas.microsoft.com/office/drawing/2014/main" id="{C09DEB84-5FE1-4C85-B369-ECDDB30D07DB}"/>
              </a:ext>
            </a:extLst>
          </p:cNvPr>
          <p:cNvSpPr>
            <a:spLocks xmlns:a="http://schemas.openxmlformats.org/drawingml/2006/main" noGrp="1"/>
          </p:cNvSpPr>
          <p:nvPr/>
        </p:nvSpPr>
        <p:spPr>
          <a:xfrm xmlns:a="http://schemas.openxmlformats.org/drawingml/2006/main">
            <a:off x="443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1368: DU ePayment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1326: Dormancy / fund transfer to CBUAE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714: Statements / blacklist flag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1680: Emirati covered cards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1305: Jaywan CoBadge Track 4 (CET)</a:t>
            </a:r>
          </a:p>
        </p:txBody>
      </p:sp>
      <p:sp>
        <p:nvSpPr>
          <p:cNvPr id="12" name="">
            <a:extLst xmlns:a="http://schemas.openxmlformats.org/drawingml/2006/main">
              <a:ext uri="{FF2B5EF4-FFF2-40B4-BE49-F238E27FC236}">
                <a16:creationId xmlns:a16="http://schemas.microsoft.com/office/drawing/2014/main" id="{AFFD237E-323B-489A-81FD-750BB4E80B0A}"/>
              </a:ext>
            </a:extLst>
          </p:cNvPr>
          <p:cNvSpPr>
            <a:spLocks xmlns:a="http://schemas.openxmlformats.org/drawingml/2006/main" noGrp="1"/>
          </p:cNvSpPr>
          <p:nvPr/>
        </p:nvSpPr>
        <p:spPr>
          <a:xfrm xmlns:a="http://schemas.openxmlformats.org/drawingml/2006/main">
            <a:off x="8077200" y="2143125"/>
            <a:ext cx="3657600" cy="4105275"/>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853C07-F576-43FD-9170-EC7871756E2E}"/>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Decisions (3)</a:t>
            </a:r>
          </a:p>
        </p:txBody>
      </p:sp>
      <p:sp>
        <p:nvSpPr>
          <p:cNvPr id="14" name="">
            <a:extLst xmlns:a="http://schemas.openxmlformats.org/drawingml/2006/main">
              <a:ext uri="{FF2B5EF4-FFF2-40B4-BE49-F238E27FC236}">
                <a16:creationId xmlns:a16="http://schemas.microsoft.com/office/drawing/2014/main" id="{E895F6BC-755E-43E9-81C0-39DD702F6B29}"/>
              </a:ext>
            </a:extLst>
          </p:cNvPr>
          <p:cNvSpPr>
            <a:spLocks xmlns:a="http://schemas.openxmlformats.org/drawingml/2006/main" noGrp="1"/>
          </p:cNvSpPr>
          <p:nvPr/>
        </p:nvSpPr>
        <p:spPr>
          <a:xfrm xmlns:a="http://schemas.openxmlformats.org/drawingml/2006/main">
            <a:off x="824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1802: Universal Accounts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Notice 680.2026 (CET), ITC 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1248: Collections dialer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(EIS), ITC review</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1785: A-Ignite engagement / dialer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(CET), ITC not approved on 21 Sep</a:t>
            </a:r>
          </a:p>
        </p:txBody>
      </p:sp>
      <p:sp>
        <p:nvSpPr>
          <p:cNvPr id="15" name="">
            <a:extLst xmlns:a="http://schemas.openxmlformats.org/drawingml/2006/main">
              <a:ext uri="{FF2B5EF4-FFF2-40B4-BE49-F238E27FC236}">
                <a16:creationId xmlns:a16="http://schemas.microsoft.com/office/drawing/2014/main" id="{CDDB0C3A-5AB4-418D-809E-2B35C60AA86E}"/>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4795979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7F2D7E-8E2D-4678-8463-210488A42EB1}"/>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1590AC6-F8EC-47E7-B42D-D122E550AF3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ATM and resiliency: executive outcome</a:t>
            </a:r>
          </a:p>
        </p:txBody>
      </p:sp>
      <p:sp>
        <p:nvSpPr>
          <p:cNvPr id="3" name="">
            <a:extLst xmlns:a="http://schemas.openxmlformats.org/drawingml/2006/main">
              <a:ext uri="{FF2B5EF4-FFF2-40B4-BE49-F238E27FC236}">
                <a16:creationId xmlns:a16="http://schemas.microsoft.com/office/drawing/2014/main" id="{30C70B25-A737-4652-84A8-4E1D417291A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operating results and the next management decisions</a:t>
            </a:r>
          </a:p>
        </p:txBody>
      </p:sp>
      <p:sp>
        <p:nvSpPr>
          <p:cNvPr id="4" name="">
            <a:extLst xmlns:a="http://schemas.openxmlformats.org/drawingml/2006/main">
              <a:ext uri="{FF2B5EF4-FFF2-40B4-BE49-F238E27FC236}">
                <a16:creationId xmlns:a16="http://schemas.microsoft.com/office/drawing/2014/main" id="{DBA7421F-667C-466B-807F-71AEB284A16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0B95171D-169F-4C8E-A792-FF27E773AFA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23</a:t>
            </a:r>
          </a:p>
        </p:txBody>
      </p:sp>
      <p:sp>
        <p:nvSpPr>
          <p:cNvPr id="6" name="">
            <a:extLst xmlns:a="http://schemas.openxmlformats.org/drawingml/2006/main">
              <a:ext uri="{FF2B5EF4-FFF2-40B4-BE49-F238E27FC236}">
                <a16:creationId xmlns:a16="http://schemas.microsoft.com/office/drawing/2014/main" id="{E8DF3631-0FFB-4327-9C2B-61DD74068AFA}"/>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2C907F-16D6-4956-B52A-BD16EA025DE2}"/>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30 / 48</a:t>
            </a:r>
          </a:p>
        </p:txBody>
      </p:sp>
      <p:sp>
        <p:nvSpPr>
          <p:cNvPr id="8" name="">
            <a:extLst xmlns:a="http://schemas.openxmlformats.org/drawingml/2006/main">
              <a:ext uri="{FF2B5EF4-FFF2-40B4-BE49-F238E27FC236}">
                <a16:creationId xmlns:a16="http://schemas.microsoft.com/office/drawing/2014/main" id="{CCCBE4EA-3B80-4476-BA36-99B67FBE99A6}"/>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CCM/SMS delivered</a:t>
            </a:r>
          </a:p>
        </p:txBody>
      </p:sp>
      <p:sp>
        <p:nvSpPr>
          <p:cNvPr id="9" name="">
            <a:extLst xmlns:a="http://schemas.openxmlformats.org/drawingml/2006/main">
              <a:ext uri="{FF2B5EF4-FFF2-40B4-BE49-F238E27FC236}">
                <a16:creationId xmlns:a16="http://schemas.microsoft.com/office/drawing/2014/main" id="{608C3A7A-ACAA-40C4-B71D-8D650282B763}"/>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A48D32B-C12C-4277-BE55-064F47C3D81C}"/>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6 / 13</a:t>
            </a:r>
          </a:p>
        </p:txBody>
      </p:sp>
      <p:sp>
        <p:nvSpPr>
          <p:cNvPr id="11" name="">
            <a:extLst xmlns:a="http://schemas.openxmlformats.org/drawingml/2006/main">
              <a:ext uri="{FF2B5EF4-FFF2-40B4-BE49-F238E27FC236}">
                <a16:creationId xmlns:a16="http://schemas.microsoft.com/office/drawing/2014/main" id="{883C18CE-BF2E-4454-BDD3-AD93CD37FA53}"/>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delivered</a:t>
            </a:r>
          </a:p>
        </p:txBody>
      </p:sp>
      <p:sp>
        <p:nvSpPr>
          <p:cNvPr id="12" name="">
            <a:extLst xmlns:a="http://schemas.openxmlformats.org/drawingml/2006/main">
              <a:ext uri="{FF2B5EF4-FFF2-40B4-BE49-F238E27FC236}">
                <a16:creationId xmlns:a16="http://schemas.microsoft.com/office/drawing/2014/main" id="{A6C7FED4-7CFB-4818-A988-90D12BD8A540}"/>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20365B-00B5-4315-8539-5F67202C23AA}"/>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515 / 530</a:t>
            </a:r>
          </a:p>
        </p:txBody>
      </p:sp>
      <p:sp>
        <p:nvSpPr>
          <p:cNvPr id="14" name="">
            <a:extLst xmlns:a="http://schemas.openxmlformats.org/drawingml/2006/main">
              <a:ext uri="{FF2B5EF4-FFF2-40B4-BE49-F238E27FC236}">
                <a16:creationId xmlns:a16="http://schemas.microsoft.com/office/drawing/2014/main" id="{1D50B0A2-B9E6-402B-A458-0B8165CA5A47}"/>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XFS rollout</a:t>
            </a:r>
          </a:p>
        </p:txBody>
      </p:sp>
      <p:sp>
        <p:nvSpPr>
          <p:cNvPr id="15" name="">
            <a:extLst xmlns:a="http://schemas.openxmlformats.org/drawingml/2006/main">
              <a:ext uri="{FF2B5EF4-FFF2-40B4-BE49-F238E27FC236}">
                <a16:creationId xmlns:a16="http://schemas.microsoft.com/office/drawing/2014/main" id="{8C09ECB0-D797-4317-B256-0380BC860476}"/>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3FC10E-054E-4FEF-97F6-D14F0D95E0C5}"/>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8</a:t>
            </a:r>
          </a:p>
        </p:txBody>
      </p:sp>
      <p:sp>
        <p:nvSpPr>
          <p:cNvPr id="17" name="">
            <a:extLst xmlns:a="http://schemas.openxmlformats.org/drawingml/2006/main">
              <a:ext uri="{FF2B5EF4-FFF2-40B4-BE49-F238E27FC236}">
                <a16:creationId xmlns:a16="http://schemas.microsoft.com/office/drawing/2014/main" id="{8BAE2137-33EC-41A8-8818-9212523EC5F7}"/>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resiliency platforms</a:t>
            </a:r>
          </a:p>
        </p:txBody>
      </p:sp>
      <p:sp>
        <p:nvSpPr>
          <p:cNvPr id="18" name="">
            <a:extLst xmlns:a="http://schemas.openxmlformats.org/drawingml/2006/main">
              <a:ext uri="{FF2B5EF4-FFF2-40B4-BE49-F238E27FC236}">
                <a16:creationId xmlns:a16="http://schemas.microsoft.com/office/drawing/2014/main" id="{DB8E2024-34BE-4F94-8937-0BC5E08E1777}"/>
              </a:ext>
            </a:extLst>
          </p:cNvPr>
          <p:cNvSpPr>
            <a:spLocks xmlns:a="http://schemas.openxmlformats.org/drawingml/2006/main" noGrp="1"/>
          </p:cNvSpPr>
          <p:nvPr/>
        </p:nvSpPr>
        <p:spPr>
          <a:xfrm xmlns:a="http://schemas.openxmlformats.org/drawingml/2006/main">
            <a:off x="457200" y="3543300"/>
            <a:ext cx="3657600" cy="2476500"/>
          </a:xfrm>
          <a:prstGeom xmlns:a="http://schemas.openxmlformats.org/drawingml/2006/main" prst="roundRect">
            <a:avLst>
              <a:gd name="adj" fmla="val 4615"/>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AA4C307-2560-4E04-BBFC-0B88B6F74510}"/>
              </a:ext>
            </a:extLst>
          </p:cNvPr>
          <p:cNvSpPr>
            <a:spLocks xmlns:a="http://schemas.openxmlformats.org/drawingml/2006/main" noGrp="1"/>
          </p:cNvSpPr>
          <p:nvPr/>
        </p:nvSpPr>
        <p:spPr>
          <a:xfrm xmlns:a="http://schemas.openxmlformats.org/drawingml/2006/main">
            <a:off x="60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CCM/SMS</a:t>
            </a:r>
          </a:p>
        </p:txBody>
      </p:sp>
      <p:sp>
        <p:nvSpPr>
          <p:cNvPr id="20" name="">
            <a:extLst xmlns:a="http://schemas.openxmlformats.org/drawingml/2006/main">
              <a:ext uri="{FF2B5EF4-FFF2-40B4-BE49-F238E27FC236}">
                <a16:creationId xmlns:a16="http://schemas.microsoft.com/office/drawing/2014/main" id="{E3F5C16C-8069-4B41-84C1-CCFAFB07DB8D}"/>
              </a:ext>
            </a:extLst>
          </p:cNvPr>
          <p:cNvSpPr>
            <a:spLocks xmlns:a="http://schemas.openxmlformats.org/drawingml/2006/main" noGrp="1"/>
          </p:cNvSpPr>
          <p:nvPr/>
        </p:nvSpPr>
        <p:spPr>
          <a:xfrm xmlns:a="http://schemas.openxmlformats.org/drawingml/2006/main">
            <a:off x="60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71.10M reported email and SMS events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Zero reported incidents or outages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CCM has no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DR available and tested</a:t>
            </a:r>
          </a:p>
        </p:txBody>
      </p:sp>
      <p:sp>
        <p:nvSpPr>
          <p:cNvPr id="21" name="">
            <a:extLst xmlns:a="http://schemas.openxmlformats.org/drawingml/2006/main">
              <a:ext uri="{FF2B5EF4-FFF2-40B4-BE49-F238E27FC236}">
                <a16:creationId xmlns:a16="http://schemas.microsoft.com/office/drawing/2014/main" id="{B6A29671-30CF-4086-8405-CAA6CD4EF1D2}"/>
              </a:ext>
            </a:extLst>
          </p:cNvPr>
          <p:cNvSpPr>
            <a:spLocks xmlns:a="http://schemas.openxmlformats.org/drawingml/2006/main" noGrp="1"/>
          </p:cNvSpPr>
          <p:nvPr/>
        </p:nvSpPr>
        <p:spPr>
          <a:xfrm xmlns:a="http://schemas.openxmlformats.org/drawingml/2006/main">
            <a:off x="4267200" y="3543300"/>
            <a:ext cx="3657600" cy="2476500"/>
          </a:xfrm>
          <a:prstGeom xmlns:a="http://schemas.openxmlformats.org/drawingml/2006/main" prst="roundRect">
            <a:avLst>
              <a:gd name="adj" fmla="val 4615"/>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90819C0-5970-45BB-9CA5-F485948B81BC}"/>
              </a:ext>
            </a:extLst>
          </p:cNvPr>
          <p:cNvSpPr>
            <a:spLocks xmlns:a="http://schemas.openxmlformats.org/drawingml/2006/main" noGrp="1"/>
          </p:cNvSpPr>
          <p:nvPr/>
        </p:nvSpPr>
        <p:spPr>
          <a:xfrm xmlns:a="http://schemas.openxmlformats.org/drawingml/2006/main">
            <a:off x="441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ATM</a:t>
            </a:r>
          </a:p>
        </p:txBody>
      </p:sp>
      <p:sp>
        <p:nvSpPr>
          <p:cNvPr id="23" name="">
            <a:extLst xmlns:a="http://schemas.openxmlformats.org/drawingml/2006/main">
              <a:ext uri="{FF2B5EF4-FFF2-40B4-BE49-F238E27FC236}">
                <a16:creationId xmlns:a16="http://schemas.microsoft.com/office/drawing/2014/main" id="{CDE0C302-0549-4324-A58B-DB95D022A5EE}"/>
              </a:ext>
            </a:extLst>
          </p:cNvPr>
          <p:cNvSpPr>
            <a:spLocks xmlns:a="http://schemas.openxmlformats.org/drawingml/2006/main" noGrp="1"/>
          </p:cNvSpPr>
          <p:nvPr/>
        </p:nvSpPr>
        <p:spPr>
          <a:xfrm xmlns:a="http://schemas.openxmlformats.org/drawingml/2006/main">
            <a:off x="441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4.016B ATM transaction amount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1 critical and 7 major incidents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DR test completed in August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reaches 90.2% on one host</a:t>
            </a:r>
          </a:p>
        </p:txBody>
      </p:sp>
      <p:sp>
        <p:nvSpPr>
          <p:cNvPr id="24" name="">
            <a:extLst xmlns:a="http://schemas.openxmlformats.org/drawingml/2006/main">
              <a:ext uri="{FF2B5EF4-FFF2-40B4-BE49-F238E27FC236}">
                <a16:creationId xmlns:a16="http://schemas.microsoft.com/office/drawing/2014/main" id="{12C5784C-BF11-4F04-8F9A-B33D06BEAA4E}"/>
              </a:ext>
            </a:extLst>
          </p:cNvPr>
          <p:cNvSpPr>
            <a:spLocks xmlns:a="http://schemas.openxmlformats.org/drawingml/2006/main" noGrp="1"/>
          </p:cNvSpPr>
          <p:nvPr/>
        </p:nvSpPr>
        <p:spPr>
          <a:xfrm xmlns:a="http://schemas.openxmlformats.org/drawingml/2006/main">
            <a:off x="8077200" y="3543300"/>
            <a:ext cx="3657600" cy="2476500"/>
          </a:xfrm>
          <a:prstGeom xmlns:a="http://schemas.openxmlformats.org/drawingml/2006/main" prst="roundRect">
            <a:avLst>
              <a:gd name="adj" fmla="val 4615"/>
            </a:avLst>
          </a:prstGeom>
          <a:solidFill xmlns:a="http://schemas.openxmlformats.org/drawingml/2006/main">
            <a:srgbClr val="FFF4D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883AF77-BDD2-4506-A875-5AD760AC03F8}"/>
              </a:ext>
            </a:extLst>
          </p:cNvPr>
          <p:cNvSpPr>
            <a:spLocks xmlns:a="http://schemas.openxmlformats.org/drawingml/2006/main" noGrp="1"/>
          </p:cNvSpPr>
          <p:nvPr/>
        </p:nvSpPr>
        <p:spPr>
          <a:xfrm xmlns:a="http://schemas.openxmlformats.org/drawingml/2006/main">
            <a:off x="822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Resiliency programme</a:t>
            </a:r>
          </a:p>
        </p:txBody>
      </p:sp>
      <p:sp>
        <p:nvSpPr>
          <p:cNvPr id="26" name="">
            <a:extLst xmlns:a="http://schemas.openxmlformats.org/drawingml/2006/main">
              <a:ext uri="{FF2B5EF4-FFF2-40B4-BE49-F238E27FC236}">
                <a16:creationId xmlns:a16="http://schemas.microsoft.com/office/drawing/2014/main" id="{E1DD154C-C8D4-4B95-A891-2EF3BA7F24B8}"/>
              </a:ext>
            </a:extLst>
          </p:cNvPr>
          <p:cNvSpPr>
            <a:spLocks xmlns:a="http://schemas.openxmlformats.org/drawingml/2006/main" noGrp="1"/>
          </p:cNvSpPr>
          <p:nvPr/>
        </p:nvSpPr>
        <p:spPr>
          <a:xfrm xmlns:a="http://schemas.openxmlformats.org/drawingml/2006/main">
            <a:off x="822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Six staging environments denied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IB / Omni shift proposed to Q2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Council items need closure evidence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Delivery gates need agreed owners</a:t>
            </a:r>
          </a:p>
        </p:txBody>
      </p:sp>
    </p:spTree>
    <p:extLst>
      <p:ext uri="{BB962C8B-B14F-4D97-AF65-F5344CB8AC3E}">
        <p14:creationId xmlns:p14="http://schemas.microsoft.com/office/powerpoint/2010/main" val="4760290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19E73C-CF54-4ACD-910D-E28C65AE7D9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B5812E6-0838-4E7D-92B4-8297A4E04810}"/>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delivered 30 of 48 reported demands</a:t>
            </a:r>
          </a:p>
        </p:txBody>
      </p:sp>
      <p:sp>
        <p:nvSpPr>
          <p:cNvPr id="3" name="">
            <a:extLst xmlns:a="http://schemas.openxmlformats.org/drawingml/2006/main">
              <a:ext uri="{FF2B5EF4-FFF2-40B4-BE49-F238E27FC236}">
                <a16:creationId xmlns:a16="http://schemas.microsoft.com/office/drawing/2014/main" id="{996EB7AF-72F0-4BC1-B4BF-C5941FEA1BE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Jan–September portfolio snapshot. Sixteen demands remain in progress and two in B0 discussion.</a:t>
            </a:r>
          </a:p>
        </p:txBody>
      </p:sp>
      <p:sp>
        <p:nvSpPr>
          <p:cNvPr id="4" name="">
            <a:extLst xmlns:a="http://schemas.openxmlformats.org/drawingml/2006/main">
              <a:ext uri="{FF2B5EF4-FFF2-40B4-BE49-F238E27FC236}">
                <a16:creationId xmlns:a16="http://schemas.microsoft.com/office/drawing/2014/main" id="{15901898-6156-451E-B6E4-E7687FAF90D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35A3610E-4455-437D-A4DF-528976D38DA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24</a:t>
            </a:r>
          </a:p>
        </p:txBody>
      </p:sp>
      <p:graphicFrame>
        <p:nvGraphicFramePr>
          <p:cNvPr id="19" name="Chart"/>
          <p:cNvGraphicFramePr/>
          <p:nvPr/>
        </p:nvGraphicFramePr>
        <p:xfrm>
          <a:off xmlns:a="http://schemas.openxmlformats.org/drawingml/2006/main" x="457200" y="2266950"/>
          <a:ext xmlns:a="http://schemas.openxmlformats.org/drawingml/2006/main" cx="5619750" cy="3009900"/>
        </p:xfrm>
        <a:graphic xmlns:a="http://schemas.openxmlformats.org/drawingml/2006/main">
          <a:graphicData uri="http://schemas.openxmlformats.org/drawingml/2006/chart">
            <c:chart xmlns:r="http://schemas.openxmlformats.org/officeDocument/2006/relationships" xmlns:c="http://schemas.openxmlformats.org/drawingml/2006/chart" r:id="Rc34cf62237234d87"/>
          </a:graphicData>
        </a:graphic>
      </p:graphicFrame>
      <p:sp>
        <p:nvSpPr>
          <p:cNvPr id="7" name="">
            <a:extLst xmlns:a="http://schemas.openxmlformats.org/drawingml/2006/main">
              <a:ext uri="{FF2B5EF4-FFF2-40B4-BE49-F238E27FC236}">
                <a16:creationId xmlns:a16="http://schemas.microsoft.com/office/drawing/2014/main" id="{DB28713F-CAEF-42DD-A0C7-E9E317ABEA48}"/>
              </a:ext>
            </a:extLst>
          </p:cNvPr>
          <p:cNvSpPr>
            <a:spLocks xmlns:a="http://schemas.openxmlformats.org/drawingml/2006/main" noGrp="1"/>
          </p:cNvSpPr>
          <p:nvPr/>
        </p:nvSpPr>
        <p:spPr>
          <a:xfrm xmlns:a="http://schemas.openxmlformats.org/drawingml/2006/main">
            <a:off x="6477000" y="2162175"/>
            <a:ext cx="5257800" cy="1762125"/>
          </a:xfrm>
          <a:prstGeom xmlns:a="http://schemas.openxmlformats.org/drawingml/2006/main" prst="roundRect">
            <a:avLst>
              <a:gd name="adj" fmla="val 6486"/>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7E36DB-BA46-45AC-95EA-D7988E43D930}"/>
              </a:ext>
            </a:extLst>
          </p:cNvPr>
          <p:cNvSpPr>
            <a:spLocks xmlns:a="http://schemas.openxmlformats.org/drawingml/2006/main" noGrp="1"/>
          </p:cNvSpPr>
          <p:nvPr/>
        </p:nvSpPr>
        <p:spPr>
          <a:xfrm xmlns:a="http://schemas.openxmlformats.org/drawingml/2006/main">
            <a:off x="6629400" y="22764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Delivered: 62.5%</a:t>
            </a:r>
          </a:p>
        </p:txBody>
      </p:sp>
      <p:sp>
        <p:nvSpPr>
          <p:cNvPr id="9" name="">
            <a:extLst xmlns:a="http://schemas.openxmlformats.org/drawingml/2006/main">
              <a:ext uri="{FF2B5EF4-FFF2-40B4-BE49-F238E27FC236}">
                <a16:creationId xmlns:a16="http://schemas.microsoft.com/office/drawing/2014/main" id="{61B28423-E18D-46A0-8506-BF0E2EC0BBEA}"/>
              </a:ext>
            </a:extLst>
          </p:cNvPr>
          <p:cNvSpPr>
            <a:spLocks xmlns:a="http://schemas.openxmlformats.org/drawingml/2006/main" noGrp="1"/>
          </p:cNvSpPr>
          <p:nvPr/>
        </p:nvSpPr>
        <p:spPr>
          <a:xfrm xmlns:a="http://schemas.openxmlformats.org/drawingml/2006/main">
            <a:off x="6629400" y="2771775"/>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18 / Supporting 12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Retail Banking Upgrade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EKYC AN/DN</a:t>
            </a:r>
          </a:p>
        </p:txBody>
      </p:sp>
      <p:sp>
        <p:nvSpPr>
          <p:cNvPr id="10" name="">
            <a:extLst xmlns:a="http://schemas.openxmlformats.org/drawingml/2006/main">
              <a:ext uri="{FF2B5EF4-FFF2-40B4-BE49-F238E27FC236}">
                <a16:creationId xmlns:a16="http://schemas.microsoft.com/office/drawing/2014/main" id="{FAF8663B-6842-416D-AB1D-657AED5E99B5}"/>
              </a:ext>
            </a:extLst>
          </p:cNvPr>
          <p:cNvSpPr>
            <a:spLocks xmlns:a="http://schemas.openxmlformats.org/drawingml/2006/main" noGrp="1"/>
          </p:cNvSpPr>
          <p:nvPr/>
        </p:nvSpPr>
        <p:spPr>
          <a:xfrm xmlns:a="http://schemas.openxmlformats.org/drawingml/2006/main">
            <a:off x="6477000" y="4076700"/>
            <a:ext cx="5257800" cy="2047875"/>
          </a:xfrm>
          <a:prstGeom xmlns:a="http://schemas.openxmlformats.org/drawingml/2006/main" prst="roundRect">
            <a:avLst>
              <a:gd name="adj" fmla="val 5581"/>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0E7A22-04F5-45A8-A004-24C40EE55BD5}"/>
              </a:ext>
            </a:extLst>
          </p:cNvPr>
          <p:cNvSpPr>
            <a:spLocks xmlns:a="http://schemas.openxmlformats.org/drawingml/2006/main" noGrp="1"/>
          </p:cNvSpPr>
          <p:nvPr/>
        </p:nvSpPr>
        <p:spPr>
          <a:xfrm xmlns:a="http://schemas.openxmlformats.org/drawingml/2006/main">
            <a:off x="6629400" y="41910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Remaining delivery</a:t>
            </a:r>
          </a:p>
        </p:txBody>
      </p:sp>
      <p:sp>
        <p:nvSpPr>
          <p:cNvPr id="12" name="">
            <a:extLst xmlns:a="http://schemas.openxmlformats.org/drawingml/2006/main">
              <a:ext uri="{FF2B5EF4-FFF2-40B4-BE49-F238E27FC236}">
                <a16:creationId xmlns:a16="http://schemas.microsoft.com/office/drawing/2014/main" id="{76D9E5C6-8E0C-45CB-9FC6-92CDA3A0C8A2}"/>
              </a:ext>
            </a:extLst>
          </p:cNvPr>
          <p:cNvSpPr>
            <a:spLocks xmlns:a="http://schemas.openxmlformats.org/drawingml/2006/main" noGrp="1"/>
          </p:cNvSpPr>
          <p:nvPr/>
        </p:nvSpPr>
        <p:spPr>
          <a:xfrm xmlns:a="http://schemas.openxmlformats.org/drawingml/2006/main">
            <a:off x="6629400" y="4686300"/>
            <a:ext cx="4953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2 / Supporting 14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CCM Release 17 in pipeline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Sitefinity website upgrade in planning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e&amp; services consolidation in planning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Corporate upgrade in execution</a:t>
            </a:r>
          </a:p>
        </p:txBody>
      </p:sp>
      <p:sp>
        <p:nvSpPr>
          <p:cNvPr id="13" name="">
            <a:extLst xmlns:a="http://schemas.openxmlformats.org/drawingml/2006/main">
              <a:ext uri="{FF2B5EF4-FFF2-40B4-BE49-F238E27FC236}">
                <a16:creationId xmlns:a16="http://schemas.microsoft.com/office/drawing/2014/main" id="{B3EF9A01-782C-416F-A8EF-6866AAE56918}"/>
              </a:ext>
            </a:extLst>
          </p:cNvPr>
          <p:cNvSpPr>
            <a:spLocks xmlns:a="http://schemas.openxmlformats.org/drawingml/2006/main" noGrp="1"/>
          </p:cNvSpPr>
          <p:nvPr/>
        </p:nvSpPr>
        <p:spPr>
          <a:xfrm xmlns:a="http://schemas.openxmlformats.org/drawingml/2006/main">
            <a:off x="457200" y="5762625"/>
            <a:ext cx="5429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Resiliency remediations are in execution across the platforms.</a:t>
            </a:r>
          </a:p>
        </p:txBody>
      </p:sp>
    </p:spTree>
    <p:extLst>
      <p:ext uri="{BB962C8B-B14F-4D97-AF65-F5344CB8AC3E}">
        <p14:creationId xmlns:p14="http://schemas.microsoft.com/office/powerpoint/2010/main" val="7036853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120C24-9F32-471F-BDC3-38C97D398C0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CDC70D7-8830-48BC-BE66-00D406DF5BF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processes 71.10M reported events</a:t>
            </a:r>
          </a:p>
        </p:txBody>
      </p:sp>
      <p:sp>
        <p:nvSpPr>
          <p:cNvPr id="3" name="">
            <a:extLst xmlns:a="http://schemas.openxmlformats.org/drawingml/2006/main">
              <a:ext uri="{FF2B5EF4-FFF2-40B4-BE49-F238E27FC236}">
                <a16:creationId xmlns:a16="http://schemas.microsoft.com/office/drawing/2014/main" id="{CE1776ED-58BB-468D-827A-FFB5107E8B36}"/>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throughput remains outage-free, with different recovery capabilities across the two platforms.</a:t>
            </a:r>
          </a:p>
        </p:txBody>
      </p:sp>
      <p:sp>
        <p:nvSpPr>
          <p:cNvPr id="4" name="">
            <a:extLst xmlns:a="http://schemas.openxmlformats.org/drawingml/2006/main">
              <a:ext uri="{FF2B5EF4-FFF2-40B4-BE49-F238E27FC236}">
                <a16:creationId xmlns:a16="http://schemas.microsoft.com/office/drawing/2014/main" id="{0742F01C-A7B3-4642-991E-942ADC4795B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34BBF74-AC91-4F8D-84AF-1EE61F4FEBF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25</a:t>
            </a:r>
          </a:p>
        </p:txBody>
      </p:sp>
      <p:graphicFrame>
        <p:nvGraphicFramePr>
          <p:cNvPr id="20" name="Chart"/>
          <p:cNvGraphicFramePr/>
          <p:nvPr/>
        </p:nvGraphicFramePr>
        <p:xfrm>
          <a:off xmlns:a="http://schemas.openxmlformats.org/drawingml/2006/main" x="457200" y="2257425"/>
          <a:ext xmlns:a="http://schemas.openxmlformats.org/drawingml/2006/main" cx="5467350" cy="2809875"/>
        </p:xfrm>
        <a:graphic xmlns:a="http://schemas.openxmlformats.org/drawingml/2006/main">
          <a:graphicData uri="http://schemas.openxmlformats.org/drawingml/2006/chart">
            <c:chart xmlns:r="http://schemas.openxmlformats.org/officeDocument/2006/relationships" xmlns:c="http://schemas.openxmlformats.org/drawingml/2006/chart" r:id="R0afdf84d450f406d"/>
          </a:graphicData>
        </a:graphic>
      </p:graphicFrame>
      <p:sp>
        <p:nvSpPr>
          <p:cNvPr id="7" name="">
            <a:extLst xmlns:a="http://schemas.openxmlformats.org/drawingml/2006/main">
              <a:ext uri="{FF2B5EF4-FFF2-40B4-BE49-F238E27FC236}">
                <a16:creationId xmlns:a16="http://schemas.microsoft.com/office/drawing/2014/main" id="{894BF42F-B53D-4344-95BB-5C92CED7A640}"/>
              </a:ext>
            </a:extLst>
          </p:cNvPr>
          <p:cNvSpPr>
            <a:spLocks xmlns:a="http://schemas.openxmlformats.org/drawingml/2006/main" noGrp="1"/>
          </p:cNvSpPr>
          <p:nvPr/>
        </p:nvSpPr>
        <p:spPr>
          <a:xfrm xmlns:a="http://schemas.openxmlformats.org/drawingml/2006/main">
            <a:off x="6381750" y="2133600"/>
            <a:ext cx="535305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719F78-BBD0-4DBB-8379-738F37AB6A0B}"/>
              </a:ext>
            </a:extLst>
          </p:cNvPr>
          <p:cNvSpPr>
            <a:spLocks xmlns:a="http://schemas.openxmlformats.org/drawingml/2006/main" noGrp="1"/>
          </p:cNvSpPr>
          <p:nvPr/>
        </p:nvSpPr>
        <p:spPr>
          <a:xfrm xmlns:a="http://schemas.openxmlformats.org/drawingml/2006/main">
            <a:off x="6534150" y="22479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CCM</a:t>
            </a:r>
          </a:p>
        </p:txBody>
      </p:sp>
      <p:sp>
        <p:nvSpPr>
          <p:cNvPr id="9" name="">
            <a:extLst xmlns:a="http://schemas.openxmlformats.org/drawingml/2006/main">
              <a:ext uri="{FF2B5EF4-FFF2-40B4-BE49-F238E27FC236}">
                <a16:creationId xmlns:a16="http://schemas.microsoft.com/office/drawing/2014/main" id="{BD108F29-EBFB-40C0-9F30-C029E30CAC92}"/>
              </a:ext>
            </a:extLst>
          </p:cNvPr>
          <p:cNvSpPr>
            <a:spLocks xmlns:a="http://schemas.openxmlformats.org/drawingml/2006/main" noGrp="1"/>
          </p:cNvSpPr>
          <p:nvPr/>
        </p:nvSpPr>
        <p:spPr>
          <a:xfrm xmlns:a="http://schemas.openxmlformats.org/drawingml/2006/main">
            <a:off x="6534150" y="2743200"/>
            <a:ext cx="5048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CPU 4.14–6.45%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34.3–44.7%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HA at Site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unavailable and untested</a:t>
            </a:r>
          </a:p>
        </p:txBody>
      </p:sp>
      <p:sp>
        <p:nvSpPr>
          <p:cNvPr id="10" name="">
            <a:extLst xmlns:a="http://schemas.openxmlformats.org/drawingml/2006/main">
              <a:ext uri="{FF2B5EF4-FFF2-40B4-BE49-F238E27FC236}">
                <a16:creationId xmlns:a16="http://schemas.microsoft.com/office/drawing/2014/main" id="{6B69666C-8725-45A1-AE59-ABE86AD7F2E4}"/>
              </a:ext>
            </a:extLst>
          </p:cNvPr>
          <p:cNvSpPr>
            <a:spLocks xmlns:a="http://schemas.openxmlformats.org/drawingml/2006/main" noGrp="1"/>
          </p:cNvSpPr>
          <p:nvPr/>
        </p:nvSpPr>
        <p:spPr>
          <a:xfrm xmlns:a="http://schemas.openxmlformats.org/drawingml/2006/main">
            <a:off x="6381750" y="4124325"/>
            <a:ext cx="5353050" cy="1895475"/>
          </a:xfrm>
          <a:prstGeom xmlns:a="http://schemas.openxmlformats.org/drawingml/2006/main" prst="roundRect">
            <a:avLst>
              <a:gd name="adj" fmla="val 6030"/>
            </a:avLst>
          </a:prstGeom>
          <a:solidFill xmlns:a="http://schemas.openxmlformats.org/drawingml/2006/main">
            <a:srgbClr val="E6F6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D31A6E-5978-4308-A530-426406A70669}"/>
              </a:ext>
            </a:extLst>
          </p:cNvPr>
          <p:cNvSpPr>
            <a:spLocks xmlns:a="http://schemas.openxmlformats.org/drawingml/2006/main" noGrp="1"/>
          </p:cNvSpPr>
          <p:nvPr/>
        </p:nvSpPr>
        <p:spPr>
          <a:xfrm xmlns:a="http://schemas.openxmlformats.org/drawingml/2006/main">
            <a:off x="6534150" y="4238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SMS</a:t>
            </a:r>
          </a:p>
        </p:txBody>
      </p:sp>
      <p:sp>
        <p:nvSpPr>
          <p:cNvPr id="12" name="">
            <a:extLst xmlns:a="http://schemas.openxmlformats.org/drawingml/2006/main">
              <a:ext uri="{FF2B5EF4-FFF2-40B4-BE49-F238E27FC236}">
                <a16:creationId xmlns:a16="http://schemas.microsoft.com/office/drawing/2014/main" id="{6CD21DA7-E8C8-434D-9C4C-0F390A115C50}"/>
              </a:ext>
            </a:extLst>
          </p:cNvPr>
          <p:cNvSpPr>
            <a:spLocks xmlns:a="http://schemas.openxmlformats.org/drawingml/2006/main" noGrp="1"/>
          </p:cNvSpPr>
          <p:nvPr/>
        </p:nvSpPr>
        <p:spPr>
          <a:xfrm xmlns:a="http://schemas.openxmlformats.org/drawingml/2006/main">
            <a:off x="6534150" y="473392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CPU 0.608–2.98%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20.5–35.4%</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available and tested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Site 2 activation / Q1 2027 drill planned</a:t>
            </a:r>
          </a:p>
        </p:txBody>
      </p:sp>
      <p:sp>
        <p:nvSpPr>
          <p:cNvPr id="13" name="">
            <a:extLst xmlns:a="http://schemas.openxmlformats.org/drawingml/2006/main">
              <a:ext uri="{FF2B5EF4-FFF2-40B4-BE49-F238E27FC236}">
                <a16:creationId xmlns:a16="http://schemas.microsoft.com/office/drawing/2014/main" id="{DD4CAAFE-83C1-4686-9DC0-1B56C386C16E}"/>
              </a:ext>
            </a:extLst>
          </p:cNvPr>
          <p:cNvSpPr>
            <a:spLocks xmlns:a="http://schemas.openxmlformats.org/drawingml/2006/main" noGrp="1"/>
          </p:cNvSpPr>
          <p:nvPr/>
        </p:nvSpPr>
        <p:spPr>
          <a:xfrm xmlns:a="http://schemas.openxmlformats.org/drawingml/2006/main">
            <a:off x="457200" y="521970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0 incidents     0 outages     0 minutes downtime</a:t>
            </a:r>
          </a:p>
        </p:txBody>
      </p:sp>
      <p:sp>
        <p:nvSpPr>
          <p:cNvPr id="14" name="">
            <a:extLst xmlns:a="http://schemas.openxmlformats.org/drawingml/2006/main">
              <a:ext uri="{FF2B5EF4-FFF2-40B4-BE49-F238E27FC236}">
                <a16:creationId xmlns:a16="http://schemas.microsoft.com/office/drawing/2014/main" id="{FB9CACCD-6D57-464A-A331-10D5735E537B}"/>
              </a:ext>
            </a:extLst>
          </p:cNvPr>
          <p:cNvSpPr>
            <a:spLocks xmlns:a="http://schemas.openxmlformats.org/drawingml/2006/main" noGrp="1"/>
          </p:cNvSpPr>
          <p:nvPr/>
        </p:nvSpPr>
        <p:spPr>
          <a:xfrm xmlns:a="http://schemas.openxmlformats.org/drawingml/2006/main">
            <a:off x="457200" y="58293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F6D12"/>
                </a:solidFill>
                <a:latin typeface="DejaVu Sans"/>
                <a:ea typeface="DejaVu Sans"/>
                <a:cs typeface="DejaVu Sans"/>
              </a:defRPr>
            </a:pPr>
            <a:r>
              <a:rPr sz="1350" b="1">
                <a:solidFill>
                  <a:srgbClr val="BF6D12"/>
                </a:solidFill>
                <a:latin typeface="DejaVu Sans"/>
                <a:ea typeface="DejaVu Sans"/>
                <a:cs typeface="DejaVu Sans"/>
              </a:rPr>
              <a:t>Storage figures need reconciliation before capacity decisions.</a:t>
            </a:r>
          </a:p>
        </p:txBody>
      </p:sp>
    </p:spTree>
    <p:extLst>
      <p:ext uri="{BB962C8B-B14F-4D97-AF65-F5344CB8AC3E}">
        <p14:creationId xmlns:p14="http://schemas.microsoft.com/office/powerpoint/2010/main" val="909009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69A25F1-FFE0-430A-BED2-25DD7A127266}"/>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5657F9C-3968-40C6-A6F0-11B66732C80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 rollout reaches 515 of 530 terminals</a:t>
            </a:r>
          </a:p>
        </p:txBody>
      </p:sp>
      <p:sp>
        <p:nvSpPr>
          <p:cNvPr id="3" name="">
            <a:extLst xmlns:a="http://schemas.openxmlformats.org/drawingml/2006/main">
              <a:ext uri="{FF2B5EF4-FFF2-40B4-BE49-F238E27FC236}">
                <a16:creationId xmlns:a16="http://schemas.microsoft.com/office/drawing/2014/main" id="{90426B05-59F4-4898-A6DC-B93A1D86006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Thirteen reported demands: six delivered, four in progress and three in B0 discussion.</a:t>
            </a:r>
          </a:p>
        </p:txBody>
      </p:sp>
      <p:sp>
        <p:nvSpPr>
          <p:cNvPr id="4" name="">
            <a:extLst xmlns:a="http://schemas.openxmlformats.org/drawingml/2006/main">
              <a:ext uri="{FF2B5EF4-FFF2-40B4-BE49-F238E27FC236}">
                <a16:creationId xmlns:a16="http://schemas.microsoft.com/office/drawing/2014/main" id="{2A2E2C40-FC63-4FDD-9635-BA4475DF28F8}"/>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7B6F8B9-92DE-4FB7-9956-231E0968872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26</a:t>
            </a:r>
          </a:p>
        </p:txBody>
      </p:sp>
      <p:graphicFrame>
        <p:nvGraphicFramePr>
          <p:cNvPr id="22" name="Chart"/>
          <p:cNvGraphicFramePr/>
          <p:nvPr/>
        </p:nvGraphicFramePr>
        <p:xfrm>
          <a:off xmlns:a="http://schemas.openxmlformats.org/drawingml/2006/main" x="457200" y="2190750"/>
          <a:ext xmlns:a="http://schemas.openxmlformats.org/drawingml/2006/main" cx="5095875" cy="2543175"/>
        </p:xfrm>
        <a:graphic xmlns:a="http://schemas.openxmlformats.org/drawingml/2006/main">
          <a:graphicData uri="http://schemas.openxmlformats.org/drawingml/2006/chart">
            <c:chart xmlns:r="http://schemas.openxmlformats.org/officeDocument/2006/relationships" xmlns:c="http://schemas.openxmlformats.org/drawingml/2006/chart" r:id="R2d5130d73bed486f"/>
          </a:graphicData>
        </a:graphic>
      </p:graphicFrame>
      <p:sp>
        <p:nvSpPr>
          <p:cNvPr id="7" name="">
            <a:extLst xmlns:a="http://schemas.openxmlformats.org/drawingml/2006/main">
              <a:ext uri="{FF2B5EF4-FFF2-40B4-BE49-F238E27FC236}">
                <a16:creationId xmlns:a16="http://schemas.microsoft.com/office/drawing/2014/main" id="{97036511-8D18-4F0E-B516-3296DEACF64D}"/>
              </a:ext>
            </a:extLst>
          </p:cNvPr>
          <p:cNvSpPr>
            <a:spLocks xmlns:a="http://schemas.openxmlformats.org/drawingml/2006/main" noGrp="1"/>
          </p:cNvSpPr>
          <p:nvPr/>
        </p:nvSpPr>
        <p:spPr>
          <a:xfrm xmlns:a="http://schemas.openxmlformats.org/drawingml/2006/main">
            <a:off x="457200" y="50577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XFS upgrade: 15 terminals remain</a:t>
            </a:r>
          </a:p>
        </p:txBody>
      </p:sp>
      <p:sp>
        <p:nvSpPr>
          <p:cNvPr id="8" name="">
            <a:extLst xmlns:a="http://schemas.openxmlformats.org/drawingml/2006/main">
              <a:ext uri="{FF2B5EF4-FFF2-40B4-BE49-F238E27FC236}">
                <a16:creationId xmlns:a16="http://schemas.microsoft.com/office/drawing/2014/main" id="{BB63D4AD-CC22-4AF8-87AB-33EB7D89E908}"/>
              </a:ext>
            </a:extLst>
          </p:cNvPr>
          <p:cNvSpPr>
            <a:spLocks xmlns:a="http://schemas.openxmlformats.org/drawingml/2006/main" noGrp="1"/>
          </p:cNvSpPr>
          <p:nvPr/>
        </p:nvSpPr>
        <p:spPr>
          <a:xfrm xmlns:a="http://schemas.openxmlformats.org/drawingml/2006/main">
            <a:off x="457200" y="5419725"/>
            <a:ext cx="5095875" cy="133350"/>
          </a:xfrm>
          <a:prstGeom xmlns:a="http://schemas.openxmlformats.org/drawingml/2006/main" prst="roundRect">
            <a:avLst>
              <a:gd name="adj" fmla="val 50000"/>
            </a:avLst>
          </a:prstGeom>
          <a:solidFill xmlns:a="http://schemas.openxmlformats.org/drawingml/2006/main">
            <a:srgbClr val="E5ED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44DD68-B3B9-4D1D-AE39-EA9334E56DAA}"/>
              </a:ext>
            </a:extLst>
          </p:cNvPr>
          <p:cNvSpPr>
            <a:spLocks xmlns:a="http://schemas.openxmlformats.org/drawingml/2006/main" noGrp="1"/>
          </p:cNvSpPr>
          <p:nvPr/>
        </p:nvSpPr>
        <p:spPr>
          <a:xfrm xmlns:a="http://schemas.openxmlformats.org/drawingml/2006/main">
            <a:off x="457200" y="5419725"/>
            <a:ext cx="4951652" cy="133350"/>
          </a:xfrm>
          <a:prstGeom xmlns:a="http://schemas.openxmlformats.org/drawingml/2006/main" prst="roundRect">
            <a:avLst>
              <a:gd name="adj" fmla="val 50000"/>
            </a:avLst>
          </a:prstGeom>
          <a:solidFill xmlns:a="http://schemas.openxmlformats.org/drawingml/2006/main">
            <a:srgbClr val="1688C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A2574B-E320-46A1-A074-B607A4232897}"/>
              </a:ext>
            </a:extLst>
          </p:cNvPr>
          <p:cNvSpPr>
            <a:spLocks xmlns:a="http://schemas.openxmlformats.org/drawingml/2006/main" noGrp="1"/>
          </p:cNvSpPr>
          <p:nvPr/>
        </p:nvSpPr>
        <p:spPr>
          <a:xfrm xmlns:a="http://schemas.openxmlformats.org/drawingml/2006/main">
            <a:off x="457200" y="566737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97.2%</a:t>
            </a:r>
          </a:p>
        </p:txBody>
      </p:sp>
      <p:sp>
        <p:nvSpPr>
          <p:cNvPr id="11" name="">
            <a:extLst xmlns:a="http://schemas.openxmlformats.org/drawingml/2006/main">
              <a:ext uri="{FF2B5EF4-FFF2-40B4-BE49-F238E27FC236}">
                <a16:creationId xmlns:a16="http://schemas.microsoft.com/office/drawing/2014/main" id="{266C4E0C-BBC6-493D-A671-6FF58E74FC7C}"/>
              </a:ext>
            </a:extLst>
          </p:cNvPr>
          <p:cNvSpPr>
            <a:spLocks xmlns:a="http://schemas.openxmlformats.org/drawingml/2006/main" noGrp="1"/>
          </p:cNvSpPr>
          <p:nvPr/>
        </p:nvSpPr>
        <p:spPr>
          <a:xfrm xmlns:a="http://schemas.openxmlformats.org/drawingml/2006/main">
            <a:off x="6048375" y="2143125"/>
            <a:ext cx="5686425" cy="1952625"/>
          </a:xfrm>
          <a:prstGeom xmlns:a="http://schemas.openxmlformats.org/drawingml/2006/main" prst="roundRect">
            <a:avLst>
              <a:gd name="adj" fmla="val 5854"/>
            </a:avLst>
          </a:prstGeom>
          <a:solidFill xmlns:a="http://schemas.openxmlformats.org/drawingml/2006/main">
            <a:srgbClr val="E6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7413DA-DDFF-42E0-94B0-51D0666DACD5}"/>
              </a:ext>
            </a:extLst>
          </p:cNvPr>
          <p:cNvSpPr>
            <a:spLocks xmlns:a="http://schemas.openxmlformats.org/drawingml/2006/main" noGrp="1"/>
          </p:cNvSpPr>
          <p:nvPr/>
        </p:nvSpPr>
        <p:spPr>
          <a:xfrm xmlns:a="http://schemas.openxmlformats.org/drawingml/2006/main">
            <a:off x="6200775" y="225742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Delivery and rollout</a:t>
            </a:r>
          </a:p>
        </p:txBody>
      </p:sp>
      <p:sp>
        <p:nvSpPr>
          <p:cNvPr id="13" name="">
            <a:extLst xmlns:a="http://schemas.openxmlformats.org/drawingml/2006/main">
              <a:ext uri="{FF2B5EF4-FFF2-40B4-BE49-F238E27FC236}">
                <a16:creationId xmlns:a16="http://schemas.microsoft.com/office/drawing/2014/main" id="{3C5CA5DD-A639-4115-BAEE-1C32FD3283AE}"/>
              </a:ext>
            </a:extLst>
          </p:cNvPr>
          <p:cNvSpPr>
            <a:spLocks xmlns:a="http://schemas.openxmlformats.org/drawingml/2006/main" noGrp="1"/>
          </p:cNvSpPr>
          <p:nvPr/>
        </p:nvSpPr>
        <p:spPr>
          <a:xfrm xmlns:a="http://schemas.openxmlformats.org/drawingml/2006/main">
            <a:off x="6200775" y="2752725"/>
            <a:ext cx="5381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4 platform / 2 supporting demands delivered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33 replacement ATM machines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Smart CDM: Brinks &amp; TG completed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TLS update completed, rollout plan in progress</a:t>
            </a:r>
          </a:p>
        </p:txBody>
      </p:sp>
      <p:sp>
        <p:nvSpPr>
          <p:cNvPr id="14" name="">
            <a:extLst xmlns:a="http://schemas.openxmlformats.org/drawingml/2006/main">
              <a:ext uri="{FF2B5EF4-FFF2-40B4-BE49-F238E27FC236}">
                <a16:creationId xmlns:a16="http://schemas.microsoft.com/office/drawing/2014/main" id="{451424B1-6FCC-40C8-9DD5-CF9C4A9181B2}"/>
              </a:ext>
            </a:extLst>
          </p:cNvPr>
          <p:cNvSpPr>
            <a:spLocks xmlns:a="http://schemas.openxmlformats.org/drawingml/2006/main" noGrp="1"/>
          </p:cNvSpPr>
          <p:nvPr/>
        </p:nvSpPr>
        <p:spPr>
          <a:xfrm xmlns:a="http://schemas.openxmlformats.org/drawingml/2006/main">
            <a:off x="6048375" y="4267200"/>
            <a:ext cx="5686425" cy="1905000"/>
          </a:xfrm>
          <a:prstGeom xmlns:a="http://schemas.openxmlformats.org/drawingml/2006/main" prst="roundRect">
            <a:avLst>
              <a:gd name="adj" fmla="val 6000"/>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3F1A53-4A42-44D0-A9A9-585DCA46E056}"/>
              </a:ext>
            </a:extLst>
          </p:cNvPr>
          <p:cNvSpPr>
            <a:spLocks xmlns:a="http://schemas.openxmlformats.org/drawingml/2006/main" noGrp="1"/>
          </p:cNvSpPr>
          <p:nvPr/>
        </p:nvSpPr>
        <p:spPr>
          <a:xfrm xmlns:a="http://schemas.openxmlformats.org/drawingml/2006/main">
            <a:off x="6200775" y="438150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Strategic initiatives</a:t>
            </a:r>
          </a:p>
        </p:txBody>
      </p:sp>
      <p:sp>
        <p:nvSpPr>
          <p:cNvPr id="16" name="">
            <a:extLst xmlns:a="http://schemas.openxmlformats.org/drawingml/2006/main">
              <a:ext uri="{FF2B5EF4-FFF2-40B4-BE49-F238E27FC236}">
                <a16:creationId xmlns:a16="http://schemas.microsoft.com/office/drawing/2014/main" id="{A3C749E9-2943-41A3-A44A-15AE185437DE}"/>
              </a:ext>
            </a:extLst>
          </p:cNvPr>
          <p:cNvSpPr>
            <a:spLocks xmlns:a="http://schemas.openxmlformats.org/drawingml/2006/main" noGrp="1"/>
          </p:cNvSpPr>
          <p:nvPr/>
        </p:nvSpPr>
        <p:spPr>
          <a:xfrm xmlns:a="http://schemas.openxmlformats.org/drawingml/2006/main">
            <a:off x="6200775" y="4876800"/>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NBV SaaS upgrade: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Board decision pending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KTC upgrade: planning within resiliency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XFS upgrade: rollout in progress</a:t>
            </a:r>
          </a:p>
        </p:txBody>
      </p:sp>
    </p:spTree>
    <p:extLst>
      <p:ext uri="{BB962C8B-B14F-4D97-AF65-F5344CB8AC3E}">
        <p14:creationId xmlns:p14="http://schemas.microsoft.com/office/powerpoint/2010/main" val="17739719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9A07506-2063-4118-861F-8B77EEDB3D6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4CF8953-7CE1-4708-BB80-02AA618C72C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ATM/CDM activity carries material operational risk</a:t>
            </a:r>
          </a:p>
        </p:txBody>
      </p:sp>
      <p:sp>
        <p:nvSpPr>
          <p:cNvPr id="3" name="">
            <a:extLst xmlns:a="http://schemas.openxmlformats.org/drawingml/2006/main">
              <a:ext uri="{FF2B5EF4-FFF2-40B4-BE49-F238E27FC236}">
                <a16:creationId xmlns:a16="http://schemas.microsoft.com/office/drawing/2014/main" id="{44FB5FCF-0245-4AA2-BE04-3B03529F970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Reported near-100% availability coexists with eight incidents in September.</a:t>
            </a:r>
          </a:p>
        </p:txBody>
      </p:sp>
      <p:sp>
        <p:nvSpPr>
          <p:cNvPr id="4" name="">
            <a:extLst xmlns:a="http://schemas.openxmlformats.org/drawingml/2006/main">
              <a:ext uri="{FF2B5EF4-FFF2-40B4-BE49-F238E27FC236}">
                <a16:creationId xmlns:a16="http://schemas.microsoft.com/office/drawing/2014/main" id="{9D427153-7554-47DA-8C3D-BBBA108CAC9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D1E508F-9F74-416A-AACC-0C415712BD8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27</a:t>
            </a:r>
          </a:p>
        </p:txBody>
      </p:sp>
      <p:sp>
        <p:nvSpPr>
          <p:cNvPr id="6" name="">
            <a:extLst xmlns:a="http://schemas.openxmlformats.org/drawingml/2006/main">
              <a:ext uri="{FF2B5EF4-FFF2-40B4-BE49-F238E27FC236}">
                <a16:creationId xmlns:a16="http://schemas.microsoft.com/office/drawing/2014/main" id="{637366A6-B701-465C-9A5B-B0FA4AA21984}"/>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4DA6AD-50DD-4DC3-AD13-8B4D6DF05603}"/>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2.22M</a:t>
            </a:r>
          </a:p>
        </p:txBody>
      </p:sp>
      <p:sp>
        <p:nvSpPr>
          <p:cNvPr id="8" name="">
            <a:extLst xmlns:a="http://schemas.openxmlformats.org/drawingml/2006/main">
              <a:ext uri="{FF2B5EF4-FFF2-40B4-BE49-F238E27FC236}">
                <a16:creationId xmlns:a16="http://schemas.microsoft.com/office/drawing/2014/main" id="{D9B3827D-F7E8-405B-8344-39D2ABDE9BD7}"/>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transactions</a:t>
            </a:r>
          </a:p>
        </p:txBody>
      </p:sp>
      <p:sp>
        <p:nvSpPr>
          <p:cNvPr id="9" name="">
            <a:extLst xmlns:a="http://schemas.openxmlformats.org/drawingml/2006/main">
              <a:ext uri="{FF2B5EF4-FFF2-40B4-BE49-F238E27FC236}">
                <a16:creationId xmlns:a16="http://schemas.microsoft.com/office/drawing/2014/main" id="{CC30EB58-FD11-4D04-82B4-5F9DEFD55347}"/>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76FBCC-A243-429A-B704-15773F0D4423}"/>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339,585</a:t>
            </a:r>
          </a:p>
        </p:txBody>
      </p:sp>
      <p:sp>
        <p:nvSpPr>
          <p:cNvPr id="11" name="">
            <a:extLst xmlns:a="http://schemas.openxmlformats.org/drawingml/2006/main">
              <a:ext uri="{FF2B5EF4-FFF2-40B4-BE49-F238E27FC236}">
                <a16:creationId xmlns:a16="http://schemas.microsoft.com/office/drawing/2014/main" id="{32A58577-C7FD-4DE3-9239-A2AFDFA57A43}"/>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CDM transactions</a:t>
            </a:r>
          </a:p>
        </p:txBody>
      </p:sp>
      <p:sp>
        <p:nvSpPr>
          <p:cNvPr id="12" name="">
            <a:extLst xmlns:a="http://schemas.openxmlformats.org/drawingml/2006/main">
              <a:ext uri="{FF2B5EF4-FFF2-40B4-BE49-F238E27FC236}">
                <a16:creationId xmlns:a16="http://schemas.microsoft.com/office/drawing/2014/main" id="{3E83FCC7-5610-44CA-AC06-9AF7056295C1}"/>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FEB446-BD9D-4287-9960-7E426C032AFF}"/>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4.016B</a:t>
            </a:r>
          </a:p>
        </p:txBody>
      </p:sp>
      <p:sp>
        <p:nvSpPr>
          <p:cNvPr id="14" name="">
            <a:extLst xmlns:a="http://schemas.openxmlformats.org/drawingml/2006/main">
              <a:ext uri="{FF2B5EF4-FFF2-40B4-BE49-F238E27FC236}">
                <a16:creationId xmlns:a16="http://schemas.microsoft.com/office/drawing/2014/main" id="{AE051EC4-5DB1-48A3-8DA2-BB297450E813}"/>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amount</a:t>
            </a:r>
          </a:p>
        </p:txBody>
      </p:sp>
      <p:sp>
        <p:nvSpPr>
          <p:cNvPr id="15" name="">
            <a:extLst xmlns:a="http://schemas.openxmlformats.org/drawingml/2006/main">
              <a:ext uri="{FF2B5EF4-FFF2-40B4-BE49-F238E27FC236}">
                <a16:creationId xmlns:a16="http://schemas.microsoft.com/office/drawing/2014/main" id="{3B70314B-04DC-4965-8A17-30D9488F1CE0}"/>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66C73A6-A304-4445-88F5-29C2B77E1018}"/>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1.223B</a:t>
            </a:r>
          </a:p>
        </p:txBody>
      </p:sp>
      <p:sp>
        <p:nvSpPr>
          <p:cNvPr id="17" name="">
            <a:extLst xmlns:a="http://schemas.openxmlformats.org/drawingml/2006/main">
              <a:ext uri="{FF2B5EF4-FFF2-40B4-BE49-F238E27FC236}">
                <a16:creationId xmlns:a16="http://schemas.microsoft.com/office/drawing/2014/main" id="{4B9B8653-94BB-4FD4-99AC-9E5F72939498}"/>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CDM amount</a:t>
            </a:r>
          </a:p>
        </p:txBody>
      </p:sp>
      <p:sp>
        <p:nvSpPr>
          <p:cNvPr id="18" name="">
            <a:extLst xmlns:a="http://schemas.openxmlformats.org/drawingml/2006/main">
              <a:ext uri="{FF2B5EF4-FFF2-40B4-BE49-F238E27FC236}">
                <a16:creationId xmlns:a16="http://schemas.microsoft.com/office/drawing/2014/main" id="{7618D412-EA29-4B23-8059-A3981AFA37F0}"/>
              </a:ext>
            </a:extLst>
          </p:cNvPr>
          <p:cNvSpPr>
            <a:spLocks xmlns:a="http://schemas.openxmlformats.org/drawingml/2006/main" noGrp="1"/>
          </p:cNvSpPr>
          <p:nvPr/>
        </p:nvSpPr>
        <p:spPr>
          <a:xfrm xmlns:a="http://schemas.openxmlformats.org/drawingml/2006/main">
            <a:off x="457200" y="3571875"/>
            <a:ext cx="3657600" cy="2495550"/>
          </a:xfrm>
          <a:prstGeom xmlns:a="http://schemas.openxmlformats.org/drawingml/2006/main" prst="roundRect">
            <a:avLst>
              <a:gd name="adj" fmla="val 4580"/>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F6714E8-A725-4AD9-91FA-66592043DEE6}"/>
              </a:ext>
            </a:extLst>
          </p:cNvPr>
          <p:cNvSpPr>
            <a:spLocks xmlns:a="http://schemas.openxmlformats.org/drawingml/2006/main" noGrp="1"/>
          </p:cNvSpPr>
          <p:nvPr/>
        </p:nvSpPr>
        <p:spPr>
          <a:xfrm xmlns:a="http://schemas.openxmlformats.org/drawingml/2006/main">
            <a:off x="60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Incident profile</a:t>
            </a:r>
          </a:p>
        </p:txBody>
      </p:sp>
      <p:sp>
        <p:nvSpPr>
          <p:cNvPr id="20" name="">
            <a:extLst xmlns:a="http://schemas.openxmlformats.org/drawingml/2006/main">
              <a:ext uri="{FF2B5EF4-FFF2-40B4-BE49-F238E27FC236}">
                <a16:creationId xmlns:a16="http://schemas.microsoft.com/office/drawing/2014/main" id="{E3A9E81E-E4A5-4C2B-AE9D-57CCF6DE56C6}"/>
              </a:ext>
            </a:extLst>
          </p:cNvPr>
          <p:cNvSpPr>
            <a:spLocks xmlns:a="http://schemas.openxmlformats.org/drawingml/2006/main" noGrp="1"/>
          </p:cNvSpPr>
          <p:nvPr/>
        </p:nvSpPr>
        <p:spPr>
          <a:xfrm xmlns:a="http://schemas.openxmlformats.org/drawingml/2006/main">
            <a:off x="60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1 critical: cheque-image processing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7 major incidents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No reported unplanned outages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0 minutes reported downtime</a:t>
            </a:r>
          </a:p>
        </p:txBody>
      </p:sp>
      <p:sp>
        <p:nvSpPr>
          <p:cNvPr id="21" name="">
            <a:extLst xmlns:a="http://schemas.openxmlformats.org/drawingml/2006/main">
              <a:ext uri="{FF2B5EF4-FFF2-40B4-BE49-F238E27FC236}">
                <a16:creationId xmlns:a16="http://schemas.microsoft.com/office/drawing/2014/main" id="{DBC3624C-04D1-40C5-AFDE-294DAF3A6D32}"/>
              </a:ext>
            </a:extLst>
          </p:cNvPr>
          <p:cNvSpPr>
            <a:spLocks xmlns:a="http://schemas.openxmlformats.org/drawingml/2006/main" noGrp="1"/>
          </p:cNvSpPr>
          <p:nvPr/>
        </p:nvSpPr>
        <p:spPr>
          <a:xfrm xmlns:a="http://schemas.openxmlformats.org/drawingml/2006/main">
            <a:off x="4267200" y="3571875"/>
            <a:ext cx="3657600" cy="2495550"/>
          </a:xfrm>
          <a:prstGeom xmlns:a="http://schemas.openxmlformats.org/drawingml/2006/main" prst="roundRect">
            <a:avLst>
              <a:gd name="adj" fmla="val 4580"/>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E2863D-9EF2-404E-930F-5A09FAF8003B}"/>
              </a:ext>
            </a:extLst>
          </p:cNvPr>
          <p:cNvSpPr>
            <a:spLocks xmlns:a="http://schemas.openxmlformats.org/drawingml/2006/main" noGrp="1"/>
          </p:cNvSpPr>
          <p:nvPr/>
        </p:nvSpPr>
        <p:spPr>
          <a:xfrm xmlns:a="http://schemas.openxmlformats.org/drawingml/2006/main">
            <a:off x="441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Recovery position</a:t>
            </a:r>
          </a:p>
        </p:txBody>
      </p:sp>
      <p:sp>
        <p:nvSpPr>
          <p:cNvPr id="23" name="">
            <a:extLst xmlns:a="http://schemas.openxmlformats.org/drawingml/2006/main">
              <a:ext uri="{FF2B5EF4-FFF2-40B4-BE49-F238E27FC236}">
                <a16:creationId xmlns:a16="http://schemas.microsoft.com/office/drawing/2014/main" id="{3CA6CC3F-41F3-4022-B11E-F22BA712D55C}"/>
              </a:ext>
            </a:extLst>
          </p:cNvPr>
          <p:cNvSpPr>
            <a:spLocks xmlns:a="http://schemas.openxmlformats.org/drawingml/2006/main" noGrp="1"/>
          </p:cNvSpPr>
          <p:nvPr/>
        </p:nvSpPr>
        <p:spPr>
          <a:xfrm xmlns:a="http://schemas.openxmlformats.org/drawingml/2006/main">
            <a:off x="441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available and tested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test: 22 August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Next reported activity: Q1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Recovery evidence needs a defined scope</a:t>
            </a:r>
          </a:p>
        </p:txBody>
      </p:sp>
      <p:sp>
        <p:nvSpPr>
          <p:cNvPr id="24" name="">
            <a:extLst xmlns:a="http://schemas.openxmlformats.org/drawingml/2006/main">
              <a:ext uri="{FF2B5EF4-FFF2-40B4-BE49-F238E27FC236}">
                <a16:creationId xmlns:a16="http://schemas.microsoft.com/office/drawing/2014/main" id="{F3F6959C-7C21-4DE2-856E-924973A7C503}"/>
              </a:ext>
            </a:extLst>
          </p:cNvPr>
          <p:cNvSpPr>
            <a:spLocks xmlns:a="http://schemas.openxmlformats.org/drawingml/2006/main" noGrp="1"/>
          </p:cNvSpPr>
          <p:nvPr/>
        </p:nvSpPr>
        <p:spPr>
          <a:xfrm xmlns:a="http://schemas.openxmlformats.org/drawingml/2006/main">
            <a:off x="8077200" y="3571875"/>
            <a:ext cx="3657600" cy="2495550"/>
          </a:xfrm>
          <a:prstGeom xmlns:a="http://schemas.openxmlformats.org/drawingml/2006/main" prst="roundRect">
            <a:avLst>
              <a:gd name="adj" fmla="val 4580"/>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05D435B-E961-4CDE-985F-E03A2DA4C8DF}"/>
              </a:ext>
            </a:extLst>
          </p:cNvPr>
          <p:cNvSpPr>
            <a:spLocks xmlns:a="http://schemas.openxmlformats.org/drawingml/2006/main" noGrp="1"/>
          </p:cNvSpPr>
          <p:nvPr/>
        </p:nvSpPr>
        <p:spPr>
          <a:xfrm xmlns:a="http://schemas.openxmlformats.org/drawingml/2006/main">
            <a:off x="822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Cheque-image remediation</a:t>
            </a:r>
          </a:p>
        </p:txBody>
      </p:sp>
      <p:sp>
        <p:nvSpPr>
          <p:cNvPr id="26" name="">
            <a:extLst xmlns:a="http://schemas.openxmlformats.org/drawingml/2006/main">
              <a:ext uri="{FF2B5EF4-FFF2-40B4-BE49-F238E27FC236}">
                <a16:creationId xmlns:a16="http://schemas.microsoft.com/office/drawing/2014/main" id="{F43A4116-DF4A-489C-8865-26A0B8E6A857}"/>
              </a:ext>
            </a:extLst>
          </p:cNvPr>
          <p:cNvSpPr>
            <a:spLocks xmlns:a="http://schemas.openxmlformats.org/drawingml/2006/main" noGrp="1"/>
          </p:cNvSpPr>
          <p:nvPr/>
        </p:nvSpPr>
        <p:spPr>
          <a:xfrm xmlns:a="http://schemas.openxmlformats.org/drawingml/2006/main">
            <a:off x="822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CDM images retransmitted to KTC</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Envelope-file creation for ICCS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Management review should confirm completion and affected-item reconciliation</a:t>
            </a:r>
          </a:p>
        </p:txBody>
      </p:sp>
    </p:spTree>
    <p:extLst>
      <p:ext uri="{BB962C8B-B14F-4D97-AF65-F5344CB8AC3E}">
        <p14:creationId xmlns:p14="http://schemas.microsoft.com/office/powerpoint/2010/main" val="153087898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2FE657F-27B2-4976-8AC0-7D7D200589A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98FAA07-0799-4832-A4B1-2CC43D7769CE}"/>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 memory is concentrated on three KAL hosts</a:t>
            </a:r>
          </a:p>
        </p:txBody>
      </p:sp>
      <p:sp>
        <p:nvSpPr>
          <p:cNvPr id="3" name="">
            <a:extLst xmlns:a="http://schemas.openxmlformats.org/drawingml/2006/main">
              <a:ext uri="{FF2B5EF4-FFF2-40B4-BE49-F238E27FC236}">
                <a16:creationId xmlns:a16="http://schemas.microsoft.com/office/drawing/2014/main" id="{5F129479-A736-41B3-A862-EE435EBC689D}"/>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Peak CPU is 10.5%, while KAL database hosts report memory utilization above 86%.</a:t>
            </a:r>
          </a:p>
        </p:txBody>
      </p:sp>
      <p:sp>
        <p:nvSpPr>
          <p:cNvPr id="4" name="">
            <a:extLst xmlns:a="http://schemas.openxmlformats.org/drawingml/2006/main">
              <a:ext uri="{FF2B5EF4-FFF2-40B4-BE49-F238E27FC236}">
                <a16:creationId xmlns:a16="http://schemas.microsoft.com/office/drawing/2014/main" id="{FC5862E7-12A9-4BDC-B220-3B2F4900DD5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E01965A-C6A4-4D26-BE64-BB1B63D5F6C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28</a:t>
            </a:r>
          </a:p>
        </p:txBody>
      </p:sp>
      <p:graphicFrame>
        <p:nvGraphicFramePr>
          <p:cNvPr id="19" name="Chart"/>
          <p:cNvGraphicFramePr/>
          <p:nvPr/>
        </p:nvGraphicFramePr>
        <p:xfrm>
          <a:off xmlns:a="http://schemas.openxmlformats.org/drawingml/2006/main" x="457200" y="2200275"/>
          <a:ext xmlns:a="http://schemas.openxmlformats.org/drawingml/2006/main" cx="7143750" cy="3114675"/>
        </p:xfrm>
        <a:graphic xmlns:a="http://schemas.openxmlformats.org/drawingml/2006/main">
          <a:graphicData uri="http://schemas.openxmlformats.org/drawingml/2006/chart">
            <c:chart xmlns:r="http://schemas.openxmlformats.org/officeDocument/2006/relationships" xmlns:c="http://schemas.openxmlformats.org/drawingml/2006/chart" r:id="R1e76c925b3894c4a"/>
          </a:graphicData>
        </a:graphic>
      </p:graphicFrame>
      <p:sp>
        <p:nvSpPr>
          <p:cNvPr id="7" name="">
            <a:extLst xmlns:a="http://schemas.openxmlformats.org/drawingml/2006/main">
              <a:ext uri="{FF2B5EF4-FFF2-40B4-BE49-F238E27FC236}">
                <a16:creationId xmlns:a16="http://schemas.microsoft.com/office/drawing/2014/main" id="{09EF7ACC-1342-4E40-957D-B692E3C9D91C}"/>
              </a:ext>
            </a:extLst>
          </p:cNvPr>
          <p:cNvSpPr>
            <a:spLocks xmlns:a="http://schemas.openxmlformats.org/drawingml/2006/main" noGrp="1"/>
          </p:cNvSpPr>
          <p:nvPr/>
        </p:nvSpPr>
        <p:spPr>
          <a:xfrm xmlns:a="http://schemas.openxmlformats.org/drawingml/2006/main">
            <a:off x="8020050" y="2152650"/>
            <a:ext cx="3714750" cy="1971675"/>
          </a:xfrm>
          <a:prstGeom xmlns:a="http://schemas.openxmlformats.org/drawingml/2006/main" prst="roundRect">
            <a:avLst>
              <a:gd name="adj" fmla="val 5797"/>
            </a:avLst>
          </a:prstGeom>
          <a:solidFill xmlns:a="http://schemas.openxmlformats.org/drawingml/2006/main">
            <a:srgbClr val="FFF4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12A4B7-329E-43DE-A344-48578EA95485}"/>
              </a:ext>
            </a:extLst>
          </p:cNvPr>
          <p:cNvSpPr>
            <a:spLocks xmlns:a="http://schemas.openxmlformats.org/drawingml/2006/main" noGrp="1"/>
          </p:cNvSpPr>
          <p:nvPr/>
        </p:nvSpPr>
        <p:spPr>
          <a:xfrm xmlns:a="http://schemas.openxmlformats.org/drawingml/2006/main">
            <a:off x="8172450" y="2266950"/>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Capacity watch</a:t>
            </a:r>
          </a:p>
        </p:txBody>
      </p:sp>
      <p:sp>
        <p:nvSpPr>
          <p:cNvPr id="9" name="">
            <a:extLst xmlns:a="http://schemas.openxmlformats.org/drawingml/2006/main">
              <a:ext uri="{FF2B5EF4-FFF2-40B4-BE49-F238E27FC236}">
                <a16:creationId xmlns:a16="http://schemas.microsoft.com/office/drawing/2014/main" id="{53FC46DA-CFC7-445F-AD76-05F25C8C069A}"/>
              </a:ext>
            </a:extLst>
          </p:cNvPr>
          <p:cNvSpPr>
            <a:spLocks xmlns:a="http://schemas.openxmlformats.org/drawingml/2006/main" noGrp="1"/>
          </p:cNvSpPr>
          <p:nvPr/>
        </p:nvSpPr>
        <p:spPr>
          <a:xfrm xmlns:a="http://schemas.openxmlformats.org/drawingml/2006/main">
            <a:off x="8172450" y="2762250"/>
            <a:ext cx="3409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kald2 memory: 90.2%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kald3 memory: 87.2%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dxb02 kald1: 86.3%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peak: 76.4%</a:t>
            </a:r>
          </a:p>
        </p:txBody>
      </p:sp>
      <p:sp>
        <p:nvSpPr>
          <p:cNvPr id="10" name="">
            <a:extLst xmlns:a="http://schemas.openxmlformats.org/drawingml/2006/main">
              <a:ext uri="{FF2B5EF4-FFF2-40B4-BE49-F238E27FC236}">
                <a16:creationId xmlns:a16="http://schemas.microsoft.com/office/drawing/2014/main" id="{89E22F93-797A-4AA2-BA83-A1DA2AE85869}"/>
              </a:ext>
            </a:extLst>
          </p:cNvPr>
          <p:cNvSpPr>
            <a:spLocks xmlns:a="http://schemas.openxmlformats.org/drawingml/2006/main" noGrp="1"/>
          </p:cNvSpPr>
          <p:nvPr/>
        </p:nvSpPr>
        <p:spPr>
          <a:xfrm xmlns:a="http://schemas.openxmlformats.org/drawingml/2006/main">
            <a:off x="8020050" y="4314825"/>
            <a:ext cx="3714750" cy="1762125"/>
          </a:xfrm>
          <a:prstGeom xmlns:a="http://schemas.openxmlformats.org/drawingml/2006/main" prst="roundRect">
            <a:avLst>
              <a:gd name="adj" fmla="val 648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442AA2-3B47-4DF8-8BAC-684CE8519594}"/>
              </a:ext>
            </a:extLst>
          </p:cNvPr>
          <p:cNvSpPr>
            <a:spLocks xmlns:a="http://schemas.openxmlformats.org/drawingml/2006/main" noGrp="1"/>
          </p:cNvSpPr>
          <p:nvPr/>
        </p:nvSpPr>
        <p:spPr>
          <a:xfrm xmlns:a="http://schemas.openxmlformats.org/drawingml/2006/main">
            <a:off x="8172450" y="4429125"/>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Recommended review</a:t>
            </a:r>
          </a:p>
        </p:txBody>
      </p:sp>
      <p:sp>
        <p:nvSpPr>
          <p:cNvPr id="12" name="">
            <a:extLst xmlns:a="http://schemas.openxmlformats.org/drawingml/2006/main">
              <a:ext uri="{FF2B5EF4-FFF2-40B4-BE49-F238E27FC236}">
                <a16:creationId xmlns:a16="http://schemas.microsoft.com/office/drawing/2014/main" id="{FCA0DB0E-6449-42F0-9058-D63980EED7E2}"/>
              </a:ext>
            </a:extLst>
          </p:cNvPr>
          <p:cNvSpPr>
            <a:spLocks xmlns:a="http://schemas.openxmlformats.org/drawingml/2006/main" noGrp="1"/>
          </p:cNvSpPr>
          <p:nvPr/>
        </p:nvSpPr>
        <p:spPr>
          <a:xfrm xmlns:a="http://schemas.openxmlformats.org/drawingml/2006/main">
            <a:off x="8172450" y="4924425"/>
            <a:ext cx="3409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Check memory trend and workload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alert thresholds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Validate headroom during failover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Assign remediation if needed</a:t>
            </a:r>
          </a:p>
        </p:txBody>
      </p:sp>
      <p:sp>
        <p:nvSpPr>
          <p:cNvPr id="13" name="">
            <a:extLst xmlns:a="http://schemas.openxmlformats.org/drawingml/2006/main">
              <a:ext uri="{FF2B5EF4-FFF2-40B4-BE49-F238E27FC236}">
                <a16:creationId xmlns:a16="http://schemas.microsoft.com/office/drawing/2014/main" id="{59098AF1-81DE-439A-8F57-352A15AF76FF}"/>
              </a:ext>
            </a:extLst>
          </p:cNvPr>
          <p:cNvSpPr>
            <a:spLocks xmlns:a="http://schemas.openxmlformats.org/drawingml/2006/main" noGrp="1"/>
          </p:cNvSpPr>
          <p:nvPr/>
        </p:nvSpPr>
        <p:spPr>
          <a:xfrm xmlns:a="http://schemas.openxmlformats.org/drawingml/2006/main">
            <a:off x="457200" y="56102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Memory utilization by host</a:t>
            </a:r>
          </a:p>
        </p:txBody>
      </p:sp>
    </p:spTree>
    <p:extLst>
      <p:ext uri="{BB962C8B-B14F-4D97-AF65-F5344CB8AC3E}">
        <p14:creationId xmlns:p14="http://schemas.microsoft.com/office/powerpoint/2010/main" val="28102381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C1DE2F2-3AB5-4332-813E-764EA244E8C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EEB7E016-5284-4967-B4C5-0428E0AADB7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Technology Oversight Council: ten tracked items</a:t>
            </a:r>
          </a:p>
        </p:txBody>
      </p:sp>
      <p:sp>
        <p:nvSpPr>
          <p:cNvPr id="3" name="">
            <a:extLst xmlns:a="http://schemas.openxmlformats.org/drawingml/2006/main">
              <a:ext uri="{FF2B5EF4-FFF2-40B4-BE49-F238E27FC236}">
                <a16:creationId xmlns:a16="http://schemas.microsoft.com/office/drawing/2014/main" id="{80D94B7C-0117-4F30-9BF4-B94DA3FEAE3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source rates eight items Rare and two Frequent. Ratings describe probability, not severity.</a:t>
            </a:r>
          </a:p>
        </p:txBody>
      </p:sp>
      <p:sp>
        <p:nvSpPr>
          <p:cNvPr id="4" name="">
            <a:extLst xmlns:a="http://schemas.openxmlformats.org/drawingml/2006/main">
              <a:ext uri="{FF2B5EF4-FFF2-40B4-BE49-F238E27FC236}">
                <a16:creationId xmlns:a16="http://schemas.microsoft.com/office/drawing/2014/main" id="{F1163E2F-5C18-41C5-BF05-2F5873D408F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E48A7A06-762A-4FFB-9869-D8DB2304FD2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29</a:t>
            </a:r>
          </a:p>
        </p:txBody>
      </p:sp>
      <p:sp>
        <p:nvSpPr>
          <p:cNvPr id="6" name="">
            <a:extLst xmlns:a="http://schemas.openxmlformats.org/drawingml/2006/main">
              <a:ext uri="{FF2B5EF4-FFF2-40B4-BE49-F238E27FC236}">
                <a16:creationId xmlns:a16="http://schemas.microsoft.com/office/drawing/2014/main" id="{E3D85B3B-1F87-414B-85AC-7C920BE0D8F9}"/>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A7258D-7472-49D9-8260-E53076DC4992}"/>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F7577DAA-251C-421A-A905-01C39D933FE5}"/>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tracked council items</a:t>
            </a:r>
          </a:p>
        </p:txBody>
      </p:sp>
      <p:sp>
        <p:nvSpPr>
          <p:cNvPr id="9" name="">
            <a:extLst xmlns:a="http://schemas.openxmlformats.org/drawingml/2006/main">
              <a:ext uri="{FF2B5EF4-FFF2-40B4-BE49-F238E27FC236}">
                <a16:creationId xmlns:a16="http://schemas.microsoft.com/office/drawing/2014/main" id="{62B07FEA-0DDE-408C-A4A3-E96371E8B439}"/>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0AE32DB-2262-4BFA-AB75-AE188C029DE1}"/>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626519E2-2BDE-4A1A-B09B-9CF44EFE2A53}"/>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Frequent probability</a:t>
            </a:r>
          </a:p>
        </p:txBody>
      </p:sp>
      <p:sp>
        <p:nvSpPr>
          <p:cNvPr id="12" name="">
            <a:extLst xmlns:a="http://schemas.openxmlformats.org/drawingml/2006/main">
              <a:ext uri="{FF2B5EF4-FFF2-40B4-BE49-F238E27FC236}">
                <a16:creationId xmlns:a16="http://schemas.microsoft.com/office/drawing/2014/main" id="{8ECCE42F-5F44-4C1A-9EDF-EC340C79FBA1}"/>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795272B-507F-4BC4-8D05-6FC05E10ACF6}"/>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8</a:t>
            </a:r>
          </a:p>
        </p:txBody>
      </p:sp>
      <p:sp>
        <p:nvSpPr>
          <p:cNvPr id="14" name="">
            <a:extLst xmlns:a="http://schemas.openxmlformats.org/drawingml/2006/main">
              <a:ext uri="{FF2B5EF4-FFF2-40B4-BE49-F238E27FC236}">
                <a16:creationId xmlns:a16="http://schemas.microsoft.com/office/drawing/2014/main" id="{A56E324F-0374-48F3-932F-0326CAA0B18E}"/>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Rare probability</a:t>
            </a:r>
          </a:p>
        </p:txBody>
      </p:sp>
      <p:sp>
        <p:nvSpPr>
          <p:cNvPr id="15" name="">
            <a:extLst xmlns:a="http://schemas.openxmlformats.org/drawingml/2006/main">
              <a:ext uri="{FF2B5EF4-FFF2-40B4-BE49-F238E27FC236}">
                <a16:creationId xmlns:a16="http://schemas.microsoft.com/office/drawing/2014/main" id="{E7ACA78A-42AD-46F5-9C28-008F7B1FE1BC}"/>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D5A56D-9864-470D-870B-2FDA9EBDB6BE}"/>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24 Oct</a:t>
            </a:r>
          </a:p>
        </p:txBody>
      </p:sp>
      <p:sp>
        <p:nvSpPr>
          <p:cNvPr id="17" name="">
            <a:extLst xmlns:a="http://schemas.openxmlformats.org/drawingml/2006/main">
              <a:ext uri="{FF2B5EF4-FFF2-40B4-BE49-F238E27FC236}">
                <a16:creationId xmlns:a16="http://schemas.microsoft.com/office/drawing/2014/main" id="{FE0744E4-8541-427F-89A6-55843F4655F1}"/>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KAL rollout target</a:t>
            </a:r>
          </a:p>
        </p:txBody>
      </p:sp>
      <p:sp>
        <p:nvSpPr>
          <p:cNvPr id="18" name="">
            <a:extLst xmlns:a="http://schemas.openxmlformats.org/drawingml/2006/main">
              <a:ext uri="{FF2B5EF4-FFF2-40B4-BE49-F238E27FC236}">
                <a16:creationId xmlns:a16="http://schemas.microsoft.com/office/drawing/2014/main" id="{B4DBE139-1CC8-4ABE-B85E-BAA71EE1927D}"/>
              </a:ext>
            </a:extLst>
          </p:cNvPr>
          <p:cNvSpPr>
            <a:spLocks xmlns:a="http://schemas.openxmlformats.org/drawingml/2006/main" noGrp="1"/>
          </p:cNvSpPr>
          <p:nvPr/>
        </p:nvSpPr>
        <p:spPr>
          <a:xfrm xmlns:a="http://schemas.openxmlformats.org/drawingml/2006/main">
            <a:off x="457200" y="3552825"/>
            <a:ext cx="5543550" cy="2524125"/>
          </a:xfrm>
          <a:prstGeom xmlns:a="http://schemas.openxmlformats.org/drawingml/2006/main" prst="roundRect">
            <a:avLst>
              <a:gd name="adj" fmla="val 4528"/>
            </a:avLst>
          </a:prstGeom>
          <a:solidFill xmlns:a="http://schemas.openxmlformats.org/drawingml/2006/main">
            <a:srgbClr val="FFF4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8B5AC5-905C-4F41-AD0F-595828875CEC}"/>
              </a:ext>
            </a:extLst>
          </p:cNvPr>
          <p:cNvSpPr>
            <a:spLocks xmlns:a="http://schemas.openxmlformats.org/drawingml/2006/main" noGrp="1"/>
          </p:cNvSpPr>
          <p:nvPr/>
        </p:nvSpPr>
        <p:spPr>
          <a:xfrm xmlns:a="http://schemas.openxmlformats.org/drawingml/2006/main">
            <a:off x="60960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Frequent: KAL device observability</a:t>
            </a:r>
          </a:p>
        </p:txBody>
      </p:sp>
      <p:sp>
        <p:nvSpPr>
          <p:cNvPr id="20" name="">
            <a:extLst xmlns:a="http://schemas.openxmlformats.org/drawingml/2006/main">
              <a:ext uri="{FF2B5EF4-FFF2-40B4-BE49-F238E27FC236}">
                <a16:creationId xmlns:a16="http://schemas.microsoft.com/office/drawing/2014/main" id="{79069BF2-A1F2-42D9-BC54-EC19AB7CB759}"/>
              </a:ext>
            </a:extLst>
          </p:cNvPr>
          <p:cNvSpPr>
            <a:spLocks xmlns:a="http://schemas.openxmlformats.org/drawingml/2006/main" noGrp="1"/>
          </p:cNvSpPr>
          <p:nvPr/>
        </p:nvSpPr>
        <p:spPr>
          <a:xfrm xmlns:a="http://schemas.openxmlformats.org/drawingml/2006/main">
            <a:off x="609600" y="4162425"/>
            <a:ext cx="5238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Three production pilot terminals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EID-device status fix under monitoring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Rollout planned from 4 to 24 October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rollout and monitoring evidence</a:t>
            </a:r>
          </a:p>
        </p:txBody>
      </p:sp>
      <p:sp>
        <p:nvSpPr>
          <p:cNvPr id="21" name="">
            <a:extLst xmlns:a="http://schemas.openxmlformats.org/drawingml/2006/main">
              <a:ext uri="{FF2B5EF4-FFF2-40B4-BE49-F238E27FC236}">
                <a16:creationId xmlns:a16="http://schemas.microsoft.com/office/drawing/2014/main" id="{2D0ADEA2-EDA5-459C-B595-8C721E151D99}"/>
              </a:ext>
            </a:extLst>
          </p:cNvPr>
          <p:cNvSpPr>
            <a:spLocks xmlns:a="http://schemas.openxmlformats.org/drawingml/2006/main" noGrp="1"/>
          </p:cNvSpPr>
          <p:nvPr/>
        </p:nvSpPr>
        <p:spPr>
          <a:xfrm xmlns:a="http://schemas.openxmlformats.org/drawingml/2006/main">
            <a:off x="6191250" y="3552825"/>
            <a:ext cx="5543550" cy="2524125"/>
          </a:xfrm>
          <a:prstGeom xmlns:a="http://schemas.openxmlformats.org/drawingml/2006/main" prst="roundRect">
            <a:avLst>
              <a:gd name="adj" fmla="val 4528"/>
            </a:avLst>
          </a:prstGeom>
          <a:solidFill xmlns:a="http://schemas.openxmlformats.org/drawingml/2006/main">
            <a:srgbClr val="FCEA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580CC4E-D359-4322-BE9C-34E6FB5301C1}"/>
              </a:ext>
            </a:extLst>
          </p:cNvPr>
          <p:cNvSpPr>
            <a:spLocks xmlns:a="http://schemas.openxmlformats.org/drawingml/2006/main" noGrp="1"/>
          </p:cNvSpPr>
          <p:nvPr/>
        </p:nvSpPr>
        <p:spPr>
          <a:xfrm xmlns:a="http://schemas.openxmlformats.org/drawingml/2006/main">
            <a:off x="634365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  Frequent: online duplicate transfers</a:t>
            </a:r>
          </a:p>
        </p:txBody>
      </p:sp>
      <p:sp>
        <p:nvSpPr>
          <p:cNvPr id="23" name="">
            <a:extLst xmlns:a="http://schemas.openxmlformats.org/drawingml/2006/main">
              <a:ext uri="{FF2B5EF4-FFF2-40B4-BE49-F238E27FC236}">
                <a16:creationId xmlns:a16="http://schemas.microsoft.com/office/drawing/2014/main" id="{7E62A654-DD00-40BB-8F4B-F01AD5619E28}"/>
              </a:ext>
            </a:extLst>
          </p:cNvPr>
          <p:cNvSpPr>
            <a:spLocks xmlns:a="http://schemas.openxmlformats.org/drawingml/2006/main" noGrp="1"/>
          </p:cNvSpPr>
          <p:nvPr/>
        </p:nvSpPr>
        <p:spPr>
          <a:xfrm xmlns:a="http://schemas.openxmlformats.org/drawingml/2006/main">
            <a:off x="6343650" y="4162425"/>
            <a:ext cx="5238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Future-dated DFT / IFT duplicate transactions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Development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EFMS Release 1 target: December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transaction-control evidence</a:t>
            </a:r>
          </a:p>
        </p:txBody>
      </p:sp>
    </p:spTree>
    <p:extLst>
      <p:ext uri="{BB962C8B-B14F-4D97-AF65-F5344CB8AC3E}">
        <p14:creationId xmlns:p14="http://schemas.microsoft.com/office/powerpoint/2010/main" val="19226381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8FE811F-00BB-4CE6-976C-3EF2F65A900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CB355665-92A5-49CF-B7FE-9DD2EE5D7A9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Council control actions: notifications and security</a:t>
            </a:r>
          </a:p>
        </p:txBody>
      </p:sp>
      <p:sp>
        <p:nvSpPr>
          <p:cNvPr id="3" name="">
            <a:extLst xmlns:a="http://schemas.openxmlformats.org/drawingml/2006/main">
              <a:ext uri="{FF2B5EF4-FFF2-40B4-BE49-F238E27FC236}">
                <a16:creationId xmlns:a16="http://schemas.microsoft.com/office/drawing/2014/main" id="{884544E1-526F-48C8-BA65-046F0F7477E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Planned releases and fixes need evidence before the council records closure.</a:t>
            </a:r>
          </a:p>
        </p:txBody>
      </p:sp>
      <p:sp>
        <p:nvSpPr>
          <p:cNvPr id="4" name="">
            <a:extLst xmlns:a="http://schemas.openxmlformats.org/drawingml/2006/main">
              <a:ext uri="{FF2B5EF4-FFF2-40B4-BE49-F238E27FC236}">
                <a16:creationId xmlns:a16="http://schemas.microsoft.com/office/drawing/2014/main" id="{8D78C33D-CF6B-47FC-ACCD-05A1FC75FF74}"/>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B91B30D5-3DFE-4F9D-BDE4-EC223916049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30</a:t>
            </a:r>
          </a:p>
        </p:txBody>
      </p:sp>
      <p:sp>
        <p:nvSpPr>
          <p:cNvPr id="6" name="">
            <a:extLst xmlns:a="http://schemas.openxmlformats.org/drawingml/2006/main">
              <a:ext uri="{FF2B5EF4-FFF2-40B4-BE49-F238E27FC236}">
                <a16:creationId xmlns:a16="http://schemas.microsoft.com/office/drawing/2014/main" id="{DCF931FE-4301-4B44-BE67-DAEF0E3470A5}"/>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33974B-3E4F-42E2-9641-CF6E4CE6A48A}"/>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SMS duplicate notifications</a:t>
            </a:r>
          </a:p>
        </p:txBody>
      </p:sp>
      <p:sp>
        <p:nvSpPr>
          <p:cNvPr id="8" name="">
            <a:extLst xmlns:a="http://schemas.openxmlformats.org/drawingml/2006/main">
              <a:ext uri="{FF2B5EF4-FFF2-40B4-BE49-F238E27FC236}">
                <a16:creationId xmlns:a16="http://schemas.microsoft.com/office/drawing/2014/main" id="{90CA7ACE-D5D0-424A-910A-FC8B1D4AF2E2}"/>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Debit / credit, ATM and Power Card alerts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Source planned release: 4 October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Actual deployment confirmation required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9" name="">
            <a:extLst xmlns:a="http://schemas.openxmlformats.org/drawingml/2006/main">
              <a:ext uri="{FF2B5EF4-FFF2-40B4-BE49-F238E27FC236}">
                <a16:creationId xmlns:a16="http://schemas.microsoft.com/office/drawing/2014/main" id="{27409A23-7131-45F5-B6EF-89161B7CA560}"/>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743528E-BC6E-44C3-AC1A-BFE6437BE928}"/>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SMS OTP masking</a:t>
            </a:r>
          </a:p>
        </p:txBody>
      </p:sp>
      <p:sp>
        <p:nvSpPr>
          <p:cNvPr id="11" name="">
            <a:extLst xmlns:a="http://schemas.openxmlformats.org/drawingml/2006/main">
              <a:ext uri="{FF2B5EF4-FFF2-40B4-BE49-F238E27FC236}">
                <a16:creationId xmlns:a16="http://schemas.microsoft.com/office/drawing/2014/main" id="{6E79F557-FC7D-4950-B553-B70E1C132568}"/>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Centralize templates from SOA, IB and MB</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Demand created with DAMO team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Payload and template redesign required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2" name="">
            <a:extLst xmlns:a="http://schemas.openxmlformats.org/drawingml/2006/main">
              <a:ext uri="{FF2B5EF4-FFF2-40B4-BE49-F238E27FC236}">
                <a16:creationId xmlns:a16="http://schemas.microsoft.com/office/drawing/2014/main" id="{C2AA4453-E79A-4F64-9621-E6AA897931CA}"/>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E6F6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F6D18E-F16F-44A3-B677-662BD6F727B3}"/>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Website exchange interface</a:t>
            </a:r>
          </a:p>
        </p:txBody>
      </p:sp>
      <p:sp>
        <p:nvSpPr>
          <p:cNvPr id="14" name="">
            <a:extLst xmlns:a="http://schemas.openxmlformats.org/drawingml/2006/main">
              <a:ext uri="{FF2B5EF4-FFF2-40B4-BE49-F238E27FC236}">
                <a16:creationId xmlns:a16="http://schemas.microsoft.com/office/drawing/2014/main" id="{067541D1-11F7-46CE-9504-FE592862301F}"/>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Plain-text-password fix deployed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Further findings / requirements pending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remaining scope confirmed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5" name="">
            <a:extLst xmlns:a="http://schemas.openxmlformats.org/drawingml/2006/main">
              <a:ext uri="{FF2B5EF4-FFF2-40B4-BE49-F238E27FC236}">
                <a16:creationId xmlns:a16="http://schemas.microsoft.com/office/drawing/2014/main" id="{358DEB27-130B-47C5-9B63-906FEB5EB0D5}"/>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9E2F3B4-8191-4DDA-A5A5-FEA20BD9F068}"/>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  Call-centre support lifecycle</a:t>
            </a:r>
          </a:p>
        </p:txBody>
      </p:sp>
      <p:sp>
        <p:nvSpPr>
          <p:cNvPr id="17" name="">
            <a:extLst xmlns:a="http://schemas.openxmlformats.org/drawingml/2006/main">
              <a:ext uri="{FF2B5EF4-FFF2-40B4-BE49-F238E27FC236}">
                <a16:creationId xmlns:a16="http://schemas.microsoft.com/office/drawing/2014/main" id="{BDCA17B3-D143-4751-8188-2F57DE2AD34B}"/>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VHT support ended December 2023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Genesys DataMart support ended May 2021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Addressed within call-centre upgrade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Tree>
    <p:extLst>
      <p:ext uri="{BB962C8B-B14F-4D97-AF65-F5344CB8AC3E}">
        <p14:creationId xmlns:p14="http://schemas.microsoft.com/office/powerpoint/2010/main" val="5859216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F35392-BB15-46C6-80AE-FDD7628B002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B97BCC8-604C-4E99-A1DC-B0401D042DF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Council modernization actions span four platforms</a:t>
            </a:r>
          </a:p>
        </p:txBody>
      </p:sp>
      <p:sp>
        <p:nvSpPr>
          <p:cNvPr id="3" name="">
            <a:extLst xmlns:a="http://schemas.openxmlformats.org/drawingml/2006/main">
              <a:ext uri="{FF2B5EF4-FFF2-40B4-BE49-F238E27FC236}">
                <a16:creationId xmlns:a16="http://schemas.microsoft.com/office/drawing/2014/main" id="{E9CE8002-8827-410A-A7EF-70551E4A9AD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Legacy technology and incomplete journey visibility remain on the council agenda.</a:t>
            </a:r>
          </a:p>
        </p:txBody>
      </p:sp>
      <p:sp>
        <p:nvSpPr>
          <p:cNvPr id="4" name="">
            <a:extLst xmlns:a="http://schemas.openxmlformats.org/drawingml/2006/main">
              <a:ext uri="{FF2B5EF4-FFF2-40B4-BE49-F238E27FC236}">
                <a16:creationId xmlns:a16="http://schemas.microsoft.com/office/drawing/2014/main" id="{1E589165-5A45-48DB-9AE1-B08EE48F7F5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2AB2D62-7B65-4A62-AD72-702B92F747F9}"/>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31</a:t>
            </a:r>
          </a:p>
        </p:txBody>
      </p:sp>
      <p:sp>
        <p:nvSpPr>
          <p:cNvPr id="6" name="">
            <a:extLst xmlns:a="http://schemas.openxmlformats.org/drawingml/2006/main">
              <a:ext uri="{FF2B5EF4-FFF2-40B4-BE49-F238E27FC236}">
                <a16:creationId xmlns:a16="http://schemas.microsoft.com/office/drawing/2014/main" id="{3D8B82B1-C15D-4E45-A2E9-7BCCB45FD699}"/>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0B58B6-6944-4ABB-A921-CBFB03467BD2}"/>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Power Card</a:t>
            </a:r>
          </a:p>
        </p:txBody>
      </p:sp>
      <p:sp>
        <p:nvSpPr>
          <p:cNvPr id="8" name="">
            <a:extLst xmlns:a="http://schemas.openxmlformats.org/drawingml/2006/main">
              <a:ext uri="{FF2B5EF4-FFF2-40B4-BE49-F238E27FC236}">
                <a16:creationId xmlns:a16="http://schemas.microsoft.com/office/drawing/2014/main" id="{8BEB01D2-2DAC-45E0-9A92-519A071750C6}"/>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Latency, EOD delays and CMS v2 / Switch v3 sync</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HPS engagement for a two-week review</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Replacement under management directive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9" name="">
            <a:extLst xmlns:a="http://schemas.openxmlformats.org/drawingml/2006/main">
              <a:ext uri="{FF2B5EF4-FFF2-40B4-BE49-F238E27FC236}">
                <a16:creationId xmlns:a16="http://schemas.microsoft.com/office/drawing/2014/main" id="{08270B4B-5383-4706-8D2A-1A07E7EC40B5}"/>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A69A07-756A-4BE4-A5C1-03C532E69A0D}"/>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Mobile journey tracking</a:t>
            </a:r>
          </a:p>
        </p:txBody>
      </p:sp>
      <p:sp>
        <p:nvSpPr>
          <p:cNvPr id="11" name="">
            <a:extLst xmlns:a="http://schemas.openxmlformats.org/drawingml/2006/main">
              <a:ext uri="{FF2B5EF4-FFF2-40B4-BE49-F238E27FC236}">
                <a16:creationId xmlns:a16="http://schemas.microsoft.com/office/drawing/2014/main" id="{4F3294FD-99B7-4CED-90E9-2467121A6150}"/>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PF / CC journey tracking implemented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PF squad enhancements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RtB reports only raw logs, limiting business visibility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Dynatrace exploration proposed. Probability: Rare</a:t>
            </a:r>
          </a:p>
        </p:txBody>
      </p:sp>
      <p:sp>
        <p:nvSpPr>
          <p:cNvPr id="12" name="">
            <a:extLst xmlns:a="http://schemas.openxmlformats.org/drawingml/2006/main">
              <a:ext uri="{FF2B5EF4-FFF2-40B4-BE49-F238E27FC236}">
                <a16:creationId xmlns:a16="http://schemas.microsoft.com/office/drawing/2014/main" id="{8A29CA0A-B04B-411C-B141-96ECF231EE93}"/>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160A256-82B3-4A16-A486-665BA32DBDFA}"/>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  OMNI / Internet Banking</a:t>
            </a:r>
          </a:p>
        </p:txBody>
      </p:sp>
      <p:sp>
        <p:nvSpPr>
          <p:cNvPr id="14" name="">
            <a:extLst xmlns:a="http://schemas.openxmlformats.org/drawingml/2006/main">
              <a:ext uri="{FF2B5EF4-FFF2-40B4-BE49-F238E27FC236}">
                <a16:creationId xmlns:a16="http://schemas.microsoft.com/office/drawing/2014/main" id="{96BD5ABE-58C5-40EE-ADD6-DD5C9E5F4AC3}"/>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Unsupported technology stack</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Upgrade within the resiliency programme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Scope proposes IB / Omni for Q2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5" name="">
            <a:extLst xmlns:a="http://schemas.openxmlformats.org/drawingml/2006/main">
              <a:ext uri="{FF2B5EF4-FFF2-40B4-BE49-F238E27FC236}">
                <a16:creationId xmlns:a16="http://schemas.microsoft.com/office/drawing/2014/main" id="{5AC12376-1DA7-4788-A473-51512DAFF7F2}"/>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CEA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B6BBF98-473A-4D3A-A95C-FBD3E6D2D6D1}"/>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  HFLMS</a:t>
            </a:r>
          </a:p>
        </p:txBody>
      </p:sp>
      <p:sp>
        <p:nvSpPr>
          <p:cNvPr id="17" name="">
            <a:extLst xmlns:a="http://schemas.openxmlformats.org/drawingml/2006/main">
              <a:ext uri="{FF2B5EF4-FFF2-40B4-BE49-F238E27FC236}">
                <a16:creationId xmlns:a16="http://schemas.microsoft.com/office/drawing/2014/main" id="{7E311F16-FCB5-40DC-9B64-5B0434CC02D6}"/>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Unsupported stack and no HA / DR in council report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upgrade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Scope table targets Q4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Council target year requires confirmation</a:t>
            </a:r>
          </a:p>
        </p:txBody>
      </p:sp>
    </p:spTree>
    <p:extLst>
      <p:ext uri="{BB962C8B-B14F-4D97-AF65-F5344CB8AC3E}">
        <p14:creationId xmlns:p14="http://schemas.microsoft.com/office/powerpoint/2010/main" val="182945369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59D3A48-4420-4183-ACD0-0056140C8E2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EF39DF8-EEE5-409D-95CC-892EC73EC33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CET resiliency strategy covers eight platforms</a:t>
            </a:r>
          </a:p>
        </p:txBody>
      </p:sp>
      <p:sp>
        <p:nvSpPr>
          <p:cNvPr id="3" name="">
            <a:extLst xmlns:a="http://schemas.openxmlformats.org/drawingml/2006/main">
              <a:ext uri="{FF2B5EF4-FFF2-40B4-BE49-F238E27FC236}">
                <a16:creationId xmlns:a16="http://schemas.microsoft.com/office/drawing/2014/main" id="{2B4E8948-EDB3-4218-A68C-DBB930BF5A4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Programme scope combines legacy upgrades, database resilience and recovery architecture.</a:t>
            </a:r>
          </a:p>
        </p:txBody>
      </p:sp>
      <p:sp>
        <p:nvSpPr>
          <p:cNvPr id="4" name="">
            <a:extLst xmlns:a="http://schemas.openxmlformats.org/drawingml/2006/main">
              <a:ext uri="{FF2B5EF4-FFF2-40B4-BE49-F238E27FC236}">
                <a16:creationId xmlns:a16="http://schemas.microsoft.com/office/drawing/2014/main" id="{C97CC9BC-035C-40E9-9734-0C3A81DE149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E26A1AE-06DB-4947-94B8-55E87FBC055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32</a:t>
            </a:r>
          </a:p>
        </p:txBody>
      </p:sp>
      <p:sp>
        <p:nvSpPr>
          <p:cNvPr id="6" name="">
            <a:extLst xmlns:a="http://schemas.openxmlformats.org/drawingml/2006/main">
              <a:ext uri="{FF2B5EF4-FFF2-40B4-BE49-F238E27FC236}">
                <a16:creationId xmlns:a16="http://schemas.microsoft.com/office/drawing/2014/main" id="{E1501FFB-2EE7-4A3D-B881-968A9124812F}"/>
              </a:ext>
            </a:extLst>
          </p:cNvPr>
          <p:cNvSpPr>
            <a:spLocks xmlns:a="http://schemas.openxmlformats.org/drawingml/2006/main" noGrp="1"/>
          </p:cNvSpPr>
          <p:nvPr/>
        </p:nvSpPr>
        <p:spPr>
          <a:xfrm xmlns:a="http://schemas.openxmlformats.org/drawingml/2006/main">
            <a:off x="457200" y="2114550"/>
            <a:ext cx="2705100" cy="1257300"/>
          </a:xfrm>
          <a:prstGeom xmlns:a="http://schemas.openxmlformats.org/drawingml/2006/main" prst="roundRect">
            <a:avLst>
              <a:gd name="adj" fmla="val 909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19932C-8714-456B-9D24-A4B0283783C7}"/>
              </a:ext>
            </a:extLst>
          </p:cNvPr>
          <p:cNvSpPr>
            <a:spLocks xmlns:a="http://schemas.openxmlformats.org/drawingml/2006/main" noGrp="1"/>
          </p:cNvSpPr>
          <p:nvPr/>
        </p:nvSpPr>
        <p:spPr>
          <a:xfrm xmlns:a="http://schemas.openxmlformats.org/drawingml/2006/main">
            <a:off x="6096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Ducont SMS</a:t>
            </a:r>
          </a:p>
        </p:txBody>
      </p:sp>
      <p:sp>
        <p:nvSpPr>
          <p:cNvPr id="8" name="">
            <a:extLst xmlns:a="http://schemas.openxmlformats.org/drawingml/2006/main">
              <a:ext uri="{FF2B5EF4-FFF2-40B4-BE49-F238E27FC236}">
                <a16:creationId xmlns:a16="http://schemas.microsoft.com/office/drawing/2014/main" id="{92B85479-8A3C-42DE-B88A-86C1C0D398B4}"/>
              </a:ext>
            </a:extLst>
          </p:cNvPr>
          <p:cNvSpPr>
            <a:spLocks xmlns:a="http://schemas.openxmlformats.org/drawingml/2006/main" noGrp="1"/>
          </p:cNvSpPr>
          <p:nvPr/>
        </p:nvSpPr>
        <p:spPr>
          <a:xfrm xmlns:a="http://schemas.openxmlformats.org/drawingml/2006/main">
            <a:off x="6096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9" name="">
            <a:extLst xmlns:a="http://schemas.openxmlformats.org/drawingml/2006/main">
              <a:ext uri="{FF2B5EF4-FFF2-40B4-BE49-F238E27FC236}">
                <a16:creationId xmlns:a16="http://schemas.microsoft.com/office/drawing/2014/main" id="{6D395C6D-823B-4187-8DA5-C3C7233ACE66}"/>
              </a:ext>
            </a:extLst>
          </p:cNvPr>
          <p:cNvSpPr>
            <a:spLocks xmlns:a="http://schemas.openxmlformats.org/drawingml/2006/main" noGrp="1"/>
          </p:cNvSpPr>
          <p:nvPr/>
        </p:nvSpPr>
        <p:spPr>
          <a:xfrm xmlns:a="http://schemas.openxmlformats.org/drawingml/2006/main">
            <a:off x="3314700" y="2114550"/>
            <a:ext cx="2705100" cy="1257300"/>
          </a:xfrm>
          <a:prstGeom xmlns:a="http://schemas.openxmlformats.org/drawingml/2006/main" prst="roundRect">
            <a:avLst>
              <a:gd name="adj" fmla="val 909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DDB4FF-E20C-49E2-AA76-038A8EB8410E}"/>
              </a:ext>
            </a:extLst>
          </p:cNvPr>
          <p:cNvSpPr>
            <a:spLocks xmlns:a="http://schemas.openxmlformats.org/drawingml/2006/main" noGrp="1"/>
          </p:cNvSpPr>
          <p:nvPr/>
        </p:nvSpPr>
        <p:spPr>
          <a:xfrm xmlns:a="http://schemas.openxmlformats.org/drawingml/2006/main">
            <a:off x="34671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HFLMS</a:t>
            </a:r>
          </a:p>
        </p:txBody>
      </p:sp>
      <p:sp>
        <p:nvSpPr>
          <p:cNvPr id="11" name="">
            <a:extLst xmlns:a="http://schemas.openxmlformats.org/drawingml/2006/main">
              <a:ext uri="{FF2B5EF4-FFF2-40B4-BE49-F238E27FC236}">
                <a16:creationId xmlns:a16="http://schemas.microsoft.com/office/drawing/2014/main" id="{E19E2A18-5251-457E-BE69-2073186F7F96}"/>
              </a:ext>
            </a:extLst>
          </p:cNvPr>
          <p:cNvSpPr>
            <a:spLocks xmlns:a="http://schemas.openxmlformats.org/drawingml/2006/main" noGrp="1"/>
          </p:cNvSpPr>
          <p:nvPr/>
        </p:nvSpPr>
        <p:spPr>
          <a:xfrm xmlns:a="http://schemas.openxmlformats.org/drawingml/2006/main">
            <a:off x="34671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12" name="">
            <a:extLst xmlns:a="http://schemas.openxmlformats.org/drawingml/2006/main">
              <a:ext uri="{FF2B5EF4-FFF2-40B4-BE49-F238E27FC236}">
                <a16:creationId xmlns:a16="http://schemas.microsoft.com/office/drawing/2014/main" id="{A8538FE3-F27D-4F11-8B11-5F41560F42EE}"/>
              </a:ext>
            </a:extLst>
          </p:cNvPr>
          <p:cNvSpPr>
            <a:spLocks xmlns:a="http://schemas.openxmlformats.org/drawingml/2006/main" noGrp="1"/>
          </p:cNvSpPr>
          <p:nvPr/>
        </p:nvSpPr>
        <p:spPr>
          <a:xfrm xmlns:a="http://schemas.openxmlformats.org/drawingml/2006/main">
            <a:off x="6172200" y="2114550"/>
            <a:ext cx="2705100" cy="1257300"/>
          </a:xfrm>
          <a:prstGeom xmlns:a="http://schemas.openxmlformats.org/drawingml/2006/main" prst="roundRect">
            <a:avLst>
              <a:gd name="adj" fmla="val 909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906779-9090-40F0-886C-0D68FBF1386E}"/>
              </a:ext>
            </a:extLst>
          </p:cNvPr>
          <p:cNvSpPr>
            <a:spLocks xmlns:a="http://schemas.openxmlformats.org/drawingml/2006/main" noGrp="1"/>
          </p:cNvSpPr>
          <p:nvPr/>
        </p:nvSpPr>
        <p:spPr>
          <a:xfrm xmlns:a="http://schemas.openxmlformats.org/drawingml/2006/main">
            <a:off x="63246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ICC Loyalty</a:t>
            </a:r>
          </a:p>
        </p:txBody>
      </p:sp>
      <p:sp>
        <p:nvSpPr>
          <p:cNvPr id="14" name="">
            <a:extLst xmlns:a="http://schemas.openxmlformats.org/drawingml/2006/main">
              <a:ext uri="{FF2B5EF4-FFF2-40B4-BE49-F238E27FC236}">
                <a16:creationId xmlns:a16="http://schemas.microsoft.com/office/drawing/2014/main" id="{B4874790-6F25-4658-91AA-070338ACA788}"/>
              </a:ext>
            </a:extLst>
          </p:cNvPr>
          <p:cNvSpPr>
            <a:spLocks xmlns:a="http://schemas.openxmlformats.org/drawingml/2006/main" noGrp="1"/>
          </p:cNvSpPr>
          <p:nvPr/>
        </p:nvSpPr>
        <p:spPr>
          <a:xfrm xmlns:a="http://schemas.openxmlformats.org/drawingml/2006/main">
            <a:off x="63246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Ebrahim</a:t>
            </a:r>
          </a:p>
        </p:txBody>
      </p:sp>
      <p:sp>
        <p:nvSpPr>
          <p:cNvPr id="15" name="">
            <a:extLst xmlns:a="http://schemas.openxmlformats.org/drawingml/2006/main">
              <a:ext uri="{FF2B5EF4-FFF2-40B4-BE49-F238E27FC236}">
                <a16:creationId xmlns:a16="http://schemas.microsoft.com/office/drawing/2014/main" id="{C38ACF3E-45E8-4EA2-B06C-7FCCF87E03D6}"/>
              </a:ext>
            </a:extLst>
          </p:cNvPr>
          <p:cNvSpPr>
            <a:spLocks xmlns:a="http://schemas.openxmlformats.org/drawingml/2006/main" noGrp="1"/>
          </p:cNvSpPr>
          <p:nvPr/>
        </p:nvSpPr>
        <p:spPr>
          <a:xfrm xmlns:a="http://schemas.openxmlformats.org/drawingml/2006/main">
            <a:off x="9029700" y="2114550"/>
            <a:ext cx="2705100" cy="1257300"/>
          </a:xfrm>
          <a:prstGeom xmlns:a="http://schemas.openxmlformats.org/drawingml/2006/main" prst="roundRect">
            <a:avLst>
              <a:gd name="adj" fmla="val 909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FB1AD87-A795-426C-AF5C-16AC6A93DC39}"/>
              </a:ext>
            </a:extLst>
          </p:cNvPr>
          <p:cNvSpPr>
            <a:spLocks xmlns:a="http://schemas.openxmlformats.org/drawingml/2006/main" noGrp="1"/>
          </p:cNvSpPr>
          <p:nvPr/>
        </p:nvSpPr>
        <p:spPr>
          <a:xfrm xmlns:a="http://schemas.openxmlformats.org/drawingml/2006/main">
            <a:off x="91821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7D16"/>
                </a:solidFill>
                <a:latin typeface="DejaVu Sans"/>
                <a:ea typeface="DejaVu Sans"/>
                <a:cs typeface="DejaVu Sans"/>
              </a:defRPr>
            </a:pPr>
            <a:r>
              <a:rPr sz="1350" b="1">
                <a:solidFill>
                  <a:srgbClr val="CC7D16"/>
                </a:solidFill>
                <a:latin typeface="DejaVu Sans"/>
                <a:ea typeface="DejaVu Sans"/>
                <a:cs typeface="DejaVu Sans"/>
              </a:rPr>
              <a:t>▦  Direct Equity / Matrix</a:t>
            </a:r>
          </a:p>
        </p:txBody>
      </p:sp>
      <p:sp>
        <p:nvSpPr>
          <p:cNvPr id="17" name="">
            <a:extLst xmlns:a="http://schemas.openxmlformats.org/drawingml/2006/main">
              <a:ext uri="{FF2B5EF4-FFF2-40B4-BE49-F238E27FC236}">
                <a16:creationId xmlns:a16="http://schemas.microsoft.com/office/drawing/2014/main" id="{6DF5D0BC-FC41-472F-973A-056FC84A7DBF}"/>
              </a:ext>
            </a:extLst>
          </p:cNvPr>
          <p:cNvSpPr>
            <a:spLocks xmlns:a="http://schemas.openxmlformats.org/drawingml/2006/main" noGrp="1"/>
          </p:cNvSpPr>
          <p:nvPr/>
        </p:nvSpPr>
        <p:spPr>
          <a:xfrm xmlns:a="http://schemas.openxmlformats.org/drawingml/2006/main">
            <a:off x="91821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18" name="">
            <a:extLst xmlns:a="http://schemas.openxmlformats.org/drawingml/2006/main">
              <a:ext uri="{FF2B5EF4-FFF2-40B4-BE49-F238E27FC236}">
                <a16:creationId xmlns:a16="http://schemas.microsoft.com/office/drawing/2014/main" id="{9C34EF52-99BA-46BC-B98B-CEDF92AD64AF}"/>
              </a:ext>
            </a:extLst>
          </p:cNvPr>
          <p:cNvSpPr>
            <a:spLocks xmlns:a="http://schemas.openxmlformats.org/drawingml/2006/main" noGrp="1"/>
          </p:cNvSpPr>
          <p:nvPr/>
        </p:nvSpPr>
        <p:spPr>
          <a:xfrm xmlns:a="http://schemas.openxmlformats.org/drawingml/2006/main">
            <a:off x="457200" y="3514725"/>
            <a:ext cx="2705100" cy="1257300"/>
          </a:xfrm>
          <a:prstGeom xmlns:a="http://schemas.openxmlformats.org/drawingml/2006/main" prst="roundRect">
            <a:avLst>
              <a:gd name="adj" fmla="val 9091"/>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13DF2B-077D-43E4-B191-A430076BFD32}"/>
              </a:ext>
            </a:extLst>
          </p:cNvPr>
          <p:cNvSpPr>
            <a:spLocks xmlns:a="http://schemas.openxmlformats.org/drawingml/2006/main" noGrp="1"/>
          </p:cNvSpPr>
          <p:nvPr/>
        </p:nvSpPr>
        <p:spPr>
          <a:xfrm xmlns:a="http://schemas.openxmlformats.org/drawingml/2006/main">
            <a:off x="6096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35373"/>
                </a:solidFill>
                <a:latin typeface="DejaVu Sans"/>
                <a:ea typeface="DejaVu Sans"/>
                <a:cs typeface="DejaVu Sans"/>
              </a:defRPr>
            </a:pPr>
            <a:r>
              <a:rPr sz="1350" b="1">
                <a:solidFill>
                  <a:srgbClr val="D35373"/>
                </a:solidFill>
                <a:latin typeface="DejaVu Sans"/>
                <a:ea typeface="DejaVu Sans"/>
                <a:cs typeface="DejaVu Sans"/>
              </a:rPr>
              <a:t>▣  KAL System</a:t>
            </a:r>
          </a:p>
        </p:txBody>
      </p:sp>
      <p:sp>
        <p:nvSpPr>
          <p:cNvPr id="20" name="">
            <a:extLst xmlns:a="http://schemas.openxmlformats.org/drawingml/2006/main">
              <a:ext uri="{FF2B5EF4-FFF2-40B4-BE49-F238E27FC236}">
                <a16:creationId xmlns:a16="http://schemas.microsoft.com/office/drawing/2014/main" id="{609A6797-163B-4E22-A112-8E544900F5EF}"/>
              </a:ext>
            </a:extLst>
          </p:cNvPr>
          <p:cNvSpPr>
            <a:spLocks xmlns:a="http://schemas.openxmlformats.org/drawingml/2006/main" noGrp="1"/>
          </p:cNvSpPr>
          <p:nvPr/>
        </p:nvSpPr>
        <p:spPr>
          <a:xfrm xmlns:a="http://schemas.openxmlformats.org/drawingml/2006/main">
            <a:off x="6096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21" name="">
            <a:extLst xmlns:a="http://schemas.openxmlformats.org/drawingml/2006/main">
              <a:ext uri="{FF2B5EF4-FFF2-40B4-BE49-F238E27FC236}">
                <a16:creationId xmlns:a16="http://schemas.microsoft.com/office/drawing/2014/main" id="{69C9F27B-5A8E-4522-81EE-147D58C9DDBA}"/>
              </a:ext>
            </a:extLst>
          </p:cNvPr>
          <p:cNvSpPr>
            <a:spLocks xmlns:a="http://schemas.openxmlformats.org/drawingml/2006/main" noGrp="1"/>
          </p:cNvSpPr>
          <p:nvPr/>
        </p:nvSpPr>
        <p:spPr>
          <a:xfrm xmlns:a="http://schemas.openxmlformats.org/drawingml/2006/main">
            <a:off x="3314700" y="3514725"/>
            <a:ext cx="2705100" cy="1257300"/>
          </a:xfrm>
          <a:prstGeom xmlns:a="http://schemas.openxmlformats.org/drawingml/2006/main" prst="roundRect">
            <a:avLst>
              <a:gd name="adj" fmla="val 9091"/>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93081ED-3AFA-4062-A914-C5E7B96E24C2}"/>
              </a:ext>
            </a:extLst>
          </p:cNvPr>
          <p:cNvSpPr>
            <a:spLocks xmlns:a="http://schemas.openxmlformats.org/drawingml/2006/main" noGrp="1"/>
          </p:cNvSpPr>
          <p:nvPr/>
        </p:nvSpPr>
        <p:spPr>
          <a:xfrm xmlns:a="http://schemas.openxmlformats.org/drawingml/2006/main">
            <a:off x="34671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DIB Website</a:t>
            </a:r>
          </a:p>
        </p:txBody>
      </p:sp>
      <p:sp>
        <p:nvSpPr>
          <p:cNvPr id="23" name="">
            <a:extLst xmlns:a="http://schemas.openxmlformats.org/drawingml/2006/main">
              <a:ext uri="{FF2B5EF4-FFF2-40B4-BE49-F238E27FC236}">
                <a16:creationId xmlns:a16="http://schemas.microsoft.com/office/drawing/2014/main" id="{E34D5F41-8A67-4B87-92FE-8C4C98893685}"/>
              </a:ext>
            </a:extLst>
          </p:cNvPr>
          <p:cNvSpPr>
            <a:spLocks xmlns:a="http://schemas.openxmlformats.org/drawingml/2006/main" noGrp="1"/>
          </p:cNvSpPr>
          <p:nvPr/>
        </p:nvSpPr>
        <p:spPr>
          <a:xfrm xmlns:a="http://schemas.openxmlformats.org/drawingml/2006/main">
            <a:off x="34671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24" name="">
            <a:extLst xmlns:a="http://schemas.openxmlformats.org/drawingml/2006/main">
              <a:ext uri="{FF2B5EF4-FFF2-40B4-BE49-F238E27FC236}">
                <a16:creationId xmlns:a16="http://schemas.microsoft.com/office/drawing/2014/main" id="{154EB659-4975-458D-B95F-16ED246EC516}"/>
              </a:ext>
            </a:extLst>
          </p:cNvPr>
          <p:cNvSpPr>
            <a:spLocks xmlns:a="http://schemas.openxmlformats.org/drawingml/2006/main" noGrp="1"/>
          </p:cNvSpPr>
          <p:nvPr/>
        </p:nvSpPr>
        <p:spPr>
          <a:xfrm xmlns:a="http://schemas.openxmlformats.org/drawingml/2006/main">
            <a:off x="6172200" y="3514725"/>
            <a:ext cx="2705100" cy="1257300"/>
          </a:xfrm>
          <a:prstGeom xmlns:a="http://schemas.openxmlformats.org/drawingml/2006/main" prst="roundRect">
            <a:avLst>
              <a:gd name="adj" fmla="val 9091"/>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24C1EFC-08E7-4315-B2D5-0B4233932CDB}"/>
              </a:ext>
            </a:extLst>
          </p:cNvPr>
          <p:cNvSpPr>
            <a:spLocks xmlns:a="http://schemas.openxmlformats.org/drawingml/2006/main" noGrp="1"/>
          </p:cNvSpPr>
          <p:nvPr/>
        </p:nvSpPr>
        <p:spPr>
          <a:xfrm xmlns:a="http://schemas.openxmlformats.org/drawingml/2006/main">
            <a:off x="63246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Mobile App / Omni</a:t>
            </a:r>
          </a:p>
        </p:txBody>
      </p:sp>
      <p:sp>
        <p:nvSpPr>
          <p:cNvPr id="26" name="">
            <a:extLst xmlns:a="http://schemas.openxmlformats.org/drawingml/2006/main">
              <a:ext uri="{FF2B5EF4-FFF2-40B4-BE49-F238E27FC236}">
                <a16:creationId xmlns:a16="http://schemas.microsoft.com/office/drawing/2014/main" id="{CA532604-5218-4B33-8077-11C09DBC381A}"/>
              </a:ext>
            </a:extLst>
          </p:cNvPr>
          <p:cNvSpPr>
            <a:spLocks xmlns:a="http://schemas.openxmlformats.org/drawingml/2006/main" noGrp="1"/>
          </p:cNvSpPr>
          <p:nvPr/>
        </p:nvSpPr>
        <p:spPr>
          <a:xfrm xmlns:a="http://schemas.openxmlformats.org/drawingml/2006/main">
            <a:off x="63246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27" name="">
            <a:extLst xmlns:a="http://schemas.openxmlformats.org/drawingml/2006/main">
              <a:ext uri="{FF2B5EF4-FFF2-40B4-BE49-F238E27FC236}">
                <a16:creationId xmlns:a16="http://schemas.microsoft.com/office/drawing/2014/main" id="{D4AA9402-129F-482D-AD19-612A9F9B8A14}"/>
              </a:ext>
            </a:extLst>
          </p:cNvPr>
          <p:cNvSpPr>
            <a:spLocks xmlns:a="http://schemas.openxmlformats.org/drawingml/2006/main" noGrp="1"/>
          </p:cNvSpPr>
          <p:nvPr/>
        </p:nvSpPr>
        <p:spPr>
          <a:xfrm xmlns:a="http://schemas.openxmlformats.org/drawingml/2006/main">
            <a:off x="9029700" y="3514725"/>
            <a:ext cx="2705100" cy="1257300"/>
          </a:xfrm>
          <a:prstGeom xmlns:a="http://schemas.openxmlformats.org/drawingml/2006/main" prst="roundRect">
            <a:avLst>
              <a:gd name="adj" fmla="val 9091"/>
            </a:avLst>
          </a:prstGeom>
          <a:solidFill xmlns:a="http://schemas.openxmlformats.org/drawingml/2006/main">
            <a:srgbClr val="F0EAF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AE41951-702D-46DE-8BB2-69252F3D1BA9}"/>
              </a:ext>
            </a:extLst>
          </p:cNvPr>
          <p:cNvSpPr>
            <a:spLocks xmlns:a="http://schemas.openxmlformats.org/drawingml/2006/main" noGrp="1"/>
          </p:cNvSpPr>
          <p:nvPr/>
        </p:nvSpPr>
        <p:spPr>
          <a:xfrm xmlns:a="http://schemas.openxmlformats.org/drawingml/2006/main">
            <a:off x="91821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Internet Banking</a:t>
            </a:r>
          </a:p>
        </p:txBody>
      </p:sp>
      <p:sp>
        <p:nvSpPr>
          <p:cNvPr id="29" name="">
            <a:extLst xmlns:a="http://schemas.openxmlformats.org/drawingml/2006/main">
              <a:ext uri="{FF2B5EF4-FFF2-40B4-BE49-F238E27FC236}">
                <a16:creationId xmlns:a16="http://schemas.microsoft.com/office/drawing/2014/main" id="{32E7B3BF-B830-4C99-98C7-422B25B20DD3}"/>
              </a:ext>
            </a:extLst>
          </p:cNvPr>
          <p:cNvSpPr>
            <a:spLocks xmlns:a="http://schemas.openxmlformats.org/drawingml/2006/main" noGrp="1"/>
          </p:cNvSpPr>
          <p:nvPr/>
        </p:nvSpPr>
        <p:spPr>
          <a:xfrm xmlns:a="http://schemas.openxmlformats.org/drawingml/2006/main">
            <a:off x="91821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30" name="">
            <a:extLst xmlns:a="http://schemas.openxmlformats.org/drawingml/2006/main">
              <a:ext uri="{FF2B5EF4-FFF2-40B4-BE49-F238E27FC236}">
                <a16:creationId xmlns:a16="http://schemas.microsoft.com/office/drawing/2014/main" id="{D363C05D-6AF8-4083-9FF0-0FA27E8FACE7}"/>
              </a:ext>
            </a:extLst>
          </p:cNvPr>
          <p:cNvSpPr>
            <a:spLocks xmlns:a="http://schemas.openxmlformats.org/drawingml/2006/main" noGrp="1"/>
          </p:cNvSpPr>
          <p:nvPr/>
        </p:nvSpPr>
        <p:spPr>
          <a:xfrm xmlns:a="http://schemas.openxmlformats.org/drawingml/2006/main">
            <a:off x="457200" y="5010150"/>
            <a:ext cx="554355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5F4602E-2009-45A4-8DF0-2B813216EEB2}"/>
              </a:ext>
            </a:extLst>
          </p:cNvPr>
          <p:cNvSpPr>
            <a:spLocks xmlns:a="http://schemas.openxmlformats.org/drawingml/2006/main" noGrp="1"/>
          </p:cNvSpPr>
          <p:nvPr/>
        </p:nvSpPr>
        <p:spPr>
          <a:xfrm xmlns:a="http://schemas.openxmlformats.org/drawingml/2006/main">
            <a:off x="609600" y="51244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Operating-system modernization</a:t>
            </a:r>
          </a:p>
        </p:txBody>
      </p:sp>
      <p:sp>
        <p:nvSpPr>
          <p:cNvPr id="32" name="">
            <a:extLst xmlns:a="http://schemas.openxmlformats.org/drawingml/2006/main">
              <a:ext uri="{FF2B5EF4-FFF2-40B4-BE49-F238E27FC236}">
                <a16:creationId xmlns:a16="http://schemas.microsoft.com/office/drawing/2014/main" id="{85BB5768-958E-4229-A0AB-C3D0165E86E6}"/>
              </a:ext>
            </a:extLst>
          </p:cNvPr>
          <p:cNvSpPr>
            <a:spLocks xmlns:a="http://schemas.openxmlformats.org/drawingml/2006/main" noGrp="1"/>
          </p:cNvSpPr>
          <p:nvPr/>
        </p:nvSpPr>
        <p:spPr>
          <a:xfrm xmlns:a="http://schemas.openxmlformats.org/drawingml/2006/main">
            <a:off x="609600" y="56197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 SQL upgrades to 2022 across the stated scope</a:t>
            </a:r>
          </a:p>
        </p:txBody>
      </p:sp>
      <p:sp>
        <p:nvSpPr>
          <p:cNvPr id="33" name="">
            <a:extLst xmlns:a="http://schemas.openxmlformats.org/drawingml/2006/main">
              <a:ext uri="{FF2B5EF4-FFF2-40B4-BE49-F238E27FC236}">
                <a16:creationId xmlns:a16="http://schemas.microsoft.com/office/drawing/2014/main" id="{B453326F-58E3-487A-B251-CD9D2C9ECEAC}"/>
              </a:ext>
            </a:extLst>
          </p:cNvPr>
          <p:cNvSpPr>
            <a:spLocks xmlns:a="http://schemas.openxmlformats.org/drawingml/2006/main" noGrp="1"/>
          </p:cNvSpPr>
          <p:nvPr/>
        </p:nvSpPr>
        <p:spPr>
          <a:xfrm xmlns:a="http://schemas.openxmlformats.org/drawingml/2006/main">
            <a:off x="6191250" y="5010150"/>
            <a:ext cx="554355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5107562-4040-46FF-9475-789F4084F3DC}"/>
              </a:ext>
            </a:extLst>
          </p:cNvPr>
          <p:cNvSpPr>
            <a:spLocks xmlns:a="http://schemas.openxmlformats.org/drawingml/2006/main" noGrp="1"/>
          </p:cNvSpPr>
          <p:nvPr/>
        </p:nvSpPr>
        <p:spPr>
          <a:xfrm xmlns:a="http://schemas.openxmlformats.org/drawingml/2006/main">
            <a:off x="6343650" y="51244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Recovery architecture</a:t>
            </a:r>
          </a:p>
        </p:txBody>
      </p:sp>
      <p:sp>
        <p:nvSpPr>
          <p:cNvPr id="35" name="">
            <a:extLst xmlns:a="http://schemas.openxmlformats.org/drawingml/2006/main">
              <a:ext uri="{FF2B5EF4-FFF2-40B4-BE49-F238E27FC236}">
                <a16:creationId xmlns:a16="http://schemas.microsoft.com/office/drawing/2014/main" id="{8337F929-1F26-4FC9-B765-E2A6A3B13FFF}"/>
              </a:ext>
            </a:extLst>
          </p:cNvPr>
          <p:cNvSpPr>
            <a:spLocks xmlns:a="http://schemas.openxmlformats.org/drawingml/2006/main" noGrp="1"/>
          </p:cNvSpPr>
          <p:nvPr/>
        </p:nvSpPr>
        <p:spPr>
          <a:xfrm xmlns:a="http://schemas.openxmlformats.org/drawingml/2006/main">
            <a:off x="6343650" y="56197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HA / DR and Always On designs differ by platform</a:t>
            </a:r>
          </a:p>
        </p:txBody>
      </p:sp>
    </p:spTree>
    <p:extLst>
      <p:ext uri="{BB962C8B-B14F-4D97-AF65-F5344CB8AC3E}">
        <p14:creationId xmlns:p14="http://schemas.microsoft.com/office/powerpoint/2010/main" val="113251842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79A4454-D61C-4426-87DE-8CF732240986}"/>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643E80D0-9834-42C6-8ACD-65C19CA71D7A}"/>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roadmap: four platforms target Q4 2026</a:t>
            </a:r>
          </a:p>
        </p:txBody>
      </p:sp>
      <p:sp>
        <p:nvSpPr>
          <p:cNvPr id="3" name="">
            <a:extLst xmlns:a="http://schemas.openxmlformats.org/drawingml/2006/main">
              <a:ext uri="{FF2B5EF4-FFF2-40B4-BE49-F238E27FC236}">
                <a16:creationId xmlns:a16="http://schemas.microsoft.com/office/drawing/2014/main" id="{9A5F5B7F-CC70-4A58-A200-A662ED1FCE8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IB and Omni have a proposed shift from Q1 to Q2 2027 because of team capacity.</a:t>
            </a:r>
          </a:p>
        </p:txBody>
      </p:sp>
      <p:sp>
        <p:nvSpPr>
          <p:cNvPr id="4" name="">
            <a:extLst xmlns:a="http://schemas.openxmlformats.org/drawingml/2006/main">
              <a:ext uri="{FF2B5EF4-FFF2-40B4-BE49-F238E27FC236}">
                <a16:creationId xmlns:a16="http://schemas.microsoft.com/office/drawing/2014/main" id="{F58C294A-346E-4F81-999D-FE4D978328BD}"/>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7BC86FE-C6DC-4C3E-9AD2-A27B40D4077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33</a:t>
            </a:r>
          </a:p>
        </p:txBody>
      </p:sp>
      <p:sp>
        <p:nvSpPr>
          <p:cNvPr id="6" name="">
            <a:extLst xmlns:a="http://schemas.openxmlformats.org/drawingml/2006/main">
              <a:ext uri="{FF2B5EF4-FFF2-40B4-BE49-F238E27FC236}">
                <a16:creationId xmlns:a16="http://schemas.microsoft.com/office/drawing/2014/main" id="{52DBBD0C-8772-4AF5-8243-D83463BCF3DF}"/>
              </a:ext>
            </a:extLst>
          </p:cNvPr>
          <p:cNvSpPr>
            <a:spLocks xmlns:a="http://schemas.openxmlformats.org/drawingml/2006/main" noGrp="1"/>
          </p:cNvSpPr>
          <p:nvPr/>
        </p:nvSpPr>
        <p:spPr>
          <a:xfrm xmlns:a="http://schemas.openxmlformats.org/drawingml/2006/main">
            <a:off x="457200" y="2190750"/>
            <a:ext cx="3657600" cy="2952750"/>
          </a:xfrm>
          <a:prstGeom xmlns:a="http://schemas.openxmlformats.org/drawingml/2006/main" prst="roundRect">
            <a:avLst>
              <a:gd name="adj" fmla="val 387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2744A3-46B8-4F18-9CA9-4A9C985F4124}"/>
              </a:ext>
            </a:extLst>
          </p:cNvPr>
          <p:cNvSpPr>
            <a:spLocks xmlns:a="http://schemas.openxmlformats.org/drawingml/2006/main" noGrp="1"/>
          </p:cNvSpPr>
          <p:nvPr/>
        </p:nvSpPr>
        <p:spPr>
          <a:xfrm xmlns:a="http://schemas.openxmlformats.org/drawingml/2006/main">
            <a:off x="64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68"/>
                </a:solidFill>
                <a:latin typeface="DejaVu Sans"/>
                <a:ea typeface="DejaVu Sans"/>
                <a:cs typeface="DejaVu Sans"/>
              </a:defRPr>
            </a:pPr>
            <a:r>
              <a:rPr sz="2625" b="1">
                <a:solidFill>
                  <a:srgbClr val="087F68"/>
                </a:solidFill>
                <a:latin typeface="DejaVu Sans"/>
                <a:ea typeface="DejaVu Sans"/>
                <a:cs typeface="DejaVu Sans"/>
              </a:rPr>
              <a:t>Q4 2026</a:t>
            </a:r>
          </a:p>
        </p:txBody>
      </p:sp>
      <p:sp>
        <p:nvSpPr>
          <p:cNvPr id="8" name="">
            <a:extLst xmlns:a="http://schemas.openxmlformats.org/drawingml/2006/main">
              <a:ext uri="{FF2B5EF4-FFF2-40B4-BE49-F238E27FC236}">
                <a16:creationId xmlns:a16="http://schemas.microsoft.com/office/drawing/2014/main" id="{520B5106-157D-4ED7-84B0-C5D087A4CA01}"/>
              </a:ext>
            </a:extLst>
          </p:cNvPr>
          <p:cNvSpPr>
            <a:spLocks xmlns:a="http://schemas.openxmlformats.org/drawingml/2006/main" noGrp="1"/>
          </p:cNvSpPr>
          <p:nvPr/>
        </p:nvSpPr>
        <p:spPr>
          <a:xfrm xmlns:a="http://schemas.openxmlformats.org/drawingml/2006/main">
            <a:off x="64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Scope-table targets</a:t>
            </a:r>
          </a:p>
        </p:txBody>
      </p:sp>
      <p:sp>
        <p:nvSpPr>
          <p:cNvPr id="9" name="">
            <a:extLst xmlns:a="http://schemas.openxmlformats.org/drawingml/2006/main">
              <a:ext uri="{FF2B5EF4-FFF2-40B4-BE49-F238E27FC236}">
                <a16:creationId xmlns:a16="http://schemas.microsoft.com/office/drawing/2014/main" id="{1B222053-212B-4CEE-8588-6C8A133B3E68}"/>
              </a:ext>
            </a:extLst>
          </p:cNvPr>
          <p:cNvSpPr>
            <a:spLocks xmlns:a="http://schemas.openxmlformats.org/drawingml/2006/main" noGrp="1"/>
          </p:cNvSpPr>
          <p:nvPr/>
        </p:nvSpPr>
        <p:spPr>
          <a:xfrm xmlns:a="http://schemas.openxmlformats.org/drawingml/2006/main">
            <a:off x="64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Ducont SMS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HFLMS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ICC Loyalty</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Direct Equity / Matrix</a:t>
            </a:r>
          </a:p>
        </p:txBody>
      </p:sp>
      <p:sp>
        <p:nvSpPr>
          <p:cNvPr id="10" name="">
            <a:extLst xmlns:a="http://schemas.openxmlformats.org/drawingml/2006/main">
              <a:ext uri="{FF2B5EF4-FFF2-40B4-BE49-F238E27FC236}">
                <a16:creationId xmlns:a16="http://schemas.microsoft.com/office/drawing/2014/main" id="{C57A6082-CE06-4546-A52A-5BA9CD73DD4C}"/>
              </a:ext>
            </a:extLst>
          </p:cNvPr>
          <p:cNvSpPr>
            <a:spLocks xmlns:a="http://schemas.openxmlformats.org/drawingml/2006/main" noGrp="1"/>
          </p:cNvSpPr>
          <p:nvPr/>
        </p:nvSpPr>
        <p:spPr>
          <a:xfrm xmlns:a="http://schemas.openxmlformats.org/drawingml/2006/main">
            <a:off x="4105275" y="3324225"/>
            <a:ext cx="171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7B89"/>
                </a:solidFill>
                <a:latin typeface="DejaVu Sans"/>
                <a:ea typeface="DejaVu Sans"/>
                <a:cs typeface="DejaVu Sans"/>
              </a:defRPr>
            </a:pPr>
            <a:r>
              <a:rPr sz="2400" b="1">
                <a:solidFill>
                  <a:srgbClr val="647B89"/>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AB7E5284-83BB-413E-8F22-828E07519746}"/>
              </a:ext>
            </a:extLst>
          </p:cNvPr>
          <p:cNvSpPr>
            <a:spLocks xmlns:a="http://schemas.openxmlformats.org/drawingml/2006/main" noGrp="1"/>
          </p:cNvSpPr>
          <p:nvPr/>
        </p:nvSpPr>
        <p:spPr>
          <a:xfrm xmlns:a="http://schemas.openxmlformats.org/drawingml/2006/main">
            <a:off x="4267200" y="2190750"/>
            <a:ext cx="3657600" cy="2952750"/>
          </a:xfrm>
          <a:prstGeom xmlns:a="http://schemas.openxmlformats.org/drawingml/2006/main" prst="roundRect">
            <a:avLst>
              <a:gd name="adj" fmla="val 3871"/>
            </a:avLst>
          </a:prstGeom>
          <a:solidFill xmlns:a="http://schemas.openxmlformats.org/drawingml/2006/main">
            <a:srgbClr val="E8F3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BA2B38-9BEF-4ABC-BD24-4A0D5AB40E9A}"/>
              </a:ext>
            </a:extLst>
          </p:cNvPr>
          <p:cNvSpPr>
            <a:spLocks xmlns:a="http://schemas.openxmlformats.org/drawingml/2006/main" noGrp="1"/>
          </p:cNvSpPr>
          <p:nvPr/>
        </p:nvSpPr>
        <p:spPr>
          <a:xfrm xmlns:a="http://schemas.openxmlformats.org/drawingml/2006/main">
            <a:off x="445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88C2"/>
                </a:solidFill>
                <a:latin typeface="DejaVu Sans"/>
                <a:ea typeface="DejaVu Sans"/>
                <a:cs typeface="DejaVu Sans"/>
              </a:defRPr>
            </a:pPr>
            <a:r>
              <a:rPr sz="2625" b="1">
                <a:solidFill>
                  <a:srgbClr val="1688C2"/>
                </a:solidFill>
                <a:latin typeface="DejaVu Sans"/>
                <a:ea typeface="DejaVu Sans"/>
                <a:cs typeface="DejaVu Sans"/>
              </a:rPr>
              <a:t>Q1 2027</a:t>
            </a:r>
          </a:p>
        </p:txBody>
      </p:sp>
      <p:sp>
        <p:nvSpPr>
          <p:cNvPr id="13" name="">
            <a:extLst xmlns:a="http://schemas.openxmlformats.org/drawingml/2006/main">
              <a:ext uri="{FF2B5EF4-FFF2-40B4-BE49-F238E27FC236}">
                <a16:creationId xmlns:a16="http://schemas.microsoft.com/office/drawing/2014/main" id="{A309B3F2-20E6-4F6B-B5A7-EC766E218092}"/>
              </a:ext>
            </a:extLst>
          </p:cNvPr>
          <p:cNvSpPr>
            <a:spLocks xmlns:a="http://schemas.openxmlformats.org/drawingml/2006/main" noGrp="1"/>
          </p:cNvSpPr>
          <p:nvPr/>
        </p:nvSpPr>
        <p:spPr>
          <a:xfrm xmlns:a="http://schemas.openxmlformats.org/drawingml/2006/main">
            <a:off x="445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Scope-table targets</a:t>
            </a:r>
          </a:p>
        </p:txBody>
      </p:sp>
      <p:sp>
        <p:nvSpPr>
          <p:cNvPr id="14" name="">
            <a:extLst xmlns:a="http://schemas.openxmlformats.org/drawingml/2006/main">
              <a:ext uri="{FF2B5EF4-FFF2-40B4-BE49-F238E27FC236}">
                <a16:creationId xmlns:a16="http://schemas.microsoft.com/office/drawing/2014/main" id="{3E636FB8-9A8A-40EF-824B-627E61C78A41}"/>
              </a:ext>
            </a:extLst>
          </p:cNvPr>
          <p:cNvSpPr>
            <a:spLocks xmlns:a="http://schemas.openxmlformats.org/drawingml/2006/main" noGrp="1"/>
          </p:cNvSpPr>
          <p:nvPr/>
        </p:nvSpPr>
        <p:spPr>
          <a:xfrm xmlns:a="http://schemas.openxmlformats.org/drawingml/2006/main">
            <a:off x="445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KAL System</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DIB Website</a:t>
            </a:r>
          </a:p>
          <a:p xmlns:a="http://schemas.openxmlformats.org/drawingml/2006/main">
            <a:r>
              <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Milestones require a confirmed delivery baseline</a:t>
            </a:r>
          </a:p>
        </p:txBody>
      </p:sp>
      <p:sp>
        <p:nvSpPr>
          <p:cNvPr id="15" name="">
            <a:extLst xmlns:a="http://schemas.openxmlformats.org/drawingml/2006/main">
              <a:ext uri="{FF2B5EF4-FFF2-40B4-BE49-F238E27FC236}">
                <a16:creationId xmlns:a16="http://schemas.microsoft.com/office/drawing/2014/main" id="{A07786A2-593C-40C7-8935-C7C6ED8C7DDF}"/>
              </a:ext>
            </a:extLst>
          </p:cNvPr>
          <p:cNvSpPr>
            <a:spLocks xmlns:a="http://schemas.openxmlformats.org/drawingml/2006/main" noGrp="1"/>
          </p:cNvSpPr>
          <p:nvPr/>
        </p:nvSpPr>
        <p:spPr>
          <a:xfrm xmlns:a="http://schemas.openxmlformats.org/drawingml/2006/main">
            <a:off x="7915275" y="3324225"/>
            <a:ext cx="171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7B89"/>
                </a:solidFill>
                <a:latin typeface="DejaVu Sans"/>
                <a:ea typeface="DejaVu Sans"/>
                <a:cs typeface="DejaVu Sans"/>
              </a:defRPr>
            </a:pPr>
            <a:r>
              <a:rPr sz="2400" b="1">
                <a:solidFill>
                  <a:srgbClr val="647B89"/>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13B4CDF7-60D9-4A70-A78D-140D0F3701DD}"/>
              </a:ext>
            </a:extLst>
          </p:cNvPr>
          <p:cNvSpPr>
            <a:spLocks xmlns:a="http://schemas.openxmlformats.org/drawingml/2006/main" noGrp="1"/>
          </p:cNvSpPr>
          <p:nvPr/>
        </p:nvSpPr>
        <p:spPr>
          <a:xfrm xmlns:a="http://schemas.openxmlformats.org/drawingml/2006/main">
            <a:off x="8077200" y="2190750"/>
            <a:ext cx="3657600" cy="2952750"/>
          </a:xfrm>
          <a:prstGeom xmlns:a="http://schemas.openxmlformats.org/drawingml/2006/main" prst="roundRect">
            <a:avLst>
              <a:gd name="adj" fmla="val 3871"/>
            </a:avLst>
          </a:prstGeom>
          <a:solidFill xmlns:a="http://schemas.openxmlformats.org/drawingml/2006/main">
            <a:srgbClr val="FFF4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92C51E-003A-4B39-9B46-2C9A3A12AB57}"/>
              </a:ext>
            </a:extLst>
          </p:cNvPr>
          <p:cNvSpPr>
            <a:spLocks xmlns:a="http://schemas.openxmlformats.org/drawingml/2006/main" noGrp="1"/>
          </p:cNvSpPr>
          <p:nvPr/>
        </p:nvSpPr>
        <p:spPr>
          <a:xfrm xmlns:a="http://schemas.openxmlformats.org/drawingml/2006/main">
            <a:off x="826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CC7D16"/>
                </a:solidFill>
                <a:latin typeface="DejaVu Sans"/>
                <a:ea typeface="DejaVu Sans"/>
                <a:cs typeface="DejaVu Sans"/>
              </a:defRPr>
            </a:pPr>
            <a:r>
              <a:rPr sz="2625" b="1">
                <a:solidFill>
                  <a:srgbClr val="CC7D16"/>
                </a:solidFill>
                <a:latin typeface="DejaVu Sans"/>
                <a:ea typeface="DejaVu Sans"/>
                <a:cs typeface="DejaVu Sans"/>
              </a:rPr>
              <a:t>Q2 2027</a:t>
            </a:r>
          </a:p>
        </p:txBody>
      </p:sp>
      <p:sp>
        <p:nvSpPr>
          <p:cNvPr id="18" name="">
            <a:extLst xmlns:a="http://schemas.openxmlformats.org/drawingml/2006/main">
              <a:ext uri="{FF2B5EF4-FFF2-40B4-BE49-F238E27FC236}">
                <a16:creationId xmlns:a16="http://schemas.microsoft.com/office/drawing/2014/main" id="{1F6FEE57-77E9-4637-93EC-572104055F32}"/>
              </a:ext>
            </a:extLst>
          </p:cNvPr>
          <p:cNvSpPr>
            <a:spLocks xmlns:a="http://schemas.openxmlformats.org/drawingml/2006/main" noGrp="1"/>
          </p:cNvSpPr>
          <p:nvPr/>
        </p:nvSpPr>
        <p:spPr>
          <a:xfrm xmlns:a="http://schemas.openxmlformats.org/drawingml/2006/main">
            <a:off x="826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Proposed timing</a:t>
            </a:r>
          </a:p>
        </p:txBody>
      </p:sp>
      <p:sp>
        <p:nvSpPr>
          <p:cNvPr id="19" name="">
            <a:extLst xmlns:a="http://schemas.openxmlformats.org/drawingml/2006/main">
              <a:ext uri="{FF2B5EF4-FFF2-40B4-BE49-F238E27FC236}">
                <a16:creationId xmlns:a16="http://schemas.microsoft.com/office/drawing/2014/main" id="{448BF8BA-22E0-4B60-8CE3-95E6CAB49B9F}"/>
              </a:ext>
            </a:extLst>
          </p:cNvPr>
          <p:cNvSpPr>
            <a:spLocks xmlns:a="http://schemas.openxmlformats.org/drawingml/2006/main" noGrp="1"/>
          </p:cNvSpPr>
          <p:nvPr/>
        </p:nvSpPr>
        <p:spPr>
          <a:xfrm xmlns:a="http://schemas.openxmlformats.org/drawingml/2006/main">
            <a:off x="826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Mobile App / Omni</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Internet Banking</a:t>
            </a:r>
          </a:p>
          <a:p xmlns:a="http://schemas.openxmlformats.org/drawingml/2006/main">
            <a:r>
              <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Original scope table: Q1 2027</a:t>
            </a:r>
          </a:p>
        </p:txBody>
      </p:sp>
      <p:sp>
        <p:nvSpPr>
          <p:cNvPr id="20" name="">
            <a:extLst xmlns:a="http://schemas.openxmlformats.org/drawingml/2006/main">
              <a:ext uri="{FF2B5EF4-FFF2-40B4-BE49-F238E27FC236}">
                <a16:creationId xmlns:a16="http://schemas.microsoft.com/office/drawing/2014/main" id="{2C3DA6C0-4CE7-4EFC-ABD3-B2A64CBE807C}"/>
              </a:ext>
            </a:extLst>
          </p:cNvPr>
          <p:cNvSpPr>
            <a:spLocks xmlns:a="http://schemas.openxmlformats.org/drawingml/2006/main" noGrp="1"/>
          </p:cNvSpPr>
          <p:nvPr/>
        </p:nvSpPr>
        <p:spPr>
          <a:xfrm xmlns:a="http://schemas.openxmlformats.org/drawingml/2006/main">
            <a:off x="457200" y="5353050"/>
            <a:ext cx="11277600" cy="809625"/>
          </a:xfrm>
          <a:prstGeom xmlns:a="http://schemas.openxmlformats.org/drawingml/2006/main" prst="roundRect">
            <a:avLst>
              <a:gd name="adj" fmla="val 14118"/>
            </a:avLst>
          </a:prstGeom>
          <a:solidFill xmlns:a="http://schemas.openxmlformats.org/drawingml/2006/main">
            <a:srgbClr val="FFF4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2BD8EC9-2CDD-44CD-8CB6-29A890BC53CF}"/>
              </a:ext>
            </a:extLst>
          </p:cNvPr>
          <p:cNvSpPr>
            <a:spLocks xmlns:a="http://schemas.openxmlformats.org/drawingml/2006/main" noGrp="1"/>
          </p:cNvSpPr>
          <p:nvPr/>
        </p:nvSpPr>
        <p:spPr>
          <a:xfrm xmlns:a="http://schemas.openxmlformats.org/drawingml/2006/main">
            <a:off x="609600" y="5467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Capacity dependency</a:t>
            </a:r>
          </a:p>
        </p:txBody>
      </p:sp>
      <p:sp>
        <p:nvSpPr>
          <p:cNvPr id="22" name="">
            <a:extLst xmlns:a="http://schemas.openxmlformats.org/drawingml/2006/main">
              <a:ext uri="{FF2B5EF4-FFF2-40B4-BE49-F238E27FC236}">
                <a16:creationId xmlns:a16="http://schemas.microsoft.com/office/drawing/2014/main" id="{003B5BE9-A621-441C-9B07-47DD0F03668B}"/>
              </a:ext>
            </a:extLst>
          </p:cNvPr>
          <p:cNvSpPr>
            <a:spLocks xmlns:a="http://schemas.openxmlformats.org/drawingml/2006/main" noGrp="1"/>
          </p:cNvSpPr>
          <p:nvPr/>
        </p:nvSpPr>
        <p:spPr>
          <a:xfrm xmlns:a="http://schemas.openxmlformats.org/drawingml/2006/main">
            <a:off x="609600" y="5962650"/>
            <a:ext cx="109728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Critical Q1 commitments include CBUAE notice 3057. Revised IB / Omni dates remain proposed.</a:t>
            </a:r>
          </a:p>
        </p:txBody>
      </p:sp>
    </p:spTree>
    <p:extLst>
      <p:ext uri="{BB962C8B-B14F-4D97-AF65-F5344CB8AC3E}">
        <p14:creationId xmlns:p14="http://schemas.microsoft.com/office/powerpoint/2010/main" val="12386101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4027C50-DB3B-4734-BAD5-74EAFFE386AC}"/>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6A8769F-43FA-4EAF-85C6-E1E6C9E4C6C4}"/>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Recovery designs differ across the eight platforms</a:t>
            </a:r>
          </a:p>
        </p:txBody>
      </p:sp>
      <p:sp>
        <p:nvSpPr>
          <p:cNvPr id="3" name="">
            <a:extLst xmlns:a="http://schemas.openxmlformats.org/drawingml/2006/main">
              <a:ext uri="{FF2B5EF4-FFF2-40B4-BE49-F238E27FC236}">
                <a16:creationId xmlns:a16="http://schemas.microsoft.com/office/drawing/2014/main" id="{42B9CB9C-6F78-4559-B521-03CD5A2EAA8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scope defines architecture changes, rather than achieved recovery capability.</a:t>
            </a:r>
          </a:p>
        </p:txBody>
      </p:sp>
      <p:sp>
        <p:nvSpPr>
          <p:cNvPr id="4" name="">
            <a:extLst xmlns:a="http://schemas.openxmlformats.org/drawingml/2006/main">
              <a:ext uri="{FF2B5EF4-FFF2-40B4-BE49-F238E27FC236}">
                <a16:creationId xmlns:a16="http://schemas.microsoft.com/office/drawing/2014/main" id="{CD99BCE0-662D-455D-96B5-0898E9D2332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BB5FACAA-E37A-4E59-8ED3-351F3229D56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34</a:t>
            </a:r>
          </a:p>
        </p:txBody>
      </p:sp>
      <p:sp>
        <p:nvSpPr>
          <p:cNvPr id="6" name="">
            <a:extLst xmlns:a="http://schemas.openxmlformats.org/drawingml/2006/main">
              <a:ext uri="{FF2B5EF4-FFF2-40B4-BE49-F238E27FC236}">
                <a16:creationId xmlns:a16="http://schemas.microsoft.com/office/drawing/2014/main" id="{14279252-2D08-4978-B126-3814858A6EC8}"/>
              </a:ext>
            </a:extLst>
          </p:cNvPr>
          <p:cNvSpPr>
            <a:spLocks xmlns:a="http://schemas.openxmlformats.org/drawingml/2006/main" noGrp="1"/>
          </p:cNvSpPr>
          <p:nvPr/>
        </p:nvSpPr>
        <p:spPr>
          <a:xfrm xmlns:a="http://schemas.openxmlformats.org/drawingml/2006/main">
            <a:off x="457200" y="2143125"/>
            <a:ext cx="3657600" cy="3962400"/>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B2695F-7425-43F0-8D50-969391C7C3EA}"/>
              </a:ext>
            </a:extLst>
          </p:cNvPr>
          <p:cNvSpPr>
            <a:spLocks xmlns:a="http://schemas.openxmlformats.org/drawingml/2006/main" noGrp="1"/>
          </p:cNvSpPr>
          <p:nvPr/>
        </p:nvSpPr>
        <p:spPr>
          <a:xfrm xmlns:a="http://schemas.openxmlformats.org/drawingml/2006/main">
            <a:off x="60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Active-active HA / DR</a:t>
            </a:r>
          </a:p>
        </p:txBody>
      </p:sp>
      <p:sp>
        <p:nvSpPr>
          <p:cNvPr id="8" name="">
            <a:extLst xmlns:a="http://schemas.openxmlformats.org/drawingml/2006/main">
              <a:ext uri="{FF2B5EF4-FFF2-40B4-BE49-F238E27FC236}">
                <a16:creationId xmlns:a16="http://schemas.microsoft.com/office/drawing/2014/main" id="{9BF03AB3-5B26-4F29-AC52-3A2B3BBEEFED}"/>
              </a:ext>
            </a:extLst>
          </p:cNvPr>
          <p:cNvSpPr>
            <a:spLocks xmlns:a="http://schemas.openxmlformats.org/drawingml/2006/main" noGrp="1"/>
          </p:cNvSpPr>
          <p:nvPr/>
        </p:nvSpPr>
        <p:spPr>
          <a:xfrm xmlns:a="http://schemas.openxmlformats.org/drawingml/2006/main">
            <a:off x="60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Ducont SMS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 CCM database segregation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and SQL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Always On (3+2)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DIB Website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Active-active architecture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and SQL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Mobile App / Omni</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p:txBody>
      </p:sp>
      <p:sp>
        <p:nvSpPr>
          <p:cNvPr id="9" name="">
            <a:extLst xmlns:a="http://schemas.openxmlformats.org/drawingml/2006/main">
              <a:ext uri="{FF2B5EF4-FFF2-40B4-BE49-F238E27FC236}">
                <a16:creationId xmlns:a16="http://schemas.microsoft.com/office/drawing/2014/main" id="{FC2996A2-3F8B-4B33-A07F-B06B51F78B17}"/>
              </a:ext>
            </a:extLst>
          </p:cNvPr>
          <p:cNvSpPr>
            <a:spLocks xmlns:a="http://schemas.openxmlformats.org/drawingml/2006/main" noGrp="1"/>
          </p:cNvSpPr>
          <p:nvPr/>
        </p:nvSpPr>
        <p:spPr>
          <a:xfrm xmlns:a="http://schemas.openxmlformats.org/drawingml/2006/main">
            <a:off x="4267200" y="2143125"/>
            <a:ext cx="3657600" cy="3962400"/>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1D82B6-83A1-4360-BC9D-961E99A44608}"/>
              </a:ext>
            </a:extLst>
          </p:cNvPr>
          <p:cNvSpPr>
            <a:spLocks xmlns:a="http://schemas.openxmlformats.org/drawingml/2006/main" noGrp="1"/>
          </p:cNvSpPr>
          <p:nvPr/>
        </p:nvSpPr>
        <p:spPr>
          <a:xfrm xmlns:a="http://schemas.openxmlformats.org/drawingml/2006/main">
            <a:off x="441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Database and passive DR</a:t>
            </a:r>
          </a:p>
        </p:txBody>
      </p:sp>
      <p:sp>
        <p:nvSpPr>
          <p:cNvPr id="11" name="">
            <a:extLst xmlns:a="http://schemas.openxmlformats.org/drawingml/2006/main">
              <a:ext uri="{FF2B5EF4-FFF2-40B4-BE49-F238E27FC236}">
                <a16:creationId xmlns:a16="http://schemas.microsoft.com/office/drawing/2014/main" id="{276F38E1-6A9B-4413-9577-D36B51496AF9}"/>
              </a:ext>
            </a:extLst>
          </p:cNvPr>
          <p:cNvSpPr>
            <a:spLocks xmlns:a="http://schemas.openxmlformats.org/drawingml/2006/main" noGrp="1"/>
          </p:cNvSpPr>
          <p:nvPr/>
        </p:nvSpPr>
        <p:spPr>
          <a:xfrm xmlns:a="http://schemas.openxmlformats.org/drawingml/2006/main">
            <a:off x="441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HFLMS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Passive DR setup</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Always On (2+1)</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System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 application OS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 OS 2022, Always On (3+2)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Internet Banking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 application OS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2022, Always On (3+2)</a:t>
            </a:r>
          </a:p>
        </p:txBody>
      </p:sp>
      <p:sp>
        <p:nvSpPr>
          <p:cNvPr id="12" name="">
            <a:extLst xmlns:a="http://schemas.openxmlformats.org/drawingml/2006/main">
              <a:ext uri="{FF2B5EF4-FFF2-40B4-BE49-F238E27FC236}">
                <a16:creationId xmlns:a16="http://schemas.microsoft.com/office/drawing/2014/main" id="{68DD44EE-E102-494D-AEB5-E27B9E32CADB}"/>
              </a:ext>
            </a:extLst>
          </p:cNvPr>
          <p:cNvSpPr>
            <a:spLocks xmlns:a="http://schemas.openxmlformats.org/drawingml/2006/main" noGrp="1"/>
          </p:cNvSpPr>
          <p:nvPr/>
        </p:nvSpPr>
        <p:spPr>
          <a:xfrm xmlns:a="http://schemas.openxmlformats.org/drawingml/2006/main">
            <a:off x="8077200" y="2143125"/>
            <a:ext cx="3657600" cy="3962400"/>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C5D56C-5565-4444-AF43-525A8E8375FD}"/>
              </a:ext>
            </a:extLst>
          </p:cNvPr>
          <p:cNvSpPr>
            <a:spLocks xmlns:a="http://schemas.openxmlformats.org/drawingml/2006/main" noGrp="1"/>
          </p:cNvSpPr>
          <p:nvPr/>
        </p:nvSpPr>
        <p:spPr>
          <a:xfrm xmlns:a="http://schemas.openxmlformats.org/drawingml/2006/main">
            <a:off x="822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Legacy stack upgrades</a:t>
            </a:r>
          </a:p>
        </p:txBody>
      </p:sp>
      <p:sp>
        <p:nvSpPr>
          <p:cNvPr id="14" name="">
            <a:extLst xmlns:a="http://schemas.openxmlformats.org/drawingml/2006/main">
              <a:ext uri="{FF2B5EF4-FFF2-40B4-BE49-F238E27FC236}">
                <a16:creationId xmlns:a16="http://schemas.microsoft.com/office/drawing/2014/main" id="{4830538A-4920-4318-B672-D349C0299668}"/>
              </a:ext>
            </a:extLst>
          </p:cNvPr>
          <p:cNvSpPr>
            <a:spLocks xmlns:a="http://schemas.openxmlformats.org/drawingml/2006/main" noGrp="1"/>
          </p:cNvSpPr>
          <p:nvPr/>
        </p:nvSpPr>
        <p:spPr>
          <a:xfrm xmlns:a="http://schemas.openxmlformats.org/drawingml/2006/main">
            <a:off x="822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ICC Loyalty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2014 to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Direct Equity / Matrix</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 OS 2016 to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RTO / RPO and test acceptance criteria are not supplied.</a:t>
            </a:r>
          </a:p>
        </p:txBody>
      </p:sp>
    </p:spTree>
    <p:extLst>
      <p:ext uri="{BB962C8B-B14F-4D97-AF65-F5344CB8AC3E}">
        <p14:creationId xmlns:p14="http://schemas.microsoft.com/office/powerpoint/2010/main" val="104881776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2B84D8CF-03C5-43CD-B6C8-81FE53B36DF6}"/>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0D65B2A-BED8-482B-90F7-338424B63F2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Provisioning confirms UAT and production for all eight</a:t>
            </a:r>
          </a:p>
        </p:txBody>
      </p:sp>
      <p:sp>
        <p:nvSpPr>
          <p:cNvPr id="3" name="">
            <a:extLst xmlns:a="http://schemas.openxmlformats.org/drawingml/2006/main">
              <a:ext uri="{FF2B5EF4-FFF2-40B4-BE49-F238E27FC236}">
                <a16:creationId xmlns:a16="http://schemas.microsoft.com/office/drawing/2014/main" id="{3EAED96E-2981-423B-84C1-7DE6E4BA1D61}"/>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Six platforms have denied staging provisioning. Green means infrastructure confirmation, not release readiness.</a:t>
            </a:r>
          </a:p>
        </p:txBody>
      </p:sp>
      <p:sp>
        <p:nvSpPr>
          <p:cNvPr id="4" name="">
            <a:extLst xmlns:a="http://schemas.openxmlformats.org/drawingml/2006/main">
              <a:ext uri="{FF2B5EF4-FFF2-40B4-BE49-F238E27FC236}">
                <a16:creationId xmlns:a16="http://schemas.microsoft.com/office/drawing/2014/main" id="{CE804228-EB57-418E-9880-7386B200B73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E6DEA820-0003-4430-B6F4-78C72D765D3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35</a:t>
            </a:r>
          </a:p>
        </p:txBody>
      </p:sp>
      <p:sp>
        <p:nvSpPr>
          <p:cNvPr id="6" name="">
            <a:extLst xmlns:a="http://schemas.openxmlformats.org/drawingml/2006/main">
              <a:ext uri="{FF2B5EF4-FFF2-40B4-BE49-F238E27FC236}">
                <a16:creationId xmlns:a16="http://schemas.microsoft.com/office/drawing/2014/main" id="{64A895A5-38D9-4F63-AE2C-0556D48D0479}"/>
              </a:ext>
            </a:extLst>
          </p:cNvPr>
          <p:cNvSpPr>
            <a:spLocks xmlns:a="http://schemas.openxmlformats.org/drawingml/2006/main" noGrp="1"/>
          </p:cNvSpPr>
          <p:nvPr/>
        </p:nvSpPr>
        <p:spPr>
          <a:xfrm xmlns:a="http://schemas.openxmlformats.org/drawingml/2006/main">
            <a:off x="457200" y="21240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Platform</a:t>
            </a:r>
          </a:p>
        </p:txBody>
      </p:sp>
      <p:sp>
        <p:nvSpPr>
          <p:cNvPr id="7" name="">
            <a:extLst xmlns:a="http://schemas.openxmlformats.org/drawingml/2006/main">
              <a:ext uri="{FF2B5EF4-FFF2-40B4-BE49-F238E27FC236}">
                <a16:creationId xmlns:a16="http://schemas.microsoft.com/office/drawing/2014/main" id="{AD3FE10F-C28F-418F-8F40-6F233B2A65BE}"/>
              </a:ext>
            </a:extLst>
          </p:cNvPr>
          <p:cNvSpPr>
            <a:spLocks xmlns:a="http://schemas.openxmlformats.org/drawingml/2006/main" noGrp="1"/>
          </p:cNvSpPr>
          <p:nvPr/>
        </p:nvSpPr>
        <p:spPr>
          <a:xfrm xmlns:a="http://schemas.openxmlformats.org/drawingml/2006/main">
            <a:off x="3981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SIT</a:t>
            </a:r>
          </a:p>
        </p:txBody>
      </p:sp>
      <p:sp>
        <p:nvSpPr>
          <p:cNvPr id="8" name="">
            <a:extLst xmlns:a="http://schemas.openxmlformats.org/drawingml/2006/main">
              <a:ext uri="{FF2B5EF4-FFF2-40B4-BE49-F238E27FC236}">
                <a16:creationId xmlns:a16="http://schemas.microsoft.com/office/drawing/2014/main" id="{6A587E4E-BE02-40B0-91A1-5709FB74AB31}"/>
              </a:ext>
            </a:extLst>
          </p:cNvPr>
          <p:cNvSpPr>
            <a:spLocks xmlns:a="http://schemas.openxmlformats.org/drawingml/2006/main" noGrp="1"/>
          </p:cNvSpPr>
          <p:nvPr/>
        </p:nvSpPr>
        <p:spPr>
          <a:xfrm xmlns:a="http://schemas.openxmlformats.org/drawingml/2006/main">
            <a:off x="5505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UAT</a:t>
            </a:r>
          </a:p>
        </p:txBody>
      </p:sp>
      <p:sp>
        <p:nvSpPr>
          <p:cNvPr id="9" name="">
            <a:extLst xmlns:a="http://schemas.openxmlformats.org/drawingml/2006/main">
              <a:ext uri="{FF2B5EF4-FFF2-40B4-BE49-F238E27FC236}">
                <a16:creationId xmlns:a16="http://schemas.microsoft.com/office/drawing/2014/main" id="{9B26DCC7-04B3-429E-9DB3-489064209224}"/>
              </a:ext>
            </a:extLst>
          </p:cNvPr>
          <p:cNvSpPr>
            <a:spLocks xmlns:a="http://schemas.openxmlformats.org/drawingml/2006/main" noGrp="1"/>
          </p:cNvSpPr>
          <p:nvPr/>
        </p:nvSpPr>
        <p:spPr>
          <a:xfrm xmlns:a="http://schemas.openxmlformats.org/drawingml/2006/main">
            <a:off x="7029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Staging</a:t>
            </a:r>
          </a:p>
        </p:txBody>
      </p:sp>
      <p:sp>
        <p:nvSpPr>
          <p:cNvPr id="10" name="">
            <a:extLst xmlns:a="http://schemas.openxmlformats.org/drawingml/2006/main">
              <a:ext uri="{FF2B5EF4-FFF2-40B4-BE49-F238E27FC236}">
                <a16:creationId xmlns:a16="http://schemas.microsoft.com/office/drawing/2014/main" id="{38716B13-BBDC-401C-B8E3-310C89D2E48E}"/>
              </a:ext>
            </a:extLst>
          </p:cNvPr>
          <p:cNvSpPr>
            <a:spLocks xmlns:a="http://schemas.openxmlformats.org/drawingml/2006/main" noGrp="1"/>
          </p:cNvSpPr>
          <p:nvPr/>
        </p:nvSpPr>
        <p:spPr>
          <a:xfrm xmlns:a="http://schemas.openxmlformats.org/drawingml/2006/main">
            <a:off x="8553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Production</a:t>
            </a:r>
          </a:p>
        </p:txBody>
      </p:sp>
      <p:sp>
        <p:nvSpPr>
          <p:cNvPr id="11" name="">
            <a:extLst xmlns:a="http://schemas.openxmlformats.org/drawingml/2006/main">
              <a:ext uri="{FF2B5EF4-FFF2-40B4-BE49-F238E27FC236}">
                <a16:creationId xmlns:a16="http://schemas.microsoft.com/office/drawing/2014/main" id="{669567E4-4ADC-438B-B37F-987A9D46629D}"/>
              </a:ext>
            </a:extLst>
          </p:cNvPr>
          <p:cNvSpPr>
            <a:spLocks xmlns:a="http://schemas.openxmlformats.org/drawingml/2006/main" noGrp="1"/>
          </p:cNvSpPr>
          <p:nvPr/>
        </p:nvSpPr>
        <p:spPr>
          <a:xfrm xmlns:a="http://schemas.openxmlformats.org/drawingml/2006/main">
            <a:off x="10077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DR</a:t>
            </a:r>
          </a:p>
        </p:txBody>
      </p:sp>
      <p:sp>
        <p:nvSpPr>
          <p:cNvPr id="12" name="">
            <a:extLst xmlns:a="http://schemas.openxmlformats.org/drawingml/2006/main">
              <a:ext uri="{FF2B5EF4-FFF2-40B4-BE49-F238E27FC236}">
                <a16:creationId xmlns:a16="http://schemas.microsoft.com/office/drawing/2014/main" id="{1DAFF849-BF51-4472-8420-D259F1D04EC8}"/>
              </a:ext>
            </a:extLst>
          </p:cNvPr>
          <p:cNvSpPr>
            <a:spLocks xmlns:a="http://schemas.openxmlformats.org/drawingml/2006/main" noGrp="1"/>
          </p:cNvSpPr>
          <p:nvPr/>
        </p:nvSpPr>
        <p:spPr>
          <a:xfrm xmlns:a="http://schemas.openxmlformats.org/drawingml/2006/main">
            <a:off x="457200" y="252412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28A8F7-5EEF-48CA-972F-EA17A9F14FB3}"/>
              </a:ext>
            </a:extLst>
          </p:cNvPr>
          <p:cNvSpPr>
            <a:spLocks xmlns:a="http://schemas.openxmlformats.org/drawingml/2006/main" noGrp="1"/>
          </p:cNvSpPr>
          <p:nvPr/>
        </p:nvSpPr>
        <p:spPr>
          <a:xfrm xmlns:a="http://schemas.openxmlformats.org/drawingml/2006/main">
            <a:off x="581025" y="257175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IB</a:t>
            </a:r>
          </a:p>
        </p:txBody>
      </p:sp>
      <p:sp>
        <p:nvSpPr>
          <p:cNvPr id="14" name="">
            <a:extLst xmlns:a="http://schemas.openxmlformats.org/drawingml/2006/main">
              <a:ext uri="{FF2B5EF4-FFF2-40B4-BE49-F238E27FC236}">
                <a16:creationId xmlns:a16="http://schemas.microsoft.com/office/drawing/2014/main" id="{E9601D53-BEDB-4858-A1CC-519F00AA7CAE}"/>
              </a:ext>
            </a:extLst>
          </p:cNvPr>
          <p:cNvSpPr>
            <a:spLocks xmlns:a="http://schemas.openxmlformats.org/drawingml/2006/main" noGrp="1"/>
          </p:cNvSpPr>
          <p:nvPr/>
        </p:nvSpPr>
        <p:spPr>
          <a:xfrm xmlns:a="http://schemas.openxmlformats.org/drawingml/2006/main">
            <a:off x="3981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15" name="">
            <a:extLst xmlns:a="http://schemas.openxmlformats.org/drawingml/2006/main">
              <a:ext uri="{FF2B5EF4-FFF2-40B4-BE49-F238E27FC236}">
                <a16:creationId xmlns:a16="http://schemas.microsoft.com/office/drawing/2014/main" id="{7FE62408-1CCF-4728-AF91-27EB923D4247}"/>
              </a:ext>
            </a:extLst>
          </p:cNvPr>
          <p:cNvSpPr>
            <a:spLocks xmlns:a="http://schemas.openxmlformats.org/drawingml/2006/main" noGrp="1"/>
          </p:cNvSpPr>
          <p:nvPr/>
        </p:nvSpPr>
        <p:spPr>
          <a:xfrm xmlns:a="http://schemas.openxmlformats.org/drawingml/2006/main">
            <a:off x="5505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56F8C1FD-7F96-44A4-8857-978E89262BFB}"/>
              </a:ext>
            </a:extLst>
          </p:cNvPr>
          <p:cNvSpPr>
            <a:spLocks xmlns:a="http://schemas.openxmlformats.org/drawingml/2006/main" noGrp="1"/>
          </p:cNvSpPr>
          <p:nvPr/>
        </p:nvSpPr>
        <p:spPr>
          <a:xfrm xmlns:a="http://schemas.openxmlformats.org/drawingml/2006/main">
            <a:off x="7029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13AFECA5-6AAC-4E58-9D51-97B2D3126101}"/>
              </a:ext>
            </a:extLst>
          </p:cNvPr>
          <p:cNvSpPr>
            <a:spLocks xmlns:a="http://schemas.openxmlformats.org/drawingml/2006/main" noGrp="1"/>
          </p:cNvSpPr>
          <p:nvPr/>
        </p:nvSpPr>
        <p:spPr>
          <a:xfrm xmlns:a="http://schemas.openxmlformats.org/drawingml/2006/main">
            <a:off x="8553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A4548BE3-6BC6-45A1-9A74-6DC9A9D8A7DA}"/>
              </a:ext>
            </a:extLst>
          </p:cNvPr>
          <p:cNvSpPr>
            <a:spLocks xmlns:a="http://schemas.openxmlformats.org/drawingml/2006/main" noGrp="1"/>
          </p:cNvSpPr>
          <p:nvPr/>
        </p:nvSpPr>
        <p:spPr>
          <a:xfrm xmlns:a="http://schemas.openxmlformats.org/drawingml/2006/main">
            <a:off x="10077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19" name="">
            <a:extLst xmlns:a="http://schemas.openxmlformats.org/drawingml/2006/main">
              <a:ext uri="{FF2B5EF4-FFF2-40B4-BE49-F238E27FC236}">
                <a16:creationId xmlns:a16="http://schemas.microsoft.com/office/drawing/2014/main" id="{DE4CB54D-6E2F-4536-95DB-3A2C3402195E}"/>
              </a:ext>
            </a:extLst>
          </p:cNvPr>
          <p:cNvSpPr>
            <a:spLocks xmlns:a="http://schemas.openxmlformats.org/drawingml/2006/main" noGrp="1"/>
          </p:cNvSpPr>
          <p:nvPr/>
        </p:nvSpPr>
        <p:spPr>
          <a:xfrm xmlns:a="http://schemas.openxmlformats.org/drawingml/2006/main">
            <a:off x="457200" y="293370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5ADAD15-2863-44BC-9EC0-20F234DDCEF9}"/>
              </a:ext>
            </a:extLst>
          </p:cNvPr>
          <p:cNvSpPr>
            <a:spLocks xmlns:a="http://schemas.openxmlformats.org/drawingml/2006/main" noGrp="1"/>
          </p:cNvSpPr>
          <p:nvPr/>
        </p:nvSpPr>
        <p:spPr>
          <a:xfrm xmlns:a="http://schemas.openxmlformats.org/drawingml/2006/main">
            <a:off x="581025" y="29813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Omni</a:t>
            </a:r>
          </a:p>
        </p:txBody>
      </p:sp>
      <p:sp>
        <p:nvSpPr>
          <p:cNvPr id="21" name="">
            <a:extLst xmlns:a="http://schemas.openxmlformats.org/drawingml/2006/main">
              <a:ext uri="{FF2B5EF4-FFF2-40B4-BE49-F238E27FC236}">
                <a16:creationId xmlns:a16="http://schemas.microsoft.com/office/drawing/2014/main" id="{580C69B1-409A-4C0F-8DF5-E555526DB0C4}"/>
              </a:ext>
            </a:extLst>
          </p:cNvPr>
          <p:cNvSpPr>
            <a:spLocks xmlns:a="http://schemas.openxmlformats.org/drawingml/2006/main" noGrp="1"/>
          </p:cNvSpPr>
          <p:nvPr/>
        </p:nvSpPr>
        <p:spPr>
          <a:xfrm xmlns:a="http://schemas.openxmlformats.org/drawingml/2006/main">
            <a:off x="3981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9CBEE5CC-8F33-4D36-91AB-58FCF0D32990}"/>
              </a:ext>
            </a:extLst>
          </p:cNvPr>
          <p:cNvSpPr>
            <a:spLocks xmlns:a="http://schemas.openxmlformats.org/drawingml/2006/main" noGrp="1"/>
          </p:cNvSpPr>
          <p:nvPr/>
        </p:nvSpPr>
        <p:spPr>
          <a:xfrm xmlns:a="http://schemas.openxmlformats.org/drawingml/2006/main">
            <a:off x="5505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3" name="">
            <a:extLst xmlns:a="http://schemas.openxmlformats.org/drawingml/2006/main">
              <a:ext uri="{FF2B5EF4-FFF2-40B4-BE49-F238E27FC236}">
                <a16:creationId xmlns:a16="http://schemas.microsoft.com/office/drawing/2014/main" id="{C16AAF57-102E-408D-9B52-90E87E95E5B8}"/>
              </a:ext>
            </a:extLst>
          </p:cNvPr>
          <p:cNvSpPr>
            <a:spLocks xmlns:a="http://schemas.openxmlformats.org/drawingml/2006/main" noGrp="1"/>
          </p:cNvSpPr>
          <p:nvPr/>
        </p:nvSpPr>
        <p:spPr>
          <a:xfrm xmlns:a="http://schemas.openxmlformats.org/drawingml/2006/main">
            <a:off x="7029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24" name="">
            <a:extLst xmlns:a="http://schemas.openxmlformats.org/drawingml/2006/main">
              <a:ext uri="{FF2B5EF4-FFF2-40B4-BE49-F238E27FC236}">
                <a16:creationId xmlns:a16="http://schemas.microsoft.com/office/drawing/2014/main" id="{E49FB6C9-4B07-4C63-B722-65D219ACD3F8}"/>
              </a:ext>
            </a:extLst>
          </p:cNvPr>
          <p:cNvSpPr>
            <a:spLocks xmlns:a="http://schemas.openxmlformats.org/drawingml/2006/main" noGrp="1"/>
          </p:cNvSpPr>
          <p:nvPr/>
        </p:nvSpPr>
        <p:spPr>
          <a:xfrm xmlns:a="http://schemas.openxmlformats.org/drawingml/2006/main">
            <a:off x="8553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83209F27-3685-404E-B144-AD1A8925EF77}"/>
              </a:ext>
            </a:extLst>
          </p:cNvPr>
          <p:cNvSpPr>
            <a:spLocks xmlns:a="http://schemas.openxmlformats.org/drawingml/2006/main" noGrp="1"/>
          </p:cNvSpPr>
          <p:nvPr/>
        </p:nvSpPr>
        <p:spPr>
          <a:xfrm xmlns:a="http://schemas.openxmlformats.org/drawingml/2006/main">
            <a:off x="10077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6" name="">
            <a:extLst xmlns:a="http://schemas.openxmlformats.org/drawingml/2006/main">
              <a:ext uri="{FF2B5EF4-FFF2-40B4-BE49-F238E27FC236}">
                <a16:creationId xmlns:a16="http://schemas.microsoft.com/office/drawing/2014/main" id="{CDEED73A-7F5D-480B-8D2F-6D61088686B0}"/>
              </a:ext>
            </a:extLst>
          </p:cNvPr>
          <p:cNvSpPr>
            <a:spLocks xmlns:a="http://schemas.openxmlformats.org/drawingml/2006/main" noGrp="1"/>
          </p:cNvSpPr>
          <p:nvPr/>
        </p:nvSpPr>
        <p:spPr>
          <a:xfrm xmlns:a="http://schemas.openxmlformats.org/drawingml/2006/main">
            <a:off x="457200" y="334327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E89160-2D6A-48F2-865C-9CF87BAAA2CB}"/>
              </a:ext>
            </a:extLst>
          </p:cNvPr>
          <p:cNvSpPr>
            <a:spLocks xmlns:a="http://schemas.openxmlformats.org/drawingml/2006/main" noGrp="1"/>
          </p:cNvSpPr>
          <p:nvPr/>
        </p:nvSpPr>
        <p:spPr>
          <a:xfrm xmlns:a="http://schemas.openxmlformats.org/drawingml/2006/main">
            <a:off x="581025" y="339090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DIB Website</a:t>
            </a:r>
          </a:p>
        </p:txBody>
      </p:sp>
      <p:sp>
        <p:nvSpPr>
          <p:cNvPr id="28" name="">
            <a:extLst xmlns:a="http://schemas.openxmlformats.org/drawingml/2006/main">
              <a:ext uri="{FF2B5EF4-FFF2-40B4-BE49-F238E27FC236}">
                <a16:creationId xmlns:a16="http://schemas.microsoft.com/office/drawing/2014/main" id="{508345E0-E0E4-4072-81B6-2BB7B65B517E}"/>
              </a:ext>
            </a:extLst>
          </p:cNvPr>
          <p:cNvSpPr>
            <a:spLocks xmlns:a="http://schemas.openxmlformats.org/drawingml/2006/main" noGrp="1"/>
          </p:cNvSpPr>
          <p:nvPr/>
        </p:nvSpPr>
        <p:spPr>
          <a:xfrm xmlns:a="http://schemas.openxmlformats.org/drawingml/2006/main">
            <a:off x="3981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29" name="">
            <a:extLst xmlns:a="http://schemas.openxmlformats.org/drawingml/2006/main">
              <a:ext uri="{FF2B5EF4-FFF2-40B4-BE49-F238E27FC236}">
                <a16:creationId xmlns:a16="http://schemas.microsoft.com/office/drawing/2014/main" id="{2B0D0E9D-4BF2-4738-898B-88271C3D367C}"/>
              </a:ext>
            </a:extLst>
          </p:cNvPr>
          <p:cNvSpPr>
            <a:spLocks xmlns:a="http://schemas.openxmlformats.org/drawingml/2006/main" noGrp="1"/>
          </p:cNvSpPr>
          <p:nvPr/>
        </p:nvSpPr>
        <p:spPr>
          <a:xfrm xmlns:a="http://schemas.openxmlformats.org/drawingml/2006/main">
            <a:off x="5505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0" name="">
            <a:extLst xmlns:a="http://schemas.openxmlformats.org/drawingml/2006/main">
              <a:ext uri="{FF2B5EF4-FFF2-40B4-BE49-F238E27FC236}">
                <a16:creationId xmlns:a16="http://schemas.microsoft.com/office/drawing/2014/main" id="{9C1F42CB-4B7D-4C1C-848F-F0581DC4A24E}"/>
              </a:ext>
            </a:extLst>
          </p:cNvPr>
          <p:cNvSpPr>
            <a:spLocks xmlns:a="http://schemas.openxmlformats.org/drawingml/2006/main" noGrp="1"/>
          </p:cNvSpPr>
          <p:nvPr/>
        </p:nvSpPr>
        <p:spPr>
          <a:xfrm xmlns:a="http://schemas.openxmlformats.org/drawingml/2006/main">
            <a:off x="7029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C855A1B2-63C3-4507-AE57-659D9A99C7D6}"/>
              </a:ext>
            </a:extLst>
          </p:cNvPr>
          <p:cNvSpPr>
            <a:spLocks xmlns:a="http://schemas.openxmlformats.org/drawingml/2006/main" noGrp="1"/>
          </p:cNvSpPr>
          <p:nvPr/>
        </p:nvSpPr>
        <p:spPr>
          <a:xfrm xmlns:a="http://schemas.openxmlformats.org/drawingml/2006/main">
            <a:off x="8553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2" name="">
            <a:extLst xmlns:a="http://schemas.openxmlformats.org/drawingml/2006/main">
              <a:ext uri="{FF2B5EF4-FFF2-40B4-BE49-F238E27FC236}">
                <a16:creationId xmlns:a16="http://schemas.microsoft.com/office/drawing/2014/main" id="{72820C28-E66D-4889-A6CA-86C3719EB743}"/>
              </a:ext>
            </a:extLst>
          </p:cNvPr>
          <p:cNvSpPr>
            <a:spLocks xmlns:a="http://schemas.openxmlformats.org/drawingml/2006/main" noGrp="1"/>
          </p:cNvSpPr>
          <p:nvPr/>
        </p:nvSpPr>
        <p:spPr>
          <a:xfrm xmlns:a="http://schemas.openxmlformats.org/drawingml/2006/main">
            <a:off x="10077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3" name="">
            <a:extLst xmlns:a="http://schemas.openxmlformats.org/drawingml/2006/main">
              <a:ext uri="{FF2B5EF4-FFF2-40B4-BE49-F238E27FC236}">
                <a16:creationId xmlns:a16="http://schemas.microsoft.com/office/drawing/2014/main" id="{4D3BAC3F-0E60-46E7-BB28-2AA0280B8B8B}"/>
              </a:ext>
            </a:extLst>
          </p:cNvPr>
          <p:cNvSpPr>
            <a:spLocks xmlns:a="http://schemas.openxmlformats.org/drawingml/2006/main" noGrp="1"/>
          </p:cNvSpPr>
          <p:nvPr/>
        </p:nvSpPr>
        <p:spPr>
          <a:xfrm xmlns:a="http://schemas.openxmlformats.org/drawingml/2006/main">
            <a:off x="457200" y="375285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826733A-8C16-4EF4-B837-D9AF895C72A3}"/>
              </a:ext>
            </a:extLst>
          </p:cNvPr>
          <p:cNvSpPr>
            <a:spLocks xmlns:a="http://schemas.openxmlformats.org/drawingml/2006/main" noGrp="1"/>
          </p:cNvSpPr>
          <p:nvPr/>
        </p:nvSpPr>
        <p:spPr>
          <a:xfrm xmlns:a="http://schemas.openxmlformats.org/drawingml/2006/main">
            <a:off x="581025" y="380047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SMS (DB cluster)</a:t>
            </a:r>
          </a:p>
        </p:txBody>
      </p:sp>
      <p:sp>
        <p:nvSpPr>
          <p:cNvPr id="35" name="">
            <a:extLst xmlns:a="http://schemas.openxmlformats.org/drawingml/2006/main">
              <a:ext uri="{FF2B5EF4-FFF2-40B4-BE49-F238E27FC236}">
                <a16:creationId xmlns:a16="http://schemas.microsoft.com/office/drawing/2014/main" id="{87771480-C628-4D34-8805-1674F4DD4438}"/>
              </a:ext>
            </a:extLst>
          </p:cNvPr>
          <p:cNvSpPr>
            <a:spLocks xmlns:a="http://schemas.openxmlformats.org/drawingml/2006/main" noGrp="1"/>
          </p:cNvSpPr>
          <p:nvPr/>
        </p:nvSpPr>
        <p:spPr>
          <a:xfrm xmlns:a="http://schemas.openxmlformats.org/drawingml/2006/main">
            <a:off x="3981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36" name="">
            <a:extLst xmlns:a="http://schemas.openxmlformats.org/drawingml/2006/main">
              <a:ext uri="{FF2B5EF4-FFF2-40B4-BE49-F238E27FC236}">
                <a16:creationId xmlns:a16="http://schemas.microsoft.com/office/drawing/2014/main" id="{AEC75B5F-6FE5-4945-A588-FAFB45338087}"/>
              </a:ext>
            </a:extLst>
          </p:cNvPr>
          <p:cNvSpPr>
            <a:spLocks xmlns:a="http://schemas.openxmlformats.org/drawingml/2006/main" noGrp="1"/>
          </p:cNvSpPr>
          <p:nvPr/>
        </p:nvSpPr>
        <p:spPr>
          <a:xfrm xmlns:a="http://schemas.openxmlformats.org/drawingml/2006/main">
            <a:off x="5505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7" name="">
            <a:extLst xmlns:a="http://schemas.openxmlformats.org/drawingml/2006/main">
              <a:ext uri="{FF2B5EF4-FFF2-40B4-BE49-F238E27FC236}">
                <a16:creationId xmlns:a16="http://schemas.microsoft.com/office/drawing/2014/main" id="{6AB61442-747B-4F9B-B06D-1FD2FC001D41}"/>
              </a:ext>
            </a:extLst>
          </p:cNvPr>
          <p:cNvSpPr>
            <a:spLocks xmlns:a="http://schemas.openxmlformats.org/drawingml/2006/main" noGrp="1"/>
          </p:cNvSpPr>
          <p:nvPr/>
        </p:nvSpPr>
        <p:spPr>
          <a:xfrm xmlns:a="http://schemas.openxmlformats.org/drawingml/2006/main">
            <a:off x="7029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38" name="">
            <a:extLst xmlns:a="http://schemas.openxmlformats.org/drawingml/2006/main">
              <a:ext uri="{FF2B5EF4-FFF2-40B4-BE49-F238E27FC236}">
                <a16:creationId xmlns:a16="http://schemas.microsoft.com/office/drawing/2014/main" id="{207661D2-9C6F-4056-9623-A90AB5C1906F}"/>
              </a:ext>
            </a:extLst>
          </p:cNvPr>
          <p:cNvSpPr>
            <a:spLocks xmlns:a="http://schemas.openxmlformats.org/drawingml/2006/main" noGrp="1"/>
          </p:cNvSpPr>
          <p:nvPr/>
        </p:nvSpPr>
        <p:spPr>
          <a:xfrm xmlns:a="http://schemas.openxmlformats.org/drawingml/2006/main">
            <a:off x="8553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9" name="">
            <a:extLst xmlns:a="http://schemas.openxmlformats.org/drawingml/2006/main">
              <a:ext uri="{FF2B5EF4-FFF2-40B4-BE49-F238E27FC236}">
                <a16:creationId xmlns:a16="http://schemas.microsoft.com/office/drawing/2014/main" id="{C7D1EB40-1B81-48F6-A5B9-826C03D3CBF6}"/>
              </a:ext>
            </a:extLst>
          </p:cNvPr>
          <p:cNvSpPr>
            <a:spLocks xmlns:a="http://schemas.openxmlformats.org/drawingml/2006/main" noGrp="1"/>
          </p:cNvSpPr>
          <p:nvPr/>
        </p:nvSpPr>
        <p:spPr>
          <a:xfrm xmlns:a="http://schemas.openxmlformats.org/drawingml/2006/main">
            <a:off x="10077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0" name="">
            <a:extLst xmlns:a="http://schemas.openxmlformats.org/drawingml/2006/main">
              <a:ext uri="{FF2B5EF4-FFF2-40B4-BE49-F238E27FC236}">
                <a16:creationId xmlns:a16="http://schemas.microsoft.com/office/drawing/2014/main" id="{C47D79FB-ACF1-47FB-B4A9-5B0BED32FA7A}"/>
              </a:ext>
            </a:extLst>
          </p:cNvPr>
          <p:cNvSpPr>
            <a:spLocks xmlns:a="http://schemas.openxmlformats.org/drawingml/2006/main" noGrp="1"/>
          </p:cNvSpPr>
          <p:nvPr/>
        </p:nvSpPr>
        <p:spPr>
          <a:xfrm xmlns:a="http://schemas.openxmlformats.org/drawingml/2006/main">
            <a:off x="457200" y="416242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B4A46BE-100C-4AF3-8C25-851783C12138}"/>
              </a:ext>
            </a:extLst>
          </p:cNvPr>
          <p:cNvSpPr>
            <a:spLocks xmlns:a="http://schemas.openxmlformats.org/drawingml/2006/main" noGrp="1"/>
          </p:cNvSpPr>
          <p:nvPr/>
        </p:nvSpPr>
        <p:spPr>
          <a:xfrm xmlns:a="http://schemas.openxmlformats.org/drawingml/2006/main">
            <a:off x="581025" y="421005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HFLMS</a:t>
            </a:r>
          </a:p>
        </p:txBody>
      </p:sp>
      <p:sp>
        <p:nvSpPr>
          <p:cNvPr id="42" name="">
            <a:extLst xmlns:a="http://schemas.openxmlformats.org/drawingml/2006/main">
              <a:ext uri="{FF2B5EF4-FFF2-40B4-BE49-F238E27FC236}">
                <a16:creationId xmlns:a16="http://schemas.microsoft.com/office/drawing/2014/main" id="{0EC35D2F-04EC-40EE-92FF-13A2F1A4837A}"/>
              </a:ext>
            </a:extLst>
          </p:cNvPr>
          <p:cNvSpPr>
            <a:spLocks xmlns:a="http://schemas.openxmlformats.org/drawingml/2006/main" noGrp="1"/>
          </p:cNvSpPr>
          <p:nvPr/>
        </p:nvSpPr>
        <p:spPr>
          <a:xfrm xmlns:a="http://schemas.openxmlformats.org/drawingml/2006/main">
            <a:off x="3981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43" name="">
            <a:extLst xmlns:a="http://schemas.openxmlformats.org/drawingml/2006/main">
              <a:ext uri="{FF2B5EF4-FFF2-40B4-BE49-F238E27FC236}">
                <a16:creationId xmlns:a16="http://schemas.microsoft.com/office/drawing/2014/main" id="{8FEC1380-018C-42C3-AB92-3AF7F2DC8A73}"/>
              </a:ext>
            </a:extLst>
          </p:cNvPr>
          <p:cNvSpPr>
            <a:spLocks xmlns:a="http://schemas.openxmlformats.org/drawingml/2006/main" noGrp="1"/>
          </p:cNvSpPr>
          <p:nvPr/>
        </p:nvSpPr>
        <p:spPr>
          <a:xfrm xmlns:a="http://schemas.openxmlformats.org/drawingml/2006/main">
            <a:off x="5505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4" name="">
            <a:extLst xmlns:a="http://schemas.openxmlformats.org/drawingml/2006/main">
              <a:ext uri="{FF2B5EF4-FFF2-40B4-BE49-F238E27FC236}">
                <a16:creationId xmlns:a16="http://schemas.microsoft.com/office/drawing/2014/main" id="{4FEA34BA-E356-4BC8-87AF-1367451EE4DF}"/>
              </a:ext>
            </a:extLst>
          </p:cNvPr>
          <p:cNvSpPr>
            <a:spLocks xmlns:a="http://schemas.openxmlformats.org/drawingml/2006/main" noGrp="1"/>
          </p:cNvSpPr>
          <p:nvPr/>
        </p:nvSpPr>
        <p:spPr>
          <a:xfrm xmlns:a="http://schemas.openxmlformats.org/drawingml/2006/main">
            <a:off x="7029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45" name="">
            <a:extLst xmlns:a="http://schemas.openxmlformats.org/drawingml/2006/main">
              <a:ext uri="{FF2B5EF4-FFF2-40B4-BE49-F238E27FC236}">
                <a16:creationId xmlns:a16="http://schemas.microsoft.com/office/drawing/2014/main" id="{8E024F17-63F5-4136-B022-114767AA5762}"/>
              </a:ext>
            </a:extLst>
          </p:cNvPr>
          <p:cNvSpPr>
            <a:spLocks xmlns:a="http://schemas.openxmlformats.org/drawingml/2006/main" noGrp="1"/>
          </p:cNvSpPr>
          <p:nvPr/>
        </p:nvSpPr>
        <p:spPr>
          <a:xfrm xmlns:a="http://schemas.openxmlformats.org/drawingml/2006/main">
            <a:off x="8553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6" name="">
            <a:extLst xmlns:a="http://schemas.openxmlformats.org/drawingml/2006/main">
              <a:ext uri="{FF2B5EF4-FFF2-40B4-BE49-F238E27FC236}">
                <a16:creationId xmlns:a16="http://schemas.microsoft.com/office/drawing/2014/main" id="{582F9AED-7C8A-416E-B4C7-2364F10C75A6}"/>
              </a:ext>
            </a:extLst>
          </p:cNvPr>
          <p:cNvSpPr>
            <a:spLocks xmlns:a="http://schemas.openxmlformats.org/drawingml/2006/main" noGrp="1"/>
          </p:cNvSpPr>
          <p:nvPr/>
        </p:nvSpPr>
        <p:spPr>
          <a:xfrm xmlns:a="http://schemas.openxmlformats.org/drawingml/2006/main">
            <a:off x="10077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47" name="">
            <a:extLst xmlns:a="http://schemas.openxmlformats.org/drawingml/2006/main">
              <a:ext uri="{FF2B5EF4-FFF2-40B4-BE49-F238E27FC236}">
                <a16:creationId xmlns:a16="http://schemas.microsoft.com/office/drawing/2014/main" id="{210DE3C0-E74B-4434-8358-BE6E7E85E26C}"/>
              </a:ext>
            </a:extLst>
          </p:cNvPr>
          <p:cNvSpPr>
            <a:spLocks xmlns:a="http://schemas.openxmlformats.org/drawingml/2006/main" noGrp="1"/>
          </p:cNvSpPr>
          <p:nvPr/>
        </p:nvSpPr>
        <p:spPr>
          <a:xfrm xmlns:a="http://schemas.openxmlformats.org/drawingml/2006/main">
            <a:off x="457200" y="457200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BD651BF-0749-44E2-A860-7B466C869053}"/>
              </a:ext>
            </a:extLst>
          </p:cNvPr>
          <p:cNvSpPr>
            <a:spLocks xmlns:a="http://schemas.openxmlformats.org/drawingml/2006/main" noGrp="1"/>
          </p:cNvSpPr>
          <p:nvPr/>
        </p:nvSpPr>
        <p:spPr>
          <a:xfrm xmlns:a="http://schemas.openxmlformats.org/drawingml/2006/main">
            <a:off x="581025" y="46196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Matrix (Tier 4)</a:t>
            </a:r>
          </a:p>
        </p:txBody>
      </p:sp>
      <p:sp>
        <p:nvSpPr>
          <p:cNvPr id="49" name="">
            <a:extLst xmlns:a="http://schemas.openxmlformats.org/drawingml/2006/main">
              <a:ext uri="{FF2B5EF4-FFF2-40B4-BE49-F238E27FC236}">
                <a16:creationId xmlns:a16="http://schemas.microsoft.com/office/drawing/2014/main" id="{FC79A8C2-2AC9-483A-84FB-4799B930B3D2}"/>
              </a:ext>
            </a:extLst>
          </p:cNvPr>
          <p:cNvSpPr>
            <a:spLocks xmlns:a="http://schemas.openxmlformats.org/drawingml/2006/main" noGrp="1"/>
          </p:cNvSpPr>
          <p:nvPr/>
        </p:nvSpPr>
        <p:spPr>
          <a:xfrm xmlns:a="http://schemas.openxmlformats.org/drawingml/2006/main">
            <a:off x="3981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0" name="">
            <a:extLst xmlns:a="http://schemas.openxmlformats.org/drawingml/2006/main">
              <a:ext uri="{FF2B5EF4-FFF2-40B4-BE49-F238E27FC236}">
                <a16:creationId xmlns:a16="http://schemas.microsoft.com/office/drawing/2014/main" id="{2ABC9710-6887-47DB-8CD4-63F56CF17BB1}"/>
              </a:ext>
            </a:extLst>
          </p:cNvPr>
          <p:cNvSpPr>
            <a:spLocks xmlns:a="http://schemas.openxmlformats.org/drawingml/2006/main" noGrp="1"/>
          </p:cNvSpPr>
          <p:nvPr/>
        </p:nvSpPr>
        <p:spPr>
          <a:xfrm xmlns:a="http://schemas.openxmlformats.org/drawingml/2006/main">
            <a:off x="5505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1" name="">
            <a:extLst xmlns:a="http://schemas.openxmlformats.org/drawingml/2006/main">
              <a:ext uri="{FF2B5EF4-FFF2-40B4-BE49-F238E27FC236}">
                <a16:creationId xmlns:a16="http://schemas.microsoft.com/office/drawing/2014/main" id="{77F6DDFC-0540-4703-90E4-F63529A39009}"/>
              </a:ext>
            </a:extLst>
          </p:cNvPr>
          <p:cNvSpPr>
            <a:spLocks xmlns:a="http://schemas.openxmlformats.org/drawingml/2006/main" noGrp="1"/>
          </p:cNvSpPr>
          <p:nvPr/>
        </p:nvSpPr>
        <p:spPr>
          <a:xfrm xmlns:a="http://schemas.openxmlformats.org/drawingml/2006/main">
            <a:off x="7029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2" name="">
            <a:extLst xmlns:a="http://schemas.openxmlformats.org/drawingml/2006/main">
              <a:ext uri="{FF2B5EF4-FFF2-40B4-BE49-F238E27FC236}">
                <a16:creationId xmlns:a16="http://schemas.microsoft.com/office/drawing/2014/main" id="{F4AF55E2-896B-4B7F-9753-41ACD175448D}"/>
              </a:ext>
            </a:extLst>
          </p:cNvPr>
          <p:cNvSpPr>
            <a:spLocks xmlns:a="http://schemas.openxmlformats.org/drawingml/2006/main" noGrp="1"/>
          </p:cNvSpPr>
          <p:nvPr/>
        </p:nvSpPr>
        <p:spPr>
          <a:xfrm xmlns:a="http://schemas.openxmlformats.org/drawingml/2006/main">
            <a:off x="8553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3" name="">
            <a:extLst xmlns:a="http://schemas.openxmlformats.org/drawingml/2006/main">
              <a:ext uri="{FF2B5EF4-FFF2-40B4-BE49-F238E27FC236}">
                <a16:creationId xmlns:a16="http://schemas.microsoft.com/office/drawing/2014/main" id="{B8BA0342-F801-4387-B036-759807F17F19}"/>
              </a:ext>
            </a:extLst>
          </p:cNvPr>
          <p:cNvSpPr>
            <a:spLocks xmlns:a="http://schemas.openxmlformats.org/drawingml/2006/main" noGrp="1"/>
          </p:cNvSpPr>
          <p:nvPr/>
        </p:nvSpPr>
        <p:spPr>
          <a:xfrm xmlns:a="http://schemas.openxmlformats.org/drawingml/2006/main">
            <a:off x="10077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54" name="">
            <a:extLst xmlns:a="http://schemas.openxmlformats.org/drawingml/2006/main">
              <a:ext uri="{FF2B5EF4-FFF2-40B4-BE49-F238E27FC236}">
                <a16:creationId xmlns:a16="http://schemas.microsoft.com/office/drawing/2014/main" id="{1942AA36-974A-4591-882D-599C4774479F}"/>
              </a:ext>
            </a:extLst>
          </p:cNvPr>
          <p:cNvSpPr>
            <a:spLocks xmlns:a="http://schemas.openxmlformats.org/drawingml/2006/main" noGrp="1"/>
          </p:cNvSpPr>
          <p:nvPr/>
        </p:nvSpPr>
        <p:spPr>
          <a:xfrm xmlns:a="http://schemas.openxmlformats.org/drawingml/2006/main">
            <a:off x="457200" y="498157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544610E-C476-4D9F-BB40-FF85224DC205}"/>
              </a:ext>
            </a:extLst>
          </p:cNvPr>
          <p:cNvSpPr>
            <a:spLocks xmlns:a="http://schemas.openxmlformats.org/drawingml/2006/main" noGrp="1"/>
          </p:cNvSpPr>
          <p:nvPr/>
        </p:nvSpPr>
        <p:spPr>
          <a:xfrm xmlns:a="http://schemas.openxmlformats.org/drawingml/2006/main">
            <a:off x="581025" y="502920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ICC Loyalty (DB)</a:t>
            </a:r>
          </a:p>
        </p:txBody>
      </p:sp>
      <p:sp>
        <p:nvSpPr>
          <p:cNvPr id="56" name="">
            <a:extLst xmlns:a="http://schemas.openxmlformats.org/drawingml/2006/main">
              <a:ext uri="{FF2B5EF4-FFF2-40B4-BE49-F238E27FC236}">
                <a16:creationId xmlns:a16="http://schemas.microsoft.com/office/drawing/2014/main" id="{ABB10840-0E0C-4DA6-BEA5-A0850155E60A}"/>
              </a:ext>
            </a:extLst>
          </p:cNvPr>
          <p:cNvSpPr>
            <a:spLocks xmlns:a="http://schemas.openxmlformats.org/drawingml/2006/main" noGrp="1"/>
          </p:cNvSpPr>
          <p:nvPr/>
        </p:nvSpPr>
        <p:spPr>
          <a:xfrm xmlns:a="http://schemas.openxmlformats.org/drawingml/2006/main">
            <a:off x="3981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7" name="">
            <a:extLst xmlns:a="http://schemas.openxmlformats.org/drawingml/2006/main">
              <a:ext uri="{FF2B5EF4-FFF2-40B4-BE49-F238E27FC236}">
                <a16:creationId xmlns:a16="http://schemas.microsoft.com/office/drawing/2014/main" id="{D6F9DDB9-50E9-4528-97EC-64CC9CC939B4}"/>
              </a:ext>
            </a:extLst>
          </p:cNvPr>
          <p:cNvSpPr>
            <a:spLocks xmlns:a="http://schemas.openxmlformats.org/drawingml/2006/main" noGrp="1"/>
          </p:cNvSpPr>
          <p:nvPr/>
        </p:nvSpPr>
        <p:spPr>
          <a:xfrm xmlns:a="http://schemas.openxmlformats.org/drawingml/2006/main">
            <a:off x="5505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8" name="">
            <a:extLst xmlns:a="http://schemas.openxmlformats.org/drawingml/2006/main">
              <a:ext uri="{FF2B5EF4-FFF2-40B4-BE49-F238E27FC236}">
                <a16:creationId xmlns:a16="http://schemas.microsoft.com/office/drawing/2014/main" id="{2697389C-8789-4D10-A077-789A70A93748}"/>
              </a:ext>
            </a:extLst>
          </p:cNvPr>
          <p:cNvSpPr>
            <a:spLocks xmlns:a="http://schemas.openxmlformats.org/drawingml/2006/main" noGrp="1"/>
          </p:cNvSpPr>
          <p:nvPr/>
        </p:nvSpPr>
        <p:spPr>
          <a:xfrm xmlns:a="http://schemas.openxmlformats.org/drawingml/2006/main">
            <a:off x="7029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9" name="">
            <a:extLst xmlns:a="http://schemas.openxmlformats.org/drawingml/2006/main">
              <a:ext uri="{FF2B5EF4-FFF2-40B4-BE49-F238E27FC236}">
                <a16:creationId xmlns:a16="http://schemas.microsoft.com/office/drawing/2014/main" id="{55C4FDA5-B447-42B6-A621-4DA99C09CD96}"/>
              </a:ext>
            </a:extLst>
          </p:cNvPr>
          <p:cNvSpPr>
            <a:spLocks xmlns:a="http://schemas.openxmlformats.org/drawingml/2006/main" noGrp="1"/>
          </p:cNvSpPr>
          <p:nvPr/>
        </p:nvSpPr>
        <p:spPr>
          <a:xfrm xmlns:a="http://schemas.openxmlformats.org/drawingml/2006/main">
            <a:off x="8553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0" name="">
            <a:extLst xmlns:a="http://schemas.openxmlformats.org/drawingml/2006/main">
              <a:ext uri="{FF2B5EF4-FFF2-40B4-BE49-F238E27FC236}">
                <a16:creationId xmlns:a16="http://schemas.microsoft.com/office/drawing/2014/main" id="{D32E5FDE-A71C-4929-8380-3921CA7A65DC}"/>
              </a:ext>
            </a:extLst>
          </p:cNvPr>
          <p:cNvSpPr>
            <a:spLocks xmlns:a="http://schemas.openxmlformats.org/drawingml/2006/main" noGrp="1"/>
          </p:cNvSpPr>
          <p:nvPr/>
        </p:nvSpPr>
        <p:spPr>
          <a:xfrm xmlns:a="http://schemas.openxmlformats.org/drawingml/2006/main">
            <a:off x="10077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61" name="">
            <a:extLst xmlns:a="http://schemas.openxmlformats.org/drawingml/2006/main">
              <a:ext uri="{FF2B5EF4-FFF2-40B4-BE49-F238E27FC236}">
                <a16:creationId xmlns:a16="http://schemas.microsoft.com/office/drawing/2014/main" id="{0E290099-0C40-4E25-9AC5-D58FFE572763}"/>
              </a:ext>
            </a:extLst>
          </p:cNvPr>
          <p:cNvSpPr>
            <a:spLocks xmlns:a="http://schemas.openxmlformats.org/drawingml/2006/main" noGrp="1"/>
          </p:cNvSpPr>
          <p:nvPr/>
        </p:nvSpPr>
        <p:spPr>
          <a:xfrm xmlns:a="http://schemas.openxmlformats.org/drawingml/2006/main">
            <a:off x="457200" y="539115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C96E9AB9-89F8-48FA-9880-75AA4BC9213D}"/>
              </a:ext>
            </a:extLst>
          </p:cNvPr>
          <p:cNvSpPr>
            <a:spLocks xmlns:a="http://schemas.openxmlformats.org/drawingml/2006/main" noGrp="1"/>
          </p:cNvSpPr>
          <p:nvPr/>
        </p:nvSpPr>
        <p:spPr>
          <a:xfrm xmlns:a="http://schemas.openxmlformats.org/drawingml/2006/main">
            <a:off x="581025" y="543877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KAL</a:t>
            </a:r>
          </a:p>
        </p:txBody>
      </p:sp>
      <p:sp>
        <p:nvSpPr>
          <p:cNvPr id="63" name="">
            <a:extLst xmlns:a="http://schemas.openxmlformats.org/drawingml/2006/main">
              <a:ext uri="{FF2B5EF4-FFF2-40B4-BE49-F238E27FC236}">
                <a16:creationId xmlns:a16="http://schemas.microsoft.com/office/drawing/2014/main" id="{CAFA177C-53E5-4C78-AF67-D6F350C3E261}"/>
              </a:ext>
            </a:extLst>
          </p:cNvPr>
          <p:cNvSpPr>
            <a:spLocks xmlns:a="http://schemas.openxmlformats.org/drawingml/2006/main" noGrp="1"/>
          </p:cNvSpPr>
          <p:nvPr/>
        </p:nvSpPr>
        <p:spPr>
          <a:xfrm xmlns:a="http://schemas.openxmlformats.org/drawingml/2006/main">
            <a:off x="3981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64" name="">
            <a:extLst xmlns:a="http://schemas.openxmlformats.org/drawingml/2006/main">
              <a:ext uri="{FF2B5EF4-FFF2-40B4-BE49-F238E27FC236}">
                <a16:creationId xmlns:a16="http://schemas.microsoft.com/office/drawing/2014/main" id="{38D50383-A8AE-4C7D-A2F8-15C94365937C}"/>
              </a:ext>
            </a:extLst>
          </p:cNvPr>
          <p:cNvSpPr>
            <a:spLocks xmlns:a="http://schemas.openxmlformats.org/drawingml/2006/main" noGrp="1"/>
          </p:cNvSpPr>
          <p:nvPr/>
        </p:nvSpPr>
        <p:spPr>
          <a:xfrm xmlns:a="http://schemas.openxmlformats.org/drawingml/2006/main">
            <a:off x="5505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5" name="">
            <a:extLst xmlns:a="http://schemas.openxmlformats.org/drawingml/2006/main">
              <a:ext uri="{FF2B5EF4-FFF2-40B4-BE49-F238E27FC236}">
                <a16:creationId xmlns:a16="http://schemas.microsoft.com/office/drawing/2014/main" id="{02DAF2D5-3742-422F-B63C-D43FEF6FA063}"/>
              </a:ext>
            </a:extLst>
          </p:cNvPr>
          <p:cNvSpPr>
            <a:spLocks xmlns:a="http://schemas.openxmlformats.org/drawingml/2006/main" noGrp="1"/>
          </p:cNvSpPr>
          <p:nvPr/>
        </p:nvSpPr>
        <p:spPr>
          <a:xfrm xmlns:a="http://schemas.openxmlformats.org/drawingml/2006/main">
            <a:off x="7029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66" name="">
            <a:extLst xmlns:a="http://schemas.openxmlformats.org/drawingml/2006/main">
              <a:ext uri="{FF2B5EF4-FFF2-40B4-BE49-F238E27FC236}">
                <a16:creationId xmlns:a16="http://schemas.microsoft.com/office/drawing/2014/main" id="{0A5F43C5-2B55-4B4E-BBF6-D759DB5C5460}"/>
              </a:ext>
            </a:extLst>
          </p:cNvPr>
          <p:cNvSpPr>
            <a:spLocks xmlns:a="http://schemas.openxmlformats.org/drawingml/2006/main" noGrp="1"/>
          </p:cNvSpPr>
          <p:nvPr/>
        </p:nvSpPr>
        <p:spPr>
          <a:xfrm xmlns:a="http://schemas.openxmlformats.org/drawingml/2006/main">
            <a:off x="8553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7" name="">
            <a:extLst xmlns:a="http://schemas.openxmlformats.org/drawingml/2006/main">
              <a:ext uri="{FF2B5EF4-FFF2-40B4-BE49-F238E27FC236}">
                <a16:creationId xmlns:a16="http://schemas.microsoft.com/office/drawing/2014/main" id="{DD0151CA-D887-4108-8BC6-431C53A2DC07}"/>
              </a:ext>
            </a:extLst>
          </p:cNvPr>
          <p:cNvSpPr>
            <a:spLocks xmlns:a="http://schemas.openxmlformats.org/drawingml/2006/main" noGrp="1"/>
          </p:cNvSpPr>
          <p:nvPr/>
        </p:nvSpPr>
        <p:spPr>
          <a:xfrm xmlns:a="http://schemas.openxmlformats.org/drawingml/2006/main">
            <a:off x="10077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68" name="">
            <a:extLst xmlns:a="http://schemas.openxmlformats.org/drawingml/2006/main">
              <a:ext uri="{FF2B5EF4-FFF2-40B4-BE49-F238E27FC236}">
                <a16:creationId xmlns:a16="http://schemas.microsoft.com/office/drawing/2014/main" id="{D2B7E62D-99F9-456F-8E0E-FEA1A562274B}"/>
              </a:ext>
            </a:extLst>
          </p:cNvPr>
          <p:cNvSpPr>
            <a:spLocks xmlns:a="http://schemas.openxmlformats.org/drawingml/2006/main" noGrp="1"/>
          </p:cNvSpPr>
          <p:nvPr/>
        </p:nvSpPr>
        <p:spPr>
          <a:xfrm xmlns:a="http://schemas.openxmlformats.org/drawingml/2006/main">
            <a:off x="457200" y="595312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 Confirmed     × Denied     ◉ Passive DR     NA Not applicable</a:t>
            </a:r>
          </a:p>
        </p:txBody>
      </p:sp>
    </p:spTree>
    <p:extLst>
      <p:ext uri="{BB962C8B-B14F-4D97-AF65-F5344CB8AC3E}">
        <p14:creationId xmlns:p14="http://schemas.microsoft.com/office/powerpoint/2010/main" val="152392917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F53F720-652B-4104-8F76-3A7B3DDB18A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E6029B9-79D3-4780-B6CC-2AF6443E4C1B}"/>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infrastructure: website, SMS, HFLMS and loyalty</a:t>
            </a:r>
          </a:p>
        </p:txBody>
      </p:sp>
      <p:sp>
        <p:nvSpPr>
          <p:cNvPr id="3" name="">
            <a:extLst xmlns:a="http://schemas.openxmlformats.org/drawingml/2006/main">
              <a:ext uri="{FF2B5EF4-FFF2-40B4-BE49-F238E27FC236}">
                <a16:creationId xmlns:a16="http://schemas.microsoft.com/office/drawing/2014/main" id="{ED5B2FD7-5F75-4A38-9DD8-EFE64878A95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Source server totals include requested environments. Staging entries appear as provisioning denied.</a:t>
            </a:r>
          </a:p>
        </p:txBody>
      </p:sp>
      <p:sp>
        <p:nvSpPr>
          <p:cNvPr id="4" name="">
            <a:extLst xmlns:a="http://schemas.openxmlformats.org/drawingml/2006/main">
              <a:ext uri="{FF2B5EF4-FFF2-40B4-BE49-F238E27FC236}">
                <a16:creationId xmlns:a16="http://schemas.microsoft.com/office/drawing/2014/main" id="{251EE48D-CF4E-4FE0-9845-BFFE8A55C0B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3052F84-491F-48B5-9015-9018F3E0F85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36</a:t>
            </a:r>
          </a:p>
        </p:txBody>
      </p:sp>
      <p:sp>
        <p:nvSpPr>
          <p:cNvPr id="6" name="">
            <a:extLst xmlns:a="http://schemas.openxmlformats.org/drawingml/2006/main">
              <a:ext uri="{FF2B5EF4-FFF2-40B4-BE49-F238E27FC236}">
                <a16:creationId xmlns:a16="http://schemas.microsoft.com/office/drawing/2014/main" id="{5EBF5FBE-A8A3-4061-9448-5DFA9BF72F27}"/>
              </a:ext>
            </a:extLst>
          </p:cNvPr>
          <p:cNvSpPr>
            <a:spLocks xmlns:a="http://schemas.openxmlformats.org/drawingml/2006/main" noGrp="1"/>
          </p:cNvSpPr>
          <p:nvPr/>
        </p:nvSpPr>
        <p:spPr>
          <a:xfrm xmlns:a="http://schemas.openxmlformats.org/drawingml/2006/main">
            <a:off x="457200" y="2114550"/>
            <a:ext cx="5543550" cy="1933575"/>
          </a:xfrm>
          <a:prstGeom xmlns:a="http://schemas.openxmlformats.org/drawingml/2006/main" prst="roundRect">
            <a:avLst>
              <a:gd name="adj" fmla="val 591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7B0F29-4E03-4E76-B65B-CAE657C7DC07}"/>
              </a:ext>
            </a:extLst>
          </p:cNvPr>
          <p:cNvSpPr>
            <a:spLocks xmlns:a="http://schemas.openxmlformats.org/drawingml/2006/main" noGrp="1"/>
          </p:cNvSpPr>
          <p:nvPr/>
        </p:nvSpPr>
        <p:spPr>
          <a:xfrm xmlns:a="http://schemas.openxmlformats.org/drawingml/2006/main">
            <a:off x="609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DIB Website   26 servers</a:t>
            </a:r>
          </a:p>
        </p:txBody>
      </p:sp>
      <p:sp>
        <p:nvSpPr>
          <p:cNvPr id="8" name="">
            <a:extLst xmlns:a="http://schemas.openxmlformats.org/drawingml/2006/main">
              <a:ext uri="{FF2B5EF4-FFF2-40B4-BE49-F238E27FC236}">
                <a16:creationId xmlns:a16="http://schemas.microsoft.com/office/drawing/2014/main" id="{87610571-FD91-4B95-9DB8-593B3D551097}"/>
              </a:ext>
            </a:extLst>
          </p:cNvPr>
          <p:cNvSpPr>
            <a:spLocks xmlns:a="http://schemas.openxmlformats.org/drawingml/2006/main" noGrp="1"/>
          </p:cNvSpPr>
          <p:nvPr/>
        </p:nvSpPr>
        <p:spPr>
          <a:xfrm xmlns:a="http://schemas.openxmlformats.org/drawingml/2006/main">
            <a:off x="609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3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6,768</a:t>
            </a:r>
          </a:p>
        </p:txBody>
      </p:sp>
      <p:sp>
        <p:nvSpPr>
          <p:cNvPr id="9" name="">
            <a:extLst xmlns:a="http://schemas.openxmlformats.org/drawingml/2006/main">
              <a:ext uri="{FF2B5EF4-FFF2-40B4-BE49-F238E27FC236}">
                <a16:creationId xmlns:a16="http://schemas.microsoft.com/office/drawing/2014/main" id="{FEAD1B8D-EA78-44E1-AD52-9BE03FB64317}"/>
              </a:ext>
            </a:extLst>
          </p:cNvPr>
          <p:cNvSpPr>
            <a:spLocks xmlns:a="http://schemas.openxmlformats.org/drawingml/2006/main" noGrp="1"/>
          </p:cNvSpPr>
          <p:nvPr/>
        </p:nvSpPr>
        <p:spPr>
          <a:xfrm xmlns:a="http://schemas.openxmlformats.org/drawingml/2006/main">
            <a:off x="6172200" y="2114550"/>
            <a:ext cx="5543550" cy="1933575"/>
          </a:xfrm>
          <a:prstGeom xmlns:a="http://schemas.openxmlformats.org/drawingml/2006/main" prst="roundRect">
            <a:avLst>
              <a:gd name="adj" fmla="val 591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3F799A-6486-4414-9204-4274A3017A95}"/>
              </a:ext>
            </a:extLst>
          </p:cNvPr>
          <p:cNvSpPr>
            <a:spLocks xmlns:a="http://schemas.openxmlformats.org/drawingml/2006/main" noGrp="1"/>
          </p:cNvSpPr>
          <p:nvPr/>
        </p:nvSpPr>
        <p:spPr>
          <a:xfrm xmlns:a="http://schemas.openxmlformats.org/drawingml/2006/main">
            <a:off x="6324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Ducont SMS   12 servers</a:t>
            </a:r>
          </a:p>
        </p:txBody>
      </p:sp>
      <p:sp>
        <p:nvSpPr>
          <p:cNvPr id="11" name="">
            <a:extLst xmlns:a="http://schemas.openxmlformats.org/drawingml/2006/main">
              <a:ext uri="{FF2B5EF4-FFF2-40B4-BE49-F238E27FC236}">
                <a16:creationId xmlns:a16="http://schemas.microsoft.com/office/drawing/2014/main" id="{E5B8CFE3-4014-448B-B387-D775B1D65952}"/>
              </a:ext>
            </a:extLst>
          </p:cNvPr>
          <p:cNvSpPr>
            <a:spLocks xmlns:a="http://schemas.openxmlformats.org/drawingml/2006/main" noGrp="1"/>
          </p:cNvSpPr>
          <p:nvPr/>
        </p:nvSpPr>
        <p:spPr>
          <a:xfrm xmlns:a="http://schemas.openxmlformats.org/drawingml/2006/main">
            <a:off x="6324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2 / – /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13,550</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Programme scope: DB cluster</a:t>
            </a:r>
          </a:p>
        </p:txBody>
      </p:sp>
      <p:sp>
        <p:nvSpPr>
          <p:cNvPr id="12" name="">
            <a:extLst xmlns:a="http://schemas.openxmlformats.org/drawingml/2006/main">
              <a:ext uri="{FF2B5EF4-FFF2-40B4-BE49-F238E27FC236}">
                <a16:creationId xmlns:a16="http://schemas.microsoft.com/office/drawing/2014/main" id="{3D91A48A-6385-4664-A0E1-0CC5B79B4295}"/>
              </a:ext>
            </a:extLst>
          </p:cNvPr>
          <p:cNvSpPr>
            <a:spLocks xmlns:a="http://schemas.openxmlformats.org/drawingml/2006/main" noGrp="1"/>
          </p:cNvSpPr>
          <p:nvPr/>
        </p:nvSpPr>
        <p:spPr>
          <a:xfrm xmlns:a="http://schemas.openxmlformats.org/drawingml/2006/main">
            <a:off x="457200" y="4181475"/>
            <a:ext cx="5543550" cy="1933575"/>
          </a:xfrm>
          <a:prstGeom xmlns:a="http://schemas.openxmlformats.org/drawingml/2006/main" prst="roundRect">
            <a:avLst>
              <a:gd name="adj" fmla="val 591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4C909B-7705-4509-ADC4-0C037133D39A}"/>
              </a:ext>
            </a:extLst>
          </p:cNvPr>
          <p:cNvSpPr>
            <a:spLocks xmlns:a="http://schemas.openxmlformats.org/drawingml/2006/main" noGrp="1"/>
          </p:cNvSpPr>
          <p:nvPr/>
        </p:nvSpPr>
        <p:spPr>
          <a:xfrm xmlns:a="http://schemas.openxmlformats.org/drawingml/2006/main">
            <a:off x="609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HFLMS   19 servers</a:t>
            </a:r>
          </a:p>
        </p:txBody>
      </p:sp>
      <p:sp>
        <p:nvSpPr>
          <p:cNvPr id="14" name="">
            <a:extLst xmlns:a="http://schemas.openxmlformats.org/drawingml/2006/main">
              <a:ext uri="{FF2B5EF4-FFF2-40B4-BE49-F238E27FC236}">
                <a16:creationId xmlns:a16="http://schemas.microsoft.com/office/drawing/2014/main" id="{B75E4358-054D-4B64-AB4E-47FB1C317AA1}"/>
              </a:ext>
            </a:extLst>
          </p:cNvPr>
          <p:cNvSpPr>
            <a:spLocks xmlns:a="http://schemas.openxmlformats.org/drawingml/2006/main" noGrp="1"/>
          </p:cNvSpPr>
          <p:nvPr/>
        </p:nvSpPr>
        <p:spPr>
          <a:xfrm xmlns:a="http://schemas.openxmlformats.org/drawingml/2006/main">
            <a:off x="609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2 / 2 / – / 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2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40,226</a:t>
            </a:r>
          </a:p>
        </p:txBody>
      </p:sp>
      <p:sp>
        <p:nvSpPr>
          <p:cNvPr id="15" name="">
            <a:extLst xmlns:a="http://schemas.openxmlformats.org/drawingml/2006/main">
              <a:ext uri="{FF2B5EF4-FFF2-40B4-BE49-F238E27FC236}">
                <a16:creationId xmlns:a16="http://schemas.microsoft.com/office/drawing/2014/main" id="{244E77AA-E930-4FE2-8C82-AD85F6BA8293}"/>
              </a:ext>
            </a:extLst>
          </p:cNvPr>
          <p:cNvSpPr>
            <a:spLocks xmlns:a="http://schemas.openxmlformats.org/drawingml/2006/main" noGrp="1"/>
          </p:cNvSpPr>
          <p:nvPr/>
        </p:nvSpPr>
        <p:spPr>
          <a:xfrm xmlns:a="http://schemas.openxmlformats.org/drawingml/2006/main">
            <a:off x="6172200" y="4181475"/>
            <a:ext cx="5543550" cy="1933575"/>
          </a:xfrm>
          <a:prstGeom xmlns:a="http://schemas.openxmlformats.org/drawingml/2006/main" prst="roundRect">
            <a:avLst>
              <a:gd name="adj" fmla="val 591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F0CDB1-C78A-4494-BEBC-279121DD635A}"/>
              </a:ext>
            </a:extLst>
          </p:cNvPr>
          <p:cNvSpPr>
            <a:spLocks xmlns:a="http://schemas.openxmlformats.org/drawingml/2006/main" noGrp="1"/>
          </p:cNvSpPr>
          <p:nvPr/>
        </p:nvSpPr>
        <p:spPr>
          <a:xfrm xmlns:a="http://schemas.openxmlformats.org/drawingml/2006/main">
            <a:off x="6324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ICC Loyalty   3 servers</a:t>
            </a:r>
          </a:p>
        </p:txBody>
      </p:sp>
      <p:sp>
        <p:nvSpPr>
          <p:cNvPr id="17" name="">
            <a:extLst xmlns:a="http://schemas.openxmlformats.org/drawingml/2006/main">
              <a:ext uri="{FF2B5EF4-FFF2-40B4-BE49-F238E27FC236}">
                <a16:creationId xmlns:a16="http://schemas.microsoft.com/office/drawing/2014/main" id="{E303F74D-1D46-4EFA-BE45-ABAAE5BB29AD}"/>
              </a:ext>
            </a:extLst>
          </p:cNvPr>
          <p:cNvSpPr>
            <a:spLocks xmlns:a="http://schemas.openxmlformats.org/drawingml/2006/main" noGrp="1"/>
          </p:cNvSpPr>
          <p:nvPr/>
        </p:nvSpPr>
        <p:spPr>
          <a:xfrm xmlns:a="http://schemas.openxmlformats.org/drawingml/2006/main">
            <a:off x="6324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6,648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Programme scope: DB only</a:t>
            </a:r>
          </a:p>
        </p:txBody>
      </p:sp>
    </p:spTree>
    <p:extLst>
      <p:ext uri="{BB962C8B-B14F-4D97-AF65-F5344CB8AC3E}">
        <p14:creationId xmlns:p14="http://schemas.microsoft.com/office/powerpoint/2010/main" val="173482214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48DB94-E8BC-4E14-93CC-F7CC0A359724}"/>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A082E05-DBFF-467D-9DCF-9996BD22867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infrastructure: IB, KAL, Matrix and Omni</a:t>
            </a:r>
          </a:p>
        </p:txBody>
      </p:sp>
      <p:sp>
        <p:nvSpPr>
          <p:cNvPr id="3" name="">
            <a:extLst xmlns:a="http://schemas.openxmlformats.org/drawingml/2006/main">
              <a:ext uri="{FF2B5EF4-FFF2-40B4-BE49-F238E27FC236}">
                <a16:creationId xmlns:a16="http://schemas.microsoft.com/office/drawing/2014/main" id="{C037BCCC-8EA6-4ED4-985C-F87CB85F28D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Infrastructure design quantities remain separate from operational platform health measures.</a:t>
            </a:r>
          </a:p>
        </p:txBody>
      </p:sp>
      <p:sp>
        <p:nvSpPr>
          <p:cNvPr id="4" name="">
            <a:extLst xmlns:a="http://schemas.openxmlformats.org/drawingml/2006/main">
              <a:ext uri="{FF2B5EF4-FFF2-40B4-BE49-F238E27FC236}">
                <a16:creationId xmlns:a16="http://schemas.microsoft.com/office/drawing/2014/main" id="{371C1AD8-0501-4DA3-8B22-C86816C981A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CDCA743-A5B9-4DCD-BAD9-2DB623D9D83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37</a:t>
            </a:r>
          </a:p>
        </p:txBody>
      </p:sp>
      <p:sp>
        <p:nvSpPr>
          <p:cNvPr id="6" name="">
            <a:extLst xmlns:a="http://schemas.openxmlformats.org/drawingml/2006/main">
              <a:ext uri="{FF2B5EF4-FFF2-40B4-BE49-F238E27FC236}">
                <a16:creationId xmlns:a16="http://schemas.microsoft.com/office/drawing/2014/main" id="{A5553738-B91E-4C6A-8439-928C922F27DB}"/>
              </a:ext>
            </a:extLst>
          </p:cNvPr>
          <p:cNvSpPr>
            <a:spLocks xmlns:a="http://schemas.openxmlformats.org/drawingml/2006/main" noGrp="1"/>
          </p:cNvSpPr>
          <p:nvPr/>
        </p:nvSpPr>
        <p:spPr>
          <a:xfrm xmlns:a="http://schemas.openxmlformats.org/drawingml/2006/main">
            <a:off x="457200" y="2114550"/>
            <a:ext cx="5543550" cy="1933575"/>
          </a:xfrm>
          <a:prstGeom xmlns:a="http://schemas.openxmlformats.org/drawingml/2006/main" prst="roundRect">
            <a:avLst>
              <a:gd name="adj" fmla="val 591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FCF165-84A6-41F6-9066-085D98B0B174}"/>
              </a:ext>
            </a:extLst>
          </p:cNvPr>
          <p:cNvSpPr>
            <a:spLocks xmlns:a="http://schemas.openxmlformats.org/drawingml/2006/main" noGrp="1"/>
          </p:cNvSpPr>
          <p:nvPr/>
        </p:nvSpPr>
        <p:spPr>
          <a:xfrm xmlns:a="http://schemas.openxmlformats.org/drawingml/2006/main">
            <a:off x="609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Internet Banking   42 servers</a:t>
            </a:r>
          </a:p>
        </p:txBody>
      </p:sp>
      <p:sp>
        <p:nvSpPr>
          <p:cNvPr id="8" name="">
            <a:extLst xmlns:a="http://schemas.openxmlformats.org/drawingml/2006/main">
              <a:ext uri="{FF2B5EF4-FFF2-40B4-BE49-F238E27FC236}">
                <a16:creationId xmlns:a16="http://schemas.microsoft.com/office/drawing/2014/main" id="{9BC60355-24A0-4EE5-8DDF-1C1F19C5E3FB}"/>
              </a:ext>
            </a:extLst>
          </p:cNvPr>
          <p:cNvSpPr>
            <a:spLocks xmlns:a="http://schemas.openxmlformats.org/drawingml/2006/main" noGrp="1"/>
          </p:cNvSpPr>
          <p:nvPr/>
        </p:nvSpPr>
        <p:spPr>
          <a:xfrm xmlns:a="http://schemas.openxmlformats.org/drawingml/2006/main">
            <a:off x="609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6 / 4 / 5 / 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3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3 / 2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34,958</a:t>
            </a:r>
          </a:p>
        </p:txBody>
      </p:sp>
      <p:sp>
        <p:nvSpPr>
          <p:cNvPr id="9" name="">
            <a:extLst xmlns:a="http://schemas.openxmlformats.org/drawingml/2006/main">
              <a:ext uri="{FF2B5EF4-FFF2-40B4-BE49-F238E27FC236}">
                <a16:creationId xmlns:a16="http://schemas.microsoft.com/office/drawing/2014/main" id="{D98E293C-25DC-4D07-A194-F5FBD897DD1B}"/>
              </a:ext>
            </a:extLst>
          </p:cNvPr>
          <p:cNvSpPr>
            <a:spLocks xmlns:a="http://schemas.openxmlformats.org/drawingml/2006/main" noGrp="1"/>
          </p:cNvSpPr>
          <p:nvPr/>
        </p:nvSpPr>
        <p:spPr>
          <a:xfrm xmlns:a="http://schemas.openxmlformats.org/drawingml/2006/main">
            <a:off x="6172200" y="2114550"/>
            <a:ext cx="5543550" cy="1933575"/>
          </a:xfrm>
          <a:prstGeom xmlns:a="http://schemas.openxmlformats.org/drawingml/2006/main" prst="roundRect">
            <a:avLst>
              <a:gd name="adj" fmla="val 591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5D4CE3C-182D-4381-9317-2EA58E47EF1B}"/>
              </a:ext>
            </a:extLst>
          </p:cNvPr>
          <p:cNvSpPr>
            <a:spLocks xmlns:a="http://schemas.openxmlformats.org/drawingml/2006/main" noGrp="1"/>
          </p:cNvSpPr>
          <p:nvPr/>
        </p:nvSpPr>
        <p:spPr>
          <a:xfrm xmlns:a="http://schemas.openxmlformats.org/drawingml/2006/main">
            <a:off x="6324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KAL   23 servers</a:t>
            </a:r>
          </a:p>
        </p:txBody>
      </p:sp>
      <p:sp>
        <p:nvSpPr>
          <p:cNvPr id="11" name="">
            <a:extLst xmlns:a="http://schemas.openxmlformats.org/drawingml/2006/main">
              <a:ext uri="{FF2B5EF4-FFF2-40B4-BE49-F238E27FC236}">
                <a16:creationId xmlns:a16="http://schemas.microsoft.com/office/drawing/2014/main" id="{2B2CE85D-3F58-449B-8730-BD9F3E63D9BF}"/>
              </a:ext>
            </a:extLst>
          </p:cNvPr>
          <p:cNvSpPr>
            <a:spLocks xmlns:a="http://schemas.openxmlformats.org/drawingml/2006/main" noGrp="1"/>
          </p:cNvSpPr>
          <p:nvPr/>
        </p:nvSpPr>
        <p:spPr>
          <a:xfrm xmlns:a="http://schemas.openxmlformats.org/drawingml/2006/main">
            <a:off x="6324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12,808</a:t>
            </a:r>
          </a:p>
        </p:txBody>
      </p:sp>
      <p:sp>
        <p:nvSpPr>
          <p:cNvPr id="12" name="">
            <a:extLst xmlns:a="http://schemas.openxmlformats.org/drawingml/2006/main">
              <a:ext uri="{FF2B5EF4-FFF2-40B4-BE49-F238E27FC236}">
                <a16:creationId xmlns:a16="http://schemas.microsoft.com/office/drawing/2014/main" id="{D1DDA059-3AF7-46B0-AC35-79B7DA0C4F27}"/>
              </a:ext>
            </a:extLst>
          </p:cNvPr>
          <p:cNvSpPr>
            <a:spLocks xmlns:a="http://schemas.openxmlformats.org/drawingml/2006/main" noGrp="1"/>
          </p:cNvSpPr>
          <p:nvPr/>
        </p:nvSpPr>
        <p:spPr>
          <a:xfrm xmlns:a="http://schemas.openxmlformats.org/drawingml/2006/main">
            <a:off x="457200" y="4181475"/>
            <a:ext cx="5543550" cy="1933575"/>
          </a:xfrm>
          <a:prstGeom xmlns:a="http://schemas.openxmlformats.org/drawingml/2006/main" prst="roundRect">
            <a:avLst>
              <a:gd name="adj" fmla="val 591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3DF01C-51CB-4FB4-80F5-DCA9F85B70D4}"/>
              </a:ext>
            </a:extLst>
          </p:cNvPr>
          <p:cNvSpPr>
            <a:spLocks xmlns:a="http://schemas.openxmlformats.org/drawingml/2006/main" noGrp="1"/>
          </p:cNvSpPr>
          <p:nvPr/>
        </p:nvSpPr>
        <p:spPr>
          <a:xfrm xmlns:a="http://schemas.openxmlformats.org/drawingml/2006/main">
            <a:off x="609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Matrix   6 servers</a:t>
            </a:r>
          </a:p>
        </p:txBody>
      </p:sp>
      <p:sp>
        <p:nvSpPr>
          <p:cNvPr id="14" name="">
            <a:extLst xmlns:a="http://schemas.openxmlformats.org/drawingml/2006/main">
              <a:ext uri="{FF2B5EF4-FFF2-40B4-BE49-F238E27FC236}">
                <a16:creationId xmlns:a16="http://schemas.microsoft.com/office/drawing/2014/main" id="{70081A1F-8D80-4641-9F7E-93FC563E5D1E}"/>
              </a:ext>
            </a:extLst>
          </p:cNvPr>
          <p:cNvSpPr>
            <a:spLocks xmlns:a="http://schemas.openxmlformats.org/drawingml/2006/main" noGrp="1"/>
          </p:cNvSpPr>
          <p:nvPr/>
        </p:nvSpPr>
        <p:spPr>
          <a:xfrm xmlns:a="http://schemas.openxmlformats.org/drawingml/2006/main">
            <a:off x="609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10,530</a:t>
            </a:r>
          </a:p>
        </p:txBody>
      </p:sp>
      <p:sp>
        <p:nvSpPr>
          <p:cNvPr id="15" name="">
            <a:extLst xmlns:a="http://schemas.openxmlformats.org/drawingml/2006/main">
              <a:ext uri="{FF2B5EF4-FFF2-40B4-BE49-F238E27FC236}">
                <a16:creationId xmlns:a16="http://schemas.microsoft.com/office/drawing/2014/main" id="{BC52F7C2-CF60-46A6-A960-682F2BDA653D}"/>
              </a:ext>
            </a:extLst>
          </p:cNvPr>
          <p:cNvSpPr>
            <a:spLocks xmlns:a="http://schemas.openxmlformats.org/drawingml/2006/main" noGrp="1"/>
          </p:cNvSpPr>
          <p:nvPr/>
        </p:nvSpPr>
        <p:spPr>
          <a:xfrm xmlns:a="http://schemas.openxmlformats.org/drawingml/2006/main">
            <a:off x="6172200" y="4181475"/>
            <a:ext cx="5543550" cy="1933575"/>
          </a:xfrm>
          <a:prstGeom xmlns:a="http://schemas.openxmlformats.org/drawingml/2006/main" prst="roundRect">
            <a:avLst>
              <a:gd name="adj" fmla="val 591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FD5F797-7C2E-44B8-85E2-D5906C2FB052}"/>
              </a:ext>
            </a:extLst>
          </p:cNvPr>
          <p:cNvSpPr>
            <a:spLocks xmlns:a="http://schemas.openxmlformats.org/drawingml/2006/main" noGrp="1"/>
          </p:cNvSpPr>
          <p:nvPr/>
        </p:nvSpPr>
        <p:spPr>
          <a:xfrm xmlns:a="http://schemas.openxmlformats.org/drawingml/2006/main">
            <a:off x="6324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Mobile App / Omni   11 servers</a:t>
            </a:r>
          </a:p>
        </p:txBody>
      </p:sp>
      <p:sp>
        <p:nvSpPr>
          <p:cNvPr id="17" name="">
            <a:extLst xmlns:a="http://schemas.openxmlformats.org/drawingml/2006/main">
              <a:ext uri="{FF2B5EF4-FFF2-40B4-BE49-F238E27FC236}">
                <a16:creationId xmlns:a16="http://schemas.microsoft.com/office/drawing/2014/main" id="{4112602E-6035-4D84-B2CB-660D58E78E50}"/>
              </a:ext>
            </a:extLst>
          </p:cNvPr>
          <p:cNvSpPr>
            <a:spLocks xmlns:a="http://schemas.openxmlformats.org/drawingml/2006/main" noGrp="1"/>
          </p:cNvSpPr>
          <p:nvPr/>
        </p:nvSpPr>
        <p:spPr>
          <a:xfrm xmlns:a="http://schemas.openxmlformats.org/drawingml/2006/main">
            <a:off x="6324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2 / 3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2,498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Staging provisioning denied</a:t>
            </a:r>
          </a:p>
        </p:txBody>
      </p:sp>
    </p:spTree>
    <p:extLst>
      <p:ext uri="{BB962C8B-B14F-4D97-AF65-F5344CB8AC3E}">
        <p14:creationId xmlns:p14="http://schemas.microsoft.com/office/powerpoint/2010/main" val="208319936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658E91A-F9C3-4293-8D62-5C5D124CA798}"/>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4592892F-C176-4DF2-A501-C78A68AB5E5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Management decisions and evidence for the next review</a:t>
            </a:r>
          </a:p>
        </p:txBody>
      </p:sp>
      <p:sp>
        <p:nvSpPr>
          <p:cNvPr id="3" name="">
            <a:extLst xmlns:a="http://schemas.openxmlformats.org/drawingml/2006/main">
              <a:ext uri="{FF2B5EF4-FFF2-40B4-BE49-F238E27FC236}">
                <a16:creationId xmlns:a16="http://schemas.microsoft.com/office/drawing/2014/main" id="{8B124560-925A-4DD6-9DCC-61FA51CD45B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Recommended governance gates for the new platform and resiliency sections</a:t>
            </a:r>
          </a:p>
        </p:txBody>
      </p:sp>
      <p:sp>
        <p:nvSpPr>
          <p:cNvPr id="4" name="">
            <a:extLst xmlns:a="http://schemas.openxmlformats.org/drawingml/2006/main">
              <a:ext uri="{FF2B5EF4-FFF2-40B4-BE49-F238E27FC236}">
                <a16:creationId xmlns:a16="http://schemas.microsoft.com/office/drawing/2014/main" id="{FD7B4705-0E18-4FB9-A2F8-F05DCD65258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27967DD-B527-4D36-BCBF-8E076CA7E2A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38</a:t>
            </a:r>
          </a:p>
        </p:txBody>
      </p:sp>
      <p:sp>
        <p:nvSpPr>
          <p:cNvPr id="6" name="">
            <a:extLst xmlns:a="http://schemas.openxmlformats.org/drawingml/2006/main">
              <a:ext uri="{FF2B5EF4-FFF2-40B4-BE49-F238E27FC236}">
                <a16:creationId xmlns:a16="http://schemas.microsoft.com/office/drawing/2014/main" id="{DDA3E97F-4268-48E6-92C5-B6D602AEDB79}"/>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8543CB-0AEA-4754-985C-1BA55FF58ADC}"/>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1  Release baseline</a:t>
            </a:r>
          </a:p>
        </p:txBody>
      </p:sp>
      <p:sp>
        <p:nvSpPr>
          <p:cNvPr id="8" name="">
            <a:extLst xmlns:a="http://schemas.openxmlformats.org/drawingml/2006/main">
              <a:ext uri="{FF2B5EF4-FFF2-40B4-BE49-F238E27FC236}">
                <a16:creationId xmlns:a16="http://schemas.microsoft.com/office/drawing/2014/main" id="{A64CC8F3-99D3-4521-895E-E5CA09E486F5}"/>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IB / Omni proposed Q2 2027 dates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Reconcile HFLMS Q4 2026 scope with 2027 DR plan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Correct council entries that show Q2 2007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4 October releases with actual evidence</a:t>
            </a:r>
          </a:p>
        </p:txBody>
      </p:sp>
      <p:sp>
        <p:nvSpPr>
          <p:cNvPr id="9" name="">
            <a:extLst xmlns:a="http://schemas.openxmlformats.org/drawingml/2006/main">
              <a:ext uri="{FF2B5EF4-FFF2-40B4-BE49-F238E27FC236}">
                <a16:creationId xmlns:a16="http://schemas.microsoft.com/office/drawing/2014/main" id="{524B48C9-C59F-4A6A-B084-89AB4A8448B1}"/>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A0172A-1C2B-41FA-BAC9-1CABBEA6152D}"/>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2  Environment approval</a:t>
            </a:r>
          </a:p>
        </p:txBody>
      </p:sp>
      <p:sp>
        <p:nvSpPr>
          <p:cNvPr id="11" name="">
            <a:extLst xmlns:a="http://schemas.openxmlformats.org/drawingml/2006/main">
              <a:ext uri="{FF2B5EF4-FFF2-40B4-BE49-F238E27FC236}">
                <a16:creationId xmlns:a16="http://schemas.microsoft.com/office/drawing/2014/main" id="{B6060BA1-A2DC-4732-A57B-81639400B9AE}"/>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Resolve six denied staging requirements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Document alternatives and accountable approvals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passive DR provisioning versus operational capability</a:t>
            </a:r>
          </a:p>
        </p:txBody>
      </p:sp>
      <p:sp>
        <p:nvSpPr>
          <p:cNvPr id="12" name="">
            <a:extLst xmlns:a="http://schemas.openxmlformats.org/drawingml/2006/main">
              <a:ext uri="{FF2B5EF4-FFF2-40B4-BE49-F238E27FC236}">
                <a16:creationId xmlns:a16="http://schemas.microsoft.com/office/drawing/2014/main" id="{3DB0A8D3-FCDF-498B-9AB9-994DE70E3629}"/>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E6F6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F7CD54-6786-4D23-BAD9-E8D9CD6DED96}"/>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3  Recovery acceptance</a:t>
            </a:r>
          </a:p>
        </p:txBody>
      </p:sp>
      <p:sp>
        <p:nvSpPr>
          <p:cNvPr id="14" name="">
            <a:extLst xmlns:a="http://schemas.openxmlformats.org/drawingml/2006/main">
              <a:ext uri="{FF2B5EF4-FFF2-40B4-BE49-F238E27FC236}">
                <a16:creationId xmlns:a16="http://schemas.microsoft.com/office/drawing/2014/main" id="{3FC24AD4-E72C-4F8B-BD91-D0410FDA4276}"/>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Agree platform RTO / RPO and test criteria</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Track failover, failback and data integrity evidence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Assign owners for CCM DR and SMS Site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Define production release acceptance</a:t>
            </a:r>
          </a:p>
        </p:txBody>
      </p:sp>
      <p:sp>
        <p:nvSpPr>
          <p:cNvPr id="15" name="">
            <a:extLst xmlns:a="http://schemas.openxmlformats.org/drawingml/2006/main">
              <a:ext uri="{FF2B5EF4-FFF2-40B4-BE49-F238E27FC236}">
                <a16:creationId xmlns:a16="http://schemas.microsoft.com/office/drawing/2014/main" id="{0DEA392A-6154-4151-9667-E0F63BA094AA}"/>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783C95-04B1-4FD2-B68A-FFE86C5ECB4C}"/>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4  Capacity and reporting</a:t>
            </a:r>
          </a:p>
        </p:txBody>
      </p:sp>
      <p:sp>
        <p:nvSpPr>
          <p:cNvPr id="17" name="">
            <a:extLst xmlns:a="http://schemas.openxmlformats.org/drawingml/2006/main">
              <a:ext uri="{FF2B5EF4-FFF2-40B4-BE49-F238E27FC236}">
                <a16:creationId xmlns:a16="http://schemas.microsoft.com/office/drawing/2014/main" id="{2567C75E-F8E6-405E-AB00-755DEF9B3DE9}"/>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ATM memory trends and failover headroom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Reconcile CCM/SMS storage figures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infrastructure quantities and storage units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Budget / migration checklist not supplied</a:t>
            </a:r>
          </a:p>
        </p:txBody>
      </p:sp>
    </p:spTree>
    <p:extLst>
      <p:ext uri="{BB962C8B-B14F-4D97-AF65-F5344CB8AC3E}">
        <p14:creationId xmlns:p14="http://schemas.microsoft.com/office/powerpoint/2010/main" val="40510771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96556A6-BA2C-44DE-9B3A-89C609CC5C6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563CFAD9-7673-4F6F-95E2-8A4BCB5BCDE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Cards portfolio: delivery continues, with capacity on watch</a:t>
            </a:r>
          </a:p>
        </p:txBody>
      </p:sp>
      <p:sp>
        <p:nvSpPr>
          <p:cNvPr id="3" name="">
            <a:extLst xmlns:a="http://schemas.openxmlformats.org/drawingml/2006/main">
              <a:ext uri="{FF2B5EF4-FFF2-40B4-BE49-F238E27FC236}">
                <a16:creationId xmlns:a16="http://schemas.microsoft.com/office/drawing/2014/main" id="{D4CE0100-16FD-4942-8898-90508C74ECD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2026 executive outcome. Source health status: Green.</a:t>
            </a:r>
          </a:p>
        </p:txBody>
      </p:sp>
      <p:sp>
        <p:nvSpPr>
          <p:cNvPr id="4" name="">
            <a:extLst xmlns:a="http://schemas.openxmlformats.org/drawingml/2006/main">
              <a:ext uri="{FF2B5EF4-FFF2-40B4-BE49-F238E27FC236}">
                <a16:creationId xmlns:a16="http://schemas.microsoft.com/office/drawing/2014/main" id="{0C53F386-4018-45E4-BDE9-026E3169E32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071EDDB-2FC3-4484-93F1-0265AD8E0E49}"/>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39</a:t>
            </a:r>
          </a:p>
        </p:txBody>
      </p:sp>
      <p:sp>
        <p:nvSpPr>
          <p:cNvPr id="6" name="">
            <a:extLst xmlns:a="http://schemas.openxmlformats.org/drawingml/2006/main">
              <a:ext uri="{FF2B5EF4-FFF2-40B4-BE49-F238E27FC236}">
                <a16:creationId xmlns:a16="http://schemas.microsoft.com/office/drawing/2014/main" id="{1A924D0C-652A-4F58-972A-0FE405686244}"/>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9E25098-66D5-4BFB-A834-87111729FD00}"/>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58</a:t>
            </a:r>
          </a:p>
        </p:txBody>
      </p:sp>
      <p:sp>
        <p:nvSpPr>
          <p:cNvPr id="8" name="">
            <a:extLst xmlns:a="http://schemas.openxmlformats.org/drawingml/2006/main">
              <a:ext uri="{FF2B5EF4-FFF2-40B4-BE49-F238E27FC236}">
                <a16:creationId xmlns:a16="http://schemas.microsoft.com/office/drawing/2014/main" id="{06C9666F-0EBB-4C67-8677-9BA43A67E168}"/>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reported delivered</a:t>
            </a:r>
          </a:p>
        </p:txBody>
      </p:sp>
      <p:sp>
        <p:nvSpPr>
          <p:cNvPr id="9" name="">
            <a:extLst xmlns:a="http://schemas.openxmlformats.org/drawingml/2006/main">
              <a:ext uri="{FF2B5EF4-FFF2-40B4-BE49-F238E27FC236}">
                <a16:creationId xmlns:a16="http://schemas.microsoft.com/office/drawing/2014/main" id="{7E4E8987-046A-4EAB-A8EF-D18BAF476AFB}"/>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BB5862-4AD7-47C3-A0D9-AC6E642110CD}"/>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39</a:t>
            </a:r>
          </a:p>
        </p:txBody>
      </p:sp>
      <p:sp>
        <p:nvSpPr>
          <p:cNvPr id="11" name="">
            <a:extLst xmlns:a="http://schemas.openxmlformats.org/drawingml/2006/main">
              <a:ext uri="{FF2B5EF4-FFF2-40B4-BE49-F238E27FC236}">
                <a16:creationId xmlns:a16="http://schemas.microsoft.com/office/drawing/2014/main" id="{BD82B280-4FE7-45DF-A3E8-A2893F6F0C5D}"/>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 progress</a:t>
            </a:r>
          </a:p>
        </p:txBody>
      </p:sp>
      <p:sp>
        <p:nvSpPr>
          <p:cNvPr id="12" name="">
            <a:extLst xmlns:a="http://schemas.openxmlformats.org/drawingml/2006/main">
              <a:ext uri="{FF2B5EF4-FFF2-40B4-BE49-F238E27FC236}">
                <a16:creationId xmlns:a16="http://schemas.microsoft.com/office/drawing/2014/main" id="{F1D40669-FD06-4C76-A6DE-5C6ED2B8CAFD}"/>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11E11C-7818-4FF6-B1AE-014C7D1F9851}"/>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78.6%</a:t>
            </a:r>
          </a:p>
        </p:txBody>
      </p:sp>
      <p:sp>
        <p:nvSpPr>
          <p:cNvPr id="14" name="">
            <a:extLst xmlns:a="http://schemas.openxmlformats.org/drawingml/2006/main">
              <a:ext uri="{FF2B5EF4-FFF2-40B4-BE49-F238E27FC236}">
                <a16:creationId xmlns:a16="http://schemas.microsoft.com/office/drawing/2014/main" id="{4D742B9F-A75D-4571-949F-52EEBE4DB7DF}"/>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transaction success</a:t>
            </a:r>
          </a:p>
        </p:txBody>
      </p:sp>
      <p:sp>
        <p:nvSpPr>
          <p:cNvPr id="15" name="">
            <a:extLst xmlns:a="http://schemas.openxmlformats.org/drawingml/2006/main">
              <a:ext uri="{FF2B5EF4-FFF2-40B4-BE49-F238E27FC236}">
                <a16:creationId xmlns:a16="http://schemas.microsoft.com/office/drawing/2014/main" id="{A7978BD0-1471-41AF-95B9-41617242F63A}"/>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962C316-6A2D-4691-AE51-0331B238C542}"/>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99.9%</a:t>
            </a:r>
          </a:p>
        </p:txBody>
      </p:sp>
      <p:sp>
        <p:nvSpPr>
          <p:cNvPr id="17" name="">
            <a:extLst xmlns:a="http://schemas.openxmlformats.org/drawingml/2006/main">
              <a:ext uri="{FF2B5EF4-FFF2-40B4-BE49-F238E27FC236}">
                <a16:creationId xmlns:a16="http://schemas.microsoft.com/office/drawing/2014/main" id="{317E0817-4B39-4538-8119-451749323C26}"/>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availability</a:t>
            </a:r>
          </a:p>
        </p:txBody>
      </p:sp>
      <p:sp>
        <p:nvSpPr>
          <p:cNvPr id="18" name="">
            <a:extLst xmlns:a="http://schemas.openxmlformats.org/drawingml/2006/main">
              <a:ext uri="{FF2B5EF4-FFF2-40B4-BE49-F238E27FC236}">
                <a16:creationId xmlns:a16="http://schemas.microsoft.com/office/drawing/2014/main" id="{04964ED5-A3E1-4FC4-8535-E8471CBEDC2D}"/>
              </a:ext>
            </a:extLst>
          </p:cNvPr>
          <p:cNvSpPr>
            <a:spLocks xmlns:a="http://schemas.openxmlformats.org/drawingml/2006/main" noGrp="1"/>
          </p:cNvSpPr>
          <p:nvPr/>
        </p:nvSpPr>
        <p:spPr>
          <a:xfrm xmlns:a="http://schemas.openxmlformats.org/drawingml/2006/main">
            <a:off x="457200" y="3552825"/>
            <a:ext cx="5543550" cy="2486025"/>
          </a:xfrm>
          <a:prstGeom xmlns:a="http://schemas.openxmlformats.org/drawingml/2006/main" prst="roundRect">
            <a:avLst>
              <a:gd name="adj" fmla="val 4598"/>
            </a:avLst>
          </a:prstGeom>
          <a:solidFill xmlns:a="http://schemas.openxmlformats.org/drawingml/2006/main">
            <a:srgbClr val="E8F3F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4612443-16D4-4EF5-B503-168A4629D5EC}"/>
              </a:ext>
            </a:extLst>
          </p:cNvPr>
          <p:cNvSpPr>
            <a:spLocks xmlns:a="http://schemas.openxmlformats.org/drawingml/2006/main" noGrp="1"/>
          </p:cNvSpPr>
          <p:nvPr/>
        </p:nvSpPr>
        <p:spPr>
          <a:xfrm xmlns:a="http://schemas.openxmlformats.org/drawingml/2006/main">
            <a:off x="60960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Business activity</a:t>
            </a:r>
          </a:p>
        </p:txBody>
      </p:sp>
      <p:sp>
        <p:nvSpPr>
          <p:cNvPr id="20" name="">
            <a:extLst xmlns:a="http://schemas.openxmlformats.org/drawingml/2006/main">
              <a:ext uri="{FF2B5EF4-FFF2-40B4-BE49-F238E27FC236}">
                <a16:creationId xmlns:a16="http://schemas.microsoft.com/office/drawing/2014/main" id="{F176FC2A-929C-4848-B4C6-28F1C0B3217F}"/>
              </a:ext>
            </a:extLst>
          </p:cNvPr>
          <p:cNvSpPr>
            <a:spLocks xmlns:a="http://schemas.openxmlformats.org/drawingml/2006/main" noGrp="1"/>
          </p:cNvSpPr>
          <p:nvPr/>
        </p:nvSpPr>
        <p:spPr>
          <a:xfrm xmlns:a="http://schemas.openxmlformats.org/drawingml/2006/main">
            <a:off x="609600" y="4162425"/>
            <a:ext cx="52387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1.35M active credit and debit cards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22,820 new cards reported in September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30.89M transactions / 24.29M successful</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No critical incidents, 3 major incidents</a:t>
            </a:r>
          </a:p>
        </p:txBody>
      </p:sp>
      <p:sp>
        <p:nvSpPr>
          <p:cNvPr id="21" name="">
            <a:extLst xmlns:a="http://schemas.openxmlformats.org/drawingml/2006/main">
              <a:ext uri="{FF2B5EF4-FFF2-40B4-BE49-F238E27FC236}">
                <a16:creationId xmlns:a16="http://schemas.microsoft.com/office/drawing/2014/main" id="{3A311B53-81D5-4439-BB1D-16D9A1057FD4}"/>
              </a:ext>
            </a:extLst>
          </p:cNvPr>
          <p:cNvSpPr>
            <a:spLocks xmlns:a="http://schemas.openxmlformats.org/drawingml/2006/main" noGrp="1"/>
          </p:cNvSpPr>
          <p:nvPr/>
        </p:nvSpPr>
        <p:spPr>
          <a:xfrm xmlns:a="http://schemas.openxmlformats.org/drawingml/2006/main">
            <a:off x="6191250" y="3552825"/>
            <a:ext cx="5543550" cy="2486025"/>
          </a:xfrm>
          <a:prstGeom xmlns:a="http://schemas.openxmlformats.org/drawingml/2006/main" prst="roundRect">
            <a:avLst>
              <a:gd name="adj" fmla="val 4598"/>
            </a:avLst>
          </a:prstGeom>
          <a:solidFill xmlns:a="http://schemas.openxmlformats.org/drawingml/2006/main">
            <a:srgbClr val="FFF4D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C676851-D839-4773-B57F-3C2B6C99F878}"/>
              </a:ext>
            </a:extLst>
          </p:cNvPr>
          <p:cNvSpPr>
            <a:spLocks xmlns:a="http://schemas.openxmlformats.org/drawingml/2006/main" noGrp="1"/>
          </p:cNvSpPr>
          <p:nvPr/>
        </p:nvSpPr>
        <p:spPr>
          <a:xfrm xmlns:a="http://schemas.openxmlformats.org/drawingml/2006/main">
            <a:off x="634365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Management focus</a:t>
            </a:r>
          </a:p>
        </p:txBody>
      </p:sp>
      <p:sp>
        <p:nvSpPr>
          <p:cNvPr id="23" name="">
            <a:extLst xmlns:a="http://schemas.openxmlformats.org/drawingml/2006/main">
              <a:ext uri="{FF2B5EF4-FFF2-40B4-BE49-F238E27FC236}">
                <a16:creationId xmlns:a16="http://schemas.microsoft.com/office/drawing/2014/main" id="{E59406D5-6C4F-44F4-BC73-A96F8D93014E}"/>
              </a:ext>
            </a:extLst>
          </p:cNvPr>
          <p:cNvSpPr>
            <a:spLocks xmlns:a="http://schemas.openxmlformats.org/drawingml/2006/main" noGrp="1"/>
          </p:cNvSpPr>
          <p:nvPr/>
        </p:nvSpPr>
        <p:spPr>
          <a:xfrm xmlns:a="http://schemas.openxmlformats.org/drawingml/2006/main">
            <a:off x="6343650" y="4162425"/>
            <a:ext cx="52387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utilization: 94.5% average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Demand counts need reconciliation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Three named demands are in UAT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VAU stage differs across the attachments</a:t>
            </a:r>
          </a:p>
        </p:txBody>
      </p:sp>
    </p:spTree>
    <p:extLst>
      <p:ext uri="{BB962C8B-B14F-4D97-AF65-F5344CB8AC3E}">
        <p14:creationId xmlns:p14="http://schemas.microsoft.com/office/powerpoint/2010/main" val="182539240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1ABF27-2773-4D8B-9AC3-58BBE7B93EF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B554A75D-4BC0-49DE-84F4-9D901F389A9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Cards demand counts require reconciliation</a:t>
            </a:r>
          </a:p>
        </p:txBody>
      </p:sp>
      <p:sp>
        <p:nvSpPr>
          <p:cNvPr id="3" name="">
            <a:extLst xmlns:a="http://schemas.openxmlformats.org/drawingml/2006/main">
              <a:ext uri="{FF2B5EF4-FFF2-40B4-BE49-F238E27FC236}">
                <a16:creationId xmlns:a16="http://schemas.microsoft.com/office/drawing/2014/main" id="{3595CDE7-93DC-4411-AD34-7686F03DE786}"/>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report states 147 total demands. Five delivery-state counts sum to 137.</a:t>
            </a:r>
          </a:p>
        </p:txBody>
      </p:sp>
      <p:sp>
        <p:nvSpPr>
          <p:cNvPr id="4" name="">
            <a:extLst xmlns:a="http://schemas.openxmlformats.org/drawingml/2006/main">
              <a:ext uri="{FF2B5EF4-FFF2-40B4-BE49-F238E27FC236}">
                <a16:creationId xmlns:a16="http://schemas.microsoft.com/office/drawing/2014/main" id="{7A0687A1-A333-4A99-AB15-B7D3020531A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7FEE68A-6BA6-49BF-A1F6-69235F62AA29}"/>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40</a:t>
            </a:r>
          </a:p>
        </p:txBody>
      </p:sp>
      <p:graphicFrame>
        <p:nvGraphicFramePr>
          <p:cNvPr id="19" name="Chart"/>
          <p:cNvGraphicFramePr/>
          <p:nvPr/>
        </p:nvGraphicFramePr>
        <p:xfrm>
          <a:off xmlns:a="http://schemas.openxmlformats.org/drawingml/2006/main" x="457200" y="2219325"/>
          <a:ext xmlns:a="http://schemas.openxmlformats.org/drawingml/2006/main" cx="7105650" cy="3171825"/>
        </p:xfrm>
        <a:graphic xmlns:a="http://schemas.openxmlformats.org/drawingml/2006/main">
          <a:graphicData uri="http://schemas.openxmlformats.org/drawingml/2006/chart">
            <c:chart xmlns:r="http://schemas.openxmlformats.org/officeDocument/2006/relationships" xmlns:c="http://schemas.openxmlformats.org/drawingml/2006/chart" r:id="R448e090f49004897"/>
          </a:graphicData>
        </a:graphic>
      </p:graphicFrame>
      <p:sp>
        <p:nvSpPr>
          <p:cNvPr id="7" name="">
            <a:extLst xmlns:a="http://schemas.openxmlformats.org/drawingml/2006/main">
              <a:ext uri="{FF2B5EF4-FFF2-40B4-BE49-F238E27FC236}">
                <a16:creationId xmlns:a16="http://schemas.microsoft.com/office/drawing/2014/main" id="{CE5288BD-C342-4245-849D-CBAEE532F841}"/>
              </a:ext>
            </a:extLst>
          </p:cNvPr>
          <p:cNvSpPr>
            <a:spLocks xmlns:a="http://schemas.openxmlformats.org/drawingml/2006/main" noGrp="1"/>
          </p:cNvSpPr>
          <p:nvPr/>
        </p:nvSpPr>
        <p:spPr>
          <a:xfrm xmlns:a="http://schemas.openxmlformats.org/drawingml/2006/main">
            <a:off x="8020050" y="2143125"/>
            <a:ext cx="3714750" cy="1581150"/>
          </a:xfrm>
          <a:prstGeom xmlns:a="http://schemas.openxmlformats.org/drawingml/2006/main" prst="roundRect">
            <a:avLst>
              <a:gd name="adj" fmla="val 7229"/>
            </a:avLst>
          </a:prstGeom>
          <a:solidFill xmlns:a="http://schemas.openxmlformats.org/drawingml/2006/main">
            <a:srgbClr val="F0EAF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FB629C-55E6-442B-96C5-4CD483C8C4F0}"/>
              </a:ext>
            </a:extLst>
          </p:cNvPr>
          <p:cNvSpPr>
            <a:spLocks xmlns:a="http://schemas.openxmlformats.org/drawingml/2006/main" noGrp="1"/>
          </p:cNvSpPr>
          <p:nvPr/>
        </p:nvSpPr>
        <p:spPr>
          <a:xfrm xmlns:a="http://schemas.openxmlformats.org/drawingml/2006/main">
            <a:off x="8172450" y="2257425"/>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Supporting: 20</a:t>
            </a:r>
          </a:p>
        </p:txBody>
      </p:sp>
      <p:sp>
        <p:nvSpPr>
          <p:cNvPr id="9" name="">
            <a:extLst xmlns:a="http://schemas.openxmlformats.org/drawingml/2006/main">
              <a:ext uri="{FF2B5EF4-FFF2-40B4-BE49-F238E27FC236}">
                <a16:creationId xmlns:a16="http://schemas.microsoft.com/office/drawing/2014/main" id="{52C9B153-E186-485F-B320-361CEAF7B8C9}"/>
              </a:ext>
            </a:extLst>
          </p:cNvPr>
          <p:cNvSpPr>
            <a:spLocks xmlns:a="http://schemas.openxmlformats.org/drawingml/2006/main" noGrp="1"/>
          </p:cNvSpPr>
          <p:nvPr/>
        </p:nvSpPr>
        <p:spPr>
          <a:xfrm xmlns:a="http://schemas.openxmlformats.org/drawingml/2006/main">
            <a:off x="8172450" y="2752725"/>
            <a:ext cx="3409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Treat supporting involvement as a separate measure until overlap is confirmed.</a:t>
            </a:r>
          </a:p>
        </p:txBody>
      </p:sp>
      <p:sp>
        <p:nvSpPr>
          <p:cNvPr id="10" name="">
            <a:extLst xmlns:a="http://schemas.openxmlformats.org/drawingml/2006/main">
              <a:ext uri="{FF2B5EF4-FFF2-40B4-BE49-F238E27FC236}">
                <a16:creationId xmlns:a16="http://schemas.microsoft.com/office/drawing/2014/main" id="{04D8E1D5-02B3-4EA1-9295-6A2D4909BE8F}"/>
              </a:ext>
            </a:extLst>
          </p:cNvPr>
          <p:cNvSpPr>
            <a:spLocks xmlns:a="http://schemas.openxmlformats.org/drawingml/2006/main" noGrp="1"/>
          </p:cNvSpPr>
          <p:nvPr/>
        </p:nvSpPr>
        <p:spPr>
          <a:xfrm xmlns:a="http://schemas.openxmlformats.org/drawingml/2006/main">
            <a:off x="8020050" y="3924300"/>
            <a:ext cx="3714750" cy="2162175"/>
          </a:xfrm>
          <a:prstGeom xmlns:a="http://schemas.openxmlformats.org/drawingml/2006/main" prst="roundRect">
            <a:avLst>
              <a:gd name="adj" fmla="val 5286"/>
            </a:avLst>
          </a:prstGeom>
          <a:solidFill xmlns:a="http://schemas.openxmlformats.org/drawingml/2006/main">
            <a:srgbClr val="FFF4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0B3D5B-8AED-4172-8F93-137BE0A9648C}"/>
              </a:ext>
            </a:extLst>
          </p:cNvPr>
          <p:cNvSpPr>
            <a:spLocks xmlns:a="http://schemas.openxmlformats.org/drawingml/2006/main" noGrp="1"/>
          </p:cNvSpPr>
          <p:nvPr/>
        </p:nvSpPr>
        <p:spPr>
          <a:xfrm xmlns:a="http://schemas.openxmlformats.org/drawingml/2006/main">
            <a:off x="8172450" y="4038600"/>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Reconciliation needed</a:t>
            </a:r>
          </a:p>
        </p:txBody>
      </p:sp>
      <p:sp>
        <p:nvSpPr>
          <p:cNvPr id="12" name="">
            <a:extLst xmlns:a="http://schemas.openxmlformats.org/drawingml/2006/main">
              <a:ext uri="{FF2B5EF4-FFF2-40B4-BE49-F238E27FC236}">
                <a16:creationId xmlns:a16="http://schemas.microsoft.com/office/drawing/2014/main" id="{49326958-5B1C-4BDC-B901-432811A86FC9}"/>
              </a:ext>
            </a:extLst>
          </p:cNvPr>
          <p:cNvSpPr>
            <a:spLocks xmlns:a="http://schemas.openxmlformats.org/drawingml/2006/main" noGrp="1"/>
          </p:cNvSpPr>
          <p:nvPr/>
        </p:nvSpPr>
        <p:spPr>
          <a:xfrm xmlns:a="http://schemas.openxmlformats.org/drawingml/2006/main">
            <a:off x="8172450" y="4533900"/>
            <a:ext cx="34099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Five states: 137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Including supporting: 157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Reported total: 147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classification and demand IDs before using a composition chart.</a:t>
            </a:r>
          </a:p>
        </p:txBody>
      </p:sp>
      <p:sp>
        <p:nvSpPr>
          <p:cNvPr id="13" name="">
            <a:extLst xmlns:a="http://schemas.openxmlformats.org/drawingml/2006/main">
              <a:ext uri="{FF2B5EF4-FFF2-40B4-BE49-F238E27FC236}">
                <a16:creationId xmlns:a16="http://schemas.microsoft.com/office/drawing/2014/main" id="{29FF447A-A870-45CE-A0B1-CFCFE06C1785}"/>
              </a:ext>
            </a:extLst>
          </p:cNvPr>
          <p:cNvSpPr>
            <a:spLocks xmlns:a="http://schemas.openxmlformats.org/drawingml/2006/main" noGrp="1"/>
          </p:cNvSpPr>
          <p:nvPr/>
        </p:nvSpPr>
        <p:spPr>
          <a:xfrm xmlns:a="http://schemas.openxmlformats.org/drawingml/2006/main">
            <a:off x="457200" y="5743575"/>
            <a:ext cx="7067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Execution focus: 39 in progress, 17 backlog and 9 new demands.</a:t>
            </a:r>
          </a:p>
        </p:txBody>
      </p:sp>
    </p:spTree>
    <p:extLst>
      <p:ext uri="{BB962C8B-B14F-4D97-AF65-F5344CB8AC3E}">
        <p14:creationId xmlns:p14="http://schemas.microsoft.com/office/powerpoint/2010/main" val="164859447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3EEE4C-0D7F-4DFA-8681-5F6D09AA97E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177AE64-BB43-4C09-BF98-DF8E6B4D026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Cards transaction success is reported at 78.6%</a:t>
            </a:r>
          </a:p>
        </p:txBody>
      </p:sp>
      <p:sp>
        <p:nvSpPr>
          <p:cNvPr id="3" name="">
            <a:extLst xmlns:a="http://schemas.openxmlformats.org/drawingml/2006/main">
              <a:ext uri="{FF2B5EF4-FFF2-40B4-BE49-F238E27FC236}">
                <a16:creationId xmlns:a16="http://schemas.microsoft.com/office/drawing/2014/main" id="{827D1F85-90B1-4F2F-B618-5F2568B69DCE}"/>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counts show a 6.60M difference between total and successful transactions.</a:t>
            </a:r>
          </a:p>
        </p:txBody>
      </p:sp>
      <p:sp>
        <p:nvSpPr>
          <p:cNvPr id="4" name="">
            <a:extLst xmlns:a="http://schemas.openxmlformats.org/drawingml/2006/main">
              <a:ext uri="{FF2B5EF4-FFF2-40B4-BE49-F238E27FC236}">
                <a16:creationId xmlns:a16="http://schemas.microsoft.com/office/drawing/2014/main" id="{E7C0F20C-512A-44CE-A63B-D9F0EB6A672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4EABF6E-C415-4B6B-A585-09EE7191637D}"/>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41</a:t>
            </a:r>
          </a:p>
        </p:txBody>
      </p:sp>
      <p:graphicFrame>
        <p:nvGraphicFramePr>
          <p:cNvPr id="20" name="Chart"/>
          <p:cNvGraphicFramePr/>
          <p:nvPr/>
        </p:nvGraphicFramePr>
        <p:xfrm>
          <a:off xmlns:a="http://schemas.openxmlformats.org/drawingml/2006/main" x="457200" y="2238375"/>
          <a:ext xmlns:a="http://schemas.openxmlformats.org/drawingml/2006/main" cx="6762750" cy="2657475"/>
        </p:xfrm>
        <a:graphic xmlns:a="http://schemas.openxmlformats.org/drawingml/2006/main">
          <a:graphicData uri="http://schemas.openxmlformats.org/drawingml/2006/chart">
            <c:chart xmlns:r="http://schemas.openxmlformats.org/officeDocument/2006/relationships" xmlns:c="http://schemas.openxmlformats.org/drawingml/2006/chart" r:id="Racd4e044da99411e"/>
          </a:graphicData>
        </a:graphic>
      </p:graphicFrame>
      <p:sp>
        <p:nvSpPr>
          <p:cNvPr id="7" name="">
            <a:extLst xmlns:a="http://schemas.openxmlformats.org/drawingml/2006/main">
              <a:ext uri="{FF2B5EF4-FFF2-40B4-BE49-F238E27FC236}">
                <a16:creationId xmlns:a16="http://schemas.microsoft.com/office/drawing/2014/main" id="{59FDBCA7-B4C8-4AC3-9230-952FE51454F2}"/>
              </a:ext>
            </a:extLst>
          </p:cNvPr>
          <p:cNvSpPr>
            <a:spLocks xmlns:a="http://schemas.openxmlformats.org/drawingml/2006/main" noGrp="1"/>
          </p:cNvSpPr>
          <p:nvPr/>
        </p:nvSpPr>
        <p:spPr>
          <a:xfrm xmlns:a="http://schemas.openxmlformats.org/drawingml/2006/main">
            <a:off x="457200" y="5029200"/>
            <a:ext cx="6762750" cy="1209675"/>
          </a:xfrm>
          <a:prstGeom xmlns:a="http://schemas.openxmlformats.org/drawingml/2006/main" prst="roundRect">
            <a:avLst>
              <a:gd name="adj" fmla="val 9449"/>
            </a:avLst>
          </a:prstGeom>
          <a:solidFill xmlns:a="http://schemas.openxmlformats.org/drawingml/2006/main">
            <a:srgbClr val="FFF4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7B3D4C-60AD-4AE7-8874-F9CC35A6CAF1}"/>
              </a:ext>
            </a:extLst>
          </p:cNvPr>
          <p:cNvSpPr>
            <a:spLocks xmlns:a="http://schemas.openxmlformats.org/drawingml/2006/main" noGrp="1"/>
          </p:cNvSpPr>
          <p:nvPr/>
        </p:nvSpPr>
        <p:spPr>
          <a:xfrm xmlns:a="http://schemas.openxmlformats.org/drawingml/2006/main">
            <a:off x="609600" y="5143500"/>
            <a:ext cx="6457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Outcome review</a:t>
            </a:r>
          </a:p>
        </p:txBody>
      </p:sp>
      <p:sp>
        <p:nvSpPr>
          <p:cNvPr id="9" name="">
            <a:extLst xmlns:a="http://schemas.openxmlformats.org/drawingml/2006/main">
              <a:ext uri="{FF2B5EF4-FFF2-40B4-BE49-F238E27FC236}">
                <a16:creationId xmlns:a16="http://schemas.microsoft.com/office/drawing/2014/main" id="{402EE81F-D186-4CC7-84A0-45FE472B2891}"/>
              </a:ext>
            </a:extLst>
          </p:cNvPr>
          <p:cNvSpPr>
            <a:spLocks xmlns:a="http://schemas.openxmlformats.org/drawingml/2006/main" noGrp="1"/>
          </p:cNvSpPr>
          <p:nvPr/>
        </p:nvSpPr>
        <p:spPr>
          <a:xfrm xmlns:a="http://schemas.openxmlformats.org/drawingml/2006/main">
            <a:off x="609600" y="5638800"/>
            <a:ext cx="6457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The remaining 21.4% needs outcome classification. The source does not identify declines, reversals or technical failures.</a:t>
            </a:r>
          </a:p>
        </p:txBody>
      </p:sp>
      <p:sp>
        <p:nvSpPr>
          <p:cNvPr id="10" name="">
            <a:extLst xmlns:a="http://schemas.openxmlformats.org/drawingml/2006/main">
              <a:ext uri="{FF2B5EF4-FFF2-40B4-BE49-F238E27FC236}">
                <a16:creationId xmlns:a16="http://schemas.microsoft.com/office/drawing/2014/main" id="{C92798E6-6CE9-4937-BFF3-A4FEAF01A867}"/>
              </a:ext>
            </a:extLst>
          </p:cNvPr>
          <p:cNvSpPr>
            <a:spLocks xmlns:a="http://schemas.openxmlformats.org/drawingml/2006/main" noGrp="1"/>
          </p:cNvSpPr>
          <p:nvPr/>
        </p:nvSpPr>
        <p:spPr>
          <a:xfrm xmlns:a="http://schemas.openxmlformats.org/drawingml/2006/main">
            <a:off x="7696200" y="2152650"/>
            <a:ext cx="4038600" cy="2057400"/>
          </a:xfrm>
          <a:prstGeom xmlns:a="http://schemas.openxmlformats.org/drawingml/2006/main" prst="roundRect">
            <a:avLst>
              <a:gd name="adj" fmla="val 555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8519D1-162E-49CF-BFA5-EA16E0349494}"/>
              </a:ext>
            </a:extLst>
          </p:cNvPr>
          <p:cNvSpPr>
            <a:spLocks xmlns:a="http://schemas.openxmlformats.org/drawingml/2006/main" noGrp="1"/>
          </p:cNvSpPr>
          <p:nvPr/>
        </p:nvSpPr>
        <p:spPr>
          <a:xfrm xmlns:a="http://schemas.openxmlformats.org/drawingml/2006/main">
            <a:off x="7848600" y="2266950"/>
            <a:ext cx="3733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Active cards</a:t>
            </a:r>
          </a:p>
        </p:txBody>
      </p:sp>
      <p:sp>
        <p:nvSpPr>
          <p:cNvPr id="12" name="">
            <a:extLst xmlns:a="http://schemas.openxmlformats.org/drawingml/2006/main">
              <a:ext uri="{FF2B5EF4-FFF2-40B4-BE49-F238E27FC236}">
                <a16:creationId xmlns:a16="http://schemas.microsoft.com/office/drawing/2014/main" id="{7EABA590-B7C7-4381-955A-7E0D89D42F73}"/>
              </a:ext>
            </a:extLst>
          </p:cNvPr>
          <p:cNvSpPr>
            <a:spLocks xmlns:a="http://schemas.openxmlformats.org/drawingml/2006/main" noGrp="1"/>
          </p:cNvSpPr>
          <p:nvPr/>
        </p:nvSpPr>
        <p:spPr>
          <a:xfrm xmlns:a="http://schemas.openxmlformats.org/drawingml/2006/main">
            <a:off x="7848600" y="2762250"/>
            <a:ext cx="37338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Credit: 347,156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Debit: 1,003,169</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New credit: 9,576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New debit: 13,244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ba9ae2006fe407b"/>
          <a:stretch xmlns:a="http://schemas.openxmlformats.org/drawingml/2006/main"/>
        </p:blipFill>
        <p:spPr>
          <a:xfrm xmlns:a="http://schemas.openxmlformats.org/drawingml/2006/main">
            <a:off x="8273255" y="4324350"/>
            <a:ext cx="2836866" cy="17526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4723360-700B-45C8-A67A-068BB87F2149}"/>
              </a:ext>
            </a:extLst>
          </p:cNvPr>
          <p:cNvSpPr>
            <a:spLocks xmlns:a="http://schemas.openxmlformats.org/drawingml/2006/main" noGrp="1"/>
          </p:cNvSpPr>
          <p:nvPr/>
        </p:nvSpPr>
        <p:spPr>
          <a:xfrm xmlns:a="http://schemas.openxmlformats.org/drawingml/2006/main">
            <a:off x="8058150" y="61341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47B89"/>
                </a:solidFill>
                <a:latin typeface="DejaVu Sans"/>
                <a:ea typeface="DejaVu Sans"/>
                <a:cs typeface="DejaVu Sans"/>
              </a:defRPr>
            </a:pPr>
            <a:r>
              <a:rPr sz="900" b="0">
                <a:solidFill>
                  <a:srgbClr val="647B89"/>
                </a:solidFill>
                <a:latin typeface="DejaVu Sans"/>
                <a:ea typeface="DejaVu Sans"/>
                <a:cs typeface="DejaVu Sans"/>
              </a:rPr>
              <a:t>Illustrative card concept</a:t>
            </a:r>
          </a:p>
        </p:txBody>
      </p:sp>
    </p:spTree>
    <p:extLst>
      <p:ext uri="{BB962C8B-B14F-4D97-AF65-F5344CB8AC3E}">
        <p14:creationId xmlns:p14="http://schemas.microsoft.com/office/powerpoint/2010/main" val="149627511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16886A-E2A0-4880-AF9B-AB5D5E62D4F5}"/>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E8494315-B513-4775-B4F4-1E7A19C94EE0}"/>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Cards memory utilization is the main capacity watch</a:t>
            </a:r>
          </a:p>
        </p:txBody>
      </p:sp>
      <p:sp>
        <p:nvSpPr>
          <p:cNvPr id="3" name="">
            <a:extLst xmlns:a="http://schemas.openxmlformats.org/drawingml/2006/main">
              <a:ext uri="{FF2B5EF4-FFF2-40B4-BE49-F238E27FC236}">
                <a16:creationId xmlns:a16="http://schemas.microsoft.com/office/drawing/2014/main" id="{04B80F0F-0E10-4B48-BBF8-E90F0323F2CD}"/>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Availability remains 99.9%, with DR available and tested according to the source.</a:t>
            </a:r>
          </a:p>
        </p:txBody>
      </p:sp>
      <p:sp>
        <p:nvSpPr>
          <p:cNvPr id="4" name="">
            <a:extLst xmlns:a="http://schemas.openxmlformats.org/drawingml/2006/main">
              <a:ext uri="{FF2B5EF4-FFF2-40B4-BE49-F238E27FC236}">
                <a16:creationId xmlns:a16="http://schemas.microsoft.com/office/drawing/2014/main" id="{949394C0-73A8-478A-9B24-93A74FEF7DF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EC59E28-DE08-433E-8259-CCF3D95188C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42</a:t>
            </a:r>
          </a:p>
        </p:txBody>
      </p:sp>
      <p:graphicFrame>
        <p:nvGraphicFramePr>
          <p:cNvPr id="21" name="Chart"/>
          <p:cNvGraphicFramePr/>
          <p:nvPr/>
        </p:nvGraphicFramePr>
        <p:xfrm>
          <a:off xmlns:a="http://schemas.openxmlformats.org/drawingml/2006/main" x="457200" y="2200275"/>
          <a:ext xmlns:a="http://schemas.openxmlformats.org/drawingml/2006/main" cx="6572250" cy="2838450"/>
        </p:xfrm>
        <a:graphic xmlns:a="http://schemas.openxmlformats.org/drawingml/2006/main">
          <a:graphicData uri="http://schemas.openxmlformats.org/drawingml/2006/chart">
            <c:chart xmlns:r="http://schemas.openxmlformats.org/officeDocument/2006/relationships" xmlns:c="http://schemas.openxmlformats.org/drawingml/2006/chart" r:id="Rf9e71250f51d418d"/>
          </a:graphicData>
        </a:graphic>
      </p:graphicFrame>
      <p:sp>
        <p:nvSpPr>
          <p:cNvPr id="7" name="">
            <a:extLst xmlns:a="http://schemas.openxmlformats.org/drawingml/2006/main">
              <a:ext uri="{FF2B5EF4-FFF2-40B4-BE49-F238E27FC236}">
                <a16:creationId xmlns:a16="http://schemas.microsoft.com/office/drawing/2014/main" id="{DE6E97AA-E14B-4354-A289-6C4701D09332}"/>
              </a:ext>
            </a:extLst>
          </p:cNvPr>
          <p:cNvSpPr>
            <a:spLocks xmlns:a="http://schemas.openxmlformats.org/drawingml/2006/main" noGrp="1"/>
          </p:cNvSpPr>
          <p:nvPr/>
        </p:nvSpPr>
        <p:spPr>
          <a:xfrm xmlns:a="http://schemas.openxmlformats.org/drawingml/2006/main">
            <a:off x="457200" y="5095875"/>
            <a:ext cx="6572250" cy="1152525"/>
          </a:xfrm>
          <a:prstGeom xmlns:a="http://schemas.openxmlformats.org/drawingml/2006/main" prst="roundRect">
            <a:avLst>
              <a:gd name="adj" fmla="val 9917"/>
            </a:avLst>
          </a:prstGeom>
          <a:solidFill xmlns:a="http://schemas.openxmlformats.org/drawingml/2006/main">
            <a:srgbClr val="FFF4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1E9A12-B447-436F-AB93-3429F457EAE9}"/>
              </a:ext>
            </a:extLst>
          </p:cNvPr>
          <p:cNvSpPr>
            <a:spLocks xmlns:a="http://schemas.openxmlformats.org/drawingml/2006/main" noGrp="1"/>
          </p:cNvSpPr>
          <p:nvPr/>
        </p:nvSpPr>
        <p:spPr>
          <a:xfrm xmlns:a="http://schemas.openxmlformats.org/drawingml/2006/main">
            <a:off x="609600" y="5210175"/>
            <a:ext cx="6267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Host-level follow-up</a:t>
            </a:r>
          </a:p>
        </p:txBody>
      </p:sp>
      <p:sp>
        <p:nvSpPr>
          <p:cNvPr id="9" name="">
            <a:extLst xmlns:a="http://schemas.openxmlformats.org/drawingml/2006/main">
              <a:ext uri="{FF2B5EF4-FFF2-40B4-BE49-F238E27FC236}">
                <a16:creationId xmlns:a16="http://schemas.microsoft.com/office/drawing/2014/main" id="{A9911B5C-8EFB-43CB-B0E2-3D41B8407E3C}"/>
              </a:ext>
            </a:extLst>
          </p:cNvPr>
          <p:cNvSpPr>
            <a:spLocks xmlns:a="http://schemas.openxmlformats.org/drawingml/2006/main" noGrp="1"/>
          </p:cNvSpPr>
          <p:nvPr/>
        </p:nvSpPr>
        <p:spPr>
          <a:xfrm xmlns:a="http://schemas.openxmlformats.org/drawingml/2006/main">
            <a:off x="609600" y="5705475"/>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watch: pcsd1 / pcsd2. Storage watch: DB / ORACLE volumes. Averages can conceal concentrated utilization.</a:t>
            </a:r>
          </a:p>
        </p:txBody>
      </p:sp>
      <p:sp>
        <p:nvSpPr>
          <p:cNvPr id="10" name="">
            <a:extLst xmlns:a="http://schemas.openxmlformats.org/drawingml/2006/main">
              <a:ext uri="{FF2B5EF4-FFF2-40B4-BE49-F238E27FC236}">
                <a16:creationId xmlns:a16="http://schemas.microsoft.com/office/drawing/2014/main" id="{35227D0C-465C-4D12-AE1A-451D51FB72B8}"/>
              </a:ext>
            </a:extLst>
          </p:cNvPr>
          <p:cNvSpPr>
            <a:spLocks xmlns:a="http://schemas.openxmlformats.org/drawingml/2006/main" noGrp="1"/>
          </p:cNvSpPr>
          <p:nvPr/>
        </p:nvSpPr>
        <p:spPr>
          <a:xfrm xmlns:a="http://schemas.openxmlformats.org/drawingml/2006/main">
            <a:off x="7524750" y="2143125"/>
            <a:ext cx="4210050" cy="1781175"/>
          </a:xfrm>
          <a:prstGeom xmlns:a="http://schemas.openxmlformats.org/drawingml/2006/main" prst="roundRect">
            <a:avLst>
              <a:gd name="adj" fmla="val 6417"/>
            </a:avLst>
          </a:prstGeom>
          <a:solidFill xmlns:a="http://schemas.openxmlformats.org/drawingml/2006/main">
            <a:srgbClr val="FCEA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525A5E5-A8FE-4D5C-BC9D-604A12D026A9}"/>
              </a:ext>
            </a:extLst>
          </p:cNvPr>
          <p:cNvSpPr>
            <a:spLocks xmlns:a="http://schemas.openxmlformats.org/drawingml/2006/main" noGrp="1"/>
          </p:cNvSpPr>
          <p:nvPr/>
        </p:nvSpPr>
        <p:spPr>
          <a:xfrm xmlns:a="http://schemas.openxmlformats.org/drawingml/2006/main">
            <a:off x="7677150" y="22574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  Incident profile</a:t>
            </a:r>
          </a:p>
        </p:txBody>
      </p:sp>
      <p:sp>
        <p:nvSpPr>
          <p:cNvPr id="12" name="">
            <a:extLst xmlns:a="http://schemas.openxmlformats.org/drawingml/2006/main">
              <a:ext uri="{FF2B5EF4-FFF2-40B4-BE49-F238E27FC236}">
                <a16:creationId xmlns:a16="http://schemas.microsoft.com/office/drawing/2014/main" id="{A56D5D15-B8F4-4D77-A953-B8DFF67335E5}"/>
              </a:ext>
            </a:extLst>
          </p:cNvPr>
          <p:cNvSpPr>
            <a:spLocks xmlns:a="http://schemas.openxmlformats.org/drawingml/2006/main" noGrp="1"/>
          </p:cNvSpPr>
          <p:nvPr/>
        </p:nvSpPr>
        <p:spPr>
          <a:xfrm xmlns:a="http://schemas.openxmlformats.org/drawingml/2006/main">
            <a:off x="7677150" y="2752725"/>
            <a:ext cx="390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343 total incidents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0 critical / 3 major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Major share: 0.9%</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Other severities not specified</a:t>
            </a:r>
          </a:p>
        </p:txBody>
      </p:sp>
      <p:sp>
        <p:nvSpPr>
          <p:cNvPr id="13" name="">
            <a:extLst xmlns:a="http://schemas.openxmlformats.org/drawingml/2006/main">
              <a:ext uri="{FF2B5EF4-FFF2-40B4-BE49-F238E27FC236}">
                <a16:creationId xmlns:a16="http://schemas.microsoft.com/office/drawing/2014/main" id="{D0522134-698C-49D6-B277-B3C80051196C}"/>
              </a:ext>
            </a:extLst>
          </p:cNvPr>
          <p:cNvSpPr>
            <a:spLocks xmlns:a="http://schemas.openxmlformats.org/drawingml/2006/main" noGrp="1"/>
          </p:cNvSpPr>
          <p:nvPr/>
        </p:nvSpPr>
        <p:spPr>
          <a:xfrm xmlns:a="http://schemas.openxmlformats.org/drawingml/2006/main">
            <a:off x="7524750" y="4105275"/>
            <a:ext cx="4210050" cy="2133600"/>
          </a:xfrm>
          <a:prstGeom xmlns:a="http://schemas.openxmlformats.org/drawingml/2006/main" prst="roundRect">
            <a:avLst>
              <a:gd name="adj" fmla="val 5357"/>
            </a:avLst>
          </a:prstGeom>
          <a:solidFill xmlns:a="http://schemas.openxmlformats.org/drawingml/2006/main">
            <a:srgbClr val="E6F6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17BF771-8D2C-4985-80A7-322188BC337D}"/>
              </a:ext>
            </a:extLst>
          </p:cNvPr>
          <p:cNvSpPr>
            <a:spLocks xmlns:a="http://schemas.openxmlformats.org/drawingml/2006/main" noGrp="1"/>
          </p:cNvSpPr>
          <p:nvPr/>
        </p:nvSpPr>
        <p:spPr>
          <a:xfrm xmlns:a="http://schemas.openxmlformats.org/drawingml/2006/main">
            <a:off x="7677150" y="421957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Service continuity</a:t>
            </a:r>
          </a:p>
        </p:txBody>
      </p:sp>
      <p:sp>
        <p:nvSpPr>
          <p:cNvPr id="15" name="">
            <a:extLst xmlns:a="http://schemas.openxmlformats.org/drawingml/2006/main">
              <a:ext uri="{FF2B5EF4-FFF2-40B4-BE49-F238E27FC236}">
                <a16:creationId xmlns:a16="http://schemas.microsoft.com/office/drawing/2014/main" id="{6D96FEB6-3199-4CB8-A106-84AECA9E8433}"/>
              </a:ext>
            </a:extLst>
          </p:cNvPr>
          <p:cNvSpPr>
            <a:spLocks xmlns:a="http://schemas.openxmlformats.org/drawingml/2006/main" noGrp="1"/>
          </p:cNvSpPr>
          <p:nvPr/>
        </p:nvSpPr>
        <p:spPr>
          <a:xfrm xmlns:a="http://schemas.openxmlformats.org/drawingml/2006/main">
            <a:off x="7677150" y="4714875"/>
            <a:ext cx="3905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No major service interruptions reported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Monitoring and alerting in place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Close the 3 major root causes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Validate capacity during failover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Source says headroom is available</a:t>
            </a:r>
          </a:p>
        </p:txBody>
      </p:sp>
    </p:spTree>
    <p:extLst>
      <p:ext uri="{BB962C8B-B14F-4D97-AF65-F5344CB8AC3E}">
        <p14:creationId xmlns:p14="http://schemas.microsoft.com/office/powerpoint/2010/main" val="72784105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806B6A-7068-4866-861F-FC1B7F0C3646}"/>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618E7095-D96D-406B-B3D6-1479E6EA64B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Cards strategic initiatives: seven named demands</a:t>
            </a:r>
          </a:p>
        </p:txBody>
      </p:sp>
      <p:sp>
        <p:nvSpPr>
          <p:cNvPr id="3" name="">
            <a:extLst xmlns:a="http://schemas.openxmlformats.org/drawingml/2006/main">
              <a:ext uri="{FF2B5EF4-FFF2-40B4-BE49-F238E27FC236}">
                <a16:creationId xmlns:a16="http://schemas.microsoft.com/office/drawing/2014/main" id="{9E72F148-C148-462A-B29A-991099526F6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Delivery lanes show reported stages. No go-live dates were supplied for this list.</a:t>
            </a:r>
          </a:p>
        </p:txBody>
      </p:sp>
      <p:sp>
        <p:nvSpPr>
          <p:cNvPr id="4" name="">
            <a:extLst xmlns:a="http://schemas.openxmlformats.org/drawingml/2006/main">
              <a:ext uri="{FF2B5EF4-FFF2-40B4-BE49-F238E27FC236}">
                <a16:creationId xmlns:a16="http://schemas.microsoft.com/office/drawing/2014/main" id="{4121FF97-DF1E-484F-8825-2685BA2B589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2215E40-D0B6-4CC7-A7A7-E2760D3F8E4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43</a:t>
            </a:r>
          </a:p>
        </p:txBody>
      </p:sp>
      <p:sp>
        <p:nvSpPr>
          <p:cNvPr id="6" name="">
            <a:extLst xmlns:a="http://schemas.openxmlformats.org/drawingml/2006/main">
              <a:ext uri="{FF2B5EF4-FFF2-40B4-BE49-F238E27FC236}">
                <a16:creationId xmlns:a16="http://schemas.microsoft.com/office/drawing/2014/main" id="{281AAE66-7F5C-460D-BD5D-9ACC1053ECB3}"/>
              </a:ext>
            </a:extLst>
          </p:cNvPr>
          <p:cNvSpPr>
            <a:spLocks xmlns:a="http://schemas.openxmlformats.org/drawingml/2006/main" noGrp="1"/>
          </p:cNvSpPr>
          <p:nvPr/>
        </p:nvSpPr>
        <p:spPr>
          <a:xfrm xmlns:a="http://schemas.openxmlformats.org/drawingml/2006/main">
            <a:off x="457200" y="2152650"/>
            <a:ext cx="3657600" cy="3952875"/>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7E203B-0FD1-4CA9-B0F0-74815F88DA9A}"/>
              </a:ext>
            </a:extLst>
          </p:cNvPr>
          <p:cNvSpPr>
            <a:spLocks xmlns:a="http://schemas.openxmlformats.org/drawingml/2006/main" noGrp="1"/>
          </p:cNvSpPr>
          <p:nvPr/>
        </p:nvSpPr>
        <p:spPr>
          <a:xfrm xmlns:a="http://schemas.openxmlformats.org/drawingml/2006/main">
            <a:off x="609600" y="226695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Planning / design</a:t>
            </a:r>
          </a:p>
        </p:txBody>
      </p:sp>
      <p:sp>
        <p:nvSpPr>
          <p:cNvPr id="8" name="">
            <a:extLst xmlns:a="http://schemas.openxmlformats.org/drawingml/2006/main">
              <a:ext uri="{FF2B5EF4-FFF2-40B4-BE49-F238E27FC236}">
                <a16:creationId xmlns:a16="http://schemas.microsoft.com/office/drawing/2014/main" id="{05456B7A-EA6C-4627-8117-01BECD6DF7F4}"/>
              </a:ext>
            </a:extLst>
          </p:cNvPr>
          <p:cNvSpPr>
            <a:spLocks xmlns:a="http://schemas.openxmlformats.org/drawingml/2006/main" noGrp="1"/>
          </p:cNvSpPr>
          <p:nvPr/>
        </p:nvSpPr>
        <p:spPr>
          <a:xfrm xmlns:a="http://schemas.openxmlformats.org/drawingml/2006/main">
            <a:off x="609600" y="2762250"/>
            <a:ext cx="335280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DMGT-2010</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New Chip Migration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Planning / Costing</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DMGT-1474</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Click To Pay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Solution Design</a:t>
            </a:r>
          </a:p>
        </p:txBody>
      </p:sp>
      <p:sp>
        <p:nvSpPr>
          <p:cNvPr id="9" name="">
            <a:extLst xmlns:a="http://schemas.openxmlformats.org/drawingml/2006/main">
              <a:ext uri="{FF2B5EF4-FFF2-40B4-BE49-F238E27FC236}">
                <a16:creationId xmlns:a16="http://schemas.microsoft.com/office/drawing/2014/main" id="{43E94ECD-0DDC-4852-A037-750CF46F9516}"/>
              </a:ext>
            </a:extLst>
          </p:cNvPr>
          <p:cNvSpPr>
            <a:spLocks xmlns:a="http://schemas.openxmlformats.org/drawingml/2006/main" noGrp="1"/>
          </p:cNvSpPr>
          <p:nvPr/>
        </p:nvSpPr>
        <p:spPr>
          <a:xfrm xmlns:a="http://schemas.openxmlformats.org/drawingml/2006/main">
            <a:off x="4267200" y="2152650"/>
            <a:ext cx="3657600" cy="3952875"/>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58D7A7-6C31-4B6B-AC8B-24580FA2A308}"/>
              </a:ext>
            </a:extLst>
          </p:cNvPr>
          <p:cNvSpPr>
            <a:spLocks xmlns:a="http://schemas.openxmlformats.org/drawingml/2006/main" noGrp="1"/>
          </p:cNvSpPr>
          <p:nvPr/>
        </p:nvSpPr>
        <p:spPr>
          <a:xfrm xmlns:a="http://schemas.openxmlformats.org/drawingml/2006/main">
            <a:off x="4419600" y="226695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UAT</a:t>
            </a:r>
          </a:p>
        </p:txBody>
      </p:sp>
      <p:sp>
        <p:nvSpPr>
          <p:cNvPr id="11" name="">
            <a:extLst xmlns:a="http://schemas.openxmlformats.org/drawingml/2006/main">
              <a:ext uri="{FF2B5EF4-FFF2-40B4-BE49-F238E27FC236}">
                <a16:creationId xmlns:a16="http://schemas.microsoft.com/office/drawing/2014/main" id="{74269F19-0F00-4785-9C9B-E555287C58ED}"/>
              </a:ext>
            </a:extLst>
          </p:cNvPr>
          <p:cNvSpPr>
            <a:spLocks xmlns:a="http://schemas.openxmlformats.org/drawingml/2006/main" noGrp="1"/>
          </p:cNvSpPr>
          <p:nvPr/>
        </p:nvSpPr>
        <p:spPr>
          <a:xfrm xmlns:a="http://schemas.openxmlformats.org/drawingml/2006/main">
            <a:off x="4419600" y="2762250"/>
            <a:ext cx="335280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DMGT-1680: Emirati Card</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DMGT-1979: Jaywan Mono Badge Debit Card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E-commerce / tokenized integration</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DMGT-1978: Jaywan E-commerce and Tokenization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TLCM Portal Access</a:t>
            </a:r>
          </a:p>
        </p:txBody>
      </p:sp>
      <p:sp>
        <p:nvSpPr>
          <p:cNvPr id="12" name="">
            <a:extLst xmlns:a="http://schemas.openxmlformats.org/drawingml/2006/main">
              <a:ext uri="{FF2B5EF4-FFF2-40B4-BE49-F238E27FC236}">
                <a16:creationId xmlns:a16="http://schemas.microsoft.com/office/drawing/2014/main" id="{3ABFB18A-C384-476A-A20E-FBF4A6A851DC}"/>
              </a:ext>
            </a:extLst>
          </p:cNvPr>
          <p:cNvSpPr>
            <a:spLocks xmlns:a="http://schemas.openxmlformats.org/drawingml/2006/main" noGrp="1"/>
          </p:cNvSpPr>
          <p:nvPr/>
        </p:nvSpPr>
        <p:spPr>
          <a:xfrm xmlns:a="http://schemas.openxmlformats.org/drawingml/2006/main">
            <a:off x="8077200" y="2152650"/>
            <a:ext cx="3657600" cy="3952875"/>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9922A4-BF3E-4B40-AFA4-2C141103F562}"/>
              </a:ext>
            </a:extLst>
          </p:cNvPr>
          <p:cNvSpPr>
            <a:spLocks xmlns:a="http://schemas.openxmlformats.org/drawingml/2006/main" noGrp="1"/>
          </p:cNvSpPr>
          <p:nvPr/>
        </p:nvSpPr>
        <p:spPr>
          <a:xfrm xmlns:a="http://schemas.openxmlformats.org/drawingml/2006/main">
            <a:off x="8229600" y="226695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Pilot / release prep</a:t>
            </a:r>
          </a:p>
        </p:txBody>
      </p:sp>
      <p:sp>
        <p:nvSpPr>
          <p:cNvPr id="14" name="">
            <a:extLst xmlns:a="http://schemas.openxmlformats.org/drawingml/2006/main">
              <a:ext uri="{FF2B5EF4-FFF2-40B4-BE49-F238E27FC236}">
                <a16:creationId xmlns:a16="http://schemas.microsoft.com/office/drawing/2014/main" id="{5F1DCC6D-0B85-4450-A6CC-A9BFE87F3400}"/>
              </a:ext>
            </a:extLst>
          </p:cNvPr>
          <p:cNvSpPr>
            <a:spLocks xmlns:a="http://schemas.openxmlformats.org/drawingml/2006/main" noGrp="1"/>
          </p:cNvSpPr>
          <p:nvPr/>
        </p:nvSpPr>
        <p:spPr>
          <a:xfrm xmlns:a="http://schemas.openxmlformats.org/drawingml/2006/main">
            <a:off x="8229600" y="2762250"/>
            <a:ext cx="335280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DMGT-1356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VAU: Visa Account Update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Pilot Phase</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DMGT-2496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Visa October Enhancements-26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Staging / Go-Live Preparation</a:t>
            </a:r>
          </a:p>
        </p:txBody>
      </p:sp>
    </p:spTree>
    <p:extLst>
      <p:ext uri="{BB962C8B-B14F-4D97-AF65-F5344CB8AC3E}">
        <p14:creationId xmlns:p14="http://schemas.microsoft.com/office/powerpoint/2010/main" val="26264677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14849CA-4AC6-4188-808A-65E8DDA1135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98E26B4-EE00-448B-B39C-0E69D209E83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Additional card initiatives span release prep and live delivery</a:t>
            </a:r>
          </a:p>
        </p:txBody>
      </p:sp>
      <p:sp>
        <p:nvSpPr>
          <p:cNvPr id="3" name="">
            <a:extLst xmlns:a="http://schemas.openxmlformats.org/drawingml/2006/main">
              <a:ext uri="{FF2B5EF4-FFF2-40B4-BE49-F238E27FC236}">
                <a16:creationId xmlns:a16="http://schemas.microsoft.com/office/drawing/2014/main" id="{AE7E54F8-4022-42F2-A431-6DA61458970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dashboard and named-demand list use different VAU stage labels.</a:t>
            </a:r>
          </a:p>
        </p:txBody>
      </p:sp>
      <p:sp>
        <p:nvSpPr>
          <p:cNvPr id="4" name="">
            <a:extLst xmlns:a="http://schemas.openxmlformats.org/drawingml/2006/main">
              <a:ext uri="{FF2B5EF4-FFF2-40B4-BE49-F238E27FC236}">
                <a16:creationId xmlns:a16="http://schemas.microsoft.com/office/drawing/2014/main" id="{A76DDA2E-92EC-40E5-AE81-15FB8C36789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8FE0DF4-AE09-4046-B280-85DF8631A72D}"/>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44</a:t>
            </a:r>
          </a:p>
        </p:txBody>
      </p:sp>
      <p:sp>
        <p:nvSpPr>
          <p:cNvPr id="6" name="">
            <a:extLst xmlns:a="http://schemas.openxmlformats.org/drawingml/2006/main">
              <a:ext uri="{FF2B5EF4-FFF2-40B4-BE49-F238E27FC236}">
                <a16:creationId xmlns:a16="http://schemas.microsoft.com/office/drawing/2014/main" id="{2DA1AEE8-CAAC-4DFC-83AA-64668A1CE07B}"/>
              </a:ext>
            </a:extLst>
          </p:cNvPr>
          <p:cNvSpPr>
            <a:spLocks xmlns:a="http://schemas.openxmlformats.org/drawingml/2006/main" noGrp="1"/>
          </p:cNvSpPr>
          <p:nvPr/>
        </p:nvSpPr>
        <p:spPr>
          <a:xfrm xmlns:a="http://schemas.openxmlformats.org/drawingml/2006/main">
            <a:off x="457200" y="2143125"/>
            <a:ext cx="5543550" cy="2066925"/>
          </a:xfrm>
          <a:prstGeom xmlns:a="http://schemas.openxmlformats.org/drawingml/2006/main" prst="roundRect">
            <a:avLst>
              <a:gd name="adj" fmla="val 5530"/>
            </a:avLst>
          </a:prstGeom>
          <a:solidFill xmlns:a="http://schemas.openxmlformats.org/drawingml/2006/main">
            <a:srgbClr val="E8F3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53BE8DC-1275-45BD-81CC-5C63940509DF}"/>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Go-live preparation</a:t>
            </a:r>
          </a:p>
        </p:txBody>
      </p:sp>
      <p:sp>
        <p:nvSpPr>
          <p:cNvPr id="8" name="">
            <a:extLst xmlns:a="http://schemas.openxmlformats.org/drawingml/2006/main">
              <a:ext uri="{FF2B5EF4-FFF2-40B4-BE49-F238E27FC236}">
                <a16:creationId xmlns:a16="http://schemas.microsoft.com/office/drawing/2014/main" id="{6BF14758-500A-4151-A50D-3A3E4DFF96A3}"/>
              </a:ext>
            </a:extLst>
          </p:cNvPr>
          <p:cNvSpPr>
            <a:spLocks xmlns:a="http://schemas.openxmlformats.org/drawingml/2006/main" noGrp="1"/>
          </p:cNvSpPr>
          <p:nvPr/>
        </p:nvSpPr>
        <p:spPr>
          <a:xfrm xmlns:a="http://schemas.openxmlformats.org/drawingml/2006/main">
            <a:off x="609600" y="2752725"/>
            <a:ext cx="5238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Supplementary Card mobile number / email capture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VAU: Visa Account Updater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Migration from Edit Package to Visa Clearing Exchange (VCX)</a:t>
            </a:r>
          </a:p>
        </p:txBody>
      </p:sp>
      <p:sp>
        <p:nvSpPr>
          <p:cNvPr id="9" name="">
            <a:extLst xmlns:a="http://schemas.openxmlformats.org/drawingml/2006/main">
              <a:ext uri="{FF2B5EF4-FFF2-40B4-BE49-F238E27FC236}">
                <a16:creationId xmlns:a16="http://schemas.microsoft.com/office/drawing/2014/main" id="{2EB31E36-241A-455B-AD53-69BDA3E66E18}"/>
              </a:ext>
            </a:extLst>
          </p:cNvPr>
          <p:cNvSpPr>
            <a:spLocks xmlns:a="http://schemas.openxmlformats.org/drawingml/2006/main" noGrp="1"/>
          </p:cNvSpPr>
          <p:nvPr/>
        </p:nvSpPr>
        <p:spPr>
          <a:xfrm xmlns:a="http://schemas.openxmlformats.org/drawingml/2006/main">
            <a:off x="6191250" y="2143125"/>
            <a:ext cx="5543550" cy="2066925"/>
          </a:xfrm>
          <a:prstGeom xmlns:a="http://schemas.openxmlformats.org/drawingml/2006/main" prst="roundRect">
            <a:avLst>
              <a:gd name="adj" fmla="val 5530"/>
            </a:avLst>
          </a:prstGeom>
          <a:solidFill xmlns:a="http://schemas.openxmlformats.org/drawingml/2006/main">
            <a:srgbClr val="E6F6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006602-9CE2-48BB-BFBF-CD42286FC25C}"/>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Other dashboard stages</a:t>
            </a:r>
          </a:p>
        </p:txBody>
      </p:sp>
      <p:sp>
        <p:nvSpPr>
          <p:cNvPr id="11" name="">
            <a:extLst xmlns:a="http://schemas.openxmlformats.org/drawingml/2006/main">
              <a:ext uri="{FF2B5EF4-FFF2-40B4-BE49-F238E27FC236}">
                <a16:creationId xmlns:a16="http://schemas.microsoft.com/office/drawing/2014/main" id="{763C0A4B-4DB2-4156-B914-DB0A74644AD6}"/>
              </a:ext>
            </a:extLst>
          </p:cNvPr>
          <p:cNvSpPr>
            <a:spLocks xmlns:a="http://schemas.openxmlformats.org/drawingml/2006/main" noGrp="1"/>
          </p:cNvSpPr>
          <p:nvPr/>
        </p:nvSpPr>
        <p:spPr>
          <a:xfrm xmlns:a="http://schemas.openxmlformats.org/drawingml/2006/main">
            <a:off x="6343650" y="2752725"/>
            <a:ext cx="5238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Live: Digital Salam Renewal for Covered Cards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PGL fix deployed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UAT: Covered Card Statement Generation SMS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Development: Jaywan Visa Co-Badged Debit Cards</a:t>
            </a:r>
          </a:p>
        </p:txBody>
      </p:sp>
      <p:sp>
        <p:nvSpPr>
          <p:cNvPr id="12" name="">
            <a:extLst xmlns:a="http://schemas.openxmlformats.org/drawingml/2006/main">
              <a:ext uri="{FF2B5EF4-FFF2-40B4-BE49-F238E27FC236}">
                <a16:creationId xmlns:a16="http://schemas.microsoft.com/office/drawing/2014/main" id="{7B87C446-CABF-47D3-A55D-C44B3B1A21B9}"/>
              </a:ext>
            </a:extLst>
          </p:cNvPr>
          <p:cNvSpPr>
            <a:spLocks xmlns:a="http://schemas.openxmlformats.org/drawingml/2006/main" noGrp="1"/>
          </p:cNvSpPr>
          <p:nvPr/>
        </p:nvSpPr>
        <p:spPr>
          <a:xfrm xmlns:a="http://schemas.openxmlformats.org/drawingml/2006/main">
            <a:off x="457200" y="4410075"/>
            <a:ext cx="5543550" cy="1724025"/>
          </a:xfrm>
          <a:prstGeom xmlns:a="http://schemas.openxmlformats.org/drawingml/2006/main" prst="roundRect">
            <a:avLst>
              <a:gd name="adj" fmla="val 6630"/>
            </a:avLst>
          </a:prstGeom>
          <a:solidFill xmlns:a="http://schemas.openxmlformats.org/drawingml/2006/main">
            <a:srgbClr val="FFF4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949938-41CD-44DD-82F1-E6021396B213}"/>
              </a:ext>
            </a:extLst>
          </p:cNvPr>
          <p:cNvSpPr>
            <a:spLocks xmlns:a="http://schemas.openxmlformats.org/drawingml/2006/main" noGrp="1"/>
          </p:cNvSpPr>
          <p:nvPr/>
        </p:nvSpPr>
        <p:spPr>
          <a:xfrm xmlns:a="http://schemas.openxmlformats.org/drawingml/2006/main">
            <a:off x="609600" y="4524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VAU stage reconciliation</a:t>
            </a:r>
          </a:p>
        </p:txBody>
      </p:sp>
      <p:sp>
        <p:nvSpPr>
          <p:cNvPr id="14" name="">
            <a:extLst xmlns:a="http://schemas.openxmlformats.org/drawingml/2006/main">
              <a:ext uri="{FF2B5EF4-FFF2-40B4-BE49-F238E27FC236}">
                <a16:creationId xmlns:a16="http://schemas.microsoft.com/office/drawing/2014/main" id="{4950B2E8-5A75-4170-B7B1-39D64D25B06A}"/>
              </a:ext>
            </a:extLst>
          </p:cNvPr>
          <p:cNvSpPr>
            <a:spLocks xmlns:a="http://schemas.openxmlformats.org/drawingml/2006/main" noGrp="1"/>
          </p:cNvSpPr>
          <p:nvPr/>
        </p:nvSpPr>
        <p:spPr>
          <a:xfrm xmlns:a="http://schemas.openxmlformats.org/drawingml/2006/main">
            <a:off x="609600" y="50196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Dashboard: go-live preparation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Named list, DMGT-1356: pilot phase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the current stage and release scope.</a:t>
            </a:r>
          </a:p>
        </p:txBody>
      </p:sp>
      <p:sp>
        <p:nvSpPr>
          <p:cNvPr id="15" name="">
            <a:extLst xmlns:a="http://schemas.openxmlformats.org/drawingml/2006/main">
              <a:ext uri="{FF2B5EF4-FFF2-40B4-BE49-F238E27FC236}">
                <a16:creationId xmlns:a16="http://schemas.microsoft.com/office/drawing/2014/main" id="{26B1B8D5-55F5-45CF-843D-EA7602425865}"/>
              </a:ext>
            </a:extLst>
          </p:cNvPr>
          <p:cNvSpPr>
            <a:spLocks xmlns:a="http://schemas.openxmlformats.org/drawingml/2006/main" noGrp="1"/>
          </p:cNvSpPr>
          <p:nvPr/>
        </p:nvSpPr>
        <p:spPr>
          <a:xfrm xmlns:a="http://schemas.openxmlformats.org/drawingml/2006/main">
            <a:off x="6191250" y="4410075"/>
            <a:ext cx="5543550" cy="1724025"/>
          </a:xfrm>
          <a:prstGeom xmlns:a="http://schemas.openxmlformats.org/drawingml/2006/main" prst="roundRect">
            <a:avLst>
              <a:gd name="adj" fmla="val 6630"/>
            </a:avLst>
          </a:prstGeom>
          <a:solidFill xmlns:a="http://schemas.openxmlformats.org/drawingml/2006/main">
            <a:srgbClr val="F0EA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BC1230-3C53-444B-B8C3-B9F406B4076E}"/>
              </a:ext>
            </a:extLst>
          </p:cNvPr>
          <p:cNvSpPr>
            <a:spLocks xmlns:a="http://schemas.openxmlformats.org/drawingml/2006/main" noGrp="1"/>
          </p:cNvSpPr>
          <p:nvPr/>
        </p:nvSpPr>
        <p:spPr>
          <a:xfrm xmlns:a="http://schemas.openxmlformats.org/drawingml/2006/main">
            <a:off x="6343650" y="4524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  Next management review</a:t>
            </a:r>
          </a:p>
        </p:txBody>
      </p:sp>
      <p:sp>
        <p:nvSpPr>
          <p:cNvPr id="17" name="">
            <a:extLst xmlns:a="http://schemas.openxmlformats.org/drawingml/2006/main">
              <a:ext uri="{FF2B5EF4-FFF2-40B4-BE49-F238E27FC236}">
                <a16:creationId xmlns:a16="http://schemas.microsoft.com/office/drawing/2014/main" id="{3E16102D-A892-465A-BF60-DBA1F408D75B}"/>
              </a:ext>
            </a:extLst>
          </p:cNvPr>
          <p:cNvSpPr>
            <a:spLocks xmlns:a="http://schemas.openxmlformats.org/drawingml/2006/main" noGrp="1"/>
          </p:cNvSpPr>
          <p:nvPr/>
        </p:nvSpPr>
        <p:spPr>
          <a:xfrm xmlns:a="http://schemas.openxmlformats.org/drawingml/2006/main">
            <a:off x="6343650" y="50196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UAT acceptance and release readiness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Track memory remediation and major-incident closure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Reconcile demand classification before portfolio aggregation</a:t>
            </a:r>
          </a:p>
        </p:txBody>
      </p:sp>
    </p:spTree>
    <p:extLst>
      <p:ext uri="{BB962C8B-B14F-4D97-AF65-F5344CB8AC3E}">
        <p14:creationId xmlns:p14="http://schemas.microsoft.com/office/powerpoint/2010/main" val="189962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2026-10-06T13:52:18.9490000Z</dcterms:created>
  <dcterms:modified xsi:type="dcterms:W3CDTF">2026-10-06T13:52:18.9490000Z</dcterms:modified>
</coreProperties>
</file>