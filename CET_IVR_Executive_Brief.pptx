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63b3bfac164af0" /><Relationship Type="http://schemas.openxmlformats.org/officeDocument/2006/relationships/extended-properties" Target="/docProps/app.xml" Id="Rc6c55836db344abc" /><Relationship Type="http://schemas.openxmlformats.org/officeDocument/2006/relationships/officeDocument" Target="/ppt/presentation.xml" Id="R43d73f64c38148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864193a7394d27"/>
  </p:sldMasterIdLst>
  <p:notesMasterIdLst>
    <p:notesMasterId xmlns:r="http://schemas.openxmlformats.org/officeDocument/2006/relationships" r:id="Ra5b884df63ae4d7d"/>
  </p:notesMasterIdLst>
  <p:sldIdLst>
    <p:sldId xmlns:r="http://schemas.openxmlformats.org/officeDocument/2006/relationships" id="256" r:id="Ra974010f28ab43ed"/>
    <p:sldId xmlns:r="http://schemas.openxmlformats.org/officeDocument/2006/relationships" id="257" r:id="R7b934aeaeec5493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0458a36c8a4ec3" /><Relationship Type="http://schemas.openxmlformats.org/officeDocument/2006/relationships/slideMaster" Target="/ppt/slideMasters/slideMaster1.xml" Id="R60864193a7394d27" /><Relationship Type="http://schemas.openxmlformats.org/officeDocument/2006/relationships/notesMaster" Target="/ppt/notesMasters/notesMaster1.xml" Id="Ra5b884df63ae4d7d" /><Relationship Type="http://schemas.openxmlformats.org/officeDocument/2006/relationships/presProps" Target="/ppt/presProps.xml" Id="Rbaeb825592634a94" /><Relationship Type="http://schemas.openxmlformats.org/officeDocument/2006/relationships/tableStyles" Target="/ppt/tableStyles.xml" Id="Rf5681b21791f4bd4" /><Relationship Type="http://schemas.openxmlformats.org/officeDocument/2006/relationships/slide" Target="/ppt/slides/slide1.xml" Id="Ra974010f28ab43ed" /><Relationship Type="http://schemas.openxmlformats.org/officeDocument/2006/relationships/slide" Target="/ppt/slides/slide2.xml" Id="R7b934aeaeec549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c55fae95244c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b93ec716e54385" /><Relationship Type="http://schemas.openxmlformats.org/officeDocument/2006/relationships/notesMaster" Target="/ppt/notesMasters/notesMaster1.xml" Id="R8c90e048ecdf4f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392f4f3c464eda" /><Relationship Type="http://schemas.openxmlformats.org/officeDocument/2006/relationships/notesMaster" Target="/ppt/notesMasters/notesMaster1.xml" Id="R0d9956a022664b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 IVR-Call-Hr screenshot IMG_1A3065FF-F1BA-4661-80CD-7C5DDE071668.jpeg. All 72 hourly rows transcribed and sums match daily totals. IVR total 52,024. Daily average 52,024/3=17,341.333. Hourly average 52,024/72=722.556. 11:00 average (858+1975+1648)/3=1493.667. IVR reached-agent total 17,724 (34.1%). Not-reached total 34,282 (65.9%). Residual 18. Not-reached cannot establish self-service completion or abandonment. Raw data in chart workbook.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 Queue call screenshot IMG_BA48C46C-CD56-4864-81FD-26E12FD3DB68.jpeg, plus earlier IVR screenshot. Each queue hourly entry equals answered + abandoned. Daily totals: entered 3252,6122,5719; answered 2722,4507,4570; abandoned 530,1615,1149. 15,093 entries, 11,799 answers and 3,294 abandons. Overall abandon rate 3294/15093=21.8247%, answer rate 78.1753%. All hourly averages divide by 72, daily by 3, rounded independently. Monday 16:00 through 20:59 entered 1783, abandoned 749, rate 42.0079%. Staffing or waiting times are investigation priorities, not established causes. Reached Agent and queue scope may differ and must be validated. Not reached agent does not mean abandoned.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ae9fdb068d46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122cc5ad3c46ee" /><Relationship Type="http://schemas.openxmlformats.org/officeDocument/2006/relationships/slideLayout" Target="/ppt/slideLayouts/slideLayout1.xml" Id="R79da2978b91f41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da2978b91f41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859701eec45fb" /><Relationship Type="http://schemas.openxmlformats.org/officeDocument/2006/relationships/chart" Target="/ppt/slides/charts/chart1.xml" Id="Ree8f25440b074ca5" /><Relationship Type="http://schemas.openxmlformats.org/officeDocument/2006/relationships/notesSlide" Target="/ppt/notesSlides/notesSlide1.xml" Id="R7a279ddf043345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126c1c4a94d52" /><Relationship Type="http://schemas.openxmlformats.org/officeDocument/2006/relationships/chart" Target="/ppt/slides/charts/chart2.xml" Id="R58e460021a1c443c" /><Relationship Type="http://schemas.openxmlformats.org/officeDocument/2006/relationships/chart" Target="/ppt/slides/charts/chart3.xml" Id="Re1253ccd23964be9" /><Relationship Type="http://schemas.openxmlformats.org/officeDocument/2006/relationships/notesSlide" Target="/ppt/notesSlides/notesSlide2.xml" Id="R92e0b7249422430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Sun 27 Sep</c:v>
          </c:tx>
          <c:spPr>
            <a:ln xmlns:a="http://schemas.openxmlformats.org/drawingml/2006/main" w="28575">
              <a:solidFill>
                <a:srgbClr val="899EB1"/>
              </a:solidFill>
            </a:ln>
          </c:spPr>
          <c:marker>
            <c:symbol val="none"/>
          </c:marker>
          <c:cat>
            <c:numRef>
              <c:f>'Chart Data'!$A$2:$A$25</c:f>
              <c:numCache>
                <c:formatCode>General</c:formatCod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'Chart Data'!$B$2:$B$25</c:f>
              <c:numCache>
                <c:formatCode>#,##0</c:formatCode>
                <c:ptCount val="24"/>
                <c:pt idx="0">
                  <c:v>172</c:v>
                </c:pt>
                <c:pt idx="1">
                  <c:v>119</c:v>
                </c:pt>
                <c:pt idx="2">
                  <c:v>56</c:v>
                </c:pt>
                <c:pt idx="3">
                  <c:v>75</c:v>
                </c:pt>
                <c:pt idx="4">
                  <c:v>35</c:v>
                </c:pt>
                <c:pt idx="5">
                  <c:v>83</c:v>
                </c:pt>
                <c:pt idx="6">
                  <c:v>136</c:v>
                </c:pt>
                <c:pt idx="7">
                  <c:v>147</c:v>
                </c:pt>
                <c:pt idx="8">
                  <c:v>302</c:v>
                </c:pt>
                <c:pt idx="9">
                  <c:v>477</c:v>
                </c:pt>
                <c:pt idx="10">
                  <c:v>671</c:v>
                </c:pt>
                <c:pt idx="11">
                  <c:v>858</c:v>
                </c:pt>
                <c:pt idx="12">
                  <c:v>835</c:v>
                </c:pt>
                <c:pt idx="13">
                  <c:v>801</c:v>
                </c:pt>
                <c:pt idx="14">
                  <c:v>819</c:v>
                </c:pt>
                <c:pt idx="15">
                  <c:v>697</c:v>
                </c:pt>
                <c:pt idx="16">
                  <c:v>696</c:v>
                </c:pt>
                <c:pt idx="17">
                  <c:v>646</c:v>
                </c:pt>
                <c:pt idx="18">
                  <c:v>527</c:v>
                </c:pt>
                <c:pt idx="19">
                  <c:v>610</c:v>
                </c:pt>
                <c:pt idx="20">
                  <c:v>495</c:v>
                </c:pt>
                <c:pt idx="21">
                  <c:v>453</c:v>
                </c:pt>
                <c:pt idx="22">
                  <c:v>321</c:v>
                </c:pt>
                <c:pt idx="23">
                  <c:v>221</c:v>
                </c:pt>
              </c:numCache>
            </c:numRef>
          </c:val>
          <c:smooth val="0"/>
        </c:ser>
        <c:ser>
          <c:idx val="1"/>
          <c:order val="1"/>
          <c:tx>
            <c:v>Mon 28 Sep</c:v>
          </c:tx>
          <c:spPr>
            <a:ln xmlns:a="http://schemas.openxmlformats.org/drawingml/2006/main" w="28575">
              <a:solidFill>
                <a:srgbClr val="087F8C"/>
              </a:solidFill>
            </a:ln>
          </c:spPr>
          <c:marker>
            <c:symbol val="none"/>
          </c:marker>
          <c:cat>
            <c:numRef>
              <c:f>'Chart Data'!$C$2:$C$25</c:f>
              <c:numCache>
                <c:formatCode>General</c:formatCod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'Chart Data'!$D$2:$D$25</c:f>
              <c:numCache>
                <c:formatCode>#,##0</c:formatCode>
                <c:ptCount val="24"/>
                <c:pt idx="0">
                  <c:v>135</c:v>
                </c:pt>
                <c:pt idx="1">
                  <c:v>115</c:v>
                </c:pt>
                <c:pt idx="2">
                  <c:v>46</c:v>
                </c:pt>
                <c:pt idx="3">
                  <c:v>34</c:v>
                </c:pt>
                <c:pt idx="4">
                  <c:v>34</c:v>
                </c:pt>
                <c:pt idx="5">
                  <c:v>55</c:v>
                </c:pt>
                <c:pt idx="6">
                  <c:v>91</c:v>
                </c:pt>
                <c:pt idx="7">
                  <c:v>279</c:v>
                </c:pt>
                <c:pt idx="8">
                  <c:v>882</c:v>
                </c:pt>
                <c:pt idx="9">
                  <c:v>1357</c:v>
                </c:pt>
                <c:pt idx="10">
                  <c:v>1706</c:v>
                </c:pt>
                <c:pt idx="11">
                  <c:v>1975</c:v>
                </c:pt>
                <c:pt idx="12">
                  <c:v>1787</c:v>
                </c:pt>
                <c:pt idx="13">
                  <c:v>1923</c:v>
                </c:pt>
                <c:pt idx="14">
                  <c:v>1790</c:v>
                </c:pt>
                <c:pt idx="15">
                  <c:v>1732</c:v>
                </c:pt>
                <c:pt idx="16">
                  <c:v>1644</c:v>
                </c:pt>
                <c:pt idx="17">
                  <c:v>1520</c:v>
                </c:pt>
                <c:pt idx="18">
                  <c:v>1251</c:v>
                </c:pt>
                <c:pt idx="19">
                  <c:v>1079</c:v>
                </c:pt>
                <c:pt idx="20">
                  <c:v>982</c:v>
                </c:pt>
                <c:pt idx="21">
                  <c:v>693</c:v>
                </c:pt>
                <c:pt idx="22">
                  <c:v>556</c:v>
                </c:pt>
                <c:pt idx="23">
                  <c:v>246</c:v>
                </c:pt>
              </c:numCache>
            </c:numRef>
          </c:val>
          <c:smooth val="0"/>
        </c:ser>
        <c:ser>
          <c:idx val="2"/>
          <c:order val="2"/>
          <c:tx>
            <c:v>Tue 29 Sep</c:v>
          </c:tx>
          <c:spPr>
            <a:ln xmlns:a="http://schemas.openxmlformats.org/drawingml/2006/main" w="28575">
              <a:solidFill>
                <a:srgbClr val="CE8A2E"/>
              </a:solidFill>
            </a:ln>
          </c:spPr>
          <c:marker>
            <c:symbol val="none"/>
          </c:marker>
          <c:cat>
            <c:numRef>
              <c:f>'Chart Data'!$E$2:$E$25</c:f>
              <c:numCache>
                <c:formatCode>General</c:formatCod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'Chart Data'!$F$2:$F$25</c:f>
              <c:numCache>
                <c:formatCode>#,##0</c:formatCode>
                <c:ptCount val="24"/>
                <c:pt idx="0">
                  <c:v>223</c:v>
                </c:pt>
                <c:pt idx="1">
                  <c:v>147</c:v>
                </c:pt>
                <c:pt idx="2">
                  <c:v>93</c:v>
                </c:pt>
                <c:pt idx="3">
                  <c:v>61</c:v>
                </c:pt>
                <c:pt idx="4">
                  <c:v>47</c:v>
                </c:pt>
                <c:pt idx="5">
                  <c:v>56</c:v>
                </c:pt>
                <c:pt idx="6">
                  <c:v>152</c:v>
                </c:pt>
                <c:pt idx="7">
                  <c:v>380</c:v>
                </c:pt>
                <c:pt idx="8">
                  <c:v>963</c:v>
                </c:pt>
                <c:pt idx="9">
                  <c:v>1260</c:v>
                </c:pt>
                <c:pt idx="10">
                  <c:v>1655</c:v>
                </c:pt>
                <c:pt idx="11">
                  <c:v>1648</c:v>
                </c:pt>
                <c:pt idx="12">
                  <c:v>1600</c:v>
                </c:pt>
                <c:pt idx="13">
                  <c:v>1616</c:v>
                </c:pt>
                <c:pt idx="14">
                  <c:v>1625</c:v>
                </c:pt>
                <c:pt idx="15">
                  <c:v>1467</c:v>
                </c:pt>
                <c:pt idx="16">
                  <c:v>1293</c:v>
                </c:pt>
                <c:pt idx="17">
                  <c:v>1115</c:v>
                </c:pt>
                <c:pt idx="18">
                  <c:v>1037</c:v>
                </c:pt>
                <c:pt idx="19">
                  <c:v>1012</c:v>
                </c:pt>
                <c:pt idx="20">
                  <c:v>906</c:v>
                </c:pt>
                <c:pt idx="21">
                  <c:v>691</c:v>
                </c:pt>
                <c:pt idx="22">
                  <c:v>523</c:v>
                </c:pt>
                <c:pt idx="23">
                  <c:v>290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7182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2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B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7182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500"/>
      </c:valAx>
      <c:spPr>
        <a:solidFill xmlns:a="http://schemas.openxmlformats.org/drawingml/2006/main">
          <a:srgbClr val="F6F8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23047"/>
              </a:solidFill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6F8FA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Answered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Data'!$A$2:$A$4</c:f>
              <c:strCache>
                <c:ptCount val="3"/>
                <c:pt idx="0">
                  <c:v>Sun 27 Sep</c:v>
                </c:pt>
                <c:pt idx="1">
                  <c:v>Mon 28 Sep</c:v>
                </c:pt>
                <c:pt idx="2">
                  <c:v>Tue 29 Sep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2722</c:v>
                </c:pt>
                <c:pt idx="1">
                  <c:v>4507</c:v>
                </c:pt>
                <c:pt idx="2">
                  <c:v>4570</c:v>
                </c:pt>
              </c:numCache>
            </c:numRef>
          </c:val>
        </c:ser>
        <c:ser>
          <c:idx val="1"/>
          <c:order val="1"/>
          <c:tx>
            <c:v>Abandoned</c:v>
          </c:tx>
          <c:spPr>
            <a:solidFill xmlns:a="http://schemas.openxmlformats.org/drawingml/2006/main">
              <a:srgbClr val="C85C43"/>
            </a:solidFill>
          </c:spPr>
          <c:cat>
            <c:strRef>
              <c:f>'Chart Data'!$C$2:$C$4</c:f>
              <c:strCache>
                <c:ptCount val="3"/>
                <c:pt idx="0">
                  <c:v>Sun 27 Sep</c:v>
                </c:pt>
                <c:pt idx="1">
                  <c:v>Mon 28 Sep</c:v>
                </c:pt>
                <c:pt idx="2">
                  <c:v>Tue 29 Sep</c:v>
                </c:pt>
              </c:strCache>
            </c:strRef>
          </c:cat>
          <c:val>
            <c:numRef>
              <c:f>'Chart Data'!$D$2:$D$4</c:f>
              <c:numCache>
                <c:formatCode>#,##0</c:formatCode>
                <c:ptCount val="3"/>
                <c:pt idx="0">
                  <c:v>530</c:v>
                </c:pt>
                <c:pt idx="1">
                  <c:v>1615</c:v>
                </c:pt>
                <c:pt idx="2">
                  <c:v>1149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FFFFFF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7182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7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B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7182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2000"/>
      </c:valAx>
      <c:spPr>
        <a:solidFill xmlns:a="http://schemas.openxmlformats.org/drawingml/2006/main">
          <a:srgbClr val="F6F8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23047"/>
              </a:solidFill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6F8FA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Monday abandonment rate</c:v>
          </c:tx>
          <c:spPr>
            <a:ln xmlns:a="http://schemas.openxmlformats.org/drawingml/2006/main" w="28575">
              <a:solidFill>
                <a:srgbClr val="C85C43"/>
              </a:solidFill>
            </a:ln>
          </c:spPr>
          <c:marker>
            <c:symbol val="none"/>
          </c:marker>
          <c:cat>
            <c:numRef>
              <c:f>'Chart Data'!$A$2:$A$25</c:f>
              <c:numCache>
                <c:formatCode>General</c:formatCod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'Chart Data'!$B$2:$B$25</c:f>
              <c:numCache>
                <c:formatCode>0%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0.052632</c:v>
                </c:pt>
                <c:pt idx="6">
                  <c:v>0.041667</c:v>
                </c:pt>
                <c:pt idx="7">
                  <c:v>0.213483</c:v>
                </c:pt>
                <c:pt idx="8">
                  <c:v>0.024476</c:v>
                </c:pt>
                <c:pt idx="9">
                  <c:v>0.098191</c:v>
                </c:pt>
                <c:pt idx="10">
                  <c:v>0.126362</c:v>
                </c:pt>
                <c:pt idx="11">
                  <c:v>0.245243</c:v>
                </c:pt>
                <c:pt idx="12">
                  <c:v>0.282851</c:v>
                </c:pt>
                <c:pt idx="13">
                  <c:v>0.294979</c:v>
                </c:pt>
                <c:pt idx="14">
                  <c:v>0.246835</c:v>
                </c:pt>
                <c:pt idx="15">
                  <c:v>0.206478</c:v>
                </c:pt>
                <c:pt idx="16">
                  <c:v>0.425926</c:v>
                </c:pt>
                <c:pt idx="17">
                  <c:v>0.481132</c:v>
                </c:pt>
                <c:pt idx="18">
                  <c:v>0.404624</c:v>
                </c:pt>
                <c:pt idx="19">
                  <c:v>0.403226</c:v>
                </c:pt>
                <c:pt idx="20">
                  <c:v>0.366154</c:v>
                </c:pt>
                <c:pt idx="21">
                  <c:v>0.322581</c:v>
                </c:pt>
                <c:pt idx="22">
                  <c:v>0.243802</c:v>
                </c:pt>
                <c:pt idx="23">
                  <c:v>0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7182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B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7182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6F8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23047"/>
              </a:solidFill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6F8F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031357-541E-4CD7-B20D-E9A86A44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"/>
            <a:ext cx="1333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CET  /  CONTACT CENTRE PERFORMANCE     27–29 SEPTEMBER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7DC93-B2DB-4BE5-AEAF-35D830B5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14375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230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23047"/>
                </a:solidFill>
                <a:latin typeface="DejaVu Sans"/>
                <a:ea typeface="DejaVu Sans"/>
                <a:cs typeface="DejaVu Sans"/>
              </a:rPr>
              <a:t>IVR demand peaks at twice the average hourly 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B756E-5DA0-4EF4-A47A-5C0FC5DC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533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7182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C7182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73A9B-190D-40A1-8EAA-7E88F22A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621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17,341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81F0C-A7BD-46DE-AF46-637D66EC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47900"/>
            <a:ext cx="447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0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7"/>
                </a:solidFill>
                <a:latin typeface="DejaVu Sans"/>
                <a:ea typeface="DejaVu Sans"/>
                <a:cs typeface="DejaVu Sans"/>
              </a:rPr>
              <a:t>IVR calls per 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4095E-42B1-42D1-8D24-2189C01E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384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718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7182"/>
                </a:solidFill>
                <a:latin typeface="DejaVu Sans"/>
                <a:ea typeface="DejaVu Sans"/>
                <a:cs typeface="DejaVu Sans"/>
              </a:rPr>
              <a:t>52,024 calls across 3 days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EB306-C269-4E21-87D3-4C8A845F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621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723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744A2-2FFF-4EA3-A726-543FB8AF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47900"/>
            <a:ext cx="447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0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7"/>
                </a:solidFill>
                <a:latin typeface="DejaVu Sans"/>
                <a:ea typeface="DejaVu Sans"/>
                <a:cs typeface="DejaVu Sans"/>
              </a:rPr>
              <a:t>IVR calls per hour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EC476-0395-4433-B9CA-00DB261A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384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718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7182"/>
                </a:solidFill>
                <a:latin typeface="DejaVu Sans"/>
                <a:ea typeface="DejaVu Sans"/>
                <a:cs typeface="DejaVu Sans"/>
              </a:rPr>
              <a:t>Total ÷ 72 observed hours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49D93-E5E4-4AF5-9F6B-C0825C97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5621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CE8A2E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CE8A2E"/>
                </a:solidFill>
                <a:latin typeface="DejaVu Sans"/>
                <a:ea typeface="DejaVu Sans"/>
                <a:cs typeface="DejaVu Sans"/>
              </a:rPr>
              <a:t>1,494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08B0F-2D96-4900-897B-2E3F0AB9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247900"/>
            <a:ext cx="447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0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7"/>
                </a:solidFill>
                <a:latin typeface="DejaVu Sans"/>
                <a:ea typeface="DejaVu Sans"/>
                <a:cs typeface="DejaVu Sans"/>
              </a:rPr>
              <a:t>Average at 11:00–11:59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881A6-B59D-431F-8803-6BE819C4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6384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718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7182"/>
                </a:solidFill>
                <a:latin typeface="DejaVu Sans"/>
                <a:ea typeface="DejaVu Sans"/>
                <a:cs typeface="DejaVu Sans"/>
              </a:rPr>
              <a:t>2.07× the all-hours average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5D6EF-CEF0-4ACF-87C1-3760C72E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6707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30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23047"/>
                </a:solidFill>
                <a:latin typeface="DejaVu Sans"/>
                <a:ea typeface="DejaVu Sans"/>
                <a:cs typeface="DejaVu Sans"/>
              </a:rPr>
              <a:t>Hourly IVR volume by day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523875" y="3714750"/>
          <a:ext xmlns:a="http://schemas.openxmlformats.org/drawingml/2006/main" cx="9715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8f25440b074ca5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E24D2-8AA8-42DF-A900-13E4083F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30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23047"/>
                </a:solidFill>
                <a:latin typeface="DejaVu Sans"/>
                <a:ea typeface="DejaVu Sans"/>
                <a:cs typeface="DejaVu Sans"/>
              </a:rPr>
              <a:t>Daily call volumes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64EF7-DF5E-44C9-A805-82D8C26F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5762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30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23047"/>
                </a:solidFill>
                <a:latin typeface="DejaVu Sans"/>
                <a:ea typeface="DejaVu Sans"/>
                <a:cs typeface="DejaVu Sans"/>
              </a:rPr>
              <a:t>Sun 27 Sep     10,252</a:t>
            </a:r>
          </a:p>
          <a:p xmlns:a="http://schemas.openxmlformats.org/drawingml/2006/main">
            <a:pPr>
              <a:defRPr sz="1950" b="0">
                <a:solidFill>
                  <a:srgbClr val="1230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23047"/>
                </a:solidFill>
                <a:latin typeface="DejaVu Sans"/>
                <a:ea typeface="DejaVu Sans"/>
                <a:cs typeface="DejaVu Sans"/>
              </a:rPr>
              <a:t>Mon 28 Sep    21,912</a:t>
            </a:r>
          </a:p>
          <a:p xmlns:a="http://schemas.openxmlformats.org/drawingml/2006/main">
            <a:pPr>
              <a:defRPr sz="1950" b="0">
                <a:solidFill>
                  <a:srgbClr val="1230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23047"/>
                </a:solidFill>
                <a:latin typeface="DejaVu Sans"/>
                <a:ea typeface="DejaVu Sans"/>
                <a:cs typeface="DejaVu Sans"/>
              </a:rPr>
              <a:t>Tue 29 Sep     19,860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5A9CC-20CA-4609-8E04-848A1594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81625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61.7% within 8 hours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7EB21-3277-42C5-8883-52BE9ACC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857875"/>
            <a:ext cx="390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30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23047"/>
                </a:solidFill>
                <a:latin typeface="DejaVu Sans"/>
                <a:ea typeface="DejaVu Sans"/>
                <a:cs typeface="DejaVu Sans"/>
              </a:rPr>
              <a:t>10:00–17:59 accounts for most IVR demand in this snapshot.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3864AB-19EF-464C-9F47-09D8FA07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124700"/>
            <a:ext cx="13906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Capacity focus: 10:00–17:59. Highest single hour: 1,975 calls on Monday at 11:00.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DCF547-907F-4F76-99D3-381EED57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762875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18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C7182"/>
                </a:solidFill>
                <a:latin typeface="DejaVu Sans"/>
                <a:ea typeface="DejaVu Sans"/>
                <a:cs typeface="DejaVu Sans"/>
              </a:rPr>
              <a:t>Averages use all 24 hours per day. Hours follow the source timezone, which is unspecified.</a:t>
            </a:r>
          </a:p>
          <a:p xmlns:a="http://schemas.openxmlformats.org/drawingml/2006/main">
            <a:pPr>
              <a:defRPr sz="1275" b="0">
                <a:solidFill>
                  <a:srgbClr val="5C718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C7182"/>
                </a:solidFill>
                <a:latin typeface="DejaVu Sans"/>
                <a:ea typeface="DejaVu Sans"/>
                <a:cs typeface="DejaVu Sans"/>
              </a:rPr>
              <a:t>Three days describe this period only and do not establish a recurring weekly pattern.</a:t>
            </a:r>
          </a:p>
        </p:txBody>
      </p:sp>
    </p:spTree>
    <p:extLst>
      <p:ext uri="{BB962C8B-B14F-4D97-AF65-F5344CB8AC3E}">
        <p14:creationId xmlns:p14="http://schemas.microsoft.com/office/powerpoint/2010/main" val="7451460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8B08BC-C3D9-42D8-AF55-078626C9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"/>
            <a:ext cx="1333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CET  /  CONTACT CENTRE PERFORMANCE     27–29 SEPTEMBER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D6E56-1C8D-4B8E-B983-DAF915C7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14375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230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23047"/>
                </a:solidFill>
                <a:latin typeface="DejaVu Sans"/>
                <a:ea typeface="DejaVu Sans"/>
                <a:cs typeface="DejaVu Sans"/>
              </a:rPr>
              <a:t>21.8% of queue entries ended in abandonment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567C1-B852-4E1E-94BB-DE4EFE60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533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7182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C7182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F18C7-1FAB-4DBD-96FE-60DD587C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621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5,031 / 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1BF3D-3CE5-43AC-B26D-F4FAE703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47900"/>
            <a:ext cx="447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0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7"/>
                </a:solidFill>
                <a:latin typeface="DejaVu Sans"/>
                <a:ea typeface="DejaVu Sans"/>
                <a:cs typeface="DejaVu Sans"/>
              </a:rPr>
              <a:t>Entered queue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AF8B7-F9EA-47E6-84A8-D85B0AA0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384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718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7182"/>
                </a:solidFill>
                <a:latin typeface="DejaVu Sans"/>
                <a:ea typeface="DejaVu Sans"/>
                <a:cs typeface="DejaVu Sans"/>
              </a:rPr>
              <a:t>210 per hour  /  15,093 total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C7ED0-82B9-4D3B-8DB1-99D2F06B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621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3,933 / 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CB24B-4367-46E6-B772-08D4597A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47900"/>
            <a:ext cx="447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0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7"/>
                </a:solidFill>
                <a:latin typeface="DejaVu Sans"/>
                <a:ea typeface="DejaVu Sans"/>
                <a:cs typeface="DejaVu Sans"/>
              </a:rPr>
              <a:t>Answered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50DAB-1204-4B52-9826-7C3F6252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384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718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7182"/>
                </a:solidFill>
                <a:latin typeface="DejaVu Sans"/>
                <a:ea typeface="DejaVu Sans"/>
                <a:cs typeface="DejaVu Sans"/>
              </a:rPr>
              <a:t>164 per hour  /  78.2% of entries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8DEDB-DA47-43B8-B1DE-2E583AD0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5621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C85C43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C85C43"/>
                </a:solidFill>
                <a:latin typeface="DejaVu Sans"/>
                <a:ea typeface="DejaVu Sans"/>
                <a:cs typeface="DejaVu Sans"/>
              </a:rPr>
              <a:t>1,098 / 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047E46-78E4-4053-8791-76F24F0B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247900"/>
            <a:ext cx="447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0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7"/>
                </a:solidFill>
                <a:latin typeface="DejaVu Sans"/>
                <a:ea typeface="DejaVu Sans"/>
                <a:cs typeface="DejaVu Sans"/>
              </a:rPr>
              <a:t>Abandoned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DC279-6E9A-42DF-965A-4E640AE2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6384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718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7182"/>
                </a:solidFill>
                <a:latin typeface="DejaVu Sans"/>
                <a:ea typeface="DejaVu Sans"/>
                <a:cs typeface="DejaVu Sans"/>
              </a:rPr>
              <a:t>46 per hour  /  3,294 total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7F485-3079-43E3-B5E8-BE04DF21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76600"/>
            <a:ext cx="676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30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23047"/>
                </a:solidFill>
                <a:latin typeface="DejaVu Sans"/>
                <a:ea typeface="DejaVu Sans"/>
                <a:cs typeface="DejaVu Sans"/>
              </a:rPr>
              <a:t>Queue outcomes by day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523875" y="3686175"/>
          <a:ext xmlns:a="http://schemas.openxmlformats.org/drawingml/2006/main" cx="6762750" cy="2733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e460021a1c443c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0CD53-9665-4A36-9A5E-70B1B4C4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05575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85C4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C85C43"/>
                </a:solidFill>
                <a:latin typeface="DejaVu Sans"/>
                <a:ea typeface="DejaVu Sans"/>
                <a:cs typeface="DejaVu Sans"/>
              </a:rPr>
              <a:t>Abandonment       16.3%           26.4%           20.1%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6AE1A4-D2AB-4B17-A985-27D369DE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7660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0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7"/>
                </a:solidFill>
                <a:latin typeface="DejaVu Sans"/>
                <a:ea typeface="DejaVu Sans"/>
                <a:cs typeface="DejaVu Sans"/>
              </a:rPr>
              <a:t>Monday abandonment by hour</a:t>
            </a:r>
          </a:p>
        </p:txBody>
      </p:sp>
      <p:graphicFrame>
        <p:nvGraphicFramePr>
          <p:cNvPr id="37" name="Chart"/>
          <p:cNvGraphicFramePr/>
          <p:nvPr/>
        </p:nvGraphicFramePr>
        <p:xfrm>
          <a:off xmlns:a="http://schemas.openxmlformats.org/drawingml/2006/main" x="7953375" y="3686175"/>
          <a:ext xmlns:a="http://schemas.openxmlformats.org/drawingml/2006/main" cx="6715125" cy="2733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253ccd23964be9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FDEC62-406E-40BF-A2BB-A184632D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641985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85C4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C85C43"/>
                </a:solidFill>
                <a:latin typeface="DejaVu Sans"/>
                <a:ea typeface="DejaVu Sans"/>
                <a:cs typeface="DejaVu Sans"/>
              </a:rPr>
              <a:t>Monday 16:00–20:59: 42.0% abandoned</a:t>
            </a:r>
          </a:p>
          <a:p xmlns:a="http://schemas.openxmlformats.org/drawingml/2006/main">
            <a:pPr>
              <a:defRPr sz="1650" b="1">
                <a:solidFill>
                  <a:srgbClr val="C85C4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C85C43"/>
                </a:solidFill>
                <a:latin typeface="DejaVu Sans"/>
                <a:ea typeface="DejaVu Sans"/>
                <a:cs typeface="DejaVu Sans"/>
              </a:rPr>
              <a:t>749 of 1,783 queue entries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07F5F3-169D-4466-8D70-DE91C1CD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86600"/>
            <a:ext cx="14001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Priority: review Monday late-shift coverage and waiting times. Tuesday answered 63 more calls</a:t>
            </a:r>
          </a:p>
          <a:p xmlns:a="http://schemas.openxmlformats.org/drawingml/2006/main">
            <a:pPr>
              <a:defRPr sz="18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with 403 fewer queue entries than Monday, while abandonment fell by 466.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3420AF-BD6E-4627-85C5-35CE2502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791450"/>
            <a:ext cx="13620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1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7182"/>
                </a:solidFill>
                <a:latin typeface="DejaVu Sans"/>
                <a:ea typeface="DejaVu Sans"/>
                <a:cs typeface="DejaVu Sans"/>
              </a:rPr>
              <a:t>Queue rates use entries as denominator. IVR “Reached Agent” (17,724) differs from queue entries (15,093) by 2,631.</a:t>
            </a:r>
          </a:p>
          <a:p xmlns:a="http://schemas.openxmlformats.org/drawingml/2006/main">
            <a:pPr>
              <a:defRPr sz="1200" b="0">
                <a:solidFill>
                  <a:srgbClr val="5C71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7182"/>
                </a:solidFill>
                <a:latin typeface="DejaVu Sans"/>
                <a:ea typeface="DejaVu Sans"/>
                <a:cs typeface="DejaVu Sans"/>
              </a:rPr>
              <a:t>Confirm report scope before linking journeys. IVR totals also contain an 18-call gap. Staffing estimates need AHT and service targets.</a:t>
            </a:r>
          </a:p>
        </p:txBody>
      </p:sp>
    </p:spTree>
    <p:extLst>
      <p:ext uri="{BB962C8B-B14F-4D97-AF65-F5344CB8AC3E}">
        <p14:creationId xmlns:p14="http://schemas.microsoft.com/office/powerpoint/2010/main" val="10947438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2026-10-01T12:32:05.5710000Z</dcterms:created>
  <dcterms:modified xsi:type="dcterms:W3CDTF">2026-10-01T12:32:05.5710000Z</dcterms:modified>
</coreProperties>
</file>