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70e2d42ec14a46" /><Relationship Type="http://schemas.openxmlformats.org/officeDocument/2006/relationships/extended-properties" Target="/docProps/app.xml" Id="R05e59eaf3d844e80" /><Relationship Type="http://schemas.openxmlformats.org/officeDocument/2006/relationships/officeDocument" Target="/ppt/presentation.xml" Id="R66f7121b769342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bc839cb77347c2"/>
  </p:sldMasterIdLst>
  <p:notesMasterIdLst>
    <p:notesMasterId xmlns:r="http://schemas.openxmlformats.org/officeDocument/2006/relationships" r:id="Rb335181c951c457e"/>
  </p:notesMasterIdLst>
  <p:sldIdLst>
    <p:sldId xmlns:r="http://schemas.openxmlformats.org/officeDocument/2006/relationships" id="256" r:id="R78911d60570d48af"/>
    <p:sldId xmlns:r="http://schemas.openxmlformats.org/officeDocument/2006/relationships" id="257" r:id="Rfba0674074d24ac5"/>
    <p:sldId xmlns:r="http://schemas.openxmlformats.org/officeDocument/2006/relationships" id="258" r:id="R7ddacff14aa6494f"/>
    <p:sldId xmlns:r="http://schemas.openxmlformats.org/officeDocument/2006/relationships" id="259" r:id="Rb9870c12c8644208"/>
    <p:sldId xmlns:r="http://schemas.openxmlformats.org/officeDocument/2006/relationships" id="260" r:id="Rcfcfb73371fa4da0"/>
    <p:sldId xmlns:r="http://schemas.openxmlformats.org/officeDocument/2006/relationships" id="261" r:id="R9a80207cb56a4a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6b83a5155e4742" /><Relationship Type="http://schemas.openxmlformats.org/officeDocument/2006/relationships/slideMaster" Target="/ppt/slideMasters/slideMaster1.xml" Id="Rbbbc839cb77347c2" /><Relationship Type="http://schemas.openxmlformats.org/officeDocument/2006/relationships/notesMaster" Target="/ppt/notesMasters/notesMaster1.xml" Id="Rb335181c951c457e" /><Relationship Type="http://schemas.openxmlformats.org/officeDocument/2006/relationships/presProps" Target="/ppt/presProps.xml" Id="R60bcb6886aed4403" /><Relationship Type="http://schemas.openxmlformats.org/officeDocument/2006/relationships/tableStyles" Target="/ppt/tableStyles.xml" Id="Ra365c347ca5a4999" /><Relationship Type="http://schemas.openxmlformats.org/officeDocument/2006/relationships/slide" Target="/ppt/slides/slide1.xml" Id="R78911d60570d48af" /><Relationship Type="http://schemas.openxmlformats.org/officeDocument/2006/relationships/slide" Target="/ppt/slides/slide2.xml" Id="Rfba0674074d24ac5" /><Relationship Type="http://schemas.openxmlformats.org/officeDocument/2006/relationships/slide" Target="/ppt/slides/slide3.xml" Id="R7ddacff14aa6494f" /><Relationship Type="http://schemas.openxmlformats.org/officeDocument/2006/relationships/slide" Target="/ppt/slides/slide4.xml" Id="Rb9870c12c8644208" /><Relationship Type="http://schemas.openxmlformats.org/officeDocument/2006/relationships/slide" Target="/ppt/slides/slide5.xml" Id="Rcfcfb73371fa4da0" /><Relationship Type="http://schemas.openxmlformats.org/officeDocument/2006/relationships/slide" Target="/ppt/slides/slide6.xml" Id="R9a80207cb56a4a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e6ef5dc6834b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20e344ea6a40f0" /><Relationship Type="http://schemas.openxmlformats.org/officeDocument/2006/relationships/notesMaster" Target="/ppt/notesMasters/notesMaster1.xml" Id="R65407d9100724e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7a69f792be84771" /><Relationship Type="http://schemas.openxmlformats.org/officeDocument/2006/relationships/notesMaster" Target="/ppt/notesMasters/notesMaster1.xml" Id="R2fe955cbac3940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18538c3218f4c9d" /><Relationship Type="http://schemas.openxmlformats.org/officeDocument/2006/relationships/notesMaster" Target="/ppt/notesMasters/notesMaster1.xml" Id="R40ce1aaa4e4842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98011150bc426b" /><Relationship Type="http://schemas.openxmlformats.org/officeDocument/2006/relationships/notesMaster" Target="/ppt/notesMasters/notesMaster1.xml" Id="Rdfe87deeb11e4a9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aa515370924b82" /><Relationship Type="http://schemas.openxmlformats.org/officeDocument/2006/relationships/notesMaster" Target="/ppt/notesMasters/notesMaster1.xml" Id="Rf75ba21b969542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7cc8c0a83944e4" /><Relationship Type="http://schemas.openxmlformats.org/officeDocument/2006/relationships/notesMaster" Target="/ppt/notesMasters/notesMaster1.xml" Id="R9d33ed6ab6fe42c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¹Completed / total demand is a portfolio snapshot share, not a monthly delivery rate. Totals are arithmetic sums of reported platform portfolios, without demand-ID deduplication. 98/285=34.4%. Other states: 24 new demand, 4 baseline 0, 24 dropped. Volumes remain separate because currency and cross-platform overlap are unspecified. Source health labels are Green for all platforms. Management priorities are analytical recommendations.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Planned outages/deployments: IB 5, MB 10. Planned downtime: IB 2h50m, MB 3h15m. Unplanned outages: MB 1. The source reports ~48 hours of intermittent degradation and successful mitigation, not 48 hours of total downtime. Infrastructure: MB CPU 7.97%, memory 35.64%, storage 66.10%. IB CPU 5.01%, memory 52.87%, storage 50.17%. DR available yes, tested, environment readiness validated and recovery procedures confirmed. Source reports healthy infrastructure and monitored reliability. SME share 9.16/16.99=53.9%.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Total demands 122. Exact September volume 3,242,716,155.49. Rounded component volumes sum to 3.24B. PF share 2.33/3.24=71.9%. Planned outages 0, unplanned outages 0, planned downtime 0 hours, unplanned downtime 0. Reliability unchanged and stable operational posture. CPU &lt;10%, memory &lt;60%, capacity healthy within operating thresholds. No DR available, upgrade planned 2027. Source target is sustain monthly processing above 3.0 billion, not a forecast. Product abbreviations preserved from source.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Exact September volume 1,244,030,273. Source monthly values are rounded to two decimal billions. August-to-September change (1.24/1.39-1)=-10.8%, calculated from rounded figures. July peak 1.57B, March low 0.84B. 0 planned outages, 1 unplanned outage, 0 planned downtime, 12 minutes unplanned downtime. Application server dxb01-vwp-lmsa2 stopped responding and returned Server Too Busy. Secondary server took load and prevented total environment outage. No critical incidents, one major incident, reliability monitored. CPU &lt;40%, memory &lt;25%, storage &lt;70%. Source availability 100% needs reconciliation with 12 minutes downtime.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These are selected named initiatives, not a complete list of the 98 delivered/completed items or 67 in progress. The source spells Emirati Card. LL/LG and CIF expansion not assumed. IB/MB source: Removal of Skywards Cards from Mobile Banking; 3x3 Drop 4 – Release 1 &amp; Release 2; TAB-52 – Tablet AOF Audit Requirement. FinnOne source: Field Amendment for LL and LG flags; Multiple Rate Changes service request; Supplementary Card Mobile No. Email ID Capture.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user-provided September 2026 IB/MB, FinnOne and HFLMS portfolio overview images. Data interpretation: source labels all platforms Green. HFLMS reports 100% availability alongside 12 minutes unplanned downtime. IB/MB reports 99.9% alongside ~48 hours intermittent MB degradation. These metrics may use different denominators or service scopes. Reconcile definitions without substituting an invented availability rate. No prior-month demand snapshot, demand aging, capacity allocation, costs, benefits or dates supplied. Delivery share is a portfolio composition measure and cannot establish throughput growth, ROI or delivery efficiency. Volumes are business transaction volumes, not revenue. Summing portfolios assumes no cross-platform duplicate demand IDs and needs validation before an enterprise unique-demand total. Recommendations do not imply approved owners or commitments.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d19d59d2f45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1c107bd644e4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0c425dc6db45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d66b5c7cf4a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2f042f0e7f41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972442c3e40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BA725AF-C6AA-42AE-83D2-6A8E0F98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21C0D08-75EC-4739-9C7D-86A42F0997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6058C9F2-7A9C-44F2-AB72-E30A0B8821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D1C1F85-3AAE-4A2E-A727-DAB10E4E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BCB043A-EA96-480B-A666-383CAEDA32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58B38DF-8AE9-4306-9F2F-5276DD410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2994C77-037C-4E23-B1AE-238449558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1C34F73F-41BB-41A6-AA64-CEE45EE18A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C863901-A954-4242-9369-3FD8D8E80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22A857B-029D-4F87-84FF-6EC6731CF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46BA70-A04D-4CE2-8FD1-A0602A4EAF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8B50959-7045-4460-97B3-3E7CE5D4F81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491FBE5-0FEF-411C-872C-2E01007A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3DAED32-7574-424E-B307-EF4441CDA5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2001CC6-9D2E-45F5-ADB1-FA4DE6BC71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ac424e18174744" /><Relationship Type="http://schemas.openxmlformats.org/officeDocument/2006/relationships/slideLayout" Target="/ppt/slideLayouts/slideLayout1.xml" Id="R1841078578764fd7" /><Relationship Type="http://schemas.openxmlformats.org/officeDocument/2006/relationships/slideLayout" Target="/ppt/slideLayouts/slideLayout2.xml" Id="Rf7a8e140ddc94c87" /><Relationship Type="http://schemas.openxmlformats.org/officeDocument/2006/relationships/slideLayout" Target="/ppt/slideLayouts/slideLayout3.xml" Id="R4404391615a5413c" /><Relationship Type="http://schemas.openxmlformats.org/officeDocument/2006/relationships/slideLayout" Target="/ppt/slideLayouts/slideLayout4.xml" Id="R8459e5c36c114165" /><Relationship Type="http://schemas.openxmlformats.org/officeDocument/2006/relationships/slideLayout" Target="/ppt/slideLayouts/slideLayout5.xml" Id="R86dab18735f343fc" /><Relationship Type="http://schemas.openxmlformats.org/officeDocument/2006/relationships/slideLayout" Target="/ppt/slideLayouts/slideLayout6.xml" Id="R984edcd47dab433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41078578764fd7"/>
    <p:sldLayoutId xmlns:r="http://schemas.openxmlformats.org/officeDocument/2006/relationships" id="2147483650" r:id="Rf7a8e140ddc94c87"/>
    <p:sldLayoutId xmlns:r="http://schemas.openxmlformats.org/officeDocument/2006/relationships" id="2147483651" r:id="R4404391615a5413c"/>
    <p:sldLayoutId xmlns:r="http://schemas.openxmlformats.org/officeDocument/2006/relationships" id="2147483652" r:id="R8459e5c36c114165"/>
    <p:sldLayoutId xmlns:r="http://schemas.openxmlformats.org/officeDocument/2006/relationships" id="2147483653" r:id="R86dab18735f343fc"/>
    <p:sldLayoutId xmlns:r="http://schemas.openxmlformats.org/officeDocument/2006/relationships" id="2147483654" r:id="R984edcd47dab433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4aeb6c46f430e" /><Relationship Type="http://schemas.openxmlformats.org/officeDocument/2006/relationships/image" Target="/ppt/media/image.png" Id="Rfc11cc104f814ae9" /><Relationship Type="http://schemas.openxmlformats.org/officeDocument/2006/relationships/notesSlide" Target="/ppt/notesSlides/notesSlide1.xml" Id="R4c9e0b335f434b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8d9e732014197" /><Relationship Type="http://schemas.openxmlformats.org/officeDocument/2006/relationships/image" Target="/ppt/media/image2.png" Id="R28fd32c19adf4152" /><Relationship Type="http://schemas.openxmlformats.org/officeDocument/2006/relationships/chart" Target="/ppt/slides/charts/chart1.xml" Id="Rf09436a37a864344" /><Relationship Type="http://schemas.openxmlformats.org/officeDocument/2006/relationships/notesSlide" Target="/ppt/notesSlides/notesSlide2.xml" Id="R8ebce5d3690745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add836b22d4c08" /><Relationship Type="http://schemas.openxmlformats.org/officeDocument/2006/relationships/image" Target="/ppt/media/image3.png" Id="R4901f2bb9a704548" /><Relationship Type="http://schemas.openxmlformats.org/officeDocument/2006/relationships/chart" Target="/ppt/slides/charts/chart2.xml" Id="Rd2a82926a9eb4c5e" /><Relationship Type="http://schemas.openxmlformats.org/officeDocument/2006/relationships/notesSlide" Target="/ppt/notesSlides/notesSlide3.xml" Id="Rebfbda60760347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764c4f1af1456a" /><Relationship Type="http://schemas.openxmlformats.org/officeDocument/2006/relationships/image" Target="/ppt/media/image4.png" Id="Rc78fe85a19194cb2" /><Relationship Type="http://schemas.openxmlformats.org/officeDocument/2006/relationships/chart" Target="/ppt/slides/charts/chart3.xml" Id="R62b8ae8a9f0a4180" /><Relationship Type="http://schemas.openxmlformats.org/officeDocument/2006/relationships/notesSlide" Target="/ppt/notesSlides/notesSlide4.xml" Id="R001c352891e246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3bc3fda6034856" /><Relationship Type="http://schemas.openxmlformats.org/officeDocument/2006/relationships/image" Target="/ppt/media/image5.png" Id="Rb756ea7c4ca54b58" /><Relationship Type="http://schemas.openxmlformats.org/officeDocument/2006/relationships/notesSlide" Target="/ppt/notesSlides/notesSlide5.xml" Id="Rafbcafa0bbd64e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4e128167a4015" /><Relationship Type="http://schemas.openxmlformats.org/officeDocument/2006/relationships/image" Target="/ppt/media/image6.png" Id="R7cddc3585d984214" /><Relationship Type="http://schemas.openxmlformats.org/officeDocument/2006/relationships/notesSlide" Target="/ppt/notesSlides/notesSlide6.xml" Id="Rcd67d0fa278943c3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4EE0A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EE0A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1BBF5"/>
              </a:solidFill>
            </c:spPr>
          </c:dPt>
          <c:cat>
            <c:strLit>
              <c:ptCount val="2"/>
              <c:pt idx="0">
                <c:v>Retail</c:v>
              </c:pt>
              <c:pt idx="1">
                <c:v>SME</c:v>
              </c:pt>
            </c:strLit>
          </c:cat>
          <c:val>
            <c:numLit>
              <c:formatCode>0.00"B"</c:formatCode>
              <c:ptCount val="2"/>
              <c:pt idx="0">
                <c:v>7.83</c:v>
              </c:pt>
              <c:pt idx="1">
                <c:v>9.16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EDF5F7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7657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4653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4EE0A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EE0A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1BBF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58C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FCB6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88B96"/>
              </a:solidFill>
            </c:spPr>
          </c:dPt>
          <c:cat>
            <c:strLit>
              <c:ptCount val="5"/>
              <c:pt idx="0">
                <c:v>AF</c:v>
              </c:pt>
              <c:pt idx="1">
                <c:v>AF-EV</c:v>
              </c:pt>
              <c:pt idx="2">
                <c:v>CC</c:v>
              </c:pt>
              <c:pt idx="3">
                <c:v>PF</c:v>
              </c:pt>
              <c:pt idx="4">
                <c:v>SBF</c:v>
              </c:pt>
            </c:strLit>
          </c:cat>
          <c:val>
            <c:numLit>
              <c:formatCode>0.00"B"</c:formatCode>
              <c:ptCount val="5"/>
              <c:pt idx="0">
                <c:v>0.63</c:v>
              </c:pt>
              <c:pt idx="1">
                <c:v>0.02</c:v>
              </c:pt>
              <c:pt idx="2">
                <c:v>0.19</c:v>
              </c:pt>
              <c:pt idx="3">
                <c:v>2.33</c:v>
              </c:pt>
              <c:pt idx="4">
                <c:v>0.07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EDF5F7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7657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4653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Reported volume</c:v>
          </c:tx>
          <c:spPr>
            <a:solidFill xmlns:a="http://schemas.openxmlformats.org/drawingml/2006/main">
              <a:srgbClr val="4EE0A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EE0A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51BBF5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58CFF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FCB68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F88B96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4EE0AE"/>
              </a:solidFill>
            </c:spPr>
          </c:dPt>
          <c:dPt>
            <c:idx val="6"/>
            <c:invertIfNegative val="0"/>
            <c:spPr>
              <a:solidFill xmlns:a="http://schemas.openxmlformats.org/drawingml/2006/main">
                <a:srgbClr val="51BBF5"/>
              </a:solidFill>
            </c:spPr>
          </c:dPt>
          <c:dPt>
            <c:idx val="7"/>
            <c:invertIfNegative val="0"/>
            <c:spPr>
              <a:solidFill xmlns:a="http://schemas.openxmlformats.org/drawingml/2006/main">
                <a:srgbClr val="A58CFF"/>
              </a:solidFill>
            </c:spPr>
          </c:dPt>
          <c:dPt>
            <c:idx val="8"/>
            <c:invertIfNegative val="0"/>
            <c:spPr>
              <a:solidFill xmlns:a="http://schemas.openxmlformats.org/drawingml/2006/main">
                <a:srgbClr val="FFCB68"/>
              </a:solidFill>
            </c:spPr>
          </c:dPt>
          <c:cat>
            <c:strLit>
              <c:ptCount val="9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  <c:pt idx="6">
                <c:v>Jul</c:v>
              </c:pt>
              <c:pt idx="7">
                <c:v>Aug</c:v>
              </c:pt>
              <c:pt idx="8">
                <c:v>Sep</c:v>
              </c:pt>
            </c:strLit>
          </c:cat>
          <c:val>
            <c:numLit>
              <c:formatCode>0.00"B"</c:formatCode>
              <c:ptCount val="9"/>
              <c:pt idx="0">
                <c:v>1.08</c:v>
              </c:pt>
              <c:pt idx="1">
                <c:v>1.2</c:v>
              </c:pt>
              <c:pt idx="2">
                <c:v>0.84</c:v>
              </c:pt>
              <c:pt idx="3">
                <c:v>1.1</c:v>
              </c:pt>
              <c:pt idx="4">
                <c:v>0.97</c:v>
              </c:pt>
              <c:pt idx="5">
                <c:v>1.01</c:v>
              </c:pt>
              <c:pt idx="6">
                <c:v>1.57</c:v>
              </c:pt>
              <c:pt idx="7">
                <c:v>1.39</c:v>
              </c:pt>
              <c:pt idx="8">
                <c:v>1.24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EDF5F7"/>
                  </a:solidFill>
                  <a:latin typeface="DejaVu Sans"/>
                  <a:ea typeface="DejaVu Sans"/>
                  <a:cs typeface="DejaVu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76572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2D4653"/>
              </a:solidFill>
            </a:ln>
          </c:spPr>
        </c:majorGridlines>
        <c:numFmt formatCode="0.00&quot;B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1cc104f814ae9"/>
          <a:srcRect xmlns:a="http://schemas.openxmlformats.org/drawingml/2006/main" l="0" t="35771" r="0" b="35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952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D9216-B038-4EA3-8992-1B029AD5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32806-3F56-444D-9790-D38D3160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Delivery progressed, with resilience gaps requiring attention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0EF5D-D29B-41B9-BAE6-16E77F970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Executive outcome across IB / MB, FinnOne and HFLMS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F68A88-381F-4DD6-ADDB-FC607150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E0F830-F68E-4435-9627-EAA1F705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F9CD09-958F-4C23-9708-E4DBE609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98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4A1D4-2E70-4594-B525-73821428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delivered / completed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8B720-0471-4E54-A1C2-354F9BA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285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7C8E9-2DD9-44F4-9247-1A333C1E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reported demands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B4B556-3719-41E7-81B9-FD91FC57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68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72EEEE-C6F6-43D7-8835-8676F190C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backlog items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7D3E39-CA31-4DF6-A44D-8448B020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43125"/>
            <a:ext cx="2571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67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4B4AB2-A78E-4E17-8FF2-20B611E37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051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in progress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57200" y="3476625"/>
          <a:ext xmlns:a="http://schemas.openxmlformats.org/drawingml/2006/main" cx="11277600" cy="1952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571750"/>
                <a:gridCol w="2238375"/>
                <a:gridCol w="2095500"/>
                <a:gridCol w="2276475"/>
              </a:tblGrid>
              <a:tr h="381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Delivery share¹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September volume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Availability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IB / MB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 / 113  (22.1%)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16.99B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99.9%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Tested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FinnOne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 / 122  (41.0%)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3.24B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HFLMS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 / 50  (46.0%)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1.24B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Unavailable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</a:tbl>
          </a:graphicData>
        </a:graphic>
      </p:graphicFrame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1059EF-F4C1-488C-B785-211F506D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48325"/>
            <a:ext cx="2333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Management focus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F8E2AA-8E09-41C4-BF72-D00545B2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8858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MB incident controls and backlog capacity need attention. FinnOne and HFLMS require interim recovery controls before the 2027 DR upgrades.</a:t>
            </a:r>
          </a:p>
        </p:txBody>
      </p:sp>
    </p:spTree>
    <p:extLst>
      <p:ext uri="{BB962C8B-B14F-4D97-AF65-F5344CB8AC3E}">
        <p14:creationId xmlns:p14="http://schemas.microsoft.com/office/powerpoint/2010/main" val="1950559142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8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86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1140"/>
                </p:stCondLst>
                <p:childTnLst>
                  <p:par>
                    <p:cTn id="1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650" fill="hold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42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70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98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226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254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2820"/>
                </p:stCondLst>
                <p:childTnLst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6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delay="3100"/>
                </p:stCondLst>
                <p:childTnLst>
                  <p:par>
                    <p:cTn id="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6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6" fill="hold">
                <p:stCondLst>
                  <p:cond delay="3380"/>
                </p:stCondLst>
                <p:childTnLst>
                  <p:par>
                    <p:cTn id="47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49" dur="650" fill="hold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0" fill="hold">
                <p:stCondLst>
                  <p:cond delay="3660"/>
                </p:stCondLst>
                <p:childTnLst>
                  <p:par>
                    <p:cTn id="5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3" dur="65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54" fill="hold">
                <p:stCondLst>
                  <p:cond delay="3940"/>
                </p:stCondLst>
                <p:childTnLst>
                  <p:par>
                    <p:cTn id="5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5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7" dur="650" fill="hold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d32c19adf4152"/>
          <a:srcRect xmlns:a="http://schemas.openxmlformats.org/drawingml/2006/main" l="0" t="35771" r="0" b="35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952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D1007-FCA1-4ED4-BD45-89798840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8A1CC-B27F-431D-8B0B-84F253EC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IB / MB supports 16.99B in business volume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7CE0D-70ED-47AF-8872-E39BF6E3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Delivery continues while Mobile Banking reliability needs closer oversight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D6A29-83D6-4BAD-9635-1D3F7533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045C32-BF03-4938-93B4-00480B68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57200" y="2266950"/>
          <a:ext xmlns:a="http://schemas.openxmlformats.org/drawingml/2006/main" cx="5143500" cy="2762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9436a37a86434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34286-EE5D-429A-9DD5-7BD558C4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017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54% of reported volume comes from SME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48375" y="2238375"/>
          <a:ext xmlns:a="http://schemas.openxmlformats.org/drawingml/2006/main" cx="2857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904875"/>
              </a:tblGrid>
              <a:tr h="3810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Demand state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Delivered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 progress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23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Backlog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27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New demand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24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Dropped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2175D-A0AF-4F7A-9303-A69D683D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266950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113 demands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06C34-A5F9-482C-98D7-738E1CDFB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99.9% availability</a:t>
            </a:r>
          </a:p>
          <a:p xmlns:a="http://schemas.openxmlformats.org/drawingml/2006/main">
            <a:pPr>
              <a:def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DR tested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E1FB5-3605-42E1-9728-1CE8678A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43325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MB: 6 major + 1 minor incidents</a:t>
            </a:r>
          </a:p>
          <a:p xmlns:a="http://schemas.openxmlformats.org/drawingml/2006/main">
            <a:pPr>
              <a:defRPr sz="1575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IB: 2 minor incidents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59BCE-58E6-4510-87F9-0118FA1C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Operational outcome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1C3D7F-97EB-4CAC-98EE-2709A813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800725"/>
            <a:ext cx="8810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15 planned deployments. Service continuity maintained during ~48 hours of intermittent MB degradation attributed to DDoS threshold exceedance.</a:t>
            </a:r>
          </a:p>
        </p:txBody>
      </p:sp>
    </p:spTree>
    <p:extLst>
      <p:ext uri="{BB962C8B-B14F-4D97-AF65-F5344CB8AC3E}">
        <p14:creationId xmlns:p14="http://schemas.microsoft.com/office/powerpoint/2010/main" val="671084186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8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86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114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42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700"/>
                </p:stCondLst>
                <p:childTnLst>
                  <p:par>
                    <p:cTn id="23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25" dur="650" fill="hold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98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226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254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8" fill="hold">
                <p:stCondLst>
                  <p:cond delay="2820"/>
                </p:stCondLst>
                <p:childTnLst>
                  <p:par>
                    <p:cTn id="3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1" dur="650" fill="hold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42" fill="hold">
                <p:stCondLst>
                  <p:cond delay="3100"/>
                </p:stCondLst>
                <p:childTnLst>
                  <p:par>
                    <p:cTn id="4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45" dur="650" fill="hold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01f2bb9a704548"/>
          <a:srcRect xmlns:a="http://schemas.openxmlformats.org/drawingml/2006/main" l="0" t="35771" r="0" b="35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952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FCD7D-48AC-42F3-BFB2-A35E12CB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5A19F0-8028-463C-834A-5C65B7F0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FinnOne combines 50 completed demands with zero outages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72569-F3C7-472E-9C7C-55D4AC81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3.24B reported September volume, with PF contributing approximately 72%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A7F53-027D-4F1C-BF06-D25A603C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01D46-B07D-4079-BD63-D8D1A9EA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57200" y="2209800"/>
          <a:ext xmlns:a="http://schemas.openxmlformats.org/drawingml/2006/main" cx="66675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a82926a9eb4c5e"/>
          </a:graphicData>
        </a:graphic>
      </p:graphicFrame>
      <p:graphicFrame>
        <p:nvGraphicFramePr>
          <p:cNvPr id="20" name=""/>
          <p:cNvGraphicFramePr/>
          <p:nvPr/>
        </p:nvGraphicFramePr>
        <p:xfrm>
          <a:off xmlns:a="http://schemas.openxmlformats.org/drawingml/2006/main" x="7905750" y="2228850"/>
          <a:ext xmlns:a="http://schemas.openxmlformats.org/drawingml/2006/main" cx="38100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09875"/>
                <a:gridCol w="1000125"/>
              </a:tblGrid>
              <a:tr h="381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Demand state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Completed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 progress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Backlog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29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Baseline 0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Dropped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83820-99DB-49B7-9CAE-081AB640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2238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24,981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C9759-B150-4C11-91E4-5B82A5C0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4837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transaction count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619DC-2C3D-4193-856C-60FF8DFE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81650"/>
            <a:ext cx="3619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100% availability</a:t>
            </a:r>
          </a:p>
          <a:p xmlns:a="http://schemas.openxmlformats.org/drawingml/2006/main">
            <a:pPr>
              <a:def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No critical or major incidents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1F16DB-2591-4222-8727-AA33A834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810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1159461676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8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86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114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420"/>
                </p:stCondLst>
                <p:childTnLst>
                  <p:par>
                    <p:cTn id="19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21" dur="650" fill="hold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70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98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226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254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8fe85a19194cb2"/>
          <a:srcRect xmlns:a="http://schemas.openxmlformats.org/drawingml/2006/main" l="0" t="35771" r="0" b="35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952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57C09-BD88-403F-A156-A8EE9EC1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A2842-26D2-4257-9407-8B732BCA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HFLMS maintained continuity through secondary-server failover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070D34-19C3-4ECB-94A6-88C2BF7E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23 completed demands. September volume eased 10.8% from August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719385-4454-4BD7-81BC-E84F5B31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9DC070-F58F-48E9-881F-EFEDF66FD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57200" y="2286000"/>
          <a:ext xmlns:a="http://schemas.openxmlformats.org/drawingml/2006/main" cx="72390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2b8ae8a9f0a4180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C6A5EB-90AD-4FBD-8C45-A1C03CBA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1.24B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2522F-78D2-404C-86FC-61419E72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774 transactions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458F8-E9A6-4A6A-86FB-58F9EFC6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76625"/>
            <a:ext cx="3619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50 demands</a:t>
            </a:r>
          </a:p>
          <a:p xmlns:a="http://schemas.openxmlformats.org/drawingml/2006/main">
            <a:pPr>
              <a:def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23 completed   /   15 in progress</a:t>
            </a:r>
          </a:p>
          <a:p xmlns:a="http://schemas.openxmlformats.org/drawingml/2006/main">
            <a:pPr>
              <a:def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12 backlog   /   0 baseline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8C67A-2E35-44B9-866D-2E2BD229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81650"/>
            <a:ext cx="5238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1 major incident</a:t>
            </a:r>
          </a:p>
          <a:p xmlns:a="http://schemas.openxmlformats.org/drawingml/2006/main">
            <a:pPr>
              <a:def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12 minutes unplanned downtime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4B764B-CC89-426D-9FAB-AEF7EB13C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10200"/>
            <a:ext cx="3619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DR unavailable</a:t>
            </a:r>
          </a:p>
          <a:p xmlns:a="http://schemas.openxmlformats.org/drawingml/2006/main">
            <a:pPr>
              <a:def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CB68"/>
                </a:solidFill>
                <a:latin typeface="DejaVu Sans"/>
                <a:ea typeface="DejaVu Sans"/>
                <a:cs typeface="DejaVu Sans"/>
              </a:rPr>
              <a:t>Upgrade planned for 2027</a:t>
            </a:r>
          </a:p>
        </p:txBody>
      </p:sp>
    </p:spTree>
    <p:extLst>
      <p:ext uri="{BB962C8B-B14F-4D97-AF65-F5344CB8AC3E}">
        <p14:creationId xmlns:p14="http://schemas.microsoft.com/office/powerpoint/2010/main" val="871253921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8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86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114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42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700"/>
                </p:stCondLst>
                <p:childTnLst>
                  <p:par>
                    <p:cTn id="2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5" dur="650" fill="hold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6" fill="hold">
                <p:stCondLst>
                  <p:cond delay="1980"/>
                </p:stCondLst>
                <p:childTnLst>
                  <p:par>
                    <p:cTn id="2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50" fill="hold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0" fill="hold">
                <p:stCondLst>
                  <p:cond delay="2260"/>
                </p:stCondLst>
                <p:childTnLst>
                  <p:par>
                    <p:cTn id="3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3" dur="650" fill="hold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34" fill="hold">
                <p:stCondLst>
                  <p:cond delay="2540"/>
                </p:stCondLst>
                <p:childTnLst>
                  <p:par>
                    <p:cTn id="35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3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37" dur="650" fill="hold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6ea7c4ca54b58"/>
          <a:srcRect xmlns:a="http://schemas.openxmlformats.org/drawingml/2006/main" l="0" t="35771" r="0" b="35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952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C01B5-E0D0-45D0-B6B5-83D68830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7AB104-0E03-4DCF-986F-133490E0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The delivery pipeline spans releases, controls and integrations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71B56D-724C-4777-9F31-238792FE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Selected initiatives reported in September. Pipeline stages guide the next management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E4EF1C-4934-42A2-AA33-E77DAA95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B7FCC9-51BB-42FE-B222-F63D702B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457200" y="2181225"/>
          <a:ext xmlns:a="http://schemas.openxmlformats.org/drawingml/2006/main" cx="11277600" cy="3695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4495800"/>
                <a:gridCol w="5305425"/>
              </a:tblGrid>
              <a:tr h="381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Live / delivered examples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Selected in-progress initiatives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IB / MB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Skywards cards removal from MB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3x3 Drop 4 – Releases 1 &amp; 2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TAB-52 – Tablet AOF audit requirement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EFR cost enhancements – SIT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SWIFT GPI – Regression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Input Validations – Development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EFMS Upgrade – UAT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Emirati Card – SIT / UAT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FinnOne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LL / LG flag field amendment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Multiple Rate Changes service request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Supplementary Card mobile number / email capture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RTA Integration – Design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PDC Remittance – UAT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EFR for PDC – Design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HFLMS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named live initiatives supplied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HF48 Forward Ijara Freehold Phase 2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Dedup logic controls in customer onboarding*</a:t>
                      </a:r>
                    </a:p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Duplicate CIF: linkage of closed customer*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5A4C9-7E80-4810-A034-98E69CCD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05525"/>
            <a:ext cx="112776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* HFLMS + Core Banking. Source gives no stage for these initiatives. Names and abbreviations retain the source terminology.</a:t>
            </a:r>
          </a:p>
        </p:txBody>
      </p:sp>
    </p:spTree>
    <p:extLst>
      <p:ext uri="{BB962C8B-B14F-4D97-AF65-F5344CB8AC3E}">
        <p14:creationId xmlns:p14="http://schemas.microsoft.com/office/powerpoint/2010/main" val="81634788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8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86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114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42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C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dc3585d984214"/>
          <a:srcRect xmlns:a="http://schemas.openxmlformats.org/drawingml/2006/main" l="0" t="35771" r="0" b="357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195262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CCAA5-E1B1-447B-9CE3-CA30B0CB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"/>
            <a:ext cx="1047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DIB   /   CET MONTHLY 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DAEA50-9B8C-43CD-B2CC-910321E8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12776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EDF5F7"/>
                </a:solidFill>
                <a:latin typeface="DejaVu Sans"/>
                <a:ea typeface="DejaVu Sans"/>
                <a:cs typeface="DejaVu Sans"/>
              </a:rPr>
              <a:t>The next review needs capacity decisions and recovery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794B82-0CF9-454F-8A00-C3A71C1B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4305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Recommended management actions based on September reporting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4DFBC-B875-4629-BD59-C1083C66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77000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975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September 2026   •   Source: supplied platform reports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C188D8-3175-4624-B952-4F29F9130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ABC2CC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457200" y="2190750"/>
          <a:ext xmlns:a="http://schemas.openxmlformats.org/drawingml/2006/main" cx="11277600" cy="2686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4610100"/>
                <a:gridCol w="4619625"/>
              </a:tblGrid>
              <a:tr h="3810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Recommended action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Evidence for the next review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MB reliability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the DDoS threshold event and mitigation controls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Incident closure, customer impact and control effectiveness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Backlog capacity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Prioritize 68 backlog items across the three portfolios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Approved pickup plan: IB/MB 27, FinnOne 29, HFLMS 12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Recovery exposure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Agree interim recovery controls for FinnOne and HFLMS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Recovery ownership, test evidence and 2027 milestones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Delivery progression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Review readiness of SIT, UAT and regression items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Release dates, blockers and acceptance decisions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73A2F-D578-4DE7-996C-FB86245F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4EE0AE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4EE0AE"/>
                </a:solidFill>
                <a:latin typeface="DejaVu Sans"/>
                <a:ea typeface="DejaVu Sans"/>
                <a:cs typeface="DejaVu Sans"/>
              </a:rPr>
              <a:t>Infrastructure has reported headroom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457200" y="5238750"/>
          <a:ext xmlns:a="http://schemas.openxmlformats.org/drawingml/2006/main" cx="11277600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2524125"/>
                <a:gridCol w="3514725"/>
                <a:gridCol w="3429000"/>
              </a:tblGrid>
              <a:tr h="23812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Platform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CPU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Memory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Storage</a:t>
                      </a:r>
                    </a:p>
                  </a:txBody>
                  <a:tcPr marL="91440" marR="91440" marT="45720" marB="45720">
                    <a:solidFill>
                      <a:srgbClr val="0A5A5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MB / IB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7.97% / 5.01%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35.64% / 52.87%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66.10% / 50.17%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FinnOne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&lt;10%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&lt;60%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 supplied</a:t>
                      </a:r>
                    </a:p>
                  </a:txBody>
                  <a:tcPr marL="91440" marR="91440" marT="45720" marB="45720">
                    <a:solidFill>
                      <a:srgbClr val="15374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HFLMS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&lt;40%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&lt;25%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EDF5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&lt;70%</a:t>
                      </a:r>
                    </a:p>
                  </a:txBody>
                  <a:tcPr marL="91440" marR="91440" marT="45720" marB="45720">
                    <a:solidFill>
                      <a:srgbClr val="102D3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7958953"/>
      </p:ext>
    </p:extLst>
  </p:cSld>
  <p:transition spd="med" advClick="1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300"/>
                </p:stCondLst>
                <p:childTnLst>
                  <p:par>
                    <p:cTn id="3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50" fill="hold"/>
                            <p:tgtEl>
                              <p:spTgt spid="1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6" fill="hold">
                <p:stCondLst>
                  <p:cond delay="580"/>
                </p:stCondLst>
                <p:childTnLst>
                  <p:par>
                    <p:cTn id="7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9" dur="650" fill="hold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0" fill="hold">
                <p:stCondLst>
                  <p:cond delay="860"/>
                </p:stCondLst>
                <p:childTnLst>
                  <p:par>
                    <p:cTn id="11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3" dur="650" fill="hold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4" fill="hold">
                <p:stCondLst>
                  <p:cond delay="1140"/>
                </p:stCondLst>
                <p:childTnLst>
                  <p:par>
                    <p:cTn id="15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17" dur="650" fill="hold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18" fill="hold">
                <p:stCondLst>
                  <p:cond delay="1420"/>
                </p:stCondLst>
                <p:childTnLst>
                  <p:par>
                    <p:cTn id="19"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1" dur="650" fill="hold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  <p:par>
              <p:cTn id="22" fill="hold">
                <p:stCondLst>
                  <p:cond delay="1700"/>
                </p:stCondLst>
                <p:childTnLst>
                  <p:par>
                    <p:cTn id="23" presetID="22" presetClass="entr" presetSubtype="4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id="2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up)">
                          <p:cBhvr>
                            <p:cTn id="25" dur="650" fill="hold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2026-10-05T13:44:59.2350000Z</dcterms:created>
  <dcterms:modified xsi:type="dcterms:W3CDTF">2026-10-05T13:44:59.2350000Z</dcterms:modified>
</coreProperties>
</file>