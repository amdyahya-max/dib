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9b75f6c0d84856" /><Relationship Type="http://schemas.openxmlformats.org/officeDocument/2006/relationships/extended-properties" Target="/docProps/app.xml" Id="Rd9477f50e6de479d" /><Relationship Type="http://schemas.openxmlformats.org/officeDocument/2006/relationships/officeDocument" Target="/ppt/presentation.xml" Id="R8ed541d0f66c40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13a7c8e9d3401e"/>
  </p:sldMasterIdLst>
  <p:notesMasterIdLst>
    <p:notesMasterId xmlns:r="http://schemas.openxmlformats.org/officeDocument/2006/relationships" r:id="Rdb6e993874a54fe5"/>
  </p:notesMasterIdLst>
  <p:sldIdLst>
    <p:sldId xmlns:r="http://schemas.openxmlformats.org/officeDocument/2006/relationships" id="256" r:id="R90f1ff4a5e03440e"/>
    <p:sldId xmlns:r="http://schemas.openxmlformats.org/officeDocument/2006/relationships" id="257" r:id="Ra4e11116103e4b36"/>
    <p:sldId xmlns:r="http://schemas.openxmlformats.org/officeDocument/2006/relationships" id="258" r:id="Ra05b0fae4df141ab"/>
    <p:sldId xmlns:r="http://schemas.openxmlformats.org/officeDocument/2006/relationships" id="259" r:id="R6c72b398cd85455b"/>
    <p:sldId xmlns:r="http://schemas.openxmlformats.org/officeDocument/2006/relationships" id="260" r:id="Rd182e0a8e025457d"/>
    <p:sldId xmlns:r="http://schemas.openxmlformats.org/officeDocument/2006/relationships" id="261" r:id="R416cb7067fb94f29"/>
    <p:sldId xmlns:r="http://schemas.openxmlformats.org/officeDocument/2006/relationships" id="262" r:id="Ra781203860514be0"/>
    <p:sldId xmlns:r="http://schemas.openxmlformats.org/officeDocument/2006/relationships" id="263" r:id="R038b83701058421b"/>
    <p:sldId xmlns:r="http://schemas.openxmlformats.org/officeDocument/2006/relationships" id="264" r:id="R1d58594d4472428f"/>
    <p:sldId xmlns:r="http://schemas.openxmlformats.org/officeDocument/2006/relationships" id="265" r:id="Ra8d777a48df54e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8684df56004448" /><Relationship Type="http://schemas.openxmlformats.org/officeDocument/2006/relationships/slideMaster" Target="/ppt/slideMasters/slideMaster1.xml" Id="R9513a7c8e9d3401e" /><Relationship Type="http://schemas.openxmlformats.org/officeDocument/2006/relationships/notesMaster" Target="/ppt/notesMasters/notesMaster1.xml" Id="Rdb6e993874a54fe5" /><Relationship Type="http://schemas.openxmlformats.org/officeDocument/2006/relationships/presProps" Target="/ppt/presProps.xml" Id="R89bddf85090b478d" /><Relationship Type="http://schemas.openxmlformats.org/officeDocument/2006/relationships/tableStyles" Target="/ppt/tableStyles.xml" Id="Rdb50cab4ac364005" /><Relationship Type="http://schemas.openxmlformats.org/officeDocument/2006/relationships/slide" Target="/ppt/slides/slide1.xml" Id="R90f1ff4a5e03440e" /><Relationship Type="http://schemas.openxmlformats.org/officeDocument/2006/relationships/slide" Target="/ppt/slides/slide2.xml" Id="Ra4e11116103e4b36" /><Relationship Type="http://schemas.openxmlformats.org/officeDocument/2006/relationships/slide" Target="/ppt/slides/slide3.xml" Id="Ra05b0fae4df141ab" /><Relationship Type="http://schemas.openxmlformats.org/officeDocument/2006/relationships/slide" Target="/ppt/slides/slide4.xml" Id="R6c72b398cd85455b" /><Relationship Type="http://schemas.openxmlformats.org/officeDocument/2006/relationships/slide" Target="/ppt/slides/slide5.xml" Id="Rd182e0a8e025457d" /><Relationship Type="http://schemas.openxmlformats.org/officeDocument/2006/relationships/slide" Target="/ppt/slides/slide6.xml" Id="R416cb7067fb94f29" /><Relationship Type="http://schemas.openxmlformats.org/officeDocument/2006/relationships/slide" Target="/ppt/slides/slide7.xml" Id="Ra781203860514be0" /><Relationship Type="http://schemas.openxmlformats.org/officeDocument/2006/relationships/slide" Target="/ppt/slides/slide8.xml" Id="R038b83701058421b" /><Relationship Type="http://schemas.openxmlformats.org/officeDocument/2006/relationships/slide" Target="/ppt/slides/slide9.xml" Id="R1d58594d4472428f" /><Relationship Type="http://schemas.openxmlformats.org/officeDocument/2006/relationships/slide" Target="/ppt/slides/slide10.xml" Id="Ra8d777a48df54e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141f727cc647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6582ba56e84e65" /><Relationship Type="http://schemas.openxmlformats.org/officeDocument/2006/relationships/notesMaster" Target="/ppt/notesMasters/notesMaster1.xml" Id="Rc37a20ad319b48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b5d840bf934b47" /><Relationship Type="http://schemas.openxmlformats.org/officeDocument/2006/relationships/notesMaster" Target="/ppt/notesMasters/notesMaster1.xml" Id="Rea402cd0fa354d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cdb92cd93c499d" /><Relationship Type="http://schemas.openxmlformats.org/officeDocument/2006/relationships/notesMaster" Target="/ppt/notesMasters/notesMaster1.xml" Id="R31553f7de14847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3c6362e4784537" /><Relationship Type="http://schemas.openxmlformats.org/officeDocument/2006/relationships/notesMaster" Target="/ppt/notesMasters/notesMaster1.xml" Id="Rf8b4e6f1a13a4a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b497f80ffe4162" /><Relationship Type="http://schemas.openxmlformats.org/officeDocument/2006/relationships/notesMaster" Target="/ppt/notesMasters/notesMaster1.xml" Id="Rce104a7067b74f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c54f24fbdc4c9b" /><Relationship Type="http://schemas.openxmlformats.org/officeDocument/2006/relationships/notesMaster" Target="/ppt/notesMasters/notesMaster1.xml" Id="Rbca4918b4d5240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7a939162624034" /><Relationship Type="http://schemas.openxmlformats.org/officeDocument/2006/relationships/notesMaster" Target="/ppt/notesMasters/notesMaster1.xml" Id="Rac17d9fa422449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f0bd3078ad49bf" /><Relationship Type="http://schemas.openxmlformats.org/officeDocument/2006/relationships/notesMaster" Target="/ppt/notesMasters/notesMaster1.xml" Id="R66ba586907cd47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932600cb404a6c" /><Relationship Type="http://schemas.openxmlformats.org/officeDocument/2006/relationships/notesMaster" Target="/ppt/notesMasters/notesMaster1.xml" Id="Rabc5881ea38541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a484d6a1784c70" /><Relationship Type="http://schemas.openxmlformats.org/officeDocument/2006/relationships/notesMaster" Target="/ppt/notesMasters/notesMaster1.xml" Id="Rdaf63aa350d541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¹Completed / total demand is a portfolio snapshot share, not a monthly delivery rate. Totals are arithmetic sums of reported platform portfolios, without demand-ID deduplication. 98/285=34.4%. Other states: 24 new demand, 4 baseline 0, 24 dropped. Volumes remain separate because currency and cross-platform overlap are unspecified. Source health labels are Green for all platforms. Management priorities are analytical recommendations.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Planned outages/deployments: IB 5, MB 10. Planned downtime: IB 2h50m, MB 3h15m. Unplanned outages: MB 1. The source reports ~48 hours of intermittent degradation and successful mitigation, not 48 hours of total downtime. Infrastructure: MB CPU 7.97%, memory 35.64%, storage 66.10%. IB CPU 5.01%, memory 52.87%, storage 50.17%. DR available yes, tested, environment readiness validated and recovery procedures confirmed. Source reports healthy infrastructure and monitored reliability. SME share 9.16/16.99=53.9%.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Total demands 122. Exact September volume 3,242,716,155.49. Rounded component volumes sum to 3.24B. PF share 2.33/3.24=71.9%. Planned outages 0, unplanned outages 0, planned downtime 0 hours, unplanned downtime 0. Reliability unchanged and stable operational posture. CPU &lt;10%, memory &lt;60%, capacity healthy within operating thresholds. No DR available, upgrade planned 2027. Source target is sustain monthly processing above 3.0 billion, not a forecast. Product abbreviations preserved from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Exact September volume 1,244,030,273. Source monthly values are rounded to two decimal billions. August-to-September change (1.24/1.39-1)=-10.8%, calculated from rounded figures. July peak 1.57B, March low 0.84B. 0 planned outages, 1 unplanned outage, 0 planned downtime, 12 minutes unplanned downtime. Application server dxb01-vwp-lmsa2 stopped responding and returned Server Too Busy. Secondary server took load and prevented total environment outage. No critical incidents, one major incident, reliability monitored. CPU &lt;40%, memory &lt;25%, storage &lt;70%. Source availability 100% needs reconciliation with 12 minutes downtime.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These are selected named initiatives, not a complete list of the 98 delivered/completed items or 67 in progress. The source spells Emirati Card. LL/LG and CIF expansion not assumed. IB/MB source: Removal of Skywards Cards from Mobile Banking; 3x3 Drop 4 – Release 1 &amp; Release 2; TAB-52 – Tablet AOF Audit Requirement. FinnOne source: Field Amendment for LL and LG flags; Multiple Rate Changes service request; Supplementary Card Mobile No. Email ID Capture.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Next-review evidence: incident closure, customer impact and effectiveness of MB controls; approved pickup plan for IB/MB 27, FinnOne 29 and HFLMS 12; recovery ownership, test evidence and 2027 milestones; release dates, blockers and acceptance decisions. Demand dots each represent one reported item. Data interpretation: source labels all platforms Green. HFLMS reports 100% availability alongside 12 minutes unplanned downtime. IB/MB reports 99.9% alongside ~48 hours intermittent MB degradation. These metrics may use different denominators or service scopes. Reconcile definitions without substituting an invented availability rate. No prior-month demand snapshot, demand aging, capacity allocation, costs, benefits or dates supplied. Delivery share is a portfolio composition measure and cannot establish throughput growth, ROI or delivery efficiency. Volumes are business transaction volumes, not revenue. Summing portfolios assumes no cross-platform duplicate demand IDs and needs validation before an enterprise unique-demand total. Recommendations do not imply approved owners or commitments.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AF executive summary attachment IMG_212267D2-D987-4FA7-B317-11571926A8EA.jpeg. Four solution-finalization items reported but only three named. Adding Guarantor has DMGT without number in source. Source reports 18 stage-counted initiatives (4+4+2+2+2+4), not independently deduplicated. DMGT-2583 is listed under development and planned 30 September 2026. DMGT-2480 and DMGT-2384 planned 4 October 2026. Dates are plans, not confirmed releases.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AF roadmap screenshots, September 2025–February 2026 and March–August 2026. These are historical milestones, not September 2026 delivery counts. Names retained from the previously reviewed AF roadmap.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PF executive summary IMG_607B2DBC-EFD7-4E54-BD48-3BCC7F4B5C7E.jpeg. Six solution-design demand IDs DMGT-83,49,1336,2557,1708,1021; one development DMGT-91, one UAT DMGT-106, one business sign-off DMGT-56, three backlog and eight open-point tracking entries. Do not add all counts to platform demand totals. DMGT-91 appears in both AF and PF source descriptions, requiring cross-squad scope confirmation before unique-demand reporting. DMGT-56 planned 4 October. PF milestone source also lists it under Oct 2026 achievements, but actual delivery is not confirmed by the September executive summary.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PF milestone and September executive summary attachments. Historical milestone names and IDs are retained. Only supplied months appear. DMGT-56 is shown under October 2026 in the milestone source, but the September summary gives a planned 4 October go-live. Delivery remains unconfirmed. Roadmap lanes group milestones by period and are not scaled to elapsed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950843287d454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1440685b7948f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dfe5e80a1140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5c086b8e0d4cb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9b5d09669a461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2be1f133d447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E3CA75C-04EF-4DE6-8878-E2C5200F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F2DBB5F-8162-45DF-9550-1BD74D0B8D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0641D7A-C08A-4A7E-A81B-7A231473DDF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1A17659-B831-46FB-BDD6-8F44F99C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21B00F9-AC2E-4AB3-A294-92FF0D40C9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51CA2A2-B0E4-47FA-B361-21198802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5B95287-CB77-4548-A8F6-724041A57D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4DA2089-0221-4C9B-BCF0-91FE8D97A6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AA8CF8A-8DAB-47FD-A474-143BA714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EBF63D-0AFF-4D08-82B2-2699C21617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E7EA81-D47C-47BC-A3ED-64107FDF80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4100E4D-6E8A-4DBB-AC4B-C8048065F9B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7F39562-C43B-4184-8080-BFE069A3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807CF14-1B1C-400B-B11E-83F68FA129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E4B8DD-DB85-47F3-BA5F-688A75511B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b10c3e8f37487f" /><Relationship Type="http://schemas.openxmlformats.org/officeDocument/2006/relationships/slideLayout" Target="/ppt/slideLayouts/slideLayout1.xml" Id="Rac6edd7ef48b4870" /><Relationship Type="http://schemas.openxmlformats.org/officeDocument/2006/relationships/slideLayout" Target="/ppt/slideLayouts/slideLayout2.xml" Id="Red86b7c2e83c4bf7" /><Relationship Type="http://schemas.openxmlformats.org/officeDocument/2006/relationships/slideLayout" Target="/ppt/slideLayouts/slideLayout3.xml" Id="R6d7c5ea716d944ac" /><Relationship Type="http://schemas.openxmlformats.org/officeDocument/2006/relationships/slideLayout" Target="/ppt/slideLayouts/slideLayout4.xml" Id="R9885df740c2f43b0" /><Relationship Type="http://schemas.openxmlformats.org/officeDocument/2006/relationships/slideLayout" Target="/ppt/slideLayouts/slideLayout5.xml" Id="Read2f36af17f42e8" /><Relationship Type="http://schemas.openxmlformats.org/officeDocument/2006/relationships/slideLayout" Target="/ppt/slideLayouts/slideLayout6.xml" Id="R1baf8fe74c694e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6edd7ef48b4870"/>
    <p:sldLayoutId xmlns:r="http://schemas.openxmlformats.org/officeDocument/2006/relationships" id="2147483650" r:id="Red86b7c2e83c4bf7"/>
    <p:sldLayoutId xmlns:r="http://schemas.openxmlformats.org/officeDocument/2006/relationships" id="2147483651" r:id="R6d7c5ea716d944ac"/>
    <p:sldLayoutId xmlns:r="http://schemas.openxmlformats.org/officeDocument/2006/relationships" id="2147483652" r:id="R9885df740c2f43b0"/>
    <p:sldLayoutId xmlns:r="http://schemas.openxmlformats.org/officeDocument/2006/relationships" id="2147483653" r:id="Read2f36af17f42e8"/>
    <p:sldLayoutId xmlns:r="http://schemas.openxmlformats.org/officeDocument/2006/relationships" id="2147483654" r:id="R1baf8fe74c694e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ef919b95304c86" /><Relationship Type="http://schemas.openxmlformats.org/officeDocument/2006/relationships/notesSlide" Target="/ppt/notesSlides/notesSlide1.xml" Id="R078cbb08d2594c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c133e4d6e04ad0" /><Relationship Type="http://schemas.openxmlformats.org/officeDocument/2006/relationships/chart" Target="/ppt/slides/charts/chart1.xml" Id="R72bfd94a549d4106" /><Relationship Type="http://schemas.openxmlformats.org/officeDocument/2006/relationships/notesSlide" Target="/ppt/notesSlides/notesSlide2.xml" Id="Rdd4e38645c3340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f07ada7e1047f1" /><Relationship Type="http://schemas.openxmlformats.org/officeDocument/2006/relationships/chart" Target="/ppt/slides/charts/chart2.xml" Id="R9ce767f4f7384b86" /><Relationship Type="http://schemas.openxmlformats.org/officeDocument/2006/relationships/notesSlide" Target="/ppt/notesSlides/notesSlide3.xml" Id="Rd52487ebb3024d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906199b8a44aa5" /><Relationship Type="http://schemas.openxmlformats.org/officeDocument/2006/relationships/chart" Target="/ppt/slides/charts/chart3.xml" Id="R0db379ab1da3463e" /><Relationship Type="http://schemas.openxmlformats.org/officeDocument/2006/relationships/notesSlide" Target="/ppt/notesSlides/notesSlide4.xml" Id="R1ef6b8382f0b4f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d598115c4040ee" /><Relationship Type="http://schemas.openxmlformats.org/officeDocument/2006/relationships/notesSlide" Target="/ppt/notesSlides/notesSlide5.xml" Id="Rba7fb6dbfe4d4d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006fe39cd54838" /><Relationship Type="http://schemas.openxmlformats.org/officeDocument/2006/relationships/notesSlide" Target="/ppt/notesSlides/notesSlide6.xml" Id="Rb31c0e2812834f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180cc3fe3a427e" /><Relationship Type="http://schemas.openxmlformats.org/officeDocument/2006/relationships/notesSlide" Target="/ppt/notesSlides/notesSlide7.xml" Id="Rafdeafbf87ae45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b6f903f9184716" /><Relationship Type="http://schemas.openxmlformats.org/officeDocument/2006/relationships/notesSlide" Target="/ppt/notesSlides/notesSlide8.xml" Id="R7a1742e9fc2a40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c935c8f23546fe" /><Relationship Type="http://schemas.openxmlformats.org/officeDocument/2006/relationships/notesSlide" Target="/ppt/notesSlides/notesSlide9.xml" Id="R4727317b55a84d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8845461bad4be1" /><Relationship Type="http://schemas.openxmlformats.org/officeDocument/2006/relationships/notesSlide" Target="/ppt/notesSlides/notesSlide10.xml" Id="R822cd9804bb8421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Reported volume</c:v>
          </c:tx>
          <c:spPr>
            <a:solidFill xmlns:a="http://schemas.openxmlformats.org/drawingml/2006/main">
              <a:srgbClr val="087F6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6A87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58FC7"/>
              </a:solidFill>
            </c:spPr>
          </c:dPt>
          <c:cat>
            <c:strLit>
              <c:ptCount val="2"/>
              <c:pt idx="0">
                <c:v>Retail</c:v>
              </c:pt>
              <c:pt idx="1">
                <c:v>SME</c:v>
              </c:pt>
            </c:strLit>
          </c:cat>
          <c:val>
            <c:numLit>
              <c:formatCode>0.00"B"</c:formatCode>
              <c:ptCount val="2"/>
              <c:pt idx="0">
                <c:v>7.83</c:v>
              </c:pt>
              <c:pt idx="1">
                <c:v>9.16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3A4B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9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BEF"/>
              </a:solidFill>
            </a:ln>
          </c:spPr>
        </c:majorGridlines>
        <c:numFmt formatCode="0.00&quot;B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Reported volume</c:v>
          </c:tx>
          <c:spPr>
            <a:solidFill xmlns:a="http://schemas.openxmlformats.org/drawingml/2006/main">
              <a:srgbClr val="087F6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6A87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58FC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9167D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DA82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E57495"/>
              </a:solidFill>
            </c:spPr>
          </c:dPt>
          <c:cat>
            <c:strLit>
              <c:ptCount val="5"/>
              <c:pt idx="0">
                <c:v>AF</c:v>
              </c:pt>
              <c:pt idx="1">
                <c:v>AF-EV</c:v>
              </c:pt>
              <c:pt idx="2">
                <c:v>CC</c:v>
              </c:pt>
              <c:pt idx="3">
                <c:v>PF</c:v>
              </c:pt>
              <c:pt idx="4">
                <c:v>SBF</c:v>
              </c:pt>
            </c:strLit>
          </c:cat>
          <c:val>
            <c:numLit>
              <c:formatCode>0.00"B"</c:formatCode>
              <c:ptCount val="5"/>
              <c:pt idx="0">
                <c:v>0.63</c:v>
              </c:pt>
              <c:pt idx="1">
                <c:v>0.02</c:v>
              </c:pt>
              <c:pt idx="2">
                <c:v>0.19</c:v>
              </c:pt>
              <c:pt idx="3">
                <c:v>2.33</c:v>
              </c:pt>
              <c:pt idx="4">
                <c:v>0.07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3A4B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9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BEF"/>
              </a:solidFill>
            </a:ln>
          </c:spPr>
        </c:majorGridlines>
        <c:numFmt formatCode="0.00&quot;B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Reported volume</c:v>
          </c:tx>
          <c:spPr>
            <a:solidFill xmlns:a="http://schemas.openxmlformats.org/drawingml/2006/main">
              <a:srgbClr val="087F6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6A87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58FC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9167D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DA82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E57495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16A878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258FC7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9167D3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EDA82D"/>
              </a:solidFill>
            </c:spPr>
          </c:dPt>
          <c:cat>
            <c:strLit>
              <c:ptCount val="9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</c:strLit>
          </c:cat>
          <c:val>
            <c:numLit>
              <c:formatCode>0.00"B"</c:formatCode>
              <c:ptCount val="9"/>
              <c:pt idx="0">
                <c:v>1.08</c:v>
              </c:pt>
              <c:pt idx="1">
                <c:v>1.2</c:v>
              </c:pt>
              <c:pt idx="2">
                <c:v>0.84</c:v>
              </c:pt>
              <c:pt idx="3">
                <c:v>1.1</c:v>
              </c:pt>
              <c:pt idx="4">
                <c:v>0.97</c:v>
              </c:pt>
              <c:pt idx="5">
                <c:v>1.01</c:v>
              </c:pt>
              <c:pt idx="6">
                <c:v>1.57</c:v>
              </c:pt>
              <c:pt idx="7">
                <c:v>1.39</c:v>
              </c:pt>
              <c:pt idx="8">
                <c:v>1.24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3A4B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9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BEF"/>
              </a:solidFill>
            </a:ln>
          </c:spPr>
        </c:majorGridlines>
        <c:numFmt formatCode="0.00&quot;B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779576-B225-471D-AA4F-88185077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46EC7-66BD-4C41-9C77-F1F2EFF7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Delivery progressed, with resilience gaps requiring attention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CB138-60D0-4CC8-B283-E74AA7E0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Executive outcome across IB / MB, FinnOne and HFLMS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54C3E-7B1C-497E-A5E8-D128489C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7E224-FFE7-4BFE-B205-721AA300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A6E7F-F89C-4C87-9370-58C2466B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2667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22003-A869-41F4-A0AF-BDED8EA5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504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5E65D-F18A-4F44-ACB4-D0A7C781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1857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98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CAC1D-FFE5-4A23-A7F4-C0543A4F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delivered / completed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26C60-1C81-4181-ADCC-B9203A27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95500"/>
            <a:ext cx="2667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3725A-D6A1-4384-92A7-6C57E532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86000"/>
            <a:ext cx="504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461B9-A0E4-4B3C-83B7-BE814E95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81225"/>
            <a:ext cx="1857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285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A9841A-A4B3-4B94-AAFF-166D3140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reported demands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16E742-212C-44DE-AB59-345ACA57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2667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FBAA5F-7BAB-4AAA-A079-11414075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504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40A01-636F-424B-B07E-BE7D6BAC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81225"/>
            <a:ext cx="1857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68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2DC3ED-E4B7-469B-92BB-4C11CC62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backlog items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7BC94A-A14C-418F-B672-227C4F55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2667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EE2004-FE76-4CA9-BA82-5FA363FB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504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C49340-3CBB-41A2-A5F5-ADA63BC0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81225"/>
            <a:ext cx="1857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67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F4165D-9C92-4A17-8C90-54223227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57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5B5A27-2B84-4FD9-933A-2DA02EC0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36576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898D8D-7D95-435C-AAD8-1CA5C2E6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◉  IB / MB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E4137A-0177-4BB3-922B-6A8D7094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29075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25 / 113  (22.1%)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D8DF9C-3572-421A-BC42-75085B4D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91025"/>
            <a:ext cx="331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delivered / completed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24AEE6-6356-4A1B-B194-DBC5BD19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95825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16.99B volume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C8C88A-5AB9-4CD5-BA40-C24348C8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76825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99.9% availability   •   DR Tested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3171DC-7BCC-4C56-9409-94D5915D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76625"/>
            <a:ext cx="36576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DA83FA-1689-4647-ABFA-8654BD35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1950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◆  FinnOne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310B78-128D-4B88-AB9D-95143D32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29075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50 / 122  (41.0%)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7C0AE4-8118-481F-9BAD-1771C389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91025"/>
            <a:ext cx="331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delivered / completed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FF8CEF-A1FC-447F-9026-9AA9DBE9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95825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3.24B volume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B9E3C4-1846-497F-A944-599E930B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076825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100% availability   •   DR Unavailable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384485-0102-45DD-9977-0B501B57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76625"/>
            <a:ext cx="36576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45ED04-8E96-4B57-BC94-3B43EC98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1950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⌂  HFLMS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D7DE9D-B3AB-423C-981E-0FD18D01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29075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23 / 50  (46.0%)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4273B7-A7F9-4BE1-A10A-3F50A74A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91025"/>
            <a:ext cx="331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delivered / completed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3B4A38-AEB9-4A9C-89A3-3A1CCC58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95825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1.24B volume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8A1271-0EBB-463F-88E9-1D83B862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76825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100% availability   •   DR Unavailable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33FEDD-B07A-4489-B33B-7A5503FD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483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Management focus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6D4319-312B-412F-8D71-A9FF9952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19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MB incident controls and backlog capacity need attention. FinnOne and HFLMS require interim recovery controls before the 2027 DR upgrades.</a:t>
            </a:r>
          </a:p>
        </p:txBody>
      </p:sp>
    </p:spTree>
    <p:extLst>
      <p:ext uri="{BB962C8B-B14F-4D97-AF65-F5344CB8AC3E}">
        <p14:creationId xmlns:p14="http://schemas.microsoft.com/office/powerpoint/2010/main" val="9471936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A9B0459-FFA0-433F-999C-9C7755E3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D1298-3A5F-4709-89F9-87E23CDD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IB / MB supports 16.99B in business volume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DD51C-4A0F-47B7-9832-15892C28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Delivery continues while Mobile Banking reliability needs closer oversight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D5219-589D-4CB3-8460-E4DB3199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E4108-21E8-4EDB-A12E-0A0F1181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graphicFrame>
        <p:nvGraphicFramePr>
          <p:cNvPr id="146" name="Chart"/>
          <p:cNvGraphicFramePr/>
          <p:nvPr/>
        </p:nvGraphicFramePr>
        <p:xfrm>
          <a:off xmlns:a="http://schemas.openxmlformats.org/drawingml/2006/main" x="457200" y="2266950"/>
          <a:ext xmlns:a="http://schemas.openxmlformats.org/drawingml/2006/main" cx="514350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bfd94a549d410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B4A6C-D55C-413E-AF8D-4EDE7D6E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54% of reported volume comes from SME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83CF9-88AC-44E8-9CAB-A10BCF48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38375"/>
            <a:ext cx="285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CEE739-6114-42E2-9BFF-12D2F7F7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Delivered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110A4-03FD-4A27-B72A-932983E4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2669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7EAA2-DA95-4C08-8900-D94001BB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FE2ED-C5A9-48E7-843C-34231C0F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AA6AC1-FB5F-440E-83F3-B4AF9B9F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0EA8BF-A6C6-4CA6-9FE1-E9754D3C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9ED91-9CC6-44B0-8213-FC26AA0A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FAC5A3-ABBA-4DDB-B08E-3A4246D2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14CCA7-49A4-4DC8-9DA2-CA6A572E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385963-F53C-4799-9043-2A3EB2C7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9CCE34-29F4-4994-B200-E88D3179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FA69FE-864E-42F4-9B25-C649B8BE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6854F2-673C-43E1-B320-409EBB8D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30EA1D-B187-4968-BC46-DC593913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53B660-0879-46D9-8E22-DB8E56A3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686886-F912-4569-8C66-48782C46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F28990-90F6-4B25-BD26-030CAB51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F17C70-B703-475E-8D8B-1BBE7F0C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A654DD-3313-4A00-BCAF-9E74AC62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286F06-6205-4BAD-B2AE-35C6D0D5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B89B59-15DE-4F67-8D1B-CE51226B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DB5181-72FA-420A-8BB8-8E92AE3A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4D60F1-ADC5-4D92-8508-72A1FE98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54F146-850D-44C2-BD8A-ED04CEC5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4BE1F8-1D9E-435F-9BD5-7675BFCE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5C03D3-9E07-487B-B643-242FCB97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8F6BDD-3C20-4491-9BBF-EB1D09A8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E0BA12-6537-4288-84C4-914D99FF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62250"/>
            <a:ext cx="285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3E18A7-B193-47D9-B93A-38A3A688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9082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A1F073-133F-4C9C-B502-08E283F9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908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F157DB-59BB-4C87-B772-CF912CFF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34A2AA-0071-4CA5-955A-778516C5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383940-3C2C-45F0-8132-EECEC0DD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73641C-C454-4CF3-87A5-9ED78DD9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589EC4-135E-440A-95EA-7BA8E8DD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1F8152-E6B4-475C-9767-5D071721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456CF9-2789-4549-8759-67DD1D45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92EACC-263B-4CB9-BD9F-93E1ADA1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CE1CE9-CFB2-432E-897A-EA7EBBE4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BC601F-F24C-47EB-9817-3258807A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1DB639-A235-4EF6-AA5E-11DCF976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BEC42C-BDDA-4772-B7DD-F4F40741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8B13DE2-0971-4B1A-8857-3D6753CF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3307F64-A7A0-426A-BCAA-DCA2BC9A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913BB29-42F5-46D1-8269-C49F83FD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7EC003D-01F4-4478-9705-CC758CC7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6C8475A-C841-4113-B18C-1127CD06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767803E-1EFA-4DC8-8A7B-DF10B657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7592A0E-9F94-48FF-8CEF-46BB4DAF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17EDC01-0E3B-4BB4-87E1-6DD6AA7D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03F6DB9-F1A4-4CF2-BB74-80046E9B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7DFAFF0-C5C3-4DBD-BB1B-E943665B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12C0B05-B0B1-4313-96B3-A92CB9DD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842B438-E8F7-447F-92AF-1E4F1DB9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86125"/>
            <a:ext cx="285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8A1994A-C6E6-4927-8ED0-DADC0A2B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Backlog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51E4368-F224-42F3-A1EF-4700DAEC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31470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5D73C54-4C3A-460B-92DA-EC79D3CC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589A173-D1FF-4141-86E0-B1CCD35C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0CA740A-0718-45C7-9011-ACB1DD82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48BA042-4E09-4F0D-A09D-6EB7E29C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34A35CA-B9CD-46CF-BBA8-5CD5F7FA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3F66D72-625D-4422-ADB9-D704F283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6F8DC69-262C-499F-856B-F14167A1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FE8C0C2-BFF8-4571-8991-E17BFB13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210270D-A91B-4A84-8A77-9D344840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A180525-D3FF-4DAD-90E8-2860B4FD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D4899D4-167C-4C28-B8E8-F0C0775E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45E1534-BDFC-4A72-9521-CFCFC475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F817117-F3EF-46D7-817B-7E5358C6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FFBDF8F-8B56-4F89-8578-C307294D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8304EC5-52E7-4585-A4AF-1072F032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8F88F6A-B590-4378-9C91-083DAD01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4AA40CC-73B4-4836-B45D-F30F7D3E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116C551-6940-412E-9BE2-39DB2D86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89C08C1-4B23-47EC-BD88-C6BC04F6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43696E8-3A86-4CAA-A3E4-DEB78040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DB6C0AC-B6BC-42C0-995E-95CC77E1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257A136-75FE-40E3-B044-438954DB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E1C1DEB-DAED-44DF-A685-3CA7448D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460B5C5-7625-4F35-8FEA-2987E640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25D8D37-307E-40D8-9800-2D60276A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AB85F49-1E4D-46FC-99F2-7D8E5CF5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D55EBC9-EB58-4F14-8FB1-D4087AD4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7CF9E26-426F-4511-8940-CE4A0DDA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10000"/>
            <a:ext cx="285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6122ECE-413B-4577-93E6-4512558F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3857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New demand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E1C31E0-B977-4F85-A4D8-DB6B9DA1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8385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64E115C-987F-4EBF-91F1-D5EED6F2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1EEFBB6-23AD-4726-9612-EF5AE7B8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DB59D6E-F39B-4289-9A9E-7F758B6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72855B4-EC35-4BA2-B704-390C74CE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7C7DED7-AB87-4185-8C28-B6E46AAA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63B094F-1489-4D15-9E89-03A2571D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5E42FFA-E65C-46C6-BC75-040B8B61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0CDE564-2872-4E89-91AB-79FDE9F7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BC83F52-9196-4403-90D8-2996D3C1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6ACBC09-D182-4D22-8CA3-746296A7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1AD673D-12BF-4118-B10B-51F95CA3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6E613D5-D4FD-455A-AD0B-11842C0A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07421E7-D6A8-4510-8070-E1213287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991EB41-9484-43D7-ACEB-70D7D900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0227144-1B40-49AC-81E0-60564458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3AA7D9A-6B69-48D2-94AE-7FAE8966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869CF5D-960A-4C6D-A0AC-DA25AEB7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0387D2D-E5F8-4DDB-853C-5C77529B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6255E55-393D-4B71-BA67-B202D09B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7562DDE-2AD0-4C8F-811B-25F10A43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A59E71D-29B7-457C-AAC7-E83CFD02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ACAB5FB-B3E2-4503-B02A-5209580B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4E64DCC-63C5-4C8A-9FC8-61CB8E17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E123222-8C3D-4DDA-8E6C-9A8D4265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B56929C-5BC8-48EF-8E65-AF1C1E5C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33875"/>
            <a:ext cx="285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CEAF0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8516396-B843-490F-9C1A-B74A9FD6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Dropped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AD9441D-83CC-4B76-A687-4C573B59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3624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353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D35373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7C686C8-E5FF-4DF6-8483-EBE23DB2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9B93FBC-D7FD-4B8B-86C6-7EECB6B0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409FE82-C7B8-4700-B03E-02960D1D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777A52D-7F50-4E09-A8E4-F3E199F0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543D731-5E1B-4B06-8195-C81C17CD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B1F054A-790B-461D-B4C3-00AB9E82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28FB6BF-509D-4326-AAF9-2E94BA39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9880676-7C29-4F8D-9B49-9F9F6890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39E6C0C-36F7-4A1C-B11A-489C07F5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6DA1356-1255-4EC7-A917-3D4F9142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0AE9A4D-B978-4060-A716-8D356758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79CED80-35EE-4765-945D-8A65186D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E096D13-B65F-406A-8853-D8F8AD40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8048B33-052B-4F56-9D23-597578B6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53DD1EE-68F0-4A8C-B7EE-62C765A9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66950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113 demands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EEF904F-A1E3-4039-9523-E0E4B359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7813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99.9% availability</a:t>
            </a:r>
          </a:p>
          <a:p xmlns:a="http://schemas.openxmlformats.org/drawingml/2006/main">
            <a:pPr>
              <a:def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DR tested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A3D91B6-A474-411D-A7C9-90413BE2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4332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MB: 6 major + 1 minor incidents</a:t>
            </a:r>
          </a:p>
          <a:p xmlns:a="http://schemas.openxmlformats.org/drawingml/2006/main">
            <a:pPr>
              <a:defRPr sz="1575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IB: 2 minor incidents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E36BE52-6725-44F8-9DFE-55522C3A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48350"/>
            <a:ext cx="238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Operational outcome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10507F4-E28A-42E5-B136-37A341D1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800725"/>
            <a:ext cx="881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15 planned deployments. Service continuity maintained during ~48 hours of intermittent MB degradation attributed to DDoS threshold exceedance.</a:t>
            </a:r>
          </a:p>
        </p:txBody>
      </p:sp>
    </p:spTree>
    <p:extLst>
      <p:ext uri="{BB962C8B-B14F-4D97-AF65-F5344CB8AC3E}">
        <p14:creationId xmlns:p14="http://schemas.microsoft.com/office/powerpoint/2010/main" val="12392316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53D73633-77CD-46DD-8A7D-5F6E0110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A4CB7-6F82-4097-9F9E-E1C3FE4C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FinnOne combines 50 completed demands with zero outages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F0B14-187B-4AD9-A46E-23E93D00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3.24B reported September volume, with PF contributing approximately 72%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7E5CE-1604-4508-8F27-CAB5589D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48EBF-673E-4650-AAB7-BABAD86A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graphicFrame>
        <p:nvGraphicFramePr>
          <p:cNvPr id="153" name="Chart"/>
          <p:cNvGraphicFramePr/>
          <p:nvPr/>
        </p:nvGraphicFramePr>
        <p:xfrm>
          <a:off xmlns:a="http://schemas.openxmlformats.org/drawingml/2006/main" x="457200" y="2209800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e767f4f7384b8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95F0D-725B-4DD9-B947-B7B50FC3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28850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70486-55CC-4F74-8BE7-D684A868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57425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Completed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6EB97-090A-4F89-8482-31E25323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574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E12914-EF67-4EDF-A60E-BF055FC3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3BF6D1-8F8C-4EAC-B379-711325A3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C1D58-2318-4E9B-9FB2-75F72010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63C72D-BD13-4C32-B0A2-6925AA79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B8EE8E-D7E7-442A-B74B-C0FED607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A5B309-0551-4A0B-8B16-0F4AD9AE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665D75-97DF-4207-B6BD-0987C819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B35125-AF03-4D33-B54D-4EAB8097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FB6240-C781-4FDF-98DC-0A4F3B9B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FD3A43-1BBF-43CF-8B94-9569E756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4CBBCA-05E7-48E1-8432-2E644FEC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2399E2-0B95-44F1-936A-815A4A38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C0B85C-CB98-4312-A995-2DD84F6F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2D8B44-5497-411C-AC98-C107D9EB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66FD20-9AA6-4CAD-8180-B39B7CE6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FD08C1-17FE-4FCF-BD0C-CF17E891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9B081E-AC02-4F10-B821-2482DD38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A61126-BB10-4C19-989E-EDF895F6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5B5091-EE7F-4B35-AC97-534377BA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2605BF-D3EA-45FF-B23D-32C82769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DC3605-452A-4652-9DD5-9C700857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245957-C274-491D-8951-D0480907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C9FDE6-E54A-4C9A-9814-5716C931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E6A8F5-54DD-48BB-8213-B76D0DAA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83D03F-2EE6-45CF-9C6C-1829BFC2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1D0C51-ED84-4482-B2A8-2BE2005D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8D4D10-366E-4885-B963-3765B35C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C7F869-33EE-426F-8B52-0D7907AB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E6D733-1E8D-47D8-97BC-EEDCC100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E5BF59-6743-432C-9B49-57476C60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2EE311-8F41-47AB-BF28-D5C2DF7A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064360-1DA8-41FC-9391-5679B20E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51F1EB-2A68-4DF0-8E09-992EE689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EC31F1-8489-4B01-BDF7-43FC45DE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09700B-9A44-450A-AEE5-E220C7D4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3BEFB2-830C-4B55-A959-868E567C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A8A824-606A-405D-B5DC-DEA98E2C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795CE0-F35A-461D-8089-295AC78D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155AF8-0BBD-4D9F-B888-FF134791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7540EA-9380-422A-95B7-E983F260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56A627-D8BC-4F06-A4F8-025EB4F8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5AC7B78-A73C-487F-9541-9E0F1D82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222483E-25A4-40E3-B3B8-76EF1914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25E3335-D359-4E83-A79E-63F496E4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D278A8D-711C-4B97-86A0-2B7E92CF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E77B0B1-DADB-4079-8CCB-30E9C2CD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AB1A885-5DDE-4AC1-AAC8-FD1271E4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58C64F7-E461-4EEA-BAE6-0A03426D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E693DAC-2552-4380-8384-0B5BC06B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F9791E1-B900-4737-97EE-2CFEB1FF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C074248-BCB9-4E3A-B3CA-60FDEC9B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52725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9B94588-1A10-43A8-9E08-6D7358EC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81300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AD710EC-7F05-4F72-B432-B0E76CF3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78130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C0F1BEC-92FA-4AF7-AB92-FC9B9AAB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13B5A01-DFAD-4E9C-86E4-E264C7EE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4FE79A2-2D02-4B7B-BB1E-A7D7F6D1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B19C6B2-876C-4143-A648-2A0B5DEB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9C0CCF6-12C1-4ECA-B3F8-518B3D7B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159EDEF-B186-4933-A7CA-43555D13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0FF38A5-E528-4958-8C35-25944797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FF5B29C-89BC-47AA-9B36-1362655F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937AFB1-D434-4D3B-A4FF-857355EE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4DD7178-B4C7-4E41-A1E5-40DDD345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6FACA90-5E64-4467-ABFA-7002BDEB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761BD7F-6339-44FB-B74E-73A211C6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4410741-88EA-40BE-AC67-D648762E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5D23AFE-B606-46FD-947C-8BC7238B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59DCA3D-5665-4FA7-A8E0-21B11DAC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272B10E-9667-41D1-9BAD-C84B9410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D9A5677-00BD-4E22-B7FD-88FC08F5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ABE4E2C-A73E-4BD9-8947-C703B30F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E90850F-C3EC-472A-9818-95746359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FAFB9B1-D967-4D1A-AB19-FB891BD2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8CD0214-4B92-478D-8304-B700417D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A150128-77BA-44B9-B73D-3627D8B8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7792D33-9CA7-486C-A210-802ECAF7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5B68231-1E21-4A1B-BB7D-6E5DF725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7F68218-DE40-4777-9015-6053D31E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27D4E5B-E6DB-4B8D-B6BB-07EE254B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F66CD37-DD4F-431D-9618-42159AA9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AF710DC-00C7-43A8-BE1B-4700105D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757CEE5-D4FD-4D18-9B07-FC28C8AD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9309B07-2FAE-41C5-9785-68A17563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76600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A0DCEFD-2558-48B3-B9B3-D7866812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05175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Backlog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29D106A-5BC7-4390-8EB2-0F9FAAEC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3051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A37068E-87D0-4BE7-999D-8CC831A5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B36EFD1-4971-4F64-A21C-96B5BB8D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9229BF4-1927-4981-8C36-89C4BADA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B5CB25F-B4A2-4C67-976A-DAD66BE0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B007433-F8CF-415B-99BB-A0599947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CCEC1D7-C4B2-4C8B-A1D5-86DC0374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2A5D804-1A6F-4AD2-907A-69E6B8EE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1012E66-5971-42AA-B71B-D8BDFD01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C3C8AC1-8E19-48DA-B48C-008DE8C0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CB51D22-2DD7-4199-9A29-CCC35BC3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2ED8973-EAAD-4A46-82EB-8DEA5690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73F4614-0A36-488D-89A9-6C83A91F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36F1752-FEA6-4A04-9ADB-D6786657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0696B5E-B379-40EE-97BB-0880BA42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2589625-C62D-438E-8831-3719D3A3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A59F229-6A2F-41BD-8BE1-1D35AD14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326D171-8358-4E73-99A6-FB241809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2EFD390-A6B4-4C8B-9C25-F08D7854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3848AE5-42F5-45B4-B284-EB44C9B8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61286D0-A91E-456D-84CF-832EB3B4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6EC1449-313E-4C43-AA2E-4C396FA2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522B193-B655-4BEA-A8F7-21B94C6D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C5E1B24-1B67-47B7-94FC-D060D5A2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C7A98BF-D85F-45E9-A3D9-8F438CE1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184E6E2-4F29-41FF-B193-793B7289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83D0102-CD3B-475E-AC7E-9AAD4DB1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8B24088-0C44-43A9-B197-52E78CE1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BBBE592-6513-435A-A1E5-9D891ADA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1127FAE-C415-4103-8D93-1A8D8A30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436C092-280F-41CA-91B5-E2E302EB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00475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0DF17E7-86B0-425D-ADDB-01A46627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29050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Baseline 0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EBDB9CA-E601-46B0-9067-0FC4FE18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8290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B037D4C-B19B-4C29-9CAD-1CB36B6E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1243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010FE06-B4B2-4A07-B34D-5D1652E9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243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34F5299-29E8-41BD-8232-CABE4F2E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1243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48CFDAA-159E-4814-80AD-81D0E504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243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E2E49F4-A759-4954-AE33-5E9CD0D4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24350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CEAF0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FB083F9-905A-413F-BBF2-5D0D0692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52925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Dropped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7467384-A58D-4423-ABDD-AFBA6FB3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3529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353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D35373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E80BA22-D239-42B6-9A68-DC98864B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C080881-FC15-4274-AEB6-E5E58462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30F26C7-AC31-4590-B104-990E0BFB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DE7808E-EFA1-4C31-868A-C8121ABC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1D5CD42-DDEF-469F-86D5-C701EE08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BD0B0C4-727C-45B7-B2DF-0198D1D7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3E8174C-1552-402A-8664-65790336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FEB6D9F-2E9C-4A23-91DE-AD3D170F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79B16B9-41BB-47E7-8F1A-131458F1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823A4B3-1721-4E35-B935-64BB36DD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DA5EA77-2DF3-494C-97ED-3E016503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24,981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8876D6C-C4A3-4FC3-B71B-7E03A33A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48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transaction count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C93F840-BCA8-4C82-ABAF-67A9EEBE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534025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100% availability</a:t>
            </a:r>
          </a:p>
          <a:p xmlns:a="http://schemas.openxmlformats.org/drawingml/2006/main">
            <a:pPr>
              <a:defRPr sz="16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No critical or major incidents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6D0854B-2A78-45E1-9B4E-3307C6D9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24500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DR unavailable</a:t>
            </a:r>
          </a:p>
          <a:p xmlns:a="http://schemas.openxmlformats.org/drawingml/2006/main">
            <a:pPr>
              <a:def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Upgrade planned for 2027</a:t>
            </a:r>
          </a:p>
        </p:txBody>
      </p:sp>
    </p:spTree>
    <p:extLst>
      <p:ext uri="{BB962C8B-B14F-4D97-AF65-F5344CB8AC3E}">
        <p14:creationId xmlns:p14="http://schemas.microsoft.com/office/powerpoint/2010/main" val="4677390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48147-993D-4716-BEB8-C312B47C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76C8B-DEAB-44EA-9BEA-473CD9AE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HFLMS maintained continuity through secondary-server failover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64115-D8ED-44FE-838D-B88F02B7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23 completed demands. September volume eased 10.8% from August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FFC25-6757-4AB6-ABE2-7CF52EAD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83570-041E-4C74-AAFA-AE5CB6BA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57200" y="2286000"/>
          <a:ext xmlns:a="http://schemas.openxmlformats.org/drawingml/2006/main" cx="7239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b379ab1da3463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71CEB-21C0-4C29-A9A0-25570802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1.24B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495F0-D674-4A9E-A2C6-EE2ADDDF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86075"/>
            <a:ext cx="352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774 transactions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09D2E-5CA6-4CED-BF6B-59E9E9F8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50 demands</a:t>
            </a:r>
          </a:p>
          <a:p xmlns:a="http://schemas.openxmlformats.org/drawingml/2006/main">
            <a:pPr>
              <a:def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23 completed   /   15 in progress</a:t>
            </a:r>
          </a:p>
          <a:p xmlns:a="http://schemas.openxmlformats.org/drawingml/2006/main">
            <a:pPr>
              <a:def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12 backlog   /   0 baseline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1E8A6-1621-4465-9C06-F706D2AB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523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1 major incident</a:t>
            </a:r>
          </a:p>
          <a:p xmlns:a="http://schemas.openxmlformats.org/drawingml/2006/main">
            <a:pPr>
              <a:def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12 minutes unplanned downtime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7403A-2023-428E-82D2-384362B4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0200"/>
            <a:ext cx="3619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DR unavailable</a:t>
            </a:r>
          </a:p>
          <a:p xmlns:a="http://schemas.openxmlformats.org/drawingml/2006/main">
            <a:pPr>
              <a:def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Upgrade planned for 2027</a:t>
            </a:r>
          </a:p>
        </p:txBody>
      </p:sp>
    </p:spTree>
    <p:extLst>
      <p:ext uri="{BB962C8B-B14F-4D97-AF65-F5344CB8AC3E}">
        <p14:creationId xmlns:p14="http://schemas.microsoft.com/office/powerpoint/2010/main" val="11103232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9DBDD2-2445-499A-8A23-B8AB321C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5D0B3-5A16-482C-9B3E-89F06551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The delivery pipeline spans releases, controls and integrations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6D31B-3BB0-45AD-86C9-2BF3E5B2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Selected initiatives reported in September. Pipeline stages guide the next management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BC17C-B9AD-4C10-A974-0FD61EAC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EC63B-BF59-4E7D-A40C-4222FBA0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E04D8-370C-4E7E-91B6-24BF0F6B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81225"/>
            <a:ext cx="3657600" cy="36957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E1692-410A-433D-B3D8-7EBEA783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145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◉  IB / MB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26E08-D640-4B48-A6EF-79573A6B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813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LIVE / DELIVERED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FE92C-4666-4F36-AD7C-451A1F80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Skywards cards removal from MB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3x3 Drop 4 – Releases 1 &amp; 2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TAB-52 – Tablet AOF audit requirement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5727F-CB4D-4035-BA36-D554D9FA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48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5254F-E4AA-41F4-BADF-FDE166F8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14850"/>
            <a:ext cx="3333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EFR cost enhancements – SIT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SWIFT GPI – Regression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Input Validations – Development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EFMS Upgrade – UAT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Emirati Card – SIT / UAT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562FB-C28D-4EC2-9ED9-05762A67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81225"/>
            <a:ext cx="3657600" cy="36957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EA70C-2F39-4474-B1E0-98B2870C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145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◆  FinnOne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C11CE-C41D-4E28-84C4-28F3B3B3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813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LIVE / DELIVERED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239CEC-C03B-47CC-A400-F323B356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4800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LL / LG flag field amendment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Multiple Rate Changes service request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Supplementary Card mobile number / email capture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E5D43-2503-4EFE-92B2-AE5271CF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48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70EFA9-08EF-4E7A-A708-1C29CF8A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14850"/>
            <a:ext cx="3333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RTA Integration – Design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PDC Remittance – UAT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EFR for PDC – Design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995340-CF72-4881-9335-ECAA4F46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81225"/>
            <a:ext cx="3657600" cy="36957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234338-A30D-4C88-A634-34405C4D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145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⌂  HFLMS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3E79F8-44F1-4D9A-B7DC-B2868F47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813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LIVE / DELIVERED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88BFD1-06BA-4B64-9862-FDEF74BD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No named live initiatives supplied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961854-E239-4ED6-B4F7-D431D725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48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4B9836-E21F-4A30-8163-D9FA6546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14850"/>
            <a:ext cx="3333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HF48 Forward Ijara Freehold Phase 2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Dedup logic controls in customer onboarding*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Duplicate CIF: linkage of closed customer*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118E66-6378-44D6-B2EB-35F2C8BF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05525"/>
            <a:ext cx="11277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* HFLMS + Core Banking. Source gives no stage for these initiatives. Names and abbreviations retain the source terminology.</a:t>
            </a:r>
          </a:p>
        </p:txBody>
      </p:sp>
    </p:spTree>
    <p:extLst>
      <p:ext uri="{BB962C8B-B14F-4D97-AF65-F5344CB8AC3E}">
        <p14:creationId xmlns:p14="http://schemas.microsoft.com/office/powerpoint/2010/main" val="15774917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751165-3B27-4B86-A5C2-43F7A6D0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C2899-6760-4655-B6E6-617C5BD2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Management priorities: capacity and recovery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651A4-AFB1-4E44-BEDD-50A11F47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Recommended management actions based on September reporting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B2215-691E-4739-9B1B-C7905825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81397-B8DF-42CA-8AD2-709DBDA6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0BB61-54DF-4903-A9F2-EA0E332C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55435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843E6-0908-4B69-B266-0110D94A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050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!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F707BC-6CD7-4EA8-8EE8-2AF1000A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24100"/>
            <a:ext cx="4686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MB reliability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DA65A-F18D-4092-B160-89B38CF5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86050"/>
            <a:ext cx="5257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Review the DDoS threshold event and mitigation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24D91-4BB1-45F9-A7C5-5C2553D7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55435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B0068-EDA7-4143-9CDB-9218D007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F7988-51DB-43BA-B55A-E24F934C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24100"/>
            <a:ext cx="4686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Backlog capacity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8624A-308B-40A6-A6B0-7FEF6957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86050"/>
            <a:ext cx="5257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Prioritize 68 backlog items across the three portfolios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716D4-1CCE-408D-BE90-350B94A5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52825"/>
            <a:ext cx="55435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217BFD-EEA7-4156-873E-543ED3BB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667125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B221F6-4071-4812-9339-53A24B4D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86175"/>
            <a:ext cx="4686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Recovery exposure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AD4832-BD3A-4AFC-9BE4-9D2B9962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048125"/>
            <a:ext cx="5257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Agree interim recovery controls for FinnOne and HFLMS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602642-F9FA-4191-AF23-D5D404FC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52825"/>
            <a:ext cx="55435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8D1028-D445-40F6-B3CC-D18B2302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67125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516F51-35DE-472E-AE6E-BC79081A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86175"/>
            <a:ext cx="4686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Delivery progression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4B329D-7722-4696-8A41-16E7635C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48125"/>
            <a:ext cx="5257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Review readiness of SIT, UAT and regression items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FEBBAB-84EE-421B-932D-49E13B47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Infrastructure has reported headroom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9952F8-E953-4B22-9815-86B51A39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3657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DB2AE9-E724-4CCE-B9F2-342ACD6A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MB / IB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E4B7CA-C505-44B6-BA9E-AA3F7DB9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CPU 7.97% / 5.01%   Memory 35.64% / 52.87%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271605-1595-404C-AE57-744CEA11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86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Storage 66.10% / 50.17%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118A65-427C-4AFC-AA76-8B85E635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38750"/>
            <a:ext cx="3657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CAECBD-AB61-401B-AD54-0BA763FD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14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FinnOne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8C1C9D-9899-4749-A5CD-C911CAC9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00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CPU &lt;10%   Memory &lt;60%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A4337B-5C78-4877-B51F-49F5164D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86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Storage Not supplied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7DF57B-3FEB-4D20-A80F-65483FD3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38750"/>
            <a:ext cx="3657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409E16-88B1-4CE6-8BB7-22474CBF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14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HFLMS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03E532-D3C6-4A47-B8A0-B9D6FB7B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00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CPU &lt;40%   Memory &lt;25%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C9D28E-C705-41B4-B088-6F7806AA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86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Storage &lt;70%</a:t>
            </a:r>
          </a:p>
        </p:txBody>
      </p:sp>
    </p:spTree>
    <p:extLst>
      <p:ext uri="{BB962C8B-B14F-4D97-AF65-F5344CB8AC3E}">
        <p14:creationId xmlns:p14="http://schemas.microsoft.com/office/powerpoint/2010/main" val="4852733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25CBC0-4797-47AA-99B9-10E6D1EE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A4B52-8A42-46F4-A9C3-53486D06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AF squad: four initiatives in SIT / UAT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6B473-BFB3-4C63-83C5-5CCAFDCF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status snapshot. Two initiatives have business sign-off.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CF8A1-CB2D-48CE-8C95-17E78BD4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8CB5D-0F41-4A9C-B47F-FE9C34C2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2BC6F-2006-4A81-9539-B8894104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FC161-8B60-4D1A-9B3D-8971818D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◉  4 solution finalization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2693A-66D2-43C3-A2D6-7030B3CA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DMGT-1325: Early settlement KFS trigger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DMGT-2063: Hybrid / country-of-origin flags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DMGT-679: Digital AECB and KFS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Fourth initiative not named in 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4BF77-F60C-4AF9-9E91-4452F384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43125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815F8-36A8-46C7-9B77-9005B751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⚙  4 development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F388A2-871C-479D-AD39-0BA22B1C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670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DMGT-267: Facial recognition for ETB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DMGT-1052: New Takaful products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DMGT-950: RTA Integration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DMGT-2583: AF switch to standard rates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B1BB42-84E9-4F9B-9777-C67B8498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03B8BE-CAD9-4F32-89A5-596C99DD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✓  2 SIT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AD850-6774-4872-BD12-86B420E7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670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DMGT-55 / DMGT-97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Down payment and fee collection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Additional ILOE premium collection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36D00-3545-4FFE-81C7-59AA9A0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70C8B-1FDE-43A6-831F-3463B93B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767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◆  2 UAT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EBC978-2A4D-4504-967B-27BF84AC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7677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DMGT-91: Rate / campaign master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Adding guarantor in FinnOne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Guarantor demand ID not supplied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99A91D-867D-40AB-9643-A114C3F1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52900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CEAF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31D546-9AC3-4B5F-8FE7-662C313F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767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353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D35373"/>
                </a:solidFill>
                <a:latin typeface="DejaVu Sans"/>
                <a:ea typeface="DejaVu Sans"/>
                <a:cs typeface="DejaVu Sans"/>
              </a:rPr>
              <a:t>✓  2 business sign-off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E0F4C7-6D27-4F2F-B14B-6BF08930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7677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DMGT-2480: Wataniya T&amp;C in AF ILOE consent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DMGT-2384: Early Settlement SMS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16E9A5-D267-42E0-862C-FCBAFC23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52900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F230BF-A7EB-4184-9E6F-5CEF7CA2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767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▦  4 backlog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F5F418-C228-46A2-AA7B-AB919171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7677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Awaiting pickup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30 Sep planned: DMGT-2583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4 Oct planned: DMGT-2480 / DMGT-2384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Actual go-live confirmation required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482183-C24C-41CC-A660-413B02C8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Squad counts are reported stage counts and may overlap the platform portfolio.</a:t>
            </a:r>
          </a:p>
        </p:txBody>
      </p:sp>
    </p:spTree>
    <p:extLst>
      <p:ext uri="{BB962C8B-B14F-4D97-AF65-F5344CB8AC3E}">
        <p14:creationId xmlns:p14="http://schemas.microsoft.com/office/powerpoint/2010/main" val="4226062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64E89E-D03A-48A7-BA71-1F9E8E46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8E27F-D70F-4837-9D53-B9DFF5C8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AF delivery timeline: September 2025–August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75DB8-BA66-4B2E-8E87-0FA76CCB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Twelve months of milestones. Read across each row, then continue below.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E2B79-B281-4090-BBA6-90E4A10F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DDF01-3A26-42E6-9228-6A85B3B0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10FC6-A2F7-4DDB-A164-AB6ED5AC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2705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9E59E-DED6-44A7-BE61-AE682618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✓  Sep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FBC7A-AC3C-40A6-860E-51722E03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Disclosure notification for STL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B8FD3-76C5-4798-8611-1DFFF9CC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43175"/>
            <a:ext cx="15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1461E-556C-4444-9B91-7B0DB456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47875"/>
            <a:ext cx="2705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371A4-F224-43B5-9370-7394D8C6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14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✓  Oct 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34E73-2E7B-4353-B4B9-3BA2A95F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28875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Q4 rate deployment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Subvention campaign in FinnOne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E148A-5D75-4F0F-A858-311B4298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543175"/>
            <a:ext cx="15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7993A2-A477-42B0-A8A6-0FD6507E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47875"/>
            <a:ext cx="2705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EBCE8-5E6A-4604-9054-C2BEEE99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✓  Nov 2025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2263D-762E-48B5-A196-A8EC922C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Updated SLA logic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POD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Job-loss Takaful mapping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F37B59-24AB-495D-8490-E987111D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543175"/>
            <a:ext cx="15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9857D8-5322-4F24-913D-4FC53760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47875"/>
            <a:ext cx="2705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21837F-D7D2-4B7F-9481-F5183CDF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14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✓  Dec 2025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9FDED5-BFCF-48D5-A635-24A38C20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28875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Rhoon Integration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EV Tesla PF update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Ramadan-to-standard profit rate switch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IRR value modification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DB943F-DF31-42C0-97F5-FE6355EB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2705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888341-A5D5-4145-828D-EB62D378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353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D35373"/>
                </a:solidFill>
                <a:latin typeface="DejaVu Sans"/>
                <a:ea typeface="DejaVu Sans"/>
                <a:cs typeface="DejaVu Sans"/>
              </a:rPr>
              <a:t>✓  Jan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E023B4-2912-4A3E-BD8F-D9F16670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Map dealer under FD group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E107F0-9C0F-40B0-8251-95AB85AD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971925"/>
            <a:ext cx="15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93DAB3-13E1-4ADC-A397-04849A26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76625"/>
            <a:ext cx="2705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CB893B-3B83-4ABE-8CD1-4EB4C0F7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43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✓  Feb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1EEF90-2D62-4734-B995-D01CDB08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EMI deferment fee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AF campaign enhancement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New Ramadan rates 2026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Abu Dhabi Motors profit-rate update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0CCAB3-29D9-4C3E-8125-F70F04F7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971925"/>
            <a:ext cx="15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934751-198B-4ADF-940D-04F3232C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76625"/>
            <a:ext cx="2705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051DA1-7E21-4800-A65F-870F141D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✓  Mar 2026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3DEDBA-5E48-408A-9E27-4B6A6865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Sharia terminology update in FinnOne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AF Profit Ramadan Rate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9E19F1-49F3-4213-85CD-2CEB29D9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971925"/>
            <a:ext cx="15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315B02-D62B-4CEA-9509-4D31BDD2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76625"/>
            <a:ext cx="2705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03F1D5-2746-47D6-AC6D-9BFC4678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43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✓  Apr 2026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32797D-17D4-460B-B7B1-23D106D6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57625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WhatsApp Dealer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Frontline employer special-rate change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Standard rate revision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A64653-716C-42A3-9AD4-76FA9A7C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2705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08FFA2-7E3F-4DD1-9B47-7ECC0840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72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✓  May 2026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E634AF-A013-444B-B118-DB83780D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Finance amount transfer: I2I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Tenure control for subvention applications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Employer rates / EAR changes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WhatsApp Disable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Golden VISA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2B6267-8418-4CE3-8114-AA327EDB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400675"/>
            <a:ext cx="15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58FDB7-2337-44C7-B51B-A653FE48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05375"/>
            <a:ext cx="2705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C9886F-86A0-4420-9D2B-6AD8B90A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72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353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D35373"/>
                </a:solidFill>
                <a:latin typeface="DejaVu Sans"/>
                <a:ea typeface="DejaVu Sans"/>
                <a:cs typeface="DejaVu Sans"/>
              </a:rPr>
              <a:t>✓  Jun 2026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F8A87E-2B7E-4498-AABD-BA8F5179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86375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Motorcycle field validation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A2412B-5E4B-4684-B217-DDADF4F6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5400675"/>
            <a:ext cx="15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3596AD-EEA4-407E-BC0E-E4C57E91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05375"/>
            <a:ext cx="2705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3D6AA1-5D2C-4206-A603-FE187F71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72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✓  Jul 2026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7092E8-01C7-4A12-AE8F-E2498ED4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86375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ILOE premium update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Frontline campaign extension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Chassis number / flat-rate validation at PDOC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AF Summer Campaign 2026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DMGT-2372: Frontline Hero expiry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B5727D-76AE-4D6F-9C86-9B672B10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400675"/>
            <a:ext cx="15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BD345ED-DC50-4B48-BB91-2313A793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05375"/>
            <a:ext cx="2705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DE7A32D-DA1D-441A-8095-11B28830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72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✓  Aug 2026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008170-6978-4529-8F5C-ABDCAFF6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86375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PGL: ILOE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PGL: POD rate issue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Tesla rate revision</a:t>
            </a:r>
          </a:p>
        </p:txBody>
      </p:sp>
    </p:spTree>
    <p:extLst>
      <p:ext uri="{BB962C8B-B14F-4D97-AF65-F5344CB8AC3E}">
        <p14:creationId xmlns:p14="http://schemas.microsoft.com/office/powerpoint/2010/main" val="10913166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20BCC9-7D25-4519-B1C8-435091F2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7C043-1DD3-4103-9CB4-37B5ACC5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PF squad: six initiatives remain in solution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1D37A-44CA-4A81-9041-667A4C22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status snapshot. One initiative has business sign-off.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36BFD-00D9-460C-9793-DEBCBBAC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E6A8C-3F88-42A1-A226-45A1A969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8F5AE-F5D0-44E7-80CB-F0D095E7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93813-5FA0-49F0-9751-19408349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◉  6 solution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438DE-AA49-4D35-9B5F-9472F820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83: RAO salary check in liability settlement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49: Early settlement methodology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1336: Early settlement KFS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2557: LC retention scheme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1708: Flexi Salary after-sales (LEAN)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1021: EFR for NTB / ETB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DB1CF-5194-42BF-95BE-C7198AB2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43125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B2B38-A262-47D0-9B48-3F598D4E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⚙  1 development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8D65C9-D417-4E3E-9F93-6DDC37B9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670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DMGT-91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Business pricing updates in FinnOne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E1CEC-28D3-45B4-9A30-84A86927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21B0FC-91D6-47CD-8D09-99776316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◆  1 UAT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5EF31-F5E2-4FD4-91EE-54BCDA4C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670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DMGT-106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LC PDC settlement remittance to the correct account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F72FCC-A1E0-41B0-B6EF-DA697891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F9FD1-B6D2-40B0-BD0C-8FA5440D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767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✓  1 business sign-off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42D306-422A-4E39-A1DC-5D902B93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7677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DMGT-56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FTS enablement in all STL segments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Planned go-live: 4 October 2026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Actual release confirmation required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EF2950-9C0E-4487-BEE9-D1E4688A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52900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CEAF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6CE172-6DBF-48B8-9861-F004A3CD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767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353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D35373"/>
                </a:solidFill>
                <a:latin typeface="DejaVu Sans"/>
                <a:ea typeface="DejaVu Sans"/>
                <a:cs typeface="DejaVu Sans"/>
              </a:rPr>
              <a:t>▦  3 backlog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F616ED-460D-4C60-8ABA-42B03664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7677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Pickup depends on delivery of the current set of demands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5B23BA-3B1B-47AF-A8DF-6B6F6AD1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52900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70F9BC-A22B-4BD6-98CA-D65D64B7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767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↻  8 open points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7FDECB-0027-4E8B-935E-78F80F8D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7677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Tracked separately for follow-up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Treat as tracking items until demand scope and unique IDs are confirmed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B76473-0136-4960-828E-0F95D58E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Solution-design numbers use the DMGT prefix. Squad counts are separate from platform totals.</a:t>
            </a:r>
          </a:p>
        </p:txBody>
      </p:sp>
    </p:spTree>
    <p:extLst>
      <p:ext uri="{BB962C8B-B14F-4D97-AF65-F5344CB8AC3E}">
        <p14:creationId xmlns:p14="http://schemas.microsoft.com/office/powerpoint/2010/main" val="20703432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0291FD-CF15-423E-B9A9-6D357F31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385E9-948F-4582-81C1-64771106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PF delivery timeline: September 2025–October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725A8-BC76-465F-B537-AB583B9C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Milestone lanes show completed work and the next planned release.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CF2EC-5C26-4703-BA97-46593E45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0763F-BF60-4BE0-81B7-DA407325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9E607-7A3C-4A66-AFEA-CC4C5B13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1104900" cy="13335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DF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12848-9503-4DB9-AC26-14D43A48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19075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2F011-E8B8-4AF2-8B3D-9ECC88A2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581275"/>
            <a:ext cx="942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✓ Completed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5CF8B-0D88-4B77-B153-8BE91AE1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47875"/>
            <a:ext cx="24193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80865-0CDC-4066-8B34-162BC388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2407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✓  Sep 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8BC18-CD87-438C-8F84-E511AFE1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57450"/>
            <a:ext cx="2228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DMGT-90</a:t>
            </a:r>
          </a:p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Disclosure notification in PF STL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DA954-3033-434D-A2C1-DFB263D3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543175"/>
            <a:ext cx="104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20A951-99AE-4D3F-B288-66055472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47875"/>
            <a:ext cx="24193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0C7BC4-2AFC-472B-AAFA-8F6FC70C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2407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✓  Oct 2025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C13FC-5C2A-4FAD-84D7-7E4150F0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57450"/>
            <a:ext cx="2228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DMGT-54: Account start date in LS cases</a:t>
            </a:r>
          </a:p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DMGT-94: FinnOne PF applications for People of Determination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2965E5-5F4C-4C66-B986-9AF2C807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543175"/>
            <a:ext cx="104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CD2E76-19EC-456C-83A8-0E0F8EDA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47875"/>
            <a:ext cx="24193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6D1402-A0BE-4931-9BEB-5D868123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2407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✓  Nov 2025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44DF74-CA9C-4BED-8564-C537C40C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57450"/>
            <a:ext cx="2228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DMGT-1459</a:t>
            </a:r>
          </a:p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New pricing for PF products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7F3973-D246-4DAB-89AB-585DBF49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1104900" cy="13335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FEFF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2AC613-441E-48CF-AEC4-6E863EEC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61950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9C00F0-3D5F-4C77-B4AD-9DA56720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10025"/>
            <a:ext cx="942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✓ Completed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A92F93-653D-4722-B60E-651D28DC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24193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F9BA7E-72C5-4F68-8D8B-3957F65F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5282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✓  Jan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41F4E8-E43D-4D26-93B6-ED53E14C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86200"/>
            <a:ext cx="2228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DMGT-1665</a:t>
            </a:r>
          </a:p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PF rate change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A5755B-889A-4AEC-923F-91539D44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71925"/>
            <a:ext cx="104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7B98DF-017A-448E-B8E0-5EE3B3F6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76625"/>
            <a:ext cx="24193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B5FCDC-3E27-4CB5-AC6B-51C19443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5282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✓  Feb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27AA38-F8B5-415A-893D-964D1CA6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86200"/>
            <a:ext cx="2228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DMGT-81: LC rule change in FinnOne</a:t>
            </a:r>
          </a:p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DMGT-254: PF policy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C72C82-5209-4249-B3B6-763231C9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971925"/>
            <a:ext cx="104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5759DC-B9A7-4E8B-A60F-FE490E5D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76625"/>
            <a:ext cx="24193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7F0249-B9FC-4735-A40C-40D30362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5282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✓  Apr 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CE2223-EB6A-4E11-BFFB-BAE9BEAE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86200"/>
            <a:ext cx="2228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DMGT-105: LL / LG flag field amendment</a:t>
            </a:r>
          </a:p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DMGT-2029: Special employer campaign pricing</a:t>
            </a:r>
          </a:p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DMGT-2065: Frontline employer pricing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371B80-A477-4E11-B213-E1F7F889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1104900" cy="13335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FE7F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007B0B-969B-4564-8E3F-6B836EC2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04825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2026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B06EB5-6386-4485-A9F9-3EBB8055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438775"/>
            <a:ext cx="942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✓ Completed</a:t>
            </a:r>
          </a:p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◷ Planned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A29905-A06D-4795-9E12-45A373A5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05375"/>
            <a:ext cx="24193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2F793E-7B41-4F6E-BB39-F4C6C3A1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8157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✓  Jun 2026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3460E0-4DB8-4587-AE3B-09A9729A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14950"/>
            <a:ext cx="2228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DMGT-913: Add employer pricing campaign</a:t>
            </a:r>
          </a:p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DMGT-2231: Additional frontline employer campaign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A95E11-BB22-4631-A9EB-C3F47F01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400675"/>
            <a:ext cx="104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651F19-C14A-4AC1-82E0-D8B93A6F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905375"/>
            <a:ext cx="24193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1CDBE0-FB8E-40B2-B5E3-C3DAF9BF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8157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✓  Jul 2026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2FE77E-05C3-4454-BE22-CA1DAD7B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14950"/>
            <a:ext cx="2228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DMGT-2296</a:t>
            </a:r>
          </a:p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Extend the existing Frontline Hero campaign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B63F62-FFF6-49CB-9A94-67CE0F49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400675"/>
            <a:ext cx="104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46A923-515F-4805-A20D-24E549A6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05375"/>
            <a:ext cx="24193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4B2F80-3DF2-48FF-B090-82859063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98157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✓  Aug 2026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965725-679D-4312-A388-5DCFA595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314950"/>
            <a:ext cx="2228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DMGT-2407</a:t>
            </a:r>
          </a:p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LS NTML for PF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039FAD-CF4F-414E-A8A3-F236B024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5400675"/>
            <a:ext cx="104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CE1412-1838-4F7A-9005-351E38AB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905375"/>
            <a:ext cx="24193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1D7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75F63DB-D073-4AE6-AEA5-78AA98CB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8157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◷  Oct 2026 planned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C1B3120-62CA-4A58-BBC3-944E4F1E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314950"/>
            <a:ext cx="2228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DMGT-56</a:t>
            </a:r>
          </a:p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FTS in all STL segments</a:t>
            </a:r>
          </a:p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4 October target in September summary</a:t>
            </a:r>
          </a:p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Delivery confirmation pending</a:t>
            </a:r>
          </a:p>
        </p:txBody>
      </p:sp>
    </p:spTree>
    <p:extLst>
      <p:ext uri="{BB962C8B-B14F-4D97-AF65-F5344CB8AC3E}">
        <p14:creationId xmlns:p14="http://schemas.microsoft.com/office/powerpoint/2010/main" val="17574347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2026-10-05T14:52:24.7760000Z</dcterms:created>
  <dcterms:modified xsi:type="dcterms:W3CDTF">2026-10-05T14:52:24.7770000Z</dcterms:modified>
</coreProperties>
</file>